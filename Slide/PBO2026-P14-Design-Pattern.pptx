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fff14ac8-6fc5-a662-57d0-169ed764eb76}">
          <p14:sldIdLst>
            <p14:sldId id="256"/>
            <p14:sldId id="257"/>
            <p14:sldId id="258"/>
            <p14:sldId id="259"/>
          </p14:sldIdLst>
        </p14:section>
        <p14:section name="Apa Itu Design Pattern?" id="{fc35690a-d4c6-8486-7dac-c3274192fe5c}">
          <p14:sldIdLst>
            <p14:sldId id="260"/>
            <p14:sldId id="261"/>
            <p14:sldId id="262"/>
          </p14:sldIdLst>
        </p14:section>
        <p14:section name="Singleton: Hanya Boleh Ada Satu" id="{63afe78f-dddb-8413-8584-8811c28a1fc4}">
          <p14:sldIdLst>
            <p14:sldId id="263"/>
            <p14:sldId id="264"/>
            <p14:sldId id="265"/>
            <p14:sldId id="266"/>
          </p14:sldIdLst>
        </p14:section>
        <p14:section name="Factory: Serahkan Urusan Membuat Objek" id="{9b801163-679f-9e06-9fbf-ae1d242fa0f4}">
          <p14:sldIdLst>
            <p14:sldId id="267"/>
            <p14:sldId id="268"/>
            <p14:sldId id="269"/>
            <p14:sldId id="270"/>
          </p14:sldIdLst>
        </p14:section>
        <p14:section name="Strategy: Algoritma yang Bisa Ditukar" id="{f369d72a-fbd8-a060-fad6-a61a6978e619}">
          <p14:sldIdLst>
            <p14:sldId id="271"/>
            <p14:sldId id="272"/>
            <p14:sldId id="273"/>
          </p14:sldIdLst>
        </p14:section>
        <p14:section name="Observer: Kabari Semua yang Berlangganan" id="{d3b9dd4a-e03c-b994-45ad-af1109d5a3e8}">
          <p14:sldIdLst>
            <p14:sldId id="274"/>
            <p14:sldId id="275"/>
            <p14:sldId id="276"/>
            <p14:sldId id="277"/>
          </p14:sldIdLst>
        </p14:section>
        <p14:section name="Studi Kasus KedaiKita" id="{4593a807-a0b6-e64a-b290-e7e034bede11}">
          <p14:sldIdLst>
            <p14:sldId id="278"/>
            <p14:sldId id="279"/>
            <p14:sldId id="280"/>
          </p14:sldIdLst>
        </p14:section>
        <p14:section name="Cek Pemahaman" id="{2db01976-330e-dbd4-0715-41b65a327454}">
          <p14:sldIdLst>
            <p14:sldId id="281"/>
            <p14:sldId id="282"/>
            <p14:sldId id="283"/>
            <p14:sldId id="284"/>
            <p14:sldId id="285"/>
          </p14:sldIdLst>
        </p14:section>
        <p14:section name="Penutup" id="{fcf14bf4-e42a-7a7e-a7f5-04399b533475}">
          <p14:sldIdLst>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Selamat datang di Pertemuan 14. Di Pertemuan 13 kita belajar prinsip kode yang baik. Hari ini kita belajar resep yang sudah teruji untuk masalah yang terus muncul, yaitu </a:t>
            </a:r>
            <a:r>
              <a:rPr lang="id-ID" dirty="0" i="1"/>
              <a:t>design pattern</a:t>
            </a:r>
            <a:r>
              <a:rPr lang="id-ID" dirty="0"/>
              <a:t> atau pola desain. Kita bedah empat pola yang paling sering kamu temui, lalu memasang keempatnya di KedaiKita. Semua materi, kode, latihan, dan kuis pertemuan ini ada di repositori GitHub mata kuliah, di folder Pertemuan-14-Design-Pattern.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lima kemampuan yang kita kejar hari ini. Tujuannya bukan menghafal kode, melainkan memahami masalah yang dipecahkan setiap pola dan menilai kapan pola itu pantas dipakai. Di akhir pertemuan, cek lagi satu per satu: sudahkah kamu bisa menjelaskannya dengan kata-katamu sendiri? Urutan belajarnya: konsep di </a:t>
            </a:r>
            <a:r>
              <a:rPr lang="id-ID" dirty="0" i="1"/>
              <a:t>slide</a:t>
            </a:r>
            <a:r>
              <a:rPr lang="id-ID" dirty="0"/>
              <a:t> ini, lalu praktik di halaman Python atau Java, kemudian halaman Jembatan Python ↔ Java, latihan, dan kuis.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 Pertemuan 13 kita membongkar kelas raksasa </a:t>
            </a:r>
            <a:r>
              <a:rPr lang="en-US" dirty="0">
                <a:latin typeface="Consolas"/>
              </a:rPr>
              <a:t>KasirSerbaBisa</a:t>
            </a:r>
            <a:r>
              <a:rPr lang="id-ID" dirty="0"/>
              <a:t> menjadi kelas-kelas kecil dengan prinsip SOLID, lalu melakukan </a:t>
            </a:r>
            <a:r>
              <a:rPr lang="id-ID" dirty="0" i="1"/>
              <a:t>refactoring</a:t>
            </a:r>
            <a:r>
              <a:rPr lang="id-ID" dirty="0"/>
              <a:t>: struktur kode berubah, tetapi perilakunya tetap sama.</a:t>
            </a:r>
            <a:endParaRPr lang="id-ID" dirty="0"/>
          </a:p>
          <a:p>
            <a:r>
              <a:rPr lang="id-ID" dirty="0"/>
              <a:t>Pertanyaan untuk kelas: mengapa promo baru tidak perlu mengubah </a:t>
            </a:r>
            <a:r>
              <a:rPr lang="en-US" dirty="0">
                <a:latin typeface="Consolas"/>
              </a:rPr>
              <a:t>Pesanan</a:t>
            </a:r>
            <a:r>
              <a:rPr lang="id-ID" dirty="0"/>
              <a:t>? Jawabannya: setiap aturan diskon adalah kelas turunan </a:t>
            </a:r>
            <a:r>
              <a:rPr lang="en-US" dirty="0">
                <a:latin typeface="Consolas"/>
              </a:rPr>
              <a:t>Diskon</a:t>
            </a:r>
            <a:r>
              <a:rPr lang="id-ID" dirty="0"/>
              <a:t>, dan itulah OCP. Hari ini kita naik satu tingkat. Prinsip memberi arah, sedangkan </a:t>
            </a:r>
            <a:r>
              <a:rPr lang="id-ID" dirty="0" i="1"/>
              <a:t>design pattern</a:t>
            </a:r>
            <a:r>
              <a:rPr lang="id-ID" dirty="0"/>
              <a:t> memberi susunan kelas yang sudah terbukti berhasil untuk masalah tertentu.</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alur kita hari ini. Kita mulai dari pengertian </a:t>
            </a:r>
            <a:r>
              <a:rPr lang="id-ID" dirty="0" i="1"/>
              <a:t>design pattern</a:t>
            </a:r>
            <a:r>
              <a:rPr lang="id-ID" dirty="0"/>
              <a:t>, lalu membedah empat pola satu per satu. Setiap pola kita bahas dengan urutan yang sama: masalahnya, analogi dan tujuannya, struktur atau kodenya, lalu penerapannya di KedaiKita. Di bagian akhir kita melihat keempat pola bekerja bersama dalam satu program KedaiKita.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Sebelum membedah pola satu per satu, kita samakan dulu pengertiannya. Kita mulai dari kios penjahit langganan di dekat kampus.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Mampirlah ke penjahit langganan di dekat kampus. Pola kemeja bukan kemeja; kamu tidak bisa memakai kertas itu ke kampus. Pola yang sama dipakai untuk banyak pelanggan, tetapi ukurannya disesuaikan: Budi berbadan tinggi, Siti lebih mungil. Pola itu lahir dari pengalaman, jadi penjahit tidak perlu menemukan ulang cara memotong kerah setiap kali ada pesanan. Pemrogram juga punya pola jahit. Masalah seperti bagaimana memastikan pengaturan hanya ada satu, atau bagaimana memberi kabar ke banyak pihak saat sesuatu berubah, muncul berulang kali di banyak program. Solusi terbaiknya sudah dirumuskan dan diberi nama.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Setiap pola biasanya dijelaskan dengan empat unsur: nama, masalah, solusi, dan konsekuensi, yaitu untung dan ruginya. Istilah ini dipopulerkan buku </a:t>
            </a:r>
            <a:r>
              <a:rPr lang="id-ID" dirty="0" i="1"/>
              <a:t>Design Patterns</a:t>
            </a:r>
            <a:r>
              <a:rPr lang="id-ID" dirty="0"/>
              <a:t> tahun 1994. Penulisnya empat orang, yaitu Erich Gamma, Richard Helm, Ralph Johnson, dan John Vlissides, yang kemudian dijuluki </a:t>
            </a:r>
            <a:r>
              <a:rPr lang="id-ID" dirty="0" i="1"/>
              <a:t>Gang of Four</a:t>
            </a:r>
            <a:r>
              <a:rPr lang="id-ID" dirty="0"/>
              <a:t>. Gagasan bahasa pola mereka pinjam dari dunia arsitektur bangunan, terutama dari arsitek Christopher Alexander. Jangan khawatir menghafal ke-23 pola; pemrogram berpengalaman pun mempelajarinya sedikit demi sedikit. Ingat juga: pola yang sama bisa ditulis berbeda di Python dan Java. Yang sama adalah gagasannya, yaitu masalah yang dipecahkan dan peran yang terlibat.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Pola pertama termasuk kategori </a:t>
            </a:r>
            <a:r>
              <a:rPr lang="id-ID" dirty="0" i="1"/>
              <a:t>creational</a:t>
            </a:r>
            <a:r>
              <a:rPr lang="id-ID" dirty="0"/>
              <a:t>, yaitu tentang cara objek dibuat. Kita mulai dari masalah pajak di KedaiKita.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KedaiKita kini memungut pajak 10%. </a:t>
            </a:r>
            <a:r>
              <a:rPr lang="en-US" dirty="0">
                <a:latin typeface="Consolas"/>
              </a:rPr>
              <a:t>Pesanan</a:t>
            </a:r>
            <a:r>
              <a:rPr lang="id-ID" dirty="0"/>
              <a:t> memakai angka itu untuk menghitung pajak, sedangkan </a:t>
            </a:r>
            <a:r>
              <a:rPr lang="en-US" dirty="0">
                <a:latin typeface="Consolas"/>
              </a:rPr>
              <a:t>StrukPesanan</a:t>
            </a:r>
            <a:r>
              <a:rPr lang="id-ID" dirty="0"/>
              <a:t> mencetak labelnya beserta nama dan alamat kedai. Bayangkan setiap kelas membuat objek pengaturannya sendiri. Suatu hari pemilik mengubah pajak menjadi 11%, tetapi perubahan itu hanya sampai ke salah satu objek. Pelanggan protes, kasir bingung. Masalahnya mirip mesin nomor antrean di kantor pelayanan: kalau setiap pintu punya mesin sendiri, nomornya bisa kembar. Solusinya, semua tombol terhubung ke satu mesin yang sama. Itulah gagasan </a:t>
            </a:r>
            <a:r>
              <a:rPr lang="id-ID" dirty="0" i="1"/>
              <a:t>Singleton</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Ada tiga bagian penting. Pertama, atribut milik kelas </a:t>
            </a:r>
            <a:r>
              <a:rPr lang="en-US" dirty="0">
                <a:latin typeface="Consolas"/>
              </a:rPr>
              <a:t>_instance</a:t>
            </a:r>
            <a:r>
              <a:rPr lang="id-ID" dirty="0"/>
              <a:t> atau </a:t>
            </a:r>
            <a:r>
              <a:rPr lang="en-US" dirty="0">
                <a:latin typeface="Consolas"/>
              </a:rPr>
              <a:t>instance</a:t>
            </a:r>
            <a:r>
              <a:rPr lang="id-ID" dirty="0"/>
              <a:t> yang menyimpan satu-satunya objek; awalnya kosong. Kedua, konstruktor yang ditutup agar kode lain tidak membuat objek baru sembarangan. Java benar-benar bisa menutupnya dengan </a:t>
            </a:r>
            <a:r>
              <a:rPr lang="en-US" dirty="0">
                <a:latin typeface="Consolas"/>
              </a:rPr>
              <a:t>private</a:t>
            </a:r>
            <a:r>
              <a:rPr lang="id-ID" dirty="0"/>
              <a:t>. Python tidak punya akses privat sungguhan, jadi </a:t>
            </a:r>
            <a:r>
              <a:rPr lang="en-US" dirty="0">
                <a:latin typeface="Consolas"/>
              </a:rPr>
              <a:t>__init__</a:t>
            </a:r>
            <a:r>
              <a:rPr lang="id-ID" dirty="0"/>
              <a:t> memasang penjaga yang melempar </a:t>
            </a:r>
            <a:r>
              <a:rPr lang="en-US" dirty="0">
                <a:latin typeface="Consolas"/>
              </a:rPr>
              <a:t>RuntimeError</a:t>
            </a:r>
            <a:r>
              <a:rPr lang="id-ID" dirty="0"/>
              <a:t> jika objeknya sudah ada; baris itu dilompati di sini. Ketiga, </a:t>
            </a:r>
            <a:r>
              <a:rPr lang="id-ID" dirty="0" i="1"/>
              <a:t>method</a:t>
            </a:r>
            <a:r>
              <a:rPr lang="id-ID" dirty="0"/>
              <a:t> milik kelas </a:t>
            </a:r>
            <a:r>
              <a:rPr lang="en-US" dirty="0">
                <a:latin typeface="Consolas"/>
              </a:rPr>
              <a:t>get_instance()</a:t>
            </a:r>
            <a:r>
              <a:rPr lang="id-ID" dirty="0"/>
              <a:t> sebagai satu-satunya pintu: jika objek belum ada, buat dulu; jika sudah ada, kembalikan yang lama. Objek dibuat saat pertama kali diminta, gaya ini disebut </a:t>
            </a:r>
            <a:r>
              <a:rPr lang="id-ID" dirty="0" i="1"/>
              <a:t>lazy</a:t>
            </a:r>
            <a:r>
              <a:rPr lang="id-ID" dirty="0"/>
              <a:t>; gaya </a:t>
            </a:r>
            <a:r>
              <a:rPr lang="id-ID" dirty="0" i="1"/>
              <a:t>eager</a:t>
            </a:r>
            <a:r>
              <a:rPr lang="id-ID" dirty="0"/>
              <a:t> menyiapkannya sejak awal. </a:t>
            </a:r>
            <a:r>
              <a:rPr lang="en-US" dirty="0">
                <a:latin typeface="Consolas"/>
              </a:rPr>
              <a:t>Pesanan</a:t>
            </a:r>
            <a:r>
              <a:rPr lang="id-ID" dirty="0"/>
              <a:t> dan </a:t>
            </a:r>
            <a:r>
              <a:rPr lang="en-US" dirty="0">
                <a:latin typeface="Consolas"/>
              </a:rPr>
              <a:t>StrukPesanan</a:t>
            </a:r>
            <a:r>
              <a:rPr lang="id-ID" dirty="0"/>
              <a:t> sama-sama memanggil </a:t>
            </a:r>
            <a:r>
              <a:rPr lang="en-US" dirty="0">
                <a:latin typeface="Consolas"/>
              </a:rPr>
              <a:t>get_instance()</a:t>
            </a:r>
            <a:r>
              <a:rPr lang="id-ID" dirty="0"/>
              <a:t>, jadi label dan hitungan pajak tidak mungkin berbeda. Versi kecil pola ini adalah contoh 01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i="1"/>
              <a:t>Singleton</a:t>
            </a:r>
            <a:r>
              <a:rPr lang="id-ID" dirty="0"/>
              <a:t> praktis, tetapi ada harganya. </a:t>
            </a:r>
            <a:r>
              <a:rPr lang="id-ID" dirty="0" i="1"/>
              <a:t>State</a:t>
            </a:r>
            <a:r>
              <a:rPr lang="id-ID" dirty="0"/>
              <a:t> global adalah data yang bisa dibaca dan diubah dari bagian mana pun di program. Kekurangan ketiga dibuktikan di contoh 03 halaman praktik: sebuah uji yang tadinya LULUS menjadi GAGAL hanya karena uji lain mengubah pengaturan dan lupa mengembalikannya. Jadi, jika sebuah kelas cukup menerima nilai lewat konstruktor, seperti </a:t>
            </a:r>
            <a:r>
              <a:rPr lang="id-ID" dirty="0" i="1"/>
              <a:t>dependency injection</a:t>
            </a:r>
            <a:r>
              <a:rPr lang="id-ID" dirty="0"/>
              <a:t> di Pertemuan 13, cara itu lebih mudah diuji. </a:t>
            </a:r>
            <a:r>
              <a:rPr lang="id-ID" dirty="0" i="1"/>
              <a:t>Singleton</a:t>
            </a:r>
            <a:r>
              <a:rPr lang="id-ID" dirty="0"/>
              <a:t> cocok untuk sesuatu yang memang hanya boleh satu, misalnya pengaturan aplikasi atau pencatat log.</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Pola kedua juga termasuk kategori </a:t>
            </a:r>
            <a:r>
              <a:rPr lang="id-ID" dirty="0" i="1"/>
              <a:t>creational</a:t>
            </a:r>
            <a:r>
              <a:rPr lang="id-ID" dirty="0"/>
              <a:t>. Kali ini masalahnya datang dari tiga tombol pembayaran di layar kasir KedaiKita.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 layar kasir ada tiga tombol: Tunai, QRIS, dan Kartu. Tanpa pola apa pun, kodenya kira-kira berbunyi: jika pilihan tunai, buat </a:t>
            </a:r>
            <a:r>
              <a:rPr lang="en-US" dirty="0">
                <a:latin typeface="Consolas"/>
              </a:rPr>
              <a:t>PembayaranTunai</a:t>
            </a:r>
            <a:r>
              <a:rPr lang="id-ID" dirty="0"/>
              <a:t>; jika QRIS, buat </a:t>
            </a:r>
            <a:r>
              <a:rPr lang="en-US" dirty="0">
                <a:latin typeface="Consolas"/>
              </a:rPr>
              <a:t>PembayaranQRIS</a:t>
            </a:r>
            <a:r>
              <a:rPr lang="id-ID" dirty="0"/>
              <a:t>; jika kartu, buat </a:t>
            </a:r>
            <a:r>
              <a:rPr lang="en-US" dirty="0">
                <a:latin typeface="Consolas"/>
              </a:rPr>
              <a:t>PembayaranKartu</a:t>
            </a:r>
            <a:r>
              <a:rPr lang="id-ID" dirty="0"/>
              <a:t>. Masalahnya, potongan </a:t>
            </a:r>
            <a:r>
              <a:rPr lang="en-US" dirty="0">
                <a:latin typeface="Consolas"/>
              </a:rPr>
              <a:t>if</a:t>
            </a:r>
            <a:r>
              <a:rPr lang="id-ID" dirty="0"/>
              <a:t> ini cenderung tersalin ke layar kasir, aplikasi pesan-antar, dan fitur uji coba. Saat KedaiKita menambah metode transfer bank, semua salinan itu harus dicari dan diubah satu per satu. Bandingkan dengan memesan di warung: kamu tidak masuk ke dapur, tidak perlu tahu bumbunya, dan tidak peduli siapa yang memasak. </a:t>
            </a:r>
            <a:r>
              <a:rPr lang="id-ID" dirty="0" i="1"/>
              <a:t>Factory</a:t>
            </a:r>
            <a:r>
              <a:rPr lang="id-ID" dirty="0"/>
              <a:t> bekerja seperti dapur itu.</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contoh 04 di halaman praktik: aplikasi pemesanan kendaraan dengan pilihan motor, mobil, dan mobil besar. Semua keputusan kelas mana yang dibuat dikumpulkan di satu </a:t>
            </a:r>
            <a:r>
              <a:rPr lang="id-ID" dirty="0" i="1"/>
              <a:t>method</a:t>
            </a:r>
            <a:r>
              <a:rPr lang="id-ID" dirty="0"/>
              <a:t>, yaitu </a:t>
            </a:r>
            <a:r>
              <a:rPr lang="en-US" dirty="0">
                <a:latin typeface="Consolas"/>
              </a:rPr>
              <a:t>buat()</a:t>
            </a:r>
            <a:r>
              <a:rPr lang="id-ID" dirty="0"/>
              <a:t>. Perhatikan tipe kembaliannya: kelas abstrak </a:t>
            </a:r>
            <a:r>
              <a:rPr lang="en-US" dirty="0">
                <a:latin typeface="Consolas"/>
              </a:rPr>
              <a:t>Kendaraan</a:t>
            </a:r>
            <a:r>
              <a:rPr lang="id-ID" dirty="0"/>
              <a:t>, sehingga pemanggil tidak pernah menyebut nama kelas </a:t>
            </a:r>
            <a:r>
              <a:rPr lang="en-US" dirty="0">
                <a:latin typeface="Consolas"/>
              </a:rPr>
              <a:t>Motor</a:t>
            </a:r>
            <a:r>
              <a:rPr lang="id-ID" dirty="0"/>
              <a:t>. </a:t>
            </a:r>
            <a:r>
              <a:rPr lang="en-US" dirty="0">
                <a:latin typeface="Consolas"/>
              </a:rPr>
              <a:t>lower()</a:t>
            </a:r>
            <a:r>
              <a:rPr lang="id-ID" dirty="0"/>
              <a:t> di Python dan </a:t>
            </a:r>
            <a:r>
              <a:rPr lang="en-US" dirty="0">
                <a:latin typeface="Consolas"/>
              </a:rPr>
              <a:t>equalsIgnoreCase()</a:t>
            </a:r>
            <a:r>
              <a:rPr lang="id-ID" dirty="0"/>
              <a:t> di Java membuat huruf besar dan kecil dianggap sama. Baris terakhir yang dilompati melempar </a:t>
            </a:r>
            <a:r>
              <a:rPr lang="id-ID" dirty="0" i="1"/>
              <a:t>exception</a:t>
            </a:r>
            <a:r>
              <a:rPr lang="id-ID" dirty="0"/>
              <a:t> untuk pilihan yang tidak dikenal, misalnya helikopter. Di KedaiKita, </a:t>
            </a:r>
            <a:r>
              <a:rPr lang="en-US" dirty="0">
                <a:latin typeface="Consolas"/>
              </a:rPr>
              <a:t>PembayaranFactory.buat(jenis, nominal, bank)</a:t>
            </a:r>
            <a:r>
              <a:rPr lang="id-ID" dirty="0"/>
              <a:t> disusun dengan cara yang sama: tunai, QRIS, dan kartu dibuat, sedangkan bitcoin ditolak dengan pesan </a:t>
            </a:r>
            <a:r>
              <a:rPr lang="en-US" dirty="0">
                <a:latin typeface="Consolas"/>
              </a:rPr>
              <a:t>Metode pembayaran tidak dikenal: bitcoin</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Nama </a:t>
            </a:r>
            <a:r>
              <a:rPr lang="id-ID" dirty="0" i="1"/>
              <a:t>factory</a:t>
            </a:r>
            <a:r>
              <a:rPr lang="id-ID" dirty="0"/>
              <a:t> dipakai untuk beberapa hal yang mirip tetapi tidak sama. </a:t>
            </a:r>
            <a:r>
              <a:rPr lang="id-ID" dirty="0" i="1"/>
              <a:t>Simple Factory</a:t>
            </a:r>
            <a:r>
              <a:rPr lang="id-ID" dirty="0"/>
              <a:t> yang baru kita lihat memilih kelas lewat </a:t>
            </a:r>
            <a:r>
              <a:rPr lang="en-US" dirty="0">
                <a:latin typeface="Consolas"/>
              </a:rPr>
              <a:t>if</a:t>
            </a:r>
            <a:r>
              <a:rPr lang="id-ID" dirty="0"/>
              <a:t>. </a:t>
            </a:r>
            <a:r>
              <a:rPr lang="id-ID" dirty="0" i="1"/>
              <a:t>Factory Method</a:t>
            </a:r>
            <a:r>
              <a:rPr lang="id-ID" dirty="0"/>
              <a:t> versi GoF berbeda: kelas induk </a:t>
            </a:r>
            <a:r>
              <a:rPr lang="en-US" dirty="0">
                <a:latin typeface="Consolas"/>
              </a:rPr>
              <a:t>Ekspedisi</a:t>
            </a:r>
            <a:r>
              <a:rPr lang="id-ID" dirty="0"/>
              <a:t> punya langkah kerja tetap, yaitu </a:t>
            </a:r>
            <a:r>
              <a:rPr lang="en-US" dirty="0">
                <a:latin typeface="Consolas"/>
              </a:rPr>
              <a:t>kirim_paket()</a:t>
            </a:r>
            <a:r>
              <a:rPr lang="id-ID" dirty="0"/>
              <a:t>, tetapi angkutannya dibuat lewat </a:t>
            </a:r>
            <a:r>
              <a:rPr lang="id-ID" dirty="0" i="1"/>
              <a:t>method</a:t>
            </a:r>
            <a:r>
              <a:rPr lang="id-ID" dirty="0"/>
              <a:t> abstrak </a:t>
            </a:r>
            <a:r>
              <a:rPr lang="en-US" dirty="0">
                <a:latin typeface="Consolas"/>
              </a:rPr>
              <a:t>buat_angkutan()</a:t>
            </a:r>
            <a:r>
              <a:rPr lang="id-ID" dirty="0"/>
              <a:t>. Setiap kelas anak memutuskan sendiri produknya: </a:t>
            </a:r>
            <a:r>
              <a:rPr lang="en-US" dirty="0">
                <a:latin typeface="Consolas"/>
              </a:rPr>
              <a:t>EkspedisiDarat</a:t>
            </a:r>
            <a:r>
              <a:rPr lang="id-ID" dirty="0"/>
              <a:t> membuat </a:t>
            </a:r>
            <a:r>
              <a:rPr lang="en-US" dirty="0">
                <a:latin typeface="Consolas"/>
              </a:rPr>
              <a:t>Truk</a:t>
            </a:r>
            <a:r>
              <a:rPr lang="id-ID" dirty="0"/>
              <a:t>, sedangkan </a:t>
            </a:r>
            <a:r>
              <a:rPr lang="en-US" dirty="0">
                <a:latin typeface="Consolas"/>
              </a:rPr>
              <a:t>EkspedisiSungai</a:t>
            </a:r>
            <a:r>
              <a:rPr lang="id-ID" dirty="0"/>
              <a:t> membuat </a:t>
            </a:r>
            <a:r>
              <a:rPr lang="en-US" dirty="0">
                <a:latin typeface="Consolas"/>
              </a:rPr>
              <a:t>KapalSungai</a:t>
            </a:r>
            <a:r>
              <a:rPr lang="id-ID" dirty="0"/>
              <a:t> yang menyusuri Mahakam. Kekurangan </a:t>
            </a:r>
            <a:r>
              <a:rPr lang="id-ID" dirty="0" i="1"/>
              <a:t>factory</a:t>
            </a:r>
            <a:r>
              <a:rPr lang="id-ID" dirty="0"/>
              <a:t> secara umum: menambah satu kelas lagi, dan </a:t>
            </a:r>
            <a:r>
              <a:rPr lang="id-ID" dirty="0" i="1"/>
              <a:t>Simple Factory</a:t>
            </a:r>
            <a:r>
              <a:rPr lang="id-ID" dirty="0"/>
              <a:t> tetap harus diubah saat ada jenis baru. Jika sebuah objek hanya dibuat di satu tempat dan jenisnya tidak pernah bertambah, buat saja langsung.</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Kita masuk ke kategori </a:t>
            </a:r>
            <a:r>
              <a:rPr lang="id-ID" dirty="0" i="1"/>
              <a:t>behavioral</a:t>
            </a:r>
            <a:r>
              <a:rPr lang="id-ID" dirty="0"/>
              <a:t>, yaitu tentang cara objek berbagi tugas dan saling berkomunikasi. Kabar baiknya, pola ini sudah kamu pakai tanpa sadar di Pertemuan 13.</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Ingat </a:t>
            </a:r>
            <a:r>
              <a:rPr lang="en-US" dirty="0">
                <a:latin typeface="Consolas"/>
              </a:rPr>
              <a:t>KasirSerbaBisa</a:t>
            </a:r>
            <a:r>
              <a:rPr lang="id-ID" dirty="0"/>
              <a:t> di Pertemuan 13: setiap promo baru berarti membongkar </a:t>
            </a:r>
            <a:r>
              <a:rPr lang="id-ID" dirty="0" i="1"/>
              <a:t>method</a:t>
            </a:r>
            <a:r>
              <a:rPr lang="id-ID" dirty="0"/>
              <a:t> yang sama, dan risiko merusak promo lama selalu ada. Kita sudah memperbaikinya: setiap aturan diskon menjadi kelas sendiri yang memenuhi kontrak </a:t>
            </a:r>
            <a:r>
              <a:rPr lang="en-US" dirty="0">
                <a:latin typeface="Consolas"/>
              </a:rPr>
              <a:t>Diskon</a:t>
            </a:r>
            <a:r>
              <a:rPr lang="id-ID" dirty="0"/>
              <a:t>, lalu </a:t>
            </a:r>
            <a:r>
              <a:rPr lang="en-US" dirty="0">
                <a:latin typeface="Consolas"/>
              </a:rPr>
              <a:t>Pesanan</a:t>
            </a:r>
            <a:r>
              <a:rPr lang="id-ID" dirty="0"/>
              <a:t> cukup memanggil </a:t>
            </a:r>
            <a:r>
              <a:rPr lang="en-US" dirty="0">
                <a:latin typeface="Consolas"/>
              </a:rPr>
              <a:t>hitung_potongan()</a:t>
            </a:r>
            <a:r>
              <a:rPr lang="id-ID" dirty="0"/>
              <a:t>. Kabar baiknya, susunan itu punya nama: </a:t>
            </a:r>
            <a:r>
              <a:rPr lang="id-ID" dirty="0" i="1"/>
              <a:t>Strategy</a:t>
            </a:r>
            <a:r>
              <a:rPr lang="id-ID" dirty="0"/>
              <a:t>. Analoginya aplikasi peta di ponselmu. Tujuannya sama, cara menghitungnya berbeda, dan kamu bisa menggantinya kapan saja, bahkan di tengah perjalanan, tanpa menginstal ulang aplikasinya.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Ada tiga peran. </a:t>
            </a:r>
            <a:r>
              <a:rPr lang="id-ID" dirty="0" i="1"/>
              <a:t>Context</a:t>
            </a:r>
            <a:r>
              <a:rPr lang="id-ID" dirty="0"/>
              <a:t> adalah objek yang memakai strategi, di sini </a:t>
            </a:r>
            <a:r>
              <a:rPr lang="en-US" dirty="0">
                <a:latin typeface="Consolas"/>
              </a:rPr>
              <a:t>Pengiriman</a:t>
            </a:r>
            <a:r>
              <a:rPr lang="id-ID" dirty="0"/>
              <a:t>. </a:t>
            </a:r>
            <a:r>
              <a:rPr lang="id-ID" dirty="0" i="1"/>
              <a:t>Strategy</a:t>
            </a:r>
            <a:r>
              <a:rPr lang="id-ID" dirty="0"/>
              <a:t> adalah kontraknya, yaitu </a:t>
            </a:r>
            <a:r>
              <a:rPr lang="en-US" dirty="0">
                <a:latin typeface="Consolas"/>
              </a:rPr>
              <a:t>StrategiOngkir</a:t>
            </a:r>
            <a:r>
              <a:rPr lang="id-ID" dirty="0"/>
              <a:t>; label </a:t>
            </a:r>
            <a:r>
              <a:rPr lang="id-ID" dirty="0" i="1"/>
              <a:t>interface</a:t>
            </a:r>
            <a:r>
              <a:rPr lang="id-ID" dirty="0"/>
              <a:t> berarti kontrak. Strategi konkretnya </a:t>
            </a:r>
            <a:r>
              <a:rPr lang="en-US" dirty="0">
                <a:latin typeface="Consolas"/>
              </a:rPr>
              <a:t>OngkirReguler</a:t>
            </a:r>
            <a:r>
              <a:rPr lang="id-ID" dirty="0"/>
              <a:t>, </a:t>
            </a:r>
            <a:r>
              <a:rPr lang="en-US" dirty="0">
                <a:latin typeface="Consolas"/>
              </a:rPr>
              <a:t>OngkirKilat</a:t>
            </a:r>
            <a:r>
              <a:rPr lang="id-ID" dirty="0"/>
              <a:t>, dan </a:t>
            </a:r>
            <a:r>
              <a:rPr lang="en-US" dirty="0">
                <a:latin typeface="Consolas"/>
              </a:rPr>
              <a:t>OngkirHemat</a:t>
            </a:r>
            <a:r>
              <a:rPr lang="id-ID" dirty="0"/>
              <a:t>. </a:t>
            </a:r>
            <a:r>
              <a:rPr lang="id-ID" dirty="0" i="1"/>
              <a:t>Context</a:t>
            </a:r>
            <a:r>
              <a:rPr lang="id-ID" dirty="0"/>
              <a:t> menyimpan satu objek strategi, lalu mendelegasikan pekerjaan kepadanya tanpa tahu rumus di dalamnya. Strateginya ditukar lewat </a:t>
            </a:r>
            <a:r>
              <a:rPr lang="en-US" dirty="0">
                <a:latin typeface="Consolas"/>
              </a:rPr>
              <a:t>atur_strategi()</a:t>
            </a:r>
            <a:r>
              <a:rPr lang="id-ID" dirty="0"/>
              <a:t>. Di KedaiKita, hari ini ditambah </a:t>
            </a:r>
            <a:r>
              <a:rPr lang="en-US" dirty="0">
                <a:latin typeface="Consolas"/>
              </a:rPr>
              <a:t>DiskonHappyHour</a:t>
            </a:r>
            <a:r>
              <a:rPr lang="id-ID" dirty="0"/>
              <a:t>: potongan 20% khusus minuman. Pesanan Rina dengan subtotal Rp59.000 dihitung bergantian: tanpa diskon totalnya Rp64.900, promo 15% Rp55.165, dan </a:t>
            </a:r>
            <a:r>
              <a:rPr lang="id-ID" dirty="0" i="1"/>
              <a:t>Happy Hour</a:t>
            </a:r>
            <a:r>
              <a:rPr lang="id-ID" dirty="0"/>
              <a:t> Rp56.980. Kelas </a:t>
            </a:r>
            <a:r>
              <a:rPr lang="en-US" dirty="0">
                <a:latin typeface="Consolas"/>
              </a:rPr>
              <a:t>Pesanan</a:t>
            </a:r>
            <a:r>
              <a:rPr lang="id-ID" dirty="0"/>
              <a:t> sama sekali tidak diubah; inilah OCP yang diwujudkan pola </a:t>
            </a:r>
            <a:r>
              <a:rPr lang="id-ID" dirty="0" i="1"/>
              <a:t>Strategy</a:t>
            </a:r>
            <a:r>
              <a:rPr lang="id-ID" dirty="0"/>
              <a:t>. Strategi juga tidak selalu berupa kelas: </a:t>
            </a:r>
            <a:r>
              <a:rPr lang="en-US" dirty="0">
                <a:latin typeface="Consolas"/>
              </a:rPr>
              <a:t>key=</a:t>
            </a:r>
            <a:r>
              <a:rPr lang="id-ID" dirty="0"/>
              <a:t> pada </a:t>
            </a:r>
            <a:r>
              <a:rPr lang="en-US" dirty="0">
                <a:latin typeface="Consolas"/>
              </a:rPr>
              <a:t>sorted()</a:t>
            </a:r>
            <a:r>
              <a:rPr lang="id-ID" dirty="0"/>
              <a:t> dan </a:t>
            </a:r>
            <a:r>
              <a:rPr lang="en-US" dirty="0">
                <a:latin typeface="Consolas"/>
              </a:rPr>
              <a:t>Comparator</a:t>
            </a:r>
            <a:r>
              <a:rPr lang="id-ID" dirty="0"/>
              <a:t> pada </a:t>
            </a:r>
            <a:r>
              <a:rPr lang="en-US" dirty="0">
                <a:latin typeface="Consolas"/>
              </a:rPr>
              <a:t>sort()</a:t>
            </a:r>
            <a:r>
              <a:rPr lang="id-ID" dirty="0"/>
              <a:t> sebenarnya strategi kecil. Kode lengkapnya adalah contoh 06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Pola terakhir hari ini juga termasuk kategori </a:t>
            </a:r>
            <a:r>
              <a:rPr lang="id-ID" dirty="0" i="1"/>
              <a:t>behavioral</a:t>
            </a:r>
            <a:r>
              <a:rPr lang="id-ID" dirty="0"/>
              <a:t>. Masalahnya muncul tepat setelah pelanggan membayar pesanannya.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Setelah Budi membayar, banyak pihak perlu tahu: dapur harus mulai memasak, dan Budi ingin dikabari lewat SMS saat pesanannya siap. Bulan depan mungkin ada layar antrean, lalu pencatat laporan. Jika </a:t>
            </a:r>
            <a:r>
              <a:rPr lang="en-US" dirty="0">
                <a:latin typeface="Consolas"/>
              </a:rPr>
              <a:t>Pesanan</a:t>
            </a:r>
            <a:r>
              <a:rPr lang="id-ID" dirty="0"/>
              <a:t> memanggil semua pihak itu secara langsung, </a:t>
            </a:r>
            <a:r>
              <a:rPr lang="en-US" dirty="0">
                <a:latin typeface="Consolas"/>
              </a:rPr>
              <a:t>Pesanan</a:t>
            </a:r>
            <a:r>
              <a:rPr lang="id-ID" dirty="0"/>
              <a:t> harus mengenal setiap kelas penerima dan harus diubah setiap kali ada penerima baru. Kelas yang tadinya rapi kembali menjadi serba bisa. Kanal video memecahkan masalah serupa: kanal menyimpan daftar pelanggan dan mengabari mereka semua secara otomatis.</a:t>
            </a:r>
            <a:endParaRPr lang="id-ID" dirty="0"/>
          </a:p>
          <a:p>
            <a:r>
              <a:rPr lang="id-ID" dirty="0"/>
              <a:t>Pertanyaan untuk kelas: di mana lagi kamu menerima kabar otomatis seperti ini? Contohnya aplikasi ojek </a:t>
            </a:r>
            <a:r>
              <a:rPr lang="id-ID" dirty="0" i="1"/>
              <a:t>online</a:t>
            </a:r>
            <a:r>
              <a:rPr lang="id-ID" dirty="0"/>
              <a:t> saat status pesanan berubah.</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a:t>
            </a:r>
            <a:r>
              <a:rPr lang="id-ID" dirty="0" i="1"/>
              <a:t>subject</a:t>
            </a:r>
            <a:r>
              <a:rPr lang="id-ID" dirty="0"/>
              <a:t> di KedaiKita. </a:t>
            </a:r>
            <a:r>
              <a:rPr lang="en-US" dirty="0">
                <a:latin typeface="Consolas"/>
              </a:rPr>
              <a:t>Pesanan</a:t>
            </a:r>
            <a:r>
              <a:rPr lang="id-ID" dirty="0"/>
              <a:t> menyimpan daftar pengamat bertipe </a:t>
            </a:r>
            <a:r>
              <a:rPr lang="en-US" dirty="0">
                <a:latin typeface="Consolas"/>
              </a:rPr>
              <a:t>PengamatPesanan</a:t>
            </a:r>
            <a:r>
              <a:rPr lang="id-ID" dirty="0"/>
              <a:t>, yaitu kontrak dengan satu </a:t>
            </a:r>
            <a:r>
              <a:rPr lang="id-ID" dirty="0" i="1"/>
              <a:t>method</a:t>
            </a:r>
            <a:r>
              <a:rPr lang="id-ID" dirty="0"/>
              <a:t>: </a:t>
            </a:r>
            <a:r>
              <a:rPr lang="en-US" dirty="0">
                <a:latin typeface="Consolas"/>
              </a:rPr>
              <a:t>perbarui()</a:t>
            </a:r>
            <a:r>
              <a:rPr lang="id-ID" dirty="0"/>
              <a:t>. Pengamat didaftarkan lewat </a:t>
            </a:r>
            <a:r>
              <a:rPr lang="en-US" dirty="0">
                <a:latin typeface="Consolas"/>
              </a:rPr>
              <a:t>tambah_pengamat()</a:t>
            </a:r>
            <a:r>
              <a:rPr lang="id-ID" dirty="0"/>
              <a:t>. Setiap kali </a:t>
            </a:r>
            <a:r>
              <a:rPr lang="en-US" dirty="0">
                <a:latin typeface="Consolas"/>
              </a:rPr>
              <a:t>ubah_status()</a:t>
            </a:r>
            <a:r>
              <a:rPr lang="id-ID" dirty="0"/>
              <a:t> dipanggil, status baru diperiksa dulu, lalu disimpan, kemudian </a:t>
            </a:r>
            <a:r>
              <a:rPr lang="en-US" dirty="0">
                <a:latin typeface="Consolas"/>
              </a:rPr>
              <a:t>Pesanan</a:t>
            </a:r>
            <a:r>
              <a:rPr lang="id-ID" dirty="0"/>
              <a:t> menyusuri daftar pengamat dan memanggil </a:t>
            </a:r>
            <a:r>
              <a:rPr lang="en-US" dirty="0">
                <a:latin typeface="Consolas"/>
              </a:rPr>
              <a:t>perbarui()</a:t>
            </a:r>
            <a:r>
              <a:rPr lang="id-ID" dirty="0"/>
              <a:t> milik masing-masing. Status yang sah hanya BARU, LUNAS, DIPROSES, SIAP, dan SELESAI. Pengamat konkretnya ada dua: </a:t>
            </a:r>
            <a:r>
              <a:rPr lang="en-US" dirty="0">
                <a:latin typeface="Consolas"/>
              </a:rPr>
              <a:t>LayarDapur</a:t>
            </a:r>
            <a:r>
              <a:rPr lang="id-ID" dirty="0"/>
              <a:t> dan </a:t>
            </a:r>
            <a:r>
              <a:rPr lang="en-US" dirty="0">
                <a:latin typeface="Consolas"/>
              </a:rPr>
              <a:t>NotifikasiPelanggan</a:t>
            </a:r>
            <a:r>
              <a:rPr lang="id-ID" dirty="0"/>
              <a:t>. Membayar juga memakai jalur yang sama: </a:t>
            </a:r>
            <a:r>
              <a:rPr lang="en-US" dirty="0">
                <a:latin typeface="Consolas"/>
              </a:rPr>
              <a:t>bayar()</a:t>
            </a:r>
            <a:r>
              <a:rPr lang="id-ID" dirty="0"/>
              <a:t> kini memanggil </a:t>
            </a:r>
            <a:r>
              <a:rPr lang="en-US" dirty="0">
                <a:latin typeface="Consolas"/>
              </a:rPr>
              <a:t>ubah_status("LUNAS")</a:t>
            </a:r>
            <a:r>
              <a:rPr lang="id-ID" dirty="0"/>
              <a:t> sehingga pengamat ikut tahu saat pesanan dibayar. Di Java, nama </a:t>
            </a:r>
            <a:r>
              <a:rPr lang="id-ID" dirty="0" i="1"/>
              <a:t>method</a:t>
            </a:r>
            <a:r>
              <a:rPr lang="id-ID" dirty="0"/>
              <a:t>-nya ditulis </a:t>
            </a:r>
            <a:r>
              <a:rPr lang="id-ID" dirty="0" i="1"/>
              <a:t>camelCase</a:t>
            </a:r>
            <a:r>
              <a:rPr lang="id-ID" dirty="0"/>
              <a:t>: </a:t>
            </a:r>
            <a:r>
              <a:rPr lang="en-US" dirty="0">
                <a:latin typeface="Consolas"/>
              </a:rPr>
              <a:t>tambahPengamat()</a:t>
            </a:r>
            <a:r>
              <a:rPr lang="id-ID" dirty="0"/>
              <a:t> dan </a:t>
            </a:r>
            <a:r>
              <a:rPr lang="en-US" dirty="0">
                <a:latin typeface="Consolas"/>
              </a:rPr>
              <a:t>ubahStatus()</a:t>
            </a:r>
            <a:r>
              <a:rPr lang="id-ID" dirty="0"/>
              <a:t>. Versi kecil pola ini adalah contoh 07 di halaman praktik, yaitu kanal video.</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Ada dua gaya mengirim kabar. Pada gaya </a:t>
            </a:r>
            <a:r>
              <a:rPr lang="id-ID" dirty="0" i="1"/>
              <a:t>push</a:t>
            </a:r>
            <a:r>
              <a:rPr lang="id-ID" dirty="0"/>
              <a:t>, </a:t>
            </a:r>
            <a:r>
              <a:rPr lang="id-ID" dirty="0" i="1"/>
              <a:t>subject</a:t>
            </a:r>
            <a:r>
              <a:rPr lang="id-ID" dirty="0"/>
              <a:t> mendorong data kejadiannya, misalnya judul video di contoh 07. Pada gaya </a:t>
            </a:r>
            <a:r>
              <a:rPr lang="id-ID" dirty="0" i="1"/>
              <a:t>pull</a:t>
            </a:r>
            <a:r>
              <a:rPr lang="id-ID" dirty="0"/>
              <a:t>, </a:t>
            </a:r>
            <a:r>
              <a:rPr lang="id-ID" dirty="0" i="1"/>
              <a:t>subject</a:t>
            </a:r>
            <a:r>
              <a:rPr lang="id-ID" dirty="0"/>
              <a:t> mengirim dirinya sendiri, lalu setiap pengamat menarik data yang ia butuhkan. Di KedaiKita, dua pengamat dengan kebutuhan berbeda memakai satu parameter yang sama. Kekurangan </a:t>
            </a:r>
            <a:r>
              <a:rPr lang="id-ID" dirty="0" i="1"/>
              <a:t>Observer</a:t>
            </a:r>
            <a:r>
              <a:rPr lang="id-ID" dirty="0"/>
              <a:t> secara umum: alurnya tersembunyi, karena dari kode </a:t>
            </a:r>
            <a:r>
              <a:rPr lang="en-US" dirty="0">
                <a:latin typeface="Consolas"/>
              </a:rPr>
              <a:t>ubah_status()</a:t>
            </a:r>
            <a:r>
              <a:rPr lang="id-ID" dirty="0"/>
              <a:t> saja kamu tidak tahu siapa yang bereaksi; urutan kabar mengikuti urutan pendaftaran; dan pengamat yang lupa berhenti berlangganan terus dikabari serta tetap tersimpan di memori. Jika penerimanya hanya satu dan pasti tidak bertambah, panggil saja </a:t>
            </a:r>
            <a:r>
              <a:rPr lang="id-ID" dirty="0" i="1"/>
              <a:t>method</a:t>
            </a:r>
            <a:r>
              <a:rPr lang="id-ID" dirty="0"/>
              <a:t>-nya secara langsung.</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Hari ini KedaiKita memakai keempat pola sekaligus. Kode Pertemuan 13 tetap menjadi dasarnya; kita hanya menambah bagian yang baru dan menyesuaikan beberapa aturan pesanan.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Tabel ini merangkum peran keempat pola di KedaiKita. Ada tiga perubahan aturan. Pertama, status pesanan kini bisa BARU, LUNAS, DIPROSES, SIAP, atau SELESAI, dan setiap perubahan lewat </a:t>
            </a:r>
            <a:r>
              <a:rPr lang="en-US" dirty="0">
                <a:latin typeface="Consolas"/>
              </a:rPr>
              <a:t>ubah_status()</a:t>
            </a:r>
            <a:r>
              <a:rPr lang="id-ID" dirty="0"/>
              <a:t> otomatis memberi kabar ke semua pengamat. Kedua, total kini memuat pajak yang dihitung dari subtotal setelah diskon dan dibulatkan ke bawah. Angka 10% itu tidak ditulis di </a:t>
            </a:r>
            <a:r>
              <a:rPr lang="en-US" dirty="0">
                <a:latin typeface="Consolas"/>
              </a:rPr>
              <a:t>Pesanan</a:t>
            </a:r>
            <a:r>
              <a:rPr lang="id-ID" dirty="0"/>
              <a:t>, tetapi dibaca dari </a:t>
            </a:r>
            <a:r>
              <a:rPr lang="en-US" dirty="0">
                <a:latin typeface="Consolas"/>
              </a:rPr>
              <a:t>PengaturanKedai</a:t>
            </a:r>
            <a:r>
              <a:rPr lang="id-ID" dirty="0"/>
              <a:t>. Ketiga, kepala struk kini berisi nama dan alamat dari </a:t>
            </a:r>
            <a:r>
              <a:rPr lang="en-US" dirty="0">
                <a:latin typeface="Consolas"/>
              </a:rPr>
              <a:t>PengaturanKedai</a:t>
            </a:r>
            <a:r>
              <a:rPr lang="id-ID" dirty="0"/>
              <a:t>, dan ada baris baru </a:t>
            </a:r>
            <a:r>
              <a:rPr lang="en-US" dirty="0">
                <a:latin typeface="Consolas"/>
              </a:rPr>
              <a:t>Pajak 10%</a:t>
            </a:r>
            <a:r>
              <a:rPr lang="id-ID" dirty="0"/>
              <a:t>. Ingat, pajak 10% ini nilai simulasi untuk latihan, jadi jangan dijadikan acuan perpajakan.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bagian keempat skenario </a:t>
            </a:r>
            <a:r>
              <a:rPr lang="en-US" dirty="0">
                <a:latin typeface="Consolas"/>
              </a:rPr>
              <a:t>main.py</a:t>
            </a:r>
            <a:r>
              <a:rPr lang="id-ID" dirty="0"/>
              <a:t>. Budi memesan 2 Kopi Susu Gula Aren dan 1 Nasi Goreng Kampung. </a:t>
            </a:r>
            <a:r>
              <a:rPr lang="en-US" dirty="0">
                <a:latin typeface="Consolas"/>
              </a:rPr>
              <a:t>LayarDapur</a:t>
            </a:r>
            <a:r>
              <a:rPr lang="id-ID" dirty="0"/>
              <a:t> dan </a:t>
            </a:r>
            <a:r>
              <a:rPr lang="en-US" dirty="0">
                <a:latin typeface="Consolas"/>
              </a:rPr>
              <a:t>NotifikasiPelanggan</a:t>
            </a:r>
            <a:r>
              <a:rPr lang="id-ID" dirty="0"/>
              <a:t> didaftarkan sebagai pengamat, lalu Budi membayar tunai Rp100.000 dengan objek buatan </a:t>
            </a:r>
            <a:r>
              <a:rPr lang="en-US" dirty="0">
                <a:latin typeface="Consolas"/>
              </a:rPr>
              <a:t>PembayaranFactory</a:t>
            </a:r>
            <a:r>
              <a:rPr lang="id-ID" dirty="0"/>
              <a:t>. Begitu lunas, dapur menerima daftar item dan Budi menerima SMS. Setelah itu statusnya berubah menjadi DIPROSES, SIAP, dan SELESAI, dan setiap kali keduanya dikabari. Empat perubahan status kali dua pengamat sama dengan delapan kabar, padahal </a:t>
            </a:r>
            <a:r>
              <a:rPr lang="en-US" dirty="0">
                <a:latin typeface="Consolas"/>
              </a:rPr>
              <a:t>Pesanan</a:t>
            </a:r>
            <a:r>
              <a:rPr lang="id-ID" dirty="0"/>
              <a:t> tidak pernah menyebut nama </a:t>
            </a:r>
            <a:r>
              <a:rPr lang="en-US" dirty="0">
                <a:latin typeface="Consolas"/>
              </a:rPr>
              <a:t>LayarDapur</a:t>
            </a:r>
            <a:r>
              <a:rPr lang="id-ID" dirty="0"/>
              <a:t> atau </a:t>
            </a:r>
            <a:r>
              <a:rPr lang="en-US" dirty="0">
                <a:latin typeface="Consolas"/>
              </a:rPr>
              <a:t>NotifikasiPelanggan</a:t>
            </a:r>
            <a:r>
              <a:rPr lang="id-ID" dirty="0"/>
              <a:t>. Pesanan Budi bernomor P002 karena P001 sudah dipakai pesanan Rina di bagian </a:t>
            </a:r>
            <a:r>
              <a:rPr lang="id-ID" dirty="0" i="1"/>
              <a:t>Strategy</a:t>
            </a:r>
            <a:r>
              <a:rPr lang="id-ID" dirty="0"/>
              <a:t>. Di akhir, struk dicetak dengan </a:t>
            </a:r>
            <a:r>
              <a:rPr lang="en-US" dirty="0">
                <a:latin typeface="Consolas"/>
              </a:rPr>
              <a:t>Pajak 10%</a:t>
            </a:r>
            <a:r>
              <a:rPr lang="id-ID" dirty="0"/>
              <a:t> sebesar Rp6.100 dan total Rp67.100.</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Tiga anggapan keliru ini sering muncul saat pertama kali belajar </a:t>
            </a:r>
            <a:r>
              <a:rPr lang="id-ID" dirty="0" i="1"/>
              <a:t>design pattern</a:t>
            </a:r>
            <a:r>
              <a:rPr lang="id-ID" dirty="0"/>
              <a:t>. Ajak kelas menebak dulu: mengapa anggapan di kiri salah? Tiga miskonsepsi lain dibahas di bagian 10 halaman konsep: pola dianggap kode siap salin, </a:t>
            </a:r>
            <a:r>
              <a:rPr lang="id-ID" dirty="0" i="1"/>
              <a:t>Simple Factory</a:t>
            </a:r>
            <a:r>
              <a:rPr lang="id-ID" dirty="0"/>
              <a:t> dianggap salah satu pola GoF, dan </a:t>
            </a:r>
            <a:r>
              <a:rPr lang="id-ID" dirty="0" i="1"/>
              <a:t>subject</a:t>
            </a:r>
            <a:r>
              <a:rPr lang="id-ID" dirty="0"/>
              <a:t> dianggap harus mengenal kelas setiap pengamatnya. Ingat juga KISS dan YAGNI dari Pertemuan 13: program 30 baris tidak butuh </a:t>
            </a:r>
            <a:r>
              <a:rPr lang="id-ID" dirty="0" i="1"/>
              <a:t>Factory</a:t>
            </a:r>
            <a:r>
              <a:rPr lang="id-ID" dirty="0"/>
              <a:t>, </a:t>
            </a:r>
            <a:r>
              <a:rPr lang="id-ID" dirty="0" i="1"/>
              <a:t>Strategy</a:t>
            </a:r>
            <a:r>
              <a:rPr lang="id-ID" dirty="0"/>
              <a:t>, dan </a:t>
            </a:r>
            <a:r>
              <a:rPr lang="id-ID" dirty="0" i="1"/>
              <a:t>Observer</a:t>
            </a:r>
            <a:r>
              <a:rPr lang="id-ID" dirty="0"/>
              <a:t> sekaligus.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menguji perbedaan dua jenis </a:t>
            </a:r>
            <a:r>
              <a:rPr lang="id-ID" dirty="0" i="1"/>
              <a:t>factory</a:t>
            </a:r>
            <a:r>
              <a:rPr lang="id-ID" dirty="0"/>
              <a:t>. Beri waktu sekitar 30 detik untuk berpikir, lalu minta mahasiswa mengangkat tangan sesuai pilihannya. Petunjuk: pikirkan siapa yang memilih kelas produk. Jawaban dan pembahasannya ada di </a:t>
            </a:r>
            <a:r>
              <a:rPr lang="id-ID" dirty="0" i="1"/>
              <a:t>slide</a:t>
            </a:r>
            <a:r>
              <a:rPr lang="id-ID" dirty="0"/>
              <a:t> berikutnya. Kuis lengkap berisi 10 soal ada di </a:t>
            </a:r>
            <a:r>
              <a:rPr lang="id-ID" dirty="0" i="1"/>
              <a:t>file</a:t>
            </a:r>
            <a:r>
              <a:rPr lang="id-ID" dirty="0"/>
              <a:t> kuis.md pada folder pertemuan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C. Di contoh 05, </a:t>
            </a:r>
            <a:r>
              <a:rPr lang="en-US" dirty="0">
                <a:latin typeface="Consolas"/>
              </a:rPr>
              <a:t>EkspedisiDarat</a:t>
            </a:r>
            <a:r>
              <a:rPr lang="id-ID" dirty="0"/>
              <a:t> dan </a:t>
            </a:r>
            <a:r>
              <a:rPr lang="en-US" dirty="0">
                <a:latin typeface="Consolas"/>
              </a:rPr>
              <a:t>EkspedisiSungai</a:t>
            </a:r>
            <a:r>
              <a:rPr lang="id-ID" dirty="0"/>
              <a:t> masing-masing meng-</a:t>
            </a:r>
            <a:r>
              <a:rPr lang="id-ID" dirty="0" i="1"/>
              <a:t>override</a:t>
            </a:r>
            <a:r>
              <a:rPr lang="id-ID" dirty="0"/>
              <a:t> </a:t>
            </a:r>
            <a:r>
              <a:rPr lang="en-US" dirty="0">
                <a:latin typeface="Consolas"/>
              </a:rPr>
              <a:t>buat_angkutan()</a:t>
            </a:r>
            <a:r>
              <a:rPr lang="id-ID" dirty="0"/>
              <a:t>/</a:t>
            </a:r>
            <a:r>
              <a:rPr lang="en-US" dirty="0">
                <a:latin typeface="Consolas"/>
              </a:rPr>
              <a:t>buatAngkutan()</a:t>
            </a:r>
            <a:r>
              <a:rPr lang="id-ID" dirty="0"/>
              <a:t>. A terbalik: </a:t>
            </a:r>
            <a:r>
              <a:rPr lang="id-ID" dirty="0" i="1"/>
              <a:t>Factory Method</a:t>
            </a:r>
            <a:r>
              <a:rPr lang="id-ID" dirty="0"/>
              <a:t> ada di buku GoF, sedangkan </a:t>
            </a:r>
            <a:r>
              <a:rPr lang="id-ID" dirty="0" i="1"/>
              <a:t>Simple Factory</a:t>
            </a:r>
            <a:r>
              <a:rPr lang="id-ID" dirty="0"/>
              <a:t> idiom populer. B justru menggambarkan </a:t>
            </a:r>
            <a:r>
              <a:rPr lang="id-ID" dirty="0" i="1"/>
              <a:t>Simple Factory</a:t>
            </a:r>
            <a:r>
              <a:rPr lang="id-ID" dirty="0"/>
              <a:t>. D salah karena cara memilih produk, cara menambah produk baru, dan statusnya di GoF berbeda.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menguji gaya </a:t>
            </a:r>
            <a:r>
              <a:rPr lang="id-ID" dirty="0" i="1"/>
              <a:t>push</a:t>
            </a:r>
            <a:r>
              <a:rPr lang="id-ID" dirty="0"/>
              <a:t> dan </a:t>
            </a:r>
            <a:r>
              <a:rPr lang="id-ID" dirty="0" i="1"/>
              <a:t>pull</a:t>
            </a:r>
            <a:r>
              <a:rPr lang="id-ID" dirty="0"/>
              <a:t> pada </a:t>
            </a:r>
            <a:r>
              <a:rPr lang="id-ID" dirty="0" i="1"/>
              <a:t>Observer</a:t>
            </a:r>
            <a:r>
              <a:rPr lang="id-ID" dirty="0"/>
              <a:t>. Minta mahasiswa melihat lagi apa yang dikirim </a:t>
            </a:r>
            <a:r>
              <a:rPr lang="en-US" dirty="0">
                <a:latin typeface="Consolas"/>
              </a:rPr>
              <a:t>Pesanan</a:t>
            </a:r>
            <a:r>
              <a:rPr lang="id-ID" dirty="0"/>
              <a:t> saat memanggil </a:t>
            </a:r>
            <a:r>
              <a:rPr lang="en-US" dirty="0">
                <a:latin typeface="Consolas"/>
              </a:rPr>
              <a:t>perbarui()</a:t>
            </a:r>
            <a:r>
              <a:rPr lang="id-ID" dirty="0"/>
              <a:t>, lalu bandingkan dengan contoh kanal video. Beri waktu sekitar 30 detik sebelum membuka jawaban. Jawaban dan pembahasannya ada di </a:t>
            </a:r>
            <a:r>
              <a:rPr lang="id-ID" dirty="0" i="1"/>
              <a:t>slide</a:t>
            </a:r>
            <a:r>
              <a:rPr lang="id-ID" dirty="0"/>
              <a:t> berikutnya.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C. </a:t>
            </a:r>
            <a:r>
              <a:rPr lang="en-US" dirty="0">
                <a:latin typeface="Consolas"/>
              </a:rPr>
              <a:t>LayarDapur</a:t>
            </a:r>
            <a:r>
              <a:rPr lang="id-ID" dirty="0"/>
              <a:t> menarik nomor dan item, </a:t>
            </a:r>
            <a:r>
              <a:rPr lang="en-US" dirty="0">
                <a:latin typeface="Consolas"/>
              </a:rPr>
              <a:t>NotifikasiPelanggan</a:t>
            </a:r>
            <a:r>
              <a:rPr lang="id-ID" dirty="0"/>
              <a:t> menarik nama dan nomor HP, dari objek pesanan yang sama. Pada </a:t>
            </a:r>
            <a:r>
              <a:rPr lang="id-ID" dirty="0" i="1"/>
              <a:t>push</a:t>
            </a:r>
            <a:r>
              <a:rPr lang="id-ID" dirty="0"/>
              <a:t>, yang dikirim data kejadiannya. A keliru: kedua gaya sama-sama mendorong kabar; bedanya </a:t>
            </a:r>
            <a:r>
              <a:rPr lang="id-ID" dirty="0" b="1"/>
              <a:t>apa</a:t>
            </a:r>
            <a:r>
              <a:rPr lang="id-ID" dirty="0"/>
              <a:t> yang dikirim. B keliru: yang dikirim objek pesanan. D adalah </a:t>
            </a:r>
            <a:r>
              <a:rPr lang="id-ID" dirty="0" i="1"/>
              <a:t>polling</a:t>
            </a:r>
            <a:r>
              <a:rPr lang="id-ID" dirty="0"/>
              <a:t>; pada </a:t>
            </a:r>
            <a:r>
              <a:rPr lang="id-ID" dirty="0" i="1"/>
              <a:t>Observer</a:t>
            </a:r>
            <a:r>
              <a:rPr lang="id-ID" dirty="0"/>
              <a:t>, pengamat </a:t>
            </a:r>
            <a:r>
              <a:rPr lang="id-ID" dirty="0" b="1"/>
              <a:t>menunggu dikabari</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tujuh hal yang perlu kamu bawa pulang. Pegang satu kebiasaan: mulailah dari masalah yang kamu rasakan, baru cari pola yang cocok. Banyak bagian program butuh satu objek bersama yang harus konsisten? Pertimbangkan </a:t>
            </a:r>
            <a:r>
              <a:rPr lang="id-ID" dirty="0" i="1"/>
              <a:t>Singleton</a:t>
            </a:r>
            <a:r>
              <a:rPr lang="id-ID" dirty="0"/>
              <a:t>, atau cukup kirim objeknya lewat parameter. Potongan </a:t>
            </a:r>
            <a:r>
              <a:rPr lang="en-US" dirty="0">
                <a:latin typeface="Consolas"/>
              </a:rPr>
              <a:t>if</a:t>
            </a:r>
            <a:r>
              <a:rPr lang="id-ID" dirty="0"/>
              <a:t> pembuat objek muncul di banyak tempat? </a:t>
            </a:r>
            <a:r>
              <a:rPr lang="id-ID" dirty="0" i="1"/>
              <a:t>Factory</a:t>
            </a:r>
            <a:r>
              <a:rPr lang="id-ID" dirty="0"/>
              <a:t>. </a:t>
            </a:r>
            <a:r>
              <a:rPr lang="en-US" dirty="0">
                <a:latin typeface="Consolas"/>
              </a:rPr>
              <a:t>if</a:t>
            </a:r>
            <a:r>
              <a:rPr lang="id-ID" dirty="0"/>
              <a:t>/</a:t>
            </a:r>
            <a:r>
              <a:rPr lang="en-US" dirty="0">
                <a:latin typeface="Consolas"/>
              </a:rPr>
              <a:t>elif</a:t>
            </a:r>
            <a:r>
              <a:rPr lang="id-ID" dirty="0"/>
              <a:t> panjang berisi rumus yang sering bertambah? </a:t>
            </a:r>
            <a:r>
              <a:rPr lang="id-ID" dirty="0" i="1"/>
              <a:t>Strategy</a:t>
            </a:r>
            <a:r>
              <a:rPr lang="id-ID" dirty="0"/>
              <a:t>. Satu kejadian memicu banyak reaksi yang jumlahnya bisa berubah? </a:t>
            </a:r>
            <a:r>
              <a:rPr lang="id-ID" dirty="0" i="1"/>
              <a:t>Observer</a:t>
            </a:r>
            <a:r>
              <a:rPr lang="id-ID" dirty="0"/>
              <a:t>. Nama pola juga kosakata bersama: cukup katakan status pesanan pakai </a:t>
            </a:r>
            <a:r>
              <a:rPr lang="id-ID" dirty="0" i="1"/>
              <a:t>Observer</a:t>
            </a:r>
            <a:r>
              <a:rPr lang="id-ID" dirty="0"/>
              <a:t>, dan seluruh tim langsung paham rancangannya.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Semua bahan pertemuan ini ada di folder Pertemuan-14-Design-Pattern di GitHub. Mulailah dari halaman praktik sesuai jalurmu, Python atau Java, dan jangan lewatkan contoh 03 yang membuktikan sisi gelap </a:t>
            </a:r>
            <a:r>
              <a:rPr lang="id-ID" dirty="0" i="1"/>
              <a:t>Singleton</a:t>
            </a:r>
            <a:r>
              <a:rPr lang="id-ID" dirty="0"/>
              <a:t>. Simpan semua percobaanmu di folder PBO-latihan-saya/pertemuan-14, bukan di folder materi. Untuk studi kasus, salin seluruh folder studi-kasus karena </a:t>
            </a:r>
            <a:r>
              <a:rPr lang="id-ID" dirty="0" i="1"/>
              <a:t>file-file</a:t>
            </a:r>
            <a:r>
              <a:rPr lang="id-ID" dirty="0"/>
              <a:t>-nya saling membutuhkan. Sampai jumpa di Pertemuan 15: proyek terintegrasi.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7589520" cy="182880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697480" y="2377440"/>
            <a:ext cx="8778240" cy="96012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14 · </a:t>
            </a:r>
            <a:r>
              <a:rPr lang="en-US" sz="1100" dirty="0" i="1">
                <a:solidFill>
                  <a:srgbClr val="9FB3C8"/>
                </a:solidFill>
              </a:rPr>
              <a:t>Design Pattern</a:t>
            </a:r>
            <a:r>
              <a:rPr lang="en-US" sz="1100" dirty="0">
                <a:solidFill>
                  <a:srgbClr val="9FB3C8"/>
                </a:solidFill>
              </a:rPr>
              <a:t> Dasar</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0A3069"/>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57606A"/>
                </a:solidFill>
              </a:rPr>
              <a:t>PBO 2026 · Pertemuan 14 · </a:t>
            </a:r>
            <a:r>
              <a:rPr lang="en-US" sz="1100" dirty="0" i="1">
                <a:solidFill>
                  <a:srgbClr val="57606A"/>
                </a:solidFill>
              </a:rPr>
              <a:t>Design Pattern</a:t>
            </a:r>
            <a:r>
              <a:rPr lang="en-US" sz="1100" dirty="0">
                <a:solidFill>
                  <a:srgbClr val="57606A"/>
                </a:solidFill>
              </a:rPr>
              <a:t> Dasar</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LAP">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14 · </a:t>
            </a:r>
            <a:r>
              <a:rPr lang="en-US" sz="1100" dirty="0" i="1">
                <a:solidFill>
                  <a:srgbClr val="9FB3C8"/>
                </a:solidFill>
              </a:rPr>
              <a:t>Design Pattern</a:t>
            </a:r>
            <a:r>
              <a:rPr lang="en-US" sz="1100" dirty="0">
                <a:solidFill>
                  <a:srgbClr val="9FB3C8"/>
                </a:solidFill>
              </a:rPr>
              <a:t> Dasar</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13-1.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13-1.png"/><Relationship Id="rId4" Type="http://schemas.openxmlformats.org/officeDocument/2006/relationships/slideLayout" Target="../slideLayouts/slideLayout4.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6-3.png"/><Relationship Id="rId4" Type="http://schemas.openxmlformats.org/officeDocument/2006/relationships/image" Target="../media/image-26-3.png"/><Relationship Id="rId5" Type="http://schemas.openxmlformats.org/officeDocument/2006/relationships/image" Target="../media/image-26-3.png"/><Relationship Id="rId6" Type="http://schemas.openxmlformats.org/officeDocument/2006/relationships/image" Target="../media/image-26-3.png"/><Relationship Id="rId7" Type="http://schemas.openxmlformats.org/officeDocument/2006/relationships/image" Target="../media/image-26-3.png"/><Relationship Id="rId8" Type="http://schemas.openxmlformats.org/officeDocument/2006/relationships/image" Target="../media/image-26-3.png"/><Relationship Id="rId9" Type="http://schemas.openxmlformats.org/officeDocument/2006/relationships/slideLayout" Target="../slideLayouts/slideLayout4.xml"/><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antonprafanto/PBO2026/blob/master/Pertemuan-14-Design-Pattern/README.md" TargetMode="External"/><Relationship Id="rId5" Type="http://schemas.openxmlformats.org/officeDocument/2006/relationships/hyperlink" Target="https://github.com/antonprafanto/PBO2026/blob/master/Pertemuan-14-Design-Pattern/python/README.md" TargetMode="External"/><Relationship Id="rId7" Type="http://schemas.openxmlformats.org/officeDocument/2006/relationships/hyperlink" Target="https://github.com/antonprafanto/PBO2026/blob/master/Pertemuan-14-Design-Pattern/java/README.md" TargetMode="External"/><Relationship Id="rId9" Type="http://schemas.openxmlformats.org/officeDocument/2006/relationships/hyperlink" Target="https://github.com/antonprafanto/PBO2026/blob/master/Pertemuan-14-Design-Pattern/jembatan-python-java.md" TargetMode="External"/><Relationship Id="rId11" Type="http://schemas.openxmlformats.org/officeDocument/2006/relationships/hyperlink" Target="https://github.com/antonprafanto/PBO2026/blob/master/Pertemuan-14-Design-Pattern/latihan.md" TargetMode="External"/><Relationship Id="rId13" Type="http://schemas.openxmlformats.org/officeDocument/2006/relationships/hyperlink" Target="https://github.com/antonprafanto/PBO2026/blob/master/Pertemuan-14-Design-Pattern/kuis.md" TargetMode="External"/><Relationship Id="rId15" Type="http://schemas.openxmlformats.org/officeDocument/2006/relationships/hyperlink" Target="https://github.com/antonprafanto/PBO2026/tree/master/Pertemuan-14-Design-Pattern" TargetMode="External"/><Relationship Id="rId1" Type="http://schemas.openxmlformats.org/officeDocument/2006/relationships/image" Target="../media/image-32-1.png"/><Relationship Id="rId2" Type="http://schemas.openxmlformats.org/officeDocument/2006/relationships/image" Target="../media/image-32-2.png"/><Relationship Id="rId4" Type="http://schemas.openxmlformats.org/officeDocument/2006/relationships/image" Target="../media/image-32-3.png"/><Relationship Id="rId6" Type="http://schemas.openxmlformats.org/officeDocument/2006/relationships/image" Target="../media/image-32-3.png"/><Relationship Id="rId8" Type="http://schemas.openxmlformats.org/officeDocument/2006/relationships/image" Target="../media/image-32-5.png"/><Relationship Id="rId10" Type="http://schemas.openxmlformats.org/officeDocument/2006/relationships/image" Target="../media/image-32-6.png"/><Relationship Id="rId12" Type="http://schemas.openxmlformats.org/officeDocument/2006/relationships/image" Target="../media/image-32-7.png"/><Relationship Id="rId14" Type="http://schemas.openxmlformats.org/officeDocument/2006/relationships/image" Target="../media/image-32-8.png"/><Relationship Id="rId16" Type="http://schemas.openxmlformats.org/officeDocument/2006/relationships/slideLayout" Target="../slideLayouts/slideLayout5.xml"/><Relationship Id="rId17"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7680960" cy="365760"/>
          </a:xfrm>
          <a:prstGeom prst="rect">
            <a:avLst/>
          </a:prstGeom>
          <a:noFill/>
          <a:ln/>
        </p:spPr>
        <p:txBody>
          <a:bodyPr wrap="square" lIns="0" tIns="0" rIns="0" bIns="0" rtlCol="0" anchor="t"/>
          <a:lstStyle/>
          <a:p>
            <a:pPr indent="0" marL="0">
              <a:buNone/>
            </a:pPr>
            <a:r>
              <a:rPr lang="id-ID" altLang="en-US" sz="1500" b="1" spc="200" kern="0" dirty="0">
                <a:solidFill>
                  <a:srgbClr val="54AEFF"/>
                </a:solidFill>
              </a:rPr>
              <a:t>PEMROGRAMAN BERORIENTASI OBJEK 2026</a:t>
            </a:r>
            <a:endParaRPr lang="id-ID" sz="1500" dirty="0"/>
          </a:p>
        </p:txBody>
      </p:sp>
      <p:sp>
        <p:nvSpPr>
          <p:cNvPr id="3" name="Text 0"/>
          <p:cNvSpPr/>
          <p:nvPr>
            <p:ph idx="100" type="title" hasCustomPrompt="1"/>
          </p:nvPr>
        </p:nvSpPr>
        <p:spPr>
          <a:xfrm>
            <a:off x="731520" y="1600200"/>
            <a:ext cx="7589520" cy="1828800"/>
          </a:xfrm>
          <a:prstGeom prst="rect">
            <a:avLst/>
          </a:prstGeom>
          <a:noFill/>
          <a:ln/>
        </p:spPr>
        <p:txBody>
          <a:bodyPr wrap="square" lIns="0" tIns="0" rIns="0" bIns="0" rtlCol="0" anchor="t"/>
          <a:lstStyle/>
          <a:p>
            <a:pPr algn="l" indent="0" marL="0">
              <a:buNone/>
            </a:pPr>
            <a:r>
              <a:rPr lang="id-ID" altLang="en-US" sz="4800" b="1" i="1" dirty="0">
                <a:solidFill>
                  <a:srgbClr val="FFFFFF"/>
                </a:solidFill>
              </a:rPr>
              <a:t>Design Pattern</a:t>
            </a:r>
            <a:r>
              <a:rPr lang="id-ID" altLang="en-US" sz="4800" b="1" dirty="0">
                <a:solidFill>
                  <a:srgbClr val="FFFFFF"/>
                </a:solidFill>
              </a:rPr>
              <a:t> Dasar</a:t>
            </a:r>
            <a:endParaRPr lang="id-ID" sz="4800" dirty="0"/>
          </a:p>
        </p:txBody>
      </p:sp>
      <p:sp>
        <p:nvSpPr>
          <p:cNvPr id="4" name="Text 2"/>
          <p:cNvSpPr txBox="1"/>
          <p:nvPr/>
        </p:nvSpPr>
        <p:spPr>
          <a:xfrm>
            <a:off x="731520" y="2663952"/>
            <a:ext cx="7589520" cy="1097280"/>
          </a:xfrm>
          <a:prstGeom prst="rect">
            <a:avLst/>
          </a:prstGeom>
          <a:noFill/>
          <a:ln/>
        </p:spPr>
        <p:txBody>
          <a:bodyPr wrap="square" lIns="0" tIns="0" rIns="0" bIns="0" rtlCol="0" anchor="t"/>
          <a:lstStyle/>
          <a:p>
            <a:pPr indent="0" marL="0">
              <a:buNone/>
            </a:pPr>
            <a:r>
              <a:rPr lang="id-ID" altLang="en-US" sz="2200" dirty="0">
                <a:solidFill>
                  <a:srgbClr val="C9D7E8"/>
                </a:solidFill>
              </a:rPr>
              <a:t>Resep teruji untuk masalah desain yang terus muncul: </a:t>
            </a:r>
            <a:r>
              <a:rPr lang="id-ID" altLang="en-US" sz="2200" i="1" dirty="0">
                <a:solidFill>
                  <a:srgbClr val="C9D7E8"/>
                </a:solidFill>
              </a:rPr>
              <a:t>Singleton</a:t>
            </a:r>
            <a:r>
              <a:rPr lang="id-ID" altLang="en-US" sz="2200" dirty="0">
                <a:solidFill>
                  <a:srgbClr val="C9D7E8"/>
                </a:solidFill>
              </a:rPr>
              <a:t>, </a:t>
            </a:r>
            <a:r>
              <a:rPr lang="id-ID" altLang="en-US" sz="2200" i="1" dirty="0">
                <a:solidFill>
                  <a:srgbClr val="C9D7E8"/>
                </a:solidFill>
              </a:rPr>
              <a:t>Factory</a:t>
            </a:r>
            <a:r>
              <a:rPr lang="id-ID" altLang="en-US" sz="2200" dirty="0">
                <a:solidFill>
                  <a:srgbClr val="C9D7E8"/>
                </a:solidFill>
              </a:rPr>
              <a:t>, </a:t>
            </a:r>
            <a:r>
              <a:rPr lang="id-ID" altLang="en-US" sz="2200" i="1" dirty="0">
                <a:solidFill>
                  <a:srgbClr val="C9D7E8"/>
                </a:solidFill>
              </a:rPr>
              <a:t>Strategy</a:t>
            </a:r>
            <a:r>
              <a:rPr lang="id-ID" altLang="en-US" sz="2200" dirty="0">
                <a:solidFill>
                  <a:srgbClr val="C9D7E8"/>
                </a:solidFill>
              </a:rPr>
              <a:t>, dan </a:t>
            </a:r>
            <a:r>
              <a:rPr lang="id-ID" altLang="en-US" sz="2200" i="1" dirty="0">
                <a:solidFill>
                  <a:srgbClr val="C9D7E8"/>
                </a:solidFill>
              </a:rPr>
              <a:t>Observer</a:t>
            </a:r>
            <a:endParaRPr lang="id-ID" sz="2200" dirty="0"/>
          </a:p>
        </p:txBody>
      </p:sp>
      <p:sp>
        <p:nvSpPr>
          <p:cNvPr id="5" name="Text 3"/>
          <p:cNvSpPr txBox="1"/>
          <p:nvPr/>
        </p:nvSpPr>
        <p:spPr>
          <a:xfrm>
            <a:off x="731520" y="5349240"/>
            <a:ext cx="7589520" cy="731520"/>
          </a:xfrm>
          <a:prstGeom prst="rect">
            <a:avLst/>
          </a:prstGeom>
          <a:noFill/>
          <a:ln/>
        </p:spPr>
        <p:txBody>
          <a:bodyPr wrap="square" lIns="0" tIns="0" rIns="0" bIns="0" rtlCol="0" anchor="t"/>
          <a:lstStyle/>
          <a:p>
            <a:pPr indent="0" marL="0">
              <a:buNone/>
            </a:pPr>
            <a:r>
              <a:rPr lang="id-ID" altLang="en-US" sz="1500" dirty="0">
                <a:solidFill>
                  <a:srgbClr val="9FB3C8"/>
                </a:solidFill>
              </a:rPr>
              <a:t>Program Studi Informatika · Universitas Mulawarman</a:t>
            </a:r>
            <a:endParaRPr lang="id-ID" sz="1500" dirty="0"/>
          </a:p>
          <a:p>
            <a:pPr indent="0" marL="0">
              <a:buNone/>
            </a:pPr>
            <a:r>
              <a:rPr lang="id-ID" altLang="en-US" sz="1500" dirty="0">
                <a:solidFill>
                  <a:srgbClr val="9FB3C8"/>
                </a:solidFill>
              </a:rPr>
              <a:t>Jalur praktik: Python dan Java</a:t>
            </a:r>
            <a:endParaRPr lang="id-ID" sz="1500" dirty="0"/>
          </a:p>
        </p:txBody>
      </p:sp>
      <p:sp>
        <p:nvSpPr>
          <p:cNvPr id="6" name="Shape 4"/>
          <p:cNvSpPr/>
          <p:nvPr/>
        </p:nvSpPr>
        <p:spPr>
          <a:xfrm>
            <a:off x="8549640" y="1691640"/>
            <a:ext cx="3017520" cy="3017520"/>
          </a:xfrm>
          <a:prstGeom prst="ellipse">
            <a:avLst/>
          </a:prstGeom>
          <a:solidFill>
            <a:srgbClr val="0969DA"/>
          </a:solidFill>
          <a:ln/>
        </p:spPr>
      </p:sp>
      <p:sp>
        <p:nvSpPr>
          <p:cNvPr id="7" name="Shape 5"/>
          <p:cNvSpPr/>
          <p:nvPr/>
        </p:nvSpPr>
        <p:spPr>
          <a:xfrm>
            <a:off x="8385048" y="1527048"/>
            <a:ext cx="3346704" cy="3346704"/>
          </a:xfrm>
          <a:prstGeom prst="ellipse">
            <a:avLst/>
          </a:prstGeom>
          <a:ln w="19050">
            <a:solidFill>
              <a:srgbClr val="54AEFF"/>
            </a:solidFill>
            <a:prstDash val="solid"/>
          </a:ln>
        </p:spPr>
      </p:sp>
      <p:sp>
        <p:nvSpPr>
          <p:cNvPr id="8" name="Text 6"/>
          <p:cNvSpPr txBox="1"/>
          <p:nvPr/>
        </p:nvSpPr>
        <p:spPr>
          <a:xfrm>
            <a:off x="8549640" y="2258568"/>
            <a:ext cx="3017520" cy="365760"/>
          </a:xfrm>
          <a:prstGeom prst="rect">
            <a:avLst/>
          </a:prstGeom>
          <a:noFill/>
          <a:ln/>
        </p:spPr>
        <p:txBody>
          <a:bodyPr wrap="square" lIns="0" tIns="0" rIns="0" bIns="0" rtlCol="0" anchor="t"/>
          <a:lstStyle/>
          <a:p>
            <a:pPr algn="ctr" indent="0" marL="0">
              <a:buNone/>
            </a:pPr>
            <a:r>
              <a:rPr lang="id-ID" altLang="en-US" sz="1600" b="1" spc="300" kern="0" dirty="0">
                <a:solidFill>
                  <a:srgbClr val="DDF4FF"/>
                </a:solidFill>
              </a:rPr>
              <a:t>PERTEMUAN</a:t>
            </a:r>
            <a:endParaRPr lang="id-ID" sz="1600" dirty="0"/>
          </a:p>
        </p:txBody>
      </p:sp>
      <p:sp>
        <p:nvSpPr>
          <p:cNvPr id="9" name="Text 7"/>
          <p:cNvSpPr txBox="1"/>
          <p:nvPr/>
        </p:nvSpPr>
        <p:spPr>
          <a:xfrm>
            <a:off x="8549640" y="2560320"/>
            <a:ext cx="3017520" cy="1463040"/>
          </a:xfrm>
          <a:prstGeom prst="rect">
            <a:avLst/>
          </a:prstGeom>
          <a:noFill/>
          <a:ln/>
        </p:spPr>
        <p:txBody>
          <a:bodyPr wrap="square" lIns="0" tIns="0" rIns="0" bIns="0" rtlCol="0" anchor="ctr"/>
          <a:lstStyle/>
          <a:p>
            <a:pPr algn="ctr" indent="0" marL="0">
              <a:buNone/>
            </a:pPr>
            <a:r>
              <a:rPr lang="id-ID" altLang="en-US" sz="9600" b="1" dirty="0">
                <a:solidFill>
                  <a:srgbClr val="FFFFFF"/>
                </a:solidFill>
              </a:rPr>
              <a:t>14</a:t>
            </a:r>
            <a:endParaRPr lang="id-ID" sz="9600" dirty="0"/>
          </a:p>
        </p:txBody>
      </p:sp>
      <p:sp>
        <p:nvSpPr>
          <p:cNvPr id="10" name="Text 8"/>
          <p:cNvSpPr txBox="1"/>
          <p:nvPr/>
        </p:nvSpPr>
        <p:spPr>
          <a:xfrm>
            <a:off x="8549640" y="4069080"/>
            <a:ext cx="3017520" cy="365760"/>
          </a:xfrm>
          <a:prstGeom prst="rect">
            <a:avLst/>
          </a:prstGeom>
          <a:noFill/>
          <a:ln/>
        </p:spPr>
        <p:txBody>
          <a:bodyPr wrap="square" lIns="0" tIns="0" rIns="0" bIns="0" rtlCol="0" anchor="t"/>
          <a:lstStyle/>
          <a:p>
            <a:pPr algn="ctr" indent="0" marL="0">
              <a:buNone/>
            </a:pPr>
            <a:r>
              <a:rPr lang="id-ID" altLang="en-US" sz="1500" dirty="0">
                <a:solidFill>
                  <a:srgbClr val="DDF4FF"/>
                </a:solidFill>
              </a:rPr>
              <a:t>dari 16</a:t>
            </a:r>
            <a:endParaRPr lang="id-ID"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Tujuan Pembelajaran</a:t>
            </a:r>
            <a:endParaRPr lang="id-ID" sz="3200" dirty="0"/>
          </a:p>
        </p:txBody>
      </p:sp>
      <p:sp>
        <p:nvSpPr>
          <p:cNvPr id="5" name="Text 2"/>
          <p:cNvSpPr txBox="1"/>
          <p:nvPr/>
        </p:nvSpPr>
        <p:spPr>
          <a:xfrm>
            <a:off x="548640" y="1417320"/>
            <a:ext cx="11094415" cy="365760"/>
          </a:xfrm>
          <a:prstGeom prst="rect">
            <a:avLst/>
          </a:prstGeom>
          <a:noFill/>
          <a:ln/>
        </p:spPr>
        <p:txBody>
          <a:bodyPr wrap="square" lIns="0" tIns="0" rIns="0" bIns="0" rtlCol="0" anchor="t"/>
          <a:lstStyle/>
          <a:p>
            <a:pPr indent="0" marL="0">
              <a:buNone/>
            </a:pPr>
            <a:r>
              <a:rPr lang="id-ID" altLang="en-US" sz="1800" dirty="0">
                <a:solidFill>
                  <a:srgbClr val="57606A"/>
                </a:solidFill>
              </a:rPr>
              <a:t>Setelah pertemuan ini, kamu mampu:</a:t>
            </a:r>
            <a:endParaRPr lang="id-ID" sz="1800" dirty="0"/>
          </a:p>
        </p:txBody>
      </p:sp>
      <p:sp>
        <p:nvSpPr>
          <p:cNvPr id="6" name="Shape 3"/>
          <p:cNvSpPr/>
          <p:nvPr/>
        </p:nvSpPr>
        <p:spPr>
          <a:xfrm>
            <a:off x="548640" y="1920240"/>
            <a:ext cx="5432908" cy="1258824"/>
          </a:xfrm>
          <a:prstGeom prst="roundRect">
            <a:avLst>
              <a:gd name="adj" fmla="val 6332"/>
            </a:avLst>
          </a:prstGeom>
          <a:solidFill>
            <a:srgbClr val="F6F8FA"/>
          </a:solidFill>
          <a:ln w="9525">
            <a:solidFill>
              <a:srgbClr val="D0D7DE"/>
            </a:solidFill>
            <a:prstDash val="solid"/>
          </a:ln>
        </p:spPr>
      </p:sp>
      <p:sp>
        <p:nvSpPr>
          <p:cNvPr id="7" name="Shape 4"/>
          <p:cNvSpPr/>
          <p:nvPr/>
        </p:nvSpPr>
        <p:spPr>
          <a:xfrm>
            <a:off x="777240" y="2084832"/>
            <a:ext cx="457200" cy="457200"/>
          </a:xfrm>
          <a:prstGeom prst="ellipse">
            <a:avLst/>
          </a:prstGeom>
          <a:solidFill>
            <a:srgbClr val="0969DA"/>
          </a:solidFill>
          <a:ln/>
        </p:spPr>
      </p:sp>
      <p:sp>
        <p:nvSpPr>
          <p:cNvPr id="8" name="Text 5"/>
          <p:cNvSpPr txBox="1"/>
          <p:nvPr/>
        </p:nvSpPr>
        <p:spPr>
          <a:xfrm>
            <a:off x="777240"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1</a:t>
            </a:r>
            <a:endParaRPr lang="id-ID" sz="1800" dirty="0"/>
          </a:p>
        </p:txBody>
      </p:sp>
      <p:sp>
        <p:nvSpPr>
          <p:cNvPr id="9" name="Text 6"/>
          <p:cNvSpPr txBox="1"/>
          <p:nvPr/>
        </p:nvSpPr>
        <p:spPr>
          <a:xfrm>
            <a:off x="1417320" y="2084832"/>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Menjelaskan apa itu </a:t>
            </a:r>
            <a:r>
              <a:rPr lang="id-ID" altLang="en-US" sz="2000" b="1" i="1" dirty="0">
                <a:solidFill>
                  <a:srgbClr val="1F2328"/>
                </a:solidFill>
              </a:rPr>
              <a:t>design pattern</a:t>
            </a:r>
            <a:r>
              <a:rPr lang="id-ID" altLang="en-US" sz="2000" dirty="0">
                <a:solidFill>
                  <a:srgbClr val="1F2328"/>
                </a:solidFill>
              </a:rPr>
              <a:t>, asal-⁠usulnya (buku GoF), dan tiga kategorinya.</a:t>
            </a:r>
            <a:endParaRPr lang="id-ID" sz="2000" dirty="0"/>
          </a:p>
        </p:txBody>
      </p:sp>
      <p:sp>
        <p:nvSpPr>
          <p:cNvPr id="10" name="Shape 7"/>
          <p:cNvSpPr/>
          <p:nvPr/>
        </p:nvSpPr>
        <p:spPr>
          <a:xfrm>
            <a:off x="6210148" y="1920240"/>
            <a:ext cx="5432908" cy="1258824"/>
          </a:xfrm>
          <a:prstGeom prst="roundRect">
            <a:avLst>
              <a:gd name="adj" fmla="val 6332"/>
            </a:avLst>
          </a:prstGeom>
          <a:solidFill>
            <a:srgbClr val="F6F8FA"/>
          </a:solidFill>
          <a:ln w="9525">
            <a:solidFill>
              <a:srgbClr val="D0D7DE"/>
            </a:solidFill>
            <a:prstDash val="solid"/>
          </a:ln>
        </p:spPr>
      </p:sp>
      <p:sp>
        <p:nvSpPr>
          <p:cNvPr id="11" name="Shape 8"/>
          <p:cNvSpPr/>
          <p:nvPr/>
        </p:nvSpPr>
        <p:spPr>
          <a:xfrm>
            <a:off x="6438748" y="2084832"/>
            <a:ext cx="457200" cy="457200"/>
          </a:xfrm>
          <a:prstGeom prst="ellipse">
            <a:avLst/>
          </a:prstGeom>
          <a:solidFill>
            <a:srgbClr val="0969DA"/>
          </a:solidFill>
          <a:ln/>
        </p:spPr>
      </p:sp>
      <p:sp>
        <p:nvSpPr>
          <p:cNvPr id="12" name="Text 9"/>
          <p:cNvSpPr txBox="1"/>
          <p:nvPr/>
        </p:nvSpPr>
        <p:spPr>
          <a:xfrm>
            <a:off x="6438748"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2</a:t>
            </a:r>
            <a:endParaRPr lang="id-ID" sz="1800" dirty="0"/>
          </a:p>
        </p:txBody>
      </p:sp>
      <p:sp>
        <p:nvSpPr>
          <p:cNvPr id="13" name="Text 10"/>
          <p:cNvSpPr txBox="1"/>
          <p:nvPr/>
        </p:nvSpPr>
        <p:spPr>
          <a:xfrm>
            <a:off x="7078828" y="2084832"/>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Menjelaskan masalah, tujuan, dan struktur kelas dari pola </a:t>
            </a:r>
            <a:r>
              <a:rPr lang="id-ID" altLang="en-US" sz="2000" b="1" i="1" dirty="0">
                <a:solidFill>
                  <a:srgbClr val="1F2328"/>
                </a:solidFill>
              </a:rPr>
              <a:t>Singleton</a:t>
            </a:r>
            <a:r>
              <a:rPr lang="id-ID" altLang="en-US" sz="2000" dirty="0">
                <a:solidFill>
                  <a:srgbClr val="1F2328"/>
                </a:solidFill>
              </a:rPr>
              <a:t>, </a:t>
            </a:r>
            <a:r>
              <a:rPr lang="id-ID" altLang="en-US" sz="2000" b="1" i="1" dirty="0">
                <a:solidFill>
                  <a:srgbClr val="1F2328"/>
                </a:solidFill>
              </a:rPr>
              <a:t>Factory</a:t>
            </a:r>
            <a:r>
              <a:rPr lang="id-ID" altLang="en-US" sz="2000" dirty="0">
                <a:solidFill>
                  <a:srgbClr val="1F2328"/>
                </a:solidFill>
              </a:rPr>
              <a:t>, </a:t>
            </a:r>
            <a:r>
              <a:rPr lang="id-ID" altLang="en-US" sz="2000" b="1" i="1" dirty="0">
                <a:solidFill>
                  <a:srgbClr val="1F2328"/>
                </a:solidFill>
              </a:rPr>
              <a:t>Strategy</a:t>
            </a:r>
            <a:r>
              <a:rPr lang="id-ID" altLang="en-US" sz="2000" dirty="0">
                <a:solidFill>
                  <a:srgbClr val="1F2328"/>
                </a:solidFill>
              </a:rPr>
              <a:t>, dan </a:t>
            </a:r>
            <a:r>
              <a:rPr lang="id-ID" altLang="en-US" sz="2000" b="1" i="1" dirty="0">
                <a:solidFill>
                  <a:srgbClr val="1F2328"/>
                </a:solidFill>
              </a:rPr>
              <a:t>Observer</a:t>
            </a:r>
            <a:r>
              <a:rPr lang="id-ID" altLang="en-US" sz="2000" dirty="0">
                <a:solidFill>
                  <a:srgbClr val="1F2328"/>
                </a:solidFill>
              </a:rPr>
              <a:t>.</a:t>
            </a:r>
            <a:endParaRPr lang="id-ID" sz="2000" dirty="0"/>
          </a:p>
        </p:txBody>
      </p:sp>
      <p:sp>
        <p:nvSpPr>
          <p:cNvPr id="14" name="Shape 11"/>
          <p:cNvSpPr/>
          <p:nvPr/>
        </p:nvSpPr>
        <p:spPr>
          <a:xfrm>
            <a:off x="548640" y="3361944"/>
            <a:ext cx="5432908" cy="1258824"/>
          </a:xfrm>
          <a:prstGeom prst="roundRect">
            <a:avLst>
              <a:gd name="adj" fmla="val 6332"/>
            </a:avLst>
          </a:prstGeom>
          <a:solidFill>
            <a:srgbClr val="F6F8FA"/>
          </a:solidFill>
          <a:ln w="9525">
            <a:solidFill>
              <a:srgbClr val="D0D7DE"/>
            </a:solidFill>
            <a:prstDash val="solid"/>
          </a:ln>
        </p:spPr>
      </p:sp>
      <p:sp>
        <p:nvSpPr>
          <p:cNvPr id="15" name="Shape 12"/>
          <p:cNvSpPr/>
          <p:nvPr/>
        </p:nvSpPr>
        <p:spPr>
          <a:xfrm>
            <a:off x="777240" y="3526536"/>
            <a:ext cx="457200" cy="457200"/>
          </a:xfrm>
          <a:prstGeom prst="ellipse">
            <a:avLst/>
          </a:prstGeom>
          <a:solidFill>
            <a:srgbClr val="0969DA"/>
          </a:solidFill>
          <a:ln/>
        </p:spPr>
      </p:sp>
      <p:sp>
        <p:nvSpPr>
          <p:cNvPr id="16" name="Text 13"/>
          <p:cNvSpPr txBox="1"/>
          <p:nvPr/>
        </p:nvSpPr>
        <p:spPr>
          <a:xfrm>
            <a:off x="777240" y="352653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3</a:t>
            </a:r>
            <a:endParaRPr lang="id-ID" sz="1800" dirty="0"/>
          </a:p>
        </p:txBody>
      </p:sp>
      <p:sp>
        <p:nvSpPr>
          <p:cNvPr id="17" name="Text 14"/>
          <p:cNvSpPr txBox="1"/>
          <p:nvPr/>
        </p:nvSpPr>
        <p:spPr>
          <a:xfrm>
            <a:off x="1417320" y="3526536"/>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Membedakan </a:t>
            </a:r>
            <a:r>
              <a:rPr lang="id-ID" altLang="en-US" sz="2000" i="1" dirty="0">
                <a:solidFill>
                  <a:srgbClr val="1F2328"/>
                </a:solidFill>
              </a:rPr>
              <a:t>Simple Factory</a:t>
            </a:r>
            <a:r>
              <a:rPr lang="id-ID" altLang="en-US" sz="2000" dirty="0">
                <a:solidFill>
                  <a:srgbClr val="1F2328"/>
                </a:solidFill>
              </a:rPr>
              <a:t> dengan </a:t>
            </a:r>
            <a:r>
              <a:rPr lang="id-ID" altLang="en-US" sz="2000" i="1" dirty="0">
                <a:solidFill>
                  <a:srgbClr val="1F2328"/>
                </a:solidFill>
              </a:rPr>
              <a:t>Factory Method</a:t>
            </a:r>
            <a:r>
              <a:rPr lang="id-ID" altLang="en-US" sz="2000" dirty="0">
                <a:solidFill>
                  <a:srgbClr val="1F2328"/>
                </a:solidFill>
              </a:rPr>
              <a:t>, serta gaya </a:t>
            </a:r>
            <a:r>
              <a:rPr lang="id-ID" altLang="en-US" sz="2000" i="1" dirty="0">
                <a:solidFill>
                  <a:srgbClr val="1F2328"/>
                </a:solidFill>
              </a:rPr>
              <a:t>push</a:t>
            </a:r>
            <a:r>
              <a:rPr lang="id-ID" altLang="en-US" sz="2000" dirty="0">
                <a:solidFill>
                  <a:srgbClr val="1F2328"/>
                </a:solidFill>
              </a:rPr>
              <a:t> dengan </a:t>
            </a:r>
            <a:r>
              <a:rPr lang="id-ID" altLang="en-US" sz="2000" i="1" dirty="0">
                <a:solidFill>
                  <a:srgbClr val="1F2328"/>
                </a:solidFill>
              </a:rPr>
              <a:t>pull</a:t>
            </a:r>
            <a:r>
              <a:rPr lang="id-ID" altLang="en-US" sz="2000" dirty="0">
                <a:solidFill>
                  <a:srgbClr val="1F2328"/>
                </a:solidFill>
              </a:rPr>
              <a:t> pada </a:t>
            </a:r>
            <a:r>
              <a:rPr lang="id-ID" altLang="en-US" sz="2000" i="1" dirty="0">
                <a:solidFill>
                  <a:srgbClr val="1F2328"/>
                </a:solidFill>
              </a:rPr>
              <a:t>Observer</a:t>
            </a:r>
            <a:r>
              <a:rPr lang="id-ID" altLang="en-US" sz="2000" dirty="0">
                <a:solidFill>
                  <a:srgbClr val="1F2328"/>
                </a:solidFill>
              </a:rPr>
              <a:t>.</a:t>
            </a:r>
            <a:endParaRPr lang="id-ID" sz="2000" dirty="0"/>
          </a:p>
        </p:txBody>
      </p:sp>
      <p:sp>
        <p:nvSpPr>
          <p:cNvPr id="18" name="Shape 15"/>
          <p:cNvSpPr/>
          <p:nvPr/>
        </p:nvSpPr>
        <p:spPr>
          <a:xfrm>
            <a:off x="6210148" y="3361944"/>
            <a:ext cx="5432908" cy="1258824"/>
          </a:xfrm>
          <a:prstGeom prst="roundRect">
            <a:avLst>
              <a:gd name="adj" fmla="val 6332"/>
            </a:avLst>
          </a:prstGeom>
          <a:solidFill>
            <a:srgbClr val="F6F8FA"/>
          </a:solidFill>
          <a:ln w="9525">
            <a:solidFill>
              <a:srgbClr val="D0D7DE"/>
            </a:solidFill>
            <a:prstDash val="solid"/>
          </a:ln>
        </p:spPr>
      </p:sp>
      <p:sp>
        <p:nvSpPr>
          <p:cNvPr id="19" name="Shape 16"/>
          <p:cNvSpPr/>
          <p:nvPr/>
        </p:nvSpPr>
        <p:spPr>
          <a:xfrm>
            <a:off x="6438748" y="3526536"/>
            <a:ext cx="457200" cy="457200"/>
          </a:xfrm>
          <a:prstGeom prst="ellipse">
            <a:avLst/>
          </a:prstGeom>
          <a:solidFill>
            <a:srgbClr val="0969DA"/>
          </a:solidFill>
          <a:ln/>
        </p:spPr>
      </p:sp>
      <p:sp>
        <p:nvSpPr>
          <p:cNvPr id="20" name="Text 17"/>
          <p:cNvSpPr txBox="1"/>
          <p:nvPr/>
        </p:nvSpPr>
        <p:spPr>
          <a:xfrm>
            <a:off x="6438748" y="352653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4</a:t>
            </a:r>
            <a:endParaRPr lang="id-ID" sz="1800" dirty="0"/>
          </a:p>
        </p:txBody>
      </p:sp>
      <p:sp>
        <p:nvSpPr>
          <p:cNvPr id="21" name="Text 18"/>
          <p:cNvSpPr txBox="1"/>
          <p:nvPr/>
        </p:nvSpPr>
        <p:spPr>
          <a:xfrm>
            <a:off x="7078828" y="3526536"/>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Menerapkan keempat pola tersebut pada program kecil dan pada studi kasus KedaiKita.</a:t>
            </a:r>
            <a:endParaRPr lang="id-ID" sz="2000" dirty="0"/>
          </a:p>
        </p:txBody>
      </p:sp>
      <p:sp>
        <p:nvSpPr>
          <p:cNvPr id="22" name="Shape 19"/>
          <p:cNvSpPr/>
          <p:nvPr/>
        </p:nvSpPr>
        <p:spPr>
          <a:xfrm>
            <a:off x="548640" y="4803648"/>
            <a:ext cx="5432908" cy="1258824"/>
          </a:xfrm>
          <a:prstGeom prst="roundRect">
            <a:avLst>
              <a:gd name="adj" fmla="val 6332"/>
            </a:avLst>
          </a:prstGeom>
          <a:solidFill>
            <a:srgbClr val="F6F8FA"/>
          </a:solidFill>
          <a:ln w="9525">
            <a:solidFill>
              <a:srgbClr val="D0D7DE"/>
            </a:solidFill>
            <a:prstDash val="solid"/>
          </a:ln>
        </p:spPr>
      </p:sp>
      <p:sp>
        <p:nvSpPr>
          <p:cNvPr id="23" name="Shape 20"/>
          <p:cNvSpPr/>
          <p:nvPr/>
        </p:nvSpPr>
        <p:spPr>
          <a:xfrm>
            <a:off x="777240" y="4968240"/>
            <a:ext cx="457200" cy="457200"/>
          </a:xfrm>
          <a:prstGeom prst="ellipse">
            <a:avLst/>
          </a:prstGeom>
          <a:solidFill>
            <a:srgbClr val="0969DA"/>
          </a:solidFill>
          <a:ln/>
        </p:spPr>
      </p:sp>
      <p:sp>
        <p:nvSpPr>
          <p:cNvPr id="24" name="Text 21"/>
          <p:cNvSpPr txBox="1"/>
          <p:nvPr/>
        </p:nvSpPr>
        <p:spPr>
          <a:xfrm>
            <a:off x="777240" y="496824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5</a:t>
            </a:r>
            <a:endParaRPr lang="id-ID" sz="1800" dirty="0"/>
          </a:p>
        </p:txBody>
      </p:sp>
      <p:sp>
        <p:nvSpPr>
          <p:cNvPr id="25" name="Text 22"/>
          <p:cNvSpPr txBox="1"/>
          <p:nvPr/>
        </p:nvSpPr>
        <p:spPr>
          <a:xfrm>
            <a:off x="1417320" y="4968240"/>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Menilai kapan sebuah pola tepat dipakai dan kapan justru membuat program rumit, termasuk kekurangan </a:t>
            </a:r>
            <a:r>
              <a:rPr lang="id-ID" altLang="en-US" sz="2000" i="1" dirty="0">
                <a:solidFill>
                  <a:srgbClr val="1F2328"/>
                </a:solidFill>
              </a:rPr>
              <a:t>Singleton</a:t>
            </a:r>
            <a:r>
              <a:rPr lang="id-ID" altLang="en-US" sz="2000" dirty="0">
                <a:solidFill>
                  <a:srgbClr val="1F2328"/>
                </a:solidFill>
              </a:rPr>
              <a:t>.</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Mengingat Kembali</a:t>
            </a:r>
            <a:endParaRPr lang="id-ID" sz="3200" dirty="0"/>
          </a:p>
        </p:txBody>
      </p:sp>
      <p:sp>
        <p:nvSpPr>
          <p:cNvPr id="5" name="Shape 2"/>
          <p:cNvSpPr/>
          <p:nvPr/>
        </p:nvSpPr>
        <p:spPr>
          <a:xfrm>
            <a:off x="548640" y="1444203"/>
            <a:ext cx="2377440" cy="4718304"/>
          </a:xfrm>
          <a:prstGeom prst="roundRect">
            <a:avLst>
              <a:gd name="adj" fmla="val 2663"/>
            </a:avLst>
          </a:prstGeom>
          <a:solidFill>
            <a:srgbClr val="DDF4FF"/>
          </a:solidFill>
          <a:ln w="9525">
            <a:solidFill>
              <a:srgbClr val="54AEFF"/>
            </a:solidFill>
            <a:prstDash val="solid"/>
          </a:ln>
        </p:spPr>
      </p:sp>
      <p:sp>
        <p:nvSpPr>
          <p:cNvPr id="6" name="Shape 3"/>
          <p:cNvSpPr/>
          <p:nvPr/>
        </p:nvSpPr>
        <p:spPr>
          <a:xfrm>
            <a:off x="1188720" y="2843235"/>
            <a:ext cx="1097280" cy="1097280"/>
          </a:xfrm>
          <a:prstGeom prst="ellipse">
            <a:avLst/>
          </a:prstGeom>
          <a:solidFill>
            <a:srgbClr val="0969DA"/>
          </a:solidFill>
          <a:ln/>
        </p:spPr>
      </p:sp>
      <p:pic>
        <p:nvPicPr>
          <p:cNvPr id="7" name="Image 1" descr="preencoded.png">    </p:cNvPr>
          <p:cNvPicPr>
            <a:picLocks noChangeAspect="1"/>
          </p:cNvPicPr>
          <p:nvPr/>
        </p:nvPicPr>
        <p:blipFill>
          <a:blip r:embed="rId2"/>
          <a:stretch>
            <a:fillRect/>
          </a:stretch>
        </p:blipFill>
        <p:spPr>
          <a:xfrm>
            <a:off x="1430122" y="3084637"/>
            <a:ext cx="614477" cy="614477"/>
          </a:xfrm>
          <a:prstGeom prst="rect">
            <a:avLst/>
          </a:prstGeom>
        </p:spPr>
      </p:pic>
      <p:sp>
        <p:nvSpPr>
          <p:cNvPr id="8" name="Text 4"/>
          <p:cNvSpPr txBox="1"/>
          <p:nvPr/>
        </p:nvSpPr>
        <p:spPr>
          <a:xfrm>
            <a:off x="731520" y="4123395"/>
            <a:ext cx="2011680" cy="640080"/>
          </a:xfrm>
          <a:prstGeom prst="rect">
            <a:avLst/>
          </a:prstGeom>
          <a:noFill/>
          <a:ln/>
        </p:spPr>
        <p:txBody>
          <a:bodyPr wrap="square" lIns="0" tIns="0" rIns="0" bIns="0" rtlCol="0" anchor="t"/>
          <a:lstStyle/>
          <a:p>
            <a:pPr algn="ctr" indent="0" marL="0">
              <a:buNone/>
            </a:pPr>
            <a:r>
              <a:rPr lang="id-ID" altLang="en-US" sz="1600" b="1" dirty="0">
                <a:solidFill>
                  <a:srgbClr val="0A3069"/>
                </a:solidFill>
              </a:rPr>
              <a:t>Dari pertemuan sebelumnya</a:t>
            </a:r>
            <a:endParaRPr lang="id-ID" sz="1600" dirty="0"/>
          </a:p>
        </p:txBody>
      </p:sp>
      <p:sp>
        <p:nvSpPr>
          <p:cNvPr id="9" name="Shape 5"/>
          <p:cNvSpPr/>
          <p:nvPr/>
        </p:nvSpPr>
        <p:spPr>
          <a:xfrm>
            <a:off x="3346704" y="1835871"/>
            <a:ext cx="137160" cy="137160"/>
          </a:xfrm>
          <a:prstGeom prst="roundRect">
            <a:avLst>
              <a:gd name="adj" fmla="val 166667"/>
            </a:avLst>
          </a:prstGeom>
          <a:solidFill>
            <a:srgbClr val="0969DA"/>
          </a:solidFill>
          <a:ln/>
        </p:spPr>
      </p:sp>
      <p:sp>
        <p:nvSpPr>
          <p:cNvPr id="10" name="Text 6"/>
          <p:cNvSpPr txBox="1"/>
          <p:nvPr/>
        </p:nvSpPr>
        <p:spPr>
          <a:xfrm>
            <a:off x="3675888" y="1718523"/>
            <a:ext cx="7967167" cy="789432"/>
          </a:xfrm>
          <a:prstGeom prst="rect">
            <a:avLst/>
          </a:prstGeom>
          <a:noFill/>
          <a:ln/>
        </p:spPr>
        <p:txBody>
          <a:bodyPr wrap="square" lIns="0" tIns="0" rIns="0" bIns="0" rtlCol="0" anchor="t"/>
          <a:lstStyle/>
          <a:p>
            <a:pPr indent="0" marL="0">
              <a:buNone/>
            </a:pPr>
            <a:r>
              <a:rPr lang="id-ID" altLang="en-US" sz="2400" b="1" dirty="0">
                <a:solidFill>
                  <a:srgbClr val="1F2328"/>
                </a:solidFill>
              </a:rPr>
              <a:t>SRP</a:t>
            </a:r>
            <a:r>
              <a:rPr lang="id-ID" altLang="en-US" sz="2400" dirty="0">
                <a:solidFill>
                  <a:srgbClr val="1F2328"/>
                </a:solidFill>
              </a:rPr>
              <a:t>: </a:t>
            </a:r>
            <a:r>
              <a:rPr lang="id-ID" altLang="en-US" sz="2400" dirty="0">
                <a:solidFill>
                  <a:srgbClr val="1F2328"/>
                </a:solidFill>
                <a:latin typeface="Consolas" pitchFamily="34" charset="0"/>
                <a:ea typeface="Consolas" pitchFamily="34" charset="-122"/>
                <a:cs typeface="Consolas" pitchFamily="34" charset="-120"/>
              </a:rPr>
              <a:t>StrukPesanan</a:t>
            </a:r>
            <a:r>
              <a:rPr lang="id-ID" altLang="en-US" sz="2400" dirty="0">
                <a:solidFill>
                  <a:srgbClr val="1F2328"/>
                </a:solidFill>
              </a:rPr>
              <a:t> hanya mengurus format struk; aturan hitung harga tetap di </a:t>
            </a:r>
            <a:r>
              <a:rPr lang="id-ID" altLang="en-US" sz="2400" dirty="0">
                <a:solidFill>
                  <a:srgbClr val="1F2328"/>
                </a:solidFill>
                <a:latin typeface="Consolas" pitchFamily="34" charset="0"/>
                <a:ea typeface="Consolas" pitchFamily="34" charset="-122"/>
                <a:cs typeface="Consolas" pitchFamily="34" charset="-120"/>
              </a:rPr>
              <a:t>Pesanan</a:t>
            </a:r>
            <a:r>
              <a:rPr lang="id-ID" altLang="en-US" sz="2400" dirty="0">
                <a:solidFill>
                  <a:srgbClr val="1F2328"/>
                </a:solidFill>
              </a:rPr>
              <a:t>.</a:t>
            </a:r>
            <a:endParaRPr lang="id-ID" sz="2400" dirty="0"/>
          </a:p>
        </p:txBody>
      </p:sp>
      <p:sp>
        <p:nvSpPr>
          <p:cNvPr id="11" name="Shape 7"/>
          <p:cNvSpPr/>
          <p:nvPr/>
        </p:nvSpPr>
        <p:spPr>
          <a:xfrm>
            <a:off x="3346704" y="2853903"/>
            <a:ext cx="137160" cy="137160"/>
          </a:xfrm>
          <a:prstGeom prst="roundRect">
            <a:avLst>
              <a:gd name="adj" fmla="val 166667"/>
            </a:avLst>
          </a:prstGeom>
          <a:solidFill>
            <a:srgbClr val="0969DA"/>
          </a:solidFill>
          <a:ln/>
        </p:spPr>
      </p:sp>
      <p:sp>
        <p:nvSpPr>
          <p:cNvPr id="12" name="Text 8"/>
          <p:cNvSpPr txBox="1"/>
          <p:nvPr/>
        </p:nvSpPr>
        <p:spPr>
          <a:xfrm>
            <a:off x="3675888" y="2736555"/>
            <a:ext cx="7967167" cy="789432"/>
          </a:xfrm>
          <a:prstGeom prst="rect">
            <a:avLst/>
          </a:prstGeom>
          <a:noFill/>
          <a:ln/>
        </p:spPr>
        <p:txBody>
          <a:bodyPr wrap="square" lIns="0" tIns="0" rIns="0" bIns="0" rtlCol="0" anchor="t"/>
          <a:lstStyle/>
          <a:p>
            <a:pPr indent="0" marL="0">
              <a:buNone/>
            </a:pPr>
            <a:r>
              <a:rPr lang="id-ID" altLang="en-US" sz="2400" b="1" dirty="0">
                <a:solidFill>
                  <a:srgbClr val="1F2328"/>
                </a:solidFill>
              </a:rPr>
              <a:t>OCP</a:t>
            </a:r>
            <a:r>
              <a:rPr lang="id-ID" altLang="en-US" sz="2400" dirty="0">
                <a:solidFill>
                  <a:srgbClr val="1F2328"/>
                </a:solidFill>
              </a:rPr>
              <a:t>: setiap aturan diskon menjadi kelas turunan </a:t>
            </a:r>
            <a:r>
              <a:rPr lang="id-ID" altLang="en-US" sz="2400" dirty="0">
                <a:solidFill>
                  <a:srgbClr val="1F2328"/>
                </a:solidFill>
                <a:latin typeface="Consolas" pitchFamily="34" charset="0"/>
                <a:ea typeface="Consolas" pitchFamily="34" charset="-122"/>
                <a:cs typeface="Consolas" pitchFamily="34" charset="-120"/>
              </a:rPr>
              <a:t>Diskon</a:t>
            </a:r>
            <a:r>
              <a:rPr lang="id-ID" altLang="en-US" sz="2400" dirty="0">
                <a:solidFill>
                  <a:srgbClr val="1F2328"/>
                </a:solidFill>
              </a:rPr>
              <a:t>; promo baru cukup ditambah sebagai kelas baru.</a:t>
            </a:r>
            <a:endParaRPr lang="id-ID" sz="2400" dirty="0"/>
          </a:p>
        </p:txBody>
      </p:sp>
      <p:sp>
        <p:nvSpPr>
          <p:cNvPr id="13" name="Shape 9"/>
          <p:cNvSpPr/>
          <p:nvPr/>
        </p:nvSpPr>
        <p:spPr>
          <a:xfrm>
            <a:off x="3346704" y="3871935"/>
            <a:ext cx="137160" cy="137160"/>
          </a:xfrm>
          <a:prstGeom prst="roundRect">
            <a:avLst>
              <a:gd name="adj" fmla="val 166667"/>
            </a:avLst>
          </a:prstGeom>
          <a:solidFill>
            <a:srgbClr val="0969DA"/>
          </a:solidFill>
          <a:ln/>
        </p:spPr>
      </p:sp>
      <p:sp>
        <p:nvSpPr>
          <p:cNvPr id="14" name="Text 10"/>
          <p:cNvSpPr txBox="1"/>
          <p:nvPr/>
        </p:nvSpPr>
        <p:spPr>
          <a:xfrm>
            <a:off x="3675888" y="3754587"/>
            <a:ext cx="7967167" cy="789432"/>
          </a:xfrm>
          <a:prstGeom prst="rect">
            <a:avLst/>
          </a:prstGeom>
          <a:noFill/>
          <a:ln/>
        </p:spPr>
        <p:txBody>
          <a:bodyPr wrap="square" lIns="0" tIns="0" rIns="0" bIns="0" rtlCol="0" anchor="t"/>
          <a:lstStyle/>
          <a:p>
            <a:pPr indent="0" marL="0">
              <a:buNone/>
            </a:pPr>
            <a:r>
              <a:rPr lang="id-ID" altLang="en-US" sz="2400" b="1" dirty="0">
                <a:solidFill>
                  <a:srgbClr val="1F2328"/>
                </a:solidFill>
              </a:rPr>
              <a:t>DIP</a:t>
            </a:r>
            <a:r>
              <a:rPr lang="id-ID" altLang="en-US" sz="2400" dirty="0">
                <a:solidFill>
                  <a:srgbClr val="1F2328"/>
                </a:solidFill>
              </a:rPr>
              <a:t>: </a:t>
            </a:r>
            <a:r>
              <a:rPr lang="id-ID" altLang="en-US" sz="2400" dirty="0">
                <a:solidFill>
                  <a:srgbClr val="1F2328"/>
                </a:solidFill>
                <a:latin typeface="Consolas" pitchFamily="34" charset="0"/>
                <a:ea typeface="Consolas" pitchFamily="34" charset="-122"/>
                <a:cs typeface="Consolas" pitchFamily="34" charset="-120"/>
              </a:rPr>
              <a:t>Kedai</a:t>
            </a:r>
            <a:r>
              <a:rPr lang="id-ID" altLang="en-US" sz="2400" dirty="0">
                <a:solidFill>
                  <a:srgbClr val="1F2328"/>
                </a:solidFill>
              </a:rPr>
              <a:t> menerima </a:t>
            </a:r>
            <a:r>
              <a:rPr lang="id-ID" altLang="en-US" sz="2400" dirty="0">
                <a:solidFill>
                  <a:srgbClr val="1F2328"/>
                </a:solidFill>
                <a:latin typeface="Consolas" pitchFamily="34" charset="0"/>
                <a:ea typeface="Consolas" pitchFamily="34" charset="-122"/>
                <a:cs typeface="Consolas" pitchFamily="34" charset="-120"/>
              </a:rPr>
              <a:t>PenyimpananPesanan</a:t>
            </a:r>
            <a:r>
              <a:rPr lang="id-ID" altLang="en-US" sz="2400" dirty="0">
                <a:solidFill>
                  <a:srgbClr val="1F2328"/>
                </a:solidFill>
              </a:rPr>
              <a:t> lewat konstruktor (</a:t>
            </a:r>
            <a:r>
              <a:rPr lang="id-ID" altLang="en-US" sz="2400" i="1" dirty="0">
                <a:solidFill>
                  <a:srgbClr val="1F2328"/>
                </a:solidFill>
              </a:rPr>
              <a:t>dependency injection</a:t>
            </a:r>
            <a:r>
              <a:rPr lang="id-ID" altLang="en-US" sz="2400" dirty="0">
                <a:solidFill>
                  <a:srgbClr val="1F2328"/>
                </a:solidFill>
              </a:rPr>
              <a:t>).</a:t>
            </a:r>
            <a:endParaRPr lang="id-ID" sz="2400" dirty="0"/>
          </a:p>
        </p:txBody>
      </p:sp>
      <p:sp>
        <p:nvSpPr>
          <p:cNvPr id="15" name="Shape 11"/>
          <p:cNvSpPr/>
          <p:nvPr/>
        </p:nvSpPr>
        <p:spPr>
          <a:xfrm>
            <a:off x="3346704" y="4889967"/>
            <a:ext cx="137160" cy="137160"/>
          </a:xfrm>
          <a:prstGeom prst="roundRect">
            <a:avLst>
              <a:gd name="adj" fmla="val 166667"/>
            </a:avLst>
          </a:prstGeom>
          <a:solidFill>
            <a:srgbClr val="0969DA"/>
          </a:solidFill>
          <a:ln/>
        </p:spPr>
      </p:sp>
      <p:sp>
        <p:nvSpPr>
          <p:cNvPr id="16" name="Text 12"/>
          <p:cNvSpPr txBox="1"/>
          <p:nvPr/>
        </p:nvSpPr>
        <p:spPr>
          <a:xfrm>
            <a:off x="3675888" y="4772619"/>
            <a:ext cx="7967167" cy="1161288"/>
          </a:xfrm>
          <a:prstGeom prst="rect">
            <a:avLst/>
          </a:prstGeom>
          <a:noFill/>
          <a:ln/>
        </p:spPr>
        <p:txBody>
          <a:bodyPr wrap="square" lIns="0" tIns="0" rIns="0" bIns="0" rtlCol="0" anchor="t"/>
          <a:lstStyle/>
          <a:p>
            <a:pPr indent="0" marL="0">
              <a:buNone/>
            </a:pPr>
            <a:r>
              <a:rPr lang="id-ID" altLang="en-US" sz="2400" dirty="0">
                <a:solidFill>
                  <a:srgbClr val="1F2328"/>
                </a:solidFill>
              </a:rPr>
              <a:t>SOLID menjawab “kode yang baik itu seperti apa?”; </a:t>
            </a:r>
            <a:r>
              <a:rPr lang="id-ID" altLang="en-US" sz="2400" i="1" dirty="0">
                <a:solidFill>
                  <a:srgbClr val="1F2328"/>
                </a:solidFill>
              </a:rPr>
              <a:t>design pattern</a:t>
            </a:r>
            <a:r>
              <a:rPr lang="id-ID" altLang="en-US" sz="2400" dirty="0">
                <a:solidFill>
                  <a:srgbClr val="1F2328"/>
                </a:solidFill>
              </a:rPr>
              <a:t> menjawab “untuk masalah ini, susunan kelas apa yang terbukti berhasil?”</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Agenda Hari Ini</a:t>
            </a:r>
            <a:endParaRPr lang="id-ID" sz="3200" dirty="0"/>
          </a:p>
        </p:txBody>
      </p:sp>
      <p:sp>
        <p:nvSpPr>
          <p:cNvPr id="5" name="Shape 2"/>
          <p:cNvSpPr/>
          <p:nvPr/>
        </p:nvSpPr>
        <p:spPr>
          <a:xfrm>
            <a:off x="548640" y="1709420"/>
            <a:ext cx="3515258" cy="1824736"/>
          </a:xfrm>
          <a:prstGeom prst="roundRect">
            <a:avLst>
              <a:gd name="adj" fmla="val 3013"/>
            </a:avLst>
          </a:prstGeom>
          <a:solidFill>
            <a:srgbClr val="F6F8FA"/>
          </a:solidFill>
          <a:ln w="9525">
            <a:solidFill>
              <a:srgbClr val="D0D7DE"/>
            </a:solidFill>
            <a:prstDash val="solid"/>
          </a:ln>
        </p:spPr>
      </p:sp>
      <p:sp>
        <p:nvSpPr>
          <p:cNvPr id="6" name="Shape 3"/>
          <p:cNvSpPr/>
          <p:nvPr/>
        </p:nvSpPr>
        <p:spPr>
          <a:xfrm>
            <a:off x="777240" y="1938020"/>
            <a:ext cx="512064" cy="512064"/>
          </a:xfrm>
          <a:prstGeom prst="ellipse">
            <a:avLst/>
          </a:prstGeom>
          <a:solidFill>
            <a:srgbClr val="0969DA"/>
          </a:solidFill>
          <a:ln/>
        </p:spPr>
      </p:sp>
      <p:sp>
        <p:nvSpPr>
          <p:cNvPr id="7" name="Text 4"/>
          <p:cNvSpPr txBox="1"/>
          <p:nvPr/>
        </p:nvSpPr>
        <p:spPr>
          <a:xfrm>
            <a:off x="777240"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1</a:t>
            </a:r>
            <a:endParaRPr lang="id-ID" sz="2000" dirty="0"/>
          </a:p>
        </p:txBody>
      </p:sp>
      <p:sp>
        <p:nvSpPr>
          <p:cNvPr id="8" name="Text 5"/>
          <p:cNvSpPr txBox="1"/>
          <p:nvPr/>
        </p:nvSpPr>
        <p:spPr>
          <a:xfrm>
            <a:off x="777240"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Apa itu </a:t>
            </a:r>
            <a:r>
              <a:rPr lang="id-ID" altLang="en-US" sz="2200" i="1" dirty="0">
                <a:solidFill>
                  <a:srgbClr val="1F2328"/>
                </a:solidFill>
              </a:rPr>
              <a:t>design pattern</a:t>
            </a:r>
            <a:r>
              <a:rPr lang="id-ID" altLang="en-US" sz="2200" dirty="0">
                <a:solidFill>
                  <a:srgbClr val="1F2328"/>
                </a:solidFill>
              </a:rPr>
              <a:t>?</a:t>
            </a:r>
            <a:endParaRPr lang="id-ID" sz="2200" dirty="0"/>
          </a:p>
        </p:txBody>
      </p:sp>
      <p:sp>
        <p:nvSpPr>
          <p:cNvPr id="9" name="Shape 6"/>
          <p:cNvSpPr/>
          <p:nvPr/>
        </p:nvSpPr>
        <p:spPr>
          <a:xfrm>
            <a:off x="4338218" y="1709420"/>
            <a:ext cx="3515258" cy="1824736"/>
          </a:xfrm>
          <a:prstGeom prst="roundRect">
            <a:avLst>
              <a:gd name="adj" fmla="val 3013"/>
            </a:avLst>
          </a:prstGeom>
          <a:solidFill>
            <a:srgbClr val="F6F8FA"/>
          </a:solidFill>
          <a:ln w="9525">
            <a:solidFill>
              <a:srgbClr val="D0D7DE"/>
            </a:solidFill>
            <a:prstDash val="solid"/>
          </a:ln>
        </p:spPr>
      </p:sp>
      <p:sp>
        <p:nvSpPr>
          <p:cNvPr id="10" name="Shape 7"/>
          <p:cNvSpPr/>
          <p:nvPr/>
        </p:nvSpPr>
        <p:spPr>
          <a:xfrm>
            <a:off x="4566818" y="1938020"/>
            <a:ext cx="512064" cy="512064"/>
          </a:xfrm>
          <a:prstGeom prst="ellipse">
            <a:avLst/>
          </a:prstGeom>
          <a:solidFill>
            <a:srgbClr val="0969DA"/>
          </a:solidFill>
          <a:ln/>
        </p:spPr>
      </p:sp>
      <p:sp>
        <p:nvSpPr>
          <p:cNvPr id="11" name="Text 8"/>
          <p:cNvSpPr txBox="1"/>
          <p:nvPr/>
        </p:nvSpPr>
        <p:spPr>
          <a:xfrm>
            <a:off x="4566818"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2</a:t>
            </a:r>
            <a:endParaRPr lang="id-ID" sz="2000" dirty="0"/>
          </a:p>
        </p:txBody>
      </p:sp>
      <p:sp>
        <p:nvSpPr>
          <p:cNvPr id="12" name="Text 9"/>
          <p:cNvSpPr txBox="1"/>
          <p:nvPr/>
        </p:nvSpPr>
        <p:spPr>
          <a:xfrm>
            <a:off x="4566818" y="2578100"/>
            <a:ext cx="3058058" cy="773176"/>
          </a:xfrm>
          <a:prstGeom prst="rect">
            <a:avLst/>
          </a:prstGeom>
          <a:noFill/>
          <a:ln/>
        </p:spPr>
        <p:txBody>
          <a:bodyPr wrap="square" lIns="0" tIns="0" rIns="0" bIns="0" rtlCol="0" anchor="t"/>
          <a:lstStyle/>
          <a:p>
            <a:pPr indent="0" marL="0">
              <a:buNone/>
            </a:pPr>
            <a:r>
              <a:rPr lang="id-ID" altLang="en-US" sz="2200" i="1" dirty="0">
                <a:solidFill>
                  <a:srgbClr val="1F2328"/>
                </a:solidFill>
              </a:rPr>
              <a:t>Singleton</a:t>
            </a:r>
            <a:r>
              <a:rPr lang="id-ID" altLang="en-US" sz="2200" dirty="0">
                <a:solidFill>
                  <a:srgbClr val="1F2328"/>
                </a:solidFill>
              </a:rPr>
              <a:t>: hanya boleh ada satu</a:t>
            </a:r>
            <a:endParaRPr lang="id-ID" sz="2200" dirty="0"/>
          </a:p>
        </p:txBody>
      </p:sp>
      <p:sp>
        <p:nvSpPr>
          <p:cNvPr id="13" name="Shape 10"/>
          <p:cNvSpPr/>
          <p:nvPr/>
        </p:nvSpPr>
        <p:spPr>
          <a:xfrm>
            <a:off x="8127797" y="1709420"/>
            <a:ext cx="3515258" cy="1824736"/>
          </a:xfrm>
          <a:prstGeom prst="roundRect">
            <a:avLst>
              <a:gd name="adj" fmla="val 3013"/>
            </a:avLst>
          </a:prstGeom>
          <a:solidFill>
            <a:srgbClr val="F6F8FA"/>
          </a:solidFill>
          <a:ln w="9525">
            <a:solidFill>
              <a:srgbClr val="D0D7DE"/>
            </a:solidFill>
            <a:prstDash val="solid"/>
          </a:ln>
        </p:spPr>
      </p:sp>
      <p:sp>
        <p:nvSpPr>
          <p:cNvPr id="14" name="Shape 11"/>
          <p:cNvSpPr/>
          <p:nvPr/>
        </p:nvSpPr>
        <p:spPr>
          <a:xfrm>
            <a:off x="8356397" y="1938020"/>
            <a:ext cx="512064" cy="512064"/>
          </a:xfrm>
          <a:prstGeom prst="ellipse">
            <a:avLst/>
          </a:prstGeom>
          <a:solidFill>
            <a:srgbClr val="0969DA"/>
          </a:solidFill>
          <a:ln/>
        </p:spPr>
      </p:sp>
      <p:sp>
        <p:nvSpPr>
          <p:cNvPr id="15" name="Text 12"/>
          <p:cNvSpPr txBox="1"/>
          <p:nvPr/>
        </p:nvSpPr>
        <p:spPr>
          <a:xfrm>
            <a:off x="8356397"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3</a:t>
            </a:r>
            <a:endParaRPr lang="id-ID" sz="2000" dirty="0"/>
          </a:p>
        </p:txBody>
      </p:sp>
      <p:sp>
        <p:nvSpPr>
          <p:cNvPr id="16" name="Text 13"/>
          <p:cNvSpPr txBox="1"/>
          <p:nvPr/>
        </p:nvSpPr>
        <p:spPr>
          <a:xfrm>
            <a:off x="8356397" y="2578100"/>
            <a:ext cx="3058058" cy="773176"/>
          </a:xfrm>
          <a:prstGeom prst="rect">
            <a:avLst/>
          </a:prstGeom>
          <a:noFill/>
          <a:ln/>
        </p:spPr>
        <p:txBody>
          <a:bodyPr wrap="square" lIns="0" tIns="0" rIns="0" bIns="0" rtlCol="0" anchor="t"/>
          <a:lstStyle/>
          <a:p>
            <a:pPr indent="0" marL="0">
              <a:buNone/>
            </a:pPr>
            <a:r>
              <a:rPr lang="id-ID" altLang="en-US" sz="2200" i="1" dirty="0">
                <a:solidFill>
                  <a:srgbClr val="1F2328"/>
                </a:solidFill>
              </a:rPr>
              <a:t>Factory</a:t>
            </a:r>
            <a:r>
              <a:rPr lang="id-ID" altLang="en-US" sz="2200" dirty="0">
                <a:solidFill>
                  <a:srgbClr val="1F2328"/>
                </a:solidFill>
              </a:rPr>
              <a:t>: serahkan urusan membuat objek</a:t>
            </a:r>
            <a:endParaRPr lang="id-ID" sz="2200" dirty="0"/>
          </a:p>
        </p:txBody>
      </p:sp>
      <p:sp>
        <p:nvSpPr>
          <p:cNvPr id="17" name="Shape 14"/>
          <p:cNvSpPr/>
          <p:nvPr/>
        </p:nvSpPr>
        <p:spPr>
          <a:xfrm>
            <a:off x="548640" y="3808476"/>
            <a:ext cx="3515258" cy="1824736"/>
          </a:xfrm>
          <a:prstGeom prst="roundRect">
            <a:avLst>
              <a:gd name="adj" fmla="val 3013"/>
            </a:avLst>
          </a:prstGeom>
          <a:solidFill>
            <a:srgbClr val="F6F8FA"/>
          </a:solidFill>
          <a:ln w="9525">
            <a:solidFill>
              <a:srgbClr val="D0D7DE"/>
            </a:solidFill>
            <a:prstDash val="solid"/>
          </a:ln>
        </p:spPr>
      </p:sp>
      <p:sp>
        <p:nvSpPr>
          <p:cNvPr id="18" name="Shape 15"/>
          <p:cNvSpPr/>
          <p:nvPr/>
        </p:nvSpPr>
        <p:spPr>
          <a:xfrm>
            <a:off x="777240" y="4037076"/>
            <a:ext cx="512064" cy="512064"/>
          </a:xfrm>
          <a:prstGeom prst="ellipse">
            <a:avLst/>
          </a:prstGeom>
          <a:solidFill>
            <a:srgbClr val="0969DA"/>
          </a:solidFill>
          <a:ln/>
        </p:spPr>
      </p:sp>
      <p:sp>
        <p:nvSpPr>
          <p:cNvPr id="19" name="Text 16"/>
          <p:cNvSpPr txBox="1"/>
          <p:nvPr/>
        </p:nvSpPr>
        <p:spPr>
          <a:xfrm>
            <a:off x="777240"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4</a:t>
            </a:r>
            <a:endParaRPr lang="id-ID" sz="2000" dirty="0"/>
          </a:p>
        </p:txBody>
      </p:sp>
      <p:sp>
        <p:nvSpPr>
          <p:cNvPr id="20" name="Text 17"/>
          <p:cNvSpPr txBox="1"/>
          <p:nvPr/>
        </p:nvSpPr>
        <p:spPr>
          <a:xfrm>
            <a:off x="777240" y="4677156"/>
            <a:ext cx="3058058" cy="773176"/>
          </a:xfrm>
          <a:prstGeom prst="rect">
            <a:avLst/>
          </a:prstGeom>
          <a:noFill/>
          <a:ln/>
        </p:spPr>
        <p:txBody>
          <a:bodyPr wrap="square" lIns="0" tIns="0" rIns="0" bIns="0" rtlCol="0" anchor="t"/>
          <a:lstStyle/>
          <a:p>
            <a:pPr indent="0" marL="0">
              <a:buNone/>
            </a:pPr>
            <a:r>
              <a:rPr lang="id-ID" altLang="en-US" sz="2200" i="1" dirty="0">
                <a:solidFill>
                  <a:srgbClr val="1F2328"/>
                </a:solidFill>
              </a:rPr>
              <a:t>Strategy</a:t>
            </a:r>
            <a:r>
              <a:rPr lang="id-ID" altLang="en-US" sz="2200" dirty="0">
                <a:solidFill>
                  <a:srgbClr val="1F2328"/>
                </a:solidFill>
              </a:rPr>
              <a:t>: algoritma yang bisa ditukar</a:t>
            </a:r>
            <a:endParaRPr lang="id-ID" sz="2200" dirty="0"/>
          </a:p>
        </p:txBody>
      </p:sp>
      <p:sp>
        <p:nvSpPr>
          <p:cNvPr id="21" name="Shape 18"/>
          <p:cNvSpPr/>
          <p:nvPr/>
        </p:nvSpPr>
        <p:spPr>
          <a:xfrm>
            <a:off x="4338218" y="3808476"/>
            <a:ext cx="3515258" cy="1824736"/>
          </a:xfrm>
          <a:prstGeom prst="roundRect">
            <a:avLst>
              <a:gd name="adj" fmla="val 3013"/>
            </a:avLst>
          </a:prstGeom>
          <a:solidFill>
            <a:srgbClr val="F6F8FA"/>
          </a:solidFill>
          <a:ln w="9525">
            <a:solidFill>
              <a:srgbClr val="D0D7DE"/>
            </a:solidFill>
            <a:prstDash val="solid"/>
          </a:ln>
        </p:spPr>
      </p:sp>
      <p:sp>
        <p:nvSpPr>
          <p:cNvPr id="22" name="Shape 19"/>
          <p:cNvSpPr/>
          <p:nvPr/>
        </p:nvSpPr>
        <p:spPr>
          <a:xfrm>
            <a:off x="4566818" y="4037076"/>
            <a:ext cx="512064" cy="512064"/>
          </a:xfrm>
          <a:prstGeom prst="ellipse">
            <a:avLst/>
          </a:prstGeom>
          <a:solidFill>
            <a:srgbClr val="0969DA"/>
          </a:solidFill>
          <a:ln/>
        </p:spPr>
      </p:sp>
      <p:sp>
        <p:nvSpPr>
          <p:cNvPr id="23" name="Text 20"/>
          <p:cNvSpPr txBox="1"/>
          <p:nvPr/>
        </p:nvSpPr>
        <p:spPr>
          <a:xfrm>
            <a:off x="4566818"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5</a:t>
            </a:r>
            <a:endParaRPr lang="id-ID" sz="2000" dirty="0"/>
          </a:p>
        </p:txBody>
      </p:sp>
      <p:sp>
        <p:nvSpPr>
          <p:cNvPr id="24" name="Text 21"/>
          <p:cNvSpPr txBox="1"/>
          <p:nvPr/>
        </p:nvSpPr>
        <p:spPr>
          <a:xfrm>
            <a:off x="4566818" y="4677156"/>
            <a:ext cx="3058058" cy="773176"/>
          </a:xfrm>
          <a:prstGeom prst="rect">
            <a:avLst/>
          </a:prstGeom>
          <a:noFill/>
          <a:ln/>
        </p:spPr>
        <p:txBody>
          <a:bodyPr wrap="square" lIns="0" tIns="0" rIns="0" bIns="0" rtlCol="0" anchor="t"/>
          <a:lstStyle/>
          <a:p>
            <a:pPr indent="0" marL="0">
              <a:buNone/>
            </a:pPr>
            <a:r>
              <a:rPr lang="id-ID" altLang="en-US" sz="2200" i="1" dirty="0">
                <a:solidFill>
                  <a:srgbClr val="1F2328"/>
                </a:solidFill>
              </a:rPr>
              <a:t>Observer</a:t>
            </a:r>
            <a:r>
              <a:rPr lang="id-ID" altLang="en-US" sz="2200" dirty="0">
                <a:solidFill>
                  <a:srgbClr val="1F2328"/>
                </a:solidFill>
              </a:rPr>
              <a:t>: kabari semua yang berlangganan</a:t>
            </a:r>
            <a:endParaRPr lang="id-ID" sz="2200" dirty="0"/>
          </a:p>
        </p:txBody>
      </p:sp>
      <p:sp>
        <p:nvSpPr>
          <p:cNvPr id="25" name="Shape 22"/>
          <p:cNvSpPr/>
          <p:nvPr/>
        </p:nvSpPr>
        <p:spPr>
          <a:xfrm>
            <a:off x="8127797" y="3808476"/>
            <a:ext cx="3515258" cy="1824736"/>
          </a:xfrm>
          <a:prstGeom prst="roundRect">
            <a:avLst>
              <a:gd name="adj" fmla="val 3013"/>
            </a:avLst>
          </a:prstGeom>
          <a:solidFill>
            <a:srgbClr val="F6F8FA"/>
          </a:solidFill>
          <a:ln w="9525">
            <a:solidFill>
              <a:srgbClr val="D0D7DE"/>
            </a:solidFill>
            <a:prstDash val="solid"/>
          </a:ln>
        </p:spPr>
      </p:sp>
      <p:sp>
        <p:nvSpPr>
          <p:cNvPr id="26" name="Shape 23"/>
          <p:cNvSpPr/>
          <p:nvPr/>
        </p:nvSpPr>
        <p:spPr>
          <a:xfrm>
            <a:off x="8356397" y="4037076"/>
            <a:ext cx="512064" cy="512064"/>
          </a:xfrm>
          <a:prstGeom prst="ellipse">
            <a:avLst/>
          </a:prstGeom>
          <a:solidFill>
            <a:srgbClr val="0969DA"/>
          </a:solidFill>
          <a:ln/>
        </p:spPr>
      </p:sp>
      <p:sp>
        <p:nvSpPr>
          <p:cNvPr id="27" name="Text 24"/>
          <p:cNvSpPr txBox="1"/>
          <p:nvPr/>
        </p:nvSpPr>
        <p:spPr>
          <a:xfrm>
            <a:off x="8356397"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6</a:t>
            </a:r>
            <a:endParaRPr lang="id-ID" sz="2000" dirty="0"/>
          </a:p>
        </p:txBody>
      </p:sp>
      <p:sp>
        <p:nvSpPr>
          <p:cNvPr id="28" name="Text 25"/>
          <p:cNvSpPr txBox="1"/>
          <p:nvPr/>
        </p:nvSpPr>
        <p:spPr>
          <a:xfrm>
            <a:off x="8356397"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Studi kasus KedaiKita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1</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1</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Apa Itu </a:t>
            </a:r>
            <a:r>
              <a:rPr lang="id-ID" altLang="en-US" sz="4200" b="1" i="1" dirty="0">
                <a:solidFill>
                  <a:srgbClr val="FFFFFF"/>
                </a:solidFill>
              </a:rPr>
              <a:t>Design Pattern</a:t>
            </a:r>
            <a:r>
              <a:rPr lang="id-ID" altLang="en-US" sz="4200" b="1" dirty="0">
                <a:solidFill>
                  <a:srgbClr val="FFFFFF"/>
                </a:solidFill>
              </a:rPr>
              <a:t>?</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Resep yang sudah teruji untuk masalah desain yang terus muncul.</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9A67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Pola Jahit di Penjahit Langganan</a:t>
            </a:r>
            <a:endParaRPr lang="id-ID" sz="3200" dirty="0"/>
          </a:p>
        </p:txBody>
      </p:sp>
      <p:sp>
        <p:nvSpPr>
          <p:cNvPr id="5" name="Shape 2"/>
          <p:cNvSpPr/>
          <p:nvPr/>
        </p:nvSpPr>
        <p:spPr>
          <a:xfrm>
            <a:off x="548640" y="1439829"/>
            <a:ext cx="5074920" cy="4728718"/>
          </a:xfrm>
          <a:prstGeom prst="roundRect">
            <a:avLst>
              <a:gd name="adj" fmla="val 598"/>
            </a:avLst>
          </a:prstGeom>
          <a:solidFill>
            <a:srgbClr val="FFF8C5"/>
          </a:solidFill>
          <a:ln w="9525">
            <a:solidFill>
              <a:srgbClr val="D4A72C"/>
            </a:solidFill>
            <a:prstDash val="solid"/>
          </a:ln>
        </p:spPr>
      </p:sp>
      <p:sp>
        <p:nvSpPr>
          <p:cNvPr id="6" name="Shape 3"/>
          <p:cNvSpPr/>
          <p:nvPr/>
        </p:nvSpPr>
        <p:spPr>
          <a:xfrm>
            <a:off x="822960" y="1668429"/>
            <a:ext cx="457200" cy="457200"/>
          </a:xfrm>
          <a:prstGeom prst="ellipse">
            <a:avLst/>
          </a:prstGeom>
          <a:solidFill>
            <a:srgbClr val="9A6700"/>
          </a:solidFill>
          <a:ln/>
        </p:spPr>
      </p:sp>
      <p:pic>
        <p:nvPicPr>
          <p:cNvPr id="7" name="Image 1" descr="preencoded.png">    </p:cNvPr>
          <p:cNvPicPr>
            <a:picLocks noChangeAspect="1"/>
          </p:cNvPicPr>
          <p:nvPr/>
        </p:nvPicPr>
        <p:blipFill>
          <a:blip r:embed="rId2"/>
          <a:stretch>
            <a:fillRect/>
          </a:stretch>
        </p:blipFill>
        <p:spPr>
          <a:xfrm>
            <a:off x="923544" y="1769013"/>
            <a:ext cx="256032" cy="256032"/>
          </a:xfrm>
          <a:prstGeom prst="rect">
            <a:avLst/>
          </a:prstGeom>
        </p:spPr>
      </p:pic>
      <p:sp>
        <p:nvSpPr>
          <p:cNvPr id="8" name="Text 4"/>
          <p:cNvSpPr txBox="1"/>
          <p:nvPr/>
        </p:nvSpPr>
        <p:spPr>
          <a:xfrm>
            <a:off x="1417320" y="1714149"/>
            <a:ext cx="2743200" cy="365760"/>
          </a:xfrm>
          <a:prstGeom prst="rect">
            <a:avLst/>
          </a:prstGeom>
          <a:noFill/>
          <a:ln/>
        </p:spPr>
        <p:txBody>
          <a:bodyPr wrap="square" lIns="0" tIns="0" rIns="0" bIns="0" rtlCol="0" anchor="t"/>
          <a:lstStyle/>
          <a:p>
            <a:pPr indent="0" marL="0">
              <a:buNone/>
            </a:pPr>
            <a:r>
              <a:rPr lang="id-ID" altLang="en-US" sz="1600" b="1" dirty="0">
                <a:solidFill>
                  <a:srgbClr val="9A6700"/>
                </a:solidFill>
              </a:rPr>
              <a:t>Analogi</a:t>
            </a:r>
            <a:endParaRPr lang="id-ID" sz="1600" dirty="0"/>
          </a:p>
        </p:txBody>
      </p:sp>
      <p:sp>
        <p:nvSpPr>
          <p:cNvPr id="9" name="Shape 5"/>
          <p:cNvSpPr/>
          <p:nvPr/>
        </p:nvSpPr>
        <p:spPr>
          <a:xfrm>
            <a:off x="923544" y="2387122"/>
            <a:ext cx="137160" cy="137160"/>
          </a:xfrm>
          <a:prstGeom prst="roundRect">
            <a:avLst>
              <a:gd name="adj" fmla="val 166667"/>
            </a:avLst>
          </a:prstGeom>
          <a:solidFill>
            <a:srgbClr val="9A6700"/>
          </a:solidFill>
          <a:ln/>
        </p:spPr>
      </p:sp>
      <p:sp>
        <p:nvSpPr>
          <p:cNvPr id="10" name="Text 6"/>
          <p:cNvSpPr txBox="1"/>
          <p:nvPr/>
        </p:nvSpPr>
        <p:spPr>
          <a:xfrm>
            <a:off x="1252728" y="2308509"/>
            <a:ext cx="3867912" cy="1223264"/>
          </a:xfrm>
          <a:prstGeom prst="rect">
            <a:avLst/>
          </a:prstGeom>
          <a:noFill/>
          <a:ln/>
        </p:spPr>
        <p:txBody>
          <a:bodyPr wrap="square" lIns="0" tIns="0" rIns="0" bIns="0" rtlCol="0" anchor="t"/>
          <a:lstStyle/>
          <a:p>
            <a:pPr indent="0" marL="0">
              <a:buNone/>
            </a:pPr>
            <a:r>
              <a:rPr lang="id-ID" altLang="en-US" sz="1900" dirty="0">
                <a:solidFill>
                  <a:srgbClr val="1F2328"/>
                </a:solidFill>
              </a:rPr>
              <a:t>Di dinding kios penjahit tergantung </a:t>
            </a:r>
            <a:r>
              <a:rPr lang="id-ID" altLang="en-US" sz="1900" b="1" dirty="0">
                <a:solidFill>
                  <a:srgbClr val="1F2328"/>
                </a:solidFill>
              </a:rPr>
              <a:t>pola jahit</a:t>
            </a:r>
            <a:r>
              <a:rPr lang="id-ID" altLang="en-US" sz="1900" dirty="0">
                <a:solidFill>
                  <a:srgbClr val="1F2328"/>
                </a:solidFill>
              </a:rPr>
              <a:t>: kertas cokelat bergambar potongan lengan, kerah, dan badan kemeja.</a:t>
            </a:r>
            <a:endParaRPr lang="id-ID" sz="1900" dirty="0"/>
          </a:p>
        </p:txBody>
      </p:sp>
      <p:sp>
        <p:nvSpPr>
          <p:cNvPr id="11" name="Shape 7"/>
          <p:cNvSpPr/>
          <p:nvPr/>
        </p:nvSpPr>
        <p:spPr>
          <a:xfrm>
            <a:off x="923544" y="3784122"/>
            <a:ext cx="137160" cy="137160"/>
          </a:xfrm>
          <a:prstGeom prst="roundRect">
            <a:avLst>
              <a:gd name="adj" fmla="val 166667"/>
            </a:avLst>
          </a:prstGeom>
          <a:solidFill>
            <a:srgbClr val="9A6700"/>
          </a:solidFill>
          <a:ln/>
        </p:spPr>
      </p:sp>
      <p:sp>
        <p:nvSpPr>
          <p:cNvPr id="12" name="Text 8"/>
          <p:cNvSpPr txBox="1"/>
          <p:nvPr/>
        </p:nvSpPr>
        <p:spPr>
          <a:xfrm>
            <a:off x="1252728" y="3705509"/>
            <a:ext cx="3867912" cy="928878"/>
          </a:xfrm>
          <a:prstGeom prst="rect">
            <a:avLst/>
          </a:prstGeom>
          <a:noFill/>
          <a:ln/>
        </p:spPr>
        <p:txBody>
          <a:bodyPr wrap="square" lIns="0" tIns="0" rIns="0" bIns="0" rtlCol="0" anchor="t"/>
          <a:lstStyle/>
          <a:p>
            <a:pPr indent="0" marL="0">
              <a:buNone/>
            </a:pPr>
            <a:r>
              <a:rPr lang="id-ID" altLang="en-US" sz="1900" dirty="0">
                <a:solidFill>
                  <a:srgbClr val="1F2328"/>
                </a:solidFill>
              </a:rPr>
              <a:t>Pola kemeja </a:t>
            </a:r>
            <a:r>
              <a:rPr lang="id-ID" altLang="en-US" sz="1900" b="1" dirty="0">
                <a:solidFill>
                  <a:srgbClr val="1F2328"/>
                </a:solidFill>
              </a:rPr>
              <a:t>bukan kemeja</a:t>
            </a:r>
            <a:r>
              <a:rPr lang="id-ID" altLang="en-US" sz="1900" dirty="0">
                <a:solidFill>
                  <a:srgbClr val="1F2328"/>
                </a:solidFill>
              </a:rPr>
              <a:t>. Pola yang sama dipakai untuk banyak pelanggan, tetapi </a:t>
            </a:r>
            <a:r>
              <a:rPr lang="id-ID" altLang="en-US" sz="1900" b="1" dirty="0">
                <a:solidFill>
                  <a:srgbClr val="1F2328"/>
                </a:solidFill>
              </a:rPr>
              <a:t>ukurannya disesuaikan</a:t>
            </a:r>
            <a:r>
              <a:rPr lang="id-ID" altLang="en-US" sz="1900" dirty="0">
                <a:solidFill>
                  <a:srgbClr val="1F2328"/>
                </a:solidFill>
              </a:rPr>
              <a:t>.</a:t>
            </a:r>
            <a:endParaRPr lang="id-ID" sz="1900" dirty="0"/>
          </a:p>
        </p:txBody>
      </p:sp>
      <p:sp>
        <p:nvSpPr>
          <p:cNvPr id="13" name="Shape 9"/>
          <p:cNvSpPr/>
          <p:nvPr/>
        </p:nvSpPr>
        <p:spPr>
          <a:xfrm>
            <a:off x="923544" y="4886736"/>
            <a:ext cx="137160" cy="137160"/>
          </a:xfrm>
          <a:prstGeom prst="roundRect">
            <a:avLst>
              <a:gd name="adj" fmla="val 166667"/>
            </a:avLst>
          </a:prstGeom>
          <a:solidFill>
            <a:srgbClr val="9A6700"/>
          </a:solidFill>
          <a:ln/>
        </p:spPr>
      </p:sp>
      <p:sp>
        <p:nvSpPr>
          <p:cNvPr id="14" name="Text 10"/>
          <p:cNvSpPr txBox="1"/>
          <p:nvPr/>
        </p:nvSpPr>
        <p:spPr>
          <a:xfrm>
            <a:off x="1252728" y="4808123"/>
            <a:ext cx="3867912" cy="1223264"/>
          </a:xfrm>
          <a:prstGeom prst="rect">
            <a:avLst/>
          </a:prstGeom>
          <a:noFill/>
          <a:ln/>
        </p:spPr>
        <p:txBody>
          <a:bodyPr wrap="square" lIns="0" tIns="0" rIns="0" bIns="0" rtlCol="0" anchor="t"/>
          <a:lstStyle/>
          <a:p>
            <a:pPr indent="0" marL="0">
              <a:buNone/>
            </a:pPr>
            <a:r>
              <a:rPr lang="id-ID" altLang="en-US" sz="1900" dirty="0">
                <a:solidFill>
                  <a:srgbClr val="1F2328"/>
                </a:solidFill>
              </a:rPr>
              <a:t>Pola lahir dari </a:t>
            </a:r>
            <a:r>
              <a:rPr lang="id-ID" altLang="en-US" sz="1900" b="1" dirty="0">
                <a:solidFill>
                  <a:srgbClr val="1F2328"/>
                </a:solidFill>
              </a:rPr>
              <a:t>pengalaman bertahun-⁠tahun</a:t>
            </a:r>
            <a:r>
              <a:rPr lang="id-ID" altLang="en-US" sz="1900" dirty="0">
                <a:solidFill>
                  <a:srgbClr val="1F2328"/>
                </a:solidFill>
              </a:rPr>
              <a:t>. Sesama penjahit cukup menyebut namanya dan langsung paham.</a:t>
            </a:r>
            <a:endParaRPr lang="id-ID" sz="1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0" y="2107468"/>
          <a:ext cx="5699455" cy="914400"/>
        </p:xfrm>
        <a:graphic>
          <a:graphicData uri="http://schemas.openxmlformats.org/drawingml/2006/table">
            <a:tbl>
              <a:tblPr/>
              <a:tblGrid>
                <a:gridCol w="2690897"/>
                <a:gridCol w="3008558"/>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Dunia penjahit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Dunia pemrograman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Pola jahit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b="1" i="1" dirty="0">
                          <a:solidFill>
                            <a:srgbClr val="1F2328"/>
                          </a:solidFill>
                          <a:latin typeface="Calibri" pitchFamily="34" charset="0"/>
                          <a:ea typeface="Calibri" pitchFamily="34" charset="-122"/>
                          <a:cs typeface="Calibri" pitchFamily="34" charset="-120"/>
                        </a:rPr>
                        <a:t>Design pattern</a:t>
                      </a:r>
                      <a:r>
                        <a:rPr lang="id-ID" altLang="en-US" sz="2000" dirty="0">
                          <a:solidFill>
                            <a:srgbClr val="1F2328"/>
                          </a:solidFill>
                          <a:latin typeface="Calibri" pitchFamily="34" charset="0"/>
                          <a:ea typeface="Calibri" pitchFamily="34" charset="-122"/>
                          <a:cs typeface="Calibri" pitchFamily="34" charset="-120"/>
                        </a:rPr>
                        <a:t> (pola desain)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9276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Pola bukan kemeja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Pola bukan kode jadi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Ukuran Budi dan Siti berbeda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Pola disesuaikan dengan programmu</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“Pakai pola kemeja lengan panjang”</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Nama pola menjadi kosakata bersama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Design Pattern</a:t>
            </a:r>
            <a:r>
              <a:rPr lang="id-ID" altLang="en-US" sz="3200" b="1" dirty="0">
                <a:solidFill>
                  <a:srgbClr val="0A3069"/>
                </a:solidFill>
              </a:rPr>
              <a:t>: Solusi yang Sudah Teruji</a:t>
            </a:r>
            <a:endParaRPr lang="id-ID" sz="3200" dirty="0"/>
          </a:p>
        </p:txBody>
      </p:sp>
      <p:sp>
        <p:nvSpPr>
          <p:cNvPr id="5" name="Text 2"/>
          <p:cNvSpPr txBox="1"/>
          <p:nvPr/>
        </p:nvSpPr>
        <p:spPr>
          <a:xfrm>
            <a:off x="548640" y="1508531"/>
            <a:ext cx="11094415" cy="548640"/>
          </a:xfrm>
          <a:prstGeom prst="rect">
            <a:avLst/>
          </a:prstGeom>
          <a:noFill/>
          <a:ln/>
        </p:spPr>
        <p:txBody>
          <a:bodyPr wrap="square" lIns="0" tIns="0" rIns="0" bIns="0" rtlCol="0" anchor="t"/>
          <a:lstStyle/>
          <a:p>
            <a:pPr indent="0" marL="0">
              <a:buNone/>
            </a:pPr>
            <a:r>
              <a:rPr lang="id-ID" altLang="en-US" sz="3000" b="1" i="1" dirty="0">
                <a:solidFill>
                  <a:srgbClr val="0969DA"/>
                </a:solidFill>
              </a:rPr>
              <a:t>Design pattern</a:t>
            </a:r>
            <a:r>
              <a:rPr lang="id-ID" altLang="en-US" sz="3000" b="1" dirty="0">
                <a:solidFill>
                  <a:srgbClr val="0969DA"/>
                </a:solidFill>
              </a:rPr>
              <a:t> (pola desain)</a:t>
            </a:r>
            <a:endParaRPr lang="id-ID" sz="3000" dirty="0"/>
          </a:p>
        </p:txBody>
      </p:sp>
      <p:sp>
        <p:nvSpPr>
          <p:cNvPr id="6" name="Shape 3"/>
          <p:cNvSpPr/>
          <p:nvPr/>
        </p:nvSpPr>
        <p:spPr>
          <a:xfrm>
            <a:off x="548640" y="2221763"/>
            <a:ext cx="11094415" cy="1617726"/>
          </a:xfrm>
          <a:prstGeom prst="roundRect">
            <a:avLst>
              <a:gd name="adj" fmla="val 3834"/>
            </a:avLst>
          </a:prstGeom>
          <a:solidFill>
            <a:srgbClr val="DDF4FF"/>
          </a:solidFill>
          <a:ln w="9525">
            <a:solidFill>
              <a:srgbClr val="54AEFF"/>
            </a:solidFill>
            <a:prstDash val="solid"/>
          </a:ln>
        </p:spPr>
      </p:sp>
      <p:sp>
        <p:nvSpPr>
          <p:cNvPr id="7" name="Shape 4"/>
          <p:cNvSpPr/>
          <p:nvPr/>
        </p:nvSpPr>
        <p:spPr>
          <a:xfrm>
            <a:off x="804672" y="2756306"/>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2877007"/>
            <a:ext cx="307238" cy="307238"/>
          </a:xfrm>
          <a:prstGeom prst="rect">
            <a:avLst/>
          </a:prstGeom>
        </p:spPr>
      </p:pic>
      <p:sp>
        <p:nvSpPr>
          <p:cNvPr id="9" name="Text 5"/>
          <p:cNvSpPr txBox="1"/>
          <p:nvPr/>
        </p:nvSpPr>
        <p:spPr>
          <a:xfrm>
            <a:off x="1554480" y="2496083"/>
            <a:ext cx="9859975" cy="1251966"/>
          </a:xfrm>
          <a:prstGeom prst="rect">
            <a:avLst/>
          </a:prstGeom>
          <a:noFill/>
          <a:ln/>
        </p:spPr>
        <p:txBody>
          <a:bodyPr wrap="square" lIns="0" tIns="0" rIns="0" bIns="0" rtlCol="0" anchor="t"/>
          <a:lstStyle/>
          <a:p>
            <a:pPr indent="0" marL="0">
              <a:buNone/>
            </a:pPr>
            <a:r>
              <a:rPr lang="id-ID" altLang="en-US" sz="2300" dirty="0">
                <a:solidFill>
                  <a:srgbClr val="1F2328"/>
                </a:solidFill>
              </a:rPr>
              <a:t>Solusi umum yang </a:t>
            </a:r>
            <a:r>
              <a:rPr lang="id-ID" altLang="en-US" sz="2300" b="1" dirty="0">
                <a:solidFill>
                  <a:srgbClr val="1F2328"/>
                </a:solidFill>
              </a:rPr>
              <a:t>sudah teruji</a:t>
            </a:r>
            <a:r>
              <a:rPr lang="id-ID" altLang="en-US" sz="2300" dirty="0">
                <a:solidFill>
                  <a:srgbClr val="1F2328"/>
                </a:solidFill>
              </a:rPr>
              <a:t> untuk masalah desain yang sering muncul berulang kali. Pola </a:t>
            </a:r>
            <a:r>
              <a:rPr lang="id-ID" altLang="en-US" sz="2300" b="1" dirty="0">
                <a:solidFill>
                  <a:srgbClr val="1F2328"/>
                </a:solidFill>
              </a:rPr>
              <a:t>bukan kode jadi</a:t>
            </a:r>
            <a:r>
              <a:rPr lang="id-ID" altLang="en-US" sz="2300" dirty="0">
                <a:solidFill>
                  <a:srgbClr val="1F2328"/>
                </a:solidFill>
              </a:rPr>
              <a:t>, melainkan gambaran susunan kelas dan objek yang kamu sesuaikan dengan programmu.</a:t>
            </a:r>
            <a:endParaRPr lang="id-ID" sz="2300" dirty="0"/>
          </a:p>
        </p:txBody>
      </p:sp>
      <p:sp>
        <p:nvSpPr>
          <p:cNvPr id="10" name="Shape 6"/>
          <p:cNvSpPr/>
          <p:nvPr/>
        </p:nvSpPr>
        <p:spPr>
          <a:xfrm>
            <a:off x="603504" y="4390796"/>
            <a:ext cx="137160" cy="137160"/>
          </a:xfrm>
          <a:prstGeom prst="roundRect">
            <a:avLst>
              <a:gd name="adj" fmla="val 166667"/>
            </a:avLst>
          </a:prstGeom>
          <a:solidFill>
            <a:srgbClr val="0969DA"/>
          </a:solidFill>
          <a:ln/>
        </p:spPr>
      </p:sp>
      <p:sp>
        <p:nvSpPr>
          <p:cNvPr id="11" name="Text 7"/>
          <p:cNvSpPr txBox="1"/>
          <p:nvPr/>
        </p:nvSpPr>
        <p:spPr>
          <a:xfrm>
            <a:off x="932688" y="4296689"/>
            <a:ext cx="10710367" cy="371094"/>
          </a:xfrm>
          <a:prstGeom prst="rect">
            <a:avLst/>
          </a:prstGeom>
          <a:noFill/>
          <a:ln/>
        </p:spPr>
        <p:txBody>
          <a:bodyPr wrap="square" lIns="0" tIns="0" rIns="0" bIns="0" rtlCol="0" anchor="t"/>
          <a:lstStyle/>
          <a:p>
            <a:pPr indent="0" marL="0">
              <a:buNone/>
            </a:pPr>
            <a:r>
              <a:rPr lang="id-ID" altLang="en-US" sz="2100" dirty="0">
                <a:solidFill>
                  <a:srgbClr val="1F2328"/>
                </a:solidFill>
              </a:rPr>
              <a:t>Dipopulerkan buku </a:t>
            </a:r>
            <a:r>
              <a:rPr lang="id-ID" altLang="en-US" sz="2100" i="1" dirty="0">
                <a:solidFill>
                  <a:srgbClr val="1F2328"/>
                </a:solidFill>
              </a:rPr>
              <a:t>Design Patterns</a:t>
            </a:r>
            <a:r>
              <a:rPr lang="id-ID" altLang="en-US" sz="2100" dirty="0">
                <a:solidFill>
                  <a:srgbClr val="1F2328"/>
                </a:solidFill>
              </a:rPr>
              <a:t> (1994) karya </a:t>
            </a:r>
            <a:r>
              <a:rPr lang="id-ID" altLang="en-US" sz="2100" b="1" i="1" dirty="0">
                <a:solidFill>
                  <a:srgbClr val="1F2328"/>
                </a:solidFill>
              </a:rPr>
              <a:t>Gang of Four</a:t>
            </a:r>
            <a:r>
              <a:rPr lang="id-ID" altLang="en-US" sz="2100" dirty="0">
                <a:solidFill>
                  <a:srgbClr val="1F2328"/>
                </a:solidFill>
              </a:rPr>
              <a:t> (GoF): </a:t>
            </a:r>
            <a:r>
              <a:rPr lang="id-ID" altLang="en-US" sz="2100" b="1" dirty="0">
                <a:solidFill>
                  <a:srgbClr val="1F2328"/>
                </a:solidFill>
              </a:rPr>
              <a:t>23 pola</a:t>
            </a:r>
            <a:r>
              <a:rPr lang="id-ID" altLang="en-US" sz="2100" dirty="0">
                <a:solidFill>
                  <a:srgbClr val="1F2328"/>
                </a:solidFill>
              </a:rPr>
              <a:t> dalam </a:t>
            </a:r>
            <a:r>
              <a:rPr lang="id-ID" altLang="en-US" sz="2100" b="1" dirty="0">
                <a:solidFill>
                  <a:srgbClr val="1F2328"/>
                </a:solidFill>
              </a:rPr>
              <a:t>3 kategori</a:t>
            </a:r>
            <a:r>
              <a:rPr lang="id-ID" altLang="en-US" sz="2100" dirty="0">
                <a:solidFill>
                  <a:srgbClr val="1F2328"/>
                </a:solidFill>
              </a:rPr>
              <a:t>.</a:t>
            </a:r>
            <a:endParaRPr lang="id-ID" sz="2100" dirty="0"/>
          </a:p>
        </p:txBody>
      </p:sp>
      <p:sp>
        <p:nvSpPr>
          <p:cNvPr id="12" name="Shape 8"/>
          <p:cNvSpPr/>
          <p:nvPr/>
        </p:nvSpPr>
        <p:spPr>
          <a:xfrm>
            <a:off x="603504" y="4953914"/>
            <a:ext cx="137160" cy="137160"/>
          </a:xfrm>
          <a:prstGeom prst="roundRect">
            <a:avLst>
              <a:gd name="adj" fmla="val 166667"/>
            </a:avLst>
          </a:prstGeom>
          <a:solidFill>
            <a:srgbClr val="0969DA"/>
          </a:solidFill>
          <a:ln/>
        </p:spPr>
      </p:sp>
      <p:sp>
        <p:nvSpPr>
          <p:cNvPr id="13" name="Text 9"/>
          <p:cNvSpPr txBox="1"/>
          <p:nvPr/>
        </p:nvSpPr>
        <p:spPr>
          <a:xfrm>
            <a:off x="932688" y="4859807"/>
            <a:ext cx="10710367" cy="696468"/>
          </a:xfrm>
          <a:prstGeom prst="rect">
            <a:avLst/>
          </a:prstGeom>
          <a:noFill/>
          <a:ln/>
        </p:spPr>
        <p:txBody>
          <a:bodyPr wrap="square" lIns="0" tIns="0" rIns="0" bIns="0" rtlCol="0" anchor="t"/>
          <a:lstStyle/>
          <a:p>
            <a:pPr indent="0" marL="0">
              <a:buNone/>
            </a:pPr>
            <a:r>
              <a:rPr lang="id-ID" altLang="en-US" sz="2100" i="1" dirty="0">
                <a:solidFill>
                  <a:srgbClr val="1F2328"/>
                </a:solidFill>
              </a:rPr>
              <a:t>Creational</a:t>
            </a:r>
            <a:r>
              <a:rPr lang="id-ID" altLang="en-US" sz="2100" dirty="0">
                <a:solidFill>
                  <a:srgbClr val="1F2328"/>
                </a:solidFill>
              </a:rPr>
              <a:t> (cara objek dibuat), </a:t>
            </a:r>
            <a:r>
              <a:rPr lang="id-ID" altLang="en-US" sz="2100" i="1" dirty="0">
                <a:solidFill>
                  <a:srgbClr val="1F2328"/>
                </a:solidFill>
              </a:rPr>
              <a:t>structural</a:t>
            </a:r>
            <a:r>
              <a:rPr lang="id-ID" altLang="en-US" sz="2100" dirty="0">
                <a:solidFill>
                  <a:srgbClr val="1F2328"/>
                </a:solidFill>
              </a:rPr>
              <a:t> (cara kelas dan objek dirangkai), </a:t>
            </a:r>
            <a:r>
              <a:rPr lang="id-ID" altLang="en-US" sz="2100" i="1" dirty="0">
                <a:solidFill>
                  <a:srgbClr val="1F2328"/>
                </a:solidFill>
              </a:rPr>
              <a:t>behavioral</a:t>
            </a:r>
            <a:r>
              <a:rPr lang="id-ID" altLang="en-US" sz="2100" dirty="0">
                <a:solidFill>
                  <a:srgbClr val="1F2328"/>
                </a:solidFill>
              </a:rPr>
              <a:t> (cara objek berbagi tugas).</a:t>
            </a:r>
            <a:endParaRPr lang="id-ID" sz="2100" dirty="0"/>
          </a:p>
        </p:txBody>
      </p:sp>
      <p:sp>
        <p:nvSpPr>
          <p:cNvPr id="14" name="Shape 10"/>
          <p:cNvSpPr/>
          <p:nvPr/>
        </p:nvSpPr>
        <p:spPr>
          <a:xfrm>
            <a:off x="603504" y="5842406"/>
            <a:ext cx="137160" cy="137160"/>
          </a:xfrm>
          <a:prstGeom prst="roundRect">
            <a:avLst>
              <a:gd name="adj" fmla="val 166667"/>
            </a:avLst>
          </a:prstGeom>
          <a:solidFill>
            <a:srgbClr val="0969DA"/>
          </a:solidFill>
          <a:ln/>
        </p:spPr>
      </p:sp>
      <p:sp>
        <p:nvSpPr>
          <p:cNvPr id="15" name="Text 11"/>
          <p:cNvSpPr txBox="1"/>
          <p:nvPr/>
        </p:nvSpPr>
        <p:spPr>
          <a:xfrm>
            <a:off x="932688" y="5748299"/>
            <a:ext cx="10710367" cy="371094"/>
          </a:xfrm>
          <a:prstGeom prst="rect">
            <a:avLst/>
          </a:prstGeom>
          <a:noFill/>
          <a:ln/>
        </p:spPr>
        <p:txBody>
          <a:bodyPr wrap="square" lIns="0" tIns="0" rIns="0" bIns="0" rtlCol="0" anchor="t"/>
          <a:lstStyle/>
          <a:p>
            <a:pPr indent="0" marL="0">
              <a:buNone/>
            </a:pPr>
            <a:r>
              <a:rPr lang="id-ID" altLang="en-US" sz="2100" dirty="0">
                <a:solidFill>
                  <a:srgbClr val="1F2328"/>
                </a:solidFill>
              </a:rPr>
              <a:t>Hari ini: </a:t>
            </a:r>
            <a:r>
              <a:rPr lang="id-ID" altLang="en-US" sz="2100" i="1" dirty="0">
                <a:solidFill>
                  <a:srgbClr val="1F2328"/>
                </a:solidFill>
              </a:rPr>
              <a:t>Singleton</a:t>
            </a:r>
            <a:r>
              <a:rPr lang="id-ID" altLang="en-US" sz="2100" dirty="0">
                <a:solidFill>
                  <a:srgbClr val="1F2328"/>
                </a:solidFill>
              </a:rPr>
              <a:t> dan </a:t>
            </a:r>
            <a:r>
              <a:rPr lang="id-ID" altLang="en-US" sz="2100" i="1" dirty="0">
                <a:solidFill>
                  <a:srgbClr val="1F2328"/>
                </a:solidFill>
              </a:rPr>
              <a:t>Factory</a:t>
            </a:r>
            <a:r>
              <a:rPr lang="id-ID" altLang="en-US" sz="2100" dirty="0">
                <a:solidFill>
                  <a:srgbClr val="1F2328"/>
                </a:solidFill>
              </a:rPr>
              <a:t> (</a:t>
            </a:r>
            <a:r>
              <a:rPr lang="id-ID" altLang="en-US" sz="2100" i="1" dirty="0">
                <a:solidFill>
                  <a:srgbClr val="1F2328"/>
                </a:solidFill>
              </a:rPr>
              <a:t>creational</a:t>
            </a:r>
            <a:r>
              <a:rPr lang="id-ID" altLang="en-US" sz="2100" dirty="0">
                <a:solidFill>
                  <a:srgbClr val="1F2328"/>
                </a:solidFill>
              </a:rPr>
              <a:t>), </a:t>
            </a:r>
            <a:r>
              <a:rPr lang="id-ID" altLang="en-US" sz="2100" i="1" dirty="0">
                <a:solidFill>
                  <a:srgbClr val="1F2328"/>
                </a:solidFill>
              </a:rPr>
              <a:t>Strategy</a:t>
            </a:r>
            <a:r>
              <a:rPr lang="id-ID" altLang="en-US" sz="2100" dirty="0">
                <a:solidFill>
                  <a:srgbClr val="1F2328"/>
                </a:solidFill>
              </a:rPr>
              <a:t> dan </a:t>
            </a:r>
            <a:r>
              <a:rPr lang="id-ID" altLang="en-US" sz="2100" i="1" dirty="0">
                <a:solidFill>
                  <a:srgbClr val="1F2328"/>
                </a:solidFill>
              </a:rPr>
              <a:t>Observer</a:t>
            </a:r>
            <a:r>
              <a:rPr lang="id-ID" altLang="en-US" sz="2100" dirty="0">
                <a:solidFill>
                  <a:srgbClr val="1F2328"/>
                </a:solidFill>
              </a:rPr>
              <a:t> (</a:t>
            </a:r>
            <a:r>
              <a:rPr lang="id-ID" altLang="en-US" sz="2100" i="1" dirty="0">
                <a:solidFill>
                  <a:srgbClr val="1F2328"/>
                </a:solidFill>
              </a:rPr>
              <a:t>behavioral</a:t>
            </a:r>
            <a:r>
              <a:rPr lang="id-ID" altLang="en-US" sz="2100" dirty="0">
                <a:solidFill>
                  <a:srgbClr val="1F2328"/>
                </a:solidFill>
              </a:rPr>
              <a:t>).</a:t>
            </a:r>
            <a:endParaRPr lang="id-ID" sz="2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2</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2</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i="1" dirty="0">
                <a:solidFill>
                  <a:srgbClr val="FFFFFF"/>
                </a:solidFill>
              </a:rPr>
              <a:t>Singleton</a:t>
            </a:r>
            <a:r>
              <a:rPr lang="id-ID" altLang="en-US" sz="4200" b="1" dirty="0">
                <a:solidFill>
                  <a:srgbClr val="FFFFFF"/>
                </a:solidFill>
              </a:rPr>
              <a:t>: Hanya Boleh Ada Satu</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Pola </a:t>
            </a:r>
            <a:r>
              <a:rPr lang="id-ID" altLang="en-US" sz="2200" i="1" dirty="0">
                <a:solidFill>
                  <a:srgbClr val="C9D7E8"/>
                </a:solidFill>
              </a:rPr>
              <a:t>creational</a:t>
            </a:r>
            <a:r>
              <a:rPr lang="id-ID" altLang="en-US" sz="2200" dirty="0">
                <a:solidFill>
                  <a:srgbClr val="C9D7E8"/>
                </a:solidFill>
              </a:rPr>
              <a:t> untuk objek yang memang hanya boleh ada satu di seluruh program.</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9A67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Satu Mesin Nomor Antrean</a:t>
            </a:r>
            <a:endParaRPr lang="id-ID" sz="3200" dirty="0"/>
          </a:p>
        </p:txBody>
      </p:sp>
      <p:sp>
        <p:nvSpPr>
          <p:cNvPr id="5" name="Shape 2"/>
          <p:cNvSpPr/>
          <p:nvPr/>
        </p:nvSpPr>
        <p:spPr>
          <a:xfrm>
            <a:off x="548640" y="1628546"/>
            <a:ext cx="5074920" cy="4279392"/>
          </a:xfrm>
          <a:prstGeom prst="roundRect">
            <a:avLst>
              <a:gd name="adj" fmla="val 731"/>
            </a:avLst>
          </a:prstGeom>
          <a:solidFill>
            <a:srgbClr val="FFF8C5"/>
          </a:solidFill>
          <a:ln w="9525">
            <a:solidFill>
              <a:srgbClr val="D4A72C"/>
            </a:solidFill>
            <a:prstDash val="solid"/>
          </a:ln>
        </p:spPr>
      </p:sp>
      <p:sp>
        <p:nvSpPr>
          <p:cNvPr id="6" name="Shape 3"/>
          <p:cNvSpPr/>
          <p:nvPr/>
        </p:nvSpPr>
        <p:spPr>
          <a:xfrm>
            <a:off x="822960" y="1857146"/>
            <a:ext cx="457200" cy="457200"/>
          </a:xfrm>
          <a:prstGeom prst="ellipse">
            <a:avLst/>
          </a:prstGeom>
          <a:solidFill>
            <a:srgbClr val="9A6700"/>
          </a:solidFill>
          <a:ln/>
        </p:spPr>
      </p:sp>
      <p:pic>
        <p:nvPicPr>
          <p:cNvPr id="7" name="Image 1" descr="preencoded.png">    </p:cNvPr>
          <p:cNvPicPr>
            <a:picLocks noChangeAspect="1"/>
          </p:cNvPicPr>
          <p:nvPr/>
        </p:nvPicPr>
        <p:blipFill>
          <a:blip r:embed="rId2"/>
          <a:stretch>
            <a:fillRect/>
          </a:stretch>
        </p:blipFill>
        <p:spPr>
          <a:xfrm>
            <a:off x="923544" y="1957730"/>
            <a:ext cx="256032" cy="256032"/>
          </a:xfrm>
          <a:prstGeom prst="rect">
            <a:avLst/>
          </a:prstGeom>
        </p:spPr>
      </p:pic>
      <p:sp>
        <p:nvSpPr>
          <p:cNvPr id="8" name="Text 4"/>
          <p:cNvSpPr txBox="1"/>
          <p:nvPr/>
        </p:nvSpPr>
        <p:spPr>
          <a:xfrm>
            <a:off x="1417320" y="1902866"/>
            <a:ext cx="2743200" cy="365760"/>
          </a:xfrm>
          <a:prstGeom prst="rect">
            <a:avLst/>
          </a:prstGeom>
          <a:noFill/>
          <a:ln/>
        </p:spPr>
        <p:txBody>
          <a:bodyPr wrap="square" lIns="0" tIns="0" rIns="0" bIns="0" rtlCol="0" anchor="t"/>
          <a:lstStyle/>
          <a:p>
            <a:pPr indent="0" marL="0">
              <a:buNone/>
            </a:pPr>
            <a:r>
              <a:rPr lang="id-ID" altLang="en-US" sz="1600" b="1" dirty="0">
                <a:solidFill>
                  <a:srgbClr val="9A6700"/>
                </a:solidFill>
              </a:rPr>
              <a:t>Analogi</a:t>
            </a:r>
            <a:endParaRPr lang="id-ID" sz="1600" dirty="0"/>
          </a:p>
        </p:txBody>
      </p:sp>
      <p:sp>
        <p:nvSpPr>
          <p:cNvPr id="9" name="Shape 5"/>
          <p:cNvSpPr/>
          <p:nvPr/>
        </p:nvSpPr>
        <p:spPr>
          <a:xfrm>
            <a:off x="923544" y="2568092"/>
            <a:ext cx="137160" cy="137160"/>
          </a:xfrm>
          <a:prstGeom prst="roundRect">
            <a:avLst>
              <a:gd name="adj" fmla="val 166667"/>
            </a:avLst>
          </a:prstGeom>
          <a:solidFill>
            <a:srgbClr val="9A6700"/>
          </a:solidFill>
          <a:ln/>
        </p:spPr>
      </p:sp>
      <p:sp>
        <p:nvSpPr>
          <p:cNvPr id="10" name="Text 6"/>
          <p:cNvSpPr txBox="1"/>
          <p:nvPr/>
        </p:nvSpPr>
        <p:spPr>
          <a:xfrm>
            <a:off x="1252728" y="2497226"/>
            <a:ext cx="3867912" cy="1161288"/>
          </a:xfrm>
          <a:prstGeom prst="rect">
            <a:avLst/>
          </a:prstGeom>
          <a:noFill/>
          <a:ln/>
        </p:spPr>
        <p:txBody>
          <a:bodyPr wrap="square" lIns="0" tIns="0" rIns="0" bIns="0" rtlCol="0" anchor="t"/>
          <a:lstStyle/>
          <a:p>
            <a:pPr indent="0" marL="0">
              <a:buNone/>
            </a:pPr>
            <a:r>
              <a:rPr lang="id-ID" altLang="en-US" sz="1800" b="1" dirty="0">
                <a:solidFill>
                  <a:srgbClr val="1F2328"/>
                </a:solidFill>
              </a:rPr>
              <a:t>Masalah:</a:t>
            </a:r>
            <a:r>
              <a:rPr lang="id-ID" altLang="en-US" sz="1800" dirty="0">
                <a:solidFill>
                  <a:srgbClr val="1F2328"/>
                </a:solidFill>
              </a:rPr>
              <a:t> pajak diubah menjadi 11%, tetapi hanya sampai ke salah satu objek pengaturan. Struk tertulis </a:t>
            </a:r>
            <a:r>
              <a:rPr lang="id-ID" altLang="en-US" sz="1800" dirty="0">
                <a:solidFill>
                  <a:srgbClr val="1F2328"/>
                </a:solidFill>
                <a:latin typeface="Consolas" pitchFamily="34" charset="0"/>
                <a:ea typeface="Consolas" pitchFamily="34" charset="-122"/>
                <a:cs typeface="Consolas" pitchFamily="34" charset="-120"/>
              </a:rPr>
              <a:t>Pajak 10%</a:t>
            </a:r>
            <a:r>
              <a:rPr lang="id-ID" altLang="en-US" sz="1800" dirty="0">
                <a:solidFill>
                  <a:srgbClr val="1F2328"/>
                </a:solidFill>
              </a:rPr>
              <a:t>, padahal hitungannya memakai 11%.</a:t>
            </a:r>
            <a:endParaRPr lang="id-ID" sz="1800" dirty="0"/>
          </a:p>
        </p:txBody>
      </p:sp>
      <p:sp>
        <p:nvSpPr>
          <p:cNvPr id="11" name="Shape 7"/>
          <p:cNvSpPr/>
          <p:nvPr/>
        </p:nvSpPr>
        <p:spPr>
          <a:xfrm>
            <a:off x="923544" y="3903116"/>
            <a:ext cx="137160" cy="137160"/>
          </a:xfrm>
          <a:prstGeom prst="roundRect">
            <a:avLst>
              <a:gd name="adj" fmla="val 166667"/>
            </a:avLst>
          </a:prstGeom>
          <a:solidFill>
            <a:srgbClr val="9A6700"/>
          </a:solidFill>
          <a:ln/>
        </p:spPr>
      </p:sp>
      <p:sp>
        <p:nvSpPr>
          <p:cNvPr id="12" name="Text 8"/>
          <p:cNvSpPr txBox="1"/>
          <p:nvPr/>
        </p:nvSpPr>
        <p:spPr>
          <a:xfrm>
            <a:off x="1252728" y="3832250"/>
            <a:ext cx="3867912" cy="882396"/>
          </a:xfrm>
          <a:prstGeom prst="rect">
            <a:avLst/>
          </a:prstGeom>
          <a:noFill/>
          <a:ln/>
        </p:spPr>
        <p:txBody>
          <a:bodyPr wrap="square" lIns="0" tIns="0" rIns="0" bIns="0" rtlCol="0" anchor="t"/>
          <a:lstStyle/>
          <a:p>
            <a:pPr indent="0" marL="0">
              <a:buNone/>
            </a:pPr>
            <a:r>
              <a:rPr lang="id-ID" altLang="en-US" sz="1800" dirty="0">
                <a:solidFill>
                  <a:srgbClr val="1F2328"/>
                </a:solidFill>
              </a:rPr>
              <a:t>Jika Pintu Utara dan Pintu Selatan punya mesin antrean sendiri, bisa ada dua orang memegang nomor </a:t>
            </a:r>
            <a:r>
              <a:rPr lang="id-ID" altLang="en-US" sz="1800" b="1" dirty="0">
                <a:solidFill>
                  <a:srgbClr val="1F2328"/>
                </a:solidFill>
              </a:rPr>
              <a:t>A005</a:t>
            </a:r>
            <a:r>
              <a:rPr lang="id-ID" altLang="en-US" sz="1800" dirty="0">
                <a:solidFill>
                  <a:srgbClr val="1F2328"/>
                </a:solidFill>
              </a:rPr>
              <a:t>.</a:t>
            </a:r>
            <a:endParaRPr lang="id-ID" sz="1800" dirty="0"/>
          </a:p>
        </p:txBody>
      </p:sp>
      <p:sp>
        <p:nvSpPr>
          <p:cNvPr id="13" name="Shape 9"/>
          <p:cNvSpPr/>
          <p:nvPr/>
        </p:nvSpPr>
        <p:spPr>
          <a:xfrm>
            <a:off x="923544" y="4959248"/>
            <a:ext cx="137160" cy="137160"/>
          </a:xfrm>
          <a:prstGeom prst="roundRect">
            <a:avLst>
              <a:gd name="adj" fmla="val 166667"/>
            </a:avLst>
          </a:prstGeom>
          <a:solidFill>
            <a:srgbClr val="9A6700"/>
          </a:solidFill>
          <a:ln/>
        </p:spPr>
      </p:sp>
      <p:sp>
        <p:nvSpPr>
          <p:cNvPr id="14" name="Text 10"/>
          <p:cNvSpPr txBox="1"/>
          <p:nvPr/>
        </p:nvSpPr>
        <p:spPr>
          <a:xfrm>
            <a:off x="1252728" y="4888382"/>
            <a:ext cx="3867912" cy="882396"/>
          </a:xfrm>
          <a:prstGeom prst="rect">
            <a:avLst/>
          </a:prstGeom>
          <a:noFill/>
          <a:ln/>
        </p:spPr>
        <p:txBody>
          <a:bodyPr wrap="square" lIns="0" tIns="0" rIns="0" bIns="0" rtlCol="0" anchor="t"/>
          <a:lstStyle/>
          <a:p>
            <a:pPr indent="0" marL="0">
              <a:buNone/>
            </a:pPr>
            <a:r>
              <a:rPr lang="id-ID" altLang="en-US" sz="1800" b="1" i="1" dirty="0">
                <a:solidFill>
                  <a:srgbClr val="1F2328"/>
                </a:solidFill>
              </a:rPr>
              <a:t>Singleton</a:t>
            </a:r>
            <a:r>
              <a:rPr lang="id-ID" altLang="en-US" sz="1800" dirty="0">
                <a:solidFill>
                  <a:srgbClr val="1F2328"/>
                </a:solidFill>
              </a:rPr>
              <a:t> menjamin sebuah kelas </a:t>
            </a:r>
            <a:r>
              <a:rPr lang="id-ID" altLang="en-US" sz="1800" b="1" dirty="0">
                <a:solidFill>
                  <a:srgbClr val="1F2328"/>
                </a:solidFill>
              </a:rPr>
              <a:t>hanya punya satu objek</a:t>
            </a:r>
            <a:r>
              <a:rPr lang="id-ID" altLang="en-US" sz="1800" dirty="0">
                <a:solidFill>
                  <a:srgbClr val="1F2328"/>
                </a:solidFill>
              </a:rPr>
              <a:t> dan menyediakan </a:t>
            </a:r>
            <a:r>
              <a:rPr lang="id-ID" altLang="en-US" sz="1800" b="1" dirty="0">
                <a:solidFill>
                  <a:srgbClr val="1F2328"/>
                </a:solidFill>
              </a:rPr>
              <a:t>satu pintu akses</a:t>
            </a:r>
            <a:r>
              <a:rPr lang="id-ID" altLang="en-US" sz="1800" dirty="0">
                <a:solidFill>
                  <a:srgbClr val="1F2328"/>
                </a:solidFill>
              </a:rPr>
              <a:t> ke objek itu.</a:t>
            </a:r>
            <a:endParaRPr lang="id-ID"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43600" y="2317902"/>
          <a:ext cx="5699455" cy="914400"/>
        </p:xfrm>
        <a:graphic>
          <a:graphicData uri="http://schemas.openxmlformats.org/drawingml/2006/table">
            <a:tbl>
              <a:tblPr/>
              <a:tblGrid>
                <a:gridCol w="2625769"/>
                <a:gridCol w="3073686"/>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Kantor pelayanan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Pola </a:t>
                      </a:r>
                      <a:r>
                        <a:rPr lang="id-ID" altLang="en-US" sz="2000" b="1" i="1" dirty="0">
                          <a:solidFill>
                            <a:srgbClr val="FFFFFF"/>
                          </a:solidFill>
                          <a:latin typeface="Calibri" pitchFamily="34" charset="0"/>
                          <a:ea typeface="Calibri" pitchFamily="34" charset="-122"/>
                          <a:cs typeface="Calibri" pitchFamily="34" charset="-120"/>
                        </a:rPr>
                        <a:t>Singleton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Satu mesin untuk semua pintu</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Satu objek untuk seluruh program</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Semua tombol terhubung ke mesin itu</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Satu pintu akses: </a:t>
                      </a:r>
                      <a:r>
                        <a:rPr lang="id-ID" altLang="en-US" sz="2000" dirty="0">
                          <a:solidFill>
                            <a:srgbClr val="0A3069"/>
                          </a:solidFill>
                          <a:latin typeface="Consolas" pitchFamily="34" charset="0"/>
                          <a:ea typeface="Consolas" pitchFamily="34" charset="-122"/>
                          <a:cs typeface="Consolas" pitchFamily="34" charset="-120"/>
                        </a:rPr>
                        <a:t>get_instance()</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Nomor antrean tidak pernah kembar</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Semua bagian membaca data yang sama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2800" b="1" dirty="0">
                <a:solidFill>
                  <a:srgbClr val="0A3069"/>
                </a:solidFill>
                <a:latin typeface="Consolas" pitchFamily="34" charset="0"/>
                <a:ea typeface="Consolas" pitchFamily="34" charset="-122"/>
                <a:cs typeface="Consolas" pitchFamily="34" charset="-120"/>
              </a:rPr>
              <a:t>PengaturanKedai</a:t>
            </a:r>
            <a:r>
              <a:rPr lang="id-ID" altLang="en-US" sz="2800" b="1" dirty="0">
                <a:solidFill>
                  <a:srgbClr val="0A3069"/>
                </a:solidFill>
              </a:rPr>
              <a:t>:</a:t>
            </a:r>
            <a:endParaRPr lang="id-ID" sz="2800" dirty="0"/>
          </a:p>
          <a:p>
            <a:pPr algn="l" indent="0" marL="0">
              <a:buNone/>
            </a:pPr>
            <a:r>
              <a:rPr lang="id-ID" altLang="en-US" sz="2800" b="1" dirty="0">
                <a:solidFill>
                  <a:srgbClr val="0A3069"/>
                </a:solidFill>
              </a:rPr>
              <a:t>Pengaturan yang Hanya Ada Satu</a:t>
            </a:r>
            <a:endParaRPr lang="id-ID" sz="28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1774637"/>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Java menutup konstruktor dengan </a:t>
            </a:r>
            <a:r>
              <a:rPr lang="id-ID" altLang="en-US" sz="1800" dirty="0">
                <a:solidFill>
                  <a:srgbClr val="0A3069"/>
                </a:solidFill>
                <a:latin typeface="Consolas" pitchFamily="34" charset="0"/>
                <a:ea typeface="Consolas" pitchFamily="34" charset="-122"/>
                <a:cs typeface="Consolas" pitchFamily="34" charset="-120"/>
              </a:rPr>
              <a:t>private</a:t>
            </a:r>
            <a:r>
              <a:rPr lang="id-ID" altLang="en-US" sz="1800" dirty="0">
                <a:solidFill>
                  <a:srgbClr val="57606A"/>
                </a:solidFill>
              </a:rPr>
              <a:t>. Python memasang </a:t>
            </a:r>
            <a:r>
              <a:rPr lang="id-ID" altLang="en-US" sz="1800" b="1" dirty="0">
                <a:solidFill>
                  <a:srgbClr val="57606A"/>
                </a:solidFill>
              </a:rPr>
              <a:t>penjaga</a:t>
            </a:r>
            <a:r>
              <a:rPr lang="id-ID" altLang="en-US" sz="1800" dirty="0">
                <a:solidFill>
                  <a:srgbClr val="57606A"/>
                </a:solidFill>
              </a:rPr>
              <a:t> di </a:t>
            </a:r>
            <a:r>
              <a:rPr lang="id-ID" altLang="en-US" sz="1800" dirty="0">
                <a:solidFill>
                  <a:srgbClr val="0A3069"/>
                </a:solidFill>
                <a:latin typeface="Consolas" pitchFamily="34" charset="0"/>
                <a:ea typeface="Consolas" pitchFamily="34" charset="-122"/>
                <a:cs typeface="Consolas" pitchFamily="34" charset="-120"/>
              </a:rPr>
              <a:t>__init__</a:t>
            </a:r>
            <a:r>
              <a:rPr lang="id-ID" altLang="en-US" sz="1800" dirty="0">
                <a:solidFill>
                  <a:srgbClr val="57606A"/>
                </a:solidFill>
              </a:rPr>
              <a:t> yang menolak objek kedua.</a:t>
            </a:r>
            <a:endParaRPr lang="id-ID" sz="1800" dirty="0"/>
          </a:p>
        </p:txBody>
      </p:sp>
      <p:sp>
        <p:nvSpPr>
          <p:cNvPr id="8" name="Shape 5"/>
          <p:cNvSpPr/>
          <p:nvPr/>
        </p:nvSpPr>
        <p:spPr>
          <a:xfrm>
            <a:off x="548640" y="2208977"/>
            <a:ext cx="1051560" cy="329184"/>
          </a:xfrm>
          <a:prstGeom prst="roundRect">
            <a:avLst>
              <a:gd name="adj" fmla="val 138889"/>
            </a:avLst>
          </a:prstGeom>
          <a:solidFill>
            <a:srgbClr val="3572A5"/>
          </a:solidFill>
          <a:ln/>
        </p:spPr>
      </p:sp>
      <p:sp>
        <p:nvSpPr>
          <p:cNvPr id="9" name="Text 6"/>
          <p:cNvSpPr txBox="1"/>
          <p:nvPr/>
        </p:nvSpPr>
        <p:spPr>
          <a:xfrm>
            <a:off x="548640" y="2208977"/>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208977"/>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python/studi-kasus/pengaturan.py</a:t>
            </a:r>
            <a:endParaRPr lang="id-ID" sz="1100" dirty="0"/>
          </a:p>
        </p:txBody>
      </p:sp>
      <p:sp>
        <p:nvSpPr>
          <p:cNvPr id="11" name="Shape 8"/>
          <p:cNvSpPr/>
          <p:nvPr/>
        </p:nvSpPr>
        <p:spPr>
          <a:xfrm>
            <a:off x="548640" y="2629601"/>
            <a:ext cx="5432908" cy="3013456"/>
          </a:xfrm>
          <a:prstGeom prst="roundRect">
            <a:avLst>
              <a:gd name="adj" fmla="val 921"/>
            </a:avLst>
          </a:prstGeom>
          <a:solidFill>
            <a:srgbClr val="F6F8FA"/>
          </a:solidFill>
          <a:ln w="9525">
            <a:solidFill>
              <a:srgbClr val="D0D7DE"/>
            </a:solidFill>
            <a:prstDash val="solid"/>
          </a:ln>
        </p:spPr>
      </p:sp>
      <p:sp>
        <p:nvSpPr>
          <p:cNvPr id="12" name="Text 9"/>
          <p:cNvSpPr txBox="1"/>
          <p:nvPr/>
        </p:nvSpPr>
        <p:spPr>
          <a:xfrm>
            <a:off x="658368" y="2721041"/>
            <a:ext cx="5213452" cy="2830576"/>
          </a:xfrm>
          <a:prstGeom prst="rect">
            <a:avLst/>
          </a:prstGeom>
          <a:noFill/>
          <a:ln/>
        </p:spPr>
        <p:txBody>
          <a:bodyPr wrap="square" lIns="0" tIns="0" rIns="0" bIns="0" rtlCol="0" anchor="t"/>
          <a:lstStyle/>
          <a:p>
            <a:pPr indent="0" marL="0">
              <a:buNone/>
            </a:pPr>
            <a:r>
              <a:rPr lang="en-US" altLang="en-US" sz="1150" dirty="0">
                <a:solidFill>
                  <a:srgbClr val="CF222E"/>
                </a:solidFill>
                <a:latin typeface="Consolas" pitchFamily="34" charset="0"/>
                <a:ea typeface="Consolas" pitchFamily="34" charset="-122"/>
                <a:cs typeface="Consolas" pitchFamily="34" charset="-120"/>
              </a:rPr>
              <a:t>class</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953800"/>
                </a:solidFill>
                <a:latin typeface="Consolas" pitchFamily="34" charset="0"/>
                <a:ea typeface="Consolas" pitchFamily="34" charset="-122"/>
                <a:cs typeface="Consolas" pitchFamily="34" charset="-120"/>
              </a:rPr>
              <a:t>PengaturanKedai</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_instance = </a:t>
            </a:r>
            <a:r>
              <a:rPr lang="en-US" altLang="en-US" sz="1150" dirty="0">
                <a:solidFill>
                  <a:srgbClr val="CF222E"/>
                </a:solidFill>
                <a:latin typeface="Consolas" pitchFamily="34" charset="0"/>
                <a:ea typeface="Consolas" pitchFamily="34" charset="-122"/>
                <a:cs typeface="Consolas" pitchFamily="34" charset="-120"/>
              </a:rPr>
              <a:t>None</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def</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__init__</a:t>
            </a:r>
            <a:r>
              <a:rPr lang="en-US" altLang="en-US" sz="1150" dirty="0">
                <a:solidFill>
                  <a:srgbClr val="1F2328"/>
                </a:solidFill>
                <a:latin typeface="Consolas" pitchFamily="34" charset="0"/>
                <a:ea typeface="Consolas" pitchFamily="34" charset="-122"/>
                <a:cs typeface="Consolas" pitchFamily="34" charset="-120"/>
              </a:rPr>
              <a:t>(</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if</a:t>
            </a:r>
            <a:r>
              <a:rPr lang="en-US" altLang="en-US" sz="1150" dirty="0">
                <a:solidFill>
                  <a:srgbClr val="1F2328"/>
                </a:solidFill>
                <a:latin typeface="Consolas" pitchFamily="34" charset="0"/>
                <a:ea typeface="Consolas" pitchFamily="34" charset="-122"/>
                <a:cs typeface="Consolas" pitchFamily="34" charset="-120"/>
              </a:rPr>
              <a:t> PengaturanKedai._instance is not </a:t>
            </a:r>
            <a:r>
              <a:rPr lang="en-US" altLang="en-US" sz="1150" dirty="0">
                <a:solidFill>
                  <a:srgbClr val="CF222E"/>
                </a:solidFill>
                <a:latin typeface="Consolas" pitchFamily="34" charset="0"/>
                <a:ea typeface="Consolas" pitchFamily="34" charset="-122"/>
                <a:cs typeface="Consolas" pitchFamily="34" charset="-120"/>
              </a:rPr>
              <a:t>None</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raise RuntimeError: objek kedua ditolak</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._nama_kedai = </a:t>
            </a:r>
            <a:r>
              <a:rPr lang="en-US" altLang="en-US" sz="1150" dirty="0">
                <a:solidFill>
                  <a:srgbClr val="0A3069"/>
                </a:solidFill>
                <a:latin typeface="Consolas" pitchFamily="34" charset="0"/>
                <a:ea typeface="Consolas" pitchFamily="34" charset="-122"/>
                <a:cs typeface="Consolas" pitchFamily="34" charset="-120"/>
              </a:rPr>
              <a:t>"KedaiKita"</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._alamat = </a:t>
            </a:r>
            <a:r>
              <a:rPr lang="en-US" altLang="en-US" sz="1150" dirty="0">
                <a:solidFill>
                  <a:srgbClr val="0A3069"/>
                </a:solidFill>
                <a:latin typeface="Consolas" pitchFamily="34" charset="0"/>
                <a:ea typeface="Consolas" pitchFamily="34" charset="-122"/>
                <a:cs typeface="Consolas" pitchFamily="34" charset="-120"/>
              </a:rPr>
              <a:t>"Jl. Pramuka No. 10, Samarinda"</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._pajak_persen = </a:t>
            </a:r>
            <a:r>
              <a:rPr lang="en-US" altLang="en-US" sz="1150" dirty="0">
                <a:solidFill>
                  <a:srgbClr val="0550AE"/>
                </a:solidFill>
                <a:latin typeface="Consolas" pitchFamily="34" charset="0"/>
                <a:ea typeface="Consolas" pitchFamily="34" charset="-122"/>
                <a:cs typeface="Consolas" pitchFamily="34" charset="-120"/>
              </a:rPr>
              <a:t>10</a:t>
            </a:r>
            <a:endParaRPr lang="en-US" sz="1150" dirty="0"/>
          </a:p>
          <a:p>
            <a:pPr indent="0" marL="0">
              <a:buNone/>
            </a:pPr>
            <a:r>
              <a:rPr lang="en-US" altLang="en-US" sz="1150" dirty="0">
                <a:solidFill>
                  <a:srgbClr val="000000"/>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@classmethod</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def</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get_instance</a:t>
            </a:r>
            <a:r>
              <a:rPr lang="en-US" altLang="en-US" sz="1150" dirty="0">
                <a:solidFill>
                  <a:srgbClr val="1F2328"/>
                </a:solidFill>
                <a:latin typeface="Consolas" pitchFamily="34" charset="0"/>
                <a:ea typeface="Consolas" pitchFamily="34" charset="-122"/>
                <a:cs typeface="Consolas" pitchFamily="34" charset="-120"/>
              </a:rPr>
              <a:t>(</a:t>
            </a:r>
            <a:r>
              <a:rPr lang="en-US" altLang="en-US" sz="1150" dirty="0">
                <a:solidFill>
                  <a:srgbClr val="0550AE"/>
                </a:solidFill>
                <a:latin typeface="Consolas" pitchFamily="34" charset="0"/>
                <a:ea typeface="Consolas" pitchFamily="34" charset="-122"/>
                <a:cs typeface="Consolas" pitchFamily="34" charset="-120"/>
              </a:rPr>
              <a:t>cls</a:t>
            </a:r>
            <a:r>
              <a:rPr lang="en-US" altLang="en-US" sz="1150" dirty="0">
                <a:solidFill>
                  <a:srgbClr val="1F2328"/>
                </a:solidFill>
                <a:latin typeface="Consolas" pitchFamily="34" charset="0"/>
                <a:ea typeface="Consolas" pitchFamily="34" charset="-122"/>
                <a:cs typeface="Consolas" pitchFamily="34" charset="-120"/>
              </a:rPr>
              <a:t>) -&gt; </a:t>
            </a:r>
            <a:r>
              <a:rPr lang="en-US" altLang="en-US" sz="1150" dirty="0">
                <a:solidFill>
                  <a:srgbClr val="0A3069"/>
                </a:solidFill>
                <a:latin typeface="Consolas" pitchFamily="34" charset="0"/>
                <a:ea typeface="Consolas" pitchFamily="34" charset="-122"/>
                <a:cs typeface="Consolas" pitchFamily="34" charset="-120"/>
              </a:rPr>
              <a:t>"PengaturanKedai"</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if</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cls</a:t>
            </a:r>
            <a:r>
              <a:rPr lang="en-US" altLang="en-US" sz="1150" dirty="0">
                <a:solidFill>
                  <a:srgbClr val="1F2328"/>
                </a:solidFill>
                <a:latin typeface="Consolas" pitchFamily="34" charset="0"/>
                <a:ea typeface="Consolas" pitchFamily="34" charset="-122"/>
                <a:cs typeface="Consolas" pitchFamily="34" charset="-120"/>
              </a:rPr>
              <a:t>._instance is </a:t>
            </a:r>
            <a:r>
              <a:rPr lang="en-US" altLang="en-US" sz="1150" dirty="0">
                <a:solidFill>
                  <a:srgbClr val="CF222E"/>
                </a:solidFill>
                <a:latin typeface="Consolas" pitchFamily="34" charset="0"/>
                <a:ea typeface="Consolas" pitchFamily="34" charset="-122"/>
                <a:cs typeface="Consolas" pitchFamily="34" charset="-120"/>
              </a:rPr>
              <a:t>None</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cls</a:t>
            </a:r>
            <a:r>
              <a:rPr lang="en-US" altLang="en-US" sz="1150" dirty="0">
                <a:solidFill>
                  <a:srgbClr val="1F2328"/>
                </a:solidFill>
                <a:latin typeface="Consolas" pitchFamily="34" charset="0"/>
                <a:ea typeface="Consolas" pitchFamily="34" charset="-122"/>
                <a:cs typeface="Consolas" pitchFamily="34" charset="-120"/>
              </a:rPr>
              <a:t>._instance = </a:t>
            </a:r>
            <a:r>
              <a:rPr lang="en-US" altLang="en-US" sz="1150" dirty="0">
                <a:solidFill>
                  <a:srgbClr val="0550AE"/>
                </a:solidFill>
                <a:latin typeface="Consolas" pitchFamily="34" charset="0"/>
                <a:ea typeface="Consolas" pitchFamily="34" charset="-122"/>
                <a:cs typeface="Consolas" pitchFamily="34" charset="-120"/>
              </a:rPr>
              <a:t>cls</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return</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cls</a:t>
            </a:r>
            <a:r>
              <a:rPr lang="en-US" altLang="en-US" sz="1150" dirty="0">
                <a:solidFill>
                  <a:srgbClr val="1F2328"/>
                </a:solidFill>
                <a:latin typeface="Consolas" pitchFamily="34" charset="0"/>
                <a:ea typeface="Consolas" pitchFamily="34" charset="-122"/>
                <a:cs typeface="Consolas" pitchFamily="34" charset="-120"/>
              </a:rPr>
              <a:t>._instance</a:t>
            </a:r>
            <a:endParaRPr lang="en-US" sz="1150" dirty="0"/>
          </a:p>
        </p:txBody>
      </p:sp>
      <p:sp>
        <p:nvSpPr>
          <p:cNvPr id="13" name="Shape 10"/>
          <p:cNvSpPr/>
          <p:nvPr/>
        </p:nvSpPr>
        <p:spPr>
          <a:xfrm>
            <a:off x="6210148" y="2208977"/>
            <a:ext cx="1051560" cy="329184"/>
          </a:xfrm>
          <a:prstGeom prst="roundRect">
            <a:avLst>
              <a:gd name="adj" fmla="val 138889"/>
            </a:avLst>
          </a:prstGeom>
          <a:solidFill>
            <a:srgbClr val="B07219"/>
          </a:solidFill>
          <a:ln/>
        </p:spPr>
      </p:sp>
      <p:sp>
        <p:nvSpPr>
          <p:cNvPr id="14" name="Text 11"/>
          <p:cNvSpPr txBox="1"/>
          <p:nvPr/>
        </p:nvSpPr>
        <p:spPr>
          <a:xfrm>
            <a:off x="6210148" y="2208977"/>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208977"/>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java/studi-kasus/PengaturanKedai.java</a:t>
            </a:r>
            <a:endParaRPr lang="id-ID" sz="1100" dirty="0"/>
          </a:p>
        </p:txBody>
      </p:sp>
      <p:sp>
        <p:nvSpPr>
          <p:cNvPr id="16" name="Shape 13"/>
          <p:cNvSpPr/>
          <p:nvPr/>
        </p:nvSpPr>
        <p:spPr>
          <a:xfrm>
            <a:off x="6210148" y="2629601"/>
            <a:ext cx="5432908" cy="3013456"/>
          </a:xfrm>
          <a:prstGeom prst="roundRect">
            <a:avLst>
              <a:gd name="adj" fmla="val 921"/>
            </a:avLst>
          </a:prstGeom>
          <a:solidFill>
            <a:srgbClr val="F6F8FA"/>
          </a:solidFill>
          <a:ln w="9525">
            <a:solidFill>
              <a:srgbClr val="D0D7DE"/>
            </a:solidFill>
            <a:prstDash val="solid"/>
          </a:ln>
        </p:spPr>
      </p:sp>
      <p:sp>
        <p:nvSpPr>
          <p:cNvPr id="17" name="Text 14"/>
          <p:cNvSpPr txBox="1"/>
          <p:nvPr/>
        </p:nvSpPr>
        <p:spPr>
          <a:xfrm>
            <a:off x="6319876" y="2721041"/>
            <a:ext cx="5213452" cy="2830576"/>
          </a:xfrm>
          <a:prstGeom prst="rect">
            <a:avLst/>
          </a:prstGeom>
          <a:noFill/>
          <a:ln/>
        </p:spPr>
        <p:txBody>
          <a:bodyPr wrap="square" lIns="0" tIns="0" rIns="0" bIns="0" rtlCol="0" anchor="t"/>
          <a:lstStyle/>
          <a:p>
            <a:pPr indent="0" marL="0">
              <a:buNone/>
            </a:pPr>
            <a:r>
              <a:rPr lang="en-US" altLang="en-US" sz="1150" dirty="0">
                <a:solidFill>
                  <a:srgbClr val="CF222E"/>
                </a:solidFill>
                <a:latin typeface="Consolas" pitchFamily="34" charset="0"/>
                <a:ea typeface="Consolas" pitchFamily="34" charset="-122"/>
                <a:cs typeface="Consolas" pitchFamily="34" charset="-120"/>
              </a:rPr>
              <a:t>public</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class</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953800"/>
                </a:solidFill>
                <a:latin typeface="Consolas" pitchFamily="34" charset="0"/>
                <a:ea typeface="Consolas" pitchFamily="34" charset="-122"/>
                <a:cs typeface="Consolas" pitchFamily="34" charset="-120"/>
              </a:rPr>
              <a:t>PengaturanKedai</a:t>
            </a: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private</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static</a:t>
            </a:r>
            <a:r>
              <a:rPr lang="en-US" altLang="en-US" sz="1150" dirty="0">
                <a:solidFill>
                  <a:srgbClr val="1F2328"/>
                </a:solidFill>
                <a:latin typeface="Consolas" pitchFamily="34" charset="0"/>
                <a:ea typeface="Consolas" pitchFamily="34" charset="-122"/>
                <a:cs typeface="Consolas" pitchFamily="34" charset="-120"/>
              </a:rPr>
              <a:t> PengaturanKedai instance = </a:t>
            </a:r>
            <a:r>
              <a:rPr lang="en-US" altLang="en-US" sz="1150" dirty="0">
                <a:solidFill>
                  <a:srgbClr val="CF222E"/>
                </a:solidFill>
                <a:latin typeface="Consolas" pitchFamily="34" charset="0"/>
                <a:ea typeface="Consolas" pitchFamily="34" charset="-122"/>
                <a:cs typeface="Consolas" pitchFamily="34" charset="-120"/>
              </a:rPr>
              <a:t>null</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private</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PengaturanKedai</a:t>
            </a: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this</a:t>
            </a:r>
            <a:r>
              <a:rPr lang="en-US" altLang="en-US" sz="1150" dirty="0">
                <a:solidFill>
                  <a:srgbClr val="1F2328"/>
                </a:solidFill>
                <a:latin typeface="Consolas" pitchFamily="34" charset="0"/>
                <a:ea typeface="Consolas" pitchFamily="34" charset="-122"/>
                <a:cs typeface="Consolas" pitchFamily="34" charset="-120"/>
              </a:rPr>
              <a:t>.namaKedai = </a:t>
            </a:r>
            <a:r>
              <a:rPr lang="en-US" altLang="en-US" sz="1150" dirty="0">
                <a:solidFill>
                  <a:srgbClr val="0A3069"/>
                </a:solidFill>
                <a:latin typeface="Consolas" pitchFamily="34" charset="0"/>
                <a:ea typeface="Consolas" pitchFamily="34" charset="-122"/>
                <a:cs typeface="Consolas" pitchFamily="34" charset="-120"/>
              </a:rPr>
              <a:t>"KedaiKita"</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this</a:t>
            </a:r>
            <a:r>
              <a:rPr lang="en-US" altLang="en-US" sz="1150" dirty="0">
                <a:solidFill>
                  <a:srgbClr val="1F2328"/>
                </a:solidFill>
                <a:latin typeface="Consolas" pitchFamily="34" charset="0"/>
                <a:ea typeface="Consolas" pitchFamily="34" charset="-122"/>
                <a:cs typeface="Consolas" pitchFamily="34" charset="-120"/>
              </a:rPr>
              <a:t>.alamat = </a:t>
            </a:r>
            <a:r>
              <a:rPr lang="en-US" altLang="en-US" sz="1150" dirty="0">
                <a:solidFill>
                  <a:srgbClr val="0A3069"/>
                </a:solidFill>
                <a:latin typeface="Consolas" pitchFamily="34" charset="0"/>
                <a:ea typeface="Consolas" pitchFamily="34" charset="-122"/>
                <a:cs typeface="Consolas" pitchFamily="34" charset="-120"/>
              </a:rPr>
              <a:t>"Jl. Pramuka No. 10, Samarinda"</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this</a:t>
            </a:r>
            <a:r>
              <a:rPr lang="en-US" altLang="en-US" sz="1150" dirty="0">
                <a:solidFill>
                  <a:srgbClr val="1F2328"/>
                </a:solidFill>
                <a:latin typeface="Consolas" pitchFamily="34" charset="0"/>
                <a:ea typeface="Consolas" pitchFamily="34" charset="-122"/>
                <a:cs typeface="Consolas" pitchFamily="34" charset="-120"/>
              </a:rPr>
              <a:t>.pajakPersen = </a:t>
            </a:r>
            <a:r>
              <a:rPr lang="en-US" altLang="en-US" sz="1150" dirty="0">
                <a:solidFill>
                  <a:srgbClr val="0550AE"/>
                </a:solidFill>
                <a:latin typeface="Consolas" pitchFamily="34" charset="0"/>
                <a:ea typeface="Consolas" pitchFamily="34" charset="-122"/>
                <a:cs typeface="Consolas" pitchFamily="34" charset="-120"/>
              </a:rPr>
              <a:t>10</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public</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static</a:t>
            </a:r>
            <a:r>
              <a:rPr lang="en-US" altLang="en-US" sz="1150" dirty="0">
                <a:solidFill>
                  <a:srgbClr val="1F2328"/>
                </a:solidFill>
                <a:latin typeface="Consolas" pitchFamily="34" charset="0"/>
                <a:ea typeface="Consolas" pitchFamily="34" charset="-122"/>
                <a:cs typeface="Consolas" pitchFamily="34" charset="-120"/>
              </a:rPr>
              <a:t> PengaturanKedai </a:t>
            </a:r>
            <a:r>
              <a:rPr lang="en-US" altLang="en-US" sz="1150" dirty="0">
                <a:solidFill>
                  <a:srgbClr val="8250DF"/>
                </a:solidFill>
                <a:latin typeface="Consolas" pitchFamily="34" charset="0"/>
                <a:ea typeface="Consolas" pitchFamily="34" charset="-122"/>
                <a:cs typeface="Consolas" pitchFamily="34" charset="-120"/>
              </a:rPr>
              <a:t>getInstance</a:t>
            </a: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if</a:t>
            </a:r>
            <a:r>
              <a:rPr lang="en-US" altLang="en-US" sz="1150" dirty="0">
                <a:solidFill>
                  <a:srgbClr val="1F2328"/>
                </a:solidFill>
                <a:latin typeface="Consolas" pitchFamily="34" charset="0"/>
                <a:ea typeface="Consolas" pitchFamily="34" charset="-122"/>
                <a:cs typeface="Consolas" pitchFamily="34" charset="-120"/>
              </a:rPr>
              <a:t> (instance == </a:t>
            </a:r>
            <a:r>
              <a:rPr lang="en-US" altLang="en-US" sz="1150" dirty="0">
                <a:solidFill>
                  <a:srgbClr val="CF222E"/>
                </a:solidFill>
                <a:latin typeface="Consolas" pitchFamily="34" charset="0"/>
                <a:ea typeface="Consolas" pitchFamily="34" charset="-122"/>
                <a:cs typeface="Consolas" pitchFamily="34" charset="-120"/>
              </a:rPr>
              <a:t>null</a:t>
            </a: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instance = </a:t>
            </a:r>
            <a:r>
              <a:rPr lang="en-US" altLang="en-US" sz="1150" dirty="0">
                <a:solidFill>
                  <a:srgbClr val="CF222E"/>
                </a:solidFill>
                <a:latin typeface="Consolas" pitchFamily="34" charset="0"/>
                <a:ea typeface="Consolas" pitchFamily="34" charset="-122"/>
                <a:cs typeface="Consolas" pitchFamily="34" charset="-120"/>
              </a:rPr>
              <a:t>new</a:t>
            </a:r>
            <a:r>
              <a:rPr lang="en-US" altLang="en-US" sz="1150" dirty="0">
                <a:solidFill>
                  <a:srgbClr val="1F2328"/>
                </a:solidFill>
                <a:latin typeface="Consolas" pitchFamily="34" charset="0"/>
                <a:ea typeface="Consolas" pitchFamily="34" charset="-122"/>
                <a:cs typeface="Consolas" pitchFamily="34" charset="-120"/>
              </a:rPr>
              <a:t> PengaturanKedai();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return</a:t>
            </a:r>
            <a:r>
              <a:rPr lang="en-US" altLang="en-US" sz="1150" dirty="0">
                <a:solidFill>
                  <a:srgbClr val="1F2328"/>
                </a:solidFill>
                <a:latin typeface="Consolas" pitchFamily="34" charset="0"/>
                <a:ea typeface="Consolas" pitchFamily="34" charset="-122"/>
                <a:cs typeface="Consolas" pitchFamily="34" charset="-120"/>
              </a:rPr>
              <a:t> instance;</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a:t>
            </a:r>
            <a:endParaRPr lang="en-US" sz="11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Kelebihan dan Kekurangan </a:t>
            </a:r>
            <a:r>
              <a:rPr lang="id-ID" altLang="en-US" sz="3200" b="1" i="1" dirty="0">
                <a:solidFill>
                  <a:srgbClr val="0A3069"/>
                </a:solidFill>
              </a:rPr>
              <a:t>Singleton</a:t>
            </a:r>
            <a:endParaRPr lang="id-ID"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864949"/>
          <a:ext cx="11094415" cy="914400"/>
        </p:xfrm>
        <a:graphic>
          <a:graphicData uri="http://schemas.openxmlformats.org/drawingml/2006/table">
            <a:tbl>
              <a:tblPr/>
              <a:tblGrid>
                <a:gridCol w="5133202"/>
                <a:gridCol w="5961213"/>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Kelebihan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Kekurangan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Satu sumber kebenaran: semua bagian membaca data yang sama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i="1" dirty="0">
                          <a:solidFill>
                            <a:srgbClr val="1F2328"/>
                          </a:solidFill>
                          <a:latin typeface="Calibri" pitchFamily="34" charset="0"/>
                          <a:ea typeface="Calibri" pitchFamily="34" charset="-122"/>
                          <a:cs typeface="Calibri" pitchFamily="34" charset="-120"/>
                        </a:rPr>
                        <a:t>State</a:t>
                      </a:r>
                      <a:r>
                        <a:rPr lang="id-ID" altLang="en-US" sz="2200" dirty="0">
                          <a:solidFill>
                            <a:srgbClr val="1F2328"/>
                          </a:solidFill>
                          <a:latin typeface="Calibri" pitchFamily="34" charset="0"/>
                          <a:ea typeface="Calibri" pitchFamily="34" charset="-122"/>
                          <a:cs typeface="Calibri" pitchFamily="34" charset="-120"/>
                        </a:rPr>
                        <a:t> global: perubahan di satu tempat diam-⁠diam memengaruhi tempat lain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Objek bisa dibuat hanya saat dibutuhkan (</a:t>
                      </a:r>
                      <a:r>
                        <a:rPr lang="id-ID" altLang="en-US" sz="2200" i="1" dirty="0">
                          <a:solidFill>
                            <a:srgbClr val="1F2328"/>
                          </a:solidFill>
                          <a:latin typeface="Calibri" pitchFamily="34" charset="0"/>
                          <a:ea typeface="Calibri" pitchFamily="34" charset="-122"/>
                          <a:cs typeface="Calibri" pitchFamily="34" charset="-120"/>
                        </a:rPr>
                        <a:t>lazy</a:t>
                      </a:r>
                      <a:r>
                        <a:rPr lang="id-ID" altLang="en-US" sz="2200" dirty="0">
                          <a:solidFill>
                            <a:srgbClr val="1F2328"/>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Ketergantungannya tersembunyi: tidak terlihat dari parameter </a:t>
                      </a:r>
                      <a:r>
                        <a:rPr lang="id-ID" altLang="en-US" sz="2200" i="1" dirty="0">
                          <a:solidFill>
                            <a:srgbClr val="1F2328"/>
                          </a:solidFill>
                          <a:latin typeface="Calibri" pitchFamily="34" charset="0"/>
                          <a:ea typeface="Calibri" pitchFamily="34" charset="-122"/>
                          <a:cs typeface="Calibri" pitchFamily="34" charset="-120"/>
                        </a:rPr>
                        <a:t>method</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Mudah diakses tanpa mengoper objek ke mana-⁠mana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Sulit diuji: uji yang satu bisa mengubah hasil uji berikutnya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229433"/>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301854"/>
            <a:ext cx="184343" cy="184343"/>
          </a:xfrm>
          <a:prstGeom prst="rect">
            <a:avLst/>
          </a:prstGeom>
        </p:spPr>
      </p:pic>
      <p:sp>
        <p:nvSpPr>
          <p:cNvPr id="8" name="Text 3"/>
          <p:cNvSpPr txBox="1"/>
          <p:nvPr/>
        </p:nvSpPr>
        <p:spPr>
          <a:xfrm>
            <a:off x="1005840" y="5211145"/>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Jangan memakai </a:t>
            </a:r>
            <a:r>
              <a:rPr lang="id-ID" altLang="en-US" sz="1800" i="1" dirty="0">
                <a:solidFill>
                  <a:srgbClr val="57606A"/>
                </a:solidFill>
              </a:rPr>
              <a:t>Singleton</a:t>
            </a:r>
            <a:r>
              <a:rPr lang="id-ID" altLang="en-US" sz="1800" dirty="0">
                <a:solidFill>
                  <a:srgbClr val="57606A"/>
                </a:solidFill>
              </a:rPr>
              <a:t> hanya karena malas mengirim parameter. </a:t>
            </a:r>
            <a:r>
              <a:rPr lang="id-ID" altLang="en-US" sz="1800" i="1" dirty="0">
                <a:solidFill>
                  <a:srgbClr val="57606A"/>
                </a:solidFill>
              </a:rPr>
              <a:t>Dependency injection</a:t>
            </a:r>
            <a:r>
              <a:rPr lang="id-ID" altLang="en-US" sz="1800" dirty="0">
                <a:solidFill>
                  <a:srgbClr val="57606A"/>
                </a:solidFill>
              </a:rPr>
              <a:t> lebih mudah diuji.</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3</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3</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3800" b="1" i="1" dirty="0">
                <a:solidFill>
                  <a:srgbClr val="FFFFFF"/>
                </a:solidFill>
              </a:rPr>
              <a:t>Factory</a:t>
            </a:r>
            <a:r>
              <a:rPr lang="id-ID" altLang="en-US" sz="3800" b="1" dirty="0">
                <a:solidFill>
                  <a:srgbClr val="FFFFFF"/>
                </a:solidFill>
              </a:rPr>
              <a:t>: Serahkan Urusan Membuat Objek</a:t>
            </a:r>
            <a:endParaRPr lang="id-ID" sz="38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Pola </a:t>
            </a:r>
            <a:r>
              <a:rPr lang="id-ID" altLang="en-US" sz="2200" i="1" dirty="0">
                <a:solidFill>
                  <a:srgbClr val="C9D7E8"/>
                </a:solidFill>
              </a:rPr>
              <a:t>creational</a:t>
            </a:r>
            <a:r>
              <a:rPr lang="id-ID" altLang="en-US" sz="2200" dirty="0">
                <a:solidFill>
                  <a:srgbClr val="C9D7E8"/>
                </a:solidFill>
              </a:rPr>
              <a:t> kedua: pemanggil cukup menyebut </a:t>
            </a:r>
            <a:r>
              <a:rPr lang="id-ID" altLang="en-US" sz="2200" i="1" dirty="0">
                <a:solidFill>
                  <a:srgbClr val="C9D7E8"/>
                </a:solidFill>
              </a:rPr>
              <a:t>apa</a:t>
            </a:r>
            <a:r>
              <a:rPr lang="id-ID" altLang="en-US" sz="2200" dirty="0">
                <a:solidFill>
                  <a:srgbClr val="C9D7E8"/>
                </a:solidFill>
              </a:rPr>
              <a:t> yang diinginkan.</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9A67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Cukup Berkata “Nasi Goreng Satu”</a:t>
            </a:r>
            <a:endParaRPr lang="id-ID" sz="3200" dirty="0"/>
          </a:p>
        </p:txBody>
      </p:sp>
      <p:sp>
        <p:nvSpPr>
          <p:cNvPr id="5" name="Shape 2"/>
          <p:cNvSpPr/>
          <p:nvPr/>
        </p:nvSpPr>
        <p:spPr>
          <a:xfrm>
            <a:off x="548640" y="1511412"/>
            <a:ext cx="5074920" cy="4558284"/>
          </a:xfrm>
          <a:prstGeom prst="roundRect">
            <a:avLst>
              <a:gd name="adj" fmla="val 644"/>
            </a:avLst>
          </a:prstGeom>
          <a:solidFill>
            <a:srgbClr val="FFF8C5"/>
          </a:solidFill>
          <a:ln w="9525">
            <a:solidFill>
              <a:srgbClr val="D4A72C"/>
            </a:solidFill>
            <a:prstDash val="solid"/>
          </a:ln>
        </p:spPr>
      </p:sp>
      <p:sp>
        <p:nvSpPr>
          <p:cNvPr id="6" name="Shape 3"/>
          <p:cNvSpPr/>
          <p:nvPr/>
        </p:nvSpPr>
        <p:spPr>
          <a:xfrm>
            <a:off x="822960" y="1740012"/>
            <a:ext cx="457200" cy="457200"/>
          </a:xfrm>
          <a:prstGeom prst="ellipse">
            <a:avLst/>
          </a:prstGeom>
          <a:solidFill>
            <a:srgbClr val="9A6700"/>
          </a:solidFill>
          <a:ln/>
        </p:spPr>
      </p:sp>
      <p:pic>
        <p:nvPicPr>
          <p:cNvPr id="7" name="Image 1" descr="preencoded.png">    </p:cNvPr>
          <p:cNvPicPr>
            <a:picLocks noChangeAspect="1"/>
          </p:cNvPicPr>
          <p:nvPr/>
        </p:nvPicPr>
        <p:blipFill>
          <a:blip r:embed="rId2"/>
          <a:stretch>
            <a:fillRect/>
          </a:stretch>
        </p:blipFill>
        <p:spPr>
          <a:xfrm>
            <a:off x="923544" y="1840596"/>
            <a:ext cx="256032" cy="256032"/>
          </a:xfrm>
          <a:prstGeom prst="rect">
            <a:avLst/>
          </a:prstGeom>
        </p:spPr>
      </p:pic>
      <p:sp>
        <p:nvSpPr>
          <p:cNvPr id="8" name="Text 4"/>
          <p:cNvSpPr txBox="1"/>
          <p:nvPr/>
        </p:nvSpPr>
        <p:spPr>
          <a:xfrm>
            <a:off x="1417320" y="1785732"/>
            <a:ext cx="2743200" cy="365760"/>
          </a:xfrm>
          <a:prstGeom prst="rect">
            <a:avLst/>
          </a:prstGeom>
          <a:noFill/>
          <a:ln/>
        </p:spPr>
        <p:txBody>
          <a:bodyPr wrap="square" lIns="0" tIns="0" rIns="0" bIns="0" rtlCol="0" anchor="t"/>
          <a:lstStyle/>
          <a:p>
            <a:pPr indent="0" marL="0">
              <a:buNone/>
            </a:pPr>
            <a:r>
              <a:rPr lang="id-ID" altLang="en-US" sz="1600" b="1" dirty="0">
                <a:solidFill>
                  <a:srgbClr val="9A6700"/>
                </a:solidFill>
              </a:rPr>
              <a:t>Analogi</a:t>
            </a:r>
            <a:endParaRPr lang="id-ID" sz="1600" dirty="0"/>
          </a:p>
        </p:txBody>
      </p:sp>
      <p:sp>
        <p:nvSpPr>
          <p:cNvPr id="9" name="Shape 5"/>
          <p:cNvSpPr/>
          <p:nvPr/>
        </p:nvSpPr>
        <p:spPr>
          <a:xfrm>
            <a:off x="923544" y="2450958"/>
            <a:ext cx="137160" cy="137160"/>
          </a:xfrm>
          <a:prstGeom prst="roundRect">
            <a:avLst>
              <a:gd name="adj" fmla="val 166667"/>
            </a:avLst>
          </a:prstGeom>
          <a:solidFill>
            <a:srgbClr val="9A6700"/>
          </a:solidFill>
          <a:ln/>
        </p:spPr>
      </p:sp>
      <p:sp>
        <p:nvSpPr>
          <p:cNvPr id="10" name="Text 6"/>
          <p:cNvSpPr txBox="1"/>
          <p:nvPr/>
        </p:nvSpPr>
        <p:spPr>
          <a:xfrm>
            <a:off x="1252728" y="2380092"/>
            <a:ext cx="3867912" cy="1161288"/>
          </a:xfrm>
          <a:prstGeom prst="rect">
            <a:avLst/>
          </a:prstGeom>
          <a:noFill/>
          <a:ln/>
        </p:spPr>
        <p:txBody>
          <a:bodyPr wrap="square" lIns="0" tIns="0" rIns="0" bIns="0" rtlCol="0" anchor="t"/>
          <a:lstStyle/>
          <a:p>
            <a:pPr indent="0" marL="0">
              <a:buNone/>
            </a:pPr>
            <a:r>
              <a:rPr lang="id-ID" altLang="en-US" sz="1800" b="1" dirty="0">
                <a:solidFill>
                  <a:srgbClr val="1F2328"/>
                </a:solidFill>
              </a:rPr>
              <a:t>Masalah:</a:t>
            </a:r>
            <a:r>
              <a:rPr lang="id-ID" altLang="en-US" sz="1800" dirty="0">
                <a:solidFill>
                  <a:srgbClr val="1F2328"/>
                </a:solidFill>
              </a:rPr>
              <a:t> pilihan kasir (Tunai, QRIS, Kartu) sampai berupa teks. Potongan </a:t>
            </a:r>
            <a:r>
              <a:rPr lang="id-ID" altLang="en-US" sz="1800" dirty="0">
                <a:solidFill>
                  <a:srgbClr val="1F2328"/>
                </a:solidFill>
                <a:latin typeface="Consolas" pitchFamily="34" charset="0"/>
                <a:ea typeface="Consolas" pitchFamily="34" charset="-122"/>
                <a:cs typeface="Consolas" pitchFamily="34" charset="-120"/>
              </a:rPr>
              <a:t>if</a:t>
            </a:r>
            <a:r>
              <a:rPr lang="id-ID" altLang="en-US" sz="1800" dirty="0">
                <a:solidFill>
                  <a:srgbClr val="1F2328"/>
                </a:solidFill>
              </a:rPr>
              <a:t> pembuat objeknya cenderung </a:t>
            </a:r>
            <a:r>
              <a:rPr lang="id-ID" altLang="en-US" sz="1800" b="1" dirty="0">
                <a:solidFill>
                  <a:srgbClr val="1F2328"/>
                </a:solidFill>
              </a:rPr>
              <a:t>tersalin</a:t>
            </a:r>
            <a:r>
              <a:rPr lang="id-ID" altLang="en-US" sz="1800" dirty="0">
                <a:solidFill>
                  <a:srgbClr val="1F2328"/>
                </a:solidFill>
              </a:rPr>
              <a:t> ke banyak tempat.</a:t>
            </a:r>
            <a:endParaRPr lang="id-ID" sz="1800" dirty="0"/>
          </a:p>
        </p:txBody>
      </p:sp>
      <p:sp>
        <p:nvSpPr>
          <p:cNvPr id="11" name="Shape 7"/>
          <p:cNvSpPr/>
          <p:nvPr/>
        </p:nvSpPr>
        <p:spPr>
          <a:xfrm>
            <a:off x="923544" y="3785982"/>
            <a:ext cx="137160" cy="137160"/>
          </a:xfrm>
          <a:prstGeom prst="roundRect">
            <a:avLst>
              <a:gd name="adj" fmla="val 166667"/>
            </a:avLst>
          </a:prstGeom>
          <a:solidFill>
            <a:srgbClr val="9A6700"/>
          </a:solidFill>
          <a:ln/>
        </p:spPr>
      </p:sp>
      <p:sp>
        <p:nvSpPr>
          <p:cNvPr id="12" name="Text 8"/>
          <p:cNvSpPr txBox="1"/>
          <p:nvPr/>
        </p:nvSpPr>
        <p:spPr>
          <a:xfrm>
            <a:off x="1252728" y="3715116"/>
            <a:ext cx="3867912" cy="1161288"/>
          </a:xfrm>
          <a:prstGeom prst="rect">
            <a:avLst/>
          </a:prstGeom>
          <a:noFill/>
          <a:ln/>
        </p:spPr>
        <p:txBody>
          <a:bodyPr wrap="square" lIns="0" tIns="0" rIns="0" bIns="0" rtlCol="0" anchor="t"/>
          <a:lstStyle/>
          <a:p>
            <a:pPr indent="0" marL="0">
              <a:buNone/>
            </a:pPr>
            <a:r>
              <a:rPr lang="id-ID" altLang="en-US" sz="1800" dirty="0">
                <a:solidFill>
                  <a:srgbClr val="1F2328"/>
                </a:solidFill>
              </a:rPr>
              <a:t>Di warung, kamu cukup berkata “nasi goreng satu”. Dapur yang mengurus semuanya, lalu menyerahkan piring yang sudah jadi.</a:t>
            </a:r>
            <a:endParaRPr lang="id-ID" sz="1800" dirty="0"/>
          </a:p>
        </p:txBody>
      </p:sp>
      <p:sp>
        <p:nvSpPr>
          <p:cNvPr id="13" name="Shape 9"/>
          <p:cNvSpPr/>
          <p:nvPr/>
        </p:nvSpPr>
        <p:spPr>
          <a:xfrm>
            <a:off x="923544" y="5121006"/>
            <a:ext cx="137160" cy="137160"/>
          </a:xfrm>
          <a:prstGeom prst="roundRect">
            <a:avLst>
              <a:gd name="adj" fmla="val 166667"/>
            </a:avLst>
          </a:prstGeom>
          <a:solidFill>
            <a:srgbClr val="9A6700"/>
          </a:solidFill>
          <a:ln/>
        </p:spPr>
      </p:sp>
      <p:sp>
        <p:nvSpPr>
          <p:cNvPr id="14" name="Text 10"/>
          <p:cNvSpPr txBox="1"/>
          <p:nvPr/>
        </p:nvSpPr>
        <p:spPr>
          <a:xfrm>
            <a:off x="1252728" y="5050140"/>
            <a:ext cx="3867912" cy="882396"/>
          </a:xfrm>
          <a:prstGeom prst="rect">
            <a:avLst/>
          </a:prstGeom>
          <a:noFill/>
          <a:ln/>
        </p:spPr>
        <p:txBody>
          <a:bodyPr wrap="square" lIns="0" tIns="0" rIns="0" bIns="0" rtlCol="0" anchor="t"/>
          <a:lstStyle/>
          <a:p>
            <a:pPr indent="0" marL="0">
              <a:buNone/>
            </a:pPr>
            <a:r>
              <a:rPr lang="id-ID" altLang="en-US" sz="1800" b="1" i="1" dirty="0">
                <a:solidFill>
                  <a:srgbClr val="1F2328"/>
                </a:solidFill>
              </a:rPr>
              <a:t>Factory</a:t>
            </a:r>
            <a:r>
              <a:rPr lang="id-ID" altLang="en-US" sz="1800" dirty="0">
                <a:solidFill>
                  <a:srgbClr val="1F2328"/>
                </a:solidFill>
              </a:rPr>
              <a:t> memusatkan urusan </a:t>
            </a:r>
            <a:r>
              <a:rPr lang="id-ID" altLang="en-US" sz="1800" b="1" dirty="0">
                <a:solidFill>
                  <a:srgbClr val="1F2328"/>
                </a:solidFill>
              </a:rPr>
              <a:t>membuat objek</a:t>
            </a:r>
            <a:r>
              <a:rPr lang="id-ID" altLang="en-US" sz="1800" dirty="0">
                <a:solidFill>
                  <a:srgbClr val="1F2328"/>
                </a:solidFill>
              </a:rPr>
              <a:t> di satu tempat. </a:t>
            </a:r>
            <a:r>
              <a:rPr lang="id-ID" altLang="en-US" sz="1800" i="1" dirty="0">
                <a:solidFill>
                  <a:srgbClr val="1F2328"/>
                </a:solidFill>
              </a:rPr>
              <a:t>Factory</a:t>
            </a:r>
            <a:r>
              <a:rPr lang="id-ID" altLang="en-US" sz="1800" dirty="0">
                <a:solidFill>
                  <a:srgbClr val="1F2328"/>
                </a:solidFill>
              </a:rPr>
              <a:t> yang memutuskan kelas mana yang dibuat.</a:t>
            </a:r>
            <a:endParaRPr lang="id-ID" sz="1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43600" y="2185274"/>
          <a:ext cx="5699455" cy="914400"/>
        </p:xfrm>
        <a:graphic>
          <a:graphicData uri="http://schemas.openxmlformats.org/drawingml/2006/table">
            <a:tbl>
              <a:tblPr/>
              <a:tblGrid>
                <a:gridCol w="2635254"/>
                <a:gridCol w="3064201"/>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Di warung</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Pola </a:t>
                      </a:r>
                      <a:r>
                        <a:rPr lang="id-ID" altLang="en-US" sz="2000" b="1" i="1" dirty="0">
                          <a:solidFill>
                            <a:srgbClr val="FFFFFF"/>
                          </a:solidFill>
                          <a:latin typeface="Calibri" pitchFamily="34" charset="0"/>
                          <a:ea typeface="Calibri" pitchFamily="34" charset="-122"/>
                          <a:cs typeface="Calibri" pitchFamily="34" charset="-120"/>
                        </a:rPr>
                        <a:t>Factory</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Pembeli menyebut pesanannya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Pemanggil mengirim teks, mis. </a:t>
                      </a:r>
                      <a:r>
                        <a:rPr lang="id-ID" altLang="en-US" sz="2000" dirty="0">
                          <a:solidFill>
                            <a:srgbClr val="0A3069"/>
                          </a:solidFill>
                          <a:latin typeface="Consolas" pitchFamily="34" charset="0"/>
                          <a:ea typeface="Consolas" pitchFamily="34" charset="-122"/>
                          <a:cs typeface="Consolas" pitchFamily="34" charset="-120"/>
                        </a:rPr>
                        <a:t>"qris"</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Dapur memilih bumbu dan cara memasak</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i="1" dirty="0">
                          <a:solidFill>
                            <a:srgbClr val="1F2328"/>
                          </a:solidFill>
                          <a:latin typeface="Calibri" pitchFamily="34" charset="0"/>
                          <a:ea typeface="Calibri" pitchFamily="34" charset="-122"/>
                          <a:cs typeface="Calibri" pitchFamily="34" charset="-120"/>
                        </a:rPr>
                        <a:t>Factory</a:t>
                      </a:r>
                      <a:r>
                        <a:rPr lang="id-ID" altLang="en-US" sz="2000" dirty="0">
                          <a:solidFill>
                            <a:srgbClr val="1F2328"/>
                          </a:solidFill>
                          <a:latin typeface="Calibri" pitchFamily="34" charset="0"/>
                          <a:ea typeface="Calibri" pitchFamily="34" charset="-122"/>
                          <a:cs typeface="Calibri" pitchFamily="34" charset="-120"/>
                        </a:rPr>
                        <a:t> memilih kelas dan cara membuatnya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111252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Piring yang sudah jadi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Objek bertipe </a:t>
                      </a:r>
                      <a:r>
                        <a:rPr lang="id-ID" altLang="en-US" sz="2000" dirty="0">
                          <a:solidFill>
                            <a:srgbClr val="0A3069"/>
                          </a:solidFill>
                          <a:latin typeface="Consolas" pitchFamily="34" charset="0"/>
                          <a:ea typeface="Consolas" pitchFamily="34" charset="-122"/>
                          <a:cs typeface="Consolas" pitchFamily="34" charset="-120"/>
                        </a:rPr>
                        <a:t>Pembayaran</a:t>
                      </a:r>
                      <a:r>
                        <a:rPr lang="id-ID" altLang="en-US" sz="2000" dirty="0">
                          <a:solidFill>
                            <a:srgbClr val="1F2328"/>
                          </a:solidFill>
                          <a:latin typeface="Calibri" pitchFamily="34" charset="0"/>
                          <a:ea typeface="Calibri" pitchFamily="34" charset="-122"/>
                          <a:cs typeface="Calibri" pitchFamily="34" charset="-120"/>
                        </a:rPr>
                        <a:t> yang siap dipakai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Simple Factory</a:t>
            </a:r>
            <a:r>
              <a:rPr lang="id-ID" altLang="en-US" sz="3200" b="1" dirty="0">
                <a:solidFill>
                  <a:srgbClr val="0A3069"/>
                </a:solidFill>
              </a:rPr>
              <a:t>: Satu Tempat Memilih Kelas</a:t>
            </a:r>
            <a:endParaRPr lang="id-ID" sz="3200" dirty="0"/>
          </a:p>
        </p:txBody>
      </p:sp>
      <p:sp>
        <p:nvSpPr>
          <p:cNvPr id="5" name="Text 2"/>
          <p:cNvSpPr txBox="1"/>
          <p:nvPr/>
        </p:nvSpPr>
        <p:spPr>
          <a:xfrm>
            <a:off x="548640" y="1831284"/>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Pemanggil cukup menulis </a:t>
            </a:r>
            <a:r>
              <a:rPr lang="id-ID" altLang="en-US" sz="1800" dirty="0">
                <a:solidFill>
                  <a:srgbClr val="0A3069"/>
                </a:solidFill>
                <a:latin typeface="Consolas" pitchFamily="34" charset="0"/>
                <a:ea typeface="Consolas" pitchFamily="34" charset="-122"/>
                <a:cs typeface="Consolas" pitchFamily="34" charset="-120"/>
              </a:rPr>
              <a:t>KendaraanFactory.buat("motor")</a:t>
            </a:r>
            <a:r>
              <a:rPr lang="id-ID" altLang="en-US" sz="1800" dirty="0">
                <a:solidFill>
                  <a:srgbClr val="57606A"/>
                </a:solidFill>
              </a:rPr>
              <a:t> dan menerima objek bertipe </a:t>
            </a:r>
            <a:r>
              <a:rPr lang="id-ID" altLang="en-US" sz="1800" dirty="0">
                <a:solidFill>
                  <a:srgbClr val="0A3069"/>
                </a:solidFill>
                <a:latin typeface="Consolas" pitchFamily="34" charset="0"/>
                <a:ea typeface="Consolas" pitchFamily="34" charset="-122"/>
                <a:cs typeface="Consolas" pitchFamily="34" charset="-120"/>
              </a:rPr>
              <a:t>Kendaraan</a:t>
            </a:r>
            <a:r>
              <a:rPr lang="id-ID" altLang="en-US" sz="1800" dirty="0">
                <a:solidFill>
                  <a:srgbClr val="57606A"/>
                </a:solidFill>
              </a:rPr>
              <a:t>.</a:t>
            </a:r>
            <a:endParaRPr lang="id-ID" sz="1800" dirty="0"/>
          </a:p>
        </p:txBody>
      </p:sp>
      <p:sp>
        <p:nvSpPr>
          <p:cNvPr id="6" name="Shape 3"/>
          <p:cNvSpPr/>
          <p:nvPr/>
        </p:nvSpPr>
        <p:spPr>
          <a:xfrm>
            <a:off x="548640" y="2265624"/>
            <a:ext cx="1051560" cy="329184"/>
          </a:xfrm>
          <a:prstGeom prst="roundRect">
            <a:avLst>
              <a:gd name="adj" fmla="val 138889"/>
            </a:avLst>
          </a:prstGeom>
          <a:solidFill>
            <a:srgbClr val="3572A5"/>
          </a:solidFill>
          <a:ln/>
        </p:spPr>
      </p:sp>
      <p:sp>
        <p:nvSpPr>
          <p:cNvPr id="7" name="Text 4"/>
          <p:cNvSpPr txBox="1"/>
          <p:nvPr/>
        </p:nvSpPr>
        <p:spPr>
          <a:xfrm>
            <a:off x="548640" y="2265624"/>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265624"/>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python/contoh/contoh04_simple_factory.py</a:t>
            </a:r>
            <a:endParaRPr lang="id-ID" sz="1100" dirty="0"/>
          </a:p>
        </p:txBody>
      </p:sp>
      <p:sp>
        <p:nvSpPr>
          <p:cNvPr id="9" name="Shape 6"/>
          <p:cNvSpPr/>
          <p:nvPr/>
        </p:nvSpPr>
        <p:spPr>
          <a:xfrm>
            <a:off x="548640" y="2686248"/>
            <a:ext cx="5432908" cy="2878582"/>
          </a:xfrm>
          <a:prstGeom prst="roundRect">
            <a:avLst>
              <a:gd name="adj" fmla="val 1009"/>
            </a:avLst>
          </a:prstGeom>
          <a:solidFill>
            <a:srgbClr val="F6F8FA"/>
          </a:solidFill>
          <a:ln w="9525">
            <a:solidFill>
              <a:srgbClr val="D0D7DE"/>
            </a:solidFill>
            <a:prstDash val="solid"/>
          </a:ln>
        </p:spPr>
      </p:sp>
      <p:sp>
        <p:nvSpPr>
          <p:cNvPr id="10" name="Text 7"/>
          <p:cNvSpPr txBox="1"/>
          <p:nvPr/>
        </p:nvSpPr>
        <p:spPr>
          <a:xfrm>
            <a:off x="658368" y="2777688"/>
            <a:ext cx="5213452" cy="2695702"/>
          </a:xfrm>
          <a:prstGeom prst="rect">
            <a:avLst/>
          </a:prstGeom>
          <a:noFill/>
          <a:ln/>
        </p:spPr>
        <p:txBody>
          <a:bodyPr wrap="square" lIns="0" tIns="0" rIns="0" bIns="0" rtlCol="0" anchor="t"/>
          <a:lstStyle/>
          <a:p>
            <a:pPr indent="0" marL="0">
              <a:buNone/>
            </a:pPr>
            <a:r>
              <a:rPr lang="en-US" altLang="en-US" sz="1250" dirty="0">
                <a:solidFill>
                  <a:srgbClr val="CF222E"/>
                </a:solidFill>
                <a:latin typeface="Consolas" pitchFamily="34" charset="0"/>
                <a:ea typeface="Consolas" pitchFamily="34" charset="-122"/>
                <a:cs typeface="Consolas" pitchFamily="34" charset="-120"/>
              </a:rPr>
              <a:t>class</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953800"/>
                </a:solidFill>
                <a:latin typeface="Consolas" pitchFamily="34" charset="0"/>
                <a:ea typeface="Consolas" pitchFamily="34" charset="-122"/>
                <a:cs typeface="Consolas" pitchFamily="34" charset="-120"/>
              </a:rPr>
              <a:t>KendaraanFactory</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@staticmethod</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def</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buat</a:t>
            </a:r>
            <a:r>
              <a:rPr lang="en-US" altLang="en-US" sz="1250" dirty="0">
                <a:solidFill>
                  <a:srgbClr val="1F2328"/>
                </a:solidFill>
                <a:latin typeface="Consolas" pitchFamily="34" charset="0"/>
                <a:ea typeface="Consolas" pitchFamily="34" charset="-122"/>
                <a:cs typeface="Consolas" pitchFamily="34" charset="-120"/>
              </a:rPr>
              <a:t>(jenis: </a:t>
            </a:r>
            <a:r>
              <a:rPr lang="en-US" altLang="en-US" sz="1250" dirty="0">
                <a:solidFill>
                  <a:srgbClr val="0550AE"/>
                </a:solidFill>
                <a:latin typeface="Consolas" pitchFamily="34" charset="0"/>
                <a:ea typeface="Consolas" pitchFamily="34" charset="-122"/>
                <a:cs typeface="Consolas" pitchFamily="34" charset="-120"/>
              </a:rPr>
              <a:t>str</a:t>
            </a:r>
            <a:r>
              <a:rPr lang="en-US" altLang="en-US" sz="1250" dirty="0">
                <a:solidFill>
                  <a:srgbClr val="1F2328"/>
                </a:solidFill>
                <a:latin typeface="Consolas" pitchFamily="34" charset="0"/>
                <a:ea typeface="Consolas" pitchFamily="34" charset="-122"/>
                <a:cs typeface="Consolas" pitchFamily="34" charset="-120"/>
              </a:rPr>
              <a:t>) -&gt; Kendaraan:</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pilihan = jenis.lower()</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if</a:t>
            </a:r>
            <a:r>
              <a:rPr lang="en-US" altLang="en-US" sz="1250" dirty="0">
                <a:solidFill>
                  <a:srgbClr val="1F2328"/>
                </a:solidFill>
                <a:latin typeface="Consolas" pitchFamily="34" charset="0"/>
                <a:ea typeface="Consolas" pitchFamily="34" charset="-122"/>
                <a:cs typeface="Consolas" pitchFamily="34" charset="-120"/>
              </a:rPr>
              <a:t> pilihan == </a:t>
            </a:r>
            <a:r>
              <a:rPr lang="en-US" altLang="en-US" sz="1250" dirty="0">
                <a:solidFill>
                  <a:srgbClr val="0A3069"/>
                </a:solidFill>
                <a:latin typeface="Consolas" pitchFamily="34" charset="0"/>
                <a:ea typeface="Consolas" pitchFamily="34" charset="-122"/>
                <a:cs typeface="Consolas" pitchFamily="34" charset="-120"/>
              </a:rPr>
              <a:t>"motor"</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return</a:t>
            </a:r>
            <a:r>
              <a:rPr lang="en-US" altLang="en-US" sz="1250" dirty="0">
                <a:solidFill>
                  <a:srgbClr val="1F2328"/>
                </a:solidFill>
                <a:latin typeface="Consolas" pitchFamily="34" charset="0"/>
                <a:ea typeface="Consolas" pitchFamily="34" charset="-122"/>
                <a:cs typeface="Consolas" pitchFamily="34" charset="-120"/>
              </a:rPr>
              <a:t> Motor()</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if</a:t>
            </a:r>
            <a:r>
              <a:rPr lang="en-US" altLang="en-US" sz="1250" dirty="0">
                <a:solidFill>
                  <a:srgbClr val="1F2328"/>
                </a:solidFill>
                <a:latin typeface="Consolas" pitchFamily="34" charset="0"/>
                <a:ea typeface="Consolas" pitchFamily="34" charset="-122"/>
                <a:cs typeface="Consolas" pitchFamily="34" charset="-120"/>
              </a:rPr>
              <a:t> pilihan == </a:t>
            </a:r>
            <a:r>
              <a:rPr lang="en-US" altLang="en-US" sz="1250" dirty="0">
                <a:solidFill>
                  <a:srgbClr val="0A3069"/>
                </a:solidFill>
                <a:latin typeface="Consolas" pitchFamily="34" charset="0"/>
                <a:ea typeface="Consolas" pitchFamily="34" charset="-122"/>
                <a:cs typeface="Consolas" pitchFamily="34" charset="-120"/>
              </a:rPr>
              <a:t>"mobil"</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return</a:t>
            </a:r>
            <a:r>
              <a:rPr lang="en-US" altLang="en-US" sz="1250" dirty="0">
                <a:solidFill>
                  <a:srgbClr val="1F2328"/>
                </a:solidFill>
                <a:latin typeface="Consolas" pitchFamily="34" charset="0"/>
                <a:ea typeface="Consolas" pitchFamily="34" charset="-122"/>
                <a:cs typeface="Consolas" pitchFamily="34" charset="-120"/>
              </a:rPr>
              <a:t> Mobil()</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if</a:t>
            </a:r>
            <a:r>
              <a:rPr lang="en-US" altLang="en-US" sz="1250" dirty="0">
                <a:solidFill>
                  <a:srgbClr val="1F2328"/>
                </a:solidFill>
                <a:latin typeface="Consolas" pitchFamily="34" charset="0"/>
                <a:ea typeface="Consolas" pitchFamily="34" charset="-122"/>
                <a:cs typeface="Consolas" pitchFamily="34" charset="-120"/>
              </a:rPr>
              <a:t> pilihan == </a:t>
            </a:r>
            <a:r>
              <a:rPr lang="en-US" altLang="en-US" sz="1250" dirty="0">
                <a:solidFill>
                  <a:srgbClr val="0A3069"/>
                </a:solidFill>
                <a:latin typeface="Consolas" pitchFamily="34" charset="0"/>
                <a:ea typeface="Consolas" pitchFamily="34" charset="-122"/>
                <a:cs typeface="Consolas" pitchFamily="34" charset="-120"/>
              </a:rPr>
              <a:t>"mobil besar"</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return</a:t>
            </a:r>
            <a:r>
              <a:rPr lang="en-US" altLang="en-US" sz="1250" dirty="0">
                <a:solidFill>
                  <a:srgbClr val="1F2328"/>
                </a:solidFill>
                <a:latin typeface="Consolas" pitchFamily="34" charset="0"/>
                <a:ea typeface="Consolas" pitchFamily="34" charset="-122"/>
                <a:cs typeface="Consolas" pitchFamily="34" charset="-120"/>
              </a:rPr>
              <a:t> MobilBesar()</a:t>
            </a:r>
            <a:endParaRPr lang="en-US" sz="1250" dirty="0"/>
          </a:p>
          <a:p>
            <a:pPr indent="0" marL="0">
              <a:buNone/>
            </a:pPr>
            <a:r>
              <a:rPr lang="en-US" altLang="en-US" sz="1250" i="1" dirty="0">
                <a:solidFill>
                  <a:srgbClr val="6E7781"/>
                </a:solidFill>
                <a:latin typeface="Consolas" pitchFamily="34" charset="0"/>
                <a:ea typeface="Consolas" pitchFamily="34" charset="-122"/>
                <a:cs typeface="Consolas" pitchFamily="34" charset="-120"/>
              </a:rPr>
              <a:t>        # ... (dilewati)</a:t>
            </a:r>
            <a:endParaRPr lang="en-US" sz="1250" dirty="0"/>
          </a:p>
        </p:txBody>
      </p:sp>
      <p:sp>
        <p:nvSpPr>
          <p:cNvPr id="11" name="Shape 8"/>
          <p:cNvSpPr/>
          <p:nvPr/>
        </p:nvSpPr>
        <p:spPr>
          <a:xfrm>
            <a:off x="6210148" y="2265624"/>
            <a:ext cx="1051560" cy="329184"/>
          </a:xfrm>
          <a:prstGeom prst="roundRect">
            <a:avLst>
              <a:gd name="adj" fmla="val 138889"/>
            </a:avLst>
          </a:prstGeom>
          <a:solidFill>
            <a:srgbClr val="B07219"/>
          </a:solidFill>
          <a:ln/>
        </p:spPr>
      </p:sp>
      <p:sp>
        <p:nvSpPr>
          <p:cNvPr id="12" name="Text 9"/>
          <p:cNvSpPr txBox="1"/>
          <p:nvPr/>
        </p:nvSpPr>
        <p:spPr>
          <a:xfrm>
            <a:off x="6210148" y="2265624"/>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265624"/>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java/contoh/Contoh04SimpleFactory.java</a:t>
            </a:r>
            <a:endParaRPr lang="id-ID" sz="1100" dirty="0"/>
          </a:p>
        </p:txBody>
      </p:sp>
      <p:sp>
        <p:nvSpPr>
          <p:cNvPr id="14" name="Shape 11"/>
          <p:cNvSpPr/>
          <p:nvPr/>
        </p:nvSpPr>
        <p:spPr>
          <a:xfrm>
            <a:off x="6210148" y="2686248"/>
            <a:ext cx="5432908" cy="2878582"/>
          </a:xfrm>
          <a:prstGeom prst="roundRect">
            <a:avLst>
              <a:gd name="adj" fmla="val 1009"/>
            </a:avLst>
          </a:prstGeom>
          <a:solidFill>
            <a:srgbClr val="F6F8FA"/>
          </a:solidFill>
          <a:ln w="9525">
            <a:solidFill>
              <a:srgbClr val="D0D7DE"/>
            </a:solidFill>
            <a:prstDash val="solid"/>
          </a:ln>
        </p:spPr>
      </p:sp>
      <p:sp>
        <p:nvSpPr>
          <p:cNvPr id="15" name="Text 12"/>
          <p:cNvSpPr txBox="1"/>
          <p:nvPr/>
        </p:nvSpPr>
        <p:spPr>
          <a:xfrm>
            <a:off x="6319876" y="2777688"/>
            <a:ext cx="5213452" cy="2695702"/>
          </a:xfrm>
          <a:prstGeom prst="rect">
            <a:avLst/>
          </a:prstGeom>
          <a:noFill/>
          <a:ln/>
        </p:spPr>
        <p:txBody>
          <a:bodyPr wrap="square" lIns="0" tIns="0" rIns="0" bIns="0" rtlCol="0" anchor="t"/>
          <a:lstStyle/>
          <a:p>
            <a:pPr indent="0" marL="0">
              <a:buNone/>
            </a:pPr>
            <a:r>
              <a:rPr lang="en-US" altLang="en-US" sz="1250" dirty="0">
                <a:solidFill>
                  <a:srgbClr val="CF222E"/>
                </a:solidFill>
                <a:latin typeface="Consolas" pitchFamily="34" charset="0"/>
                <a:ea typeface="Consolas" pitchFamily="34" charset="-122"/>
                <a:cs typeface="Consolas" pitchFamily="34" charset="-120"/>
              </a:rPr>
              <a:t>class</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953800"/>
                </a:solidFill>
                <a:latin typeface="Consolas" pitchFamily="34" charset="0"/>
                <a:ea typeface="Consolas" pitchFamily="34" charset="-122"/>
                <a:cs typeface="Consolas" pitchFamily="34" charset="-120"/>
              </a:rPr>
              <a:t>KendaraanFactory</a:t>
            </a: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public</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static</a:t>
            </a:r>
            <a:r>
              <a:rPr lang="en-US" altLang="en-US" sz="1250" dirty="0">
                <a:solidFill>
                  <a:srgbClr val="1F2328"/>
                </a:solidFill>
                <a:latin typeface="Consolas" pitchFamily="34" charset="0"/>
                <a:ea typeface="Consolas" pitchFamily="34" charset="-122"/>
                <a:cs typeface="Consolas" pitchFamily="34" charset="-120"/>
              </a:rPr>
              <a:t> Kendaraan </a:t>
            </a:r>
            <a:r>
              <a:rPr lang="en-US" altLang="en-US" sz="1250" dirty="0">
                <a:solidFill>
                  <a:srgbClr val="8250DF"/>
                </a:solidFill>
                <a:latin typeface="Consolas" pitchFamily="34" charset="0"/>
                <a:ea typeface="Consolas" pitchFamily="34" charset="-122"/>
                <a:cs typeface="Consolas" pitchFamily="34" charset="-120"/>
              </a:rPr>
              <a:t>buat</a:t>
            </a:r>
            <a:r>
              <a:rPr lang="en-US" altLang="en-US" sz="1250" dirty="0">
                <a:solidFill>
                  <a:srgbClr val="1F2328"/>
                </a:solidFill>
                <a:latin typeface="Consolas" pitchFamily="34" charset="0"/>
                <a:ea typeface="Consolas" pitchFamily="34" charset="-122"/>
                <a:cs typeface="Consolas" pitchFamily="34" charset="-120"/>
              </a:rPr>
              <a:t>(String jenis)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if</a:t>
            </a:r>
            <a:r>
              <a:rPr lang="en-US" altLang="en-US" sz="1250" dirty="0">
                <a:solidFill>
                  <a:srgbClr val="1F2328"/>
                </a:solidFill>
                <a:latin typeface="Consolas" pitchFamily="34" charset="0"/>
                <a:ea typeface="Consolas" pitchFamily="34" charset="-122"/>
                <a:cs typeface="Consolas" pitchFamily="34" charset="-120"/>
              </a:rPr>
              <a:t> (jenis.equalsIgnoreCase(</a:t>
            </a:r>
            <a:r>
              <a:rPr lang="en-US" altLang="en-US" sz="1250" dirty="0">
                <a:solidFill>
                  <a:srgbClr val="0A3069"/>
                </a:solidFill>
                <a:latin typeface="Consolas" pitchFamily="34" charset="0"/>
                <a:ea typeface="Consolas" pitchFamily="34" charset="-122"/>
                <a:cs typeface="Consolas" pitchFamily="34" charset="-120"/>
              </a:rPr>
              <a:t>"motor"</a:t>
            </a: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return</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new</a:t>
            </a:r>
            <a:r>
              <a:rPr lang="en-US" altLang="en-US" sz="1250" dirty="0">
                <a:solidFill>
                  <a:srgbClr val="1F2328"/>
                </a:solidFill>
                <a:latin typeface="Consolas" pitchFamily="34" charset="0"/>
                <a:ea typeface="Consolas" pitchFamily="34" charset="-122"/>
                <a:cs typeface="Consolas" pitchFamily="34" charset="-120"/>
              </a:rPr>
              <a:t> Motor();</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if</a:t>
            </a:r>
            <a:r>
              <a:rPr lang="en-US" altLang="en-US" sz="1250" dirty="0">
                <a:solidFill>
                  <a:srgbClr val="1F2328"/>
                </a:solidFill>
                <a:latin typeface="Consolas" pitchFamily="34" charset="0"/>
                <a:ea typeface="Consolas" pitchFamily="34" charset="-122"/>
                <a:cs typeface="Consolas" pitchFamily="34" charset="-120"/>
              </a:rPr>
              <a:t> (jenis.equalsIgnoreCase(</a:t>
            </a:r>
            <a:r>
              <a:rPr lang="en-US" altLang="en-US" sz="1250" dirty="0">
                <a:solidFill>
                  <a:srgbClr val="0A3069"/>
                </a:solidFill>
                <a:latin typeface="Consolas" pitchFamily="34" charset="0"/>
                <a:ea typeface="Consolas" pitchFamily="34" charset="-122"/>
                <a:cs typeface="Consolas" pitchFamily="34" charset="-120"/>
              </a:rPr>
              <a:t>"mobil"</a:t>
            </a: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return</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new</a:t>
            </a:r>
            <a:r>
              <a:rPr lang="en-US" altLang="en-US" sz="1250" dirty="0">
                <a:solidFill>
                  <a:srgbClr val="1F2328"/>
                </a:solidFill>
                <a:latin typeface="Consolas" pitchFamily="34" charset="0"/>
                <a:ea typeface="Consolas" pitchFamily="34" charset="-122"/>
                <a:cs typeface="Consolas" pitchFamily="34" charset="-120"/>
              </a:rPr>
              <a:t> Mobil();</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if</a:t>
            </a:r>
            <a:r>
              <a:rPr lang="en-US" altLang="en-US" sz="1250" dirty="0">
                <a:solidFill>
                  <a:srgbClr val="1F2328"/>
                </a:solidFill>
                <a:latin typeface="Consolas" pitchFamily="34" charset="0"/>
                <a:ea typeface="Consolas" pitchFamily="34" charset="-122"/>
                <a:cs typeface="Consolas" pitchFamily="34" charset="-120"/>
              </a:rPr>
              <a:t> (jenis.equalsIgnoreCase(</a:t>
            </a:r>
            <a:r>
              <a:rPr lang="en-US" altLang="en-US" sz="1250" dirty="0">
                <a:solidFill>
                  <a:srgbClr val="0A3069"/>
                </a:solidFill>
                <a:latin typeface="Consolas" pitchFamily="34" charset="0"/>
                <a:ea typeface="Consolas" pitchFamily="34" charset="-122"/>
                <a:cs typeface="Consolas" pitchFamily="34" charset="-120"/>
              </a:rPr>
              <a:t>"mobil besar"</a:t>
            </a: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return</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new</a:t>
            </a:r>
            <a:r>
              <a:rPr lang="en-US" altLang="en-US" sz="1250" dirty="0">
                <a:solidFill>
                  <a:srgbClr val="1F2328"/>
                </a:solidFill>
                <a:latin typeface="Consolas" pitchFamily="34" charset="0"/>
                <a:ea typeface="Consolas" pitchFamily="34" charset="-122"/>
                <a:cs typeface="Consolas" pitchFamily="34" charset="-120"/>
              </a:rPr>
              <a:t> MobilBesar();</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i="1" dirty="0">
                <a:solidFill>
                  <a:srgbClr val="6E7781"/>
                </a:solidFill>
                <a:latin typeface="Consolas" pitchFamily="34" charset="0"/>
                <a:ea typeface="Consolas" pitchFamily="34" charset="-122"/>
                <a:cs typeface="Consolas" pitchFamily="34" charset="-120"/>
              </a:rPr>
              <a:t>        // ... (dilewati)</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a:t>
            </a:r>
            <a:endParaRPr lang="en-US" sz="12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Simple Factory</a:t>
            </a:r>
            <a:r>
              <a:rPr lang="id-ID" altLang="en-US" sz="3200" b="1" dirty="0">
                <a:solidFill>
                  <a:srgbClr val="0A3069"/>
                </a:solidFill>
              </a:rPr>
              <a:t> dan </a:t>
            </a:r>
            <a:r>
              <a:rPr lang="id-ID" altLang="en-US" sz="3200" b="1" i="1" dirty="0">
                <a:solidFill>
                  <a:srgbClr val="0A3069"/>
                </a:solidFill>
              </a:rPr>
              <a:t>Factory Method</a:t>
            </a:r>
            <a:r>
              <a:rPr lang="id-ID" altLang="en-US" sz="3200" b="1" dirty="0">
                <a:solidFill>
                  <a:srgbClr val="0A3069"/>
                </a:solidFill>
              </a:rPr>
              <a:t> Itu Berbeda</a:t>
            </a:r>
            <a:endParaRPr lang="id-ID"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25001"/>
          <a:ext cx="11094415" cy="914400"/>
        </p:xfrm>
        <a:graphic>
          <a:graphicData uri="http://schemas.openxmlformats.org/drawingml/2006/table">
            <a:tbl>
              <a:tblPr/>
              <a:tblGrid>
                <a:gridCol w="1966499"/>
                <a:gridCol w="4812838"/>
                <a:gridCol w="4315077"/>
              </a:tblGrid>
              <a:tr h="461772">
                <a:tc>
                  <a:txBody>
                    <a:bodyPr/>
                    <a:lstStyle/>
                    <a:p>
                      <a:pPr indent="0" marL="0">
                        <a:buNone/>
                      </a:pPr>
                      <a:r>
                        <a:rPr lang="id-ID" altLang="en-US" sz="1800" b="1" dirty="0">
                          <a:solidFill>
                            <a:srgbClr val="FFFFFF"/>
                          </a:solidFill>
                          <a:latin typeface="Calibri" pitchFamily="34" charset="0"/>
                          <a:ea typeface="Calibri" pitchFamily="34" charset="-122"/>
                          <a:cs typeface="Calibri" pitchFamily="34" charset="-120"/>
                        </a:rPr>
                        <a:t>Aspek</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800" b="1" i="1" dirty="0">
                          <a:solidFill>
                            <a:srgbClr val="FFFFFF"/>
                          </a:solidFill>
                          <a:latin typeface="Calibri" pitchFamily="34" charset="0"/>
                          <a:ea typeface="Calibri" pitchFamily="34" charset="-122"/>
                          <a:cs typeface="Calibri" pitchFamily="34" charset="-120"/>
                        </a:rPr>
                        <a:t>Simple Factory</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800" b="1" i="1" dirty="0">
                          <a:solidFill>
                            <a:srgbClr val="FFFFFF"/>
                          </a:solidFill>
                          <a:latin typeface="Calibri" pitchFamily="34" charset="0"/>
                          <a:ea typeface="Calibri" pitchFamily="34" charset="-122"/>
                          <a:cs typeface="Calibri" pitchFamily="34" charset="-120"/>
                        </a:rPr>
                        <a:t>Factory Method</a:t>
                      </a:r>
                      <a:r>
                        <a:rPr lang="id-ID" altLang="en-US" sz="1800" b="1" dirty="0">
                          <a:solidFill>
                            <a:srgbClr val="FFFFFF"/>
                          </a:solidFill>
                          <a:latin typeface="Calibri" pitchFamily="34" charset="0"/>
                          <a:ea typeface="Calibri" pitchFamily="34" charset="-122"/>
                          <a:cs typeface="Calibri" pitchFamily="34" charset="-120"/>
                        </a:rPr>
                        <a:t> (GoF)</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740664">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Bentuk</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Satu </a:t>
                      </a:r>
                      <a:r>
                        <a:rPr lang="id-ID" altLang="en-US" sz="1800" i="1" dirty="0">
                          <a:solidFill>
                            <a:srgbClr val="1F2328"/>
                          </a:solidFill>
                          <a:latin typeface="Calibri" pitchFamily="34" charset="0"/>
                          <a:ea typeface="Calibri" pitchFamily="34" charset="-122"/>
                          <a:cs typeface="Calibri" pitchFamily="34" charset="-120"/>
                        </a:rPr>
                        <a:t>method</a:t>
                      </a:r>
                      <a:r>
                        <a:rPr lang="id-ID" altLang="en-US" sz="1800" dirty="0">
                          <a:solidFill>
                            <a:srgbClr val="1F2328"/>
                          </a:solidFill>
                          <a:latin typeface="Calibri" pitchFamily="34" charset="0"/>
                          <a:ea typeface="Calibri" pitchFamily="34" charset="-122"/>
                          <a:cs typeface="Calibri" pitchFamily="34" charset="-120"/>
                        </a:rPr>
                        <a:t>, biasanya </a:t>
                      </a:r>
                      <a:r>
                        <a:rPr lang="id-ID" altLang="en-US" sz="1800" dirty="0">
                          <a:solidFill>
                            <a:srgbClr val="0A3069"/>
                          </a:solidFill>
                          <a:latin typeface="Consolas" pitchFamily="34" charset="0"/>
                          <a:ea typeface="Consolas" pitchFamily="34" charset="-122"/>
                          <a:cs typeface="Consolas" pitchFamily="34" charset="-120"/>
                        </a:rPr>
                        <a:t>static</a:t>
                      </a:r>
                      <a:r>
                        <a:rPr lang="id-ID" altLang="en-US" sz="1800" dirty="0">
                          <a:solidFill>
                            <a:srgbClr val="1F2328"/>
                          </a:solidFill>
                          <a:latin typeface="Calibri" pitchFamily="34" charset="0"/>
                          <a:ea typeface="Calibri" pitchFamily="34" charset="-122"/>
                          <a:cs typeface="Calibri" pitchFamily="34" charset="-120"/>
                        </a:rPr>
                        <a:t>, berisi </a:t>
                      </a:r>
                      <a:r>
                        <a:rPr lang="id-ID" altLang="en-US" sz="1800" dirty="0">
                          <a:solidFill>
                            <a:srgbClr val="0A3069"/>
                          </a:solidFill>
                          <a:latin typeface="Consolas" pitchFamily="34" charset="0"/>
                          <a:ea typeface="Consolas" pitchFamily="34" charset="-122"/>
                          <a:cs typeface="Consolas" pitchFamily="34" charset="-120"/>
                        </a:rPr>
                        <a:t>if</a:t>
                      </a:r>
                      <a:r>
                        <a:rPr lang="id-ID" altLang="en-US" sz="1800" dirty="0">
                          <a:solidFill>
                            <a:srgbClr val="1F2328"/>
                          </a:solidFill>
                          <a:latin typeface="Calibri" pitchFamily="34" charset="0"/>
                          <a:ea typeface="Calibri" pitchFamily="34" charset="-122"/>
                          <a:cs typeface="Calibri" pitchFamily="34" charset="-120"/>
                        </a:rPr>
                        <a:t>/</a:t>
                      </a:r>
                      <a:r>
                        <a:rPr lang="id-ID" altLang="en-US" sz="1800" dirty="0">
                          <a:solidFill>
                            <a:srgbClr val="0A3069"/>
                          </a:solidFill>
                          <a:latin typeface="Consolas" pitchFamily="34" charset="0"/>
                          <a:ea typeface="Consolas" pitchFamily="34" charset="-122"/>
                          <a:cs typeface="Consolas" pitchFamily="34" charset="-120"/>
                        </a:rPr>
                        <a:t>elif</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i="1" dirty="0">
                          <a:solidFill>
                            <a:srgbClr val="1F2328"/>
                          </a:solidFill>
                          <a:latin typeface="Calibri" pitchFamily="34" charset="0"/>
                          <a:ea typeface="Calibri" pitchFamily="34" charset="-122"/>
                          <a:cs typeface="Calibri" pitchFamily="34" charset="-120"/>
                        </a:rPr>
                        <a:t>Method</a:t>
                      </a:r>
                      <a:r>
                        <a:rPr lang="id-ID" altLang="en-US" sz="1800" dirty="0">
                          <a:solidFill>
                            <a:srgbClr val="1F2328"/>
                          </a:solidFill>
                          <a:latin typeface="Calibri" pitchFamily="34" charset="0"/>
                          <a:ea typeface="Calibri" pitchFamily="34" charset="-122"/>
                          <a:cs typeface="Calibri" pitchFamily="34" charset="-120"/>
                        </a:rPr>
                        <a:t> di kelas induk yang di-⁠</a:t>
                      </a:r>
                      <a:r>
                        <a:rPr lang="id-ID" altLang="en-US" sz="1800" i="1" dirty="0">
                          <a:solidFill>
                            <a:srgbClr val="1F2328"/>
                          </a:solidFill>
                          <a:latin typeface="Calibri" pitchFamily="34" charset="0"/>
                          <a:ea typeface="Calibri" pitchFamily="34" charset="-122"/>
                          <a:cs typeface="Calibri" pitchFamily="34" charset="-120"/>
                        </a:rPr>
                        <a:t>override</a:t>
                      </a:r>
                      <a:r>
                        <a:rPr lang="id-ID" altLang="en-US" sz="1800" dirty="0">
                          <a:solidFill>
                            <a:srgbClr val="1F2328"/>
                          </a:solidFill>
                          <a:latin typeface="Calibri" pitchFamily="34" charset="0"/>
                          <a:ea typeface="Calibri" pitchFamily="34" charset="-122"/>
                          <a:cs typeface="Calibri" pitchFamily="34" charset="-120"/>
                        </a:rPr>
                        <a:t> kelas anak</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40664">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Yang memilih kelas produk</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i="1" dirty="0">
                          <a:solidFill>
                            <a:srgbClr val="1F2328"/>
                          </a:solidFill>
                          <a:latin typeface="Calibri" pitchFamily="34" charset="0"/>
                          <a:ea typeface="Calibri" pitchFamily="34" charset="-122"/>
                          <a:cs typeface="Calibri" pitchFamily="34" charset="-120"/>
                        </a:rPr>
                        <a:t>Factory</a:t>
                      </a:r>
                      <a:r>
                        <a:rPr lang="id-ID" altLang="en-US" sz="1800" dirty="0">
                          <a:solidFill>
                            <a:srgbClr val="1F2328"/>
                          </a:solidFill>
                          <a:latin typeface="Calibri" pitchFamily="34" charset="0"/>
                          <a:ea typeface="Calibri" pitchFamily="34" charset="-122"/>
                          <a:cs typeface="Calibri" pitchFamily="34" charset="-120"/>
                        </a:rPr>
                        <a:t>, berdasarkan parameter</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Kelas anak, lewat </a:t>
                      </a:r>
                      <a:r>
                        <a:rPr lang="id-ID" altLang="en-US" sz="1800" i="1" dirty="0">
                          <a:solidFill>
                            <a:srgbClr val="1F2328"/>
                          </a:solidFill>
                          <a:latin typeface="Calibri" pitchFamily="34" charset="0"/>
                          <a:ea typeface="Calibri" pitchFamily="34" charset="-122"/>
                          <a:cs typeface="Calibri" pitchFamily="34" charset="-120"/>
                        </a:rPr>
                        <a:t>overriding</a:t>
                      </a:r>
                      <a:r>
                        <a:rPr lang="id-ID" altLang="en-US" sz="1800" dirty="0">
                          <a:solidFill>
                            <a:srgbClr val="1F2328"/>
                          </a:solidFill>
                          <a:latin typeface="Calibri" pitchFamily="34" charset="0"/>
                          <a:ea typeface="Calibri" pitchFamily="34" charset="-122"/>
                          <a:cs typeface="Calibri" pitchFamily="34" charset="-120"/>
                        </a:rPr>
                        <a:t> (tanpa </a:t>
                      </a:r>
                      <a:r>
                        <a:rPr lang="id-ID" altLang="en-US" sz="1800" dirty="0">
                          <a:solidFill>
                            <a:srgbClr val="0A3069"/>
                          </a:solidFill>
                          <a:latin typeface="Consolas" pitchFamily="34" charset="0"/>
                          <a:ea typeface="Consolas" pitchFamily="34" charset="-122"/>
                          <a:cs typeface="Consolas" pitchFamily="34" charset="-120"/>
                        </a:rPr>
                        <a:t>if</a:t>
                      </a:r>
                      <a:r>
                        <a:rPr lang="id-ID" altLang="en-US" sz="1800" dirty="0">
                          <a:solidFill>
                            <a:srgbClr val="1F232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740664">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Menambah produk baru</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Ubah </a:t>
                      </a:r>
                      <a:r>
                        <a:rPr lang="id-ID" altLang="en-US" sz="1800" i="1" dirty="0">
                          <a:solidFill>
                            <a:srgbClr val="1F2328"/>
                          </a:solidFill>
                          <a:latin typeface="Calibri" pitchFamily="34" charset="0"/>
                          <a:ea typeface="Calibri" pitchFamily="34" charset="-122"/>
                          <a:cs typeface="Calibri" pitchFamily="34" charset="-120"/>
                        </a:rPr>
                        <a:t>factory</a:t>
                      </a:r>
                      <a:r>
                        <a:rPr lang="id-ID" altLang="en-US" sz="1800" dirty="0">
                          <a:solidFill>
                            <a:srgbClr val="1F2328"/>
                          </a:solidFill>
                          <a:latin typeface="Calibri" pitchFamily="34" charset="0"/>
                          <a:ea typeface="Calibri" pitchFamily="34" charset="-122"/>
                          <a:cs typeface="Calibri" pitchFamily="34" charset="-120"/>
                        </a:rPr>
                        <a:t>: tambah satu cabang </a:t>
                      </a:r>
                      <a:r>
                        <a:rPr lang="id-ID" altLang="en-US" sz="1800" dirty="0">
                          <a:solidFill>
                            <a:srgbClr val="0A3069"/>
                          </a:solidFill>
                          <a:latin typeface="Consolas" pitchFamily="34" charset="0"/>
                          <a:ea typeface="Consolas" pitchFamily="34" charset="-122"/>
                          <a:cs typeface="Consolas" pitchFamily="34" charset="-120"/>
                        </a:rPr>
                        <a:t>if</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Tambah kelas anak baru; kode lama tidak diubah</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40664">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Termasuk 23 pola GoF?</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Tidak, ini idiom yang populer</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Ya, kategori </a:t>
                      </a:r>
                      <a:r>
                        <a:rPr lang="id-ID" altLang="en-US" sz="1800" i="1" dirty="0">
                          <a:solidFill>
                            <a:srgbClr val="1F2328"/>
                          </a:solidFill>
                          <a:latin typeface="Calibri" pitchFamily="34" charset="0"/>
                          <a:ea typeface="Calibri" pitchFamily="34" charset="-122"/>
                          <a:cs typeface="Calibri" pitchFamily="34" charset="-120"/>
                        </a:rPr>
                        <a:t>creational</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61772">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Di materi ini</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Contoh 04 dan </a:t>
                      </a:r>
                      <a:r>
                        <a:rPr lang="id-ID" altLang="en-US" sz="1800" dirty="0">
                          <a:solidFill>
                            <a:srgbClr val="0A3069"/>
                          </a:solidFill>
                          <a:latin typeface="Consolas" pitchFamily="34" charset="0"/>
                          <a:ea typeface="Consolas" pitchFamily="34" charset="-122"/>
                          <a:cs typeface="Consolas" pitchFamily="34" charset="-120"/>
                        </a:rPr>
                        <a:t>PembayaranFactory</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Contoh 05</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558089"/>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630509"/>
            <a:ext cx="184343" cy="184343"/>
          </a:xfrm>
          <a:prstGeom prst="rect">
            <a:avLst/>
          </a:prstGeom>
        </p:spPr>
      </p:pic>
      <p:sp>
        <p:nvSpPr>
          <p:cNvPr id="8" name="Text 3"/>
          <p:cNvSpPr txBox="1"/>
          <p:nvPr/>
        </p:nvSpPr>
        <p:spPr>
          <a:xfrm>
            <a:off x="1005840" y="5539801"/>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Contoh 05: </a:t>
            </a:r>
            <a:r>
              <a:rPr lang="id-ID" altLang="en-US" sz="1800" dirty="0">
                <a:solidFill>
                  <a:srgbClr val="57606A"/>
                </a:solidFill>
                <a:latin typeface="Consolas" pitchFamily="34" charset="0"/>
                <a:ea typeface="Consolas" pitchFamily="34" charset="-122"/>
                <a:cs typeface="Consolas" pitchFamily="34" charset="-120"/>
              </a:rPr>
              <a:t>EkspedisiDarat</a:t>
            </a:r>
            <a:r>
              <a:rPr lang="id-ID" altLang="en-US" sz="1800" dirty="0">
                <a:solidFill>
                  <a:srgbClr val="57606A"/>
                </a:solidFill>
              </a:rPr>
              <a:t> membuat </a:t>
            </a:r>
            <a:r>
              <a:rPr lang="id-ID" altLang="en-US" sz="1800" dirty="0">
                <a:solidFill>
                  <a:srgbClr val="57606A"/>
                </a:solidFill>
                <a:latin typeface="Consolas" pitchFamily="34" charset="0"/>
                <a:ea typeface="Consolas" pitchFamily="34" charset="-122"/>
                <a:cs typeface="Consolas" pitchFamily="34" charset="-120"/>
              </a:rPr>
              <a:t>Truk</a:t>
            </a:r>
            <a:r>
              <a:rPr lang="id-ID" altLang="en-US" sz="1800" dirty="0">
                <a:solidFill>
                  <a:srgbClr val="57606A"/>
                </a:solidFill>
              </a:rPr>
              <a:t>, </a:t>
            </a:r>
            <a:r>
              <a:rPr lang="id-ID" altLang="en-US" sz="1800" dirty="0">
                <a:solidFill>
                  <a:srgbClr val="57606A"/>
                </a:solidFill>
                <a:latin typeface="Consolas" pitchFamily="34" charset="0"/>
                <a:ea typeface="Consolas" pitchFamily="34" charset="-122"/>
                <a:cs typeface="Consolas" pitchFamily="34" charset="-120"/>
              </a:rPr>
              <a:t>EkspedisiSungai</a:t>
            </a:r>
            <a:r>
              <a:rPr lang="id-ID" altLang="en-US" sz="1800" dirty="0">
                <a:solidFill>
                  <a:srgbClr val="57606A"/>
                </a:solidFill>
              </a:rPr>
              <a:t> membuat </a:t>
            </a:r>
            <a:r>
              <a:rPr lang="id-ID" altLang="en-US" sz="1800" dirty="0">
                <a:solidFill>
                  <a:srgbClr val="57606A"/>
                </a:solidFill>
                <a:latin typeface="Consolas" pitchFamily="34" charset="0"/>
                <a:ea typeface="Consolas" pitchFamily="34" charset="-122"/>
                <a:cs typeface="Consolas" pitchFamily="34" charset="-120"/>
              </a:rPr>
              <a:t>KapalSungai</a:t>
            </a:r>
            <a:r>
              <a:rPr lang="id-ID" altLang="en-US" sz="1800" dirty="0">
                <a:solidFill>
                  <a:srgbClr val="57606A"/>
                </a:solidFill>
              </a:rPr>
              <a:t>, lewat </a:t>
            </a:r>
            <a:r>
              <a:rPr lang="id-ID" altLang="en-US" sz="1800" dirty="0">
                <a:solidFill>
                  <a:srgbClr val="57606A"/>
                </a:solidFill>
                <a:latin typeface="Consolas" pitchFamily="34" charset="0"/>
                <a:ea typeface="Consolas" pitchFamily="34" charset="-122"/>
                <a:cs typeface="Consolas" pitchFamily="34" charset="-120"/>
              </a:rPr>
              <a:t>buat_angkutan()</a:t>
            </a:r>
            <a:r>
              <a:rPr lang="id-ID" altLang="en-US" sz="1800" dirty="0">
                <a:solidFill>
                  <a:srgbClr val="57606A"/>
                </a:solidFill>
              </a:rPr>
              <a:t> yang di-⁠</a:t>
            </a:r>
            <a:r>
              <a:rPr lang="id-ID" altLang="en-US" sz="1800" i="1" dirty="0">
                <a:solidFill>
                  <a:srgbClr val="57606A"/>
                </a:solidFill>
              </a:rPr>
              <a:t>override</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4</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4</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i="1" dirty="0">
                <a:solidFill>
                  <a:srgbClr val="FFFFFF"/>
                </a:solidFill>
              </a:rPr>
              <a:t>Strategy</a:t>
            </a:r>
            <a:r>
              <a:rPr lang="id-ID" altLang="en-US" sz="4200" b="1" dirty="0">
                <a:solidFill>
                  <a:srgbClr val="FFFFFF"/>
                </a:solidFill>
              </a:rPr>
              <a:t>: Algoritma yang Bisa Ditukar</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Pola </a:t>
            </a:r>
            <a:r>
              <a:rPr lang="id-ID" altLang="en-US" sz="2200" i="1" dirty="0">
                <a:solidFill>
                  <a:srgbClr val="C9D7E8"/>
                </a:solidFill>
              </a:rPr>
              <a:t>behavioral</a:t>
            </a:r>
            <a:r>
              <a:rPr lang="id-ID" altLang="en-US" sz="2200" dirty="0">
                <a:solidFill>
                  <a:srgbClr val="C9D7E8"/>
                </a:solidFill>
              </a:rPr>
              <a:t> yang sebenarnya sudah kamu pakai sejak Pertemuan 13.</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9A67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Rute Tercepat, Terpendek, atau Hindari Tol</a:t>
            </a:r>
            <a:endParaRPr lang="id-ID" sz="3200" dirty="0"/>
          </a:p>
        </p:txBody>
      </p:sp>
      <p:sp>
        <p:nvSpPr>
          <p:cNvPr id="5" name="Shape 2"/>
          <p:cNvSpPr/>
          <p:nvPr/>
        </p:nvSpPr>
        <p:spPr>
          <a:xfrm>
            <a:off x="548640" y="1417320"/>
            <a:ext cx="5074920" cy="4782312"/>
          </a:xfrm>
          <a:prstGeom prst="roundRect">
            <a:avLst>
              <a:gd name="adj" fmla="val 585"/>
            </a:avLst>
          </a:prstGeom>
          <a:solidFill>
            <a:srgbClr val="FFF8C5"/>
          </a:solidFill>
          <a:ln w="9525">
            <a:solidFill>
              <a:srgbClr val="D4A72C"/>
            </a:solidFill>
            <a:prstDash val="solid"/>
          </a:ln>
        </p:spPr>
      </p:sp>
      <p:sp>
        <p:nvSpPr>
          <p:cNvPr id="6" name="Shape 3"/>
          <p:cNvSpPr/>
          <p:nvPr/>
        </p:nvSpPr>
        <p:spPr>
          <a:xfrm>
            <a:off x="822960" y="1645920"/>
            <a:ext cx="457200" cy="457200"/>
          </a:xfrm>
          <a:prstGeom prst="ellipse">
            <a:avLst/>
          </a:prstGeom>
          <a:solidFill>
            <a:srgbClr val="9A6700"/>
          </a:solidFill>
          <a:ln/>
        </p:spPr>
      </p:sp>
      <p:pic>
        <p:nvPicPr>
          <p:cNvPr id="7" name="Image 1" descr="preencoded.png">    </p:cNvPr>
          <p:cNvPicPr>
            <a:picLocks noChangeAspect="1"/>
          </p:cNvPicPr>
          <p:nvPr/>
        </p:nvPicPr>
        <p:blipFill>
          <a:blip r:embed="rId2"/>
          <a:stretch>
            <a:fillRect/>
          </a:stretch>
        </p:blipFill>
        <p:spPr>
          <a:xfrm>
            <a:off x="923544" y="1746504"/>
            <a:ext cx="256032" cy="256032"/>
          </a:xfrm>
          <a:prstGeom prst="rect">
            <a:avLst/>
          </a:prstGeom>
        </p:spPr>
      </p:pic>
      <p:sp>
        <p:nvSpPr>
          <p:cNvPr id="8" name="Text 4"/>
          <p:cNvSpPr txBox="1"/>
          <p:nvPr/>
        </p:nvSpPr>
        <p:spPr>
          <a:xfrm>
            <a:off x="1417320" y="1691640"/>
            <a:ext cx="2743200" cy="365760"/>
          </a:xfrm>
          <a:prstGeom prst="rect">
            <a:avLst/>
          </a:prstGeom>
          <a:noFill/>
          <a:ln/>
        </p:spPr>
        <p:txBody>
          <a:bodyPr wrap="square" lIns="0" tIns="0" rIns="0" bIns="0" rtlCol="0" anchor="t"/>
          <a:lstStyle/>
          <a:p>
            <a:pPr indent="0" marL="0">
              <a:buNone/>
            </a:pPr>
            <a:r>
              <a:rPr lang="id-ID" altLang="en-US" sz="1600" b="1" dirty="0">
                <a:solidFill>
                  <a:srgbClr val="9A6700"/>
                </a:solidFill>
              </a:rPr>
              <a:t>Analogi</a:t>
            </a:r>
            <a:endParaRPr lang="id-ID" sz="1600" dirty="0"/>
          </a:p>
        </p:txBody>
      </p:sp>
      <p:sp>
        <p:nvSpPr>
          <p:cNvPr id="9" name="Shape 5"/>
          <p:cNvSpPr/>
          <p:nvPr/>
        </p:nvSpPr>
        <p:spPr>
          <a:xfrm>
            <a:off x="923544" y="2356866"/>
            <a:ext cx="137160" cy="137160"/>
          </a:xfrm>
          <a:prstGeom prst="roundRect">
            <a:avLst>
              <a:gd name="adj" fmla="val 166667"/>
            </a:avLst>
          </a:prstGeom>
          <a:solidFill>
            <a:srgbClr val="9A6700"/>
          </a:solidFill>
          <a:ln/>
        </p:spPr>
      </p:sp>
      <p:sp>
        <p:nvSpPr>
          <p:cNvPr id="10" name="Text 6"/>
          <p:cNvSpPr txBox="1"/>
          <p:nvPr/>
        </p:nvSpPr>
        <p:spPr>
          <a:xfrm>
            <a:off x="1252728" y="2286000"/>
            <a:ext cx="3867912" cy="1161288"/>
          </a:xfrm>
          <a:prstGeom prst="rect">
            <a:avLst/>
          </a:prstGeom>
          <a:noFill/>
          <a:ln/>
        </p:spPr>
        <p:txBody>
          <a:bodyPr wrap="square" lIns="0" tIns="0" rIns="0" bIns="0" rtlCol="0" anchor="t"/>
          <a:lstStyle/>
          <a:p>
            <a:pPr indent="0" marL="0">
              <a:buNone/>
            </a:pPr>
            <a:r>
              <a:rPr lang="id-ID" altLang="en-US" sz="1800" b="1" dirty="0">
                <a:solidFill>
                  <a:srgbClr val="1F2328"/>
                </a:solidFill>
              </a:rPr>
              <a:t>Masalah:</a:t>
            </a:r>
            <a:r>
              <a:rPr lang="id-ID" altLang="en-US" sz="1800" dirty="0">
                <a:solidFill>
                  <a:srgbClr val="1F2328"/>
                </a:solidFill>
              </a:rPr>
              <a:t> rumus diskon </a:t>
            </a:r>
            <a:r>
              <a:rPr lang="id-ID" altLang="en-US" sz="1800" dirty="0">
                <a:solidFill>
                  <a:srgbClr val="1F2328"/>
                </a:solidFill>
                <a:latin typeface="Consolas" pitchFamily="34" charset="0"/>
                <a:ea typeface="Consolas" pitchFamily="34" charset="-122"/>
                <a:cs typeface="Consolas" pitchFamily="34" charset="-120"/>
              </a:rPr>
              <a:t>KasirSerbaBisa</a:t>
            </a:r>
            <a:r>
              <a:rPr lang="id-ID" altLang="en-US" sz="1800" dirty="0">
                <a:solidFill>
                  <a:srgbClr val="1F2328"/>
                </a:solidFill>
              </a:rPr>
              <a:t> berupa </a:t>
            </a:r>
            <a:r>
              <a:rPr lang="id-ID" altLang="en-US" sz="1800" dirty="0">
                <a:solidFill>
                  <a:srgbClr val="1F2328"/>
                </a:solidFill>
                <a:latin typeface="Consolas" pitchFamily="34" charset="0"/>
                <a:ea typeface="Consolas" pitchFamily="34" charset="-122"/>
                <a:cs typeface="Consolas" pitchFamily="34" charset="-120"/>
              </a:rPr>
              <a:t>if</a:t>
            </a:r>
            <a:r>
              <a:rPr lang="id-ID" altLang="en-US" sz="1800" dirty="0">
                <a:solidFill>
                  <a:srgbClr val="1F2328"/>
                </a:solidFill>
              </a:rPr>
              <a:t>/</a:t>
            </a:r>
            <a:r>
              <a:rPr lang="id-ID" altLang="en-US" sz="1800" dirty="0">
                <a:solidFill>
                  <a:srgbClr val="1F2328"/>
                </a:solidFill>
                <a:latin typeface="Consolas" pitchFamily="34" charset="0"/>
                <a:ea typeface="Consolas" pitchFamily="34" charset="-122"/>
                <a:cs typeface="Consolas" pitchFamily="34" charset="-120"/>
              </a:rPr>
              <a:t>elif</a:t>
            </a:r>
            <a:r>
              <a:rPr lang="id-ID" altLang="en-US" sz="1800" dirty="0">
                <a:solidFill>
                  <a:srgbClr val="1F2328"/>
                </a:solidFill>
              </a:rPr>
              <a:t> panjang. Setiap promo baru berarti membongkar </a:t>
            </a:r>
            <a:r>
              <a:rPr lang="id-ID" altLang="en-US" sz="1800" i="1" dirty="0">
                <a:solidFill>
                  <a:srgbClr val="1F2328"/>
                </a:solidFill>
              </a:rPr>
              <a:t>method</a:t>
            </a:r>
            <a:r>
              <a:rPr lang="id-ID" altLang="en-US" sz="1800" dirty="0">
                <a:solidFill>
                  <a:srgbClr val="1F2328"/>
                </a:solidFill>
              </a:rPr>
              <a:t> yang sama.</a:t>
            </a:r>
            <a:endParaRPr lang="id-ID" sz="1800" dirty="0"/>
          </a:p>
        </p:txBody>
      </p:sp>
      <p:sp>
        <p:nvSpPr>
          <p:cNvPr id="11" name="Shape 7"/>
          <p:cNvSpPr/>
          <p:nvPr/>
        </p:nvSpPr>
        <p:spPr>
          <a:xfrm>
            <a:off x="923544" y="3691890"/>
            <a:ext cx="137160" cy="137160"/>
          </a:xfrm>
          <a:prstGeom prst="roundRect">
            <a:avLst>
              <a:gd name="adj" fmla="val 166667"/>
            </a:avLst>
          </a:prstGeom>
          <a:solidFill>
            <a:srgbClr val="9A6700"/>
          </a:solidFill>
          <a:ln/>
        </p:spPr>
      </p:sp>
      <p:sp>
        <p:nvSpPr>
          <p:cNvPr id="12" name="Text 8"/>
          <p:cNvSpPr txBox="1"/>
          <p:nvPr/>
        </p:nvSpPr>
        <p:spPr>
          <a:xfrm>
            <a:off x="1252728" y="3621024"/>
            <a:ext cx="3867912" cy="1161288"/>
          </a:xfrm>
          <a:prstGeom prst="rect">
            <a:avLst/>
          </a:prstGeom>
          <a:noFill/>
          <a:ln/>
        </p:spPr>
        <p:txBody>
          <a:bodyPr wrap="square" lIns="0" tIns="0" rIns="0" bIns="0" rtlCol="0" anchor="t"/>
          <a:lstStyle/>
          <a:p>
            <a:pPr indent="0" marL="0">
              <a:buNone/>
            </a:pPr>
            <a:r>
              <a:rPr lang="id-ID" altLang="en-US" sz="1800" dirty="0">
                <a:solidFill>
                  <a:srgbClr val="1F2328"/>
                </a:solidFill>
              </a:rPr>
              <a:t>Aplikasi peta bisa menghitung rute </a:t>
            </a:r>
            <a:r>
              <a:rPr lang="id-ID" altLang="en-US" sz="1800" b="1" dirty="0">
                <a:solidFill>
                  <a:srgbClr val="1F2328"/>
                </a:solidFill>
              </a:rPr>
              <a:t>tercepat</a:t>
            </a:r>
            <a:r>
              <a:rPr lang="id-ID" altLang="en-US" sz="1800" dirty="0">
                <a:solidFill>
                  <a:srgbClr val="1F2328"/>
                </a:solidFill>
              </a:rPr>
              <a:t>, </a:t>
            </a:r>
            <a:r>
              <a:rPr lang="id-ID" altLang="en-US" sz="1800" b="1" dirty="0">
                <a:solidFill>
                  <a:srgbClr val="1F2328"/>
                </a:solidFill>
              </a:rPr>
              <a:t>terpendek</a:t>
            </a:r>
            <a:r>
              <a:rPr lang="id-ID" altLang="en-US" sz="1800" dirty="0">
                <a:solidFill>
                  <a:srgbClr val="1F2328"/>
                </a:solidFill>
              </a:rPr>
              <a:t>, atau </a:t>
            </a:r>
            <a:r>
              <a:rPr lang="id-ID" altLang="en-US" sz="1800" b="1" dirty="0">
                <a:solidFill>
                  <a:srgbClr val="1F2328"/>
                </a:solidFill>
              </a:rPr>
              <a:t>menghindari tol</a:t>
            </a:r>
            <a:r>
              <a:rPr lang="id-ID" altLang="en-US" sz="1800" dirty="0">
                <a:solidFill>
                  <a:srgbClr val="1F2328"/>
                </a:solidFill>
              </a:rPr>
              <a:t>, dan pilihannya bisa diganti di tengah perjalanan.</a:t>
            </a:r>
            <a:endParaRPr lang="id-ID" sz="1800" dirty="0"/>
          </a:p>
        </p:txBody>
      </p:sp>
      <p:sp>
        <p:nvSpPr>
          <p:cNvPr id="13" name="Shape 9"/>
          <p:cNvSpPr/>
          <p:nvPr/>
        </p:nvSpPr>
        <p:spPr>
          <a:xfrm>
            <a:off x="923544" y="5026914"/>
            <a:ext cx="137160" cy="137160"/>
          </a:xfrm>
          <a:prstGeom prst="roundRect">
            <a:avLst>
              <a:gd name="adj" fmla="val 166667"/>
            </a:avLst>
          </a:prstGeom>
          <a:solidFill>
            <a:srgbClr val="9A6700"/>
          </a:solidFill>
          <a:ln/>
        </p:spPr>
      </p:sp>
      <p:sp>
        <p:nvSpPr>
          <p:cNvPr id="14" name="Text 10"/>
          <p:cNvSpPr txBox="1"/>
          <p:nvPr/>
        </p:nvSpPr>
        <p:spPr>
          <a:xfrm>
            <a:off x="1252728" y="4956048"/>
            <a:ext cx="3867912" cy="1161288"/>
          </a:xfrm>
          <a:prstGeom prst="rect">
            <a:avLst/>
          </a:prstGeom>
          <a:noFill/>
          <a:ln/>
        </p:spPr>
        <p:txBody>
          <a:bodyPr wrap="square" lIns="0" tIns="0" rIns="0" bIns="0" rtlCol="0" anchor="t"/>
          <a:lstStyle/>
          <a:p>
            <a:pPr indent="0" marL="0">
              <a:buNone/>
            </a:pPr>
            <a:r>
              <a:rPr lang="id-ID" altLang="en-US" sz="1800" b="1" i="1" dirty="0">
                <a:solidFill>
                  <a:srgbClr val="1F2328"/>
                </a:solidFill>
              </a:rPr>
              <a:t>Strategy</a:t>
            </a:r>
            <a:r>
              <a:rPr lang="id-ID" altLang="en-US" sz="1800" dirty="0">
                <a:solidFill>
                  <a:srgbClr val="1F2328"/>
                </a:solidFill>
              </a:rPr>
              <a:t> membungkus setiap varian algoritma dalam kelasnya sendiri dengan </a:t>
            </a:r>
            <a:r>
              <a:rPr lang="id-ID" altLang="en-US" sz="1800" i="1" dirty="0">
                <a:solidFill>
                  <a:srgbClr val="1F2328"/>
                </a:solidFill>
              </a:rPr>
              <a:t>interface</a:t>
            </a:r>
            <a:r>
              <a:rPr lang="id-ID" altLang="en-US" sz="1800" dirty="0">
                <a:solidFill>
                  <a:srgbClr val="1F2328"/>
                </a:solidFill>
              </a:rPr>
              <a:t> yang sama agar bisa </a:t>
            </a:r>
            <a:r>
              <a:rPr lang="id-ID" altLang="en-US" sz="1800" b="1" dirty="0">
                <a:solidFill>
                  <a:srgbClr val="1F2328"/>
                </a:solidFill>
              </a:rPr>
              <a:t>ditukar saat program berjalan</a:t>
            </a:r>
            <a:r>
              <a:rPr lang="id-ID" altLang="en-US" sz="1800" dirty="0">
                <a:solidFill>
                  <a:srgbClr val="1F2328"/>
                </a:solidFill>
              </a:rPr>
              <a:t>.</a:t>
            </a:r>
            <a:endParaRPr lang="id-ID" sz="1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943600" y="1956816"/>
          <a:ext cx="5699455" cy="914400"/>
        </p:xfrm>
        <a:graphic>
          <a:graphicData uri="http://schemas.openxmlformats.org/drawingml/2006/table">
            <a:tbl>
              <a:tblPr/>
              <a:tblGrid>
                <a:gridCol w="2658818"/>
                <a:gridCol w="3040637"/>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Aplikasi peta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Pola </a:t>
                      </a:r>
                      <a:r>
                        <a:rPr lang="id-ID" altLang="en-US" sz="2000" b="1" i="1" dirty="0">
                          <a:solidFill>
                            <a:srgbClr val="FFFFFF"/>
                          </a:solidFill>
                          <a:latin typeface="Calibri" pitchFamily="34" charset="0"/>
                          <a:ea typeface="Calibri" pitchFamily="34" charset="-122"/>
                          <a:cs typeface="Calibri" pitchFamily="34" charset="-120"/>
                        </a:rPr>
                        <a:t>Strategy</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Tujuan perjalanannya sama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Semua strategi memenuhi </a:t>
                      </a:r>
                      <a:r>
                        <a:rPr lang="id-ID" altLang="en-US" sz="2000" i="1" dirty="0">
                          <a:solidFill>
                            <a:srgbClr val="1F2328"/>
                          </a:solidFill>
                          <a:latin typeface="Calibri" pitchFamily="34" charset="0"/>
                          <a:ea typeface="Calibri" pitchFamily="34" charset="-122"/>
                          <a:cs typeface="Calibri" pitchFamily="34" charset="-120"/>
                        </a:rPr>
                        <a:t>interface</a:t>
                      </a:r>
                      <a:r>
                        <a:rPr lang="id-ID" altLang="en-US" sz="2000" dirty="0">
                          <a:solidFill>
                            <a:srgbClr val="1F2328"/>
                          </a:solidFill>
                          <a:latin typeface="Calibri" pitchFamily="34" charset="0"/>
                          <a:ea typeface="Calibri" pitchFamily="34" charset="-122"/>
                          <a:cs typeface="Calibri" pitchFamily="34" charset="-120"/>
                        </a:rPr>
                        <a:t> yang sama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Cara menghitung rutenya berbeda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Setiap rumus punya kelasnya sendiri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Diganti di tengah perjalanan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Ditukar saat program berjalan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Aplikasi tidak perlu diinstal ulang</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Kode yang memakainya tidak diubah</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Struktur </a:t>
            </a:r>
            <a:r>
              <a:rPr lang="id-ID" altLang="en-US" sz="3200" b="1" i="1" dirty="0">
                <a:solidFill>
                  <a:srgbClr val="0A3069"/>
                </a:solidFill>
              </a:rPr>
              <a:t>Strategy</a:t>
            </a:r>
            <a:r>
              <a:rPr lang="id-ID" altLang="en-US" sz="3200" b="1" dirty="0">
                <a:solidFill>
                  <a:srgbClr val="0A3069"/>
                </a:solidFill>
              </a:rPr>
              <a:t>: Contoh Ongkos Kirim</a:t>
            </a:r>
            <a:endParaRPr lang="id-ID" sz="3200" dirty="0"/>
          </a:p>
        </p:txBody>
      </p:sp>
      <p:pic>
        <p:nvPicPr>
          <p:cNvPr id="5" name="Image 1" descr="Di KedaiKita: context Pesanan, kontrak Diskon, strategi baru DiskonHappyHour, ditukar lewat atur_diskon(). Nama bergaya Python.">    </p:cNvPr>
          <p:cNvPicPr>
            <a:picLocks noChangeAspect="1"/>
          </p:cNvPicPr>
          <p:nvPr/>
        </p:nvPicPr>
        <p:blipFill>
          <a:blip r:embed="rId2"/>
          <a:stretch>
            <a:fillRect/>
          </a:stretch>
        </p:blipFill>
        <p:spPr>
          <a:xfrm>
            <a:off x="1547613" y="1417320"/>
            <a:ext cx="9096469" cy="4045204"/>
          </a:xfrm>
          <a:prstGeom prst="rect">
            <a:avLst/>
          </a:prstGeom>
        </p:spPr>
      </p:pic>
      <p:sp>
        <p:nvSpPr>
          <p:cNvPr id="6" name="Text 2"/>
          <p:cNvSpPr txBox="1"/>
          <p:nvPr/>
        </p:nvSpPr>
        <p:spPr>
          <a:xfrm>
            <a:off x="1005840" y="5572252"/>
            <a:ext cx="10180015" cy="691388"/>
          </a:xfrm>
          <a:prstGeom prst="rect">
            <a:avLst/>
          </a:prstGeom>
          <a:noFill/>
          <a:ln/>
        </p:spPr>
        <p:txBody>
          <a:bodyPr wrap="square" lIns="0" tIns="0" rIns="0" bIns="0" rtlCol="0" anchor="t"/>
          <a:lstStyle/>
          <a:p>
            <a:pPr algn="ctr" indent="0" marL="0">
              <a:buNone/>
            </a:pPr>
            <a:r>
              <a:rPr lang="id-ID" altLang="en-US" sz="1700" dirty="0">
                <a:solidFill>
                  <a:srgbClr val="57606A"/>
                </a:solidFill>
              </a:rPr>
              <a:t>Di KedaiKita: </a:t>
            </a:r>
            <a:r>
              <a:rPr lang="id-ID" altLang="en-US" sz="1700" i="1" dirty="0">
                <a:solidFill>
                  <a:srgbClr val="57606A"/>
                </a:solidFill>
              </a:rPr>
              <a:t>context</a:t>
            </a:r>
            <a:r>
              <a:rPr lang="id-ID" altLang="en-US" sz="1700" dirty="0">
                <a:solidFill>
                  <a:srgbClr val="57606A"/>
                </a:solidFill>
              </a:rPr>
              <a:t> </a:t>
            </a:r>
            <a:r>
              <a:rPr lang="id-ID" altLang="en-US" sz="1700" dirty="0">
                <a:solidFill>
                  <a:srgbClr val="57606A"/>
                </a:solidFill>
                <a:latin typeface="Consolas" pitchFamily="34" charset="0"/>
                <a:ea typeface="Consolas" pitchFamily="34" charset="-122"/>
                <a:cs typeface="Consolas" pitchFamily="34" charset="-120"/>
              </a:rPr>
              <a:t>Pesanan</a:t>
            </a:r>
            <a:r>
              <a:rPr lang="id-ID" altLang="en-US" sz="1700" dirty="0">
                <a:solidFill>
                  <a:srgbClr val="57606A"/>
                </a:solidFill>
              </a:rPr>
              <a:t>, kontrak </a:t>
            </a:r>
            <a:r>
              <a:rPr lang="id-ID" altLang="en-US" sz="1700" dirty="0">
                <a:solidFill>
                  <a:srgbClr val="57606A"/>
                </a:solidFill>
                <a:latin typeface="Consolas" pitchFamily="34" charset="0"/>
                <a:ea typeface="Consolas" pitchFamily="34" charset="-122"/>
                <a:cs typeface="Consolas" pitchFamily="34" charset="-120"/>
              </a:rPr>
              <a:t>Diskon</a:t>
            </a:r>
            <a:r>
              <a:rPr lang="id-ID" altLang="en-US" sz="1700" dirty="0">
                <a:solidFill>
                  <a:srgbClr val="57606A"/>
                </a:solidFill>
              </a:rPr>
              <a:t>, strategi baru </a:t>
            </a:r>
            <a:r>
              <a:rPr lang="id-ID" altLang="en-US" sz="1700" dirty="0">
                <a:solidFill>
                  <a:srgbClr val="57606A"/>
                </a:solidFill>
                <a:latin typeface="Consolas" pitchFamily="34" charset="0"/>
                <a:ea typeface="Consolas" pitchFamily="34" charset="-122"/>
                <a:cs typeface="Consolas" pitchFamily="34" charset="-120"/>
              </a:rPr>
              <a:t>DiskonHappyHour</a:t>
            </a:r>
            <a:r>
              <a:rPr lang="id-ID" altLang="en-US" sz="1700" dirty="0">
                <a:solidFill>
                  <a:srgbClr val="57606A"/>
                </a:solidFill>
              </a:rPr>
              <a:t>, ditukar lewat </a:t>
            </a:r>
            <a:r>
              <a:rPr lang="id-ID" altLang="en-US" sz="1700" dirty="0">
                <a:solidFill>
                  <a:srgbClr val="57606A"/>
                </a:solidFill>
                <a:latin typeface="Consolas" pitchFamily="34" charset="0"/>
                <a:ea typeface="Consolas" pitchFamily="34" charset="-122"/>
                <a:cs typeface="Consolas" pitchFamily="34" charset="-120"/>
              </a:rPr>
              <a:t>atur_diskon()</a:t>
            </a:r>
            <a:r>
              <a:rPr lang="id-ID" altLang="en-US" sz="1700" dirty="0">
                <a:solidFill>
                  <a:srgbClr val="57606A"/>
                </a:solidFill>
              </a:rPr>
              <a:t>. Nama bergaya Python.</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5</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5</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3600" b="1" i="1" dirty="0">
                <a:solidFill>
                  <a:srgbClr val="FFFFFF"/>
                </a:solidFill>
              </a:rPr>
              <a:t>Observer</a:t>
            </a:r>
            <a:r>
              <a:rPr lang="id-ID" altLang="en-US" sz="3600" b="1" dirty="0">
                <a:solidFill>
                  <a:srgbClr val="FFFFFF"/>
                </a:solidFill>
              </a:rPr>
              <a:t>: Kabari Semua yang Berlangganan</a:t>
            </a:r>
            <a:endParaRPr lang="id-ID" sz="36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Pola </a:t>
            </a:r>
            <a:r>
              <a:rPr lang="id-ID" altLang="en-US" sz="2200" i="1" dirty="0">
                <a:solidFill>
                  <a:srgbClr val="C9D7E8"/>
                </a:solidFill>
              </a:rPr>
              <a:t>behavioral</a:t>
            </a:r>
            <a:r>
              <a:rPr lang="id-ID" altLang="en-US" sz="2200" dirty="0">
                <a:solidFill>
                  <a:srgbClr val="C9D7E8"/>
                </a:solidFill>
              </a:rPr>
              <a:t> kedua: satu kejadian, banyak pihak yang dikabari.</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9A67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Tombol Langganan di Kanal Video</a:t>
            </a:r>
            <a:endParaRPr lang="id-ID" sz="3200" dirty="0"/>
          </a:p>
        </p:txBody>
      </p:sp>
      <p:sp>
        <p:nvSpPr>
          <p:cNvPr id="5" name="Shape 2"/>
          <p:cNvSpPr/>
          <p:nvPr/>
        </p:nvSpPr>
        <p:spPr>
          <a:xfrm>
            <a:off x="548640" y="1511412"/>
            <a:ext cx="5074920" cy="4558284"/>
          </a:xfrm>
          <a:prstGeom prst="roundRect">
            <a:avLst>
              <a:gd name="adj" fmla="val 644"/>
            </a:avLst>
          </a:prstGeom>
          <a:solidFill>
            <a:srgbClr val="FFF8C5"/>
          </a:solidFill>
          <a:ln w="9525">
            <a:solidFill>
              <a:srgbClr val="D4A72C"/>
            </a:solidFill>
            <a:prstDash val="solid"/>
          </a:ln>
        </p:spPr>
      </p:sp>
      <p:sp>
        <p:nvSpPr>
          <p:cNvPr id="6" name="Shape 3"/>
          <p:cNvSpPr/>
          <p:nvPr/>
        </p:nvSpPr>
        <p:spPr>
          <a:xfrm>
            <a:off x="822960" y="1740012"/>
            <a:ext cx="457200" cy="457200"/>
          </a:xfrm>
          <a:prstGeom prst="ellipse">
            <a:avLst/>
          </a:prstGeom>
          <a:solidFill>
            <a:srgbClr val="9A6700"/>
          </a:solidFill>
          <a:ln/>
        </p:spPr>
      </p:sp>
      <p:pic>
        <p:nvPicPr>
          <p:cNvPr id="7" name="Image 1" descr="preencoded.png">    </p:cNvPr>
          <p:cNvPicPr>
            <a:picLocks noChangeAspect="1"/>
          </p:cNvPicPr>
          <p:nvPr/>
        </p:nvPicPr>
        <p:blipFill>
          <a:blip r:embed="rId2"/>
          <a:stretch>
            <a:fillRect/>
          </a:stretch>
        </p:blipFill>
        <p:spPr>
          <a:xfrm>
            <a:off x="923544" y="1840596"/>
            <a:ext cx="256032" cy="256032"/>
          </a:xfrm>
          <a:prstGeom prst="rect">
            <a:avLst/>
          </a:prstGeom>
        </p:spPr>
      </p:pic>
      <p:sp>
        <p:nvSpPr>
          <p:cNvPr id="8" name="Text 4"/>
          <p:cNvSpPr txBox="1"/>
          <p:nvPr/>
        </p:nvSpPr>
        <p:spPr>
          <a:xfrm>
            <a:off x="1417320" y="1785732"/>
            <a:ext cx="2743200" cy="365760"/>
          </a:xfrm>
          <a:prstGeom prst="rect">
            <a:avLst/>
          </a:prstGeom>
          <a:noFill/>
          <a:ln/>
        </p:spPr>
        <p:txBody>
          <a:bodyPr wrap="square" lIns="0" tIns="0" rIns="0" bIns="0" rtlCol="0" anchor="t"/>
          <a:lstStyle/>
          <a:p>
            <a:pPr indent="0" marL="0">
              <a:buNone/>
            </a:pPr>
            <a:r>
              <a:rPr lang="id-ID" altLang="en-US" sz="1600" b="1" dirty="0">
                <a:solidFill>
                  <a:srgbClr val="9A6700"/>
                </a:solidFill>
              </a:rPr>
              <a:t>Analogi</a:t>
            </a:r>
            <a:endParaRPr lang="id-ID" sz="1600" dirty="0"/>
          </a:p>
        </p:txBody>
      </p:sp>
      <p:sp>
        <p:nvSpPr>
          <p:cNvPr id="9" name="Shape 5"/>
          <p:cNvSpPr/>
          <p:nvPr/>
        </p:nvSpPr>
        <p:spPr>
          <a:xfrm>
            <a:off x="923544" y="2450958"/>
            <a:ext cx="137160" cy="137160"/>
          </a:xfrm>
          <a:prstGeom prst="roundRect">
            <a:avLst>
              <a:gd name="adj" fmla="val 166667"/>
            </a:avLst>
          </a:prstGeom>
          <a:solidFill>
            <a:srgbClr val="9A6700"/>
          </a:solidFill>
          <a:ln/>
        </p:spPr>
      </p:sp>
      <p:sp>
        <p:nvSpPr>
          <p:cNvPr id="10" name="Text 6"/>
          <p:cNvSpPr txBox="1"/>
          <p:nvPr/>
        </p:nvSpPr>
        <p:spPr>
          <a:xfrm>
            <a:off x="1252728" y="2380092"/>
            <a:ext cx="3867912" cy="1161288"/>
          </a:xfrm>
          <a:prstGeom prst="rect">
            <a:avLst/>
          </a:prstGeom>
          <a:noFill/>
          <a:ln/>
        </p:spPr>
        <p:txBody>
          <a:bodyPr wrap="square" lIns="0" tIns="0" rIns="0" bIns="0" rtlCol="0" anchor="t"/>
          <a:lstStyle/>
          <a:p>
            <a:pPr indent="0" marL="0">
              <a:buNone/>
            </a:pPr>
            <a:r>
              <a:rPr lang="id-ID" altLang="en-US" sz="1800" b="1" dirty="0">
                <a:solidFill>
                  <a:srgbClr val="1F2328"/>
                </a:solidFill>
              </a:rPr>
              <a:t>Masalah:</a:t>
            </a:r>
            <a:r>
              <a:rPr lang="id-ID" altLang="en-US" sz="1800" dirty="0">
                <a:solidFill>
                  <a:srgbClr val="1F2328"/>
                </a:solidFill>
              </a:rPr>
              <a:t> setelah Budi membayar, dapur harus mulai memasak dan Budi ingin dikabari lewat SMS. Bulan depan penerimanya bisa bertambah.</a:t>
            </a:r>
            <a:endParaRPr lang="id-ID" sz="1800" dirty="0"/>
          </a:p>
        </p:txBody>
      </p:sp>
      <p:sp>
        <p:nvSpPr>
          <p:cNvPr id="11" name="Shape 7"/>
          <p:cNvSpPr/>
          <p:nvPr/>
        </p:nvSpPr>
        <p:spPr>
          <a:xfrm>
            <a:off x="923544" y="3785982"/>
            <a:ext cx="137160" cy="137160"/>
          </a:xfrm>
          <a:prstGeom prst="roundRect">
            <a:avLst>
              <a:gd name="adj" fmla="val 166667"/>
            </a:avLst>
          </a:prstGeom>
          <a:solidFill>
            <a:srgbClr val="9A6700"/>
          </a:solidFill>
          <a:ln/>
        </p:spPr>
      </p:sp>
      <p:sp>
        <p:nvSpPr>
          <p:cNvPr id="12" name="Text 8"/>
          <p:cNvSpPr txBox="1"/>
          <p:nvPr/>
        </p:nvSpPr>
        <p:spPr>
          <a:xfrm>
            <a:off x="1252728" y="3715116"/>
            <a:ext cx="3867912" cy="1161288"/>
          </a:xfrm>
          <a:prstGeom prst="rect">
            <a:avLst/>
          </a:prstGeom>
          <a:noFill/>
          <a:ln/>
        </p:spPr>
        <p:txBody>
          <a:bodyPr wrap="square" lIns="0" tIns="0" rIns="0" bIns="0" rtlCol="0" anchor="t"/>
          <a:lstStyle/>
          <a:p>
            <a:pPr indent="0" marL="0">
              <a:buNone/>
            </a:pPr>
            <a:r>
              <a:rPr lang="id-ID" altLang="en-US" sz="1800" dirty="0">
                <a:solidFill>
                  <a:srgbClr val="1F2328"/>
                </a:solidFill>
              </a:rPr>
              <a:t>Kamu menekan tombol </a:t>
            </a:r>
            <a:r>
              <a:rPr lang="id-ID" altLang="en-US" sz="1800" b="1" dirty="0">
                <a:solidFill>
                  <a:srgbClr val="1F2328"/>
                </a:solidFill>
              </a:rPr>
              <a:t>langganan</a:t>
            </a:r>
            <a:r>
              <a:rPr lang="id-ID" altLang="en-US" sz="1800" dirty="0">
                <a:solidFill>
                  <a:srgbClr val="1F2328"/>
                </a:solidFill>
              </a:rPr>
              <a:t> sebuah kanal video. Setiap ada video baru, kanal itu otomatis mengabari semua pelanggannya.</a:t>
            </a:r>
            <a:endParaRPr lang="id-ID" sz="1800" dirty="0"/>
          </a:p>
        </p:txBody>
      </p:sp>
      <p:sp>
        <p:nvSpPr>
          <p:cNvPr id="13" name="Shape 9"/>
          <p:cNvSpPr/>
          <p:nvPr/>
        </p:nvSpPr>
        <p:spPr>
          <a:xfrm>
            <a:off x="923544" y="5121006"/>
            <a:ext cx="137160" cy="137160"/>
          </a:xfrm>
          <a:prstGeom prst="roundRect">
            <a:avLst>
              <a:gd name="adj" fmla="val 166667"/>
            </a:avLst>
          </a:prstGeom>
          <a:solidFill>
            <a:srgbClr val="9A6700"/>
          </a:solidFill>
          <a:ln/>
        </p:spPr>
      </p:sp>
      <p:sp>
        <p:nvSpPr>
          <p:cNvPr id="14" name="Text 10"/>
          <p:cNvSpPr txBox="1"/>
          <p:nvPr/>
        </p:nvSpPr>
        <p:spPr>
          <a:xfrm>
            <a:off x="1252728" y="5050140"/>
            <a:ext cx="3867912" cy="882396"/>
          </a:xfrm>
          <a:prstGeom prst="rect">
            <a:avLst/>
          </a:prstGeom>
          <a:noFill/>
          <a:ln/>
        </p:spPr>
        <p:txBody>
          <a:bodyPr wrap="square" lIns="0" tIns="0" rIns="0" bIns="0" rtlCol="0" anchor="t"/>
          <a:lstStyle/>
          <a:p>
            <a:pPr indent="0" marL="0">
              <a:buNone/>
            </a:pPr>
            <a:r>
              <a:rPr lang="id-ID" altLang="en-US" sz="1800" b="1" i="1" dirty="0">
                <a:solidFill>
                  <a:srgbClr val="1F2328"/>
                </a:solidFill>
              </a:rPr>
              <a:t>Observer</a:t>
            </a:r>
            <a:r>
              <a:rPr lang="id-ID" altLang="en-US" sz="1800" dirty="0">
                <a:solidFill>
                  <a:srgbClr val="1F2328"/>
                </a:solidFill>
              </a:rPr>
              <a:t>: </a:t>
            </a:r>
            <a:r>
              <a:rPr lang="id-ID" altLang="en-US" sz="1800" i="1" dirty="0">
                <a:solidFill>
                  <a:srgbClr val="1F2328"/>
                </a:solidFill>
              </a:rPr>
              <a:t>subject</a:t>
            </a:r>
            <a:r>
              <a:rPr lang="id-ID" altLang="en-US" sz="1800" dirty="0">
                <a:solidFill>
                  <a:srgbClr val="1F2328"/>
                </a:solidFill>
              </a:rPr>
              <a:t> menyimpan daftar pengamat, lalu </a:t>
            </a:r>
            <a:r>
              <a:rPr lang="id-ID" altLang="en-US" sz="1800" b="1" dirty="0">
                <a:solidFill>
                  <a:srgbClr val="1F2328"/>
                </a:solidFill>
              </a:rPr>
              <a:t>otomatis memberi tahu</a:t>
            </a:r>
            <a:r>
              <a:rPr lang="id-ID" altLang="en-US" sz="1800" dirty="0">
                <a:solidFill>
                  <a:srgbClr val="1F2328"/>
                </a:solidFill>
              </a:rPr>
              <a:t> mereka setiap kali keadaannya berubah.</a:t>
            </a:r>
            <a:endParaRPr lang="id-ID" sz="1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943600" y="1938894"/>
          <a:ext cx="5699455" cy="914400"/>
        </p:xfrm>
        <a:graphic>
          <a:graphicData uri="http://schemas.openxmlformats.org/drawingml/2006/table">
            <a:tbl>
              <a:tblPr/>
              <a:tblGrid>
                <a:gridCol w="2919646"/>
                <a:gridCol w="2779809"/>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Kanal video</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Pola </a:t>
                      </a:r>
                      <a:r>
                        <a:rPr lang="id-ID" altLang="en-US" sz="2000" b="1" i="1" dirty="0">
                          <a:solidFill>
                            <a:srgbClr val="FFFFFF"/>
                          </a:solidFill>
                          <a:latin typeface="Calibri" pitchFamily="34" charset="0"/>
                          <a:ea typeface="Calibri" pitchFamily="34" charset="-122"/>
                          <a:cs typeface="Calibri" pitchFamily="34" charset="-120"/>
                        </a:rPr>
                        <a:t>Observer</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Kanal yang mengunggah video</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b="1" i="1" dirty="0">
                          <a:solidFill>
                            <a:srgbClr val="1F2328"/>
                          </a:solidFill>
                          <a:latin typeface="Calibri" pitchFamily="34" charset="0"/>
                          <a:ea typeface="Calibri" pitchFamily="34" charset="-122"/>
                          <a:cs typeface="Calibri" pitchFamily="34" charset="-120"/>
                        </a:rPr>
                        <a:t>Subject</a:t>
                      </a:r>
                      <a:r>
                        <a:rPr lang="id-ID" altLang="en-US" sz="2000" dirty="0">
                          <a:solidFill>
                            <a:srgbClr val="1F2328"/>
                          </a:solidFill>
                          <a:latin typeface="Calibri" pitchFamily="34" charset="0"/>
                          <a:ea typeface="Calibri" pitchFamily="34" charset="-122"/>
                          <a:cs typeface="Calibri" pitchFamily="34" charset="-120"/>
                        </a:rPr>
                        <a:t>: objek yang diamati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Kamu, pelanggan kanal itu</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Pengamat (</a:t>
                      </a:r>
                      <a:r>
                        <a:rPr lang="id-ID" altLang="en-US" sz="2000" b="1" i="1" dirty="0">
                          <a:solidFill>
                            <a:srgbClr val="1F2328"/>
                          </a:solidFill>
                          <a:latin typeface="Calibri" pitchFamily="34" charset="0"/>
                          <a:ea typeface="Calibri" pitchFamily="34" charset="-122"/>
                          <a:cs typeface="Calibri" pitchFamily="34" charset="-120"/>
                        </a:rPr>
                        <a:t>observer</a:t>
                      </a:r>
                      <a:r>
                        <a:rPr lang="id-ID" altLang="en-US" sz="2000" dirty="0">
                          <a:solidFill>
                            <a:srgbClr val="1F2328"/>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Notifikasi setiap ada video baru</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Kabar otomatis saat keadaan berubah</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Pemilik kanal tidak tahu siapa pelanggannya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i="1" dirty="0">
                          <a:solidFill>
                            <a:srgbClr val="1F2328"/>
                          </a:solidFill>
                          <a:latin typeface="Calibri" pitchFamily="34" charset="0"/>
                          <a:ea typeface="Calibri" pitchFamily="34" charset="-122"/>
                          <a:cs typeface="Calibri" pitchFamily="34" charset="-120"/>
                        </a:rPr>
                        <a:t>Subject</a:t>
                      </a:r>
                      <a:r>
                        <a:rPr lang="id-ID" altLang="en-US" sz="2000" dirty="0">
                          <a:solidFill>
                            <a:srgbClr val="1F2328"/>
                          </a:solidFill>
                          <a:latin typeface="Calibri" pitchFamily="34" charset="0"/>
                          <a:ea typeface="Calibri" pitchFamily="34" charset="-122"/>
                          <a:cs typeface="Calibri" pitchFamily="34" charset="-120"/>
                        </a:rPr>
                        <a:t> tidak tahu kelas konkret pengamat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latin typeface="Consolas" pitchFamily="34" charset="0"/>
                <a:ea typeface="Consolas" pitchFamily="34" charset="-122"/>
                <a:cs typeface="Consolas" pitchFamily="34" charset="-120"/>
              </a:rPr>
              <a:t>Pesanan</a:t>
            </a:r>
            <a:r>
              <a:rPr lang="id-ID" altLang="en-US" sz="3200" b="1" dirty="0">
                <a:solidFill>
                  <a:srgbClr val="0A3069"/>
                </a:solidFill>
              </a:rPr>
              <a:t> Mengabari Semua Pengamatnya</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1774637"/>
            <a:ext cx="11094415" cy="324612"/>
          </a:xfrm>
          <a:prstGeom prst="rect">
            <a:avLst/>
          </a:prstGeom>
          <a:noFill/>
          <a:ln/>
        </p:spPr>
        <p:txBody>
          <a:bodyPr wrap="square" lIns="0" tIns="0" rIns="0" bIns="0" rtlCol="0" anchor="t"/>
          <a:lstStyle/>
          <a:p>
            <a:pPr indent="0" marL="0">
              <a:buNone/>
            </a:pPr>
            <a:r>
              <a:rPr lang="id-ID" altLang="en-US" sz="1800" dirty="0">
                <a:solidFill>
                  <a:srgbClr val="0A3069"/>
                </a:solidFill>
                <a:latin typeface="Consolas" pitchFamily="34" charset="0"/>
                <a:ea typeface="Consolas" pitchFamily="34" charset="-122"/>
                <a:cs typeface="Consolas" pitchFamily="34" charset="-120"/>
              </a:rPr>
              <a:t>Pesanan</a:t>
            </a:r>
            <a:r>
              <a:rPr lang="id-ID" altLang="en-US" sz="1800" dirty="0">
                <a:solidFill>
                  <a:srgbClr val="57606A"/>
                </a:solidFill>
              </a:rPr>
              <a:t> hanya tahu bahwa setiap pengamat punya </a:t>
            </a:r>
            <a:r>
              <a:rPr lang="id-ID" altLang="en-US" sz="1800" dirty="0">
                <a:solidFill>
                  <a:srgbClr val="0A3069"/>
                </a:solidFill>
                <a:latin typeface="Consolas" pitchFamily="34" charset="0"/>
                <a:ea typeface="Consolas" pitchFamily="34" charset="-122"/>
                <a:cs typeface="Consolas" pitchFamily="34" charset="-120"/>
              </a:rPr>
              <a:t>perbarui()</a:t>
            </a:r>
            <a:r>
              <a:rPr lang="id-ID" altLang="en-US" sz="1800" dirty="0">
                <a:solidFill>
                  <a:srgbClr val="57606A"/>
                </a:solidFill>
              </a:rPr>
              <a:t>. Ia tidak tahu kelas konkretnya.</a:t>
            </a:r>
            <a:endParaRPr lang="id-ID" sz="1800" dirty="0"/>
          </a:p>
        </p:txBody>
      </p:sp>
      <p:sp>
        <p:nvSpPr>
          <p:cNvPr id="8" name="Shape 5"/>
          <p:cNvSpPr/>
          <p:nvPr/>
        </p:nvSpPr>
        <p:spPr>
          <a:xfrm>
            <a:off x="548640" y="2208977"/>
            <a:ext cx="1051560" cy="329184"/>
          </a:xfrm>
          <a:prstGeom prst="roundRect">
            <a:avLst>
              <a:gd name="adj" fmla="val 138889"/>
            </a:avLst>
          </a:prstGeom>
          <a:solidFill>
            <a:srgbClr val="3572A5"/>
          </a:solidFill>
          <a:ln/>
        </p:spPr>
      </p:sp>
      <p:sp>
        <p:nvSpPr>
          <p:cNvPr id="9" name="Text 6"/>
          <p:cNvSpPr txBox="1"/>
          <p:nvPr/>
        </p:nvSpPr>
        <p:spPr>
          <a:xfrm>
            <a:off x="548640" y="2208977"/>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208977"/>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python/studi-kasus/pesanan.py</a:t>
            </a:r>
            <a:endParaRPr lang="id-ID" sz="1100" dirty="0"/>
          </a:p>
        </p:txBody>
      </p:sp>
      <p:sp>
        <p:nvSpPr>
          <p:cNvPr id="11" name="Shape 8"/>
          <p:cNvSpPr/>
          <p:nvPr/>
        </p:nvSpPr>
        <p:spPr>
          <a:xfrm>
            <a:off x="548640" y="2629601"/>
            <a:ext cx="5432908" cy="3013456"/>
          </a:xfrm>
          <a:prstGeom prst="roundRect">
            <a:avLst>
              <a:gd name="adj" fmla="val 921"/>
            </a:avLst>
          </a:prstGeom>
          <a:solidFill>
            <a:srgbClr val="F6F8FA"/>
          </a:solidFill>
          <a:ln w="9525">
            <a:solidFill>
              <a:srgbClr val="D0D7DE"/>
            </a:solidFill>
            <a:prstDash val="solid"/>
          </a:ln>
        </p:spPr>
      </p:sp>
      <p:sp>
        <p:nvSpPr>
          <p:cNvPr id="12" name="Text 9"/>
          <p:cNvSpPr txBox="1"/>
          <p:nvPr/>
        </p:nvSpPr>
        <p:spPr>
          <a:xfrm>
            <a:off x="658368" y="2721041"/>
            <a:ext cx="5213452" cy="2830576"/>
          </a:xfrm>
          <a:prstGeom prst="rect">
            <a:avLst/>
          </a:prstGeom>
          <a:noFill/>
          <a:ln/>
        </p:spPr>
        <p:txBody>
          <a:bodyPr wrap="square" lIns="0" tIns="0" rIns="0" bIns="0" rtlCol="0" anchor="t"/>
          <a:lstStyle/>
          <a:p>
            <a:pPr indent="0" marL="0">
              <a:buNone/>
            </a:pPr>
            <a:r>
              <a:rPr lang="en-US" altLang="en-US" sz="1150" dirty="0">
                <a:solidFill>
                  <a:srgbClr val="CF222E"/>
                </a:solidFill>
                <a:latin typeface="Consolas" pitchFamily="34" charset="0"/>
                <a:ea typeface="Consolas" pitchFamily="34" charset="-122"/>
                <a:cs typeface="Consolas" pitchFamily="34" charset="-120"/>
              </a:rPr>
              <a:t>class</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953800"/>
                </a:solidFill>
                <a:latin typeface="Consolas" pitchFamily="34" charset="0"/>
                <a:ea typeface="Consolas" pitchFamily="34" charset="-122"/>
                <a:cs typeface="Consolas" pitchFamily="34" charset="-120"/>
              </a:rPr>
              <a:t>Pesanan</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def</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__init__</a:t>
            </a:r>
            <a:r>
              <a:rPr lang="en-US" altLang="en-US" sz="1150" dirty="0">
                <a:solidFill>
                  <a:srgbClr val="1F2328"/>
                </a:solidFill>
                <a:latin typeface="Consolas" pitchFamily="34" charset="0"/>
                <a:ea typeface="Consolas" pitchFamily="34" charset="-122"/>
                <a:cs typeface="Consolas" pitchFamily="34" charset="-120"/>
              </a:rPr>
              <a:t>(</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 pelanggan: Pelanggan):</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._daftar_pengamat: </a:t>
            </a:r>
            <a:r>
              <a:rPr lang="en-US" altLang="en-US" sz="1150" dirty="0">
                <a:solidFill>
                  <a:srgbClr val="0550AE"/>
                </a:solidFill>
                <a:latin typeface="Consolas" pitchFamily="34" charset="0"/>
                <a:ea typeface="Consolas" pitchFamily="34" charset="-122"/>
                <a:cs typeface="Consolas" pitchFamily="34" charset="-120"/>
              </a:rPr>
              <a:t>list</a:t>
            </a:r>
            <a:r>
              <a:rPr lang="en-US" altLang="en-US" sz="1150" dirty="0">
                <a:solidFill>
                  <a:srgbClr val="1F2328"/>
                </a:solidFill>
                <a:latin typeface="Consolas" pitchFamily="34" charset="0"/>
                <a:ea typeface="Consolas" pitchFamily="34" charset="-122"/>
                <a:cs typeface="Consolas" pitchFamily="34" charset="-120"/>
              </a:rPr>
              <a:t>[PengamatPesanan] = []</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def</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tambah_pengamat</a:t>
            </a:r>
            <a:r>
              <a:rPr lang="en-US" altLang="en-US" sz="1150" dirty="0">
                <a:solidFill>
                  <a:srgbClr val="1F2328"/>
                </a:solidFill>
                <a:latin typeface="Consolas" pitchFamily="34" charset="0"/>
                <a:ea typeface="Consolas" pitchFamily="34" charset="-122"/>
                <a:cs typeface="Consolas" pitchFamily="34" charset="-120"/>
              </a:rPr>
              <a:t>(</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 pengamat: PengamatPesanan):</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._daftar_pengamat.append(pengamat)</a:t>
            </a:r>
            <a:endParaRPr lang="en-US" sz="1150" dirty="0"/>
          </a:p>
          <a:p>
            <a:pPr indent="0" marL="0">
              <a:buNone/>
            </a:pPr>
            <a:r>
              <a:rPr lang="en-US" altLang="en-US" sz="1150" dirty="0">
                <a:solidFill>
                  <a:srgbClr val="000000"/>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def</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ubah_status</a:t>
            </a:r>
            <a:r>
              <a:rPr lang="en-US" altLang="en-US" sz="1150" dirty="0">
                <a:solidFill>
                  <a:srgbClr val="1F2328"/>
                </a:solidFill>
                <a:latin typeface="Consolas" pitchFamily="34" charset="0"/>
                <a:ea typeface="Consolas" pitchFamily="34" charset="-122"/>
                <a:cs typeface="Consolas" pitchFamily="34" charset="-120"/>
              </a:rPr>
              <a:t>(</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 status_baru: </a:t>
            </a:r>
            <a:r>
              <a:rPr lang="en-US" altLang="en-US" sz="1150" dirty="0">
                <a:solidFill>
                  <a:srgbClr val="0550AE"/>
                </a:solidFill>
                <a:latin typeface="Consolas" pitchFamily="34" charset="0"/>
                <a:ea typeface="Consolas" pitchFamily="34" charset="-122"/>
                <a:cs typeface="Consolas" pitchFamily="34" charset="-120"/>
              </a:rPr>
              <a:t>str</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._status = status_baru</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for</a:t>
            </a:r>
            <a:r>
              <a:rPr lang="en-US" altLang="en-US" sz="1150" dirty="0">
                <a:solidFill>
                  <a:srgbClr val="1F2328"/>
                </a:solidFill>
                <a:latin typeface="Consolas" pitchFamily="34" charset="0"/>
                <a:ea typeface="Consolas" pitchFamily="34" charset="-122"/>
                <a:cs typeface="Consolas" pitchFamily="34" charset="-120"/>
              </a:rPr>
              <a:t> pengamat in </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._daftar_pengamat: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pengamat.perbarui(</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p:txBody>
      </p:sp>
      <p:sp>
        <p:nvSpPr>
          <p:cNvPr id="13" name="Shape 10"/>
          <p:cNvSpPr/>
          <p:nvPr/>
        </p:nvSpPr>
        <p:spPr>
          <a:xfrm>
            <a:off x="6210148" y="2208977"/>
            <a:ext cx="1051560" cy="329184"/>
          </a:xfrm>
          <a:prstGeom prst="roundRect">
            <a:avLst>
              <a:gd name="adj" fmla="val 138889"/>
            </a:avLst>
          </a:prstGeom>
          <a:solidFill>
            <a:srgbClr val="B07219"/>
          </a:solidFill>
          <a:ln/>
        </p:spPr>
      </p:sp>
      <p:sp>
        <p:nvSpPr>
          <p:cNvPr id="14" name="Text 11"/>
          <p:cNvSpPr txBox="1"/>
          <p:nvPr/>
        </p:nvSpPr>
        <p:spPr>
          <a:xfrm>
            <a:off x="6210148" y="2208977"/>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208977"/>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java/studi-kasus/Pesanan.java</a:t>
            </a:r>
            <a:endParaRPr lang="id-ID" sz="1100" dirty="0"/>
          </a:p>
        </p:txBody>
      </p:sp>
      <p:sp>
        <p:nvSpPr>
          <p:cNvPr id="16" name="Shape 13"/>
          <p:cNvSpPr/>
          <p:nvPr/>
        </p:nvSpPr>
        <p:spPr>
          <a:xfrm>
            <a:off x="6210148" y="2629601"/>
            <a:ext cx="5432908" cy="3013456"/>
          </a:xfrm>
          <a:prstGeom prst="roundRect">
            <a:avLst>
              <a:gd name="adj" fmla="val 921"/>
            </a:avLst>
          </a:prstGeom>
          <a:solidFill>
            <a:srgbClr val="F6F8FA"/>
          </a:solidFill>
          <a:ln w="9525">
            <a:solidFill>
              <a:srgbClr val="D0D7DE"/>
            </a:solidFill>
            <a:prstDash val="solid"/>
          </a:ln>
        </p:spPr>
      </p:sp>
      <p:sp>
        <p:nvSpPr>
          <p:cNvPr id="17" name="Text 14"/>
          <p:cNvSpPr txBox="1"/>
          <p:nvPr/>
        </p:nvSpPr>
        <p:spPr>
          <a:xfrm>
            <a:off x="6319876" y="2721041"/>
            <a:ext cx="5213452" cy="2830576"/>
          </a:xfrm>
          <a:prstGeom prst="rect">
            <a:avLst/>
          </a:prstGeom>
          <a:noFill/>
          <a:ln/>
        </p:spPr>
        <p:txBody>
          <a:bodyPr wrap="square" lIns="0" tIns="0" rIns="0" bIns="0" rtlCol="0" anchor="t"/>
          <a:lstStyle/>
          <a:p>
            <a:pPr indent="0" marL="0">
              <a:buNone/>
            </a:pPr>
            <a:r>
              <a:rPr lang="en-US" altLang="en-US" sz="1150" dirty="0">
                <a:solidFill>
                  <a:srgbClr val="CF222E"/>
                </a:solidFill>
                <a:latin typeface="Consolas" pitchFamily="34" charset="0"/>
                <a:ea typeface="Consolas" pitchFamily="34" charset="-122"/>
                <a:cs typeface="Consolas" pitchFamily="34" charset="-120"/>
              </a:rPr>
              <a:t>public</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class</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953800"/>
                </a:solidFill>
                <a:latin typeface="Consolas" pitchFamily="34" charset="0"/>
                <a:ea typeface="Consolas" pitchFamily="34" charset="-122"/>
                <a:cs typeface="Consolas" pitchFamily="34" charset="-120"/>
              </a:rPr>
              <a:t>Pesanan</a:t>
            </a: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private</a:t>
            </a:r>
            <a:r>
              <a:rPr lang="en-US" altLang="en-US" sz="1150" dirty="0">
                <a:solidFill>
                  <a:srgbClr val="1F2328"/>
                </a:solidFill>
                <a:latin typeface="Consolas" pitchFamily="34" charset="0"/>
                <a:ea typeface="Consolas" pitchFamily="34" charset="-122"/>
                <a:cs typeface="Consolas" pitchFamily="34" charset="-120"/>
              </a:rPr>
              <a:t> List&lt;PengamatPesanan&gt; daftarPengamat;</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public</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void</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tambahPengamat</a:t>
            </a:r>
            <a:r>
              <a:rPr lang="en-US" altLang="en-US" sz="1150" dirty="0">
                <a:solidFill>
                  <a:srgbClr val="1F2328"/>
                </a:solidFill>
                <a:latin typeface="Consolas" pitchFamily="34" charset="0"/>
                <a:ea typeface="Consolas" pitchFamily="34" charset="-122"/>
                <a:cs typeface="Consolas" pitchFamily="34" charset="-120"/>
              </a:rPr>
              <a:t>(PengamatPesanan pengamat)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daftarPengamat.add(pengamat);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public</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void</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ubahStatus</a:t>
            </a:r>
            <a:r>
              <a:rPr lang="en-US" altLang="en-US" sz="1150" dirty="0">
                <a:solidFill>
                  <a:srgbClr val="1F2328"/>
                </a:solidFill>
                <a:latin typeface="Consolas" pitchFamily="34" charset="0"/>
                <a:ea typeface="Consolas" pitchFamily="34" charset="-122"/>
                <a:cs typeface="Consolas" pitchFamily="34" charset="-120"/>
              </a:rPr>
              <a:t>(String statusBaru) {</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status = statusBaru;</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for</a:t>
            </a:r>
            <a:r>
              <a:rPr lang="en-US" altLang="en-US" sz="1150" dirty="0">
                <a:solidFill>
                  <a:srgbClr val="1F2328"/>
                </a:solidFill>
                <a:latin typeface="Consolas" pitchFamily="34" charset="0"/>
                <a:ea typeface="Consolas" pitchFamily="34" charset="-122"/>
                <a:cs typeface="Consolas" pitchFamily="34" charset="-120"/>
              </a:rPr>
              <a:t> (PengamatPesanan pengamat : daftarPengamat)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pengamat.perbarui(</a:t>
            </a:r>
            <a:r>
              <a:rPr lang="en-US" altLang="en-US" sz="1150" dirty="0">
                <a:solidFill>
                  <a:srgbClr val="CF222E"/>
                </a:solidFill>
                <a:latin typeface="Consolas" pitchFamily="34" charset="0"/>
                <a:ea typeface="Consolas" pitchFamily="34" charset="-122"/>
                <a:cs typeface="Consolas" pitchFamily="34" charset="-120"/>
              </a:rPr>
              <a:t>this</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a:t>
            </a:r>
            <a:endParaRPr lang="en-US" sz="11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Push</a:t>
            </a:r>
            <a:r>
              <a:rPr lang="id-ID" altLang="en-US" sz="3200" b="1" dirty="0">
                <a:solidFill>
                  <a:srgbClr val="0A3069"/>
                </a:solidFill>
              </a:rPr>
              <a:t> atau </a:t>
            </a:r>
            <a:r>
              <a:rPr lang="id-ID" altLang="en-US" sz="3200" b="1" i="1" dirty="0">
                <a:solidFill>
                  <a:srgbClr val="0A3069"/>
                </a:solidFill>
              </a:rPr>
              <a:t>Pull</a:t>
            </a:r>
            <a:r>
              <a:rPr lang="id-ID" altLang="en-US" sz="3200" b="1" dirty="0">
                <a:solidFill>
                  <a:srgbClr val="0A3069"/>
                </a:solidFill>
              </a:rPr>
              <a:t>?</a:t>
            </a:r>
            <a:endParaRPr lang="id-ID"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542136"/>
          <a:ext cx="11094415" cy="914400"/>
        </p:xfrm>
        <a:graphic>
          <a:graphicData uri="http://schemas.openxmlformats.org/drawingml/2006/table">
            <a:tbl>
              <a:tblPr/>
              <a:tblGrid>
                <a:gridCol w="1502455"/>
                <a:gridCol w="5334513"/>
                <a:gridCol w="4257448"/>
              </a:tblGrid>
              <a:tr h="461772">
                <a:tc>
                  <a:txBody>
                    <a:bodyPr/>
                    <a:lstStyle/>
                    <a:p>
                      <a:pPr indent="0" marL="0">
                        <a:buNone/>
                      </a:pPr>
                      <a:r>
                        <a:rPr lang="id-ID" altLang="en-US" sz="1800" b="1" dirty="0">
                          <a:solidFill>
                            <a:srgbClr val="FFFFFF"/>
                          </a:solidFill>
                          <a:latin typeface="Calibri" pitchFamily="34" charset="0"/>
                          <a:ea typeface="Calibri" pitchFamily="34" charset="-122"/>
                          <a:cs typeface="Calibri" pitchFamily="34" charset="-120"/>
                        </a:rPr>
                        <a:t>Aspek</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800" b="1" i="1" dirty="0">
                          <a:solidFill>
                            <a:srgbClr val="FFFFFF"/>
                          </a:solidFill>
                          <a:latin typeface="Calibri" pitchFamily="34" charset="0"/>
                          <a:ea typeface="Calibri" pitchFamily="34" charset="-122"/>
                          <a:cs typeface="Calibri" pitchFamily="34" charset="-120"/>
                        </a:rPr>
                        <a:t>Push</a:t>
                      </a:r>
                      <a:r>
                        <a:rPr lang="id-ID" altLang="en-US" sz="1800" b="1" dirty="0">
                          <a:solidFill>
                            <a:srgbClr val="FFFFFF"/>
                          </a:solidFill>
                          <a:latin typeface="Calibri" pitchFamily="34" charset="0"/>
                          <a:ea typeface="Calibri" pitchFamily="34" charset="-122"/>
                          <a:cs typeface="Calibri" pitchFamily="34" charset="-120"/>
                        </a:rPr>
                        <a:t> (didorong)</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800" b="1" i="1" dirty="0">
                          <a:solidFill>
                            <a:srgbClr val="FFFFFF"/>
                          </a:solidFill>
                          <a:latin typeface="Calibri" pitchFamily="34" charset="0"/>
                          <a:ea typeface="Calibri" pitchFamily="34" charset="-122"/>
                          <a:cs typeface="Calibri" pitchFamily="34" charset="-120"/>
                        </a:rPr>
                        <a:t>Pull</a:t>
                      </a:r>
                      <a:r>
                        <a:rPr lang="id-ID" altLang="en-US" sz="1800" b="1" dirty="0">
                          <a:solidFill>
                            <a:srgbClr val="FFFFFF"/>
                          </a:solidFill>
                          <a:latin typeface="Calibri" pitchFamily="34" charset="0"/>
                          <a:ea typeface="Calibri" pitchFamily="34" charset="-122"/>
                          <a:cs typeface="Calibri" pitchFamily="34" charset="-120"/>
                        </a:rPr>
                        <a:t> (ditarik)</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740664">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Yang dikirim </a:t>
                      </a:r>
                      <a:r>
                        <a:rPr lang="id-ID" altLang="en-US" sz="1800" i="1" dirty="0">
                          <a:solidFill>
                            <a:srgbClr val="1F2328"/>
                          </a:solidFill>
                          <a:latin typeface="Calibri" pitchFamily="34" charset="0"/>
                          <a:ea typeface="Calibri" pitchFamily="34" charset="-122"/>
                          <a:cs typeface="Calibri" pitchFamily="34" charset="-120"/>
                        </a:rPr>
                        <a:t>subject</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Data kejadiannya, mis. judul video</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Objek </a:t>
                      </a:r>
                      <a:r>
                        <a:rPr lang="id-ID" altLang="en-US" sz="1800" i="1" dirty="0">
                          <a:solidFill>
                            <a:srgbClr val="1F2328"/>
                          </a:solidFill>
                          <a:latin typeface="Calibri" pitchFamily="34" charset="0"/>
                          <a:ea typeface="Calibri" pitchFamily="34" charset="-122"/>
                          <a:cs typeface="Calibri" pitchFamily="34" charset="-120"/>
                        </a:rPr>
                        <a:t>subject</a:t>
                      </a:r>
                      <a:r>
                        <a:rPr lang="id-ID" altLang="en-US" sz="1800" dirty="0">
                          <a:solidFill>
                            <a:srgbClr val="1F2328"/>
                          </a:solidFill>
                          <a:latin typeface="Calibri" pitchFamily="34" charset="0"/>
                          <a:ea typeface="Calibri" pitchFamily="34" charset="-122"/>
                          <a:cs typeface="Calibri" pitchFamily="34" charset="-120"/>
                        </a:rPr>
                        <a:t> itu sendiri</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61772">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Pengamat</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Menerima data yang sudah jadi</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Mengambil sendiri data yang ia butuhkan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740664">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Kelebihan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Pengamat tidak perlu mengenal kelas </a:t>
                      </a:r>
                      <a:r>
                        <a:rPr lang="id-ID" altLang="en-US" sz="1800" i="1" dirty="0">
                          <a:solidFill>
                            <a:srgbClr val="1F2328"/>
                          </a:solidFill>
                          <a:latin typeface="Calibri" pitchFamily="34" charset="0"/>
                          <a:ea typeface="Calibri" pitchFamily="34" charset="-122"/>
                          <a:cs typeface="Calibri" pitchFamily="34" charset="-120"/>
                        </a:rPr>
                        <a:t>subject</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Pengamat baru yang butuh data lain tidak mengubah parameter</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40664">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Kekurangan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i="1" dirty="0">
                          <a:solidFill>
                            <a:srgbClr val="1F2328"/>
                          </a:solidFill>
                          <a:latin typeface="Calibri" pitchFamily="34" charset="0"/>
                          <a:ea typeface="Calibri" pitchFamily="34" charset="-122"/>
                          <a:cs typeface="Calibri" pitchFamily="34" charset="-120"/>
                        </a:rPr>
                        <a:t>Subject</a:t>
                      </a:r>
                      <a:r>
                        <a:rPr lang="id-ID" altLang="en-US" sz="1800" dirty="0">
                          <a:solidFill>
                            <a:srgbClr val="1F2328"/>
                          </a:solidFill>
                          <a:latin typeface="Calibri" pitchFamily="34" charset="0"/>
                          <a:ea typeface="Calibri" pitchFamily="34" charset="-122"/>
                          <a:cs typeface="Calibri" pitchFamily="34" charset="-120"/>
                        </a:rPr>
                        <a:t> harus menebak data yang dibutuhkan semua pengamat</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Pengamat bergantung pada </a:t>
                      </a:r>
                      <a:r>
                        <a:rPr lang="id-ID" altLang="en-US" sz="1800" i="1" dirty="0">
                          <a:solidFill>
                            <a:srgbClr val="1F2328"/>
                          </a:solidFill>
                          <a:latin typeface="Calibri" pitchFamily="34" charset="0"/>
                          <a:ea typeface="Calibri" pitchFamily="34" charset="-122"/>
                          <a:cs typeface="Calibri" pitchFamily="34" charset="-120"/>
                        </a:rPr>
                        <a:t>method-⁠method</a:t>
                      </a:r>
                      <a:r>
                        <a:rPr lang="id-ID" altLang="en-US" sz="1800" dirty="0">
                          <a:solidFill>
                            <a:srgbClr val="1F2328"/>
                          </a:solidFill>
                          <a:latin typeface="Calibri" pitchFamily="34" charset="0"/>
                          <a:ea typeface="Calibri" pitchFamily="34" charset="-122"/>
                          <a:cs typeface="Calibri" pitchFamily="34" charset="-120"/>
                        </a:rPr>
                        <a:t> milik </a:t>
                      </a:r>
                      <a:r>
                        <a:rPr lang="id-ID" altLang="en-US" sz="1800" i="1" dirty="0">
                          <a:solidFill>
                            <a:srgbClr val="1F2328"/>
                          </a:solidFill>
                          <a:latin typeface="Calibri" pitchFamily="34" charset="0"/>
                          <a:ea typeface="Calibri" pitchFamily="34" charset="-122"/>
                          <a:cs typeface="Calibri" pitchFamily="34" charset="-120"/>
                        </a:rPr>
                        <a:t>subject</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61772">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Di materi ini</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Contoh 07: </a:t>
                      </a:r>
                      <a:r>
                        <a:rPr lang="id-ID" altLang="en-US" sz="1800" dirty="0">
                          <a:solidFill>
                            <a:srgbClr val="0A3069"/>
                          </a:solidFill>
                          <a:latin typeface="Consolas" pitchFamily="34" charset="0"/>
                          <a:ea typeface="Consolas" pitchFamily="34" charset="-122"/>
                          <a:cs typeface="Consolas" pitchFamily="34" charset="-120"/>
                        </a:rPr>
                        <a:t>perbarui(nama_kanal, judul)</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KedaiKita: </a:t>
                      </a:r>
                      <a:r>
                        <a:rPr lang="id-ID" altLang="en-US" sz="1800" dirty="0">
                          <a:solidFill>
                            <a:srgbClr val="0A3069"/>
                          </a:solidFill>
                          <a:latin typeface="Consolas" pitchFamily="34" charset="0"/>
                          <a:ea typeface="Consolas" pitchFamily="34" charset="-122"/>
                          <a:cs typeface="Consolas" pitchFamily="34" charset="-120"/>
                        </a:rPr>
                        <a:t>perbarui(pesanan)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396332"/>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468752"/>
            <a:ext cx="184343" cy="184343"/>
          </a:xfrm>
          <a:prstGeom prst="rect">
            <a:avLst/>
          </a:prstGeom>
        </p:spPr>
      </p:pic>
      <p:sp>
        <p:nvSpPr>
          <p:cNvPr id="8" name="Text 3"/>
          <p:cNvSpPr txBox="1"/>
          <p:nvPr/>
        </p:nvSpPr>
        <p:spPr>
          <a:xfrm>
            <a:off x="1005840" y="5378044"/>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KedaiKita memakai </a:t>
            </a:r>
            <a:r>
              <a:rPr lang="id-ID" altLang="en-US" sz="1800" i="1" dirty="0">
                <a:solidFill>
                  <a:srgbClr val="57606A"/>
                </a:solidFill>
              </a:rPr>
              <a:t>pull</a:t>
            </a:r>
            <a:r>
              <a:rPr lang="id-ID" altLang="en-US" sz="1800" dirty="0">
                <a:solidFill>
                  <a:srgbClr val="57606A"/>
                </a:solidFill>
              </a:rPr>
              <a:t>: </a:t>
            </a:r>
            <a:r>
              <a:rPr lang="id-ID" altLang="en-US" sz="1800" dirty="0">
                <a:solidFill>
                  <a:srgbClr val="57606A"/>
                </a:solidFill>
                <a:latin typeface="Consolas" pitchFamily="34" charset="0"/>
                <a:ea typeface="Consolas" pitchFamily="34" charset="-122"/>
                <a:cs typeface="Consolas" pitchFamily="34" charset="-120"/>
              </a:rPr>
              <a:t>LayarDapur</a:t>
            </a:r>
            <a:r>
              <a:rPr lang="id-ID" altLang="en-US" sz="1800" dirty="0">
                <a:solidFill>
                  <a:srgbClr val="57606A"/>
                </a:solidFill>
              </a:rPr>
              <a:t> menarik nomor dan item, </a:t>
            </a:r>
            <a:r>
              <a:rPr lang="id-ID" altLang="en-US" sz="1800" dirty="0">
                <a:solidFill>
                  <a:srgbClr val="57606A"/>
                </a:solidFill>
                <a:latin typeface="Consolas" pitchFamily="34" charset="0"/>
                <a:ea typeface="Consolas" pitchFamily="34" charset="-122"/>
                <a:cs typeface="Consolas" pitchFamily="34" charset="-120"/>
              </a:rPr>
              <a:t>NotifikasiPelanggan</a:t>
            </a:r>
            <a:r>
              <a:rPr lang="id-ID" altLang="en-US" sz="1800" dirty="0">
                <a:solidFill>
                  <a:srgbClr val="57606A"/>
                </a:solidFill>
              </a:rPr>
              <a:t> menarik nama dan nomor HP.</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1216152" y="2633472"/>
            <a:ext cx="722376" cy="722376"/>
          </a:xfrm>
          <a:prstGeom prst="rect">
            <a:avLst/>
          </a:prstGeom>
        </p:spPr>
      </p:pic>
      <p:sp>
        <p:nvSpPr>
          <p:cNvPr id="4" name="Text 1"/>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FB8F44"/>
                </a:solidFill>
              </a:rPr>
              <a:t>STUDI KASUS</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Studi Kasus KedaiKita</a:t>
            </a:r>
            <a:endParaRPr lang="id-ID" sz="4200" dirty="0"/>
          </a:p>
        </p:txBody>
      </p:sp>
      <p:sp>
        <p:nvSpPr>
          <p:cNvPr id="6" name="Text 3"/>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Keempat pola bekerja bersama di kafe kecil di Jl. Pramuka, Samarinda.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Empat Pola di KedaiKita</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443243"/>
          <a:ext cx="11094415" cy="914400"/>
        </p:xfrm>
        <a:graphic>
          <a:graphicData uri="http://schemas.openxmlformats.org/drawingml/2006/table">
            <a:tbl>
              <a:tblPr/>
              <a:tblGrid>
                <a:gridCol w="1205965"/>
                <a:gridCol w="5861661"/>
                <a:gridCol w="4026789"/>
              </a:tblGrid>
              <a:tr h="508254">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Pola</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Kelas di KedaiKita</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Perannya</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33628">
                <a:tc>
                  <a:txBody>
                    <a:bodyPr/>
                    <a:lstStyle/>
                    <a:p>
                      <a:pPr indent="0" marL="0">
                        <a:buNone/>
                      </a:pPr>
                      <a:r>
                        <a:rPr lang="id-ID" altLang="en-US" sz="2100" i="1" dirty="0">
                          <a:solidFill>
                            <a:srgbClr val="1F2328"/>
                          </a:solidFill>
                          <a:latin typeface="Calibri" pitchFamily="34" charset="0"/>
                          <a:ea typeface="Calibri" pitchFamily="34" charset="-122"/>
                          <a:cs typeface="Calibri" pitchFamily="34" charset="-120"/>
                        </a:rPr>
                        <a:t>Singleton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0A3069"/>
                          </a:solidFill>
                          <a:latin typeface="Consolas" pitchFamily="34" charset="0"/>
                          <a:ea typeface="Consolas" pitchFamily="34" charset="-122"/>
                          <a:cs typeface="Consolas" pitchFamily="34" charset="-120"/>
                        </a:rPr>
                        <a:t>PengaturanKedai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Satu sumber nama kedai, alamat, dan pajak 10%</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33628">
                <a:tc>
                  <a:txBody>
                    <a:bodyPr/>
                    <a:lstStyle/>
                    <a:p>
                      <a:pPr indent="0" marL="0">
                        <a:buNone/>
                      </a:pPr>
                      <a:r>
                        <a:rPr lang="id-ID" altLang="en-US" sz="2100" i="1" dirty="0">
                          <a:solidFill>
                            <a:srgbClr val="1F2328"/>
                          </a:solidFill>
                          <a:latin typeface="Calibri" pitchFamily="34" charset="0"/>
                          <a:ea typeface="Calibri" pitchFamily="34" charset="-122"/>
                          <a:cs typeface="Calibri" pitchFamily="34" charset="-120"/>
                        </a:rPr>
                        <a:t>Factory</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0A3069"/>
                          </a:solidFill>
                          <a:latin typeface="Consolas" pitchFamily="34" charset="0"/>
                          <a:ea typeface="Consolas" pitchFamily="34" charset="-122"/>
                          <a:cs typeface="Consolas" pitchFamily="34" charset="-120"/>
                        </a:rPr>
                        <a:t>PembayaranFactory</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Membuat objek pembayaran dari teks pilihan kasir</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33628">
                <a:tc>
                  <a:txBody>
                    <a:bodyPr/>
                    <a:lstStyle/>
                    <a:p>
                      <a:pPr indent="0" marL="0">
                        <a:buNone/>
                      </a:pPr>
                      <a:r>
                        <a:rPr lang="id-ID" altLang="en-US" sz="2100" i="1" dirty="0">
                          <a:solidFill>
                            <a:srgbClr val="1F2328"/>
                          </a:solidFill>
                          <a:latin typeface="Calibri" pitchFamily="34" charset="0"/>
                          <a:ea typeface="Calibri" pitchFamily="34" charset="-122"/>
                          <a:cs typeface="Calibri" pitchFamily="34" charset="-120"/>
                        </a:rPr>
                        <a:t>Strategy</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0A3069"/>
                          </a:solidFill>
                          <a:latin typeface="Consolas" pitchFamily="34" charset="0"/>
                          <a:ea typeface="Consolas" pitchFamily="34" charset="-122"/>
                          <a:cs typeface="Consolas" pitchFamily="34" charset="-120"/>
                        </a:rPr>
                        <a:t>Diskon</a:t>
                      </a:r>
                      <a:r>
                        <a:rPr lang="id-ID" altLang="en-US" sz="2100" dirty="0">
                          <a:solidFill>
                            <a:srgbClr val="1F2328"/>
                          </a:solidFill>
                          <a:latin typeface="Calibri" pitchFamily="34" charset="0"/>
                          <a:ea typeface="Calibri" pitchFamily="34" charset="-122"/>
                          <a:cs typeface="Calibri" pitchFamily="34" charset="-120"/>
                        </a:rPr>
                        <a:t> dan kelas-⁠kelas diskonnya, kini ditambah </a:t>
                      </a:r>
                      <a:r>
                        <a:rPr lang="id-ID" altLang="en-US" sz="2100" dirty="0">
                          <a:solidFill>
                            <a:srgbClr val="0A3069"/>
                          </a:solidFill>
                          <a:latin typeface="Consolas" pitchFamily="34" charset="0"/>
                          <a:ea typeface="Consolas" pitchFamily="34" charset="-122"/>
                          <a:cs typeface="Consolas" pitchFamily="34" charset="-120"/>
                        </a:rPr>
                        <a:t>DiskonHappyHour</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Aturan diskon yang bisa ditukar</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33628">
                <a:tc>
                  <a:txBody>
                    <a:bodyPr/>
                    <a:lstStyle/>
                    <a:p>
                      <a:pPr indent="0" marL="0">
                        <a:buNone/>
                      </a:pPr>
                      <a:r>
                        <a:rPr lang="id-ID" altLang="en-US" sz="2100" i="1" dirty="0">
                          <a:solidFill>
                            <a:srgbClr val="1F2328"/>
                          </a:solidFill>
                          <a:latin typeface="Calibri" pitchFamily="34" charset="0"/>
                          <a:ea typeface="Calibri" pitchFamily="34" charset="-122"/>
                          <a:cs typeface="Calibri" pitchFamily="34" charset="-120"/>
                        </a:rPr>
                        <a:t>Observer</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0A3069"/>
                          </a:solidFill>
                          <a:latin typeface="Consolas" pitchFamily="34" charset="0"/>
                          <a:ea typeface="Consolas" pitchFamily="34" charset="-122"/>
                          <a:cs typeface="Consolas" pitchFamily="34" charset="-120"/>
                        </a:rPr>
                        <a:t>PengamatPesanan</a:t>
                      </a:r>
                      <a:r>
                        <a:rPr lang="id-ID" altLang="en-US" sz="2100" dirty="0">
                          <a:solidFill>
                            <a:srgbClr val="1F2328"/>
                          </a:solidFill>
                          <a:latin typeface="Calibri" pitchFamily="34" charset="0"/>
                          <a:ea typeface="Calibri" pitchFamily="34" charset="-122"/>
                          <a:cs typeface="Calibri" pitchFamily="34" charset="-120"/>
                        </a:rPr>
                        <a:t>, </a:t>
                      </a:r>
                      <a:r>
                        <a:rPr lang="id-ID" altLang="en-US" sz="2100" dirty="0">
                          <a:solidFill>
                            <a:srgbClr val="0A3069"/>
                          </a:solidFill>
                          <a:latin typeface="Consolas" pitchFamily="34" charset="0"/>
                          <a:ea typeface="Consolas" pitchFamily="34" charset="-122"/>
                          <a:cs typeface="Consolas" pitchFamily="34" charset="-120"/>
                        </a:rPr>
                        <a:t>LayarDapur</a:t>
                      </a:r>
                      <a:r>
                        <a:rPr lang="id-ID" altLang="en-US" sz="2100" dirty="0">
                          <a:solidFill>
                            <a:srgbClr val="1F2328"/>
                          </a:solidFill>
                          <a:latin typeface="Calibri" pitchFamily="34" charset="0"/>
                          <a:ea typeface="Calibri" pitchFamily="34" charset="-122"/>
                          <a:cs typeface="Calibri" pitchFamily="34" charset="-120"/>
                        </a:rPr>
                        <a:t>, </a:t>
                      </a:r>
                      <a:r>
                        <a:rPr lang="id-ID" altLang="en-US" sz="2100" dirty="0">
                          <a:solidFill>
                            <a:srgbClr val="0A3069"/>
                          </a:solidFill>
                          <a:latin typeface="Consolas" pitchFamily="34" charset="0"/>
                          <a:ea typeface="Consolas" pitchFamily="34" charset="-122"/>
                          <a:cs typeface="Consolas" pitchFamily="34" charset="-120"/>
                        </a:rPr>
                        <a:t>NotifikasiPelanggan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Kabar otomatis setiap status pesanan berubah</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8" name="Shape 4"/>
          <p:cNvSpPr/>
          <p:nvPr/>
        </p:nvSpPr>
        <p:spPr>
          <a:xfrm>
            <a:off x="548640" y="5532897"/>
            <a:ext cx="329184" cy="329184"/>
          </a:xfrm>
          <a:prstGeom prst="ellipse">
            <a:avLst/>
          </a:prstGeom>
          <a:solidFill>
            <a:srgbClr val="57606A"/>
          </a:solidFill>
          <a:ln/>
        </p:spPr>
      </p:sp>
      <p:pic>
        <p:nvPicPr>
          <p:cNvPr id="9" name="Image 1" descr="preencoded.png">    </p:cNvPr>
          <p:cNvPicPr>
            <a:picLocks noChangeAspect="1"/>
          </p:cNvPicPr>
          <p:nvPr/>
        </p:nvPicPr>
        <p:blipFill>
          <a:blip r:embed="rId2"/>
          <a:stretch>
            <a:fillRect/>
          </a:stretch>
        </p:blipFill>
        <p:spPr>
          <a:xfrm>
            <a:off x="621060" y="5605318"/>
            <a:ext cx="184343" cy="184343"/>
          </a:xfrm>
          <a:prstGeom prst="rect">
            <a:avLst/>
          </a:prstGeom>
        </p:spPr>
      </p:pic>
      <p:sp>
        <p:nvSpPr>
          <p:cNvPr id="10" name="Text 5"/>
          <p:cNvSpPr txBox="1"/>
          <p:nvPr/>
        </p:nvSpPr>
        <p:spPr>
          <a:xfrm>
            <a:off x="1005840" y="5514609"/>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Total = subtotal − potongan + pajak, dengan pajak = (subtotal − potongan) × 10%. Persennya dibaca dari </a:t>
            </a:r>
            <a:r>
              <a:rPr lang="id-ID" altLang="en-US" sz="1800" dirty="0">
                <a:solidFill>
                  <a:srgbClr val="57606A"/>
                </a:solidFill>
                <a:latin typeface="Consolas" pitchFamily="34" charset="0"/>
                <a:ea typeface="Consolas" pitchFamily="34" charset="-122"/>
                <a:cs typeface="Consolas" pitchFamily="34" charset="-120"/>
              </a:rPr>
              <a:t>PengaturanKedai</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Skenario Budi: Dapur dan Pelanggan Dikabari</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1371600"/>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Bagian keempat </a:t>
            </a:r>
            <a:r>
              <a:rPr lang="id-ID" altLang="en-US" sz="1800" dirty="0">
                <a:solidFill>
                  <a:srgbClr val="0A3069"/>
                </a:solidFill>
                <a:latin typeface="Consolas" pitchFamily="34" charset="0"/>
                <a:ea typeface="Consolas" pitchFamily="34" charset="-122"/>
                <a:cs typeface="Consolas" pitchFamily="34" charset="-120"/>
              </a:rPr>
              <a:t>main.py</a:t>
            </a:r>
            <a:r>
              <a:rPr lang="id-ID" altLang="en-US" sz="1800" dirty="0">
                <a:solidFill>
                  <a:srgbClr val="57606A"/>
                </a:solidFill>
              </a:rPr>
              <a:t>: Budi memesan, membayar tunai lewat </a:t>
            </a:r>
            <a:r>
              <a:rPr lang="id-ID" altLang="en-US" sz="1800" i="1" dirty="0">
                <a:solidFill>
                  <a:srgbClr val="57606A"/>
                </a:solidFill>
              </a:rPr>
              <a:t>factory</a:t>
            </a:r>
            <a:r>
              <a:rPr lang="id-ID" altLang="en-US" sz="1800" dirty="0">
                <a:solidFill>
                  <a:srgbClr val="57606A"/>
                </a:solidFill>
              </a:rPr>
              <a:t>, lalu statusnya diubah tiga kali.</a:t>
            </a:r>
            <a:endParaRPr lang="id-ID" sz="1800" dirty="0"/>
          </a:p>
        </p:txBody>
      </p:sp>
      <p:sp>
        <p:nvSpPr>
          <p:cNvPr id="8" name="Shape 5"/>
          <p:cNvSpPr/>
          <p:nvPr/>
        </p:nvSpPr>
        <p:spPr>
          <a:xfrm>
            <a:off x="548640" y="1805940"/>
            <a:ext cx="1051560" cy="329184"/>
          </a:xfrm>
          <a:prstGeom prst="roundRect">
            <a:avLst>
              <a:gd name="adj" fmla="val 138889"/>
            </a:avLst>
          </a:prstGeom>
          <a:solidFill>
            <a:srgbClr val="3572A5"/>
          </a:solidFill>
          <a:ln/>
        </p:spPr>
      </p:sp>
      <p:sp>
        <p:nvSpPr>
          <p:cNvPr id="9" name="Text 6"/>
          <p:cNvSpPr txBox="1"/>
          <p:nvPr/>
        </p:nvSpPr>
        <p:spPr>
          <a:xfrm>
            <a:off x="548640" y="1805940"/>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1805940"/>
            <a:ext cx="5715000"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python/studi-kasus/main.py</a:t>
            </a:r>
            <a:endParaRPr lang="id-ID" sz="1100" dirty="0"/>
          </a:p>
        </p:txBody>
      </p:sp>
      <p:sp>
        <p:nvSpPr>
          <p:cNvPr id="11" name="Shape 8"/>
          <p:cNvSpPr/>
          <p:nvPr/>
        </p:nvSpPr>
        <p:spPr>
          <a:xfrm>
            <a:off x="548640" y="2226564"/>
            <a:ext cx="6903720" cy="2069846"/>
          </a:xfrm>
          <a:prstGeom prst="roundRect">
            <a:avLst>
              <a:gd name="adj" fmla="val 1952"/>
            </a:avLst>
          </a:prstGeom>
          <a:solidFill>
            <a:srgbClr val="F6F8FA"/>
          </a:solidFill>
          <a:ln w="9525">
            <a:solidFill>
              <a:srgbClr val="D0D7DE"/>
            </a:solidFill>
            <a:prstDash val="solid"/>
          </a:ln>
        </p:spPr>
      </p:sp>
      <p:sp>
        <p:nvSpPr>
          <p:cNvPr id="12" name="Text 9"/>
          <p:cNvSpPr txBox="1"/>
          <p:nvPr/>
        </p:nvSpPr>
        <p:spPr>
          <a:xfrm>
            <a:off x="658368" y="2318004"/>
            <a:ext cx="6684264" cy="1886966"/>
          </a:xfrm>
          <a:prstGeom prst="rect">
            <a:avLst/>
          </a:prstGeom>
          <a:noFill/>
          <a:ln/>
        </p:spPr>
        <p:txBody>
          <a:bodyPr wrap="square" lIns="0" tIns="0" rIns="0" bIns="0" rtlCol="0" anchor="t"/>
          <a:lstStyle/>
          <a:p>
            <a:pPr indent="0" marL="0">
              <a:buNone/>
            </a:pPr>
            <a:r>
              <a:rPr lang="en-US" altLang="en-US" sz="1250" dirty="0">
                <a:solidFill>
                  <a:srgbClr val="1F2328"/>
                </a:solidFill>
                <a:latin typeface="Consolas" pitchFamily="34" charset="0"/>
                <a:ea typeface="Consolas" pitchFamily="34" charset="-122"/>
                <a:cs typeface="Consolas" pitchFamily="34" charset="-120"/>
              </a:rPr>
              <a:t>budi = Pelanggan(</a:t>
            </a:r>
            <a:r>
              <a:rPr lang="en-US" altLang="en-US" sz="1250" dirty="0">
                <a:solidFill>
                  <a:srgbClr val="0A3069"/>
                </a:solidFill>
                <a:latin typeface="Consolas" pitchFamily="34" charset="0"/>
                <a:ea typeface="Consolas" pitchFamily="34" charset="-122"/>
                <a:cs typeface="Consolas" pitchFamily="34" charset="-120"/>
              </a:rPr>
              <a:t>"Budi Santoso"</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A3069"/>
                </a:solidFill>
                <a:latin typeface="Consolas" pitchFamily="34" charset="0"/>
                <a:ea typeface="Consolas" pitchFamily="34" charset="-122"/>
                <a:cs typeface="Consolas" pitchFamily="34" charset="-120"/>
              </a:rPr>
              <a:t>"081234567890"</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pesanan_budi = kedai.buat_pesanan(budi)</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pesanan_budi.tambah_item(kedai.cari_menu(</a:t>
            </a:r>
            <a:r>
              <a:rPr lang="en-US" altLang="en-US" sz="1250" dirty="0">
                <a:solidFill>
                  <a:srgbClr val="0A3069"/>
                </a:solidFill>
                <a:latin typeface="Consolas" pitchFamily="34" charset="0"/>
                <a:ea typeface="Consolas" pitchFamily="34" charset="-122"/>
                <a:cs typeface="Consolas" pitchFamily="34" charset="-120"/>
              </a:rPr>
              <a:t>"M01"</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2</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pesanan_budi.tambah_item(kedai.cari_menu(</a:t>
            </a:r>
            <a:r>
              <a:rPr lang="en-US" altLang="en-US" sz="1250" dirty="0">
                <a:solidFill>
                  <a:srgbClr val="0A3069"/>
                </a:solidFill>
                <a:latin typeface="Consolas" pitchFamily="34" charset="0"/>
                <a:ea typeface="Consolas" pitchFamily="34" charset="-122"/>
                <a:cs typeface="Consolas" pitchFamily="34" charset="-120"/>
              </a:rPr>
              <a:t>"M03"</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1</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pesanan_budi.tambah_pengamat(LayarDapur())</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pesanan_budi.tambah_pengamat(NotifikasiPelanggan())</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pesanan_budi.bayar(PembayaranFactory.buat(</a:t>
            </a:r>
            <a:r>
              <a:rPr lang="en-US" altLang="en-US" sz="1250" dirty="0">
                <a:solidFill>
                  <a:srgbClr val="0A3069"/>
                </a:solidFill>
                <a:latin typeface="Consolas" pitchFamily="34" charset="0"/>
                <a:ea typeface="Consolas" pitchFamily="34" charset="-122"/>
                <a:cs typeface="Consolas" pitchFamily="34" charset="-120"/>
              </a:rPr>
              <a:t>"tunai"</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100000</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A3069"/>
                </a:solidFill>
                <a:latin typeface="Consolas" pitchFamily="34" charset="0"/>
                <a:ea typeface="Consolas" pitchFamily="34" charset="-122"/>
                <a:cs typeface="Consolas" pitchFamily="34" charset="-120"/>
              </a:rPr>
              <a:t>""</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CF222E"/>
                </a:solidFill>
                <a:latin typeface="Consolas" pitchFamily="34" charset="0"/>
                <a:ea typeface="Consolas" pitchFamily="34" charset="-122"/>
                <a:cs typeface="Consolas" pitchFamily="34" charset="-120"/>
              </a:rPr>
              <a:t>for</a:t>
            </a:r>
            <a:r>
              <a:rPr lang="en-US" altLang="en-US" sz="1250" dirty="0">
                <a:solidFill>
                  <a:srgbClr val="1F2328"/>
                </a:solidFill>
                <a:latin typeface="Consolas" pitchFamily="34" charset="0"/>
                <a:ea typeface="Consolas" pitchFamily="34" charset="-122"/>
                <a:cs typeface="Consolas" pitchFamily="34" charset="-120"/>
              </a:rPr>
              <a:t> status in [</a:t>
            </a:r>
            <a:r>
              <a:rPr lang="en-US" altLang="en-US" sz="1250" dirty="0">
                <a:solidFill>
                  <a:srgbClr val="0A3069"/>
                </a:solidFill>
                <a:latin typeface="Consolas" pitchFamily="34" charset="0"/>
                <a:ea typeface="Consolas" pitchFamily="34" charset="-122"/>
                <a:cs typeface="Consolas" pitchFamily="34" charset="-120"/>
              </a:rPr>
              <a:t>"DIPROSES"</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A3069"/>
                </a:solidFill>
                <a:latin typeface="Consolas" pitchFamily="34" charset="0"/>
                <a:ea typeface="Consolas" pitchFamily="34" charset="-122"/>
                <a:cs typeface="Consolas" pitchFamily="34" charset="-120"/>
              </a:rPr>
              <a:t>"SIAP"</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A3069"/>
                </a:solidFill>
                <a:latin typeface="Consolas" pitchFamily="34" charset="0"/>
                <a:ea typeface="Consolas" pitchFamily="34" charset="-122"/>
                <a:cs typeface="Consolas" pitchFamily="34" charset="-120"/>
              </a:rPr>
              <a:t>"SELESAI"</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print</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0A3069"/>
                </a:solidFill>
                <a:latin typeface="Consolas" pitchFamily="34" charset="0"/>
                <a:ea typeface="Consolas" pitchFamily="34" charset="-122"/>
                <a:cs typeface="Consolas" pitchFamily="34" charset="-120"/>
              </a:rPr>
              <a:t>f"Status diubah menjadi {</a:t>
            </a:r>
            <a:r>
              <a:rPr lang="en-US" altLang="en-US" sz="1250" dirty="0">
                <a:solidFill>
                  <a:srgbClr val="1F2328"/>
                </a:solidFill>
                <a:latin typeface="Consolas" pitchFamily="34" charset="0"/>
                <a:ea typeface="Consolas" pitchFamily="34" charset="-122"/>
                <a:cs typeface="Consolas" pitchFamily="34" charset="-120"/>
              </a:rPr>
              <a:t>status</a:t>
            </a:r>
            <a:r>
              <a:rPr lang="en-US" altLang="en-US" sz="1250" dirty="0">
                <a:solidFill>
                  <a:srgbClr val="0A3069"/>
                </a:solidFill>
                <a:latin typeface="Consolas" pitchFamily="34" charset="0"/>
                <a:ea typeface="Consolas" pitchFamily="34" charset="-122"/>
                <a:cs typeface="Consolas" pitchFamily="34" charset="-120"/>
              </a:rPr>
              <a:t>}:"</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pesanan_budi.ubah_status(status)</a:t>
            </a:r>
            <a:endParaRPr lang="en-US" sz="1250" dirty="0"/>
          </a:p>
        </p:txBody>
      </p:sp>
      <p:sp>
        <p:nvSpPr>
          <p:cNvPr id="13" name="Shape 10"/>
          <p:cNvSpPr/>
          <p:nvPr/>
        </p:nvSpPr>
        <p:spPr>
          <a:xfrm>
            <a:off x="548640" y="4525010"/>
            <a:ext cx="11094415" cy="1674622"/>
          </a:xfrm>
          <a:prstGeom prst="roundRect">
            <a:avLst>
              <a:gd name="adj" fmla="val 2982"/>
            </a:avLst>
          </a:prstGeom>
          <a:solidFill>
            <a:srgbClr val="0D1117"/>
          </a:solidFill>
          <a:ln/>
        </p:spPr>
      </p:sp>
      <p:sp>
        <p:nvSpPr>
          <p:cNvPr id="14" name="Shape 11"/>
          <p:cNvSpPr/>
          <p:nvPr/>
        </p:nvSpPr>
        <p:spPr>
          <a:xfrm>
            <a:off x="713232" y="4653026"/>
            <a:ext cx="960120" cy="292608"/>
          </a:xfrm>
          <a:prstGeom prst="roundRect">
            <a:avLst>
              <a:gd name="adj" fmla="val 156250"/>
            </a:avLst>
          </a:prstGeom>
          <a:solidFill>
            <a:srgbClr val="30363D"/>
          </a:solidFill>
          <a:ln/>
        </p:spPr>
      </p:sp>
      <p:sp>
        <p:nvSpPr>
          <p:cNvPr id="15" name="Text 12"/>
          <p:cNvSpPr txBox="1"/>
          <p:nvPr/>
        </p:nvSpPr>
        <p:spPr>
          <a:xfrm>
            <a:off x="713232" y="4653026"/>
            <a:ext cx="960120" cy="292608"/>
          </a:xfrm>
          <a:prstGeom prst="rect">
            <a:avLst/>
          </a:prstGeom>
          <a:noFill/>
          <a:ln/>
        </p:spPr>
        <p:txBody>
          <a:bodyPr wrap="square" lIns="0" tIns="0" rIns="0" bIns="0" rtlCol="0" anchor="ctr"/>
          <a:lstStyle/>
          <a:p>
            <a:pPr algn="ctr" indent="0" marL="0">
              <a:buNone/>
            </a:pPr>
            <a:r>
              <a:rPr lang="id-ID" altLang="en-US" sz="1200" b="1" i="1" dirty="0">
                <a:solidFill>
                  <a:srgbClr val="E6EDF3"/>
                </a:solidFill>
              </a:rPr>
              <a:t>Output</a:t>
            </a:r>
            <a:endParaRPr lang="id-ID" sz="1200" dirty="0"/>
          </a:p>
        </p:txBody>
      </p:sp>
      <p:sp>
        <p:nvSpPr>
          <p:cNvPr id="16" name="Text 13"/>
          <p:cNvSpPr txBox="1"/>
          <p:nvPr/>
        </p:nvSpPr>
        <p:spPr>
          <a:xfrm>
            <a:off x="1828800" y="4653026"/>
            <a:ext cx="9631375" cy="1455166"/>
          </a:xfrm>
          <a:prstGeom prst="rect">
            <a:avLst/>
          </a:prstGeom>
          <a:noFill/>
          <a:ln/>
        </p:spPr>
        <p:txBody>
          <a:bodyPr wrap="square" lIns="0" tIns="0" rIns="0" bIns="0" rtlCol="0" anchor="t"/>
          <a:lstStyle/>
          <a:p>
            <a:pPr indent="0" marL="0">
              <a:buNone/>
            </a:pPr>
            <a:r>
              <a:rPr lang="en-US" altLang="en-US" sz="1300" dirty="0">
                <a:solidFill>
                  <a:srgbClr val="E6EDF3"/>
                </a:solidFill>
                <a:latin typeface="Consolas" pitchFamily="34" charset="0"/>
                <a:ea typeface="Consolas" pitchFamily="34" charset="-122"/>
                <a:cs typeface="Consolas" pitchFamily="34" charset="-120"/>
              </a:rPr>
              <a:t>...</a:t>
            </a:r>
            <a:endParaRPr lang="en-US" sz="1300" dirty="0"/>
          </a:p>
          <a:p>
            <a:pPr indent="0" marL="0">
              <a:buNone/>
            </a:pPr>
            <a:r>
              <a:rPr lang="en-US" altLang="en-US" sz="1300" dirty="0">
                <a:solidFill>
                  <a:srgbClr val="E6EDF3"/>
                </a:solidFill>
                <a:latin typeface="Consolas" pitchFamily="34" charset="0"/>
                <a:ea typeface="Consolas" pitchFamily="34" charset="-122"/>
                <a:cs typeface="Consolas" pitchFamily="34" charset="-120"/>
              </a:rPr>
              <a:t>  [DAPUR] Pesanan baru P002: 2 x Kopi Susu Gula Aren, 1 x Nasi Goreng Kampung</a:t>
            </a:r>
            <a:endParaRPr lang="en-US" sz="1300" dirty="0"/>
          </a:p>
          <a:p>
            <a:pPr indent="0" marL="0">
              <a:buNone/>
            </a:pPr>
            <a:r>
              <a:rPr lang="en-US" altLang="en-US" sz="1300" dirty="0">
                <a:solidFill>
                  <a:srgbClr val="E6EDF3"/>
                </a:solidFill>
                <a:latin typeface="Consolas" pitchFamily="34" charset="0"/>
                <a:ea typeface="Consolas" pitchFamily="34" charset="-122"/>
                <a:cs typeface="Consolas" pitchFamily="34" charset="-120"/>
              </a:rPr>
              <a:t>  [SMS ke 081234567890] Halo Budi Santoso, status pesanan P002: LUNAS</a:t>
            </a:r>
            <a:endParaRPr lang="en-US" sz="1300" dirty="0"/>
          </a:p>
          <a:p>
            <a:pPr indent="0" marL="0">
              <a:buNone/>
            </a:pPr>
            <a:r>
              <a:rPr lang="en-US" altLang="en-US" sz="1300" dirty="0">
                <a:solidFill>
                  <a:srgbClr val="E6EDF3"/>
                </a:solidFill>
                <a:latin typeface="Consolas" pitchFamily="34" charset="0"/>
                <a:ea typeface="Consolas" pitchFamily="34" charset="-122"/>
                <a:cs typeface="Consolas" pitchFamily="34" charset="-120"/>
              </a:rPr>
              <a:t>...</a:t>
            </a:r>
            <a:endParaRPr lang="en-US" sz="1300" dirty="0"/>
          </a:p>
          <a:p>
            <a:pPr indent="0" marL="0">
              <a:buNone/>
            </a:pPr>
            <a:r>
              <a:rPr lang="en-US" altLang="en-US" sz="1300" dirty="0">
                <a:solidFill>
                  <a:srgbClr val="E6EDF3"/>
                </a:solidFill>
                <a:latin typeface="Consolas" pitchFamily="34" charset="0"/>
                <a:ea typeface="Consolas" pitchFamily="34" charset="-122"/>
                <a:cs typeface="Consolas" pitchFamily="34" charset="-120"/>
              </a:rPr>
              <a:t>Status diubah menjadi SELESAI:</a:t>
            </a:r>
            <a:endParaRPr lang="en-US" sz="1300" dirty="0"/>
          </a:p>
          <a:p>
            <a:pPr indent="0" marL="0">
              <a:buNone/>
            </a:pPr>
            <a:r>
              <a:rPr lang="en-US" altLang="en-US" sz="1300" dirty="0">
                <a:solidFill>
                  <a:srgbClr val="E6EDF3"/>
                </a:solidFill>
                <a:latin typeface="Consolas" pitchFamily="34" charset="0"/>
                <a:ea typeface="Consolas" pitchFamily="34" charset="-122"/>
                <a:cs typeface="Consolas" pitchFamily="34" charset="-120"/>
              </a:rPr>
              <a:t>  [DAPUR] P002 -&gt; SELESAI</a:t>
            </a:r>
            <a:endParaRPr lang="en-US" sz="1300" dirty="0"/>
          </a:p>
          <a:p>
            <a:pPr indent="0" marL="0">
              <a:buNone/>
            </a:pPr>
            <a:r>
              <a:rPr lang="en-US" altLang="en-US" sz="1300" dirty="0">
                <a:solidFill>
                  <a:srgbClr val="E6EDF3"/>
                </a:solidFill>
                <a:latin typeface="Consolas" pitchFamily="34" charset="0"/>
                <a:ea typeface="Consolas" pitchFamily="34" charset="-122"/>
                <a:cs typeface="Consolas" pitchFamily="34" charset="-120"/>
              </a:rPr>
              <a:t>  [SMS ke 081234567890] Halo Budi Santoso, status pesanan P002: SELESAI</a:t>
            </a:r>
            <a:endParaRPr lang="en-US" sz="1300" dirty="0"/>
          </a:p>
        </p:txBody>
      </p:sp>
      <p:sp>
        <p:nvSpPr>
          <p:cNvPr id="17" name="Shape 14"/>
          <p:cNvSpPr/>
          <p:nvPr/>
        </p:nvSpPr>
        <p:spPr>
          <a:xfrm>
            <a:off x="7772400" y="2226564"/>
            <a:ext cx="3870655" cy="1798320"/>
          </a:xfrm>
          <a:prstGeom prst="roundRect">
            <a:avLst>
              <a:gd name="adj" fmla="val 3103"/>
            </a:avLst>
          </a:prstGeom>
          <a:solidFill>
            <a:srgbClr val="FFF8C5"/>
          </a:solidFill>
          <a:ln w="9525">
            <a:solidFill>
              <a:srgbClr val="D4A72C"/>
            </a:solidFill>
            <a:prstDash val="solid"/>
          </a:ln>
        </p:spPr>
      </p:sp>
      <p:sp>
        <p:nvSpPr>
          <p:cNvPr id="18" name="Shape 15"/>
          <p:cNvSpPr/>
          <p:nvPr/>
        </p:nvSpPr>
        <p:spPr>
          <a:xfrm>
            <a:off x="8046720" y="2455164"/>
            <a:ext cx="420624" cy="420624"/>
          </a:xfrm>
          <a:prstGeom prst="ellipse">
            <a:avLst/>
          </a:prstGeom>
          <a:solidFill>
            <a:srgbClr val="9A6700"/>
          </a:solidFill>
          <a:ln/>
        </p:spPr>
      </p:sp>
      <p:pic>
        <p:nvPicPr>
          <p:cNvPr id="19" name="Image 1" descr="preencoded.png">    </p:cNvPr>
          <p:cNvPicPr>
            <a:picLocks noChangeAspect="1"/>
          </p:cNvPicPr>
          <p:nvPr/>
        </p:nvPicPr>
        <p:blipFill>
          <a:blip r:embed="rId2"/>
          <a:stretch>
            <a:fillRect/>
          </a:stretch>
        </p:blipFill>
        <p:spPr>
          <a:xfrm>
            <a:off x="8139257" y="2547701"/>
            <a:ext cx="235549" cy="235549"/>
          </a:xfrm>
          <a:prstGeom prst="rect">
            <a:avLst/>
          </a:prstGeom>
        </p:spPr>
      </p:pic>
      <p:sp>
        <p:nvSpPr>
          <p:cNvPr id="20" name="Text 16"/>
          <p:cNvSpPr txBox="1"/>
          <p:nvPr/>
        </p:nvSpPr>
        <p:spPr>
          <a:xfrm>
            <a:off x="8595360" y="2482596"/>
            <a:ext cx="2864815" cy="365760"/>
          </a:xfrm>
          <a:prstGeom prst="rect">
            <a:avLst/>
          </a:prstGeom>
          <a:noFill/>
          <a:ln/>
        </p:spPr>
        <p:txBody>
          <a:bodyPr wrap="square" lIns="0" tIns="0" rIns="0" bIns="0" rtlCol="0" anchor="t"/>
          <a:lstStyle/>
          <a:p>
            <a:pPr indent="0" marL="0">
              <a:buNone/>
            </a:pPr>
            <a:r>
              <a:rPr lang="id-ID" altLang="en-US" sz="1500" b="1" dirty="0">
                <a:solidFill>
                  <a:srgbClr val="9A6700"/>
                </a:solidFill>
              </a:rPr>
              <a:t>Khusus Python</a:t>
            </a:r>
            <a:endParaRPr lang="id-ID" sz="1500" dirty="0"/>
          </a:p>
        </p:txBody>
      </p:sp>
      <p:sp>
        <p:nvSpPr>
          <p:cNvPr id="21" name="Text 17"/>
          <p:cNvSpPr txBox="1"/>
          <p:nvPr/>
        </p:nvSpPr>
        <p:spPr>
          <a:xfrm>
            <a:off x="8046720" y="3003804"/>
            <a:ext cx="3322015" cy="975360"/>
          </a:xfrm>
          <a:prstGeom prst="rect">
            <a:avLst/>
          </a:prstGeom>
          <a:noFill/>
          <a:ln/>
        </p:spPr>
        <p:txBody>
          <a:bodyPr wrap="square" lIns="0" tIns="0" rIns="0" bIns="0" rtlCol="0" anchor="t"/>
          <a:lstStyle/>
          <a:p>
            <a:pPr indent="0" marL="0">
              <a:buNone/>
            </a:pPr>
            <a:r>
              <a:rPr lang="id-ID" altLang="en-US" sz="2000" dirty="0">
                <a:solidFill>
                  <a:srgbClr val="1F2328"/>
                </a:solidFill>
              </a:rPr>
              <a:t>Versi Java ada di </a:t>
            </a:r>
            <a:r>
              <a:rPr lang="id-ID" altLang="en-US" sz="2000" dirty="0">
                <a:solidFill>
                  <a:srgbClr val="0A3069"/>
                </a:solidFill>
                <a:latin typeface="Consolas" pitchFamily="34" charset="0"/>
                <a:ea typeface="Consolas" pitchFamily="34" charset="-122"/>
                <a:cs typeface="Consolas" pitchFamily="34" charset="-120"/>
              </a:rPr>
              <a:t>Main.java</a:t>
            </a:r>
            <a:r>
              <a:rPr lang="id-ID" altLang="en-US" sz="2000" dirty="0">
                <a:solidFill>
                  <a:srgbClr val="1F2328"/>
                </a:solidFill>
              </a:rPr>
              <a:t> dengan </a:t>
            </a:r>
            <a:r>
              <a:rPr lang="id-ID" altLang="en-US" sz="2000" i="1" dirty="0">
                <a:solidFill>
                  <a:srgbClr val="1F2328"/>
                </a:solidFill>
              </a:rPr>
              <a:t>output</a:t>
            </a:r>
            <a:r>
              <a:rPr lang="id-ID" altLang="en-US" sz="2000" dirty="0">
                <a:solidFill>
                  <a:srgbClr val="1F2328"/>
                </a:solidFill>
              </a:rPr>
              <a:t> yang sama persis.</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F222E"/>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Miskonsepsi yang Sering Terjadi</a:t>
            </a:r>
            <a:endParaRPr lang="id-ID" sz="3200" dirty="0"/>
          </a:p>
        </p:txBody>
      </p:sp>
      <p:sp>
        <p:nvSpPr>
          <p:cNvPr id="5" name="Shape 2"/>
          <p:cNvSpPr/>
          <p:nvPr/>
        </p:nvSpPr>
        <p:spPr>
          <a:xfrm>
            <a:off x="548640" y="1472047"/>
            <a:ext cx="329184" cy="329184"/>
          </a:xfrm>
          <a:prstGeom prst="ellipse">
            <a:avLst/>
          </a:prstGeom>
          <a:solidFill>
            <a:srgbClr val="CF222E"/>
          </a:solidFill>
          <a:ln/>
        </p:spPr>
      </p:sp>
      <p:pic>
        <p:nvPicPr>
          <p:cNvPr id="6" name="Image 1" descr="preencoded.png">    </p:cNvPr>
          <p:cNvPicPr>
            <a:picLocks noChangeAspect="1"/>
          </p:cNvPicPr>
          <p:nvPr/>
        </p:nvPicPr>
        <p:blipFill>
          <a:blip r:embed="rId2"/>
          <a:stretch>
            <a:fillRect/>
          </a:stretch>
        </p:blipFill>
        <p:spPr>
          <a:xfrm>
            <a:off x="621060" y="1544467"/>
            <a:ext cx="184343" cy="184343"/>
          </a:xfrm>
          <a:prstGeom prst="rect">
            <a:avLst/>
          </a:prstGeom>
        </p:spPr>
      </p:pic>
      <p:sp>
        <p:nvSpPr>
          <p:cNvPr id="7" name="Text 3"/>
          <p:cNvSpPr txBox="1"/>
          <p:nvPr/>
        </p:nvSpPr>
        <p:spPr>
          <a:xfrm>
            <a:off x="987552" y="1472047"/>
            <a:ext cx="3886200" cy="329184"/>
          </a:xfrm>
          <a:prstGeom prst="rect">
            <a:avLst/>
          </a:prstGeom>
          <a:noFill/>
          <a:ln/>
        </p:spPr>
        <p:txBody>
          <a:bodyPr wrap="square" lIns="0" tIns="0" rIns="0" bIns="0" rtlCol="0" anchor="ctr"/>
          <a:lstStyle/>
          <a:p>
            <a:pPr indent="0" marL="0">
              <a:buNone/>
            </a:pPr>
            <a:r>
              <a:rPr lang="id-ID" altLang="en-US" sz="1600" b="1" dirty="0">
                <a:solidFill>
                  <a:srgbClr val="CF222E"/>
                </a:solidFill>
              </a:rPr>
              <a:t>Anggapan keliru</a:t>
            </a:r>
            <a:endParaRPr lang="id-ID" sz="1600" dirty="0"/>
          </a:p>
        </p:txBody>
      </p:sp>
      <p:sp>
        <p:nvSpPr>
          <p:cNvPr id="8" name="Shape 4"/>
          <p:cNvSpPr/>
          <p:nvPr/>
        </p:nvSpPr>
        <p:spPr>
          <a:xfrm>
            <a:off x="5166360" y="1472047"/>
            <a:ext cx="329184" cy="329184"/>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5238780" y="1544467"/>
            <a:ext cx="184343" cy="184343"/>
          </a:xfrm>
          <a:prstGeom prst="rect">
            <a:avLst/>
          </a:prstGeom>
        </p:spPr>
      </p:pic>
      <p:sp>
        <p:nvSpPr>
          <p:cNvPr id="10" name="Text 5"/>
          <p:cNvSpPr txBox="1"/>
          <p:nvPr/>
        </p:nvSpPr>
        <p:spPr>
          <a:xfrm>
            <a:off x="5605272" y="1472047"/>
            <a:ext cx="6019495" cy="329184"/>
          </a:xfrm>
          <a:prstGeom prst="rect">
            <a:avLst/>
          </a:prstGeom>
          <a:noFill/>
          <a:ln/>
        </p:spPr>
        <p:txBody>
          <a:bodyPr wrap="square" lIns="0" tIns="0" rIns="0" bIns="0" rtlCol="0" anchor="ctr"/>
          <a:lstStyle/>
          <a:p>
            <a:pPr indent="0" marL="0">
              <a:buNone/>
            </a:pPr>
            <a:r>
              <a:rPr lang="id-ID" altLang="en-US" sz="1600" b="1" dirty="0">
                <a:solidFill>
                  <a:srgbClr val="1A7F37"/>
                </a:solidFill>
              </a:rPr>
              <a:t>Yang benar</a:t>
            </a:r>
            <a:endParaRPr lang="id-ID" sz="1600" dirty="0"/>
          </a:p>
        </p:txBody>
      </p:sp>
      <p:sp>
        <p:nvSpPr>
          <p:cNvPr id="11" name="Shape 6"/>
          <p:cNvSpPr/>
          <p:nvPr/>
        </p:nvSpPr>
        <p:spPr>
          <a:xfrm>
            <a:off x="548640" y="1974967"/>
            <a:ext cx="4343400" cy="1248918"/>
          </a:xfrm>
          <a:prstGeom prst="roundRect">
            <a:avLst>
              <a:gd name="adj" fmla="val 6433"/>
            </a:avLst>
          </a:prstGeom>
          <a:solidFill>
            <a:srgbClr val="FFEBE9"/>
          </a:solidFill>
          <a:ln w="9525">
            <a:solidFill>
              <a:srgbClr val="FF8182"/>
            </a:solidFill>
            <a:prstDash val="solid"/>
          </a:ln>
        </p:spPr>
      </p:sp>
      <p:sp>
        <p:nvSpPr>
          <p:cNvPr id="12" name="Text 7"/>
          <p:cNvSpPr txBox="1"/>
          <p:nvPr/>
        </p:nvSpPr>
        <p:spPr>
          <a:xfrm>
            <a:off x="777240" y="2157847"/>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“Semakin banyak pola yang dipakai, semakin bagus programnya.”</a:t>
            </a:r>
            <a:endParaRPr lang="id-ID" sz="1900" dirty="0"/>
          </a:p>
        </p:txBody>
      </p:sp>
      <p:sp>
        <p:nvSpPr>
          <p:cNvPr id="13" name="Shape 8"/>
          <p:cNvSpPr/>
          <p:nvPr/>
        </p:nvSpPr>
        <p:spPr>
          <a:xfrm>
            <a:off x="5166360" y="1974967"/>
            <a:ext cx="6476695" cy="1248918"/>
          </a:xfrm>
          <a:prstGeom prst="roundRect">
            <a:avLst>
              <a:gd name="adj" fmla="val 6433"/>
            </a:avLst>
          </a:prstGeom>
          <a:solidFill>
            <a:srgbClr val="DAFBE1"/>
          </a:solidFill>
          <a:ln w="9525">
            <a:solidFill>
              <a:srgbClr val="4AC26B"/>
            </a:solidFill>
            <a:prstDash val="solid"/>
          </a:ln>
        </p:spPr>
      </p:sp>
      <p:sp>
        <p:nvSpPr>
          <p:cNvPr id="14" name="Text 9"/>
          <p:cNvSpPr txBox="1"/>
          <p:nvPr/>
        </p:nvSpPr>
        <p:spPr>
          <a:xfrm>
            <a:off x="5394960" y="2157847"/>
            <a:ext cx="6019495" cy="974598"/>
          </a:xfrm>
          <a:prstGeom prst="rect">
            <a:avLst/>
          </a:prstGeom>
          <a:noFill/>
          <a:ln/>
        </p:spPr>
        <p:txBody>
          <a:bodyPr wrap="square" lIns="0" tIns="0" rIns="0" bIns="0" rtlCol="0" anchor="t"/>
          <a:lstStyle/>
          <a:p>
            <a:pPr indent="0" marL="0">
              <a:buNone/>
            </a:pPr>
            <a:r>
              <a:rPr lang="id-ID" altLang="en-US" sz="1900" dirty="0">
                <a:solidFill>
                  <a:srgbClr val="1F2328"/>
                </a:solidFill>
              </a:rPr>
              <a:t>Pola yang tidak dibutuhkan hanya menambah kelas dan membuat kode sulit diikuti. Pakai pola ketika masalahnya benar-⁠benar ada.</a:t>
            </a:r>
            <a:endParaRPr lang="id-ID" sz="1900" dirty="0"/>
          </a:p>
        </p:txBody>
      </p:sp>
      <p:sp>
        <p:nvSpPr>
          <p:cNvPr id="15" name="Shape 10"/>
          <p:cNvSpPr/>
          <p:nvPr/>
        </p:nvSpPr>
        <p:spPr>
          <a:xfrm>
            <a:off x="548640" y="3425053"/>
            <a:ext cx="4343400" cy="1248918"/>
          </a:xfrm>
          <a:prstGeom prst="roundRect">
            <a:avLst>
              <a:gd name="adj" fmla="val 6433"/>
            </a:avLst>
          </a:prstGeom>
          <a:solidFill>
            <a:srgbClr val="FFEBE9"/>
          </a:solidFill>
          <a:ln w="9525">
            <a:solidFill>
              <a:srgbClr val="FF8182"/>
            </a:solidFill>
            <a:prstDash val="solid"/>
          </a:ln>
        </p:spPr>
      </p:sp>
      <p:sp>
        <p:nvSpPr>
          <p:cNvPr id="16" name="Text 11"/>
          <p:cNvSpPr txBox="1"/>
          <p:nvPr/>
        </p:nvSpPr>
        <p:spPr>
          <a:xfrm>
            <a:off x="777240" y="3607933"/>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a:t>
            </a:r>
            <a:r>
              <a:rPr lang="id-ID" altLang="en-US" sz="1900" i="1" dirty="0">
                <a:solidFill>
                  <a:srgbClr val="1F2328"/>
                </a:solidFill>
              </a:rPr>
              <a:t>Singleton</a:t>
            </a:r>
            <a:r>
              <a:rPr lang="id-ID" altLang="en-US" sz="1900" dirty="0">
                <a:solidFill>
                  <a:srgbClr val="1F2328"/>
                </a:solidFill>
              </a:rPr>
              <a:t> aman dipakai di mana saja karena hanya ada satu objek.”</a:t>
            </a:r>
            <a:endParaRPr lang="id-ID" sz="1900" dirty="0"/>
          </a:p>
        </p:txBody>
      </p:sp>
      <p:sp>
        <p:nvSpPr>
          <p:cNvPr id="17" name="Shape 12"/>
          <p:cNvSpPr/>
          <p:nvPr/>
        </p:nvSpPr>
        <p:spPr>
          <a:xfrm>
            <a:off x="5166360" y="3425053"/>
            <a:ext cx="6476695" cy="1248918"/>
          </a:xfrm>
          <a:prstGeom prst="roundRect">
            <a:avLst>
              <a:gd name="adj" fmla="val 6433"/>
            </a:avLst>
          </a:prstGeom>
          <a:solidFill>
            <a:srgbClr val="DAFBE1"/>
          </a:solidFill>
          <a:ln w="9525">
            <a:solidFill>
              <a:srgbClr val="4AC26B"/>
            </a:solidFill>
            <a:prstDash val="solid"/>
          </a:ln>
        </p:spPr>
      </p:sp>
      <p:sp>
        <p:nvSpPr>
          <p:cNvPr id="18" name="Text 13"/>
          <p:cNvSpPr txBox="1"/>
          <p:nvPr/>
        </p:nvSpPr>
        <p:spPr>
          <a:xfrm>
            <a:off x="5394960" y="3607933"/>
            <a:ext cx="6019495" cy="974598"/>
          </a:xfrm>
          <a:prstGeom prst="rect">
            <a:avLst/>
          </a:prstGeom>
          <a:noFill/>
          <a:ln/>
        </p:spPr>
        <p:txBody>
          <a:bodyPr wrap="square" lIns="0" tIns="0" rIns="0" bIns="0" rtlCol="0" anchor="t"/>
          <a:lstStyle/>
          <a:p>
            <a:pPr indent="0" marL="0">
              <a:buNone/>
            </a:pPr>
            <a:r>
              <a:rPr lang="id-ID" altLang="en-US" sz="1900" dirty="0">
                <a:solidFill>
                  <a:srgbClr val="1F2328"/>
                </a:solidFill>
              </a:rPr>
              <a:t>Justru karena hanya satu, objek itu menjadi </a:t>
            </a:r>
            <a:r>
              <a:rPr lang="id-ID" altLang="en-US" sz="1900" i="1" dirty="0">
                <a:solidFill>
                  <a:srgbClr val="1F2328"/>
                </a:solidFill>
              </a:rPr>
              <a:t>state</a:t>
            </a:r>
            <a:r>
              <a:rPr lang="id-ID" altLang="en-US" sz="1900" dirty="0">
                <a:solidFill>
                  <a:srgbClr val="1F2328"/>
                </a:solidFill>
              </a:rPr>
              <a:t> global. Perubahan dari satu bagian memengaruhi semua bagian lain, dan pengujian saling mengganggu.</a:t>
            </a:r>
            <a:endParaRPr lang="id-ID" sz="1900" dirty="0"/>
          </a:p>
        </p:txBody>
      </p:sp>
      <p:sp>
        <p:nvSpPr>
          <p:cNvPr id="19" name="Shape 14"/>
          <p:cNvSpPr/>
          <p:nvPr/>
        </p:nvSpPr>
        <p:spPr>
          <a:xfrm>
            <a:off x="548640" y="4875139"/>
            <a:ext cx="4343400" cy="1248918"/>
          </a:xfrm>
          <a:prstGeom prst="roundRect">
            <a:avLst>
              <a:gd name="adj" fmla="val 6433"/>
            </a:avLst>
          </a:prstGeom>
          <a:solidFill>
            <a:srgbClr val="FFEBE9"/>
          </a:solidFill>
          <a:ln w="9525">
            <a:solidFill>
              <a:srgbClr val="FF8182"/>
            </a:solidFill>
            <a:prstDash val="solid"/>
          </a:ln>
        </p:spPr>
      </p:sp>
      <p:sp>
        <p:nvSpPr>
          <p:cNvPr id="20" name="Text 15"/>
          <p:cNvSpPr txBox="1"/>
          <p:nvPr/>
        </p:nvSpPr>
        <p:spPr>
          <a:xfrm>
            <a:off x="777240" y="5058019"/>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a:t>
            </a:r>
            <a:r>
              <a:rPr lang="id-ID" altLang="en-US" sz="1900" i="1" dirty="0">
                <a:solidFill>
                  <a:srgbClr val="1F2328"/>
                </a:solidFill>
              </a:rPr>
              <a:t>Strategy</a:t>
            </a:r>
            <a:r>
              <a:rPr lang="id-ID" altLang="en-US" sz="1900" dirty="0">
                <a:solidFill>
                  <a:srgbClr val="1F2328"/>
                </a:solidFill>
              </a:rPr>
              <a:t> sama saja dengan polimorfisme.”</a:t>
            </a:r>
            <a:endParaRPr lang="id-ID" sz="1900" dirty="0"/>
          </a:p>
        </p:txBody>
      </p:sp>
      <p:sp>
        <p:nvSpPr>
          <p:cNvPr id="21" name="Shape 16"/>
          <p:cNvSpPr/>
          <p:nvPr/>
        </p:nvSpPr>
        <p:spPr>
          <a:xfrm>
            <a:off x="5166360" y="4875139"/>
            <a:ext cx="6476695" cy="1248918"/>
          </a:xfrm>
          <a:prstGeom prst="roundRect">
            <a:avLst>
              <a:gd name="adj" fmla="val 6433"/>
            </a:avLst>
          </a:prstGeom>
          <a:solidFill>
            <a:srgbClr val="DAFBE1"/>
          </a:solidFill>
          <a:ln w="9525">
            <a:solidFill>
              <a:srgbClr val="4AC26B"/>
            </a:solidFill>
            <a:prstDash val="solid"/>
          </a:ln>
        </p:spPr>
      </p:sp>
      <p:sp>
        <p:nvSpPr>
          <p:cNvPr id="22" name="Text 17"/>
          <p:cNvSpPr txBox="1"/>
          <p:nvPr/>
        </p:nvSpPr>
        <p:spPr>
          <a:xfrm>
            <a:off x="5394960" y="5058019"/>
            <a:ext cx="6019495" cy="974598"/>
          </a:xfrm>
          <a:prstGeom prst="rect">
            <a:avLst/>
          </a:prstGeom>
          <a:noFill/>
          <a:ln/>
        </p:spPr>
        <p:txBody>
          <a:bodyPr wrap="square" lIns="0" tIns="0" rIns="0" bIns="0" rtlCol="0" anchor="t"/>
          <a:lstStyle/>
          <a:p>
            <a:pPr indent="0" marL="0">
              <a:buNone/>
            </a:pPr>
            <a:r>
              <a:rPr lang="id-ID" altLang="en-US" sz="1900" i="1" dirty="0">
                <a:solidFill>
                  <a:srgbClr val="1F2328"/>
                </a:solidFill>
              </a:rPr>
              <a:t>Strategy</a:t>
            </a:r>
            <a:r>
              <a:rPr lang="id-ID" altLang="en-US" sz="1900" dirty="0">
                <a:solidFill>
                  <a:srgbClr val="1F2328"/>
                </a:solidFill>
              </a:rPr>
              <a:t> </a:t>
            </a:r>
            <a:r>
              <a:rPr lang="id-ID" altLang="en-US" sz="1900" b="1" dirty="0">
                <a:solidFill>
                  <a:srgbClr val="1F2328"/>
                </a:solidFill>
              </a:rPr>
              <a:t>memanfaatkan</a:t>
            </a:r>
            <a:r>
              <a:rPr lang="id-ID" altLang="en-US" sz="1900" dirty="0">
                <a:solidFill>
                  <a:srgbClr val="1F2328"/>
                </a:solidFill>
              </a:rPr>
              <a:t> polimorfisme. Polimorfisme adalah kemampuan bahasa; </a:t>
            </a:r>
            <a:r>
              <a:rPr lang="id-ID" altLang="en-US" sz="1900" i="1" dirty="0">
                <a:solidFill>
                  <a:srgbClr val="1F2328"/>
                </a:solidFill>
              </a:rPr>
              <a:t>Strategy</a:t>
            </a:r>
            <a:r>
              <a:rPr lang="id-ID" altLang="en-US" sz="1900" dirty="0">
                <a:solidFill>
                  <a:srgbClr val="1F2328"/>
                </a:solidFill>
              </a:rPr>
              <a:t> adalah susunan kelas agar algoritma bisa dipilih dan ditukar oleh </a:t>
            </a:r>
            <a:r>
              <a:rPr lang="id-ID" altLang="en-US" sz="1900" i="1" dirty="0">
                <a:solidFill>
                  <a:srgbClr val="1F2328"/>
                </a:solidFill>
              </a:rPr>
              <a:t>context</a:t>
            </a:r>
            <a:r>
              <a:rPr lang="id-ID" altLang="en-US" sz="1900" dirty="0">
                <a:solidFill>
                  <a:srgbClr val="1F2328"/>
                </a:solidFill>
              </a:rPr>
              <a:t>.</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730532"/>
            <a:ext cx="11094415" cy="891032"/>
          </a:xfrm>
          <a:prstGeom prst="roundRect">
            <a:avLst>
              <a:gd name="adj" fmla="val 12638"/>
            </a:avLst>
          </a:prstGeom>
          <a:solidFill>
            <a:srgbClr val="FBEFFF"/>
          </a:solidFill>
          <a:ln w="9525">
            <a:solidFill>
              <a:srgbClr val="C297FF"/>
            </a:solidFill>
            <a:prstDash val="solid"/>
          </a:ln>
        </p:spPr>
      </p:sp>
      <p:sp>
        <p:nvSpPr>
          <p:cNvPr id="6" name="Shape 3"/>
          <p:cNvSpPr/>
          <p:nvPr/>
        </p:nvSpPr>
        <p:spPr>
          <a:xfrm>
            <a:off x="777240" y="1947448"/>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048032"/>
            <a:ext cx="256032" cy="256032"/>
          </a:xfrm>
          <a:prstGeom prst="rect">
            <a:avLst/>
          </a:prstGeom>
        </p:spPr>
      </p:pic>
      <p:sp>
        <p:nvSpPr>
          <p:cNvPr id="8" name="Text 4"/>
          <p:cNvSpPr txBox="1"/>
          <p:nvPr/>
        </p:nvSpPr>
        <p:spPr>
          <a:xfrm>
            <a:off x="1417320" y="1959132"/>
            <a:ext cx="9951415" cy="616712"/>
          </a:xfrm>
          <a:prstGeom prst="rect">
            <a:avLst/>
          </a:prstGeom>
          <a:noFill/>
          <a:ln/>
        </p:spPr>
        <p:txBody>
          <a:bodyPr wrap="square" lIns="0" tIns="0" rIns="0" bIns="0" rtlCol="0" anchor="t"/>
          <a:lstStyle/>
          <a:p>
            <a:pPr indent="0" marL="0">
              <a:buNone/>
            </a:pPr>
            <a:r>
              <a:rPr lang="id-ID" altLang="en-US" sz="2800" dirty="0">
                <a:solidFill>
                  <a:srgbClr val="1F2328"/>
                </a:solidFill>
              </a:rPr>
              <a:t>Apa perbedaan </a:t>
            </a:r>
            <a:r>
              <a:rPr lang="id-ID" altLang="en-US" sz="2800" i="1" dirty="0">
                <a:solidFill>
                  <a:srgbClr val="1F2328"/>
                </a:solidFill>
              </a:rPr>
              <a:t>Simple Factory</a:t>
            </a:r>
            <a:r>
              <a:rPr lang="id-ID" altLang="en-US" sz="2800" dirty="0">
                <a:solidFill>
                  <a:srgbClr val="1F2328"/>
                </a:solidFill>
              </a:rPr>
              <a:t> dan </a:t>
            </a:r>
            <a:r>
              <a:rPr lang="id-ID" altLang="en-US" sz="2800" i="1" dirty="0">
                <a:solidFill>
                  <a:srgbClr val="1F2328"/>
                </a:solidFill>
              </a:rPr>
              <a:t>Factory Method</a:t>
            </a:r>
            <a:r>
              <a:rPr lang="id-ID" altLang="en-US" sz="2800" dirty="0">
                <a:solidFill>
                  <a:srgbClr val="1F2328"/>
                </a:solidFill>
              </a:rPr>
              <a:t> versi GoF?</a:t>
            </a:r>
            <a:endParaRPr lang="id-ID" sz="2800" dirty="0"/>
          </a:p>
        </p:txBody>
      </p:sp>
      <p:sp>
        <p:nvSpPr>
          <p:cNvPr id="9" name="Shape 5"/>
          <p:cNvSpPr/>
          <p:nvPr/>
        </p:nvSpPr>
        <p:spPr>
          <a:xfrm>
            <a:off x="548640" y="2804444"/>
            <a:ext cx="5455768" cy="1389888"/>
          </a:xfrm>
          <a:prstGeom prst="roundRect">
            <a:avLst>
              <a:gd name="adj" fmla="val 5194"/>
            </a:avLst>
          </a:prstGeom>
          <a:solidFill>
            <a:srgbClr val="FFFFFF"/>
          </a:solidFill>
          <a:ln w="9525">
            <a:solidFill>
              <a:srgbClr val="D0D7DE"/>
            </a:solidFill>
            <a:prstDash val="solid"/>
          </a:ln>
        </p:spPr>
      </p:sp>
      <p:sp>
        <p:nvSpPr>
          <p:cNvPr id="10" name="Shape 6"/>
          <p:cNvSpPr/>
          <p:nvPr/>
        </p:nvSpPr>
        <p:spPr>
          <a:xfrm>
            <a:off x="749808" y="3270788"/>
            <a:ext cx="457200" cy="457200"/>
          </a:xfrm>
          <a:prstGeom prst="ellipse">
            <a:avLst/>
          </a:prstGeom>
          <a:solidFill>
            <a:srgbClr val="8250DF"/>
          </a:solidFill>
          <a:ln/>
        </p:spPr>
      </p:sp>
      <p:sp>
        <p:nvSpPr>
          <p:cNvPr id="11" name="Text 7"/>
          <p:cNvSpPr txBox="1"/>
          <p:nvPr/>
        </p:nvSpPr>
        <p:spPr>
          <a:xfrm>
            <a:off x="749808" y="3270788"/>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2914172"/>
            <a:ext cx="4541368" cy="1170432"/>
          </a:xfrm>
          <a:prstGeom prst="rect">
            <a:avLst/>
          </a:prstGeom>
          <a:noFill/>
          <a:ln/>
        </p:spPr>
        <p:txBody>
          <a:bodyPr wrap="square" lIns="0" tIns="0" rIns="0" bIns="0" rtlCol="0" anchor="ctr"/>
          <a:lstStyle/>
          <a:p>
            <a:pPr indent="0" marL="0">
              <a:buNone/>
            </a:pPr>
            <a:r>
              <a:rPr lang="id-ID" altLang="en-US" sz="2400" i="1" dirty="0">
                <a:solidFill>
                  <a:srgbClr val="1F2328"/>
                </a:solidFill>
              </a:rPr>
              <a:t>Simple Factory</a:t>
            </a:r>
            <a:r>
              <a:rPr lang="id-ID" altLang="en-US" sz="2400" dirty="0">
                <a:solidFill>
                  <a:srgbClr val="1F2328"/>
                </a:solidFill>
              </a:rPr>
              <a:t> termasuk 23 pola GoF, sedangkan </a:t>
            </a:r>
            <a:r>
              <a:rPr lang="id-ID" altLang="en-US" sz="2400" i="1" dirty="0">
                <a:solidFill>
                  <a:srgbClr val="1F2328"/>
                </a:solidFill>
              </a:rPr>
              <a:t>Factory Method</a:t>
            </a:r>
            <a:r>
              <a:rPr lang="id-ID" altLang="en-US" sz="2400" dirty="0">
                <a:solidFill>
                  <a:srgbClr val="1F2328"/>
                </a:solidFill>
              </a:rPr>
              <a:t> tidak</a:t>
            </a:r>
            <a:endParaRPr lang="id-ID" sz="2400" dirty="0"/>
          </a:p>
        </p:txBody>
      </p:sp>
      <p:sp>
        <p:nvSpPr>
          <p:cNvPr id="13" name="Shape 9"/>
          <p:cNvSpPr/>
          <p:nvPr/>
        </p:nvSpPr>
        <p:spPr>
          <a:xfrm>
            <a:off x="6187288" y="2804444"/>
            <a:ext cx="5455768" cy="1389888"/>
          </a:xfrm>
          <a:prstGeom prst="roundRect">
            <a:avLst>
              <a:gd name="adj" fmla="val 5194"/>
            </a:avLst>
          </a:prstGeom>
          <a:solidFill>
            <a:srgbClr val="FFFFFF"/>
          </a:solidFill>
          <a:ln w="9525">
            <a:solidFill>
              <a:srgbClr val="D0D7DE"/>
            </a:solidFill>
            <a:prstDash val="solid"/>
          </a:ln>
        </p:spPr>
      </p:sp>
      <p:sp>
        <p:nvSpPr>
          <p:cNvPr id="14" name="Shape 10"/>
          <p:cNvSpPr/>
          <p:nvPr/>
        </p:nvSpPr>
        <p:spPr>
          <a:xfrm>
            <a:off x="6388456" y="3270788"/>
            <a:ext cx="457200" cy="457200"/>
          </a:xfrm>
          <a:prstGeom prst="ellipse">
            <a:avLst/>
          </a:prstGeom>
          <a:solidFill>
            <a:srgbClr val="8250DF"/>
          </a:solidFill>
          <a:ln/>
        </p:spPr>
      </p:sp>
      <p:sp>
        <p:nvSpPr>
          <p:cNvPr id="15" name="Text 11"/>
          <p:cNvSpPr txBox="1"/>
          <p:nvPr/>
        </p:nvSpPr>
        <p:spPr>
          <a:xfrm>
            <a:off x="6388456" y="3270788"/>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2914172"/>
            <a:ext cx="4541368" cy="1170432"/>
          </a:xfrm>
          <a:prstGeom prst="rect">
            <a:avLst/>
          </a:prstGeom>
          <a:noFill/>
          <a:ln/>
        </p:spPr>
        <p:txBody>
          <a:bodyPr wrap="square" lIns="0" tIns="0" rIns="0" bIns="0" rtlCol="0" anchor="ctr"/>
          <a:lstStyle/>
          <a:p>
            <a:pPr indent="0" marL="0">
              <a:buNone/>
            </a:pPr>
            <a:r>
              <a:rPr lang="id-ID" altLang="en-US" sz="2400" i="1" dirty="0">
                <a:solidFill>
                  <a:srgbClr val="1F2328"/>
                </a:solidFill>
              </a:rPr>
              <a:t>Factory Method</a:t>
            </a:r>
            <a:r>
              <a:rPr lang="id-ID" altLang="en-US" sz="2400" dirty="0">
                <a:solidFill>
                  <a:srgbClr val="1F2328"/>
                </a:solidFill>
              </a:rPr>
              <a:t> selalu berupa </a:t>
            </a:r>
            <a:r>
              <a:rPr lang="id-ID" altLang="en-US" sz="2400" i="1" dirty="0">
                <a:solidFill>
                  <a:srgbClr val="1F2328"/>
                </a:solidFill>
              </a:rPr>
              <a:t>method</a:t>
            </a:r>
            <a:r>
              <a:rPr lang="id-ID" altLang="en-US" sz="2400" dirty="0">
                <a:solidFill>
                  <a:srgbClr val="1F2328"/>
                </a:solidFill>
              </a:rPr>
              <a:t> </a:t>
            </a:r>
            <a:r>
              <a:rPr lang="id-ID" altLang="en-US" sz="2400" dirty="0">
                <a:solidFill>
                  <a:srgbClr val="0A3069"/>
                </a:solidFill>
                <a:latin typeface="Consolas" pitchFamily="34" charset="0"/>
                <a:ea typeface="Consolas" pitchFamily="34" charset="-122"/>
                <a:cs typeface="Consolas" pitchFamily="34" charset="-120"/>
              </a:rPr>
              <a:t>static</a:t>
            </a:r>
            <a:r>
              <a:rPr lang="id-ID" altLang="en-US" sz="2400" dirty="0">
                <a:solidFill>
                  <a:srgbClr val="1F2328"/>
                </a:solidFill>
              </a:rPr>
              <a:t> berisi </a:t>
            </a:r>
            <a:r>
              <a:rPr lang="id-ID" altLang="en-US" sz="2400" dirty="0">
                <a:solidFill>
                  <a:srgbClr val="0A3069"/>
                </a:solidFill>
                <a:latin typeface="Consolas" pitchFamily="34" charset="0"/>
                <a:ea typeface="Consolas" pitchFamily="34" charset="-122"/>
                <a:cs typeface="Consolas" pitchFamily="34" charset="-120"/>
              </a:rPr>
              <a:t>if</a:t>
            </a:r>
            <a:r>
              <a:rPr lang="id-ID" altLang="en-US" sz="2400" dirty="0">
                <a:solidFill>
                  <a:srgbClr val="1F2328"/>
                </a:solidFill>
              </a:rPr>
              <a:t>/</a:t>
            </a:r>
            <a:r>
              <a:rPr lang="id-ID" altLang="en-US" sz="2400" dirty="0">
                <a:solidFill>
                  <a:srgbClr val="0A3069"/>
                </a:solidFill>
                <a:latin typeface="Consolas" pitchFamily="34" charset="0"/>
                <a:ea typeface="Consolas" pitchFamily="34" charset="-122"/>
                <a:cs typeface="Consolas" pitchFamily="34" charset="-120"/>
              </a:rPr>
              <a:t>elif</a:t>
            </a:r>
            <a:endParaRPr lang="id-ID" sz="2400" dirty="0"/>
          </a:p>
        </p:txBody>
      </p:sp>
      <p:sp>
        <p:nvSpPr>
          <p:cNvPr id="17" name="Shape 13"/>
          <p:cNvSpPr/>
          <p:nvPr/>
        </p:nvSpPr>
        <p:spPr>
          <a:xfrm>
            <a:off x="548640" y="4377212"/>
            <a:ext cx="5455768" cy="1389888"/>
          </a:xfrm>
          <a:prstGeom prst="roundRect">
            <a:avLst>
              <a:gd name="adj" fmla="val 5194"/>
            </a:avLst>
          </a:prstGeom>
          <a:solidFill>
            <a:srgbClr val="FFFFFF"/>
          </a:solidFill>
          <a:ln w="9525">
            <a:solidFill>
              <a:srgbClr val="D0D7DE"/>
            </a:solidFill>
            <a:prstDash val="solid"/>
          </a:ln>
        </p:spPr>
      </p:sp>
      <p:sp>
        <p:nvSpPr>
          <p:cNvPr id="18" name="Shape 14"/>
          <p:cNvSpPr/>
          <p:nvPr/>
        </p:nvSpPr>
        <p:spPr>
          <a:xfrm>
            <a:off x="749808" y="4843556"/>
            <a:ext cx="457200" cy="457200"/>
          </a:xfrm>
          <a:prstGeom prst="ellipse">
            <a:avLst/>
          </a:prstGeom>
          <a:solidFill>
            <a:srgbClr val="8250DF"/>
          </a:solidFill>
          <a:ln/>
        </p:spPr>
      </p:sp>
      <p:sp>
        <p:nvSpPr>
          <p:cNvPr id="19" name="Text 15"/>
          <p:cNvSpPr txBox="1"/>
          <p:nvPr/>
        </p:nvSpPr>
        <p:spPr>
          <a:xfrm>
            <a:off x="749808" y="484355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486940"/>
            <a:ext cx="4541368" cy="1170432"/>
          </a:xfrm>
          <a:prstGeom prst="rect">
            <a:avLst/>
          </a:prstGeom>
          <a:noFill/>
          <a:ln/>
        </p:spPr>
        <p:txBody>
          <a:bodyPr wrap="square" lIns="0" tIns="0" rIns="0" bIns="0" rtlCol="0" anchor="ctr"/>
          <a:lstStyle/>
          <a:p>
            <a:pPr indent="0" marL="0">
              <a:buNone/>
            </a:pPr>
            <a:r>
              <a:rPr lang="id-ID" altLang="en-US" sz="2400" i="1" dirty="0">
                <a:solidFill>
                  <a:srgbClr val="1F2328"/>
                </a:solidFill>
              </a:rPr>
              <a:t>Factory Method</a:t>
            </a:r>
            <a:r>
              <a:rPr lang="id-ID" altLang="en-US" sz="2400" dirty="0">
                <a:solidFill>
                  <a:srgbClr val="1F2328"/>
                </a:solidFill>
              </a:rPr>
              <a:t>: kelas anak meng-⁠</a:t>
            </a:r>
            <a:r>
              <a:rPr lang="id-ID" altLang="en-US" sz="2400" i="1" dirty="0">
                <a:solidFill>
                  <a:srgbClr val="1F2328"/>
                </a:solidFill>
              </a:rPr>
              <a:t>override</a:t>
            </a:r>
            <a:r>
              <a:rPr lang="id-ID" altLang="en-US" sz="2400" dirty="0">
                <a:solidFill>
                  <a:srgbClr val="1F2328"/>
                </a:solidFill>
              </a:rPr>
              <a:t> </a:t>
            </a:r>
            <a:r>
              <a:rPr lang="id-ID" altLang="en-US" sz="2400" i="1" dirty="0">
                <a:solidFill>
                  <a:srgbClr val="1F2328"/>
                </a:solidFill>
              </a:rPr>
              <a:t>method</a:t>
            </a:r>
            <a:r>
              <a:rPr lang="id-ID" altLang="en-US" sz="2400" dirty="0">
                <a:solidFill>
                  <a:srgbClr val="1F2328"/>
                </a:solidFill>
              </a:rPr>
              <a:t> pembuat produk, bukan memilih lewat </a:t>
            </a:r>
            <a:r>
              <a:rPr lang="id-ID" altLang="en-US" sz="2400" dirty="0">
                <a:solidFill>
                  <a:srgbClr val="0A3069"/>
                </a:solidFill>
                <a:latin typeface="Consolas" pitchFamily="34" charset="0"/>
                <a:ea typeface="Consolas" pitchFamily="34" charset="-122"/>
                <a:cs typeface="Consolas" pitchFamily="34" charset="-120"/>
              </a:rPr>
              <a:t>if</a:t>
            </a:r>
            <a:endParaRPr lang="id-ID" sz="2400" dirty="0"/>
          </a:p>
        </p:txBody>
      </p:sp>
      <p:sp>
        <p:nvSpPr>
          <p:cNvPr id="21" name="Shape 17"/>
          <p:cNvSpPr/>
          <p:nvPr/>
        </p:nvSpPr>
        <p:spPr>
          <a:xfrm>
            <a:off x="6187288" y="4377212"/>
            <a:ext cx="5455768" cy="1389888"/>
          </a:xfrm>
          <a:prstGeom prst="roundRect">
            <a:avLst>
              <a:gd name="adj" fmla="val 5194"/>
            </a:avLst>
          </a:prstGeom>
          <a:solidFill>
            <a:srgbClr val="FFFFFF"/>
          </a:solidFill>
          <a:ln w="9525">
            <a:solidFill>
              <a:srgbClr val="D0D7DE"/>
            </a:solidFill>
            <a:prstDash val="solid"/>
          </a:ln>
        </p:spPr>
      </p:sp>
      <p:sp>
        <p:nvSpPr>
          <p:cNvPr id="22" name="Shape 18"/>
          <p:cNvSpPr/>
          <p:nvPr/>
        </p:nvSpPr>
        <p:spPr>
          <a:xfrm>
            <a:off x="6388456" y="4843556"/>
            <a:ext cx="457200" cy="457200"/>
          </a:xfrm>
          <a:prstGeom prst="ellipse">
            <a:avLst/>
          </a:prstGeom>
          <a:solidFill>
            <a:srgbClr val="8250DF"/>
          </a:solidFill>
          <a:ln/>
        </p:spPr>
      </p:sp>
      <p:sp>
        <p:nvSpPr>
          <p:cNvPr id="23" name="Text 19"/>
          <p:cNvSpPr txBox="1"/>
          <p:nvPr/>
        </p:nvSpPr>
        <p:spPr>
          <a:xfrm>
            <a:off x="6388456" y="484355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486940"/>
            <a:ext cx="4541368" cy="1170432"/>
          </a:xfrm>
          <a:prstGeom prst="rect">
            <a:avLst/>
          </a:prstGeom>
          <a:noFill/>
          <a:ln/>
        </p:spPr>
        <p:txBody>
          <a:bodyPr wrap="square" lIns="0" tIns="0" rIns="0" bIns="0" rtlCol="0" anchor="ctr"/>
          <a:lstStyle/>
          <a:p>
            <a:pPr indent="0" marL="0">
              <a:buNone/>
            </a:pPr>
            <a:r>
              <a:rPr lang="id-ID" altLang="en-US" sz="2400" dirty="0">
                <a:solidFill>
                  <a:srgbClr val="1F2328"/>
                </a:solidFill>
              </a:rPr>
              <a:t>Keduanya sama persis, hanya namanya yang berbeda</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584168"/>
            <a:ext cx="11094415" cy="522224"/>
          </a:xfrm>
          <a:prstGeom prst="roundRect">
            <a:avLst>
              <a:gd name="adj" fmla="val 36791"/>
            </a:avLst>
          </a:prstGeom>
          <a:solidFill>
            <a:srgbClr val="F6F8FA"/>
          </a:solidFill>
          <a:ln w="9525">
            <a:solidFill>
              <a:srgbClr val="D0D7DE"/>
            </a:solidFill>
            <a:prstDash val="solid"/>
          </a:ln>
        </p:spPr>
      </p:sp>
      <p:sp>
        <p:nvSpPr>
          <p:cNvPr id="6" name="Text 3"/>
          <p:cNvSpPr txBox="1"/>
          <p:nvPr/>
        </p:nvSpPr>
        <p:spPr>
          <a:xfrm>
            <a:off x="822960" y="1721328"/>
            <a:ext cx="10545775" cy="247904"/>
          </a:xfrm>
          <a:prstGeom prst="rect">
            <a:avLst/>
          </a:prstGeom>
          <a:noFill/>
          <a:ln/>
        </p:spPr>
        <p:txBody>
          <a:bodyPr wrap="square" lIns="0" tIns="0" rIns="0" bIns="0" rtlCol="0" anchor="t"/>
          <a:lstStyle/>
          <a:p>
            <a:pPr indent="0" marL="0">
              <a:buNone/>
            </a:pPr>
            <a:r>
              <a:rPr lang="id-ID" altLang="en-US" sz="1600" dirty="0">
                <a:solidFill>
                  <a:srgbClr val="57606A"/>
                </a:solidFill>
              </a:rPr>
              <a:t>Apa perbedaan </a:t>
            </a:r>
            <a:r>
              <a:rPr lang="id-ID" altLang="en-US" sz="1600" i="1" dirty="0">
                <a:solidFill>
                  <a:srgbClr val="57606A"/>
                </a:solidFill>
              </a:rPr>
              <a:t>Simple Factory</a:t>
            </a:r>
            <a:r>
              <a:rPr lang="id-ID" altLang="en-US" sz="1600" dirty="0">
                <a:solidFill>
                  <a:srgbClr val="57606A"/>
                </a:solidFill>
              </a:rPr>
              <a:t> dan </a:t>
            </a:r>
            <a:r>
              <a:rPr lang="id-ID" altLang="en-US" sz="1600" i="1" dirty="0">
                <a:solidFill>
                  <a:srgbClr val="57606A"/>
                </a:solidFill>
              </a:rPr>
              <a:t>Factory Method</a:t>
            </a:r>
            <a:r>
              <a:rPr lang="id-ID" altLang="en-US" sz="1600" dirty="0">
                <a:solidFill>
                  <a:srgbClr val="57606A"/>
                </a:solidFill>
              </a:rPr>
              <a:t> versi GoF?</a:t>
            </a:r>
            <a:endParaRPr lang="id-ID" sz="1600" dirty="0"/>
          </a:p>
        </p:txBody>
      </p:sp>
      <p:sp>
        <p:nvSpPr>
          <p:cNvPr id="7" name="Shape 4"/>
          <p:cNvSpPr/>
          <p:nvPr/>
        </p:nvSpPr>
        <p:spPr>
          <a:xfrm>
            <a:off x="548640" y="2289272"/>
            <a:ext cx="5455768" cy="801116"/>
          </a:xfrm>
          <a:prstGeom prst="roundRect">
            <a:avLst>
              <a:gd name="adj" fmla="val 15634"/>
            </a:avLst>
          </a:prstGeom>
          <a:solidFill>
            <a:srgbClr val="FFFFFF"/>
          </a:solidFill>
          <a:ln w="9525">
            <a:solidFill>
              <a:srgbClr val="D0D7DE"/>
            </a:solidFill>
            <a:prstDash val="solid"/>
          </a:ln>
        </p:spPr>
      </p:sp>
      <p:sp>
        <p:nvSpPr>
          <p:cNvPr id="8" name="Shape 5"/>
          <p:cNvSpPr/>
          <p:nvPr/>
        </p:nvSpPr>
        <p:spPr>
          <a:xfrm>
            <a:off x="749808" y="2495520"/>
            <a:ext cx="388620" cy="388620"/>
          </a:xfrm>
          <a:prstGeom prst="ellipse">
            <a:avLst/>
          </a:prstGeom>
          <a:solidFill>
            <a:srgbClr val="8C959F"/>
          </a:solidFill>
          <a:ln/>
        </p:spPr>
      </p:sp>
      <p:sp>
        <p:nvSpPr>
          <p:cNvPr id="9" name="Text 6"/>
          <p:cNvSpPr txBox="1"/>
          <p:nvPr/>
        </p:nvSpPr>
        <p:spPr>
          <a:xfrm>
            <a:off x="749808" y="2495520"/>
            <a:ext cx="388620" cy="388620"/>
          </a:xfrm>
          <a:prstGeom prst="rect">
            <a:avLst/>
          </a:prstGeom>
          <a:noFill/>
          <a:ln/>
        </p:spPr>
        <p:txBody>
          <a:bodyPr wrap="square" lIns="0" tIns="0" rIns="0" bIns="0" rtlCol="0" anchor="ctr"/>
          <a:lstStyle/>
          <a:p>
            <a:pPr algn="ctr" indent="0" marL="0">
              <a:buNone/>
            </a:pPr>
            <a:r>
              <a:rPr lang="id-ID" altLang="en-US" sz="1500" b="1" dirty="0">
                <a:solidFill>
                  <a:srgbClr val="FFFFFF"/>
                </a:solidFill>
              </a:rPr>
              <a:t>A</a:t>
            </a:r>
            <a:endParaRPr lang="id-ID" sz="1500" dirty="0"/>
          </a:p>
        </p:txBody>
      </p:sp>
      <p:sp>
        <p:nvSpPr>
          <p:cNvPr id="10" name="Text 7"/>
          <p:cNvSpPr txBox="1"/>
          <p:nvPr/>
        </p:nvSpPr>
        <p:spPr>
          <a:xfrm>
            <a:off x="1353312" y="2399000"/>
            <a:ext cx="4541368" cy="581660"/>
          </a:xfrm>
          <a:prstGeom prst="rect">
            <a:avLst/>
          </a:prstGeom>
          <a:noFill/>
          <a:ln/>
        </p:spPr>
        <p:txBody>
          <a:bodyPr wrap="square" lIns="0" tIns="0" rIns="0" bIns="0" rtlCol="0" anchor="ctr"/>
          <a:lstStyle/>
          <a:p>
            <a:pPr indent="0" marL="0">
              <a:buNone/>
            </a:pPr>
            <a:r>
              <a:rPr lang="id-ID" altLang="en-US" sz="1700" i="1" dirty="0">
                <a:solidFill>
                  <a:srgbClr val="57606A"/>
                </a:solidFill>
              </a:rPr>
              <a:t>Simple Factory</a:t>
            </a:r>
            <a:r>
              <a:rPr lang="id-ID" altLang="en-US" sz="1700" dirty="0">
                <a:solidFill>
                  <a:srgbClr val="57606A"/>
                </a:solidFill>
              </a:rPr>
              <a:t> termasuk 23 pola GoF, sedangkan </a:t>
            </a:r>
            <a:r>
              <a:rPr lang="id-ID" altLang="en-US" sz="1700" i="1" dirty="0">
                <a:solidFill>
                  <a:srgbClr val="57606A"/>
                </a:solidFill>
              </a:rPr>
              <a:t>Factory Method</a:t>
            </a:r>
            <a:r>
              <a:rPr lang="id-ID" altLang="en-US" sz="1700" dirty="0">
                <a:solidFill>
                  <a:srgbClr val="57606A"/>
                </a:solidFill>
              </a:rPr>
              <a:t> tidak</a:t>
            </a:r>
            <a:endParaRPr lang="id-ID" sz="1700" dirty="0"/>
          </a:p>
        </p:txBody>
      </p:sp>
      <p:sp>
        <p:nvSpPr>
          <p:cNvPr id="11" name="Shape 8"/>
          <p:cNvSpPr/>
          <p:nvPr/>
        </p:nvSpPr>
        <p:spPr>
          <a:xfrm>
            <a:off x="6187288" y="2289272"/>
            <a:ext cx="5455768" cy="801116"/>
          </a:xfrm>
          <a:prstGeom prst="roundRect">
            <a:avLst>
              <a:gd name="adj" fmla="val 15634"/>
            </a:avLst>
          </a:prstGeom>
          <a:solidFill>
            <a:srgbClr val="FFFFFF"/>
          </a:solidFill>
          <a:ln w="9525">
            <a:solidFill>
              <a:srgbClr val="D0D7DE"/>
            </a:solidFill>
            <a:prstDash val="solid"/>
          </a:ln>
        </p:spPr>
      </p:sp>
      <p:sp>
        <p:nvSpPr>
          <p:cNvPr id="12" name="Shape 9"/>
          <p:cNvSpPr/>
          <p:nvPr/>
        </p:nvSpPr>
        <p:spPr>
          <a:xfrm>
            <a:off x="6388456" y="2495520"/>
            <a:ext cx="388620" cy="388620"/>
          </a:xfrm>
          <a:prstGeom prst="ellipse">
            <a:avLst/>
          </a:prstGeom>
          <a:solidFill>
            <a:srgbClr val="8C959F"/>
          </a:solidFill>
          <a:ln/>
        </p:spPr>
      </p:sp>
      <p:sp>
        <p:nvSpPr>
          <p:cNvPr id="13" name="Text 10"/>
          <p:cNvSpPr txBox="1"/>
          <p:nvPr/>
        </p:nvSpPr>
        <p:spPr>
          <a:xfrm>
            <a:off x="6388456" y="2495520"/>
            <a:ext cx="388620" cy="388620"/>
          </a:xfrm>
          <a:prstGeom prst="rect">
            <a:avLst/>
          </a:prstGeom>
          <a:noFill/>
          <a:ln/>
        </p:spPr>
        <p:txBody>
          <a:bodyPr wrap="square" lIns="0" tIns="0" rIns="0" bIns="0" rtlCol="0" anchor="ctr"/>
          <a:lstStyle/>
          <a:p>
            <a:pPr algn="ctr" indent="0" marL="0">
              <a:buNone/>
            </a:pPr>
            <a:r>
              <a:rPr lang="id-ID" altLang="en-US" sz="1500" b="1" dirty="0">
                <a:solidFill>
                  <a:srgbClr val="FFFFFF"/>
                </a:solidFill>
              </a:rPr>
              <a:t>B</a:t>
            </a:r>
            <a:endParaRPr lang="id-ID" sz="1500" dirty="0"/>
          </a:p>
        </p:txBody>
      </p:sp>
      <p:sp>
        <p:nvSpPr>
          <p:cNvPr id="14" name="Text 11"/>
          <p:cNvSpPr txBox="1"/>
          <p:nvPr/>
        </p:nvSpPr>
        <p:spPr>
          <a:xfrm>
            <a:off x="6991960" y="2399000"/>
            <a:ext cx="4541368" cy="581660"/>
          </a:xfrm>
          <a:prstGeom prst="rect">
            <a:avLst/>
          </a:prstGeom>
          <a:noFill/>
          <a:ln/>
        </p:spPr>
        <p:txBody>
          <a:bodyPr wrap="square" lIns="0" tIns="0" rIns="0" bIns="0" rtlCol="0" anchor="ctr"/>
          <a:lstStyle/>
          <a:p>
            <a:pPr indent="0" marL="0">
              <a:buNone/>
            </a:pPr>
            <a:r>
              <a:rPr lang="id-ID" altLang="en-US" sz="1700" i="1" dirty="0">
                <a:solidFill>
                  <a:srgbClr val="57606A"/>
                </a:solidFill>
              </a:rPr>
              <a:t>Factory Method</a:t>
            </a:r>
            <a:r>
              <a:rPr lang="id-ID" altLang="en-US" sz="1700" dirty="0">
                <a:solidFill>
                  <a:srgbClr val="57606A"/>
                </a:solidFill>
              </a:rPr>
              <a:t> selalu berupa </a:t>
            </a:r>
            <a:r>
              <a:rPr lang="id-ID" altLang="en-US" sz="1700" i="1" dirty="0">
                <a:solidFill>
                  <a:srgbClr val="57606A"/>
                </a:solidFill>
              </a:rPr>
              <a:t>method</a:t>
            </a:r>
            <a:r>
              <a:rPr lang="id-ID" altLang="en-US" sz="1700" dirty="0">
                <a:solidFill>
                  <a:srgbClr val="57606A"/>
                </a:solidFill>
              </a:rPr>
              <a:t> </a:t>
            </a:r>
            <a:r>
              <a:rPr lang="id-ID" altLang="en-US" sz="1700" dirty="0">
                <a:solidFill>
                  <a:srgbClr val="0A3069"/>
                </a:solidFill>
                <a:latin typeface="Consolas" pitchFamily="34" charset="0"/>
                <a:ea typeface="Consolas" pitchFamily="34" charset="-122"/>
                <a:cs typeface="Consolas" pitchFamily="34" charset="-120"/>
              </a:rPr>
              <a:t>static</a:t>
            </a:r>
            <a:r>
              <a:rPr lang="id-ID" altLang="en-US" sz="1700" dirty="0">
                <a:solidFill>
                  <a:srgbClr val="57606A"/>
                </a:solidFill>
              </a:rPr>
              <a:t> berisi </a:t>
            </a:r>
            <a:r>
              <a:rPr lang="id-ID" altLang="en-US" sz="1700" dirty="0">
                <a:solidFill>
                  <a:srgbClr val="0A3069"/>
                </a:solidFill>
                <a:latin typeface="Consolas" pitchFamily="34" charset="0"/>
                <a:ea typeface="Consolas" pitchFamily="34" charset="-122"/>
                <a:cs typeface="Consolas" pitchFamily="34" charset="-120"/>
              </a:rPr>
              <a:t>if</a:t>
            </a:r>
            <a:r>
              <a:rPr lang="id-ID" altLang="en-US" sz="1700" dirty="0">
                <a:solidFill>
                  <a:srgbClr val="57606A"/>
                </a:solidFill>
              </a:rPr>
              <a:t>/</a:t>
            </a:r>
            <a:r>
              <a:rPr lang="id-ID" altLang="en-US" sz="1700" dirty="0">
                <a:solidFill>
                  <a:srgbClr val="0A3069"/>
                </a:solidFill>
                <a:latin typeface="Consolas" pitchFamily="34" charset="0"/>
                <a:ea typeface="Consolas" pitchFamily="34" charset="-122"/>
                <a:cs typeface="Consolas" pitchFamily="34" charset="-120"/>
              </a:rPr>
              <a:t>elif</a:t>
            </a:r>
            <a:endParaRPr lang="id-ID" sz="1700" dirty="0"/>
          </a:p>
        </p:txBody>
      </p:sp>
      <p:sp>
        <p:nvSpPr>
          <p:cNvPr id="15" name="Shape 12"/>
          <p:cNvSpPr/>
          <p:nvPr/>
        </p:nvSpPr>
        <p:spPr>
          <a:xfrm>
            <a:off x="548640" y="3273268"/>
            <a:ext cx="5455768" cy="801116"/>
          </a:xfrm>
          <a:prstGeom prst="roundRect">
            <a:avLst>
              <a:gd name="adj" fmla="val 15634"/>
            </a:avLst>
          </a:prstGeom>
          <a:solidFill>
            <a:srgbClr val="DAFBE1"/>
          </a:solidFill>
          <a:ln w="22225">
            <a:solidFill>
              <a:srgbClr val="1A7F37"/>
            </a:solidFill>
            <a:prstDash val="solid"/>
          </a:ln>
        </p:spPr>
      </p:sp>
      <p:sp>
        <p:nvSpPr>
          <p:cNvPr id="16" name="Shape 13"/>
          <p:cNvSpPr/>
          <p:nvPr/>
        </p:nvSpPr>
        <p:spPr>
          <a:xfrm>
            <a:off x="749808" y="3479516"/>
            <a:ext cx="388620" cy="388620"/>
          </a:xfrm>
          <a:prstGeom prst="ellipse">
            <a:avLst/>
          </a:prstGeom>
          <a:solidFill>
            <a:srgbClr val="1A7F37"/>
          </a:solidFill>
          <a:ln/>
        </p:spPr>
      </p:sp>
      <p:pic>
        <p:nvPicPr>
          <p:cNvPr id="17" name="Image 1" descr="preencoded.png">    </p:cNvPr>
          <p:cNvPicPr>
            <a:picLocks noChangeAspect="1"/>
          </p:cNvPicPr>
          <p:nvPr/>
        </p:nvPicPr>
        <p:blipFill>
          <a:blip r:embed="rId2"/>
          <a:stretch>
            <a:fillRect/>
          </a:stretch>
        </p:blipFill>
        <p:spPr>
          <a:xfrm>
            <a:off x="835304" y="3565012"/>
            <a:ext cx="217627" cy="217627"/>
          </a:xfrm>
          <a:prstGeom prst="rect">
            <a:avLst/>
          </a:prstGeom>
        </p:spPr>
      </p:pic>
      <p:sp>
        <p:nvSpPr>
          <p:cNvPr id="18" name="Text 14"/>
          <p:cNvSpPr txBox="1"/>
          <p:nvPr/>
        </p:nvSpPr>
        <p:spPr>
          <a:xfrm>
            <a:off x="1353312" y="3382996"/>
            <a:ext cx="4541368" cy="581660"/>
          </a:xfrm>
          <a:prstGeom prst="rect">
            <a:avLst/>
          </a:prstGeom>
          <a:noFill/>
          <a:ln/>
        </p:spPr>
        <p:txBody>
          <a:bodyPr wrap="square" lIns="0" tIns="0" rIns="0" bIns="0" rtlCol="0" anchor="ctr"/>
          <a:lstStyle/>
          <a:p>
            <a:pPr indent="0" marL="0">
              <a:buNone/>
            </a:pPr>
            <a:r>
              <a:rPr lang="id-ID" altLang="en-US" sz="1700" i="1" dirty="0">
                <a:solidFill>
                  <a:srgbClr val="1F2328"/>
                </a:solidFill>
              </a:rPr>
              <a:t>Factory Method</a:t>
            </a:r>
            <a:r>
              <a:rPr lang="id-ID" altLang="en-US" sz="1700" dirty="0">
                <a:solidFill>
                  <a:srgbClr val="1F2328"/>
                </a:solidFill>
              </a:rPr>
              <a:t>: kelas anak meng-⁠</a:t>
            </a:r>
            <a:r>
              <a:rPr lang="id-ID" altLang="en-US" sz="1700" i="1" dirty="0">
                <a:solidFill>
                  <a:srgbClr val="1F2328"/>
                </a:solidFill>
              </a:rPr>
              <a:t>override</a:t>
            </a:r>
            <a:r>
              <a:rPr lang="id-ID" altLang="en-US" sz="1700" dirty="0">
                <a:solidFill>
                  <a:srgbClr val="1F2328"/>
                </a:solidFill>
              </a:rPr>
              <a:t> </a:t>
            </a:r>
            <a:r>
              <a:rPr lang="id-ID" altLang="en-US" sz="1700" i="1" dirty="0">
                <a:solidFill>
                  <a:srgbClr val="1F2328"/>
                </a:solidFill>
              </a:rPr>
              <a:t>method</a:t>
            </a:r>
            <a:r>
              <a:rPr lang="id-ID" altLang="en-US" sz="1700" dirty="0">
                <a:solidFill>
                  <a:srgbClr val="1F2328"/>
                </a:solidFill>
              </a:rPr>
              <a:t> pembuat produk, bukan memilih lewat </a:t>
            </a:r>
            <a:r>
              <a:rPr lang="id-ID" altLang="en-US" sz="1700" dirty="0">
                <a:solidFill>
                  <a:srgbClr val="0A3069"/>
                </a:solidFill>
                <a:latin typeface="Consolas" pitchFamily="34" charset="0"/>
                <a:ea typeface="Consolas" pitchFamily="34" charset="-122"/>
                <a:cs typeface="Consolas" pitchFamily="34" charset="-120"/>
              </a:rPr>
              <a:t>if</a:t>
            </a:r>
            <a:endParaRPr lang="id-ID" sz="1700" dirty="0"/>
          </a:p>
        </p:txBody>
      </p:sp>
      <p:sp>
        <p:nvSpPr>
          <p:cNvPr id="19" name="Shape 15"/>
          <p:cNvSpPr/>
          <p:nvPr/>
        </p:nvSpPr>
        <p:spPr>
          <a:xfrm>
            <a:off x="6187288" y="3273268"/>
            <a:ext cx="5455768" cy="801116"/>
          </a:xfrm>
          <a:prstGeom prst="roundRect">
            <a:avLst>
              <a:gd name="adj" fmla="val 15634"/>
            </a:avLst>
          </a:prstGeom>
          <a:solidFill>
            <a:srgbClr val="FFFFFF"/>
          </a:solidFill>
          <a:ln w="9525">
            <a:solidFill>
              <a:srgbClr val="D0D7DE"/>
            </a:solidFill>
            <a:prstDash val="solid"/>
          </a:ln>
        </p:spPr>
      </p:sp>
      <p:sp>
        <p:nvSpPr>
          <p:cNvPr id="20" name="Shape 16"/>
          <p:cNvSpPr/>
          <p:nvPr/>
        </p:nvSpPr>
        <p:spPr>
          <a:xfrm>
            <a:off x="6388456" y="3479516"/>
            <a:ext cx="388620" cy="388620"/>
          </a:xfrm>
          <a:prstGeom prst="ellipse">
            <a:avLst/>
          </a:prstGeom>
          <a:solidFill>
            <a:srgbClr val="8C959F"/>
          </a:solidFill>
          <a:ln/>
        </p:spPr>
      </p:sp>
      <p:sp>
        <p:nvSpPr>
          <p:cNvPr id="21" name="Text 17"/>
          <p:cNvSpPr txBox="1"/>
          <p:nvPr/>
        </p:nvSpPr>
        <p:spPr>
          <a:xfrm>
            <a:off x="6388456" y="3479516"/>
            <a:ext cx="388620" cy="388620"/>
          </a:xfrm>
          <a:prstGeom prst="rect">
            <a:avLst/>
          </a:prstGeom>
          <a:noFill/>
          <a:ln/>
        </p:spPr>
        <p:txBody>
          <a:bodyPr wrap="square" lIns="0" tIns="0" rIns="0" bIns="0" rtlCol="0" anchor="ctr"/>
          <a:lstStyle/>
          <a:p>
            <a:pPr algn="ctr" indent="0" marL="0">
              <a:buNone/>
            </a:pPr>
            <a:r>
              <a:rPr lang="id-ID" altLang="en-US" sz="1500" b="1" dirty="0">
                <a:solidFill>
                  <a:srgbClr val="FFFFFF"/>
                </a:solidFill>
              </a:rPr>
              <a:t>D</a:t>
            </a:r>
            <a:endParaRPr lang="id-ID" sz="1500" dirty="0"/>
          </a:p>
        </p:txBody>
      </p:sp>
      <p:sp>
        <p:nvSpPr>
          <p:cNvPr id="22" name="Text 18"/>
          <p:cNvSpPr txBox="1"/>
          <p:nvPr/>
        </p:nvSpPr>
        <p:spPr>
          <a:xfrm>
            <a:off x="6991960" y="3382996"/>
            <a:ext cx="4541368" cy="581660"/>
          </a:xfrm>
          <a:prstGeom prst="rect">
            <a:avLst/>
          </a:prstGeom>
          <a:noFill/>
          <a:ln/>
        </p:spPr>
        <p:txBody>
          <a:bodyPr wrap="square" lIns="0" tIns="0" rIns="0" bIns="0" rtlCol="0" anchor="ctr"/>
          <a:lstStyle/>
          <a:p>
            <a:pPr indent="0" marL="0">
              <a:buNone/>
            </a:pPr>
            <a:r>
              <a:rPr lang="id-ID" altLang="en-US" sz="1700" dirty="0">
                <a:solidFill>
                  <a:srgbClr val="57606A"/>
                </a:solidFill>
              </a:rPr>
              <a:t>Keduanya sama persis, hanya namanya yang berbeda</a:t>
            </a:r>
            <a:endParaRPr lang="id-ID" sz="1700" dirty="0"/>
          </a:p>
        </p:txBody>
      </p:sp>
      <p:sp>
        <p:nvSpPr>
          <p:cNvPr id="23" name="Shape 19"/>
          <p:cNvSpPr/>
          <p:nvPr/>
        </p:nvSpPr>
        <p:spPr>
          <a:xfrm>
            <a:off x="548640" y="4275552"/>
            <a:ext cx="11094415" cy="1693672"/>
          </a:xfrm>
          <a:prstGeom prst="roundRect">
            <a:avLst>
              <a:gd name="adj" fmla="val 3498"/>
            </a:avLst>
          </a:prstGeom>
          <a:solidFill>
            <a:srgbClr val="FFF8C5"/>
          </a:solidFill>
          <a:ln w="9525">
            <a:solidFill>
              <a:srgbClr val="D4A72C"/>
            </a:solidFill>
            <a:prstDash val="solid"/>
          </a:ln>
        </p:spPr>
      </p:sp>
      <p:sp>
        <p:nvSpPr>
          <p:cNvPr id="24" name="Shape 20"/>
          <p:cNvSpPr/>
          <p:nvPr/>
        </p:nvSpPr>
        <p:spPr>
          <a:xfrm>
            <a:off x="777240" y="4458432"/>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559016"/>
            <a:ext cx="256032" cy="256032"/>
          </a:xfrm>
          <a:prstGeom prst="rect">
            <a:avLst/>
          </a:prstGeom>
        </p:spPr>
      </p:pic>
      <p:sp>
        <p:nvSpPr>
          <p:cNvPr id="26" name="Text 21"/>
          <p:cNvSpPr txBox="1"/>
          <p:nvPr/>
        </p:nvSpPr>
        <p:spPr>
          <a:xfrm>
            <a:off x="1417320" y="4412712"/>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C</a:t>
            </a:r>
            <a:endParaRPr lang="id-ID" sz="1600" dirty="0"/>
          </a:p>
        </p:txBody>
      </p:sp>
      <p:sp>
        <p:nvSpPr>
          <p:cNvPr id="27" name="Text 22"/>
          <p:cNvSpPr txBox="1"/>
          <p:nvPr/>
        </p:nvSpPr>
        <p:spPr>
          <a:xfrm>
            <a:off x="1417320" y="4751040"/>
            <a:ext cx="9951415" cy="1145032"/>
          </a:xfrm>
          <a:prstGeom prst="rect">
            <a:avLst/>
          </a:prstGeom>
          <a:noFill/>
          <a:ln/>
        </p:spPr>
        <p:txBody>
          <a:bodyPr wrap="square" lIns="0" tIns="0" rIns="0" bIns="0" rtlCol="0" anchor="t"/>
          <a:lstStyle/>
          <a:p>
            <a:pPr indent="0" marL="0">
              <a:buNone/>
            </a:pPr>
            <a:r>
              <a:rPr lang="id-ID" altLang="en-US" sz="1700" dirty="0">
                <a:solidFill>
                  <a:srgbClr val="1F2328"/>
                </a:solidFill>
              </a:rPr>
              <a:t>Di contoh 05, </a:t>
            </a:r>
            <a:r>
              <a:rPr lang="id-ID" altLang="en-US" sz="1700" dirty="0">
                <a:solidFill>
                  <a:srgbClr val="0A3069"/>
                </a:solidFill>
                <a:latin typeface="Consolas" pitchFamily="34" charset="0"/>
                <a:ea typeface="Consolas" pitchFamily="34" charset="-122"/>
                <a:cs typeface="Consolas" pitchFamily="34" charset="-120"/>
              </a:rPr>
              <a:t>EkspedisiDarat</a:t>
            </a:r>
            <a:r>
              <a:rPr lang="id-ID" altLang="en-US" sz="1700" dirty="0">
                <a:solidFill>
                  <a:srgbClr val="1F2328"/>
                </a:solidFill>
              </a:rPr>
              <a:t> dan </a:t>
            </a:r>
            <a:r>
              <a:rPr lang="id-ID" altLang="en-US" sz="1700" dirty="0">
                <a:solidFill>
                  <a:srgbClr val="0A3069"/>
                </a:solidFill>
                <a:latin typeface="Consolas" pitchFamily="34" charset="0"/>
                <a:ea typeface="Consolas" pitchFamily="34" charset="-122"/>
                <a:cs typeface="Consolas" pitchFamily="34" charset="-120"/>
              </a:rPr>
              <a:t>EkspedisiSungai</a:t>
            </a:r>
            <a:r>
              <a:rPr lang="id-ID" altLang="en-US" sz="1700" dirty="0">
                <a:solidFill>
                  <a:srgbClr val="1F2328"/>
                </a:solidFill>
              </a:rPr>
              <a:t> masing-⁠masing meng-⁠</a:t>
            </a:r>
            <a:r>
              <a:rPr lang="id-ID" altLang="en-US" sz="1700" i="1" dirty="0">
                <a:solidFill>
                  <a:srgbClr val="1F2328"/>
                </a:solidFill>
              </a:rPr>
              <a:t>override</a:t>
            </a:r>
            <a:r>
              <a:rPr lang="id-ID" altLang="en-US" sz="1700" dirty="0">
                <a:solidFill>
                  <a:srgbClr val="1F2328"/>
                </a:solidFill>
              </a:rPr>
              <a:t> </a:t>
            </a:r>
            <a:r>
              <a:rPr lang="id-ID" altLang="en-US" sz="1700" dirty="0">
                <a:solidFill>
                  <a:srgbClr val="0A3069"/>
                </a:solidFill>
                <a:latin typeface="Consolas" pitchFamily="34" charset="0"/>
                <a:ea typeface="Consolas" pitchFamily="34" charset="-122"/>
                <a:cs typeface="Consolas" pitchFamily="34" charset="-120"/>
              </a:rPr>
              <a:t>buat_angkutan()</a:t>
            </a:r>
            <a:r>
              <a:rPr lang="id-ID" altLang="en-US" sz="1700" dirty="0">
                <a:solidFill>
                  <a:srgbClr val="1F2328"/>
                </a:solidFill>
              </a:rPr>
              <a:t>/</a:t>
            </a:r>
            <a:r>
              <a:rPr lang="id-ID" altLang="en-US" sz="1700" dirty="0">
                <a:solidFill>
                  <a:srgbClr val="0A3069"/>
                </a:solidFill>
                <a:latin typeface="Consolas" pitchFamily="34" charset="0"/>
                <a:ea typeface="Consolas" pitchFamily="34" charset="-122"/>
                <a:cs typeface="Consolas" pitchFamily="34" charset="-120"/>
              </a:rPr>
              <a:t>buatAngkutan()</a:t>
            </a:r>
            <a:r>
              <a:rPr lang="id-ID" altLang="en-US" sz="1700" dirty="0">
                <a:solidFill>
                  <a:srgbClr val="1F2328"/>
                </a:solidFill>
              </a:rPr>
              <a:t>. A terbalik: </a:t>
            </a:r>
            <a:r>
              <a:rPr lang="id-ID" altLang="en-US" sz="1700" i="1" dirty="0">
                <a:solidFill>
                  <a:srgbClr val="1F2328"/>
                </a:solidFill>
              </a:rPr>
              <a:t>Factory Method</a:t>
            </a:r>
            <a:r>
              <a:rPr lang="id-ID" altLang="en-US" sz="1700" dirty="0">
                <a:solidFill>
                  <a:srgbClr val="1F2328"/>
                </a:solidFill>
              </a:rPr>
              <a:t> ada di buku GoF, sedangkan </a:t>
            </a:r>
            <a:r>
              <a:rPr lang="id-ID" altLang="en-US" sz="1700" i="1" dirty="0">
                <a:solidFill>
                  <a:srgbClr val="1F2328"/>
                </a:solidFill>
              </a:rPr>
              <a:t>Simple Factory</a:t>
            </a:r>
            <a:r>
              <a:rPr lang="id-ID" altLang="en-US" sz="1700" dirty="0">
                <a:solidFill>
                  <a:srgbClr val="1F2328"/>
                </a:solidFill>
              </a:rPr>
              <a:t> idiom populer. B justru menggambarkan </a:t>
            </a:r>
            <a:r>
              <a:rPr lang="id-ID" altLang="en-US" sz="1700" i="1" dirty="0">
                <a:solidFill>
                  <a:srgbClr val="1F2328"/>
                </a:solidFill>
              </a:rPr>
              <a:t>Simple Factory</a:t>
            </a:r>
            <a:r>
              <a:rPr lang="id-ID" altLang="en-US" sz="1700" dirty="0">
                <a:solidFill>
                  <a:srgbClr val="1F2328"/>
                </a:solidFill>
              </a:rPr>
              <a:t>. D salah karena cara memilih produk, cara menambah produk baru, dan statusnya di GoF berbeda.</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574353"/>
            <a:ext cx="11094415" cy="1712214"/>
          </a:xfrm>
          <a:prstGeom prst="roundRect">
            <a:avLst>
              <a:gd name="adj" fmla="val 3422"/>
            </a:avLst>
          </a:prstGeom>
          <a:solidFill>
            <a:srgbClr val="FBEFFF"/>
          </a:solidFill>
          <a:ln w="9525">
            <a:solidFill>
              <a:srgbClr val="C297FF"/>
            </a:solidFill>
            <a:prstDash val="solid"/>
          </a:ln>
        </p:spPr>
      </p:sp>
      <p:sp>
        <p:nvSpPr>
          <p:cNvPr id="6" name="Shape 3"/>
          <p:cNvSpPr/>
          <p:nvPr/>
        </p:nvSpPr>
        <p:spPr>
          <a:xfrm>
            <a:off x="777240" y="2201860"/>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302444"/>
            <a:ext cx="256032" cy="256032"/>
          </a:xfrm>
          <a:prstGeom prst="rect">
            <a:avLst/>
          </a:prstGeom>
        </p:spPr>
      </p:pic>
      <p:sp>
        <p:nvSpPr>
          <p:cNvPr id="8" name="Text 4"/>
          <p:cNvSpPr txBox="1"/>
          <p:nvPr/>
        </p:nvSpPr>
        <p:spPr>
          <a:xfrm>
            <a:off x="1417320" y="1802953"/>
            <a:ext cx="9951415" cy="1437894"/>
          </a:xfrm>
          <a:prstGeom prst="rect">
            <a:avLst/>
          </a:prstGeom>
          <a:noFill/>
          <a:ln/>
        </p:spPr>
        <p:txBody>
          <a:bodyPr wrap="square" lIns="0" tIns="0" rIns="0" bIns="0" rtlCol="0" anchor="t"/>
          <a:lstStyle/>
          <a:p>
            <a:pPr indent="0" marL="0">
              <a:buNone/>
            </a:pPr>
            <a:r>
              <a:rPr lang="id-ID" altLang="en-US" sz="2700" dirty="0">
                <a:solidFill>
                  <a:srgbClr val="1F2328"/>
                </a:solidFill>
              </a:rPr>
              <a:t>Di KedaiKita, </a:t>
            </a:r>
            <a:r>
              <a:rPr lang="id-ID" altLang="en-US" sz="2700" dirty="0">
                <a:solidFill>
                  <a:srgbClr val="0A3069"/>
                </a:solidFill>
                <a:latin typeface="Consolas" pitchFamily="34" charset="0"/>
                <a:ea typeface="Consolas" pitchFamily="34" charset="-122"/>
                <a:cs typeface="Consolas" pitchFamily="34" charset="-120"/>
              </a:rPr>
              <a:t>Pesanan</a:t>
            </a:r>
            <a:r>
              <a:rPr lang="id-ID" altLang="en-US" sz="2700" dirty="0">
                <a:solidFill>
                  <a:srgbClr val="1F2328"/>
                </a:solidFill>
              </a:rPr>
              <a:t> memanggil </a:t>
            </a:r>
            <a:r>
              <a:rPr lang="id-ID" altLang="en-US" sz="2700" dirty="0">
                <a:solidFill>
                  <a:srgbClr val="0A3069"/>
                </a:solidFill>
                <a:latin typeface="Consolas" pitchFamily="34" charset="0"/>
                <a:ea typeface="Consolas" pitchFamily="34" charset="-122"/>
                <a:cs typeface="Consolas" pitchFamily="34" charset="-120"/>
              </a:rPr>
              <a:t>pengamat.perbarui(self)</a:t>
            </a:r>
            <a:r>
              <a:rPr lang="id-ID" altLang="en-US" sz="2700" dirty="0">
                <a:solidFill>
                  <a:srgbClr val="1F2328"/>
                </a:solidFill>
              </a:rPr>
              <a:t> / </a:t>
            </a:r>
            <a:r>
              <a:rPr lang="id-ID" altLang="en-US" sz="2700" dirty="0">
                <a:solidFill>
                  <a:srgbClr val="0A3069"/>
                </a:solidFill>
                <a:latin typeface="Consolas" pitchFamily="34" charset="0"/>
                <a:ea typeface="Consolas" pitchFamily="34" charset="-122"/>
                <a:cs typeface="Consolas" pitchFamily="34" charset="-120"/>
              </a:rPr>
              <a:t>pengamat.perbarui(this)</a:t>
            </a:r>
            <a:r>
              <a:rPr lang="id-ID" altLang="en-US" sz="2700" dirty="0">
                <a:solidFill>
                  <a:srgbClr val="1F2328"/>
                </a:solidFill>
              </a:rPr>
              <a:t>. Gaya </a:t>
            </a:r>
            <a:r>
              <a:rPr lang="id-ID" altLang="en-US" sz="2700" i="1" dirty="0">
                <a:solidFill>
                  <a:srgbClr val="1F2328"/>
                </a:solidFill>
              </a:rPr>
              <a:t>Observer</a:t>
            </a:r>
            <a:r>
              <a:rPr lang="id-ID" altLang="en-US" sz="2700" dirty="0">
                <a:solidFill>
                  <a:srgbClr val="1F2328"/>
                </a:solidFill>
              </a:rPr>
              <a:t> apa ini, dan mengapa?</a:t>
            </a:r>
            <a:endParaRPr lang="id-ID" sz="2700" dirty="0"/>
          </a:p>
        </p:txBody>
      </p:sp>
      <p:sp>
        <p:nvSpPr>
          <p:cNvPr id="9" name="Shape 5"/>
          <p:cNvSpPr/>
          <p:nvPr/>
        </p:nvSpPr>
        <p:spPr>
          <a:xfrm>
            <a:off x="548640" y="3469447"/>
            <a:ext cx="5455768" cy="987044"/>
          </a:xfrm>
          <a:prstGeom prst="roundRect">
            <a:avLst>
              <a:gd name="adj" fmla="val 10299"/>
            </a:avLst>
          </a:prstGeom>
          <a:solidFill>
            <a:srgbClr val="FFFFFF"/>
          </a:solidFill>
          <a:ln w="9525">
            <a:solidFill>
              <a:srgbClr val="D0D7DE"/>
            </a:solidFill>
            <a:prstDash val="solid"/>
          </a:ln>
        </p:spPr>
      </p:sp>
      <p:sp>
        <p:nvSpPr>
          <p:cNvPr id="10" name="Shape 6"/>
          <p:cNvSpPr/>
          <p:nvPr/>
        </p:nvSpPr>
        <p:spPr>
          <a:xfrm>
            <a:off x="749808" y="3734369"/>
            <a:ext cx="457200" cy="457200"/>
          </a:xfrm>
          <a:prstGeom prst="ellipse">
            <a:avLst/>
          </a:prstGeom>
          <a:solidFill>
            <a:srgbClr val="8250DF"/>
          </a:solidFill>
          <a:ln/>
        </p:spPr>
      </p:sp>
      <p:sp>
        <p:nvSpPr>
          <p:cNvPr id="11" name="Text 7"/>
          <p:cNvSpPr txBox="1"/>
          <p:nvPr/>
        </p:nvSpPr>
        <p:spPr>
          <a:xfrm>
            <a:off x="749808" y="3734369"/>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579175"/>
            <a:ext cx="4541368" cy="767588"/>
          </a:xfrm>
          <a:prstGeom prst="rect">
            <a:avLst/>
          </a:prstGeom>
          <a:noFill/>
          <a:ln/>
        </p:spPr>
        <p:txBody>
          <a:bodyPr wrap="square" lIns="0" tIns="0" rIns="0" bIns="0" rtlCol="0" anchor="ctr"/>
          <a:lstStyle/>
          <a:p>
            <a:pPr indent="0" marL="0">
              <a:buNone/>
            </a:pPr>
            <a:r>
              <a:rPr lang="id-ID" altLang="en-US" sz="2300" i="1" dirty="0">
                <a:solidFill>
                  <a:srgbClr val="1F2328"/>
                </a:solidFill>
              </a:rPr>
              <a:t>Push</a:t>
            </a:r>
            <a:r>
              <a:rPr lang="id-ID" altLang="en-US" sz="2300" dirty="0">
                <a:solidFill>
                  <a:srgbClr val="1F2328"/>
                </a:solidFill>
              </a:rPr>
              <a:t> karena pesanan “mendorong” kabar ke semua pengamat</a:t>
            </a:r>
            <a:endParaRPr lang="id-ID" sz="2300" dirty="0"/>
          </a:p>
        </p:txBody>
      </p:sp>
      <p:sp>
        <p:nvSpPr>
          <p:cNvPr id="13" name="Shape 9"/>
          <p:cNvSpPr/>
          <p:nvPr/>
        </p:nvSpPr>
        <p:spPr>
          <a:xfrm>
            <a:off x="6187288" y="3469447"/>
            <a:ext cx="5455768" cy="987044"/>
          </a:xfrm>
          <a:prstGeom prst="roundRect">
            <a:avLst>
              <a:gd name="adj" fmla="val 10299"/>
            </a:avLst>
          </a:prstGeom>
          <a:solidFill>
            <a:srgbClr val="FFFFFF"/>
          </a:solidFill>
          <a:ln w="9525">
            <a:solidFill>
              <a:srgbClr val="D0D7DE"/>
            </a:solidFill>
            <a:prstDash val="solid"/>
          </a:ln>
        </p:spPr>
      </p:sp>
      <p:sp>
        <p:nvSpPr>
          <p:cNvPr id="14" name="Shape 10"/>
          <p:cNvSpPr/>
          <p:nvPr/>
        </p:nvSpPr>
        <p:spPr>
          <a:xfrm>
            <a:off x="6388456" y="3734369"/>
            <a:ext cx="457200" cy="457200"/>
          </a:xfrm>
          <a:prstGeom prst="ellipse">
            <a:avLst/>
          </a:prstGeom>
          <a:solidFill>
            <a:srgbClr val="8250DF"/>
          </a:solidFill>
          <a:ln/>
        </p:spPr>
      </p:sp>
      <p:sp>
        <p:nvSpPr>
          <p:cNvPr id="15" name="Text 11"/>
          <p:cNvSpPr txBox="1"/>
          <p:nvPr/>
        </p:nvSpPr>
        <p:spPr>
          <a:xfrm>
            <a:off x="6388456" y="3734369"/>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579175"/>
            <a:ext cx="4541368" cy="767588"/>
          </a:xfrm>
          <a:prstGeom prst="rect">
            <a:avLst/>
          </a:prstGeom>
          <a:noFill/>
          <a:ln/>
        </p:spPr>
        <p:txBody>
          <a:bodyPr wrap="square" lIns="0" tIns="0" rIns="0" bIns="0" rtlCol="0" anchor="ctr"/>
          <a:lstStyle/>
          <a:p>
            <a:pPr indent="0" marL="0">
              <a:buNone/>
            </a:pPr>
            <a:r>
              <a:rPr lang="id-ID" altLang="en-US" sz="2300" i="1" dirty="0">
                <a:solidFill>
                  <a:srgbClr val="1F2328"/>
                </a:solidFill>
              </a:rPr>
              <a:t>Push</a:t>
            </a:r>
            <a:r>
              <a:rPr lang="id-ID" altLang="en-US" sz="2300" dirty="0">
                <a:solidFill>
                  <a:srgbClr val="1F2328"/>
                </a:solidFill>
              </a:rPr>
              <a:t> karena status pesanan dikirim sebagai teks</a:t>
            </a:r>
            <a:endParaRPr lang="id-ID" sz="2300" dirty="0"/>
          </a:p>
        </p:txBody>
      </p:sp>
      <p:sp>
        <p:nvSpPr>
          <p:cNvPr id="17" name="Shape 13"/>
          <p:cNvSpPr/>
          <p:nvPr/>
        </p:nvSpPr>
        <p:spPr>
          <a:xfrm>
            <a:off x="548640" y="4639371"/>
            <a:ext cx="5455768" cy="1343406"/>
          </a:xfrm>
          <a:prstGeom prst="roundRect">
            <a:avLst>
              <a:gd name="adj" fmla="val 5560"/>
            </a:avLst>
          </a:prstGeom>
          <a:solidFill>
            <a:srgbClr val="FFFFFF"/>
          </a:solidFill>
          <a:ln w="9525">
            <a:solidFill>
              <a:srgbClr val="D0D7DE"/>
            </a:solidFill>
            <a:prstDash val="solid"/>
          </a:ln>
        </p:spPr>
      </p:sp>
      <p:sp>
        <p:nvSpPr>
          <p:cNvPr id="18" name="Shape 14"/>
          <p:cNvSpPr/>
          <p:nvPr/>
        </p:nvSpPr>
        <p:spPr>
          <a:xfrm>
            <a:off x="749808" y="5082474"/>
            <a:ext cx="457200" cy="457200"/>
          </a:xfrm>
          <a:prstGeom prst="ellipse">
            <a:avLst/>
          </a:prstGeom>
          <a:solidFill>
            <a:srgbClr val="8250DF"/>
          </a:solidFill>
          <a:ln/>
        </p:spPr>
      </p:sp>
      <p:sp>
        <p:nvSpPr>
          <p:cNvPr id="19" name="Text 15"/>
          <p:cNvSpPr txBox="1"/>
          <p:nvPr/>
        </p:nvSpPr>
        <p:spPr>
          <a:xfrm>
            <a:off x="749808" y="508247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749099"/>
            <a:ext cx="4541368" cy="1123950"/>
          </a:xfrm>
          <a:prstGeom prst="rect">
            <a:avLst/>
          </a:prstGeom>
          <a:noFill/>
          <a:ln/>
        </p:spPr>
        <p:txBody>
          <a:bodyPr wrap="square" lIns="0" tIns="0" rIns="0" bIns="0" rtlCol="0" anchor="ctr"/>
          <a:lstStyle/>
          <a:p>
            <a:pPr indent="0" marL="0">
              <a:buNone/>
            </a:pPr>
            <a:r>
              <a:rPr lang="id-ID" altLang="en-US" sz="2300" i="1" dirty="0">
                <a:solidFill>
                  <a:srgbClr val="1F2328"/>
                </a:solidFill>
              </a:rPr>
              <a:t>Pull</a:t>
            </a:r>
            <a:r>
              <a:rPr lang="id-ID" altLang="en-US" sz="2300" dirty="0">
                <a:solidFill>
                  <a:srgbClr val="1F2328"/>
                </a:solidFill>
              </a:rPr>
              <a:t> karena </a:t>
            </a:r>
            <a:r>
              <a:rPr lang="id-ID" altLang="en-US" sz="2300" i="1" dirty="0">
                <a:solidFill>
                  <a:srgbClr val="1F2328"/>
                </a:solidFill>
              </a:rPr>
              <a:t>subject</a:t>
            </a:r>
            <a:r>
              <a:rPr lang="id-ID" altLang="en-US" sz="2300" dirty="0">
                <a:solidFill>
                  <a:srgbClr val="1F2328"/>
                </a:solidFill>
              </a:rPr>
              <a:t> mengirim dirinya sendiri, lalu pengamat mengambil data yang ia butuhkan</a:t>
            </a:r>
            <a:endParaRPr lang="id-ID" sz="2300" dirty="0"/>
          </a:p>
        </p:txBody>
      </p:sp>
      <p:sp>
        <p:nvSpPr>
          <p:cNvPr id="21" name="Shape 17"/>
          <p:cNvSpPr/>
          <p:nvPr/>
        </p:nvSpPr>
        <p:spPr>
          <a:xfrm>
            <a:off x="6187288" y="4639371"/>
            <a:ext cx="5455768" cy="1343406"/>
          </a:xfrm>
          <a:prstGeom prst="roundRect">
            <a:avLst>
              <a:gd name="adj" fmla="val 5560"/>
            </a:avLst>
          </a:prstGeom>
          <a:solidFill>
            <a:srgbClr val="FFFFFF"/>
          </a:solidFill>
          <a:ln w="9525">
            <a:solidFill>
              <a:srgbClr val="D0D7DE"/>
            </a:solidFill>
            <a:prstDash val="solid"/>
          </a:ln>
        </p:spPr>
      </p:sp>
      <p:sp>
        <p:nvSpPr>
          <p:cNvPr id="22" name="Shape 18"/>
          <p:cNvSpPr/>
          <p:nvPr/>
        </p:nvSpPr>
        <p:spPr>
          <a:xfrm>
            <a:off x="6388456" y="5082474"/>
            <a:ext cx="457200" cy="457200"/>
          </a:xfrm>
          <a:prstGeom prst="ellipse">
            <a:avLst/>
          </a:prstGeom>
          <a:solidFill>
            <a:srgbClr val="8250DF"/>
          </a:solidFill>
          <a:ln/>
        </p:spPr>
      </p:sp>
      <p:sp>
        <p:nvSpPr>
          <p:cNvPr id="23" name="Text 19"/>
          <p:cNvSpPr txBox="1"/>
          <p:nvPr/>
        </p:nvSpPr>
        <p:spPr>
          <a:xfrm>
            <a:off x="6388456" y="508247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749099"/>
            <a:ext cx="4541368" cy="1123950"/>
          </a:xfrm>
          <a:prstGeom prst="rect">
            <a:avLst/>
          </a:prstGeom>
          <a:noFill/>
          <a:ln/>
        </p:spPr>
        <p:txBody>
          <a:bodyPr wrap="square" lIns="0" tIns="0" rIns="0" bIns="0" rtlCol="0" anchor="ctr"/>
          <a:lstStyle/>
          <a:p>
            <a:pPr indent="0" marL="0">
              <a:buNone/>
            </a:pPr>
            <a:r>
              <a:rPr lang="id-ID" altLang="en-US" sz="2300" i="1" dirty="0">
                <a:solidFill>
                  <a:srgbClr val="1F2328"/>
                </a:solidFill>
              </a:rPr>
              <a:t>Pull</a:t>
            </a:r>
            <a:r>
              <a:rPr lang="id-ID" altLang="en-US" sz="2300" dirty="0">
                <a:solidFill>
                  <a:srgbClr val="1F2328"/>
                </a:solidFill>
              </a:rPr>
              <a:t> karena setiap pengamat memeriksa status pesanan berulang-⁠ulang setiap detik</a:t>
            </a:r>
            <a:endParaRPr lang="id-ID" sz="2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480048"/>
            <a:ext cx="11094415" cy="770128"/>
          </a:xfrm>
          <a:prstGeom prst="roundRect">
            <a:avLst>
              <a:gd name="adj" fmla="val 16917"/>
            </a:avLst>
          </a:prstGeom>
          <a:solidFill>
            <a:srgbClr val="F6F8FA"/>
          </a:solidFill>
          <a:ln w="9525">
            <a:solidFill>
              <a:srgbClr val="D0D7DE"/>
            </a:solidFill>
            <a:prstDash val="solid"/>
          </a:ln>
        </p:spPr>
      </p:sp>
      <p:sp>
        <p:nvSpPr>
          <p:cNvPr id="6" name="Text 3"/>
          <p:cNvSpPr txBox="1"/>
          <p:nvPr/>
        </p:nvSpPr>
        <p:spPr>
          <a:xfrm>
            <a:off x="822960" y="1617208"/>
            <a:ext cx="10545775" cy="495808"/>
          </a:xfrm>
          <a:prstGeom prst="rect">
            <a:avLst/>
          </a:prstGeom>
          <a:noFill/>
          <a:ln/>
        </p:spPr>
        <p:txBody>
          <a:bodyPr wrap="square" lIns="0" tIns="0" rIns="0" bIns="0" rtlCol="0" anchor="t"/>
          <a:lstStyle/>
          <a:p>
            <a:pPr indent="0" marL="0">
              <a:buNone/>
            </a:pPr>
            <a:r>
              <a:rPr lang="id-ID" altLang="en-US" sz="1600" dirty="0">
                <a:solidFill>
                  <a:srgbClr val="57606A"/>
                </a:solidFill>
              </a:rPr>
              <a:t>Di KedaiKita, </a:t>
            </a:r>
            <a:r>
              <a:rPr lang="id-ID" altLang="en-US" sz="1600" dirty="0">
                <a:solidFill>
                  <a:srgbClr val="0A3069"/>
                </a:solidFill>
                <a:latin typeface="Consolas" pitchFamily="34" charset="0"/>
                <a:ea typeface="Consolas" pitchFamily="34" charset="-122"/>
                <a:cs typeface="Consolas" pitchFamily="34" charset="-120"/>
              </a:rPr>
              <a:t>Pesanan</a:t>
            </a:r>
            <a:r>
              <a:rPr lang="id-ID" altLang="en-US" sz="1600" dirty="0">
                <a:solidFill>
                  <a:srgbClr val="57606A"/>
                </a:solidFill>
              </a:rPr>
              <a:t> memanggil </a:t>
            </a:r>
            <a:r>
              <a:rPr lang="id-ID" altLang="en-US" sz="1600" dirty="0">
                <a:solidFill>
                  <a:srgbClr val="0A3069"/>
                </a:solidFill>
                <a:latin typeface="Consolas" pitchFamily="34" charset="0"/>
                <a:ea typeface="Consolas" pitchFamily="34" charset="-122"/>
                <a:cs typeface="Consolas" pitchFamily="34" charset="-120"/>
              </a:rPr>
              <a:t>pengamat.perbarui(self)</a:t>
            </a:r>
            <a:r>
              <a:rPr lang="id-ID" altLang="en-US" sz="1600" dirty="0">
                <a:solidFill>
                  <a:srgbClr val="57606A"/>
                </a:solidFill>
              </a:rPr>
              <a:t> / </a:t>
            </a:r>
            <a:r>
              <a:rPr lang="id-ID" altLang="en-US" sz="1600" dirty="0">
                <a:solidFill>
                  <a:srgbClr val="0A3069"/>
                </a:solidFill>
                <a:latin typeface="Consolas" pitchFamily="34" charset="0"/>
                <a:ea typeface="Consolas" pitchFamily="34" charset="-122"/>
                <a:cs typeface="Consolas" pitchFamily="34" charset="-120"/>
              </a:rPr>
              <a:t>pengamat.perbarui(this)</a:t>
            </a:r>
            <a:r>
              <a:rPr lang="id-ID" altLang="en-US" sz="1600" dirty="0">
                <a:solidFill>
                  <a:srgbClr val="57606A"/>
                </a:solidFill>
              </a:rPr>
              <a:t>. Gaya </a:t>
            </a:r>
            <a:r>
              <a:rPr lang="id-ID" altLang="en-US" sz="1600" i="1" dirty="0">
                <a:solidFill>
                  <a:srgbClr val="57606A"/>
                </a:solidFill>
              </a:rPr>
              <a:t>Observer</a:t>
            </a:r>
            <a:r>
              <a:rPr lang="id-ID" altLang="en-US" sz="1600" dirty="0">
                <a:solidFill>
                  <a:srgbClr val="57606A"/>
                </a:solidFill>
              </a:rPr>
              <a:t> apa ini, dan mengapa?</a:t>
            </a:r>
            <a:endParaRPr lang="id-ID" sz="1600" dirty="0"/>
          </a:p>
        </p:txBody>
      </p:sp>
      <p:sp>
        <p:nvSpPr>
          <p:cNvPr id="7" name="Shape 4"/>
          <p:cNvSpPr/>
          <p:nvPr/>
        </p:nvSpPr>
        <p:spPr>
          <a:xfrm>
            <a:off x="548640" y="2433056"/>
            <a:ext cx="5455768" cy="801116"/>
          </a:xfrm>
          <a:prstGeom prst="roundRect">
            <a:avLst>
              <a:gd name="adj" fmla="val 15634"/>
            </a:avLst>
          </a:prstGeom>
          <a:solidFill>
            <a:srgbClr val="FFFFFF"/>
          </a:solidFill>
          <a:ln w="9525">
            <a:solidFill>
              <a:srgbClr val="D0D7DE"/>
            </a:solidFill>
            <a:prstDash val="solid"/>
          </a:ln>
        </p:spPr>
      </p:sp>
      <p:sp>
        <p:nvSpPr>
          <p:cNvPr id="8" name="Shape 5"/>
          <p:cNvSpPr/>
          <p:nvPr/>
        </p:nvSpPr>
        <p:spPr>
          <a:xfrm>
            <a:off x="749808" y="2639304"/>
            <a:ext cx="388620" cy="388620"/>
          </a:xfrm>
          <a:prstGeom prst="ellipse">
            <a:avLst/>
          </a:prstGeom>
          <a:solidFill>
            <a:srgbClr val="8C959F"/>
          </a:solidFill>
          <a:ln/>
        </p:spPr>
      </p:sp>
      <p:sp>
        <p:nvSpPr>
          <p:cNvPr id="9" name="Text 6"/>
          <p:cNvSpPr txBox="1"/>
          <p:nvPr/>
        </p:nvSpPr>
        <p:spPr>
          <a:xfrm>
            <a:off x="749808" y="2639304"/>
            <a:ext cx="388620" cy="388620"/>
          </a:xfrm>
          <a:prstGeom prst="rect">
            <a:avLst/>
          </a:prstGeom>
          <a:noFill/>
          <a:ln/>
        </p:spPr>
        <p:txBody>
          <a:bodyPr wrap="square" lIns="0" tIns="0" rIns="0" bIns="0" rtlCol="0" anchor="ctr"/>
          <a:lstStyle/>
          <a:p>
            <a:pPr algn="ctr" indent="0" marL="0">
              <a:buNone/>
            </a:pPr>
            <a:r>
              <a:rPr lang="id-ID" altLang="en-US" sz="1500" b="1" dirty="0">
                <a:solidFill>
                  <a:srgbClr val="FFFFFF"/>
                </a:solidFill>
              </a:rPr>
              <a:t>A</a:t>
            </a:r>
            <a:endParaRPr lang="id-ID" sz="1500" dirty="0"/>
          </a:p>
        </p:txBody>
      </p:sp>
      <p:sp>
        <p:nvSpPr>
          <p:cNvPr id="10" name="Text 7"/>
          <p:cNvSpPr txBox="1"/>
          <p:nvPr/>
        </p:nvSpPr>
        <p:spPr>
          <a:xfrm>
            <a:off x="1353312" y="2542784"/>
            <a:ext cx="4541368" cy="581660"/>
          </a:xfrm>
          <a:prstGeom prst="rect">
            <a:avLst/>
          </a:prstGeom>
          <a:noFill/>
          <a:ln/>
        </p:spPr>
        <p:txBody>
          <a:bodyPr wrap="square" lIns="0" tIns="0" rIns="0" bIns="0" rtlCol="0" anchor="ctr"/>
          <a:lstStyle/>
          <a:p>
            <a:pPr indent="0" marL="0">
              <a:buNone/>
            </a:pPr>
            <a:r>
              <a:rPr lang="id-ID" altLang="en-US" sz="1700" i="1" dirty="0">
                <a:solidFill>
                  <a:srgbClr val="57606A"/>
                </a:solidFill>
              </a:rPr>
              <a:t>Push</a:t>
            </a:r>
            <a:r>
              <a:rPr lang="id-ID" altLang="en-US" sz="1700" dirty="0">
                <a:solidFill>
                  <a:srgbClr val="57606A"/>
                </a:solidFill>
              </a:rPr>
              <a:t> karena pesanan “mendorong” kabar ke semua pengamat</a:t>
            </a:r>
            <a:endParaRPr lang="id-ID" sz="1700" dirty="0"/>
          </a:p>
        </p:txBody>
      </p:sp>
      <p:sp>
        <p:nvSpPr>
          <p:cNvPr id="11" name="Shape 8"/>
          <p:cNvSpPr/>
          <p:nvPr/>
        </p:nvSpPr>
        <p:spPr>
          <a:xfrm>
            <a:off x="6187288" y="2433056"/>
            <a:ext cx="5455768" cy="801116"/>
          </a:xfrm>
          <a:prstGeom prst="roundRect">
            <a:avLst>
              <a:gd name="adj" fmla="val 15634"/>
            </a:avLst>
          </a:prstGeom>
          <a:solidFill>
            <a:srgbClr val="FFFFFF"/>
          </a:solidFill>
          <a:ln w="9525">
            <a:solidFill>
              <a:srgbClr val="D0D7DE"/>
            </a:solidFill>
            <a:prstDash val="solid"/>
          </a:ln>
        </p:spPr>
      </p:sp>
      <p:sp>
        <p:nvSpPr>
          <p:cNvPr id="12" name="Shape 9"/>
          <p:cNvSpPr/>
          <p:nvPr/>
        </p:nvSpPr>
        <p:spPr>
          <a:xfrm>
            <a:off x="6388456" y="2639304"/>
            <a:ext cx="388620" cy="388620"/>
          </a:xfrm>
          <a:prstGeom prst="ellipse">
            <a:avLst/>
          </a:prstGeom>
          <a:solidFill>
            <a:srgbClr val="8C959F"/>
          </a:solidFill>
          <a:ln/>
        </p:spPr>
      </p:sp>
      <p:sp>
        <p:nvSpPr>
          <p:cNvPr id="13" name="Text 10"/>
          <p:cNvSpPr txBox="1"/>
          <p:nvPr/>
        </p:nvSpPr>
        <p:spPr>
          <a:xfrm>
            <a:off x="6388456" y="2639304"/>
            <a:ext cx="388620" cy="388620"/>
          </a:xfrm>
          <a:prstGeom prst="rect">
            <a:avLst/>
          </a:prstGeom>
          <a:noFill/>
          <a:ln/>
        </p:spPr>
        <p:txBody>
          <a:bodyPr wrap="square" lIns="0" tIns="0" rIns="0" bIns="0" rtlCol="0" anchor="ctr"/>
          <a:lstStyle/>
          <a:p>
            <a:pPr algn="ctr" indent="0" marL="0">
              <a:buNone/>
            </a:pPr>
            <a:r>
              <a:rPr lang="id-ID" altLang="en-US" sz="1500" b="1" dirty="0">
                <a:solidFill>
                  <a:srgbClr val="FFFFFF"/>
                </a:solidFill>
              </a:rPr>
              <a:t>B</a:t>
            </a:r>
            <a:endParaRPr lang="id-ID" sz="1500" dirty="0"/>
          </a:p>
        </p:txBody>
      </p:sp>
      <p:sp>
        <p:nvSpPr>
          <p:cNvPr id="14" name="Text 11"/>
          <p:cNvSpPr txBox="1"/>
          <p:nvPr/>
        </p:nvSpPr>
        <p:spPr>
          <a:xfrm>
            <a:off x="6991960" y="2542784"/>
            <a:ext cx="4541368" cy="581660"/>
          </a:xfrm>
          <a:prstGeom prst="rect">
            <a:avLst/>
          </a:prstGeom>
          <a:noFill/>
          <a:ln/>
        </p:spPr>
        <p:txBody>
          <a:bodyPr wrap="square" lIns="0" tIns="0" rIns="0" bIns="0" rtlCol="0" anchor="ctr"/>
          <a:lstStyle/>
          <a:p>
            <a:pPr indent="0" marL="0">
              <a:buNone/>
            </a:pPr>
            <a:r>
              <a:rPr lang="id-ID" altLang="en-US" sz="1700" i="1" dirty="0">
                <a:solidFill>
                  <a:srgbClr val="57606A"/>
                </a:solidFill>
              </a:rPr>
              <a:t>Push</a:t>
            </a:r>
            <a:r>
              <a:rPr lang="id-ID" altLang="en-US" sz="1700" dirty="0">
                <a:solidFill>
                  <a:srgbClr val="57606A"/>
                </a:solidFill>
              </a:rPr>
              <a:t> karena status pesanan dikirim sebagai teks</a:t>
            </a:r>
            <a:endParaRPr lang="id-ID" sz="1700" dirty="0"/>
          </a:p>
        </p:txBody>
      </p:sp>
      <p:sp>
        <p:nvSpPr>
          <p:cNvPr id="15" name="Shape 12"/>
          <p:cNvSpPr/>
          <p:nvPr/>
        </p:nvSpPr>
        <p:spPr>
          <a:xfrm>
            <a:off x="548640" y="3417052"/>
            <a:ext cx="5455768" cy="801116"/>
          </a:xfrm>
          <a:prstGeom prst="roundRect">
            <a:avLst>
              <a:gd name="adj" fmla="val 15634"/>
            </a:avLst>
          </a:prstGeom>
          <a:solidFill>
            <a:srgbClr val="DAFBE1"/>
          </a:solidFill>
          <a:ln w="22225">
            <a:solidFill>
              <a:srgbClr val="1A7F37"/>
            </a:solidFill>
            <a:prstDash val="solid"/>
          </a:ln>
        </p:spPr>
      </p:sp>
      <p:sp>
        <p:nvSpPr>
          <p:cNvPr id="16" name="Shape 13"/>
          <p:cNvSpPr/>
          <p:nvPr/>
        </p:nvSpPr>
        <p:spPr>
          <a:xfrm>
            <a:off x="749808" y="3623300"/>
            <a:ext cx="388620" cy="388620"/>
          </a:xfrm>
          <a:prstGeom prst="ellipse">
            <a:avLst/>
          </a:prstGeom>
          <a:solidFill>
            <a:srgbClr val="1A7F37"/>
          </a:solidFill>
          <a:ln/>
        </p:spPr>
      </p:sp>
      <p:pic>
        <p:nvPicPr>
          <p:cNvPr id="17" name="Image 1" descr="preencoded.png">    </p:cNvPr>
          <p:cNvPicPr>
            <a:picLocks noChangeAspect="1"/>
          </p:cNvPicPr>
          <p:nvPr/>
        </p:nvPicPr>
        <p:blipFill>
          <a:blip r:embed="rId2"/>
          <a:stretch>
            <a:fillRect/>
          </a:stretch>
        </p:blipFill>
        <p:spPr>
          <a:xfrm>
            <a:off x="835304" y="3708796"/>
            <a:ext cx="217627" cy="217627"/>
          </a:xfrm>
          <a:prstGeom prst="rect">
            <a:avLst/>
          </a:prstGeom>
        </p:spPr>
      </p:pic>
      <p:sp>
        <p:nvSpPr>
          <p:cNvPr id="18" name="Text 14"/>
          <p:cNvSpPr txBox="1"/>
          <p:nvPr/>
        </p:nvSpPr>
        <p:spPr>
          <a:xfrm>
            <a:off x="1353312" y="3526780"/>
            <a:ext cx="4541368" cy="581660"/>
          </a:xfrm>
          <a:prstGeom prst="rect">
            <a:avLst/>
          </a:prstGeom>
          <a:noFill/>
          <a:ln/>
        </p:spPr>
        <p:txBody>
          <a:bodyPr wrap="square" lIns="0" tIns="0" rIns="0" bIns="0" rtlCol="0" anchor="ctr"/>
          <a:lstStyle/>
          <a:p>
            <a:pPr indent="0" marL="0">
              <a:buNone/>
            </a:pPr>
            <a:r>
              <a:rPr lang="id-ID" altLang="en-US" sz="1700" i="1" dirty="0">
                <a:solidFill>
                  <a:srgbClr val="1F2328"/>
                </a:solidFill>
              </a:rPr>
              <a:t>Pull</a:t>
            </a:r>
            <a:r>
              <a:rPr lang="id-ID" altLang="en-US" sz="1700" dirty="0">
                <a:solidFill>
                  <a:srgbClr val="1F2328"/>
                </a:solidFill>
              </a:rPr>
              <a:t> karena </a:t>
            </a:r>
            <a:r>
              <a:rPr lang="id-ID" altLang="en-US" sz="1700" i="1" dirty="0">
                <a:solidFill>
                  <a:srgbClr val="1F2328"/>
                </a:solidFill>
              </a:rPr>
              <a:t>subject</a:t>
            </a:r>
            <a:r>
              <a:rPr lang="id-ID" altLang="en-US" sz="1700" dirty="0">
                <a:solidFill>
                  <a:srgbClr val="1F2328"/>
                </a:solidFill>
              </a:rPr>
              <a:t> mengirim dirinya sendiri, lalu pengamat mengambil data yang ia butuhkan</a:t>
            </a:r>
            <a:endParaRPr lang="id-ID" sz="1700" dirty="0"/>
          </a:p>
        </p:txBody>
      </p:sp>
      <p:sp>
        <p:nvSpPr>
          <p:cNvPr id="19" name="Shape 15"/>
          <p:cNvSpPr/>
          <p:nvPr/>
        </p:nvSpPr>
        <p:spPr>
          <a:xfrm>
            <a:off x="6187288" y="3417052"/>
            <a:ext cx="5455768" cy="801116"/>
          </a:xfrm>
          <a:prstGeom prst="roundRect">
            <a:avLst>
              <a:gd name="adj" fmla="val 15634"/>
            </a:avLst>
          </a:prstGeom>
          <a:solidFill>
            <a:srgbClr val="FFFFFF"/>
          </a:solidFill>
          <a:ln w="9525">
            <a:solidFill>
              <a:srgbClr val="D0D7DE"/>
            </a:solidFill>
            <a:prstDash val="solid"/>
          </a:ln>
        </p:spPr>
      </p:sp>
      <p:sp>
        <p:nvSpPr>
          <p:cNvPr id="20" name="Shape 16"/>
          <p:cNvSpPr/>
          <p:nvPr/>
        </p:nvSpPr>
        <p:spPr>
          <a:xfrm>
            <a:off x="6388456" y="3623300"/>
            <a:ext cx="388620" cy="388620"/>
          </a:xfrm>
          <a:prstGeom prst="ellipse">
            <a:avLst/>
          </a:prstGeom>
          <a:solidFill>
            <a:srgbClr val="8C959F"/>
          </a:solidFill>
          <a:ln/>
        </p:spPr>
      </p:sp>
      <p:sp>
        <p:nvSpPr>
          <p:cNvPr id="21" name="Text 17"/>
          <p:cNvSpPr txBox="1"/>
          <p:nvPr/>
        </p:nvSpPr>
        <p:spPr>
          <a:xfrm>
            <a:off x="6388456" y="3623300"/>
            <a:ext cx="388620" cy="388620"/>
          </a:xfrm>
          <a:prstGeom prst="rect">
            <a:avLst/>
          </a:prstGeom>
          <a:noFill/>
          <a:ln/>
        </p:spPr>
        <p:txBody>
          <a:bodyPr wrap="square" lIns="0" tIns="0" rIns="0" bIns="0" rtlCol="0" anchor="ctr"/>
          <a:lstStyle/>
          <a:p>
            <a:pPr algn="ctr" indent="0" marL="0">
              <a:buNone/>
            </a:pPr>
            <a:r>
              <a:rPr lang="id-ID" altLang="en-US" sz="1500" b="1" dirty="0">
                <a:solidFill>
                  <a:srgbClr val="FFFFFF"/>
                </a:solidFill>
              </a:rPr>
              <a:t>D</a:t>
            </a:r>
            <a:endParaRPr lang="id-ID" sz="1500" dirty="0"/>
          </a:p>
        </p:txBody>
      </p:sp>
      <p:sp>
        <p:nvSpPr>
          <p:cNvPr id="22" name="Text 18"/>
          <p:cNvSpPr txBox="1"/>
          <p:nvPr/>
        </p:nvSpPr>
        <p:spPr>
          <a:xfrm>
            <a:off x="6991960" y="3526780"/>
            <a:ext cx="4541368" cy="581660"/>
          </a:xfrm>
          <a:prstGeom prst="rect">
            <a:avLst/>
          </a:prstGeom>
          <a:noFill/>
          <a:ln/>
        </p:spPr>
        <p:txBody>
          <a:bodyPr wrap="square" lIns="0" tIns="0" rIns="0" bIns="0" rtlCol="0" anchor="ctr"/>
          <a:lstStyle/>
          <a:p>
            <a:pPr indent="0" marL="0">
              <a:buNone/>
            </a:pPr>
            <a:r>
              <a:rPr lang="id-ID" altLang="en-US" sz="1700" i="1" dirty="0">
                <a:solidFill>
                  <a:srgbClr val="57606A"/>
                </a:solidFill>
              </a:rPr>
              <a:t>Pull</a:t>
            </a:r>
            <a:r>
              <a:rPr lang="id-ID" altLang="en-US" sz="1700" dirty="0">
                <a:solidFill>
                  <a:srgbClr val="57606A"/>
                </a:solidFill>
              </a:rPr>
              <a:t> karena setiap pengamat memeriksa status pesanan berulang-⁠ulang setiap detik</a:t>
            </a:r>
            <a:endParaRPr lang="id-ID" sz="1700" dirty="0"/>
          </a:p>
        </p:txBody>
      </p:sp>
      <p:sp>
        <p:nvSpPr>
          <p:cNvPr id="23" name="Shape 19"/>
          <p:cNvSpPr/>
          <p:nvPr/>
        </p:nvSpPr>
        <p:spPr>
          <a:xfrm>
            <a:off x="548640" y="4419336"/>
            <a:ext cx="11094415" cy="1693672"/>
          </a:xfrm>
          <a:prstGeom prst="roundRect">
            <a:avLst>
              <a:gd name="adj" fmla="val 3498"/>
            </a:avLst>
          </a:prstGeom>
          <a:solidFill>
            <a:srgbClr val="FFF8C5"/>
          </a:solidFill>
          <a:ln w="9525">
            <a:solidFill>
              <a:srgbClr val="D4A72C"/>
            </a:solidFill>
            <a:prstDash val="solid"/>
          </a:ln>
        </p:spPr>
      </p:sp>
      <p:sp>
        <p:nvSpPr>
          <p:cNvPr id="24" name="Shape 20"/>
          <p:cNvSpPr/>
          <p:nvPr/>
        </p:nvSpPr>
        <p:spPr>
          <a:xfrm>
            <a:off x="777240" y="4602216"/>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702800"/>
            <a:ext cx="256032" cy="256032"/>
          </a:xfrm>
          <a:prstGeom prst="rect">
            <a:avLst/>
          </a:prstGeom>
        </p:spPr>
      </p:pic>
      <p:sp>
        <p:nvSpPr>
          <p:cNvPr id="26" name="Text 21"/>
          <p:cNvSpPr txBox="1"/>
          <p:nvPr/>
        </p:nvSpPr>
        <p:spPr>
          <a:xfrm>
            <a:off x="1417320" y="4556496"/>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C</a:t>
            </a:r>
            <a:endParaRPr lang="id-ID" sz="1600" dirty="0"/>
          </a:p>
        </p:txBody>
      </p:sp>
      <p:sp>
        <p:nvSpPr>
          <p:cNvPr id="27" name="Text 22"/>
          <p:cNvSpPr txBox="1"/>
          <p:nvPr/>
        </p:nvSpPr>
        <p:spPr>
          <a:xfrm>
            <a:off x="1417320" y="4894824"/>
            <a:ext cx="9951415" cy="1145032"/>
          </a:xfrm>
          <a:prstGeom prst="rect">
            <a:avLst/>
          </a:prstGeom>
          <a:noFill/>
          <a:ln/>
        </p:spPr>
        <p:txBody>
          <a:bodyPr wrap="square" lIns="0" tIns="0" rIns="0" bIns="0" rtlCol="0" anchor="t"/>
          <a:lstStyle/>
          <a:p>
            <a:pPr indent="0" marL="0">
              <a:buNone/>
            </a:pPr>
            <a:r>
              <a:rPr lang="id-ID" altLang="en-US" sz="1700" dirty="0">
                <a:solidFill>
                  <a:srgbClr val="0A3069"/>
                </a:solidFill>
                <a:latin typeface="Consolas" pitchFamily="34" charset="0"/>
                <a:ea typeface="Consolas" pitchFamily="34" charset="-122"/>
                <a:cs typeface="Consolas" pitchFamily="34" charset="-120"/>
              </a:rPr>
              <a:t>LayarDapur</a:t>
            </a:r>
            <a:r>
              <a:rPr lang="id-ID" altLang="en-US" sz="1700" dirty="0">
                <a:solidFill>
                  <a:srgbClr val="1F2328"/>
                </a:solidFill>
              </a:rPr>
              <a:t> menarik nomor dan item, </a:t>
            </a:r>
            <a:r>
              <a:rPr lang="id-ID" altLang="en-US" sz="1700" dirty="0">
                <a:solidFill>
                  <a:srgbClr val="0A3069"/>
                </a:solidFill>
                <a:latin typeface="Consolas" pitchFamily="34" charset="0"/>
                <a:ea typeface="Consolas" pitchFamily="34" charset="-122"/>
                <a:cs typeface="Consolas" pitchFamily="34" charset="-120"/>
              </a:rPr>
              <a:t>NotifikasiPelanggan</a:t>
            </a:r>
            <a:r>
              <a:rPr lang="id-ID" altLang="en-US" sz="1700" dirty="0">
                <a:solidFill>
                  <a:srgbClr val="1F2328"/>
                </a:solidFill>
              </a:rPr>
              <a:t> menarik nama dan nomor HP, dari objek pesanan yang sama. Pada </a:t>
            </a:r>
            <a:r>
              <a:rPr lang="id-ID" altLang="en-US" sz="1700" i="1" dirty="0">
                <a:solidFill>
                  <a:srgbClr val="1F2328"/>
                </a:solidFill>
              </a:rPr>
              <a:t>push</a:t>
            </a:r>
            <a:r>
              <a:rPr lang="id-ID" altLang="en-US" sz="1700" dirty="0">
                <a:solidFill>
                  <a:srgbClr val="1F2328"/>
                </a:solidFill>
              </a:rPr>
              <a:t>, yang dikirim data kejadiannya. A keliru: kedua gaya sama-⁠sama mendorong kabar; bedanya </a:t>
            </a:r>
            <a:r>
              <a:rPr lang="id-ID" altLang="en-US" sz="1700" b="1" dirty="0">
                <a:solidFill>
                  <a:srgbClr val="1F2328"/>
                </a:solidFill>
              </a:rPr>
              <a:t>apa</a:t>
            </a:r>
            <a:r>
              <a:rPr lang="id-ID" altLang="en-US" sz="1700" dirty="0">
                <a:solidFill>
                  <a:srgbClr val="1F2328"/>
                </a:solidFill>
              </a:rPr>
              <a:t> yang dikirim. B keliru: yang dikirim objek pesanan. D adalah </a:t>
            </a:r>
            <a:r>
              <a:rPr lang="id-ID" altLang="en-US" sz="1700" i="1" dirty="0">
                <a:solidFill>
                  <a:srgbClr val="1F2328"/>
                </a:solidFill>
              </a:rPr>
              <a:t>polling</a:t>
            </a:r>
            <a:r>
              <a:rPr lang="id-ID" altLang="en-US" sz="1700" dirty="0">
                <a:solidFill>
                  <a:srgbClr val="1F2328"/>
                </a:solidFill>
              </a:rPr>
              <a:t>; pada </a:t>
            </a:r>
            <a:r>
              <a:rPr lang="id-ID" altLang="en-US" sz="1700" i="1" dirty="0">
                <a:solidFill>
                  <a:srgbClr val="1F2328"/>
                </a:solidFill>
              </a:rPr>
              <a:t>Observer</a:t>
            </a:r>
            <a:r>
              <a:rPr lang="id-ID" altLang="en-US" sz="1700" dirty="0">
                <a:solidFill>
                  <a:srgbClr val="1F2328"/>
                </a:solidFill>
              </a:rPr>
              <a:t>, pengamat </a:t>
            </a:r>
            <a:r>
              <a:rPr lang="id-ID" altLang="en-US" sz="1700" b="1" dirty="0">
                <a:solidFill>
                  <a:srgbClr val="1F2328"/>
                </a:solidFill>
              </a:rPr>
              <a:t>menunggu dikabari</a:t>
            </a:r>
            <a:r>
              <a:rPr lang="id-ID" altLang="en-US" sz="1700" dirty="0">
                <a:solidFill>
                  <a:srgbClr val="1F2328"/>
                </a:solidFill>
              </a:rPr>
              <a:t>.</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A7F37"/>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Ringkasan</a:t>
            </a:r>
            <a:endParaRPr lang="id-ID" sz="3200" dirty="0"/>
          </a:p>
        </p:txBody>
      </p:sp>
      <p:sp>
        <p:nvSpPr>
          <p:cNvPr id="5" name="Shape 2"/>
          <p:cNvSpPr/>
          <p:nvPr/>
        </p:nvSpPr>
        <p:spPr>
          <a:xfrm>
            <a:off x="548640" y="1470787"/>
            <a:ext cx="294386" cy="294386"/>
          </a:xfrm>
          <a:prstGeom prst="ellipse">
            <a:avLst/>
          </a:prstGeom>
          <a:solidFill>
            <a:srgbClr val="1A7F37"/>
          </a:solidFill>
          <a:ln/>
        </p:spPr>
      </p:sp>
      <p:pic>
        <p:nvPicPr>
          <p:cNvPr id="6" name="Image 1" descr="preencoded.png">    </p:cNvPr>
          <p:cNvPicPr>
            <a:picLocks noChangeAspect="1"/>
          </p:cNvPicPr>
          <p:nvPr/>
        </p:nvPicPr>
        <p:blipFill>
          <a:blip r:embed="rId2"/>
          <a:stretch>
            <a:fillRect/>
          </a:stretch>
        </p:blipFill>
        <p:spPr>
          <a:xfrm>
            <a:off x="613405" y="1535552"/>
            <a:ext cx="164856" cy="164856"/>
          </a:xfrm>
          <a:prstGeom prst="rect">
            <a:avLst/>
          </a:prstGeom>
        </p:spPr>
      </p:pic>
      <p:sp>
        <p:nvSpPr>
          <p:cNvPr id="7" name="Text 3"/>
          <p:cNvSpPr txBox="1"/>
          <p:nvPr/>
        </p:nvSpPr>
        <p:spPr>
          <a:xfrm>
            <a:off x="1051560" y="1463040"/>
            <a:ext cx="10591495" cy="665480"/>
          </a:xfrm>
          <a:prstGeom prst="rect">
            <a:avLst/>
          </a:prstGeom>
          <a:noFill/>
          <a:ln/>
        </p:spPr>
        <p:txBody>
          <a:bodyPr wrap="square" lIns="0" tIns="0" rIns="0" bIns="0" rtlCol="0" anchor="t"/>
          <a:lstStyle/>
          <a:p>
            <a:pPr indent="0" marL="0">
              <a:buNone/>
            </a:pPr>
            <a:r>
              <a:rPr lang="id-ID" altLang="en-US" sz="2000" b="1" i="1" dirty="0">
                <a:solidFill>
                  <a:srgbClr val="1F2328"/>
                </a:solidFill>
              </a:rPr>
              <a:t>Design pattern</a:t>
            </a:r>
            <a:r>
              <a:rPr lang="id-ID" altLang="en-US" sz="2000" dirty="0">
                <a:solidFill>
                  <a:srgbClr val="1F2328"/>
                </a:solidFill>
              </a:rPr>
              <a:t> adalah solusi teruji untuk masalah desain yang berulang; bukan kode jadi dan jangan dipaksakan.</a:t>
            </a:r>
            <a:endParaRPr lang="id-ID" sz="2000" dirty="0"/>
          </a:p>
        </p:txBody>
      </p:sp>
      <p:sp>
        <p:nvSpPr>
          <p:cNvPr id="8" name="Shape 4"/>
          <p:cNvSpPr/>
          <p:nvPr/>
        </p:nvSpPr>
        <p:spPr>
          <a:xfrm>
            <a:off x="548640" y="2291715"/>
            <a:ext cx="294386" cy="294386"/>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613405" y="2356480"/>
            <a:ext cx="164856" cy="164856"/>
          </a:xfrm>
          <a:prstGeom prst="rect">
            <a:avLst/>
          </a:prstGeom>
        </p:spPr>
      </p:pic>
      <p:sp>
        <p:nvSpPr>
          <p:cNvPr id="10" name="Text 5"/>
          <p:cNvSpPr txBox="1"/>
          <p:nvPr/>
        </p:nvSpPr>
        <p:spPr>
          <a:xfrm>
            <a:off x="1051560" y="2283968"/>
            <a:ext cx="10591495" cy="355600"/>
          </a:xfrm>
          <a:prstGeom prst="rect">
            <a:avLst/>
          </a:prstGeom>
          <a:noFill/>
          <a:ln/>
        </p:spPr>
        <p:txBody>
          <a:bodyPr wrap="square" lIns="0" tIns="0" rIns="0" bIns="0" rtlCol="0" anchor="t"/>
          <a:lstStyle/>
          <a:p>
            <a:pPr indent="0" marL="0">
              <a:buNone/>
            </a:pPr>
            <a:r>
              <a:rPr lang="id-ID" altLang="en-US" sz="2000" dirty="0">
                <a:solidFill>
                  <a:srgbClr val="1F2328"/>
                </a:solidFill>
              </a:rPr>
              <a:t>Buku </a:t>
            </a:r>
            <a:r>
              <a:rPr lang="id-ID" altLang="en-US" sz="2000" b="1" dirty="0">
                <a:solidFill>
                  <a:srgbClr val="1F2328"/>
                </a:solidFill>
              </a:rPr>
              <a:t>GoF</a:t>
            </a:r>
            <a:r>
              <a:rPr lang="id-ID" altLang="en-US" sz="2000" dirty="0">
                <a:solidFill>
                  <a:srgbClr val="1F2328"/>
                </a:solidFill>
              </a:rPr>
              <a:t> (1994) memuat </a:t>
            </a:r>
            <a:r>
              <a:rPr lang="id-ID" altLang="en-US" sz="2000" b="1" dirty="0">
                <a:solidFill>
                  <a:srgbClr val="1F2328"/>
                </a:solidFill>
              </a:rPr>
              <a:t>23 pola</a:t>
            </a:r>
            <a:r>
              <a:rPr lang="id-ID" altLang="en-US" sz="2000" dirty="0">
                <a:solidFill>
                  <a:srgbClr val="1F2328"/>
                </a:solidFill>
              </a:rPr>
              <a:t> dalam 3 kategori: </a:t>
            </a:r>
            <a:r>
              <a:rPr lang="id-ID" altLang="en-US" sz="2000" i="1" dirty="0">
                <a:solidFill>
                  <a:srgbClr val="1F2328"/>
                </a:solidFill>
              </a:rPr>
              <a:t>creational</a:t>
            </a:r>
            <a:r>
              <a:rPr lang="id-ID" altLang="en-US" sz="2000" dirty="0">
                <a:solidFill>
                  <a:srgbClr val="1F2328"/>
                </a:solidFill>
              </a:rPr>
              <a:t>, </a:t>
            </a:r>
            <a:r>
              <a:rPr lang="id-ID" altLang="en-US" sz="2000" i="1" dirty="0">
                <a:solidFill>
                  <a:srgbClr val="1F2328"/>
                </a:solidFill>
              </a:rPr>
              <a:t>structural</a:t>
            </a:r>
            <a:r>
              <a:rPr lang="id-ID" altLang="en-US" sz="2000" dirty="0">
                <a:solidFill>
                  <a:srgbClr val="1F2328"/>
                </a:solidFill>
              </a:rPr>
              <a:t>, dan </a:t>
            </a:r>
            <a:r>
              <a:rPr lang="id-ID" altLang="en-US" sz="2000" i="1" dirty="0">
                <a:solidFill>
                  <a:srgbClr val="1F2328"/>
                </a:solidFill>
              </a:rPr>
              <a:t>behavioral</a:t>
            </a:r>
            <a:r>
              <a:rPr lang="id-ID" altLang="en-US" sz="2000" dirty="0">
                <a:solidFill>
                  <a:srgbClr val="1F2328"/>
                </a:solidFill>
              </a:rPr>
              <a:t>.</a:t>
            </a:r>
            <a:endParaRPr lang="id-ID" sz="2000" dirty="0"/>
          </a:p>
        </p:txBody>
      </p:sp>
      <p:sp>
        <p:nvSpPr>
          <p:cNvPr id="11" name="Shape 6"/>
          <p:cNvSpPr/>
          <p:nvPr/>
        </p:nvSpPr>
        <p:spPr>
          <a:xfrm>
            <a:off x="548640" y="2802763"/>
            <a:ext cx="294386" cy="294386"/>
          </a:xfrm>
          <a:prstGeom prst="ellipse">
            <a:avLst/>
          </a:prstGeom>
          <a:solidFill>
            <a:srgbClr val="1A7F37"/>
          </a:solidFill>
          <a:ln/>
        </p:spPr>
      </p:sp>
      <p:pic>
        <p:nvPicPr>
          <p:cNvPr id="12" name="Image 3" descr="preencoded.png">    </p:cNvPr>
          <p:cNvPicPr>
            <a:picLocks noChangeAspect="1"/>
          </p:cNvPicPr>
          <p:nvPr/>
        </p:nvPicPr>
        <p:blipFill>
          <a:blip r:embed="rId4"/>
          <a:stretch>
            <a:fillRect/>
          </a:stretch>
        </p:blipFill>
        <p:spPr>
          <a:xfrm>
            <a:off x="613405" y="2867528"/>
            <a:ext cx="164856" cy="164856"/>
          </a:xfrm>
          <a:prstGeom prst="rect">
            <a:avLst/>
          </a:prstGeom>
        </p:spPr>
      </p:pic>
      <p:sp>
        <p:nvSpPr>
          <p:cNvPr id="13" name="Text 7"/>
          <p:cNvSpPr txBox="1"/>
          <p:nvPr/>
        </p:nvSpPr>
        <p:spPr>
          <a:xfrm>
            <a:off x="1051560" y="2795016"/>
            <a:ext cx="10591495" cy="665480"/>
          </a:xfrm>
          <a:prstGeom prst="rect">
            <a:avLst/>
          </a:prstGeom>
          <a:noFill/>
          <a:ln/>
        </p:spPr>
        <p:txBody>
          <a:bodyPr wrap="square" lIns="0" tIns="0" rIns="0" bIns="0" rtlCol="0" anchor="t"/>
          <a:lstStyle/>
          <a:p>
            <a:pPr indent="0" marL="0">
              <a:buNone/>
            </a:pPr>
            <a:r>
              <a:rPr lang="id-ID" altLang="en-US" sz="2000" b="1" i="1" dirty="0">
                <a:solidFill>
                  <a:srgbClr val="1F2328"/>
                </a:solidFill>
              </a:rPr>
              <a:t>Singleton</a:t>
            </a:r>
            <a:r>
              <a:rPr lang="id-ID" altLang="en-US" sz="2000" dirty="0">
                <a:solidFill>
                  <a:srgbClr val="1F2328"/>
                </a:solidFill>
              </a:rPr>
              <a:t>: satu objek, satu pintu akses </a:t>
            </a:r>
            <a:r>
              <a:rPr lang="id-ID" altLang="en-US" sz="2000" dirty="0">
                <a:solidFill>
                  <a:srgbClr val="1F2328"/>
                </a:solidFill>
                <a:latin typeface="Consolas" pitchFamily="34" charset="0"/>
                <a:ea typeface="Consolas" pitchFamily="34" charset="-122"/>
                <a:cs typeface="Consolas" pitchFamily="34" charset="-120"/>
              </a:rPr>
              <a:t>get_instance()</a:t>
            </a:r>
            <a:r>
              <a:rPr lang="id-ID" altLang="en-US" sz="2000" dirty="0">
                <a:solidFill>
                  <a:srgbClr val="1F2328"/>
                </a:solidFill>
              </a:rPr>
              <a:t>. Kekurangannya: </a:t>
            </a:r>
            <a:r>
              <a:rPr lang="id-ID" altLang="en-US" sz="2000" i="1" dirty="0">
                <a:solidFill>
                  <a:srgbClr val="1F2328"/>
                </a:solidFill>
              </a:rPr>
              <a:t>state</a:t>
            </a:r>
            <a:r>
              <a:rPr lang="id-ID" altLang="en-US" sz="2000" dirty="0">
                <a:solidFill>
                  <a:srgbClr val="1F2328"/>
                </a:solidFill>
              </a:rPr>
              <a:t> global yang sulit diuji.</a:t>
            </a:r>
            <a:endParaRPr lang="id-ID" sz="2000" dirty="0"/>
          </a:p>
        </p:txBody>
      </p:sp>
      <p:sp>
        <p:nvSpPr>
          <p:cNvPr id="14" name="Shape 8"/>
          <p:cNvSpPr/>
          <p:nvPr/>
        </p:nvSpPr>
        <p:spPr>
          <a:xfrm>
            <a:off x="548640" y="3623691"/>
            <a:ext cx="294386" cy="294386"/>
          </a:xfrm>
          <a:prstGeom prst="ellipse">
            <a:avLst/>
          </a:prstGeom>
          <a:solidFill>
            <a:srgbClr val="1A7F37"/>
          </a:solidFill>
          <a:ln/>
        </p:spPr>
      </p:sp>
      <p:pic>
        <p:nvPicPr>
          <p:cNvPr id="15" name="Image 4" descr="preencoded.png">    </p:cNvPr>
          <p:cNvPicPr>
            <a:picLocks noChangeAspect="1"/>
          </p:cNvPicPr>
          <p:nvPr/>
        </p:nvPicPr>
        <p:blipFill>
          <a:blip r:embed="rId5"/>
          <a:stretch>
            <a:fillRect/>
          </a:stretch>
        </p:blipFill>
        <p:spPr>
          <a:xfrm>
            <a:off x="613405" y="3688456"/>
            <a:ext cx="164856" cy="164856"/>
          </a:xfrm>
          <a:prstGeom prst="rect">
            <a:avLst/>
          </a:prstGeom>
        </p:spPr>
      </p:pic>
      <p:sp>
        <p:nvSpPr>
          <p:cNvPr id="16" name="Text 9"/>
          <p:cNvSpPr txBox="1"/>
          <p:nvPr/>
        </p:nvSpPr>
        <p:spPr>
          <a:xfrm>
            <a:off x="1051560" y="3615944"/>
            <a:ext cx="10591495" cy="355600"/>
          </a:xfrm>
          <a:prstGeom prst="rect">
            <a:avLst/>
          </a:prstGeom>
          <a:noFill/>
          <a:ln/>
        </p:spPr>
        <p:txBody>
          <a:bodyPr wrap="square" lIns="0" tIns="0" rIns="0" bIns="0" rtlCol="0" anchor="t"/>
          <a:lstStyle/>
          <a:p>
            <a:pPr indent="0" marL="0">
              <a:buNone/>
            </a:pPr>
            <a:r>
              <a:rPr lang="id-ID" altLang="en-US" sz="2000" b="1" i="1" dirty="0">
                <a:solidFill>
                  <a:srgbClr val="1F2328"/>
                </a:solidFill>
              </a:rPr>
              <a:t>Factory</a:t>
            </a:r>
            <a:r>
              <a:rPr lang="id-ID" altLang="en-US" sz="2000" dirty="0">
                <a:solidFill>
                  <a:srgbClr val="1F2328"/>
                </a:solidFill>
              </a:rPr>
              <a:t> memusatkan pembuatan objek: </a:t>
            </a:r>
            <a:r>
              <a:rPr lang="id-ID" altLang="en-US" sz="2000" i="1" dirty="0">
                <a:solidFill>
                  <a:srgbClr val="1F2328"/>
                </a:solidFill>
              </a:rPr>
              <a:t>Simple Factory</a:t>
            </a:r>
            <a:r>
              <a:rPr lang="id-ID" altLang="en-US" sz="2000" dirty="0">
                <a:solidFill>
                  <a:srgbClr val="1F2328"/>
                </a:solidFill>
              </a:rPr>
              <a:t> lewat </a:t>
            </a:r>
            <a:r>
              <a:rPr lang="id-ID" altLang="en-US" sz="2000" dirty="0">
                <a:solidFill>
                  <a:srgbClr val="1F2328"/>
                </a:solidFill>
                <a:latin typeface="Consolas" pitchFamily="34" charset="0"/>
                <a:ea typeface="Consolas" pitchFamily="34" charset="-122"/>
                <a:cs typeface="Consolas" pitchFamily="34" charset="-120"/>
              </a:rPr>
              <a:t>if</a:t>
            </a:r>
            <a:r>
              <a:rPr lang="id-ID" altLang="en-US" sz="2000" dirty="0">
                <a:solidFill>
                  <a:srgbClr val="1F2328"/>
                </a:solidFill>
              </a:rPr>
              <a:t>, </a:t>
            </a:r>
            <a:r>
              <a:rPr lang="id-ID" altLang="en-US" sz="2000" i="1" dirty="0">
                <a:solidFill>
                  <a:srgbClr val="1F2328"/>
                </a:solidFill>
              </a:rPr>
              <a:t>Factory Method</a:t>
            </a:r>
            <a:r>
              <a:rPr lang="id-ID" altLang="en-US" sz="2000" dirty="0">
                <a:solidFill>
                  <a:srgbClr val="1F2328"/>
                </a:solidFill>
              </a:rPr>
              <a:t> lewat </a:t>
            </a:r>
            <a:r>
              <a:rPr lang="id-ID" altLang="en-US" sz="2000" i="1" dirty="0">
                <a:solidFill>
                  <a:srgbClr val="1F2328"/>
                </a:solidFill>
              </a:rPr>
              <a:t>overriding</a:t>
            </a:r>
            <a:r>
              <a:rPr lang="id-ID" altLang="en-US" sz="2000" dirty="0">
                <a:solidFill>
                  <a:srgbClr val="1F2328"/>
                </a:solidFill>
              </a:rPr>
              <a:t>.</a:t>
            </a:r>
            <a:endParaRPr lang="id-ID" sz="2000" dirty="0"/>
          </a:p>
        </p:txBody>
      </p:sp>
      <p:sp>
        <p:nvSpPr>
          <p:cNvPr id="17" name="Shape 10"/>
          <p:cNvSpPr/>
          <p:nvPr/>
        </p:nvSpPr>
        <p:spPr>
          <a:xfrm>
            <a:off x="548640" y="4134739"/>
            <a:ext cx="294386" cy="294386"/>
          </a:xfrm>
          <a:prstGeom prst="ellipse">
            <a:avLst/>
          </a:prstGeom>
          <a:solidFill>
            <a:srgbClr val="1A7F37"/>
          </a:solidFill>
          <a:ln/>
        </p:spPr>
      </p:sp>
      <p:pic>
        <p:nvPicPr>
          <p:cNvPr id="18" name="Image 5" descr="preencoded.png">    </p:cNvPr>
          <p:cNvPicPr>
            <a:picLocks noChangeAspect="1"/>
          </p:cNvPicPr>
          <p:nvPr/>
        </p:nvPicPr>
        <p:blipFill>
          <a:blip r:embed="rId6"/>
          <a:stretch>
            <a:fillRect/>
          </a:stretch>
        </p:blipFill>
        <p:spPr>
          <a:xfrm>
            <a:off x="613405" y="4199504"/>
            <a:ext cx="164856" cy="164856"/>
          </a:xfrm>
          <a:prstGeom prst="rect">
            <a:avLst/>
          </a:prstGeom>
        </p:spPr>
      </p:pic>
      <p:sp>
        <p:nvSpPr>
          <p:cNvPr id="19" name="Text 11"/>
          <p:cNvSpPr txBox="1"/>
          <p:nvPr/>
        </p:nvSpPr>
        <p:spPr>
          <a:xfrm>
            <a:off x="1051560" y="4126992"/>
            <a:ext cx="10591495" cy="355600"/>
          </a:xfrm>
          <a:prstGeom prst="rect">
            <a:avLst/>
          </a:prstGeom>
          <a:noFill/>
          <a:ln/>
        </p:spPr>
        <p:txBody>
          <a:bodyPr wrap="square" lIns="0" tIns="0" rIns="0" bIns="0" rtlCol="0" anchor="t"/>
          <a:lstStyle/>
          <a:p>
            <a:pPr indent="0" marL="0">
              <a:buNone/>
            </a:pPr>
            <a:r>
              <a:rPr lang="id-ID" altLang="en-US" sz="2000" b="1" i="1" dirty="0">
                <a:solidFill>
                  <a:srgbClr val="1F2328"/>
                </a:solidFill>
              </a:rPr>
              <a:t>Strategy</a:t>
            </a:r>
            <a:r>
              <a:rPr lang="id-ID" altLang="en-US" sz="2000" dirty="0">
                <a:solidFill>
                  <a:srgbClr val="1F2328"/>
                </a:solidFill>
              </a:rPr>
              <a:t> membuat algoritma bisa ditukar saat program berjalan; hierarki </a:t>
            </a:r>
            <a:r>
              <a:rPr lang="id-ID" altLang="en-US" sz="2000" dirty="0">
                <a:solidFill>
                  <a:srgbClr val="1F2328"/>
                </a:solidFill>
                <a:latin typeface="Consolas" pitchFamily="34" charset="0"/>
                <a:ea typeface="Consolas" pitchFamily="34" charset="-122"/>
                <a:cs typeface="Consolas" pitchFamily="34" charset="-120"/>
              </a:rPr>
              <a:t>Diskon</a:t>
            </a:r>
            <a:r>
              <a:rPr lang="id-ID" altLang="en-US" sz="2000" dirty="0">
                <a:solidFill>
                  <a:srgbClr val="1F2328"/>
                </a:solidFill>
              </a:rPr>
              <a:t> ternyata </a:t>
            </a:r>
            <a:r>
              <a:rPr lang="id-ID" altLang="en-US" sz="2000" i="1" dirty="0">
                <a:solidFill>
                  <a:srgbClr val="1F2328"/>
                </a:solidFill>
              </a:rPr>
              <a:t>Strategy</a:t>
            </a:r>
            <a:r>
              <a:rPr lang="id-ID" altLang="en-US" sz="2000" dirty="0">
                <a:solidFill>
                  <a:srgbClr val="1F2328"/>
                </a:solidFill>
              </a:rPr>
              <a:t>.</a:t>
            </a:r>
            <a:endParaRPr lang="id-ID" sz="2000" dirty="0"/>
          </a:p>
        </p:txBody>
      </p:sp>
      <p:sp>
        <p:nvSpPr>
          <p:cNvPr id="20" name="Shape 12"/>
          <p:cNvSpPr/>
          <p:nvPr/>
        </p:nvSpPr>
        <p:spPr>
          <a:xfrm>
            <a:off x="548640" y="4645787"/>
            <a:ext cx="294386" cy="294386"/>
          </a:xfrm>
          <a:prstGeom prst="ellipse">
            <a:avLst/>
          </a:prstGeom>
          <a:solidFill>
            <a:srgbClr val="1A7F37"/>
          </a:solidFill>
          <a:ln/>
        </p:spPr>
      </p:sp>
      <p:pic>
        <p:nvPicPr>
          <p:cNvPr id="21" name="Image 6" descr="preencoded.png">    </p:cNvPr>
          <p:cNvPicPr>
            <a:picLocks noChangeAspect="1"/>
          </p:cNvPicPr>
          <p:nvPr/>
        </p:nvPicPr>
        <p:blipFill>
          <a:blip r:embed="rId7"/>
          <a:stretch>
            <a:fillRect/>
          </a:stretch>
        </p:blipFill>
        <p:spPr>
          <a:xfrm>
            <a:off x="613405" y="4710552"/>
            <a:ext cx="164856" cy="164856"/>
          </a:xfrm>
          <a:prstGeom prst="rect">
            <a:avLst/>
          </a:prstGeom>
        </p:spPr>
      </p:pic>
      <p:sp>
        <p:nvSpPr>
          <p:cNvPr id="22" name="Text 13"/>
          <p:cNvSpPr txBox="1"/>
          <p:nvPr/>
        </p:nvSpPr>
        <p:spPr>
          <a:xfrm>
            <a:off x="1051560" y="4638040"/>
            <a:ext cx="10591495" cy="665480"/>
          </a:xfrm>
          <a:prstGeom prst="rect">
            <a:avLst/>
          </a:prstGeom>
          <a:noFill/>
          <a:ln/>
        </p:spPr>
        <p:txBody>
          <a:bodyPr wrap="square" lIns="0" tIns="0" rIns="0" bIns="0" rtlCol="0" anchor="t"/>
          <a:lstStyle/>
          <a:p>
            <a:pPr indent="0" marL="0">
              <a:buNone/>
            </a:pPr>
            <a:r>
              <a:rPr lang="id-ID" altLang="en-US" sz="2000" b="1" i="1" dirty="0">
                <a:solidFill>
                  <a:srgbClr val="1F2328"/>
                </a:solidFill>
              </a:rPr>
              <a:t>Observer</a:t>
            </a:r>
            <a:r>
              <a:rPr lang="id-ID" altLang="en-US" sz="2000" dirty="0">
                <a:solidFill>
                  <a:srgbClr val="1F2328"/>
                </a:solidFill>
              </a:rPr>
              <a:t>: </a:t>
            </a:r>
            <a:r>
              <a:rPr lang="id-ID" altLang="en-US" sz="2000" i="1" dirty="0">
                <a:solidFill>
                  <a:srgbClr val="1F2328"/>
                </a:solidFill>
              </a:rPr>
              <a:t>subject</a:t>
            </a:r>
            <a:r>
              <a:rPr lang="id-ID" altLang="en-US" sz="2000" dirty="0">
                <a:solidFill>
                  <a:srgbClr val="1F2328"/>
                </a:solidFill>
              </a:rPr>
              <a:t> mengabari semua pengamat. </a:t>
            </a:r>
            <a:r>
              <a:rPr lang="id-ID" altLang="en-US" sz="2000" i="1" dirty="0">
                <a:solidFill>
                  <a:srgbClr val="1F2328"/>
                </a:solidFill>
              </a:rPr>
              <a:t>Push</a:t>
            </a:r>
            <a:r>
              <a:rPr lang="id-ID" altLang="en-US" sz="2000" dirty="0">
                <a:solidFill>
                  <a:srgbClr val="1F2328"/>
                </a:solidFill>
              </a:rPr>
              <a:t> mengirim data, </a:t>
            </a:r>
            <a:r>
              <a:rPr lang="id-ID" altLang="en-US" sz="2000" i="1" dirty="0">
                <a:solidFill>
                  <a:srgbClr val="1F2328"/>
                </a:solidFill>
              </a:rPr>
              <a:t>pull</a:t>
            </a:r>
            <a:r>
              <a:rPr lang="id-ID" altLang="en-US" sz="2000" dirty="0">
                <a:solidFill>
                  <a:srgbClr val="1F2328"/>
                </a:solidFill>
              </a:rPr>
              <a:t> mengirim </a:t>
            </a:r>
            <a:r>
              <a:rPr lang="id-ID" altLang="en-US" sz="2000" i="1" dirty="0">
                <a:solidFill>
                  <a:srgbClr val="1F2328"/>
                </a:solidFill>
              </a:rPr>
              <a:t>subject</a:t>
            </a:r>
            <a:r>
              <a:rPr lang="id-ID" altLang="en-US" sz="2000" dirty="0">
                <a:solidFill>
                  <a:srgbClr val="1F2328"/>
                </a:solidFill>
              </a:rPr>
              <a:t>; KedaiKita memakai </a:t>
            </a:r>
            <a:r>
              <a:rPr lang="id-ID" altLang="en-US" sz="2000" i="1" dirty="0">
                <a:solidFill>
                  <a:srgbClr val="1F2328"/>
                </a:solidFill>
              </a:rPr>
              <a:t>pull</a:t>
            </a:r>
            <a:r>
              <a:rPr lang="id-ID" altLang="en-US" sz="2000" dirty="0">
                <a:solidFill>
                  <a:srgbClr val="1F2328"/>
                </a:solidFill>
              </a:rPr>
              <a:t>.</a:t>
            </a:r>
            <a:endParaRPr lang="id-ID" sz="2000" dirty="0"/>
          </a:p>
        </p:txBody>
      </p:sp>
      <p:sp>
        <p:nvSpPr>
          <p:cNvPr id="23" name="Shape 14"/>
          <p:cNvSpPr/>
          <p:nvPr/>
        </p:nvSpPr>
        <p:spPr>
          <a:xfrm>
            <a:off x="548640" y="5466715"/>
            <a:ext cx="294386" cy="294386"/>
          </a:xfrm>
          <a:prstGeom prst="ellipse">
            <a:avLst/>
          </a:prstGeom>
          <a:solidFill>
            <a:srgbClr val="1A7F37"/>
          </a:solidFill>
          <a:ln/>
        </p:spPr>
      </p:sp>
      <p:pic>
        <p:nvPicPr>
          <p:cNvPr id="24" name="Image 7" descr="preencoded.png">    </p:cNvPr>
          <p:cNvPicPr>
            <a:picLocks noChangeAspect="1"/>
          </p:cNvPicPr>
          <p:nvPr/>
        </p:nvPicPr>
        <p:blipFill>
          <a:blip r:embed="rId8"/>
          <a:stretch>
            <a:fillRect/>
          </a:stretch>
        </p:blipFill>
        <p:spPr>
          <a:xfrm>
            <a:off x="613405" y="5531480"/>
            <a:ext cx="164856" cy="164856"/>
          </a:xfrm>
          <a:prstGeom prst="rect">
            <a:avLst/>
          </a:prstGeom>
        </p:spPr>
      </p:pic>
      <p:sp>
        <p:nvSpPr>
          <p:cNvPr id="25" name="Text 15"/>
          <p:cNvSpPr txBox="1"/>
          <p:nvPr/>
        </p:nvSpPr>
        <p:spPr>
          <a:xfrm>
            <a:off x="1051560" y="5458968"/>
            <a:ext cx="10591495" cy="665480"/>
          </a:xfrm>
          <a:prstGeom prst="rect">
            <a:avLst/>
          </a:prstGeom>
          <a:noFill/>
          <a:ln/>
        </p:spPr>
        <p:txBody>
          <a:bodyPr wrap="square" lIns="0" tIns="0" rIns="0" bIns="0" rtlCol="0" anchor="t"/>
          <a:lstStyle/>
          <a:p>
            <a:pPr indent="0" marL="0">
              <a:buNone/>
            </a:pPr>
            <a:r>
              <a:rPr lang="id-ID" altLang="en-US" sz="2000" dirty="0">
                <a:solidFill>
                  <a:srgbClr val="1F2328"/>
                </a:solidFill>
              </a:rPr>
              <a:t>KedaiKita kini punya </a:t>
            </a:r>
            <a:r>
              <a:rPr lang="id-ID" altLang="en-US" sz="2000" dirty="0">
                <a:solidFill>
                  <a:srgbClr val="1F2328"/>
                </a:solidFill>
                <a:latin typeface="Consolas" pitchFamily="34" charset="0"/>
                <a:ea typeface="Consolas" pitchFamily="34" charset="-122"/>
                <a:cs typeface="Consolas" pitchFamily="34" charset="-120"/>
              </a:rPr>
              <a:t>PengaturanKedai</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PembayaranFactory</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DiskonHappyHour</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LayarDapur</a:t>
            </a:r>
            <a:r>
              <a:rPr lang="id-ID" altLang="en-US" sz="2000" dirty="0">
                <a:solidFill>
                  <a:srgbClr val="1F2328"/>
                </a:solidFill>
              </a:rPr>
              <a:t>, dan </a:t>
            </a:r>
            <a:r>
              <a:rPr lang="id-ID" altLang="en-US" sz="2000" dirty="0">
                <a:solidFill>
                  <a:srgbClr val="1F2328"/>
                </a:solidFill>
                <a:latin typeface="Consolas" pitchFamily="34" charset="0"/>
                <a:ea typeface="Consolas" pitchFamily="34" charset="-122"/>
                <a:cs typeface="Consolas" pitchFamily="34" charset="-120"/>
              </a:rPr>
              <a:t>NotifikasiPelanggan</a:t>
            </a:r>
            <a:r>
              <a:rPr lang="id-ID" altLang="en-US" sz="2000" dirty="0">
                <a:solidFill>
                  <a:srgbClr val="1F2328"/>
                </a:solidFill>
              </a:rPr>
              <a:t>.</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FFFFFF"/>
                </a:solidFill>
              </a:rPr>
              <a:t>Langkah Berikutnya</a:t>
            </a:r>
            <a:endParaRPr lang="id-ID" sz="3200" dirty="0"/>
          </a:p>
        </p:txBody>
      </p:sp>
      <p:sp>
        <p:nvSpPr>
          <p:cNvPr id="5" name="Shape 2"/>
          <p:cNvSpPr/>
          <p:nvPr/>
        </p:nvSpPr>
        <p:spPr>
          <a:xfrm>
            <a:off x="603504" y="1503680"/>
            <a:ext cx="137160" cy="137160"/>
          </a:xfrm>
          <a:prstGeom prst="roundRect">
            <a:avLst>
              <a:gd name="adj" fmla="val 166667"/>
            </a:avLst>
          </a:prstGeom>
          <a:solidFill>
            <a:srgbClr val="FB8F44"/>
          </a:solidFill>
          <a:ln/>
        </p:spPr>
      </p:sp>
      <p:sp>
        <p:nvSpPr>
          <p:cNvPr id="6" name="Text 3"/>
          <p:cNvSpPr txBox="1"/>
          <p:nvPr/>
        </p:nvSpPr>
        <p:spPr>
          <a:xfrm>
            <a:off x="932688" y="1417320"/>
            <a:ext cx="7114032" cy="665480"/>
          </a:xfrm>
          <a:prstGeom prst="rect">
            <a:avLst/>
          </a:prstGeom>
          <a:noFill/>
          <a:ln/>
        </p:spPr>
        <p:txBody>
          <a:bodyPr wrap="square" lIns="0" tIns="0" rIns="0" bIns="0" rtlCol="0" anchor="t"/>
          <a:lstStyle/>
          <a:p>
            <a:pPr indent="0" marL="0">
              <a:buNone/>
            </a:pPr>
            <a:r>
              <a:rPr lang="id-ID" altLang="en-US" sz="2000" dirty="0">
                <a:solidFill>
                  <a:srgbClr val="FFFFFF"/>
                </a:solidFill>
              </a:rPr>
              <a:t>Jalankan contoh 01⁠—⁠07 dan studi kasus KedaiKita di jalur pilihanmu.</a:t>
            </a:r>
            <a:endParaRPr lang="id-ID" sz="2000" dirty="0"/>
          </a:p>
        </p:txBody>
      </p:sp>
      <p:sp>
        <p:nvSpPr>
          <p:cNvPr id="7" name="Shape 4"/>
          <p:cNvSpPr/>
          <p:nvPr/>
        </p:nvSpPr>
        <p:spPr>
          <a:xfrm>
            <a:off x="603504" y="2306320"/>
            <a:ext cx="137160" cy="137160"/>
          </a:xfrm>
          <a:prstGeom prst="roundRect">
            <a:avLst>
              <a:gd name="adj" fmla="val 166667"/>
            </a:avLst>
          </a:prstGeom>
          <a:solidFill>
            <a:srgbClr val="FB8F44"/>
          </a:solidFill>
          <a:ln/>
        </p:spPr>
      </p:sp>
      <p:sp>
        <p:nvSpPr>
          <p:cNvPr id="8" name="Text 5"/>
          <p:cNvSpPr txBox="1"/>
          <p:nvPr/>
        </p:nvSpPr>
        <p:spPr>
          <a:xfrm>
            <a:off x="932688" y="2219960"/>
            <a:ext cx="7114032" cy="665480"/>
          </a:xfrm>
          <a:prstGeom prst="rect">
            <a:avLst/>
          </a:prstGeom>
          <a:noFill/>
          <a:ln/>
        </p:spPr>
        <p:txBody>
          <a:bodyPr wrap="square" lIns="0" tIns="0" rIns="0" bIns="0" rtlCol="0" anchor="t"/>
          <a:lstStyle/>
          <a:p>
            <a:pPr indent="0" marL="0">
              <a:buNone/>
            </a:pPr>
            <a:r>
              <a:rPr lang="id-ID" altLang="en-US" sz="2000" dirty="0">
                <a:solidFill>
                  <a:srgbClr val="FFFFFF"/>
                </a:solidFill>
              </a:rPr>
              <a:t>Ubah pajak menjadi 11% di salinan </a:t>
            </a:r>
            <a:r>
              <a:rPr lang="id-ID" altLang="en-US" sz="2000" dirty="0">
                <a:solidFill>
                  <a:srgbClr val="DDF4FF"/>
                </a:solidFill>
                <a:latin typeface="Consolas" pitchFamily="34" charset="0"/>
                <a:ea typeface="Consolas" pitchFamily="34" charset="-122"/>
                <a:cs typeface="Consolas" pitchFamily="34" charset="-120"/>
              </a:rPr>
              <a:t>main.py</a:t>
            </a:r>
            <a:r>
              <a:rPr lang="id-ID" altLang="en-US" sz="2000" dirty="0">
                <a:solidFill>
                  <a:srgbClr val="FFFFFF"/>
                </a:solidFill>
              </a:rPr>
              <a:t> atau </a:t>
            </a:r>
            <a:r>
              <a:rPr lang="id-ID" altLang="en-US" sz="2000" dirty="0">
                <a:solidFill>
                  <a:srgbClr val="DDF4FF"/>
                </a:solidFill>
                <a:latin typeface="Consolas" pitchFamily="34" charset="0"/>
                <a:ea typeface="Consolas" pitchFamily="34" charset="-122"/>
                <a:cs typeface="Consolas" pitchFamily="34" charset="-120"/>
              </a:rPr>
              <a:t>Main.java</a:t>
            </a:r>
            <a:r>
              <a:rPr lang="id-ID" altLang="en-US" sz="2000" dirty="0">
                <a:solidFill>
                  <a:srgbClr val="FFFFFF"/>
                </a:solidFill>
              </a:rPr>
              <a:t>; tebak dulu total pesanan Budi dan isi struknya.</a:t>
            </a:r>
            <a:endParaRPr lang="id-ID" sz="2000" dirty="0"/>
          </a:p>
        </p:txBody>
      </p:sp>
      <p:sp>
        <p:nvSpPr>
          <p:cNvPr id="9" name="Shape 6"/>
          <p:cNvSpPr/>
          <p:nvPr/>
        </p:nvSpPr>
        <p:spPr>
          <a:xfrm>
            <a:off x="603504" y="3108960"/>
            <a:ext cx="137160" cy="137160"/>
          </a:xfrm>
          <a:prstGeom prst="roundRect">
            <a:avLst>
              <a:gd name="adj" fmla="val 166667"/>
            </a:avLst>
          </a:prstGeom>
          <a:solidFill>
            <a:srgbClr val="FB8F44"/>
          </a:solidFill>
          <a:ln/>
        </p:spPr>
      </p:sp>
      <p:sp>
        <p:nvSpPr>
          <p:cNvPr id="10" name="Text 7"/>
          <p:cNvSpPr txBox="1"/>
          <p:nvPr/>
        </p:nvSpPr>
        <p:spPr>
          <a:xfrm>
            <a:off x="932688" y="3022600"/>
            <a:ext cx="7114032" cy="355600"/>
          </a:xfrm>
          <a:prstGeom prst="rect">
            <a:avLst/>
          </a:prstGeom>
          <a:noFill/>
          <a:ln/>
        </p:spPr>
        <p:txBody>
          <a:bodyPr wrap="square" lIns="0" tIns="0" rIns="0" bIns="0" rtlCol="0" anchor="t"/>
          <a:lstStyle/>
          <a:p>
            <a:pPr indent="0" marL="0">
              <a:buNone/>
            </a:pPr>
            <a:r>
              <a:rPr lang="id-ID" altLang="en-US" sz="2000" dirty="0">
                <a:solidFill>
                  <a:srgbClr val="FFFFFF"/>
                </a:solidFill>
              </a:rPr>
              <a:t>Kerjakan latihan, lalu cek pemahamanmu dengan kuis 10 soal.</a:t>
            </a:r>
            <a:endParaRPr lang="id-ID" sz="2000" dirty="0"/>
          </a:p>
        </p:txBody>
      </p:sp>
      <p:sp>
        <p:nvSpPr>
          <p:cNvPr id="11" name="Text 8"/>
          <p:cNvSpPr txBox="1"/>
          <p:nvPr/>
        </p:nvSpPr>
        <p:spPr>
          <a:xfrm>
            <a:off x="548640" y="3652520"/>
            <a:ext cx="7498080" cy="365760"/>
          </a:xfrm>
          <a:prstGeom prst="rect">
            <a:avLst/>
          </a:prstGeom>
          <a:noFill/>
          <a:ln/>
        </p:spPr>
        <p:txBody>
          <a:bodyPr wrap="square" lIns="0" tIns="0" rIns="0" bIns="0" rtlCol="0" anchor="t"/>
          <a:lstStyle/>
          <a:p>
            <a:pPr indent="0" marL="0">
              <a:buNone/>
            </a:pPr>
            <a:r>
              <a:rPr lang="id-ID" altLang="en-US" sz="1700" b="1" dirty="0">
                <a:solidFill>
                  <a:srgbClr val="C9D7E8"/>
                </a:solidFill>
              </a:rPr>
              <a:t>Buka bahan pertemuan ini di GitHub:</a:t>
            </a:r>
            <a:endParaRPr lang="id-ID" sz="1700" dirty="0"/>
          </a:p>
        </p:txBody>
      </p:sp>
      <p:sp>
        <p:nvSpPr>
          <p:cNvPr id="12" name="Shape 9"/>
          <p:cNvSpPr/>
          <p:nvPr/>
        </p:nvSpPr>
        <p:spPr>
          <a:xfrm>
            <a:off x="548640" y="4109720"/>
            <a:ext cx="3666744" cy="457200"/>
          </a:xfrm>
          <a:prstGeom prst="roundRect">
            <a:avLst>
              <a:gd name="adj" fmla="val 100000"/>
            </a:avLst>
          </a:prstGeom>
          <a:solidFill>
            <a:srgbClr val="12407F"/>
          </a:solidFill>
          <a:ln w="12700">
            <a:solidFill>
              <a:srgbClr val="2F6FB5"/>
            </a:solidFill>
            <a:prstDash val="solid"/>
          </a:ln>
        </p:spPr>
      </p:sp>
      <p:pic>
        <p:nvPicPr>
          <p:cNvPr id="13" name="Image 1" descr="preencoded.png">    </p:cNvPr>
          <p:cNvPicPr>
            <a:picLocks noChangeAspect="1"/>
          </p:cNvPicPr>
          <p:nvPr/>
        </p:nvPicPr>
        <p:blipFill>
          <a:blip r:embed="rId2"/>
          <a:stretch>
            <a:fillRect/>
          </a:stretch>
        </p:blipFill>
        <p:spPr>
          <a:xfrm>
            <a:off x="694944" y="4210304"/>
            <a:ext cx="256032" cy="256032"/>
          </a:xfrm>
          <a:prstGeom prst="rect">
            <a:avLst/>
          </a:prstGeom>
        </p:spPr>
      </p:pic>
      <p:sp>
        <p:nvSpPr>
          <p:cNvPr id="14" name="Text 10"/>
          <p:cNvSpPr txBox="1"/>
          <p:nvPr/>
        </p:nvSpPr>
        <p:spPr>
          <a:xfrm>
            <a:off x="1051560" y="4109720"/>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3" invalidUrl="" action="" tgtFrame="" tooltip="README.md" history="1" highlightClick="0" endSnd="0">
                  <a:extLst>
                    <a:ext uri="{A12FA001-AC4F-418D-AE19-62706E023703}">
                      <ahyp:hlinkClr xmlns:ahyp="http://schemas.microsoft.com/office/drawing/2018/hyperlinkcolor" val="tx"/>
                    </a:ext>
                  </a:extLst>
                </a:hlinkClick>
              </a:rPr>
              <a:t>Konsep</a:t>
            </a:r>
            <a:endParaRPr lang="id-ID" sz="1600" dirty="0"/>
          </a:p>
        </p:txBody>
      </p:sp>
      <p:sp>
        <p:nvSpPr>
          <p:cNvPr id="15" name="Shape 11"/>
          <p:cNvSpPr/>
          <p:nvPr/>
        </p:nvSpPr>
        <p:spPr>
          <a:xfrm>
            <a:off x="4379976" y="4109720"/>
            <a:ext cx="3666744" cy="457200"/>
          </a:xfrm>
          <a:prstGeom prst="roundRect">
            <a:avLst>
              <a:gd name="adj" fmla="val 100000"/>
            </a:avLst>
          </a:prstGeom>
          <a:solidFill>
            <a:srgbClr val="12407F"/>
          </a:solidFill>
          <a:ln w="12700">
            <a:solidFill>
              <a:srgbClr val="2F6FB5"/>
            </a:solidFill>
            <a:prstDash val="solid"/>
          </a:ln>
        </p:spPr>
      </p:sp>
      <p:pic>
        <p:nvPicPr>
          <p:cNvPr id="16" name="Image 2" descr="preencoded.png">    </p:cNvPr>
          <p:cNvPicPr>
            <a:picLocks noChangeAspect="1"/>
          </p:cNvPicPr>
          <p:nvPr/>
        </p:nvPicPr>
        <p:blipFill>
          <a:blip r:embed="rId4"/>
          <a:stretch>
            <a:fillRect/>
          </a:stretch>
        </p:blipFill>
        <p:spPr>
          <a:xfrm>
            <a:off x="4526280" y="4210304"/>
            <a:ext cx="256032" cy="256032"/>
          </a:xfrm>
          <a:prstGeom prst="rect">
            <a:avLst/>
          </a:prstGeom>
        </p:spPr>
      </p:pic>
      <p:sp>
        <p:nvSpPr>
          <p:cNvPr id="17" name="Text 12"/>
          <p:cNvSpPr txBox="1"/>
          <p:nvPr/>
        </p:nvSpPr>
        <p:spPr>
          <a:xfrm>
            <a:off x="4882896" y="4109720"/>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5" invalidUrl="" action="" tgtFrame="" tooltip="python/README.md" history="1" highlightClick="0" endSnd="0">
                  <a:extLst>
                    <a:ext uri="{A12FA001-AC4F-418D-AE19-62706E023703}">
                      <ahyp:hlinkClr xmlns:ahyp="http://schemas.microsoft.com/office/drawing/2018/hyperlinkcolor" val="tx"/>
                    </a:ext>
                  </a:extLst>
                </a:hlinkClick>
              </a:rPr>
              <a:t>Praktik Python</a:t>
            </a:r>
            <a:endParaRPr lang="id-ID" sz="1600" dirty="0"/>
          </a:p>
        </p:txBody>
      </p:sp>
      <p:sp>
        <p:nvSpPr>
          <p:cNvPr id="18" name="Shape 13"/>
          <p:cNvSpPr/>
          <p:nvPr/>
        </p:nvSpPr>
        <p:spPr>
          <a:xfrm>
            <a:off x="548640" y="4694936"/>
            <a:ext cx="3666744" cy="457200"/>
          </a:xfrm>
          <a:prstGeom prst="roundRect">
            <a:avLst>
              <a:gd name="adj" fmla="val 100000"/>
            </a:avLst>
          </a:prstGeom>
          <a:solidFill>
            <a:srgbClr val="12407F"/>
          </a:solidFill>
          <a:ln w="12700">
            <a:solidFill>
              <a:srgbClr val="2F6FB5"/>
            </a:solidFill>
            <a:prstDash val="solid"/>
          </a:ln>
        </p:spPr>
      </p:sp>
      <p:pic>
        <p:nvPicPr>
          <p:cNvPr id="19" name="Image 3" descr="preencoded.png">    </p:cNvPr>
          <p:cNvPicPr>
            <a:picLocks noChangeAspect="1"/>
          </p:cNvPicPr>
          <p:nvPr/>
        </p:nvPicPr>
        <p:blipFill>
          <a:blip r:embed="rId6"/>
          <a:stretch>
            <a:fillRect/>
          </a:stretch>
        </p:blipFill>
        <p:spPr>
          <a:xfrm>
            <a:off x="694944" y="4795520"/>
            <a:ext cx="256032" cy="256032"/>
          </a:xfrm>
          <a:prstGeom prst="rect">
            <a:avLst/>
          </a:prstGeom>
        </p:spPr>
      </p:pic>
      <p:sp>
        <p:nvSpPr>
          <p:cNvPr id="20" name="Text 14"/>
          <p:cNvSpPr txBox="1"/>
          <p:nvPr/>
        </p:nvSpPr>
        <p:spPr>
          <a:xfrm>
            <a:off x="1051560" y="4694936"/>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7" invalidUrl="" action="" tgtFrame="" tooltip="java/README.md" history="1" highlightClick="0" endSnd="0">
                  <a:extLst>
                    <a:ext uri="{A12FA001-AC4F-418D-AE19-62706E023703}">
                      <ahyp:hlinkClr xmlns:ahyp="http://schemas.microsoft.com/office/drawing/2018/hyperlinkcolor" val="tx"/>
                    </a:ext>
                  </a:extLst>
                </a:hlinkClick>
              </a:rPr>
              <a:t>Praktik Java</a:t>
            </a:r>
            <a:endParaRPr lang="id-ID" sz="1600" dirty="0"/>
          </a:p>
        </p:txBody>
      </p:sp>
      <p:sp>
        <p:nvSpPr>
          <p:cNvPr id="21" name="Shape 15"/>
          <p:cNvSpPr/>
          <p:nvPr/>
        </p:nvSpPr>
        <p:spPr>
          <a:xfrm>
            <a:off x="4379976" y="4694936"/>
            <a:ext cx="3666744" cy="457200"/>
          </a:xfrm>
          <a:prstGeom prst="roundRect">
            <a:avLst>
              <a:gd name="adj" fmla="val 100000"/>
            </a:avLst>
          </a:prstGeom>
          <a:solidFill>
            <a:srgbClr val="12407F"/>
          </a:solidFill>
          <a:ln w="12700">
            <a:solidFill>
              <a:srgbClr val="2F6FB5"/>
            </a:solidFill>
            <a:prstDash val="solid"/>
          </a:ln>
        </p:spPr>
      </p:sp>
      <p:pic>
        <p:nvPicPr>
          <p:cNvPr id="22" name="Image 4" descr="preencoded.png">    </p:cNvPr>
          <p:cNvPicPr>
            <a:picLocks noChangeAspect="1"/>
          </p:cNvPicPr>
          <p:nvPr/>
        </p:nvPicPr>
        <p:blipFill>
          <a:blip r:embed="rId8"/>
          <a:stretch>
            <a:fillRect/>
          </a:stretch>
        </p:blipFill>
        <p:spPr>
          <a:xfrm>
            <a:off x="4526280" y="4795520"/>
            <a:ext cx="256032" cy="256032"/>
          </a:xfrm>
          <a:prstGeom prst="rect">
            <a:avLst/>
          </a:prstGeom>
        </p:spPr>
      </p:pic>
      <p:sp>
        <p:nvSpPr>
          <p:cNvPr id="23" name="Text 16"/>
          <p:cNvSpPr txBox="1"/>
          <p:nvPr/>
        </p:nvSpPr>
        <p:spPr>
          <a:xfrm>
            <a:off x="4882896" y="4694936"/>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9" invalidUrl="" action="" tgtFrame="" tooltip="jembatan-python-java.md" history="1" highlightClick="0" endSnd="0">
                  <a:extLst>
                    <a:ext uri="{A12FA001-AC4F-418D-AE19-62706E023703}">
                      <ahyp:hlinkClr xmlns:ahyp="http://schemas.microsoft.com/office/drawing/2018/hyperlinkcolor" val="tx"/>
                    </a:ext>
                  </a:extLst>
                </a:hlinkClick>
              </a:rPr>
              <a:t>Jembatan Python ↔ Java</a:t>
            </a:r>
            <a:endParaRPr lang="id-ID" sz="1600" dirty="0"/>
          </a:p>
        </p:txBody>
      </p:sp>
      <p:sp>
        <p:nvSpPr>
          <p:cNvPr id="24" name="Shape 17"/>
          <p:cNvSpPr/>
          <p:nvPr/>
        </p:nvSpPr>
        <p:spPr>
          <a:xfrm>
            <a:off x="548640" y="5280152"/>
            <a:ext cx="3666744" cy="457200"/>
          </a:xfrm>
          <a:prstGeom prst="roundRect">
            <a:avLst>
              <a:gd name="adj" fmla="val 100000"/>
            </a:avLst>
          </a:prstGeom>
          <a:solidFill>
            <a:srgbClr val="12407F"/>
          </a:solidFill>
          <a:ln w="12700">
            <a:solidFill>
              <a:srgbClr val="2F6FB5"/>
            </a:solidFill>
            <a:prstDash val="solid"/>
          </a:ln>
        </p:spPr>
      </p:sp>
      <p:pic>
        <p:nvPicPr>
          <p:cNvPr id="25" name="Image 5" descr="preencoded.png">    </p:cNvPr>
          <p:cNvPicPr>
            <a:picLocks noChangeAspect="1"/>
          </p:cNvPicPr>
          <p:nvPr/>
        </p:nvPicPr>
        <p:blipFill>
          <a:blip r:embed="rId10"/>
          <a:stretch>
            <a:fillRect/>
          </a:stretch>
        </p:blipFill>
        <p:spPr>
          <a:xfrm>
            <a:off x="694944" y="5380736"/>
            <a:ext cx="256032" cy="256032"/>
          </a:xfrm>
          <a:prstGeom prst="rect">
            <a:avLst/>
          </a:prstGeom>
        </p:spPr>
      </p:pic>
      <p:sp>
        <p:nvSpPr>
          <p:cNvPr id="26" name="Text 18"/>
          <p:cNvSpPr txBox="1"/>
          <p:nvPr/>
        </p:nvSpPr>
        <p:spPr>
          <a:xfrm>
            <a:off x="1051560" y="528015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1" invalidUrl="" action="" tgtFrame="" tooltip="latihan.md" history="1" highlightClick="0" endSnd="0">
                  <a:extLst>
                    <a:ext uri="{A12FA001-AC4F-418D-AE19-62706E023703}">
                      <ahyp:hlinkClr xmlns:ahyp="http://schemas.microsoft.com/office/drawing/2018/hyperlinkcolor" val="tx"/>
                    </a:ext>
                  </a:extLst>
                </a:hlinkClick>
              </a:rPr>
              <a:t>Latihan</a:t>
            </a:r>
            <a:endParaRPr lang="id-ID" sz="1600" dirty="0"/>
          </a:p>
        </p:txBody>
      </p:sp>
      <p:sp>
        <p:nvSpPr>
          <p:cNvPr id="27" name="Shape 19"/>
          <p:cNvSpPr/>
          <p:nvPr/>
        </p:nvSpPr>
        <p:spPr>
          <a:xfrm>
            <a:off x="4379976" y="5280152"/>
            <a:ext cx="3666744" cy="457200"/>
          </a:xfrm>
          <a:prstGeom prst="roundRect">
            <a:avLst>
              <a:gd name="adj" fmla="val 100000"/>
            </a:avLst>
          </a:prstGeom>
          <a:solidFill>
            <a:srgbClr val="12407F"/>
          </a:solidFill>
          <a:ln w="12700">
            <a:solidFill>
              <a:srgbClr val="2F6FB5"/>
            </a:solidFill>
            <a:prstDash val="solid"/>
          </a:ln>
        </p:spPr>
      </p:sp>
      <p:pic>
        <p:nvPicPr>
          <p:cNvPr id="28" name="Image 6" descr="preencoded.png">    </p:cNvPr>
          <p:cNvPicPr>
            <a:picLocks noChangeAspect="1"/>
          </p:cNvPicPr>
          <p:nvPr/>
        </p:nvPicPr>
        <p:blipFill>
          <a:blip r:embed="rId12"/>
          <a:stretch>
            <a:fillRect/>
          </a:stretch>
        </p:blipFill>
        <p:spPr>
          <a:xfrm>
            <a:off x="4526280" y="5380736"/>
            <a:ext cx="256032" cy="256032"/>
          </a:xfrm>
          <a:prstGeom prst="rect">
            <a:avLst/>
          </a:prstGeom>
        </p:spPr>
      </p:pic>
      <p:sp>
        <p:nvSpPr>
          <p:cNvPr id="29" name="Text 20"/>
          <p:cNvSpPr txBox="1"/>
          <p:nvPr/>
        </p:nvSpPr>
        <p:spPr>
          <a:xfrm>
            <a:off x="4882896" y="528015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3" invalidUrl="" action="" tgtFrame="" tooltip="kuis.md" history="1" highlightClick="0" endSnd="0">
                  <a:extLst>
                    <a:ext uri="{A12FA001-AC4F-418D-AE19-62706E023703}">
                      <ahyp:hlinkClr xmlns:ahyp="http://schemas.microsoft.com/office/drawing/2018/hyperlinkcolor" val="tx"/>
                    </a:ext>
                  </a:extLst>
                </a:hlinkClick>
              </a:rPr>
              <a:t>Kuis 10 soal</a:t>
            </a:r>
            <a:endParaRPr lang="id-ID" sz="1600" dirty="0"/>
          </a:p>
        </p:txBody>
      </p:sp>
      <p:sp>
        <p:nvSpPr>
          <p:cNvPr id="30" name="Shape 21"/>
          <p:cNvSpPr/>
          <p:nvPr/>
        </p:nvSpPr>
        <p:spPr>
          <a:xfrm>
            <a:off x="8503920" y="1280160"/>
            <a:ext cx="2880360" cy="2880360"/>
          </a:xfrm>
          <a:prstGeom prst="roundRect">
            <a:avLst>
              <a:gd name="adj" fmla="val 1411"/>
            </a:avLst>
          </a:prstGeom>
          <a:solidFill>
            <a:srgbClr val="FFFFFF"/>
          </a:solidFill>
          <a:ln/>
        </p:spPr>
      </p:sp>
      <p:pic>
        <p:nvPicPr>
          <p:cNvPr id="31" name="Image 7" descr="Kode QR menuju folder pertemuan di GitHub">    </p:cNvPr>
          <p:cNvPicPr>
            <a:picLocks noChangeAspect="1"/>
          </p:cNvPicPr>
          <p:nvPr/>
        </p:nvPicPr>
        <p:blipFill>
          <a:blip r:embed="rId14"/>
          <a:stretch>
            <a:fillRect/>
          </a:stretch>
        </p:blipFill>
        <p:spPr>
          <a:xfrm>
            <a:off x="8641080" y="1417320"/>
            <a:ext cx="2606040" cy="2606040"/>
          </a:xfrm>
          <a:prstGeom prst="rect">
            <a:avLst/>
          </a:prstGeom>
        </p:spPr>
      </p:pic>
      <p:sp>
        <p:nvSpPr>
          <p:cNvPr id="32" name="Text 22"/>
          <p:cNvSpPr txBox="1"/>
          <p:nvPr/>
        </p:nvSpPr>
        <p:spPr>
          <a:xfrm>
            <a:off x="8458200" y="4297680"/>
            <a:ext cx="2971800" cy="640080"/>
          </a:xfrm>
          <a:prstGeom prst="rect">
            <a:avLst/>
          </a:prstGeom>
          <a:noFill/>
          <a:ln/>
        </p:spPr>
        <p:txBody>
          <a:bodyPr wrap="square" lIns="0" tIns="0" rIns="0" bIns="0" rtlCol="0" anchor="t"/>
          <a:lstStyle/>
          <a:p>
            <a:pPr algn="ctr" indent="0" marL="0">
              <a:buNone/>
            </a:pPr>
            <a:r>
              <a:rPr lang="id-ID" altLang="en-US" sz="1400" dirty="0">
                <a:solidFill>
                  <a:srgbClr val="C9D7E8"/>
                </a:solidFill>
              </a:rPr>
              <a:t>Pindai untuk membuka folder pertemuan ini di GitHub</a:t>
            </a:r>
            <a:endParaRPr lang="id-ID" sz="1400" dirty="0"/>
          </a:p>
        </p:txBody>
      </p:sp>
      <p:sp>
        <p:nvSpPr>
          <p:cNvPr id="33" name="Text 23"/>
          <p:cNvSpPr txBox="1"/>
          <p:nvPr/>
        </p:nvSpPr>
        <p:spPr>
          <a:xfrm>
            <a:off x="548640" y="5925312"/>
            <a:ext cx="11094415" cy="320040"/>
          </a:xfrm>
          <a:prstGeom prst="rect">
            <a:avLst/>
          </a:prstGeom>
          <a:noFill/>
          <a:ln/>
        </p:spPr>
        <p:txBody>
          <a:bodyPr wrap="square" lIns="0" tIns="0" rIns="0" bIns="0" rtlCol="0" anchor="ctr"/>
          <a:lstStyle/>
          <a:p>
            <a:pPr indent="0" marL="0">
              <a:buNone/>
            </a:pPr>
            <a:r>
              <a:rPr lang="en-US" altLang="en-US" sz="1300" u="sng" dirty="0">
                <a:solidFill>
                  <a:srgbClr val="54AEFF"/>
                </a:solidFill>
                <a:hlinkClick r:id="rId15" invalidUrl="" action="" tgtFrame="" tooltip="" history="1" highlightClick="0" endSnd="0">
                  <a:extLst>
                    <a:ext uri="{A12FA001-AC4F-418D-AE19-62706E023703}">
                      <ahyp:hlinkClr xmlns:ahyp="http://schemas.microsoft.com/office/drawing/2018/hyperlinkcolor" val="tx"/>
                    </a:ext>
                  </a:extLst>
                </a:hlinkClick>
              </a:rPr>
              <a:t>github.com/antonprafanto/PBO2026/tree/master/Pertemuan-14-Design-Pattern</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PBO 2026">
  <a:themeElements>
    <a:clrScheme name="PBO 2026">
      <a:dk1>
        <a:srgbClr val="1F2328"/>
      </a:dk1>
      <a:lt1>
        <a:srgbClr val="FFFFFF"/>
      </a:lt1>
      <a:dk2>
        <a:srgbClr val="0A3069"/>
      </a:dk2>
      <a:lt2>
        <a:srgbClr val="F6F8FA"/>
      </a:lt2>
      <a:accent1>
        <a:srgbClr val="0969DA"/>
      </a:accent1>
      <a:accent2>
        <a:srgbClr val="BC4C00"/>
      </a:accent2>
      <a:accent3>
        <a:srgbClr val="1A7F37"/>
      </a:accent3>
      <a:accent4>
        <a:srgbClr val="8250DF"/>
      </a:accent4>
      <a:accent5>
        <a:srgbClr val="CF222E"/>
      </a:accent5>
      <a:accent6>
        <a:srgbClr val="9A6700"/>
      </a:accent6>
      <a:hlink>
        <a:srgbClr val="0969DA"/>
      </a:hlink>
      <a:folHlink>
        <a:srgbClr val="8250DF"/>
      </a:folHlink>
    </a:clrScheme>
    <a:fontScheme name="PBO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Informatika Universitas Mulawarman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PBO 2026 Pertemuan 14: Design Pattern Dasar</dc:title>
  <dc:subject>Pemrograman Berorientasi Objek 2026</dc:subject>
  <dc:creator>PBO 2026 UNMUL</dc:creator>
  <cp:lastModifiedBy>PBO 2026 UNMUL</cp:lastModifiedBy>
  <cp:revision>1</cp:revision>
  <dcterms:created xsi:type="dcterms:W3CDTF">2026-10-15T02:18:34Z</dcterms:created>
  <dcterms:modified xsi:type="dcterms:W3CDTF">2026-10-15T02:18:34Z</dcterms:modified>
</cp:coreProperties>
</file>