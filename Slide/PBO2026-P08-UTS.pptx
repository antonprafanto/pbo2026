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95c080e3-69cb-dc58-09b5-d1074dd6e62e}">
          <p14:sldIdLst>
            <p14:sldId id="256"/>
            <p14:sldId id="257"/>
            <p14:sldId id="258"/>
          </p14:sldIdLst>
        </p14:section>
        <p14:section name="Informasi UTS dan Cakupan Materi" id="{28e3f8d8-6515-1710-d31c-597029aaf4c1}">
          <p14:sldIdLst>
            <p14:sldId id="259"/>
            <p14:sldId id="260"/>
            <p14:sldId id="261"/>
            <p14:sldId id="262"/>
          </p14:sldIdLst>
        </p14:section>
        <p14:section name="Kisi-Kisi dan Inti Materi" id="{6e67f142-fd60-9e0a-9139-8391b38c6dc2}">
          <p14:sldIdLst>
            <p14:sldId id="263"/>
            <p14:sldId id="264"/>
            <p14:sldId id="265"/>
          </p14:sldIdLst>
        </p14:section>
        <p14:section name="Strategi Belajar dan Mengerjakan" id="{d4738673-fbe4-442d-865c-d113b5ce51ec}">
          <p14:sldIdLst>
            <p14:sldId id="266"/>
            <p14:sldId id="267"/>
            <p14:sldId id="268"/>
            <p14:sldId id="269"/>
            <p14:sldId id="270"/>
          </p14:sldIdLst>
        </p14:section>
        <p14:section name="Latihan Soal dan Contoh Soal" id="{c242d6f3-2d4c-8bc8-e892-5f6164110383}">
          <p14:sldIdLst>
            <p14:sldId id="271"/>
            <p14:sldId id="272"/>
          </p14:sldIdLst>
        </p14:section>
        <p14:section name="Cek Pemahaman" id="{9cf28b49-077c-0ce6-2a1a-4c4bd74eee31}">
          <p14:sldIdLst>
            <p14:sldId id="273"/>
            <p14:sldId id="274"/>
            <p14:sldId id="275"/>
            <p14:sldId id="276"/>
            <p14:sldId id="277"/>
          </p14:sldIdLst>
        </p14:section>
        <p14:section name="Penutup" id="{087ad2ce-2579-e84b-a57f-d930e8139a84}">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kamu sudah menempuh separuh perjalanan! Sesi ini adalah peta persiapan UTS: apa saja yang diujikan, seberapa dalam, dan bagaimana cara belajarnya. Ingat satu hal penting sejak awal: repositori materi ini publik, jadi semua soal di folder Pertemuan-08-UTS adalah latihan persiapan, bukan soal UTS yang sebenarnya. Jadwal, durasi, bentuk, bobot, dan aturan ujian mengikuti pengumuman dosen.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Sesi ini berbeda dari pertemuan biasa: tidak ada konsep baru. Tujuannya membuatmu siap menghadapi UTS. Kelima tujuan ini mengikuti urutan kemampuan yang diukur: memahami, menelusuri kode, menganalisis kebutuhan, membangun program, lalu menilai kesiapan diri. Urutan belajarnya: halaman Informasi UTS, latihan soal Bagian A dan B, Bagian C (praktik), pembahasan, lalu solusi praktik di jalur Python atau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sesi kita. Kita mulai dari informasi dan cakupan UTS, lalu melihat kisi-kisi latihan dan satu diagram yang merangkum inti materi. Setelah itu kita membahas cara belajar yang efektif, alur mengerjakan soal praktik, dan kesalahan yang sering mengurangi nilai. Terakhir, kita mencoba dua contoh soal dan membedah satu potongan kode solusi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gambaran besar: materi apa saja yang tercakup dan bentuk soal yang umum. Detail resmi ujian selalu mengikuti pengumuman dosen.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Tujuh pertemuan pertama sebenarnya membangun satu cerita utuh. Lihat bagaimana KedaiKita tumbuh: dari tiga </a:t>
            </a:r>
            <a:r>
              <a:rPr lang="id-ID" dirty="0" i="1"/>
              <a:t>list</a:t>
            </a:r>
            <a:r>
              <a:rPr lang="id-ID" dirty="0"/>
              <a:t> terpisah yang datanya tertukar, menjadi kelas </a:t>
            </a:r>
            <a:r>
              <a:rPr lang="en-US" dirty="0">
                <a:latin typeface="Consolas"/>
              </a:rPr>
              <a:t>Menu</a:t>
            </a:r>
            <a:r>
              <a:rPr lang="id-ID" dirty="0"/>
              <a:t>, lalu data yang dilindungi, relasi antarkelas lengkap dengan struk, diagram kelas, dan akhirnya pewarisan. Pertemuan 05 dan 06 ditulis di satu baris karena kodenya sama; Pertemuan 06 menggambarnya sebagai diagram kelas lengkap. Semua konsep itu akan diuji secara terpadu. Jika ada baris yang terasa asing, buka lagi halaman pertemuannya, lalu baca Ringkasan Super Padat di halaman Informasi UTS.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Perhatikan kata biasanya. Halaman Informasi UTS hanya menggambarkan bentuk ujian yang umum untuk mata kuliah pemrograman, bukan aturan resmi. Soal teori menguji pemahaman dan kemampuan membaca kode, sedangkan soal praktik menguji kemampuanmu membangun program dari kebutuhan. Latihan soal di folder ini disusun dengan dua bentuk itu agar kamu terbiasa. Karena repositori ini publik, soal-soalnya memang sengaja bukan soal ujian yang sebenarnya.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Lima hal ini sengaja tidak dijawab di materi karena ketentuannya ada di tangan dosen. Tugasmu adalah mencari jawabannya dari pengumuman resmi, lalu mencatatnya. Pertanyaan bahasa pemrograman penting bagi kita yang belajar dua jalur: pastikan apakah kamu boleh memilih Python atau Java. Menurut halaman Informasi UTS, banyak mahasiswa kehilangan nilai bukan karena tidak paham materi, melainkan karena salah memahami aturan ujian.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Kisi-kisi adalah daftar kemampuan yang diukur beserta tingkat kedalamannya. Kisi-kisi di materi dipakai untuk latihan soal di folder ini; kisi-kisi UTS yang asli bisa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latihan disusun dari empat level kognitif. C2 meminta kamu menjelaskan dengan kata-kata sendiri. C3 meminta kamu memakai konsep pada kode, misalnya menelusuri </a:t>
            </a:r>
            <a:r>
              <a:rPr lang="id-ID" dirty="0" i="1"/>
              <a:t>output</a:t>
            </a:r>
            <a:r>
              <a:rPr lang="id-ID" dirty="0"/>
              <a:t>. C4 meminta kamu memecah masalah, misalnya menentukan jenis relasi dari sebuah deskripsi. C5 meminta kamu menilai sebuah rancangan beserta alasannya. Indikator terakhir di kisi-kisi, yaitu membangun program terpadu dari deskripsi kebutuhan, mencakup level C3 sampai C5 dan diukur lewat soal praktik C1 dan C2. Ingat, tabel ini untuk latihan soal; kisi-kisi UTS yang asli bisa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konsep tujuh pertemuan terlihat sekaligus di diagram kelas KedaiKita versi Pertemuan 07. Kotak adalah kelas, tanda minus berarti privat, dan tanda plus berarti publik. Segitiga kosong adalah pewarisan: makanan dan minuman adalah menu. Belah ketupat kosong antara </a:t>
            </a:r>
            <a:r>
              <a:rPr lang="en-US" dirty="0">
                <a:latin typeface="Consolas"/>
              </a:rPr>
              <a:t>Kedai</a:t>
            </a:r>
            <a:r>
              <a:rPr lang="id-ID" dirty="0"/>
              <a:t> dan </a:t>
            </a:r>
            <a:r>
              <a:rPr lang="en-US" dirty="0">
                <a:latin typeface="Consolas"/>
              </a:rPr>
              <a:t>Menu</a:t>
            </a:r>
            <a:r>
              <a:rPr lang="id-ID" dirty="0"/>
              <a:t> adalah agregasi, belah ketupat penuh antara </a:t>
            </a:r>
            <a:r>
              <a:rPr lang="en-US" dirty="0">
                <a:latin typeface="Consolas"/>
              </a:rPr>
              <a:t>Pesanan</a:t>
            </a:r>
            <a:r>
              <a:rPr lang="id-ID" dirty="0"/>
              <a:t> dan </a:t>
            </a:r>
            <a:r>
              <a:rPr lang="en-US" dirty="0">
                <a:latin typeface="Consolas"/>
              </a:rPr>
              <a:t>ItemPesanan</a:t>
            </a:r>
            <a:r>
              <a:rPr lang="id-ID" dirty="0"/>
              <a:t> adalah komposisi, dan garis berpanah adalah asosiasi. Angka di ujung garis adalah multiplisitas. Latihan yang baik: tutup diagram ini, gambar ulang dari ingatan, lalu cocokkan. Diagram ini diringkas dan memakai gaya nama Java; di Python, </a:t>
            </a:r>
            <a:r>
              <a:rPr lang="en-US" dirty="0">
                <a:latin typeface="Consolas"/>
              </a:rPr>
              <a:t>kurangiStok</a:t>
            </a:r>
            <a:r>
              <a:rPr lang="id-ID" dirty="0"/>
              <a:t> ditulis </a:t>
            </a:r>
            <a:r>
              <a:rPr lang="en-US" dirty="0">
                <a:latin typeface="Consolas"/>
              </a:rPr>
              <a:t>kurangi_stok</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Paham materi saja belum cukup. Bagian ini membahas cara belajar yang benar-benar melatih otak, alur mengerjakan soal praktik, dan kesalahan kecil yang sering mengurangi nilai.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Membaca ulang catatan terasa nyaman, tetapi hasilnya tipis. Yang benar-benar melatih otak adalah mengingat tanpa melihat dan mengerjakan soal. Halaman Informasi UTS memberi contoh rencana tujuh hari: mengerjakan ulang kuis, menebak </a:t>
            </a:r>
            <a:r>
              <a:rPr lang="id-ID" dirty="0" i="1"/>
              <a:t>output</a:t>
            </a:r>
            <a:r>
              <a:rPr lang="id-ID" dirty="0"/>
              <a:t> contoh Pertemuan 03, menulis ulang </a:t>
            </a:r>
            <a:r>
              <a:rPr lang="en-US" dirty="0">
                <a:latin typeface="Consolas"/>
              </a:rPr>
              <a:t>Menu</a:t>
            </a:r>
            <a:r>
              <a:rPr lang="id-ID" dirty="0"/>
              <a:t> versi enkapsulasi, menggambar diagram KedaiKita dari ingatan, menambah kelas anak baru seperti </a:t>
            </a:r>
            <a:r>
              <a:rPr lang="en-US" dirty="0">
                <a:latin typeface="Consolas"/>
              </a:rPr>
              <a:t>Snack</a:t>
            </a:r>
            <a:r>
              <a:rPr lang="id-ID" dirty="0"/>
              <a:t>, lalu mengerjakan latihan soal dengan batas waktu. Yang perlu kamu kuasai adalah pola berpikirnya: menemukan kelas, memilih relasi, melindungi data, dan memakai pewarisan dengan tepat. Simpan kode latihanmu di folder </a:t>
            </a:r>
            <a:r>
              <a:rPr lang="en-US" dirty="0">
                <a:latin typeface="Consolas"/>
              </a:rPr>
              <a:t>PBO-latihan-saya/uts/</a:t>
            </a:r>
            <a:r>
              <a:rPr lang="id-ID" dirty="0"/>
              <a:t>, bukan di folder materi.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Ikuti langkah ini berurutan, dari 1 sampai 7. Baca soal sampai habis, tandai kata benda dan kata kerja, lalu rancang kelas, atribut, </a:t>
            </a:r>
            <a:r>
              <a:rPr lang="id-ID" dirty="0" i="1"/>
              <a:t>method</a:t>
            </a:r>
            <a:r>
              <a:rPr lang="id-ID" dirty="0"/>
              <a:t>, dan relasinya. Buat sketsa diagram kelas singkat sebelum mengetik. Setelah itu, tulis kerangka semua kelas dan </a:t>
            </a:r>
            <a:r>
              <a:rPr lang="en-US" dirty="0">
                <a:latin typeface="Consolas"/>
              </a:rPr>
              <a:t>main</a:t>
            </a:r>
            <a:r>
              <a:rPr lang="id-ID" dirty="0"/>
              <a:t> yang sudah bisa dijalankan, walaupun baru mencetak satu baris. Isi kelas satu per satu, jalankan, dan uji, sampai semua kelas selesai. Terakhir, cocokkan </a:t>
            </a:r>
            <a:r>
              <a:rPr lang="id-ID" dirty="0" i="1"/>
              <a:t>output</a:t>
            </a:r>
            <a:r>
              <a:rPr lang="id-ID" dirty="0"/>
              <a:t> dengan contoh di soal, lalu rapikan. Mulailah dari kelas yang paling mandiri, misalnya </a:t>
            </a:r>
            <a:r>
              <a:rPr lang="en-US" dirty="0">
                <a:latin typeface="Consolas"/>
              </a:rPr>
              <a:t>Mahasiswa</a:t>
            </a:r>
            <a:r>
              <a:rPr lang="id-ID" dirty="0"/>
              <a:t> atau </a:t>
            </a:r>
            <a:r>
              <a:rPr lang="en-US" dirty="0">
                <a:latin typeface="Consolas"/>
              </a:rPr>
              <a:t>Produk</a:t>
            </a:r>
            <a:r>
              <a:rPr lang="id-ID" dirty="0"/>
              <a:t>; kelas pusat seperti </a:t>
            </a:r>
            <a:r>
              <a:rPr lang="en-US" dirty="0">
                <a:latin typeface="Consolas"/>
              </a:rPr>
              <a:t>Laboratorium</a:t>
            </a:r>
            <a:r>
              <a:rPr lang="id-ID" dirty="0"/>
              <a:t> atau </a:t>
            </a:r>
            <a:r>
              <a:rPr lang="en-US" dirty="0">
                <a:latin typeface="Consolas"/>
              </a:rPr>
              <a:t>TokoBuku</a:t>
            </a:r>
            <a:r>
              <a:rPr lang="id-ID" dirty="0"/>
              <a:t> ditulis terakhir.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contoh pembagian waktu untuk satu soal praktik latihan yang disarankan dikerjakan dalam 75 menit. Sekitar menit ke-20 kamu sudah punya kerangka yang bisa dijalankan, walaupun baru mencetak satu baris seperti </a:t>
            </a:r>
            <a:r>
              <a:rPr lang="en-US" dirty="0">
                <a:latin typeface="Consolas"/>
              </a:rPr>
              <a:t>=== UJI AWAL ===</a:t>
            </a:r>
            <a:r>
              <a:rPr lang="id-ID" dirty="0"/>
              <a:t>. Jalankan program setiap selesai menulis 10 sampai 15 baris, karena </a:t>
            </a:r>
            <a:r>
              <a:rPr lang="id-ID" dirty="0" i="1"/>
              <a:t>error</a:t>
            </a:r>
            <a:r>
              <a:rPr lang="id-ID" dirty="0"/>
              <a:t> yang muncul segera jauh lebih mudah diperbaiki daripada 20 </a:t>
            </a:r>
            <a:r>
              <a:rPr lang="id-ID" dirty="0" i="1"/>
              <a:t>error</a:t>
            </a:r>
            <a:r>
              <a:rPr lang="id-ID" dirty="0"/>
              <a:t> yang menumpuk di akhir. Jika buntu, tulis komentar rencana, misalnya </a:t>
            </a:r>
            <a:r>
              <a:rPr lang="en-US" dirty="0">
                <a:latin typeface="Consolas"/>
              </a:rPr>
              <a:t># TODO: hitung ongkir per kg, dibulatkan ke atas</a:t>
            </a:r>
            <a:r>
              <a:rPr lang="id-ID" dirty="0"/>
              <a:t>, lalu kerjakan bagian lain yang pasti bisa. Sisakan waktu untuk menguji kasus gagal, seperti stok kurang atau kode yang tidak ditemukan.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Enam kesalahan ini sering mengurangi nilai, padahal mudah dihindari. Dua di antaranya bahkan muncul sebagai soal latihan: </a:t>
            </a:r>
            <a:r>
              <a:rPr lang="en-US" dirty="0">
                <a:latin typeface="Consolas"/>
              </a:rPr>
              <a:t>__str__</a:t>
            </a:r>
            <a:r>
              <a:rPr lang="id-ID" dirty="0"/>
              <a:t> yang mencetak alih-alih mengembalikan (A6) dan pewarisan untuk hubungan memiliki (A14). Kesalahan lain di halaman Informasi UTS juga perlu dicek: membandingkan teks dengan </a:t>
            </a:r>
            <a:r>
              <a:rPr lang="en-US" dirty="0">
                <a:latin typeface="Consolas"/>
              </a:rPr>
              <a:t>==</a:t>
            </a:r>
            <a:r>
              <a:rPr lang="id-ID" dirty="0"/>
              <a:t> di Java (gunakan </a:t>
            </a:r>
            <a:r>
              <a:rPr lang="en-US" dirty="0">
                <a:latin typeface="Consolas"/>
              </a:rPr>
              <a:t>.equals()</a:t>
            </a:r>
            <a:r>
              <a:rPr lang="id-ID" dirty="0"/>
              <a:t>), memakai bilangan pecahan untuk uang, </a:t>
            </a:r>
            <a:r>
              <a:rPr lang="en-US" dirty="0">
                <a:latin typeface="Consolas"/>
              </a:rPr>
              <a:t>String.format</a:t>
            </a:r>
            <a:r>
              <a:rPr lang="id-ID" dirty="0"/>
              <a:t> tanpa </a:t>
            </a:r>
            <a:r>
              <a:rPr lang="en-US" dirty="0">
                <a:latin typeface="Consolas"/>
              </a:rPr>
              <a:t>Locale.US</a:t>
            </a:r>
            <a:r>
              <a:rPr lang="id-ID" dirty="0"/>
              <a:t>, </a:t>
            </a:r>
            <a:r>
              <a:rPr lang="id-ID" dirty="0" i="1"/>
              <a:t>setter</a:t>
            </a:r>
            <a:r>
              <a:rPr lang="id-ID" dirty="0"/>
              <a:t> yang menyimpan dulu baru memeriksa, mencetak </a:t>
            </a:r>
            <a:r>
              <a:rPr lang="id-ID" dirty="0" i="1"/>
              <a:t>boolean</a:t>
            </a:r>
            <a:r>
              <a:rPr lang="id-ID" dirty="0"/>
              <a:t> apa adanya, dan menebak </a:t>
            </a:r>
            <a:r>
              <a:rPr lang="id-ID" dirty="0" i="1"/>
              <a:t>output</a:t>
            </a:r>
            <a:r>
              <a:rPr lang="id-ID" dirty="0"/>
              <a:t> tanpa menelusuri baris demi baris.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mencicipi latihan soalnya. Kerjakan dulu di kepala sebelum melihat jawaban, persis seperti saat ujian.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Latihan soal terdiri atas tiga bagian. Buat suasananya mirip ujian: siapkan pengatur waktu, tutup catatan, dan jangan membuka pembahasan sebelum selesai. Tidak perlu menyelesaikan semuanya dalam sekali duduk; misalnya Bagian A dan B hari ini, Soal C1 besok, dan Soal C2 lusa, asalkan setiap sesi dikerjakan dengan batas waktu. Soal praktik dinilai dengan rubrik enam aspek sehingga program yang belum selesai tetap bisa mendapat nilai pada aspek yang sudah benar. Rubrik UTS yang asli dapat berbeda; ikuti ketentuan dosenmu. Di </a:t>
            </a:r>
            <a:r>
              <a:rPr lang="id-ID" dirty="0" i="1"/>
              <a:t>checklist</a:t>
            </a:r>
            <a:r>
              <a:rPr lang="id-ID" dirty="0"/>
              <a:t> kesiapan, targetnya skor latihan minimal 70.</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mewakili level C4, yaitu menganalisis jenis relasi dari sebuah deskripsi. Beri waktu sekitar 30 detik. Pertanyaan pembeda yang praktis: jika objek induknya hilang, apakah bagiannya masih bermakna? Jika tidak, berarti komposisi; jika masih, berarti agregasi. Jawaban dan pembahasannya ada di </a:t>
            </a:r>
            <a:r>
              <a:rPr lang="id-ID" dirty="0" i="1"/>
              <a:t>slide</a:t>
            </a:r>
            <a:r>
              <a:rPr lang="id-ID" dirty="0"/>
              <a:t> berikutnya. Soal ini adalah A9 di latihan soal, dan pembahasan lengkapnya ada di </a:t>
            </a:r>
            <a:r>
              <a:rPr lang="id-ID" dirty="0" i="1"/>
              <a:t>file</a:t>
            </a:r>
            <a:r>
              <a:rPr lang="id-ID" dirty="0"/>
              <a:t> pembahasan.md.</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Lantai dibuat </a:t>
            </a:r>
            <a:r>
              <a:rPr lang="id-ID" dirty="0" b="1"/>
              <a:t>di dalam</a:t>
            </a:r>
            <a:r>
              <a:rPr lang="id-ID" dirty="0"/>
              <a:t> gedung dan ikut hilang bersamanya: komposisi. Mahasiswa </a:t>
            </a:r>
            <a:r>
              <a:rPr lang="id-ID" dirty="0" b="1"/>
              <a:t>sudah ada</a:t>
            </a:r>
            <a:r>
              <a:rPr lang="id-ID" dirty="0"/>
              <a:t> sebelumnya dan tetap ada setelah UKM bubar: agregasi. A terbalik. B dan C salah karena dependensi berarti objek lain hanya dipakai sementara, misalnya sebagai parameter </a:t>
            </a:r>
            <a:r>
              <a:rPr lang="id-ID" dirty="0" i="1"/>
              <a:t>method</a:t>
            </a:r>
            <a:r>
              <a:rPr lang="id-ID" dirty="0"/>
              <a:t>, dan tidak disimpan sebagai atribut.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mewakili level C5, yaitu menilai sebuah rancangan beserta alasannya. Ini juga salah satu kesalahan yang sering mengurangi nilai: memakai pewarisan untuk hubungan memiliki. Ingat contoh </a:t>
            </a:r>
            <a:r>
              <a:rPr lang="en-US" dirty="0">
                <a:latin typeface="Consolas"/>
              </a:rPr>
              <a:t>MobilKeliru</a:t>
            </a:r>
            <a:r>
              <a:rPr lang="id-ID" dirty="0"/>
              <a:t> dan </a:t>
            </a:r>
            <a:r>
              <a:rPr lang="en-US" dirty="0">
                <a:latin typeface="Consolas"/>
              </a:rPr>
              <a:t>MobilTepat</a:t>
            </a:r>
            <a:r>
              <a:rPr lang="id-ID" dirty="0"/>
              <a:t> di Pertemuan 07. Jawaban dan pembahasannya ada di </a:t>
            </a:r>
            <a:r>
              <a:rPr lang="id-ID" dirty="0" i="1"/>
              <a:t>slide</a:t>
            </a:r>
            <a:r>
              <a:rPr lang="id-ID" dirty="0"/>
              <a:t> berikutnya. Soal esai B5 tentang rental kendaraan kampus menguji ide yang sama dengan lebih dalam.</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"Mobil </a:t>
            </a:r>
            <a:r>
              <a:rPr lang="id-ID" dirty="0" b="1"/>
              <a:t>adalah</a:t>
            </a:r>
            <a:r>
              <a:rPr lang="id-ID" dirty="0"/>
              <a:t> mesin" janggal, jadi bukan </a:t>
            </a:r>
            <a:r>
              <a:rPr lang="id-ID" dirty="0" i="1"/>
              <a:t>is-a</a:t>
            </a:r>
            <a:r>
              <a:rPr lang="id-ID" dirty="0"/>
              <a:t>; "mobil </a:t>
            </a:r>
            <a:r>
              <a:rPr lang="id-ID" dirty="0" b="1"/>
              <a:t>memiliki</a:t>
            </a:r>
            <a:r>
              <a:rPr lang="id-ID" dirty="0"/>
              <a:t> mesin" wajar, jadi </a:t>
            </a:r>
            <a:r>
              <a:rPr lang="id-ID" dirty="0" i="1"/>
              <a:t>has-a</a:t>
            </a:r>
            <a:r>
              <a:rPr lang="id-ID" dirty="0"/>
              <a:t>, misalnya komposisi. Mobil memakai ulang kemampuan mesin dengan meneruskan tugas ke objek mesinnya. A salah: komposisi juga cara memakai ulang kode. C tidak memperbaiki hubungan yang keliru. D salah: </a:t>
            </a:r>
            <a:r>
              <a:rPr lang="id-ID" dirty="0" i="1"/>
              <a:t>method</a:t>
            </a:r>
            <a:r>
              <a:rPr lang="id-ID" dirty="0"/>
              <a:t> induk justru yang diwariskan.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baris ini memperlihatkan beberapa konsep sekaligus. Baris pertama membuat </a:t>
            </a:r>
            <a:r>
              <a:rPr lang="en-US" dirty="0">
                <a:latin typeface="Consolas"/>
              </a:rPr>
              <a:t>ItemPesanan</a:t>
            </a:r>
            <a:r>
              <a:rPr lang="id-ID" dirty="0"/>
              <a:t> di dalam pesanan, jadi hubungannya komposisi; konstruktornya sekaligus menolak jumlah 0 sebelum stok tersentuh. Baris kedua mengurangi stok lewat </a:t>
            </a:r>
            <a:r>
              <a:rPr lang="id-ID" dirty="0" i="1"/>
              <a:t>method</a:t>
            </a:r>
            <a:r>
              <a:rPr lang="id-ID" dirty="0"/>
              <a:t> penjaga aturan, yang menolak permintaan melebihi stok. Baris ketiga baru menyimpan item jika kedua pemeriksaan lolos. Seandainya urutannya dibalik, yaitu simpan dulu baru kurangi stok, pesanan Budi akan berisi "3 x Negeri 5 Menara" walaupun stoknya hanya 2. Penjelasan lengkap kedua solusi ada di halaman Solusi Python dan Solusi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lima hal yang perlu kamu bawa pulang dari sesi ini. Gunakan halaman Informasi UTS untuk mengulang, bukan untuk belajar dari nol: ringkasan super padat per pertemuan, tabel sintaks penting Python dan Java, dan </a:t>
            </a:r>
            <a:r>
              <a:rPr lang="id-ID" dirty="0" i="1"/>
              <a:t>checklist</a:t>
            </a:r>
            <a:r>
              <a:rPr lang="id-ID" dirty="0"/>
              <a:t> kesiapan ada di sana. Jika ada butir yang terasa asing, buka lagi halaman pertemuannya.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sesi ini ada di folder Pertemuan-08-UTS di GitHub: halaman Informasi UTS, latihan soal, pembahasan, dan solusi praktik dalam dua bahasa. Kerjakan jawabanmu di folder </a:t>
            </a:r>
            <a:r>
              <a:rPr lang="en-US" dirty="0">
                <a:latin typeface="Consolas"/>
              </a:rPr>
              <a:t>PBO-latihan-saya/uts/</a:t>
            </a:r>
            <a:r>
              <a:rPr lang="id-ID" dirty="0"/>
              <a:t>, bukan di folder materi, lalu bandingkan </a:t>
            </a:r>
            <a:r>
              <a:rPr lang="id-ID" dirty="0" i="1"/>
              <a:t>output</a:t>
            </a:r>
            <a:r>
              <a:rPr lang="id-ID" dirty="0"/>
              <a:t>-mu dengan solusi memakai perintah </a:t>
            </a:r>
            <a:r>
              <a:rPr lang="en-US" dirty="0">
                <a:latin typeface="Consolas"/>
              </a:rPr>
              <a:t>fc</a:t>
            </a:r>
            <a:r>
              <a:rPr lang="id-ID" dirty="0"/>
              <a:t> atau </a:t>
            </a:r>
            <a:r>
              <a:rPr lang="en-US" dirty="0">
                <a:latin typeface="Consolas"/>
              </a:rPr>
              <a:t>diff</a:t>
            </a:r>
            <a:r>
              <a:rPr lang="id-ID" dirty="0"/>
              <a:t> seperti di halaman solusi. Pastikan juga kamu sudah membaca pengumuman resmi tentang format UTS. Semoga sukses UTS-nya!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08 · UTS (Ujian Tengah Semester)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08 · UTS (Ujian Tengah Semester)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08 · UTS (Ujian Tengah Semester)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3-7.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3-7.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3-7.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image" Target="../media/image-13-2.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3-7.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3-7.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3-7.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2.png"/><Relationship Id="rId4" Type="http://schemas.openxmlformats.org/officeDocument/2006/relationships/image" Target="../media/image-19-2.png"/><Relationship Id="rId5" Type="http://schemas.openxmlformats.org/officeDocument/2006/relationships/image" Target="../media/image-19-2.png"/><Relationship Id="rId6" Type="http://schemas.openxmlformats.org/officeDocument/2006/relationships/image" Target="../media/image-19-2.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antonprafanto/PBO2026/blob/master/Pertemuan-08-UTS/README.md" TargetMode="External"/><Relationship Id="rId5" Type="http://schemas.openxmlformats.org/officeDocument/2006/relationships/hyperlink" Target="https://github.com/antonprafanto/PBO2026/blob/master/Pertemuan-08-UTS/python/README.md" TargetMode="External"/><Relationship Id="rId7" Type="http://schemas.openxmlformats.org/officeDocument/2006/relationships/hyperlink" Target="https://github.com/antonprafanto/PBO2026/blob/master/Pertemuan-08-UTS/java/README.md" TargetMode="External"/><Relationship Id="rId9" Type="http://schemas.openxmlformats.org/officeDocument/2006/relationships/hyperlink" Target="https://github.com/antonprafanto/PBO2026/blob/master/Pertemuan-08-UTS/latihan-soal.md" TargetMode="External"/><Relationship Id="rId11" Type="http://schemas.openxmlformats.org/officeDocument/2006/relationships/hyperlink" Target="https://github.com/antonprafanto/PBO2026/blob/master/Pertemuan-08-UTS/pembahasan.md" TargetMode="External"/><Relationship Id="rId13" Type="http://schemas.openxmlformats.org/officeDocument/2006/relationships/hyperlink" Target="https://github.com/antonprafanto/PBO2026/tree/master/Pertemuan-08-UTS" TargetMode="External"/><Relationship Id="rId1" Type="http://schemas.openxmlformats.org/officeDocument/2006/relationships/image" Target="../media/image-24-1.png"/><Relationship Id="rId2" Type="http://schemas.openxmlformats.org/officeDocument/2006/relationships/image" Target="../media/image-24-2.png"/><Relationship Id="rId4" Type="http://schemas.openxmlformats.org/officeDocument/2006/relationships/image" Target="../media/image-24-3.png"/><Relationship Id="rId6" Type="http://schemas.openxmlformats.org/officeDocument/2006/relationships/image" Target="../media/image-24-3.png"/><Relationship Id="rId8" Type="http://schemas.openxmlformats.org/officeDocument/2006/relationships/image" Target="../media/image-24-5.png"/><Relationship Id="rId10" Type="http://schemas.openxmlformats.org/officeDocument/2006/relationships/image" Target="../media/image-24-6.png"/><Relationship Id="rId12" Type="http://schemas.openxmlformats.org/officeDocument/2006/relationships/image" Target="../media/image-24-7.png"/><Relationship Id="rId14" Type="http://schemas.openxmlformats.org/officeDocument/2006/relationships/slideLayout" Target="../slideLayouts/slideLayout5.xml"/><Relationship Id="rId1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UTS (Ujian Tengah Semester)</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Peta persiapan UTS: apa saja yang diujikan, seberapa dalam, dan bagaimana cara belajarnya</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08</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kembali konsep inti Pertemuan 01⁠—⁠07 dengan kata-⁠katamu sendiri.</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Menelusuri (</a:t>
            </a:r>
            <a:r>
              <a:rPr lang="id-ID" altLang="en-US" sz="2000" i="1" dirty="0">
                <a:solidFill>
                  <a:srgbClr val="1F2328"/>
                </a:solidFill>
              </a:rPr>
              <a:t>tracing</a:t>
            </a:r>
            <a:r>
              <a:rPr lang="id-ID" altLang="en-US" sz="2000" dirty="0">
                <a:solidFill>
                  <a:srgbClr val="1F2328"/>
                </a:solidFill>
              </a:rPr>
              <a:t>) </a:t>
            </a:r>
            <a:r>
              <a:rPr lang="id-ID" altLang="en-US" sz="2000" i="1" dirty="0">
                <a:solidFill>
                  <a:srgbClr val="1F2328"/>
                </a:solidFill>
              </a:rPr>
              <a:t>output</a:t>
            </a:r>
            <a:r>
              <a:rPr lang="id-ID" altLang="en-US" sz="2000" dirty="0">
                <a:solidFill>
                  <a:srgbClr val="1F2328"/>
                </a:solidFill>
              </a:rPr>
              <a:t> program berorientasi objek sederhana, baik dalam Python maupun Java.</a:t>
            </a:r>
            <a:endParaRPr lang="id-ID" sz="2000" dirty="0"/>
          </a:p>
        </p:txBody>
      </p:sp>
      <p:sp>
        <p:nvSpPr>
          <p:cNvPr id="14" name="Shape 11"/>
          <p:cNvSpPr/>
          <p:nvPr/>
        </p:nvSpPr>
        <p:spPr>
          <a:xfrm>
            <a:off x="548640" y="3361944"/>
            <a:ext cx="5432908" cy="1568704"/>
          </a:xfrm>
          <a:prstGeom prst="roundRect">
            <a:avLst>
              <a:gd name="adj" fmla="val 4077"/>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1294384"/>
          </a:xfrm>
          <a:prstGeom prst="rect">
            <a:avLst/>
          </a:prstGeom>
          <a:noFill/>
          <a:ln/>
        </p:spPr>
        <p:txBody>
          <a:bodyPr wrap="square" lIns="0" tIns="0" rIns="0" bIns="0" rtlCol="0" anchor="t"/>
          <a:lstStyle/>
          <a:p>
            <a:pPr indent="0" marL="0">
              <a:buNone/>
            </a:pPr>
            <a:r>
              <a:rPr lang="id-ID" altLang="en-US" sz="2000" dirty="0">
                <a:solidFill>
                  <a:srgbClr val="1F2328"/>
                </a:solidFill>
              </a:rPr>
              <a:t>Menganalisis deskripsi masalah menjadi kelas, atribut, </a:t>
            </a:r>
            <a:r>
              <a:rPr lang="id-ID" altLang="en-US" sz="2000" i="1" dirty="0">
                <a:solidFill>
                  <a:srgbClr val="1F2328"/>
                </a:solidFill>
              </a:rPr>
              <a:t>method</a:t>
            </a:r>
            <a:r>
              <a:rPr lang="id-ID" altLang="en-US" sz="2000" dirty="0">
                <a:solidFill>
                  <a:srgbClr val="1F2328"/>
                </a:solidFill>
              </a:rPr>
              <a:t>, dan relasi, lalu menggambarkannya sebagai diagram kelas.</a:t>
            </a:r>
            <a:endParaRPr lang="id-ID" sz="2000" dirty="0"/>
          </a:p>
        </p:txBody>
      </p:sp>
      <p:sp>
        <p:nvSpPr>
          <p:cNvPr id="18" name="Shape 15"/>
          <p:cNvSpPr/>
          <p:nvPr/>
        </p:nvSpPr>
        <p:spPr>
          <a:xfrm>
            <a:off x="6210148" y="3361944"/>
            <a:ext cx="5432908" cy="1568704"/>
          </a:xfrm>
          <a:prstGeom prst="roundRect">
            <a:avLst>
              <a:gd name="adj" fmla="val 4077"/>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1294384"/>
          </a:xfrm>
          <a:prstGeom prst="rect">
            <a:avLst/>
          </a:prstGeom>
          <a:noFill/>
          <a:ln/>
        </p:spPr>
        <p:txBody>
          <a:bodyPr wrap="square" lIns="0" tIns="0" rIns="0" bIns="0" rtlCol="0" anchor="t"/>
          <a:lstStyle/>
          <a:p>
            <a:pPr indent="0" marL="0">
              <a:buNone/>
            </a:pPr>
            <a:r>
              <a:rPr lang="id-ID" altLang="en-US" sz="2000" dirty="0">
                <a:solidFill>
                  <a:srgbClr val="1F2328"/>
                </a:solidFill>
              </a:rPr>
              <a:t>Membangun program kecil yang memadukan konstruktor, enkapsulasi dan validasi, relasi antarkelas, pewarisan, serta </a:t>
            </a:r>
            <a:r>
              <a:rPr lang="id-ID" altLang="en-US" sz="2000" i="1" dirty="0">
                <a:solidFill>
                  <a:srgbClr val="1F2328"/>
                </a:solidFill>
              </a:rPr>
              <a:t>list</a:t>
            </a:r>
            <a:r>
              <a:rPr lang="id-ID" altLang="en-US" sz="2000" dirty="0">
                <a:solidFill>
                  <a:srgbClr val="1F2328"/>
                </a:solidFill>
              </a:rPr>
              <a:t> objek.</a:t>
            </a:r>
            <a:endParaRPr lang="id-ID" sz="2000" dirty="0"/>
          </a:p>
        </p:txBody>
      </p:sp>
      <p:sp>
        <p:nvSpPr>
          <p:cNvPr id="22" name="Shape 19"/>
          <p:cNvSpPr/>
          <p:nvPr/>
        </p:nvSpPr>
        <p:spPr>
          <a:xfrm>
            <a:off x="548640" y="5113528"/>
            <a:ext cx="5432908" cy="948944"/>
          </a:xfrm>
          <a:prstGeom prst="roundRect">
            <a:avLst>
              <a:gd name="adj" fmla="val 11142"/>
            </a:avLst>
          </a:prstGeom>
          <a:solidFill>
            <a:srgbClr val="F6F8FA"/>
          </a:solidFill>
          <a:ln w="9525">
            <a:solidFill>
              <a:srgbClr val="D0D7DE"/>
            </a:solidFill>
            <a:prstDash val="solid"/>
          </a:ln>
        </p:spPr>
      </p:sp>
      <p:sp>
        <p:nvSpPr>
          <p:cNvPr id="23" name="Shape 20"/>
          <p:cNvSpPr/>
          <p:nvPr/>
        </p:nvSpPr>
        <p:spPr>
          <a:xfrm>
            <a:off x="777240" y="5278120"/>
            <a:ext cx="457200" cy="457200"/>
          </a:xfrm>
          <a:prstGeom prst="ellipse">
            <a:avLst/>
          </a:prstGeom>
          <a:solidFill>
            <a:srgbClr val="0969DA"/>
          </a:solidFill>
          <a:ln/>
        </p:spPr>
      </p:sp>
      <p:sp>
        <p:nvSpPr>
          <p:cNvPr id="24" name="Text 21"/>
          <p:cNvSpPr txBox="1"/>
          <p:nvPr/>
        </p:nvSpPr>
        <p:spPr>
          <a:xfrm>
            <a:off x="777240" y="52781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5278120"/>
            <a:ext cx="4381348" cy="674624"/>
          </a:xfrm>
          <a:prstGeom prst="rect">
            <a:avLst/>
          </a:prstGeom>
          <a:noFill/>
          <a:ln/>
        </p:spPr>
        <p:txBody>
          <a:bodyPr wrap="square" lIns="0" tIns="0" rIns="0" bIns="0" rtlCol="0" anchor="t"/>
          <a:lstStyle/>
          <a:p>
            <a:pPr indent="0" marL="0">
              <a:buNone/>
            </a:pPr>
            <a:r>
              <a:rPr lang="id-ID" altLang="en-US" sz="2000" dirty="0">
                <a:solidFill>
                  <a:srgbClr val="1F2328"/>
                </a:solidFill>
              </a:rPr>
              <a:t>Menilai kesiapanmu sendiri dengan </a:t>
            </a:r>
            <a:r>
              <a:rPr lang="id-ID" altLang="en-US" sz="2000" i="1" dirty="0">
                <a:solidFill>
                  <a:srgbClr val="1F2328"/>
                </a:solidFill>
              </a:rPr>
              <a:t>checklist</a:t>
            </a:r>
            <a:r>
              <a:rPr lang="id-ID" altLang="en-US" sz="2000" dirty="0">
                <a:solidFill>
                  <a:srgbClr val="1F2328"/>
                </a:solidFill>
              </a:rPr>
              <a:t> dan skor latihan soal.</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2588514"/>
            <a:ext cx="2567864" cy="2165604"/>
          </a:xfrm>
          <a:prstGeom prst="roundRect">
            <a:avLst>
              <a:gd name="adj" fmla="val 2139"/>
            </a:avLst>
          </a:prstGeom>
          <a:solidFill>
            <a:srgbClr val="F6F8FA"/>
          </a:solidFill>
          <a:ln w="9525">
            <a:solidFill>
              <a:srgbClr val="D0D7DE"/>
            </a:solidFill>
            <a:prstDash val="solid"/>
          </a:ln>
        </p:spPr>
      </p:sp>
      <p:sp>
        <p:nvSpPr>
          <p:cNvPr id="6" name="Shape 3"/>
          <p:cNvSpPr/>
          <p:nvPr/>
        </p:nvSpPr>
        <p:spPr>
          <a:xfrm>
            <a:off x="777240" y="2817114"/>
            <a:ext cx="512064" cy="512064"/>
          </a:xfrm>
          <a:prstGeom prst="ellipse">
            <a:avLst/>
          </a:prstGeom>
          <a:solidFill>
            <a:srgbClr val="0969DA"/>
          </a:solidFill>
          <a:ln/>
        </p:spPr>
      </p:sp>
      <p:sp>
        <p:nvSpPr>
          <p:cNvPr id="7" name="Text 4"/>
          <p:cNvSpPr txBox="1"/>
          <p:nvPr/>
        </p:nvSpPr>
        <p:spPr>
          <a:xfrm>
            <a:off x="777240" y="281711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3457194"/>
            <a:ext cx="2110664" cy="1114044"/>
          </a:xfrm>
          <a:prstGeom prst="rect">
            <a:avLst/>
          </a:prstGeom>
          <a:noFill/>
          <a:ln/>
        </p:spPr>
        <p:txBody>
          <a:bodyPr wrap="square" lIns="0" tIns="0" rIns="0" bIns="0" rtlCol="0" anchor="t"/>
          <a:lstStyle/>
          <a:p>
            <a:pPr indent="0" marL="0">
              <a:buNone/>
            </a:pPr>
            <a:r>
              <a:rPr lang="id-ID" altLang="en-US" sz="2200" dirty="0">
                <a:solidFill>
                  <a:srgbClr val="1F2328"/>
                </a:solidFill>
              </a:rPr>
              <a:t>Informasi UTS dan cakupan materi</a:t>
            </a:r>
            <a:endParaRPr lang="id-ID" sz="2200" dirty="0"/>
          </a:p>
        </p:txBody>
      </p:sp>
      <p:sp>
        <p:nvSpPr>
          <p:cNvPr id="9" name="Shape 6"/>
          <p:cNvSpPr/>
          <p:nvPr/>
        </p:nvSpPr>
        <p:spPr>
          <a:xfrm>
            <a:off x="3390824" y="2588514"/>
            <a:ext cx="2567864" cy="2165604"/>
          </a:xfrm>
          <a:prstGeom prst="roundRect">
            <a:avLst>
              <a:gd name="adj" fmla="val 2139"/>
            </a:avLst>
          </a:prstGeom>
          <a:solidFill>
            <a:srgbClr val="F6F8FA"/>
          </a:solidFill>
          <a:ln w="9525">
            <a:solidFill>
              <a:srgbClr val="D0D7DE"/>
            </a:solidFill>
            <a:prstDash val="solid"/>
          </a:ln>
        </p:spPr>
      </p:sp>
      <p:sp>
        <p:nvSpPr>
          <p:cNvPr id="10" name="Shape 7"/>
          <p:cNvSpPr/>
          <p:nvPr/>
        </p:nvSpPr>
        <p:spPr>
          <a:xfrm>
            <a:off x="3619424" y="2817114"/>
            <a:ext cx="512064" cy="512064"/>
          </a:xfrm>
          <a:prstGeom prst="ellipse">
            <a:avLst/>
          </a:prstGeom>
          <a:solidFill>
            <a:srgbClr val="0969DA"/>
          </a:solidFill>
          <a:ln/>
        </p:spPr>
      </p:sp>
      <p:sp>
        <p:nvSpPr>
          <p:cNvPr id="11" name="Text 8"/>
          <p:cNvSpPr txBox="1"/>
          <p:nvPr/>
        </p:nvSpPr>
        <p:spPr>
          <a:xfrm>
            <a:off x="3619424" y="281711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3619424" y="3457194"/>
            <a:ext cx="2110664" cy="1114044"/>
          </a:xfrm>
          <a:prstGeom prst="rect">
            <a:avLst/>
          </a:prstGeom>
          <a:noFill/>
          <a:ln/>
        </p:spPr>
        <p:txBody>
          <a:bodyPr wrap="square" lIns="0" tIns="0" rIns="0" bIns="0" rtlCol="0" anchor="t"/>
          <a:lstStyle/>
          <a:p>
            <a:pPr indent="0" marL="0">
              <a:buNone/>
            </a:pPr>
            <a:r>
              <a:rPr lang="id-ID" altLang="en-US" sz="2200" dirty="0">
                <a:solidFill>
                  <a:srgbClr val="1F2328"/>
                </a:solidFill>
              </a:rPr>
              <a:t>Kisi-⁠kisi dan inti materi</a:t>
            </a:r>
            <a:endParaRPr lang="id-ID" sz="2200" dirty="0"/>
          </a:p>
        </p:txBody>
      </p:sp>
      <p:sp>
        <p:nvSpPr>
          <p:cNvPr id="13" name="Shape 10"/>
          <p:cNvSpPr/>
          <p:nvPr/>
        </p:nvSpPr>
        <p:spPr>
          <a:xfrm>
            <a:off x="6233008" y="2588514"/>
            <a:ext cx="2567864" cy="2165604"/>
          </a:xfrm>
          <a:prstGeom prst="roundRect">
            <a:avLst>
              <a:gd name="adj" fmla="val 2139"/>
            </a:avLst>
          </a:prstGeom>
          <a:solidFill>
            <a:srgbClr val="F6F8FA"/>
          </a:solidFill>
          <a:ln w="9525">
            <a:solidFill>
              <a:srgbClr val="D0D7DE"/>
            </a:solidFill>
            <a:prstDash val="solid"/>
          </a:ln>
        </p:spPr>
      </p:sp>
      <p:sp>
        <p:nvSpPr>
          <p:cNvPr id="14" name="Shape 11"/>
          <p:cNvSpPr/>
          <p:nvPr/>
        </p:nvSpPr>
        <p:spPr>
          <a:xfrm>
            <a:off x="6461608" y="2817114"/>
            <a:ext cx="512064" cy="512064"/>
          </a:xfrm>
          <a:prstGeom prst="ellipse">
            <a:avLst/>
          </a:prstGeom>
          <a:solidFill>
            <a:srgbClr val="0969DA"/>
          </a:solidFill>
          <a:ln/>
        </p:spPr>
      </p:sp>
      <p:sp>
        <p:nvSpPr>
          <p:cNvPr id="15" name="Text 12"/>
          <p:cNvSpPr txBox="1"/>
          <p:nvPr/>
        </p:nvSpPr>
        <p:spPr>
          <a:xfrm>
            <a:off x="6461608" y="281711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6461608" y="3457194"/>
            <a:ext cx="2110664" cy="1114044"/>
          </a:xfrm>
          <a:prstGeom prst="rect">
            <a:avLst/>
          </a:prstGeom>
          <a:noFill/>
          <a:ln/>
        </p:spPr>
        <p:txBody>
          <a:bodyPr wrap="square" lIns="0" tIns="0" rIns="0" bIns="0" rtlCol="0" anchor="t"/>
          <a:lstStyle/>
          <a:p>
            <a:pPr indent="0" marL="0">
              <a:buNone/>
            </a:pPr>
            <a:r>
              <a:rPr lang="id-ID" altLang="en-US" sz="2200" dirty="0">
                <a:solidFill>
                  <a:srgbClr val="1F2328"/>
                </a:solidFill>
              </a:rPr>
              <a:t>Strategi belajar, mengerjakan, dan kesalahan umum</a:t>
            </a:r>
            <a:endParaRPr lang="id-ID" sz="2200" dirty="0"/>
          </a:p>
        </p:txBody>
      </p:sp>
      <p:sp>
        <p:nvSpPr>
          <p:cNvPr id="17" name="Shape 14"/>
          <p:cNvSpPr/>
          <p:nvPr/>
        </p:nvSpPr>
        <p:spPr>
          <a:xfrm>
            <a:off x="9075191" y="2588514"/>
            <a:ext cx="2567864" cy="2165604"/>
          </a:xfrm>
          <a:prstGeom prst="roundRect">
            <a:avLst>
              <a:gd name="adj" fmla="val 2139"/>
            </a:avLst>
          </a:prstGeom>
          <a:solidFill>
            <a:srgbClr val="F6F8FA"/>
          </a:solidFill>
          <a:ln w="9525">
            <a:solidFill>
              <a:srgbClr val="D0D7DE"/>
            </a:solidFill>
            <a:prstDash val="solid"/>
          </a:ln>
        </p:spPr>
      </p:sp>
      <p:sp>
        <p:nvSpPr>
          <p:cNvPr id="18" name="Shape 15"/>
          <p:cNvSpPr/>
          <p:nvPr/>
        </p:nvSpPr>
        <p:spPr>
          <a:xfrm>
            <a:off x="9303791" y="2817114"/>
            <a:ext cx="512064" cy="512064"/>
          </a:xfrm>
          <a:prstGeom prst="ellipse">
            <a:avLst/>
          </a:prstGeom>
          <a:solidFill>
            <a:srgbClr val="0969DA"/>
          </a:solidFill>
          <a:ln/>
        </p:spPr>
      </p:sp>
      <p:sp>
        <p:nvSpPr>
          <p:cNvPr id="19" name="Text 16"/>
          <p:cNvSpPr txBox="1"/>
          <p:nvPr/>
        </p:nvSpPr>
        <p:spPr>
          <a:xfrm>
            <a:off x="9303791" y="281711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9303791" y="3457194"/>
            <a:ext cx="2110664" cy="1114044"/>
          </a:xfrm>
          <a:prstGeom prst="rect">
            <a:avLst/>
          </a:prstGeom>
          <a:noFill/>
          <a:ln/>
        </p:spPr>
        <p:txBody>
          <a:bodyPr wrap="square" lIns="0" tIns="0" rIns="0" bIns="0" rtlCol="0" anchor="t"/>
          <a:lstStyle/>
          <a:p>
            <a:pPr indent="0" marL="0">
              <a:buNone/>
            </a:pPr>
            <a:r>
              <a:rPr lang="id-ID" altLang="en-US" sz="2200" dirty="0">
                <a:solidFill>
                  <a:srgbClr val="1F2328"/>
                </a:solidFill>
              </a:rPr>
              <a:t>Latihan soal dan contoh soal</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Informasi UTS dan Cakupan Materi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Apa yang diujikan, dan apa yang harus dipastikan dari pengumuman dosen.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Cakupan: KedaiKita dari Minggu ke Minggu</a:t>
            </a:r>
            <a:endParaRPr lang="id-ID"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51655"/>
          <a:ext cx="11094415" cy="914400"/>
        </p:xfrm>
        <a:graphic>
          <a:graphicData uri="http://schemas.openxmlformats.org/drawingml/2006/table">
            <a:tbl>
              <a:tblPr/>
              <a:tblGrid>
                <a:gridCol w="1195650"/>
                <a:gridCol w="5519650"/>
                <a:gridCol w="4379115"/>
              </a:tblGrid>
              <a:tr h="446278">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Pertemuan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KedaiKita saat itu</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Konsep yang dipakai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01</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Tiga </a:t>
                      </a:r>
                      <a:r>
                        <a:rPr lang="id-ID" altLang="en-US" sz="1700" i="1" dirty="0">
                          <a:solidFill>
                            <a:srgbClr val="1F2328"/>
                          </a:solidFill>
                          <a:latin typeface="Calibri" pitchFamily="34" charset="0"/>
                          <a:ea typeface="Calibri" pitchFamily="34" charset="-122"/>
                          <a:cs typeface="Calibri" pitchFamily="34" charset="-120"/>
                        </a:rPr>
                        <a:t>list</a:t>
                      </a:r>
                      <a:r>
                        <a:rPr lang="id-ID" altLang="en-US" sz="1700" dirty="0">
                          <a:solidFill>
                            <a:srgbClr val="1F2328"/>
                          </a:solidFill>
                          <a:latin typeface="Calibri" pitchFamily="34" charset="0"/>
                          <a:ea typeface="Calibri" pitchFamily="34" charset="-122"/>
                          <a:cs typeface="Calibri" pitchFamily="34" charset="-120"/>
                        </a:rPr>
                        <a:t> terpisah sehingga data tertukar saat diurutkan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Paradigma prosedural vs PBO</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02</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 </a:t>
                      </a:r>
                      <a:r>
                        <a:rPr lang="id-ID" altLang="en-US" sz="1700" dirty="0">
                          <a:solidFill>
                            <a:srgbClr val="0A3069"/>
                          </a:solidFill>
                          <a:latin typeface="Consolas" pitchFamily="34" charset="0"/>
                          <a:ea typeface="Consolas" pitchFamily="34" charset="-122"/>
                          <a:cs typeface="Consolas" pitchFamily="34" charset="-120"/>
                        </a:rPr>
                        <a:t>Menu</a:t>
                      </a:r>
                      <a:r>
                        <a:rPr lang="id-ID" altLang="en-US" sz="1700" dirty="0">
                          <a:solidFill>
                            <a:srgbClr val="1F2328"/>
                          </a:solidFill>
                          <a:latin typeface="Calibri" pitchFamily="34" charset="0"/>
                          <a:ea typeface="Calibri" pitchFamily="34" charset="-122"/>
                          <a:cs typeface="Calibri" pitchFamily="34" charset="-120"/>
                        </a:rPr>
                        <a:t> pertama (nama, harga)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 objek, konstruktor, </a:t>
                      </a:r>
                      <a:r>
                        <a:rPr lang="id-ID" altLang="en-US" sz="1700" i="1" dirty="0">
                          <a:solidFill>
                            <a:srgbClr val="1F2328"/>
                          </a:solidFill>
                          <a:latin typeface="Calibri" pitchFamily="34" charset="0"/>
                          <a:ea typeface="Calibri" pitchFamily="34" charset="-122"/>
                          <a:cs typeface="Calibri" pitchFamily="34" charset="-120"/>
                        </a:rPr>
                        <a:t>method</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03</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Menu punya kode, kategori, stok; ada kelas </a:t>
                      </a:r>
                      <a:r>
                        <a:rPr lang="id-ID" altLang="en-US" sz="1700" dirty="0">
                          <a:solidFill>
                            <a:srgbClr val="0A3069"/>
                          </a:solidFill>
                          <a:latin typeface="Consolas" pitchFamily="34" charset="0"/>
                          <a:ea typeface="Consolas" pitchFamily="34" charset="-122"/>
                          <a:cs typeface="Consolas" pitchFamily="34" charset="-120"/>
                        </a:rPr>
                        <a:t>Pelanggan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Atribut kelas, </a:t>
                      </a:r>
                      <a:r>
                        <a:rPr lang="id-ID" altLang="en-US" sz="1700" dirty="0">
                          <a:solidFill>
                            <a:srgbClr val="0A3069"/>
                          </a:solidFill>
                          <a:latin typeface="Consolas" pitchFamily="34" charset="0"/>
                          <a:ea typeface="Consolas" pitchFamily="34" charset="-122"/>
                          <a:cs typeface="Consolas" pitchFamily="34" charset="-120"/>
                        </a:rPr>
                        <a:t>__str__</a:t>
                      </a:r>
                      <a:r>
                        <a:rPr lang="id-ID" altLang="en-US" sz="1700" dirty="0">
                          <a:solidFill>
                            <a:srgbClr val="1F2328"/>
                          </a:solidFill>
                          <a:latin typeface="Calibri" pitchFamily="34" charset="0"/>
                          <a:ea typeface="Calibri" pitchFamily="34" charset="-122"/>
                          <a:cs typeface="Calibri" pitchFamily="34" charset="-120"/>
                        </a:rPr>
                        <a:t>/</a:t>
                      </a:r>
                      <a:r>
                        <a:rPr lang="id-ID" altLang="en-US" sz="1700" dirty="0">
                          <a:solidFill>
                            <a:srgbClr val="0A3069"/>
                          </a:solidFill>
                          <a:latin typeface="Consolas" pitchFamily="34" charset="0"/>
                          <a:ea typeface="Consolas" pitchFamily="34" charset="-122"/>
                          <a:cs typeface="Consolas" pitchFamily="34" charset="-120"/>
                        </a:rPr>
                        <a:t>toString</a:t>
                      </a:r>
                      <a:r>
                        <a:rPr lang="id-ID" altLang="en-US" sz="1700" dirty="0">
                          <a:solidFill>
                            <a:srgbClr val="1F2328"/>
                          </a:solidFill>
                          <a:latin typeface="Calibri" pitchFamily="34" charset="0"/>
                          <a:ea typeface="Calibri" pitchFamily="34" charset="-122"/>
                          <a:cs typeface="Calibri" pitchFamily="34" charset="-120"/>
                        </a:rPr>
                        <a:t>, referensi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04</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Data menu dilindungi dan divalidasi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Atribut privat, </a:t>
                      </a:r>
                      <a:r>
                        <a:rPr lang="id-ID" altLang="en-US" sz="1700" i="1" dirty="0">
                          <a:solidFill>
                            <a:srgbClr val="1F2328"/>
                          </a:solidFill>
                          <a:latin typeface="Calibri" pitchFamily="34" charset="0"/>
                          <a:ea typeface="Calibri" pitchFamily="34" charset="-122"/>
                          <a:cs typeface="Calibri" pitchFamily="34" charset="-120"/>
                        </a:rPr>
                        <a:t>getter</a:t>
                      </a:r>
                      <a:r>
                        <a:rPr lang="id-ID" altLang="en-US" sz="1700" dirty="0">
                          <a:solidFill>
                            <a:srgbClr val="1F2328"/>
                          </a:solidFill>
                          <a:latin typeface="Calibri" pitchFamily="34" charset="0"/>
                          <a:ea typeface="Calibri" pitchFamily="34" charset="-122"/>
                          <a:cs typeface="Calibri" pitchFamily="34" charset="-120"/>
                        </a:rPr>
                        <a:t>/</a:t>
                      </a:r>
                      <a:r>
                        <a:rPr lang="id-ID" altLang="en-US" sz="1700" i="1" dirty="0">
                          <a:solidFill>
                            <a:srgbClr val="1F2328"/>
                          </a:solidFill>
                          <a:latin typeface="Calibri" pitchFamily="34" charset="0"/>
                          <a:ea typeface="Calibri" pitchFamily="34" charset="-122"/>
                          <a:cs typeface="Calibri" pitchFamily="34" charset="-120"/>
                        </a:rPr>
                        <a:t>setter</a:t>
                      </a:r>
                      <a:r>
                        <a:rPr lang="id-ID" altLang="en-US" sz="1700" dirty="0">
                          <a:solidFill>
                            <a:srgbClr val="1F2328"/>
                          </a:solidFill>
                          <a:latin typeface="Calibri" pitchFamily="34" charset="0"/>
                          <a:ea typeface="Calibri" pitchFamily="34" charset="-122"/>
                          <a:cs typeface="Calibri" pitchFamily="34" charset="-120"/>
                        </a:rPr>
                        <a:t>, validasi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05⁠—⁠06</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ItemPesanan</a:t>
                      </a:r>
                      <a:r>
                        <a:rPr lang="id-ID" altLang="en-US" sz="1700" dirty="0">
                          <a:solidFill>
                            <a:srgbClr val="1F2328"/>
                          </a:solidFill>
                          <a:latin typeface="Calibri" pitchFamily="34" charset="0"/>
                          <a:ea typeface="Calibri" pitchFamily="34" charset="-122"/>
                          <a:cs typeface="Calibri" pitchFamily="34" charset="-120"/>
                        </a:rPr>
                        <a:t>, </a:t>
                      </a:r>
                      <a:r>
                        <a:rPr lang="id-ID" altLang="en-US" sz="1700" dirty="0">
                          <a:solidFill>
                            <a:srgbClr val="0A3069"/>
                          </a:solidFill>
                          <a:latin typeface="Consolas" pitchFamily="34" charset="0"/>
                          <a:ea typeface="Consolas" pitchFamily="34" charset="-122"/>
                          <a:cs typeface="Consolas" pitchFamily="34" charset="-120"/>
                        </a:rPr>
                        <a:t>Pesanan</a:t>
                      </a:r>
                      <a:r>
                        <a:rPr lang="id-ID" altLang="en-US" sz="1700" dirty="0">
                          <a:solidFill>
                            <a:srgbClr val="1F2328"/>
                          </a:solidFill>
                          <a:latin typeface="Calibri" pitchFamily="34" charset="0"/>
                          <a:ea typeface="Calibri" pitchFamily="34" charset="-122"/>
                          <a:cs typeface="Calibri" pitchFamily="34" charset="-120"/>
                        </a:rPr>
                        <a:t>, </a:t>
                      </a:r>
                      <a:r>
                        <a:rPr lang="id-ID" altLang="en-US" sz="1700" dirty="0">
                          <a:solidFill>
                            <a:srgbClr val="0A3069"/>
                          </a:solidFill>
                          <a:latin typeface="Consolas" pitchFamily="34" charset="0"/>
                          <a:ea typeface="Consolas" pitchFamily="34" charset="-122"/>
                          <a:cs typeface="Consolas" pitchFamily="34" charset="-120"/>
                        </a:rPr>
                        <a:t>Kedai</a:t>
                      </a:r>
                      <a:r>
                        <a:rPr lang="id-ID" altLang="en-US" sz="1700" dirty="0">
                          <a:solidFill>
                            <a:srgbClr val="1F2328"/>
                          </a:solidFill>
                          <a:latin typeface="Calibri" pitchFamily="34" charset="0"/>
                          <a:ea typeface="Calibri" pitchFamily="34" charset="-122"/>
                          <a:cs typeface="Calibri" pitchFamily="34" charset="-120"/>
                        </a:rPr>
                        <a:t>, dan struk; lalu digambar sebagai diagram kelas</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Asosiasi, agregasi, komposisi; notasi UML</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07</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Makanan</a:t>
                      </a:r>
                      <a:r>
                        <a:rPr lang="id-ID" altLang="en-US" sz="1700" dirty="0">
                          <a:solidFill>
                            <a:srgbClr val="1F2328"/>
                          </a:solidFill>
                          <a:latin typeface="Calibri" pitchFamily="34" charset="0"/>
                          <a:ea typeface="Calibri" pitchFamily="34" charset="-122"/>
                          <a:cs typeface="Calibri" pitchFamily="34" charset="-120"/>
                        </a:rPr>
                        <a:t> dan </a:t>
                      </a:r>
                      <a:r>
                        <a:rPr lang="id-ID" altLang="en-US" sz="1700" dirty="0">
                          <a:solidFill>
                            <a:srgbClr val="0A3069"/>
                          </a:solidFill>
                          <a:latin typeface="Consolas" pitchFamily="34" charset="0"/>
                          <a:ea typeface="Consolas" pitchFamily="34" charset="-122"/>
                          <a:cs typeface="Consolas" pitchFamily="34" charset="-120"/>
                        </a:rPr>
                        <a:t>Minuman</a:t>
                      </a:r>
                      <a:r>
                        <a:rPr lang="id-ID" altLang="en-US" sz="1700" dirty="0">
                          <a:solidFill>
                            <a:srgbClr val="1F2328"/>
                          </a:solidFill>
                          <a:latin typeface="Calibri" pitchFamily="34" charset="0"/>
                          <a:ea typeface="Calibri" pitchFamily="34" charset="-122"/>
                          <a:cs typeface="Calibri" pitchFamily="34" charset="-120"/>
                        </a:rPr>
                        <a:t> mewarisi </a:t>
                      </a:r>
                      <a:r>
                        <a:rPr lang="id-ID" altLang="en-US" sz="1700" dirty="0">
                          <a:solidFill>
                            <a:srgbClr val="0A3069"/>
                          </a:solidFill>
                          <a:latin typeface="Consolas" pitchFamily="34" charset="0"/>
                          <a:ea typeface="Consolas" pitchFamily="34" charset="-122"/>
                          <a:cs typeface="Consolas" pitchFamily="34" charset="-120"/>
                        </a:rPr>
                        <a:t>Menu</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Pewarisan, </a:t>
                      </a:r>
                      <a:r>
                        <a:rPr lang="id-ID" altLang="en-US" sz="1700" dirty="0">
                          <a:solidFill>
                            <a:srgbClr val="0A3069"/>
                          </a:solidFill>
                          <a:latin typeface="Consolas" pitchFamily="34" charset="0"/>
                          <a:ea typeface="Consolas" pitchFamily="34" charset="-122"/>
                          <a:cs typeface="Consolas" pitchFamily="34" charset="-120"/>
                        </a:rPr>
                        <a:t>super</a:t>
                      </a:r>
                      <a:r>
                        <a:rPr lang="id-ID" altLang="en-US" sz="1700" dirty="0">
                          <a:solidFill>
                            <a:srgbClr val="1F2328"/>
                          </a:solidFill>
                          <a:latin typeface="Calibri" pitchFamily="34" charset="0"/>
                          <a:ea typeface="Calibri" pitchFamily="34" charset="-122"/>
                          <a:cs typeface="Calibri" pitchFamily="34" charset="-120"/>
                        </a:rPr>
                        <a:t>, </a:t>
                      </a:r>
                      <a:r>
                        <a:rPr lang="id-ID" altLang="en-US" sz="1700" i="1" dirty="0">
                          <a:solidFill>
                            <a:srgbClr val="1F2328"/>
                          </a:solidFill>
                          <a:latin typeface="Calibri" pitchFamily="34" charset="0"/>
                          <a:ea typeface="Calibri" pitchFamily="34" charset="-122"/>
                          <a:cs typeface="Calibri" pitchFamily="34" charset="-120"/>
                        </a:rPr>
                        <a:t>override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38588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58308"/>
            <a:ext cx="184343" cy="184343"/>
          </a:xfrm>
          <a:prstGeom prst="rect">
            <a:avLst/>
          </a:prstGeom>
        </p:spPr>
      </p:pic>
      <p:sp>
        <p:nvSpPr>
          <p:cNvPr id="8" name="Text 3"/>
          <p:cNvSpPr txBox="1"/>
          <p:nvPr/>
        </p:nvSpPr>
        <p:spPr>
          <a:xfrm>
            <a:off x="1005840" y="5367599"/>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Cakupan UTS: Pertemuan 01 sampai 07, yaitu semua konsep sebelum polimorfisme.</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Bentuk Ujian yang Umum</a:t>
            </a:r>
            <a:endParaRPr lang="id-ID" sz="3200" dirty="0"/>
          </a:p>
        </p:txBody>
      </p:sp>
      <p:sp>
        <p:nvSpPr>
          <p:cNvPr id="5" name="Shape 2"/>
          <p:cNvSpPr/>
          <p:nvPr/>
        </p:nvSpPr>
        <p:spPr>
          <a:xfrm>
            <a:off x="603504" y="1552377"/>
            <a:ext cx="137160" cy="137160"/>
          </a:xfrm>
          <a:prstGeom prst="roundRect">
            <a:avLst>
              <a:gd name="adj" fmla="val 166667"/>
            </a:avLst>
          </a:prstGeom>
          <a:solidFill>
            <a:srgbClr val="0969DA"/>
          </a:solidFill>
          <a:ln/>
        </p:spPr>
      </p:sp>
      <p:sp>
        <p:nvSpPr>
          <p:cNvPr id="6" name="Text 3"/>
          <p:cNvSpPr txBox="1"/>
          <p:nvPr/>
        </p:nvSpPr>
        <p:spPr>
          <a:xfrm>
            <a:off x="932688" y="1435029"/>
            <a:ext cx="10710367" cy="789432"/>
          </a:xfrm>
          <a:prstGeom prst="rect">
            <a:avLst/>
          </a:prstGeom>
          <a:noFill/>
          <a:ln/>
        </p:spPr>
        <p:txBody>
          <a:bodyPr wrap="square" lIns="0" tIns="0" rIns="0" bIns="0" rtlCol="0" anchor="t"/>
          <a:lstStyle/>
          <a:p>
            <a:pPr indent="0" marL="0">
              <a:buNone/>
            </a:pPr>
            <a:r>
              <a:rPr lang="id-ID" altLang="en-US" sz="2400" dirty="0">
                <a:solidFill>
                  <a:srgbClr val="1F2328"/>
                </a:solidFill>
              </a:rPr>
              <a:t>UTS mata kuliah pemrograman </a:t>
            </a:r>
            <a:r>
              <a:rPr lang="id-ID" altLang="en-US" sz="2400" b="1" dirty="0">
                <a:solidFill>
                  <a:srgbClr val="1F2328"/>
                </a:solidFill>
              </a:rPr>
              <a:t>biasanya</a:t>
            </a:r>
            <a:r>
              <a:rPr lang="id-ID" altLang="en-US" sz="2400" dirty="0">
                <a:solidFill>
                  <a:srgbClr val="1F2328"/>
                </a:solidFill>
              </a:rPr>
              <a:t> menggabungkan dua jenis soal: teori dan praktik.</a:t>
            </a:r>
            <a:endParaRPr lang="id-ID" sz="2400" dirty="0"/>
          </a:p>
        </p:txBody>
      </p:sp>
      <p:sp>
        <p:nvSpPr>
          <p:cNvPr id="7" name="Shape 4"/>
          <p:cNvSpPr/>
          <p:nvPr/>
        </p:nvSpPr>
        <p:spPr>
          <a:xfrm>
            <a:off x="603504" y="2570409"/>
            <a:ext cx="137160" cy="137160"/>
          </a:xfrm>
          <a:prstGeom prst="roundRect">
            <a:avLst>
              <a:gd name="adj" fmla="val 166667"/>
            </a:avLst>
          </a:prstGeom>
          <a:solidFill>
            <a:srgbClr val="0969DA"/>
          </a:solidFill>
          <a:ln/>
        </p:spPr>
      </p:sp>
      <p:sp>
        <p:nvSpPr>
          <p:cNvPr id="8" name="Text 5"/>
          <p:cNvSpPr txBox="1"/>
          <p:nvPr/>
        </p:nvSpPr>
        <p:spPr>
          <a:xfrm>
            <a:off x="932688" y="2453061"/>
            <a:ext cx="10710367" cy="417576"/>
          </a:xfrm>
          <a:prstGeom prst="rect">
            <a:avLst/>
          </a:prstGeom>
          <a:noFill/>
          <a:ln/>
        </p:spPr>
        <p:txBody>
          <a:bodyPr wrap="square" lIns="0" tIns="0" rIns="0" bIns="0" rtlCol="0" anchor="t"/>
          <a:lstStyle/>
          <a:p>
            <a:pPr indent="0" marL="0">
              <a:buNone/>
            </a:pPr>
            <a:r>
              <a:rPr lang="id-ID" altLang="en-US" sz="2400" b="1" dirty="0">
                <a:solidFill>
                  <a:srgbClr val="1F2328"/>
                </a:solidFill>
              </a:rPr>
              <a:t>Teori</a:t>
            </a:r>
            <a:r>
              <a:rPr lang="id-ID" altLang="en-US" sz="2400" dirty="0">
                <a:solidFill>
                  <a:srgbClr val="1F2328"/>
                </a:solidFill>
              </a:rPr>
              <a:t>: pilihan ganda dan esai/isian singkat.</a:t>
            </a:r>
            <a:endParaRPr lang="id-ID" sz="2400" dirty="0"/>
          </a:p>
        </p:txBody>
      </p:sp>
      <p:sp>
        <p:nvSpPr>
          <p:cNvPr id="9" name="Shape 6"/>
          <p:cNvSpPr/>
          <p:nvPr/>
        </p:nvSpPr>
        <p:spPr>
          <a:xfrm>
            <a:off x="603504" y="3216585"/>
            <a:ext cx="137160" cy="137160"/>
          </a:xfrm>
          <a:prstGeom prst="roundRect">
            <a:avLst>
              <a:gd name="adj" fmla="val 166667"/>
            </a:avLst>
          </a:prstGeom>
          <a:solidFill>
            <a:srgbClr val="0969DA"/>
          </a:solidFill>
          <a:ln/>
        </p:spPr>
      </p:sp>
      <p:sp>
        <p:nvSpPr>
          <p:cNvPr id="10" name="Text 7"/>
          <p:cNvSpPr txBox="1"/>
          <p:nvPr/>
        </p:nvSpPr>
        <p:spPr>
          <a:xfrm>
            <a:off x="932688" y="3099237"/>
            <a:ext cx="10710367" cy="789432"/>
          </a:xfrm>
          <a:prstGeom prst="rect">
            <a:avLst/>
          </a:prstGeom>
          <a:noFill/>
          <a:ln/>
        </p:spPr>
        <p:txBody>
          <a:bodyPr wrap="square" lIns="0" tIns="0" rIns="0" bIns="0" rtlCol="0" anchor="t"/>
          <a:lstStyle/>
          <a:p>
            <a:pPr indent="0" marL="0">
              <a:buNone/>
            </a:pPr>
            <a:r>
              <a:rPr lang="id-ID" altLang="en-US" sz="2400" dirty="0">
                <a:solidFill>
                  <a:srgbClr val="1F2328"/>
                </a:solidFill>
              </a:rPr>
              <a:t>Contoh tugas teori: menjelaskan konsep, menelusuri </a:t>
            </a:r>
            <a:r>
              <a:rPr lang="id-ID" altLang="en-US" sz="2400" i="1" dirty="0">
                <a:solidFill>
                  <a:srgbClr val="1F2328"/>
                </a:solidFill>
              </a:rPr>
              <a:t>output</a:t>
            </a:r>
            <a:r>
              <a:rPr lang="id-ID" altLang="en-US" sz="2400" dirty="0">
                <a:solidFill>
                  <a:srgbClr val="1F2328"/>
                </a:solidFill>
              </a:rPr>
              <a:t> kode, membaca atau menggambar diagram kelas, dan menilai rancangan.</a:t>
            </a:r>
            <a:endParaRPr lang="id-ID" sz="2400" dirty="0"/>
          </a:p>
        </p:txBody>
      </p:sp>
      <p:sp>
        <p:nvSpPr>
          <p:cNvPr id="11" name="Shape 8"/>
          <p:cNvSpPr/>
          <p:nvPr/>
        </p:nvSpPr>
        <p:spPr>
          <a:xfrm>
            <a:off x="603504" y="4234617"/>
            <a:ext cx="137160" cy="137160"/>
          </a:xfrm>
          <a:prstGeom prst="roundRect">
            <a:avLst>
              <a:gd name="adj" fmla="val 166667"/>
            </a:avLst>
          </a:prstGeom>
          <a:solidFill>
            <a:srgbClr val="0969DA"/>
          </a:solidFill>
          <a:ln/>
        </p:spPr>
      </p:sp>
      <p:sp>
        <p:nvSpPr>
          <p:cNvPr id="12" name="Text 9"/>
          <p:cNvSpPr txBox="1"/>
          <p:nvPr/>
        </p:nvSpPr>
        <p:spPr>
          <a:xfrm>
            <a:off x="932688" y="4117269"/>
            <a:ext cx="10710367" cy="417576"/>
          </a:xfrm>
          <a:prstGeom prst="rect">
            <a:avLst/>
          </a:prstGeom>
          <a:noFill/>
          <a:ln/>
        </p:spPr>
        <p:txBody>
          <a:bodyPr wrap="square" lIns="0" tIns="0" rIns="0" bIns="0" rtlCol="0" anchor="t"/>
          <a:lstStyle/>
          <a:p>
            <a:pPr indent="0" marL="0">
              <a:buNone/>
            </a:pPr>
            <a:r>
              <a:rPr lang="id-ID" altLang="en-US" sz="2400" b="1" dirty="0">
                <a:solidFill>
                  <a:srgbClr val="1F2328"/>
                </a:solidFill>
              </a:rPr>
              <a:t>Praktik</a:t>
            </a:r>
            <a:r>
              <a:rPr lang="id-ID" altLang="en-US" sz="2400" dirty="0">
                <a:solidFill>
                  <a:srgbClr val="1F2328"/>
                </a:solidFill>
              </a:rPr>
              <a:t>: menulis program berorientasi objek dari sebuah deskripsi kebutuhan.</a:t>
            </a:r>
            <a:endParaRPr lang="id-ID" sz="2400" dirty="0"/>
          </a:p>
        </p:txBody>
      </p:sp>
      <p:sp>
        <p:nvSpPr>
          <p:cNvPr id="13" name="Shape 10"/>
          <p:cNvSpPr/>
          <p:nvPr/>
        </p:nvSpPr>
        <p:spPr>
          <a:xfrm>
            <a:off x="548640" y="4900605"/>
            <a:ext cx="11094415" cy="1274572"/>
          </a:xfrm>
          <a:prstGeom prst="roundRect">
            <a:avLst>
              <a:gd name="adj" fmla="val 6176"/>
            </a:avLst>
          </a:prstGeom>
          <a:solidFill>
            <a:srgbClr val="DDF4FF"/>
          </a:solidFill>
          <a:ln w="9525">
            <a:solidFill>
              <a:srgbClr val="54AEFF"/>
            </a:solidFill>
            <a:prstDash val="solid"/>
          </a:ln>
        </p:spPr>
      </p:sp>
      <p:sp>
        <p:nvSpPr>
          <p:cNvPr id="14" name="Shape 11"/>
          <p:cNvSpPr/>
          <p:nvPr/>
        </p:nvSpPr>
        <p:spPr>
          <a:xfrm>
            <a:off x="777240" y="5101773"/>
            <a:ext cx="457200" cy="457200"/>
          </a:xfrm>
          <a:prstGeom prst="ellipse">
            <a:avLst/>
          </a:prstGeom>
          <a:solidFill>
            <a:srgbClr val="0969DA"/>
          </a:solidFill>
          <a:ln/>
        </p:spPr>
      </p:sp>
      <p:pic>
        <p:nvPicPr>
          <p:cNvPr id="15" name="Image 1" descr="preencoded.png">    </p:cNvPr>
          <p:cNvPicPr>
            <a:picLocks noChangeAspect="1"/>
          </p:cNvPicPr>
          <p:nvPr/>
        </p:nvPicPr>
        <p:blipFill>
          <a:blip r:embed="rId2"/>
          <a:stretch>
            <a:fillRect/>
          </a:stretch>
        </p:blipFill>
        <p:spPr>
          <a:xfrm>
            <a:off x="877824" y="5202357"/>
            <a:ext cx="256032" cy="256032"/>
          </a:xfrm>
          <a:prstGeom prst="rect">
            <a:avLst/>
          </a:prstGeom>
        </p:spPr>
      </p:pic>
      <p:sp>
        <p:nvSpPr>
          <p:cNvPr id="16" name="Text 12"/>
          <p:cNvSpPr txBox="1"/>
          <p:nvPr/>
        </p:nvSpPr>
        <p:spPr>
          <a:xfrm>
            <a:off x="1417320" y="5046909"/>
            <a:ext cx="2743200" cy="292608"/>
          </a:xfrm>
          <a:prstGeom prst="rect">
            <a:avLst/>
          </a:prstGeom>
          <a:noFill/>
          <a:ln/>
        </p:spPr>
        <p:txBody>
          <a:bodyPr wrap="square" lIns="0" tIns="0" rIns="0" bIns="0" rtlCol="0" anchor="t"/>
          <a:lstStyle/>
          <a:p>
            <a:pPr indent="0" marL="0">
              <a:buNone/>
            </a:pPr>
            <a:r>
              <a:rPr lang="id-ID" altLang="en-US" sz="1500" b="1" dirty="0">
                <a:solidFill>
                  <a:srgbClr val="0969DA"/>
                </a:solidFill>
              </a:rPr>
              <a:t>Penting</a:t>
            </a:r>
            <a:endParaRPr lang="id-ID" sz="1500" dirty="0"/>
          </a:p>
        </p:txBody>
      </p:sp>
      <p:sp>
        <p:nvSpPr>
          <p:cNvPr id="17" name="Text 13"/>
          <p:cNvSpPr txBox="1"/>
          <p:nvPr/>
        </p:nvSpPr>
        <p:spPr>
          <a:xfrm>
            <a:off x="1417320" y="5357805"/>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rPr>
              <a:t>Format pasti </a:t>
            </a:r>
            <a:r>
              <a:rPr lang="id-ID" altLang="en-US" sz="1900" b="1" dirty="0">
                <a:solidFill>
                  <a:srgbClr val="1F2328"/>
                </a:solidFill>
              </a:rPr>
              <a:t>mengikuti pengumuman dosen</a:t>
            </a:r>
            <a:r>
              <a:rPr lang="id-ID" altLang="en-US" sz="1900" dirty="0">
                <a:solidFill>
                  <a:srgbClr val="1F2328"/>
                </a:solidFill>
              </a:rPr>
              <a:t>. Semua soal di folder ini adalah latihan persiapan, bukan soal UTS yang sebenarnya.</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Pastikan dari Pengumuman Resmi</a:t>
            </a:r>
            <a:endParaRPr lang="id-ID"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15450"/>
          <a:ext cx="11094415" cy="914400"/>
        </p:xfrm>
        <a:graphic>
          <a:graphicData uri="http://schemas.openxmlformats.org/drawingml/2006/table">
            <a:tbl>
              <a:tblPr/>
              <a:tblGrid>
                <a:gridCol w="2913240"/>
                <a:gridCol w="8181175"/>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Hal yang perlu dipastikan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Contoh pertanyaan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Jadwal dan durasi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Kapan, berapa menit, teori dan praktik terpisah atau tidak?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Bobot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Berapa persen teori dan berapa persen praktik?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Sifat ujian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Buku tertutup atau terbuka? Boleh catatan, internet, atau alat bantu AI?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Bahasa pemrograman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Boleh memilih Python atau Java?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Alat dan pengumpulan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Komputer lab atau laptop sendiri? Jawaban praktik dikumpulkan lewat apa?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018898"/>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091318"/>
            <a:ext cx="184343" cy="184343"/>
          </a:xfrm>
          <a:prstGeom prst="rect">
            <a:avLst/>
          </a:prstGeom>
        </p:spPr>
      </p:pic>
      <p:sp>
        <p:nvSpPr>
          <p:cNvPr id="8" name="Text 3"/>
          <p:cNvSpPr txBox="1"/>
          <p:nvPr/>
        </p:nvSpPr>
        <p:spPr>
          <a:xfrm>
            <a:off x="1005840" y="5000610"/>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Catat jawabannya begitu dosen mengumumkan. Banyak mahasiswa kehilangan nilai karena salah memahami aturan ujian.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Kisi-⁠Kisi dan Inti Materi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Kemampuan apa yang diukur, dan seberapa dalam.</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Level Kognitif dalam Kisi-⁠Kisi Latihan</a:t>
            </a:r>
            <a:endParaRPr lang="id-ID"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1897712"/>
                <a:gridCol w="4326386"/>
                <a:gridCol w="4870317"/>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Level</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Arti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Contoh indikator (nomor latihan)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C2 Memahami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Menjelaskan dengan kata-⁠kata sendiri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Membedakan cara perlindungan atribut di Python dan Java (A7)</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C3 Menerapkan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Memakai konsep pada kode atau situasi baru</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Menelusuri urutan konstruktor dan hasil </a:t>
                      </a:r>
                      <a:r>
                        <a:rPr lang="id-ID" altLang="en-US" sz="2100" i="1" dirty="0">
                          <a:solidFill>
                            <a:srgbClr val="1F2328"/>
                          </a:solidFill>
                          <a:latin typeface="Calibri" pitchFamily="34" charset="0"/>
                          <a:ea typeface="Calibri" pitchFamily="34" charset="-122"/>
                          <a:cs typeface="Calibri" pitchFamily="34" charset="-120"/>
                        </a:rPr>
                        <a:t>override</a:t>
                      </a:r>
                      <a:r>
                        <a:rPr lang="id-ID" altLang="en-US" sz="2100" dirty="0">
                          <a:solidFill>
                            <a:srgbClr val="1F2328"/>
                          </a:solidFill>
                          <a:latin typeface="Calibri" pitchFamily="34" charset="0"/>
                          <a:ea typeface="Calibri" pitchFamily="34" charset="-122"/>
                          <a:cs typeface="Calibri" pitchFamily="34" charset="-120"/>
                        </a:rPr>
                        <a:t> (A13)</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C4 Menganalisis</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Memecah masalah menjadi bagian dan hubungannya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Menganalisis jenis relasi beserta multiplisitasnya (A9, B3)</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C5 Mengevaluasi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Menilai sebuah pilihan beserta alasannya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Menilai rancangan pewarisan: </a:t>
                      </a:r>
                      <a:r>
                        <a:rPr lang="id-ID" altLang="en-US" sz="2100" i="1" dirty="0">
                          <a:solidFill>
                            <a:srgbClr val="1F2328"/>
                          </a:solidFill>
                          <a:latin typeface="Calibri" pitchFamily="34" charset="0"/>
                          <a:ea typeface="Calibri" pitchFamily="34" charset="-122"/>
                          <a:cs typeface="Calibri" pitchFamily="34" charset="-120"/>
                        </a:rPr>
                        <a:t>is-⁠a</a:t>
                      </a:r>
                      <a:r>
                        <a:rPr lang="id-ID" altLang="en-US" sz="2100" dirty="0">
                          <a:solidFill>
                            <a:srgbClr val="1F2328"/>
                          </a:solidFill>
                          <a:latin typeface="Calibri" pitchFamily="34" charset="0"/>
                          <a:ea typeface="Calibri" pitchFamily="34" charset="-122"/>
                          <a:cs typeface="Calibri" pitchFamily="34" charset="-120"/>
                        </a:rPr>
                        <a:t> vs </a:t>
                      </a:r>
                      <a:r>
                        <a:rPr lang="id-ID" altLang="en-US" sz="2100" i="1" dirty="0">
                          <a:solidFill>
                            <a:srgbClr val="1F2328"/>
                          </a:solidFill>
                          <a:latin typeface="Calibri" pitchFamily="34" charset="0"/>
                          <a:ea typeface="Calibri" pitchFamily="34" charset="-122"/>
                          <a:cs typeface="Calibri" pitchFamily="34" charset="-120"/>
                        </a:rPr>
                        <a:t>has-⁠a</a:t>
                      </a:r>
                      <a:r>
                        <a:rPr lang="id-ID" altLang="en-US" sz="2100" dirty="0">
                          <a:solidFill>
                            <a:srgbClr val="1F2328"/>
                          </a:solidFill>
                          <a:latin typeface="Calibri" pitchFamily="34" charset="0"/>
                          <a:ea typeface="Calibri" pitchFamily="34" charset="-122"/>
                          <a:cs typeface="Calibri" pitchFamily="34" charset="-120"/>
                        </a:rPr>
                        <a:t> (A14, B5)</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289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8" name="Text 3"/>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Level kognitif mengikuti Taksonomi Bloom revisi. Kisi-⁠kisi lengkapnya berisi 17 indikator dari Pertemuan 01 sampai 07.</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Inti Materi UTS dalam Satu Diagram</a:t>
            </a:r>
            <a:endParaRPr lang="id-ID" sz="3200" dirty="0"/>
          </a:p>
        </p:txBody>
      </p:sp>
      <p:pic>
        <p:nvPicPr>
          <p:cNvPr id="5" name="Image 1" descr="Jika kamu bisa menjelaskan setiap kotak dan setiap garis pada diagram ini, berarti kamu sudah memegang inti materi UTS.">    </p:cNvPr>
          <p:cNvPicPr>
            <a:picLocks noChangeAspect="1"/>
          </p:cNvPicPr>
          <p:nvPr/>
        </p:nvPicPr>
        <p:blipFill>
          <a:blip r:embed="rId2"/>
          <a:stretch>
            <a:fillRect/>
          </a:stretch>
        </p:blipFill>
        <p:spPr>
          <a:xfrm>
            <a:off x="548640" y="1660801"/>
            <a:ext cx="11094415" cy="3558242"/>
          </a:xfrm>
          <a:prstGeom prst="rect">
            <a:avLst/>
          </a:prstGeom>
        </p:spPr>
      </p:pic>
      <p:sp>
        <p:nvSpPr>
          <p:cNvPr id="6" name="Text 2"/>
          <p:cNvSpPr txBox="1"/>
          <p:nvPr/>
        </p:nvSpPr>
        <p:spPr>
          <a:xfrm>
            <a:off x="1005840" y="5328771"/>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Jika kamu bisa menjelaskan </a:t>
            </a:r>
            <a:r>
              <a:rPr lang="id-ID" altLang="en-US" sz="1700" b="1" dirty="0">
                <a:solidFill>
                  <a:srgbClr val="57606A"/>
                </a:solidFill>
              </a:rPr>
              <a:t>setiap kotak dan setiap garis</a:t>
            </a:r>
            <a:r>
              <a:rPr lang="id-ID" altLang="en-US" sz="1700" dirty="0">
                <a:solidFill>
                  <a:srgbClr val="57606A"/>
                </a:solidFill>
              </a:rPr>
              <a:t> pada diagram ini, berarti kamu sudah memegang inti materi UTS.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Strategi Belajar dan Mengerjakan</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Belajar aktif, lalu kerjakan soal praktik dengan rancangan.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Belajar Aktif, Bukan Membaca Ulang</a:t>
            </a:r>
            <a:endParaRPr lang="id-ID" sz="3200" dirty="0"/>
          </a:p>
        </p:txBody>
      </p:sp>
      <p:sp>
        <p:nvSpPr>
          <p:cNvPr id="5" name="Shape 2"/>
          <p:cNvSpPr/>
          <p:nvPr/>
        </p:nvSpPr>
        <p:spPr>
          <a:xfrm>
            <a:off x="603504" y="1614973"/>
            <a:ext cx="137160" cy="137160"/>
          </a:xfrm>
          <a:prstGeom prst="roundRect">
            <a:avLst>
              <a:gd name="adj" fmla="val 166667"/>
            </a:avLst>
          </a:prstGeom>
          <a:solidFill>
            <a:srgbClr val="0969DA"/>
          </a:solidFill>
          <a:ln/>
        </p:spPr>
      </p:sp>
      <p:sp>
        <p:nvSpPr>
          <p:cNvPr id="6" name="Text 3"/>
          <p:cNvSpPr txBox="1"/>
          <p:nvPr/>
        </p:nvSpPr>
        <p:spPr>
          <a:xfrm>
            <a:off x="932688" y="1513119"/>
            <a:ext cx="10710367" cy="727456"/>
          </a:xfrm>
          <a:prstGeom prst="rect">
            <a:avLst/>
          </a:prstGeom>
          <a:noFill/>
          <a:ln/>
        </p:spPr>
        <p:txBody>
          <a:bodyPr wrap="square" lIns="0" tIns="0" rIns="0" bIns="0" rtlCol="0" anchor="t"/>
          <a:lstStyle/>
          <a:p>
            <a:pPr indent="0" marL="0">
              <a:buNone/>
            </a:pPr>
            <a:r>
              <a:rPr lang="id-ID" altLang="en-US" sz="2200" b="1" dirty="0">
                <a:solidFill>
                  <a:srgbClr val="1F2328"/>
                </a:solidFill>
              </a:rPr>
              <a:t>Tebak dulu, baru jalankan.</a:t>
            </a:r>
            <a:r>
              <a:rPr lang="id-ID" altLang="en-US" sz="2200" dirty="0">
                <a:solidFill>
                  <a:srgbClr val="1F2328"/>
                </a:solidFill>
              </a:rPr>
              <a:t> Tulis tebakan </a:t>
            </a:r>
            <a:r>
              <a:rPr lang="id-ID" altLang="en-US" sz="2200" i="1" dirty="0">
                <a:solidFill>
                  <a:srgbClr val="1F2328"/>
                </a:solidFill>
              </a:rPr>
              <a:t>output</a:t>
            </a:r>
            <a:r>
              <a:rPr lang="id-ID" altLang="en-US" sz="2200" dirty="0">
                <a:solidFill>
                  <a:srgbClr val="1F2328"/>
                </a:solidFill>
              </a:rPr>
              <a:t> di kertas; tebakan yang salah menunjukkan bagian yang belum dipahami.</a:t>
            </a:r>
            <a:endParaRPr lang="id-ID" sz="2200" dirty="0"/>
          </a:p>
        </p:txBody>
      </p:sp>
      <p:sp>
        <p:nvSpPr>
          <p:cNvPr id="7" name="Shape 4"/>
          <p:cNvSpPr/>
          <p:nvPr/>
        </p:nvSpPr>
        <p:spPr>
          <a:xfrm>
            <a:off x="603504" y="2571029"/>
            <a:ext cx="137160" cy="137160"/>
          </a:xfrm>
          <a:prstGeom prst="roundRect">
            <a:avLst>
              <a:gd name="adj" fmla="val 166667"/>
            </a:avLst>
          </a:prstGeom>
          <a:solidFill>
            <a:srgbClr val="0969DA"/>
          </a:solidFill>
          <a:ln/>
        </p:spPr>
      </p:sp>
      <p:sp>
        <p:nvSpPr>
          <p:cNvPr id="8" name="Text 5"/>
          <p:cNvSpPr txBox="1"/>
          <p:nvPr/>
        </p:nvSpPr>
        <p:spPr>
          <a:xfrm>
            <a:off x="932688" y="2469175"/>
            <a:ext cx="10710367" cy="727456"/>
          </a:xfrm>
          <a:prstGeom prst="rect">
            <a:avLst/>
          </a:prstGeom>
          <a:noFill/>
          <a:ln/>
        </p:spPr>
        <p:txBody>
          <a:bodyPr wrap="square" lIns="0" tIns="0" rIns="0" bIns="0" rtlCol="0" anchor="t"/>
          <a:lstStyle/>
          <a:p>
            <a:pPr indent="0" marL="0">
              <a:buNone/>
            </a:pPr>
            <a:r>
              <a:rPr lang="id-ID" altLang="en-US" sz="2200" b="1" dirty="0">
                <a:solidFill>
                  <a:srgbClr val="1F2328"/>
                </a:solidFill>
              </a:rPr>
              <a:t>Telusuri di kertas.</a:t>
            </a:r>
            <a:r>
              <a:rPr lang="id-ID" altLang="en-US" sz="2200" dirty="0">
                <a:solidFill>
                  <a:srgbClr val="1F2328"/>
                </a:solidFill>
              </a:rPr>
              <a:t> Gambar kotak objek dan panah variabel, terutama untuk soal </a:t>
            </a:r>
            <a:r>
              <a:rPr lang="id-ID" altLang="en-US" sz="2200" i="1" dirty="0">
                <a:solidFill>
                  <a:srgbClr val="1F2328"/>
                </a:solidFill>
              </a:rPr>
              <a:t>aliasing</a:t>
            </a:r>
            <a:r>
              <a:rPr lang="id-ID" altLang="en-US" sz="2200" dirty="0">
                <a:solidFill>
                  <a:srgbClr val="1F2328"/>
                </a:solidFill>
              </a:rPr>
              <a:t> dan atribut kelas.</a:t>
            </a:r>
            <a:endParaRPr lang="id-ID" sz="2200" dirty="0"/>
          </a:p>
        </p:txBody>
      </p:sp>
      <p:sp>
        <p:nvSpPr>
          <p:cNvPr id="9" name="Shape 6"/>
          <p:cNvSpPr/>
          <p:nvPr/>
        </p:nvSpPr>
        <p:spPr>
          <a:xfrm>
            <a:off x="603504" y="3527085"/>
            <a:ext cx="137160" cy="137160"/>
          </a:xfrm>
          <a:prstGeom prst="roundRect">
            <a:avLst>
              <a:gd name="adj" fmla="val 166667"/>
            </a:avLst>
          </a:prstGeom>
          <a:solidFill>
            <a:srgbClr val="0969DA"/>
          </a:solidFill>
          <a:ln/>
        </p:spPr>
      </p:sp>
      <p:sp>
        <p:nvSpPr>
          <p:cNvPr id="10" name="Text 7"/>
          <p:cNvSpPr txBox="1"/>
          <p:nvPr/>
        </p:nvSpPr>
        <p:spPr>
          <a:xfrm>
            <a:off x="932688" y="3425231"/>
            <a:ext cx="10710367" cy="386588"/>
          </a:xfrm>
          <a:prstGeom prst="rect">
            <a:avLst/>
          </a:prstGeom>
          <a:noFill/>
          <a:ln/>
        </p:spPr>
        <p:txBody>
          <a:bodyPr wrap="square" lIns="0" tIns="0" rIns="0" bIns="0" rtlCol="0" anchor="t"/>
          <a:lstStyle/>
          <a:p>
            <a:pPr indent="0" marL="0">
              <a:buNone/>
            </a:pPr>
            <a:r>
              <a:rPr lang="id-ID" altLang="en-US" sz="2200" b="1" dirty="0">
                <a:solidFill>
                  <a:srgbClr val="1F2328"/>
                </a:solidFill>
              </a:rPr>
              <a:t>Ketik ulang KedaiKita dari ingatan</a:t>
            </a:r>
            <a:r>
              <a:rPr lang="id-ID" altLang="en-US" sz="2200" dirty="0">
                <a:solidFill>
                  <a:srgbClr val="1F2328"/>
                </a:solidFill>
              </a:rPr>
              <a:t>, mulai dari kelas </a:t>
            </a:r>
            <a:r>
              <a:rPr lang="id-ID" altLang="en-US" sz="2200" dirty="0">
                <a:solidFill>
                  <a:srgbClr val="1F2328"/>
                </a:solidFill>
                <a:latin typeface="Consolas" pitchFamily="34" charset="0"/>
                <a:ea typeface="Consolas" pitchFamily="34" charset="-122"/>
                <a:cs typeface="Consolas" pitchFamily="34" charset="-120"/>
              </a:rPr>
              <a:t>Menu</a:t>
            </a:r>
            <a:r>
              <a:rPr lang="id-ID" altLang="en-US" sz="2200" dirty="0">
                <a:solidFill>
                  <a:srgbClr val="1F2328"/>
                </a:solidFill>
              </a:rPr>
              <a:t> sampai versi Pertemuan 07.</a:t>
            </a:r>
            <a:endParaRPr lang="id-ID" sz="2200" dirty="0"/>
          </a:p>
        </p:txBody>
      </p:sp>
      <p:sp>
        <p:nvSpPr>
          <p:cNvPr id="11" name="Shape 8"/>
          <p:cNvSpPr/>
          <p:nvPr/>
        </p:nvSpPr>
        <p:spPr>
          <a:xfrm>
            <a:off x="603504" y="4142273"/>
            <a:ext cx="137160" cy="137160"/>
          </a:xfrm>
          <a:prstGeom prst="roundRect">
            <a:avLst>
              <a:gd name="adj" fmla="val 166667"/>
            </a:avLst>
          </a:prstGeom>
          <a:solidFill>
            <a:srgbClr val="0969DA"/>
          </a:solidFill>
          <a:ln/>
        </p:spPr>
      </p:sp>
      <p:sp>
        <p:nvSpPr>
          <p:cNvPr id="12" name="Text 9"/>
          <p:cNvSpPr txBox="1"/>
          <p:nvPr/>
        </p:nvSpPr>
        <p:spPr>
          <a:xfrm>
            <a:off x="932688" y="4040419"/>
            <a:ext cx="10710367" cy="386588"/>
          </a:xfrm>
          <a:prstGeom prst="rect">
            <a:avLst/>
          </a:prstGeom>
          <a:noFill/>
          <a:ln/>
        </p:spPr>
        <p:txBody>
          <a:bodyPr wrap="square" lIns="0" tIns="0" rIns="0" bIns="0" rtlCol="0" anchor="t"/>
          <a:lstStyle/>
          <a:p>
            <a:pPr indent="0" marL="0">
              <a:buNone/>
            </a:pPr>
            <a:r>
              <a:rPr lang="id-ID" altLang="en-US" sz="2200" b="1" dirty="0">
                <a:solidFill>
                  <a:srgbClr val="1F2328"/>
                </a:solidFill>
              </a:rPr>
              <a:t>Jelaskan ke teman</a:t>
            </a:r>
            <a:r>
              <a:rPr lang="id-ID" altLang="en-US" sz="2200" dirty="0">
                <a:solidFill>
                  <a:srgbClr val="1F2328"/>
                </a:solidFill>
              </a:rPr>
              <a:t> dan </a:t>
            </a:r>
            <a:r>
              <a:rPr lang="id-ID" altLang="en-US" sz="2200" b="1" dirty="0">
                <a:solidFill>
                  <a:srgbClr val="1F2328"/>
                </a:solidFill>
              </a:rPr>
              <a:t>latihan dengan batas waktu</a:t>
            </a:r>
            <a:r>
              <a:rPr lang="id-ID" altLang="en-US" sz="2200" dirty="0">
                <a:solidFill>
                  <a:srgbClr val="1F2328"/>
                </a:solidFill>
              </a:rPr>
              <a:t>, karena ujian juga punya batas waktu.</a:t>
            </a:r>
            <a:endParaRPr lang="id-ID" sz="2200" dirty="0"/>
          </a:p>
        </p:txBody>
      </p:sp>
      <p:sp>
        <p:nvSpPr>
          <p:cNvPr id="13" name="Shape 10"/>
          <p:cNvSpPr/>
          <p:nvPr/>
        </p:nvSpPr>
        <p:spPr>
          <a:xfrm>
            <a:off x="548640" y="4792767"/>
            <a:ext cx="11094415" cy="1274572"/>
          </a:xfrm>
          <a:prstGeom prst="roundRect">
            <a:avLst>
              <a:gd name="adj" fmla="val 6176"/>
            </a:avLst>
          </a:prstGeom>
          <a:solidFill>
            <a:srgbClr val="FFF8C5"/>
          </a:solidFill>
          <a:ln w="9525">
            <a:solidFill>
              <a:srgbClr val="D4A72C"/>
            </a:solidFill>
            <a:prstDash val="solid"/>
          </a:ln>
        </p:spPr>
      </p:sp>
      <p:sp>
        <p:nvSpPr>
          <p:cNvPr id="14" name="Shape 11"/>
          <p:cNvSpPr/>
          <p:nvPr/>
        </p:nvSpPr>
        <p:spPr>
          <a:xfrm>
            <a:off x="777240" y="4993935"/>
            <a:ext cx="457200" cy="457200"/>
          </a:xfrm>
          <a:prstGeom prst="ellipse">
            <a:avLst/>
          </a:prstGeom>
          <a:solidFill>
            <a:srgbClr val="9A6700"/>
          </a:solidFill>
          <a:ln/>
        </p:spPr>
      </p:sp>
      <p:pic>
        <p:nvPicPr>
          <p:cNvPr id="15" name="Image 1" descr="preencoded.png">    </p:cNvPr>
          <p:cNvPicPr>
            <a:picLocks noChangeAspect="1"/>
          </p:cNvPicPr>
          <p:nvPr/>
        </p:nvPicPr>
        <p:blipFill>
          <a:blip r:embed="rId2"/>
          <a:stretch>
            <a:fillRect/>
          </a:stretch>
        </p:blipFill>
        <p:spPr>
          <a:xfrm>
            <a:off x="877824" y="5094519"/>
            <a:ext cx="256032" cy="256032"/>
          </a:xfrm>
          <a:prstGeom prst="rect">
            <a:avLst/>
          </a:prstGeom>
        </p:spPr>
      </p:pic>
      <p:sp>
        <p:nvSpPr>
          <p:cNvPr id="16" name="Text 12"/>
          <p:cNvSpPr txBox="1"/>
          <p:nvPr/>
        </p:nvSpPr>
        <p:spPr>
          <a:xfrm>
            <a:off x="1417320" y="4939071"/>
            <a:ext cx="2743200" cy="292608"/>
          </a:xfrm>
          <a:prstGeom prst="rect">
            <a:avLst/>
          </a:prstGeom>
          <a:noFill/>
          <a:ln/>
        </p:spPr>
        <p:txBody>
          <a:bodyPr wrap="square" lIns="0" tIns="0" rIns="0" bIns="0" rtlCol="0" anchor="t"/>
          <a:lstStyle/>
          <a:p>
            <a:pPr indent="0" marL="0">
              <a:buNone/>
            </a:pPr>
            <a:r>
              <a:rPr lang="id-ID" altLang="en-US" sz="1500" b="1" dirty="0">
                <a:solidFill>
                  <a:srgbClr val="9A6700"/>
                </a:solidFill>
              </a:rPr>
              <a:t>Perhatikan</a:t>
            </a:r>
            <a:endParaRPr lang="id-ID" sz="1500" dirty="0"/>
          </a:p>
        </p:txBody>
      </p:sp>
      <p:sp>
        <p:nvSpPr>
          <p:cNvPr id="17" name="Text 13"/>
          <p:cNvSpPr txBox="1"/>
          <p:nvPr/>
        </p:nvSpPr>
        <p:spPr>
          <a:xfrm>
            <a:off x="1417320" y="5249967"/>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rPr>
              <a:t>Jangan menghafal kode solusi. Soal ujian hampir pasti memakai cerita yang berbeda; kuasai </a:t>
            </a:r>
            <a:r>
              <a:rPr lang="id-ID" altLang="en-US" sz="1900" b="1" dirty="0">
                <a:solidFill>
                  <a:srgbClr val="1F2328"/>
                </a:solidFill>
              </a:rPr>
              <a:t>pola berpikirnya</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Alur Mengerjakan Soal Praktik</a:t>
            </a:r>
            <a:endParaRPr lang="id-ID" sz="3200" dirty="0"/>
          </a:p>
        </p:txBody>
      </p:sp>
      <p:sp>
        <p:nvSpPr>
          <p:cNvPr id="5" name="Shape 2"/>
          <p:cNvSpPr/>
          <p:nvPr/>
        </p:nvSpPr>
        <p:spPr>
          <a:xfrm>
            <a:off x="548640" y="1455085"/>
            <a:ext cx="2464994" cy="1840992"/>
          </a:xfrm>
          <a:prstGeom prst="roundRect">
            <a:avLst>
              <a:gd name="adj" fmla="val 2960"/>
            </a:avLst>
          </a:prstGeom>
          <a:solidFill>
            <a:srgbClr val="F6F8FA"/>
          </a:solidFill>
          <a:ln w="9525">
            <a:solidFill>
              <a:srgbClr val="D0D7DE"/>
            </a:solidFill>
            <a:prstDash val="solid"/>
          </a:ln>
        </p:spPr>
      </p:sp>
      <p:sp>
        <p:nvSpPr>
          <p:cNvPr id="6" name="Shape 3"/>
          <p:cNvSpPr/>
          <p:nvPr/>
        </p:nvSpPr>
        <p:spPr>
          <a:xfrm>
            <a:off x="777240" y="1683685"/>
            <a:ext cx="512064" cy="512064"/>
          </a:xfrm>
          <a:prstGeom prst="ellipse">
            <a:avLst/>
          </a:prstGeom>
          <a:solidFill>
            <a:srgbClr val="0969DA"/>
          </a:solidFill>
          <a:ln/>
        </p:spPr>
      </p:sp>
      <p:sp>
        <p:nvSpPr>
          <p:cNvPr id="7" name="Text 4"/>
          <p:cNvSpPr txBox="1"/>
          <p:nvPr/>
        </p:nvSpPr>
        <p:spPr>
          <a:xfrm>
            <a:off x="777240" y="168368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323765"/>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Baca soal sampai habis.</a:t>
            </a:r>
            <a:endParaRPr lang="id-ID" sz="1600" dirty="0"/>
          </a:p>
        </p:txBody>
      </p:sp>
      <p:pic>
        <p:nvPicPr>
          <p:cNvPr id="9" name="Image 1" descr="preencoded.png">    </p:cNvPr>
          <p:cNvPicPr>
            <a:picLocks noChangeAspect="1"/>
          </p:cNvPicPr>
          <p:nvPr/>
        </p:nvPicPr>
        <p:blipFill>
          <a:blip r:embed="rId2"/>
          <a:stretch>
            <a:fillRect/>
          </a:stretch>
        </p:blipFill>
        <p:spPr>
          <a:xfrm>
            <a:off x="3063926" y="2220133"/>
            <a:ext cx="310896" cy="310896"/>
          </a:xfrm>
          <a:prstGeom prst="rect">
            <a:avLst/>
          </a:prstGeom>
        </p:spPr>
      </p:pic>
      <p:sp>
        <p:nvSpPr>
          <p:cNvPr id="10" name="Shape 6"/>
          <p:cNvSpPr/>
          <p:nvPr/>
        </p:nvSpPr>
        <p:spPr>
          <a:xfrm>
            <a:off x="3425114" y="1455085"/>
            <a:ext cx="2464994" cy="1840992"/>
          </a:xfrm>
          <a:prstGeom prst="roundRect">
            <a:avLst>
              <a:gd name="adj" fmla="val 2960"/>
            </a:avLst>
          </a:prstGeom>
          <a:solidFill>
            <a:srgbClr val="F6F8FA"/>
          </a:solidFill>
          <a:ln w="9525">
            <a:solidFill>
              <a:srgbClr val="D0D7DE"/>
            </a:solidFill>
            <a:prstDash val="solid"/>
          </a:ln>
        </p:spPr>
      </p:sp>
      <p:sp>
        <p:nvSpPr>
          <p:cNvPr id="11" name="Shape 7"/>
          <p:cNvSpPr/>
          <p:nvPr/>
        </p:nvSpPr>
        <p:spPr>
          <a:xfrm>
            <a:off x="3653714" y="1683685"/>
            <a:ext cx="512064" cy="512064"/>
          </a:xfrm>
          <a:prstGeom prst="ellipse">
            <a:avLst/>
          </a:prstGeom>
          <a:solidFill>
            <a:srgbClr val="0969DA"/>
          </a:solidFill>
          <a:ln/>
        </p:spPr>
      </p:sp>
      <p:sp>
        <p:nvSpPr>
          <p:cNvPr id="12" name="Text 8"/>
          <p:cNvSpPr txBox="1"/>
          <p:nvPr/>
        </p:nvSpPr>
        <p:spPr>
          <a:xfrm>
            <a:off x="3653714" y="168368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3" name="Text 9"/>
          <p:cNvSpPr txBox="1"/>
          <p:nvPr/>
        </p:nvSpPr>
        <p:spPr>
          <a:xfrm>
            <a:off x="3653714" y="2323765"/>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Tandai kata benda dan kata kerja.</a:t>
            </a:r>
            <a:endParaRPr lang="id-ID" sz="1600" dirty="0"/>
          </a:p>
        </p:txBody>
      </p:sp>
      <p:pic>
        <p:nvPicPr>
          <p:cNvPr id="14" name="Image 2" descr="preencoded.png">    </p:cNvPr>
          <p:cNvPicPr>
            <a:picLocks noChangeAspect="1"/>
          </p:cNvPicPr>
          <p:nvPr/>
        </p:nvPicPr>
        <p:blipFill>
          <a:blip r:embed="rId3"/>
          <a:stretch>
            <a:fillRect/>
          </a:stretch>
        </p:blipFill>
        <p:spPr>
          <a:xfrm>
            <a:off x="5940400" y="2220133"/>
            <a:ext cx="310896" cy="310896"/>
          </a:xfrm>
          <a:prstGeom prst="rect">
            <a:avLst/>
          </a:prstGeom>
        </p:spPr>
      </p:pic>
      <p:sp>
        <p:nvSpPr>
          <p:cNvPr id="15" name="Shape 10"/>
          <p:cNvSpPr/>
          <p:nvPr/>
        </p:nvSpPr>
        <p:spPr>
          <a:xfrm>
            <a:off x="6301588" y="1455085"/>
            <a:ext cx="2464994" cy="1840992"/>
          </a:xfrm>
          <a:prstGeom prst="roundRect">
            <a:avLst>
              <a:gd name="adj" fmla="val 2960"/>
            </a:avLst>
          </a:prstGeom>
          <a:solidFill>
            <a:srgbClr val="F6F8FA"/>
          </a:solidFill>
          <a:ln w="9525">
            <a:solidFill>
              <a:srgbClr val="D0D7DE"/>
            </a:solidFill>
            <a:prstDash val="solid"/>
          </a:ln>
        </p:spPr>
      </p:sp>
      <p:sp>
        <p:nvSpPr>
          <p:cNvPr id="16" name="Shape 11"/>
          <p:cNvSpPr/>
          <p:nvPr/>
        </p:nvSpPr>
        <p:spPr>
          <a:xfrm>
            <a:off x="6530188" y="1683685"/>
            <a:ext cx="512064" cy="512064"/>
          </a:xfrm>
          <a:prstGeom prst="ellipse">
            <a:avLst/>
          </a:prstGeom>
          <a:solidFill>
            <a:srgbClr val="0969DA"/>
          </a:solidFill>
          <a:ln/>
        </p:spPr>
      </p:sp>
      <p:sp>
        <p:nvSpPr>
          <p:cNvPr id="17" name="Text 12"/>
          <p:cNvSpPr txBox="1"/>
          <p:nvPr/>
        </p:nvSpPr>
        <p:spPr>
          <a:xfrm>
            <a:off x="6530188" y="168368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8" name="Text 13"/>
          <p:cNvSpPr txBox="1"/>
          <p:nvPr/>
        </p:nvSpPr>
        <p:spPr>
          <a:xfrm>
            <a:off x="6530188" y="2323765"/>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Rancang kelas, atribut, </a:t>
            </a:r>
            <a:r>
              <a:rPr lang="id-ID" altLang="en-US" sz="1600" i="1" dirty="0">
                <a:solidFill>
                  <a:srgbClr val="1F2328"/>
                </a:solidFill>
              </a:rPr>
              <a:t>method</a:t>
            </a:r>
            <a:r>
              <a:rPr lang="id-ID" altLang="en-US" sz="1600" dirty="0">
                <a:solidFill>
                  <a:srgbClr val="1F2328"/>
                </a:solidFill>
              </a:rPr>
              <a:t>, dan relasi.</a:t>
            </a:r>
            <a:endParaRPr lang="id-ID" sz="1600" dirty="0"/>
          </a:p>
        </p:txBody>
      </p:sp>
      <p:pic>
        <p:nvPicPr>
          <p:cNvPr id="19" name="Image 3" descr="preencoded.png">    </p:cNvPr>
          <p:cNvPicPr>
            <a:picLocks noChangeAspect="1"/>
          </p:cNvPicPr>
          <p:nvPr/>
        </p:nvPicPr>
        <p:blipFill>
          <a:blip r:embed="rId4"/>
          <a:stretch>
            <a:fillRect/>
          </a:stretch>
        </p:blipFill>
        <p:spPr>
          <a:xfrm>
            <a:off x="8816873" y="2220133"/>
            <a:ext cx="310896" cy="310896"/>
          </a:xfrm>
          <a:prstGeom prst="rect">
            <a:avLst/>
          </a:prstGeom>
        </p:spPr>
      </p:pic>
      <p:sp>
        <p:nvSpPr>
          <p:cNvPr id="20" name="Shape 14"/>
          <p:cNvSpPr/>
          <p:nvPr/>
        </p:nvSpPr>
        <p:spPr>
          <a:xfrm>
            <a:off x="9178061" y="1455085"/>
            <a:ext cx="2464994" cy="1840992"/>
          </a:xfrm>
          <a:prstGeom prst="roundRect">
            <a:avLst>
              <a:gd name="adj" fmla="val 2960"/>
            </a:avLst>
          </a:prstGeom>
          <a:solidFill>
            <a:srgbClr val="F6F8FA"/>
          </a:solidFill>
          <a:ln w="9525">
            <a:solidFill>
              <a:srgbClr val="D0D7DE"/>
            </a:solidFill>
            <a:prstDash val="solid"/>
          </a:ln>
        </p:spPr>
      </p:sp>
      <p:sp>
        <p:nvSpPr>
          <p:cNvPr id="21" name="Shape 15"/>
          <p:cNvSpPr/>
          <p:nvPr/>
        </p:nvSpPr>
        <p:spPr>
          <a:xfrm>
            <a:off x="9406661" y="1683685"/>
            <a:ext cx="512064" cy="512064"/>
          </a:xfrm>
          <a:prstGeom prst="ellipse">
            <a:avLst/>
          </a:prstGeom>
          <a:solidFill>
            <a:srgbClr val="0969DA"/>
          </a:solidFill>
          <a:ln/>
        </p:spPr>
      </p:sp>
      <p:sp>
        <p:nvSpPr>
          <p:cNvPr id="22" name="Text 16"/>
          <p:cNvSpPr txBox="1"/>
          <p:nvPr/>
        </p:nvSpPr>
        <p:spPr>
          <a:xfrm>
            <a:off x="9406661" y="168368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3" name="Text 17"/>
          <p:cNvSpPr txBox="1"/>
          <p:nvPr/>
        </p:nvSpPr>
        <p:spPr>
          <a:xfrm>
            <a:off x="9406661" y="2323765"/>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Buat sketsa diagram kelas singkat.</a:t>
            </a:r>
            <a:endParaRPr lang="id-ID" sz="1600" dirty="0"/>
          </a:p>
        </p:txBody>
      </p:sp>
      <p:sp>
        <p:nvSpPr>
          <p:cNvPr id="24" name="Shape 18"/>
          <p:cNvSpPr/>
          <p:nvPr/>
        </p:nvSpPr>
        <p:spPr>
          <a:xfrm>
            <a:off x="1986877" y="3616117"/>
            <a:ext cx="2464994" cy="1840992"/>
          </a:xfrm>
          <a:prstGeom prst="roundRect">
            <a:avLst>
              <a:gd name="adj" fmla="val 2960"/>
            </a:avLst>
          </a:prstGeom>
          <a:solidFill>
            <a:srgbClr val="F6F8FA"/>
          </a:solidFill>
          <a:ln w="9525">
            <a:solidFill>
              <a:srgbClr val="D0D7DE"/>
            </a:solidFill>
            <a:prstDash val="solid"/>
          </a:ln>
        </p:spPr>
      </p:sp>
      <p:sp>
        <p:nvSpPr>
          <p:cNvPr id="25" name="Shape 19"/>
          <p:cNvSpPr/>
          <p:nvPr/>
        </p:nvSpPr>
        <p:spPr>
          <a:xfrm>
            <a:off x="2215477" y="3844717"/>
            <a:ext cx="512064" cy="512064"/>
          </a:xfrm>
          <a:prstGeom prst="ellipse">
            <a:avLst/>
          </a:prstGeom>
          <a:solidFill>
            <a:srgbClr val="0969DA"/>
          </a:solidFill>
          <a:ln/>
        </p:spPr>
      </p:sp>
      <p:sp>
        <p:nvSpPr>
          <p:cNvPr id="26" name="Text 20"/>
          <p:cNvSpPr txBox="1"/>
          <p:nvPr/>
        </p:nvSpPr>
        <p:spPr>
          <a:xfrm>
            <a:off x="2215477" y="3844717"/>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7" name="Text 21"/>
          <p:cNvSpPr txBox="1"/>
          <p:nvPr/>
        </p:nvSpPr>
        <p:spPr>
          <a:xfrm>
            <a:off x="2215477" y="4484797"/>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Tulis kerangka semua kelas dan </a:t>
            </a:r>
            <a:r>
              <a:rPr lang="id-ID" altLang="en-US" sz="1600" dirty="0">
                <a:solidFill>
                  <a:srgbClr val="1F2328"/>
                </a:solidFill>
                <a:latin typeface="Consolas" pitchFamily="34" charset="0"/>
                <a:ea typeface="Consolas" pitchFamily="34" charset="-122"/>
                <a:cs typeface="Consolas" pitchFamily="34" charset="-120"/>
              </a:rPr>
              <a:t>main</a:t>
            </a:r>
            <a:r>
              <a:rPr lang="id-ID" altLang="en-US" sz="1600" dirty="0">
                <a:solidFill>
                  <a:srgbClr val="1F2328"/>
                </a:solidFill>
              </a:rPr>
              <a:t> yang sudah bisa dijalankan.</a:t>
            </a:r>
            <a:endParaRPr lang="id-ID" sz="1600" dirty="0"/>
          </a:p>
        </p:txBody>
      </p:sp>
      <p:pic>
        <p:nvPicPr>
          <p:cNvPr id="28" name="Image 4" descr="preencoded.png">    </p:cNvPr>
          <p:cNvPicPr>
            <a:picLocks noChangeAspect="1"/>
          </p:cNvPicPr>
          <p:nvPr/>
        </p:nvPicPr>
        <p:blipFill>
          <a:blip r:embed="rId5"/>
          <a:stretch>
            <a:fillRect/>
          </a:stretch>
        </p:blipFill>
        <p:spPr>
          <a:xfrm>
            <a:off x="4502163" y="4381165"/>
            <a:ext cx="310896" cy="310896"/>
          </a:xfrm>
          <a:prstGeom prst="rect">
            <a:avLst/>
          </a:prstGeom>
        </p:spPr>
      </p:pic>
      <p:sp>
        <p:nvSpPr>
          <p:cNvPr id="29" name="Shape 22"/>
          <p:cNvSpPr/>
          <p:nvPr/>
        </p:nvSpPr>
        <p:spPr>
          <a:xfrm>
            <a:off x="4863351" y="3616117"/>
            <a:ext cx="2464994" cy="1840992"/>
          </a:xfrm>
          <a:prstGeom prst="roundRect">
            <a:avLst>
              <a:gd name="adj" fmla="val 2960"/>
            </a:avLst>
          </a:prstGeom>
          <a:solidFill>
            <a:srgbClr val="F6F8FA"/>
          </a:solidFill>
          <a:ln w="9525">
            <a:solidFill>
              <a:srgbClr val="D0D7DE"/>
            </a:solidFill>
            <a:prstDash val="solid"/>
          </a:ln>
        </p:spPr>
      </p:sp>
      <p:sp>
        <p:nvSpPr>
          <p:cNvPr id="30" name="Shape 23"/>
          <p:cNvSpPr/>
          <p:nvPr/>
        </p:nvSpPr>
        <p:spPr>
          <a:xfrm>
            <a:off x="5091951" y="3844717"/>
            <a:ext cx="512064" cy="512064"/>
          </a:xfrm>
          <a:prstGeom prst="ellipse">
            <a:avLst/>
          </a:prstGeom>
          <a:solidFill>
            <a:srgbClr val="0969DA"/>
          </a:solidFill>
          <a:ln/>
        </p:spPr>
      </p:sp>
      <p:sp>
        <p:nvSpPr>
          <p:cNvPr id="31" name="Text 24"/>
          <p:cNvSpPr txBox="1"/>
          <p:nvPr/>
        </p:nvSpPr>
        <p:spPr>
          <a:xfrm>
            <a:off x="5091951" y="3844717"/>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32" name="Text 25"/>
          <p:cNvSpPr txBox="1"/>
          <p:nvPr/>
        </p:nvSpPr>
        <p:spPr>
          <a:xfrm>
            <a:off x="5091951" y="4484797"/>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Isi satu kelas, jalankan, lalu uji. Ulangi sampai semua kelas selesai.</a:t>
            </a:r>
            <a:endParaRPr lang="id-ID" sz="1600" dirty="0"/>
          </a:p>
        </p:txBody>
      </p:sp>
      <p:pic>
        <p:nvPicPr>
          <p:cNvPr id="33" name="Image 5" descr="preencoded.png">    </p:cNvPr>
          <p:cNvPicPr>
            <a:picLocks noChangeAspect="1"/>
          </p:cNvPicPr>
          <p:nvPr/>
        </p:nvPicPr>
        <p:blipFill>
          <a:blip r:embed="rId6"/>
          <a:stretch>
            <a:fillRect/>
          </a:stretch>
        </p:blipFill>
        <p:spPr>
          <a:xfrm>
            <a:off x="7378637" y="4381165"/>
            <a:ext cx="310896" cy="310896"/>
          </a:xfrm>
          <a:prstGeom prst="rect">
            <a:avLst/>
          </a:prstGeom>
        </p:spPr>
      </p:pic>
      <p:sp>
        <p:nvSpPr>
          <p:cNvPr id="34" name="Shape 26"/>
          <p:cNvSpPr/>
          <p:nvPr/>
        </p:nvSpPr>
        <p:spPr>
          <a:xfrm>
            <a:off x="7739825" y="3616117"/>
            <a:ext cx="2464994" cy="1840992"/>
          </a:xfrm>
          <a:prstGeom prst="roundRect">
            <a:avLst>
              <a:gd name="adj" fmla="val 2960"/>
            </a:avLst>
          </a:prstGeom>
          <a:solidFill>
            <a:srgbClr val="F6F8FA"/>
          </a:solidFill>
          <a:ln w="9525">
            <a:solidFill>
              <a:srgbClr val="D0D7DE"/>
            </a:solidFill>
            <a:prstDash val="solid"/>
          </a:ln>
        </p:spPr>
      </p:sp>
      <p:sp>
        <p:nvSpPr>
          <p:cNvPr id="35" name="Shape 27"/>
          <p:cNvSpPr/>
          <p:nvPr/>
        </p:nvSpPr>
        <p:spPr>
          <a:xfrm>
            <a:off x="7968425" y="3844717"/>
            <a:ext cx="512064" cy="512064"/>
          </a:xfrm>
          <a:prstGeom prst="ellipse">
            <a:avLst/>
          </a:prstGeom>
          <a:solidFill>
            <a:srgbClr val="0969DA"/>
          </a:solidFill>
          <a:ln/>
        </p:spPr>
      </p:sp>
      <p:sp>
        <p:nvSpPr>
          <p:cNvPr id="36" name="Text 28"/>
          <p:cNvSpPr txBox="1"/>
          <p:nvPr/>
        </p:nvSpPr>
        <p:spPr>
          <a:xfrm>
            <a:off x="7968425" y="3844717"/>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7</a:t>
            </a:r>
            <a:endParaRPr lang="id-ID" sz="2000" dirty="0"/>
          </a:p>
        </p:txBody>
      </p:sp>
      <p:sp>
        <p:nvSpPr>
          <p:cNvPr id="37" name="Text 29"/>
          <p:cNvSpPr txBox="1"/>
          <p:nvPr/>
        </p:nvSpPr>
        <p:spPr>
          <a:xfrm>
            <a:off x="7968425" y="4484797"/>
            <a:ext cx="2007794" cy="880872"/>
          </a:xfrm>
          <a:prstGeom prst="rect">
            <a:avLst/>
          </a:prstGeom>
          <a:noFill/>
          <a:ln/>
        </p:spPr>
        <p:txBody>
          <a:bodyPr wrap="square" lIns="0" tIns="0" rIns="0" bIns="0" rtlCol="0" anchor="t"/>
          <a:lstStyle/>
          <a:p>
            <a:pPr indent="0" marL="0">
              <a:buNone/>
            </a:pPr>
            <a:r>
              <a:rPr lang="id-ID" altLang="en-US" sz="1600" dirty="0">
                <a:solidFill>
                  <a:srgbClr val="1F2328"/>
                </a:solidFill>
              </a:rPr>
              <a:t>Cocokkan </a:t>
            </a:r>
            <a:r>
              <a:rPr lang="id-ID" altLang="en-US" sz="1600" i="1" dirty="0">
                <a:solidFill>
                  <a:srgbClr val="1F2328"/>
                </a:solidFill>
              </a:rPr>
              <a:t>output</a:t>
            </a:r>
            <a:r>
              <a:rPr lang="id-ID" altLang="en-US" sz="1600" dirty="0">
                <a:solidFill>
                  <a:srgbClr val="1F2328"/>
                </a:solidFill>
              </a:rPr>
              <a:t> dengan contoh di soal, lalu rapikan.</a:t>
            </a:r>
            <a:endParaRPr lang="id-ID" sz="1600" dirty="0"/>
          </a:p>
        </p:txBody>
      </p:sp>
      <p:sp>
        <p:nvSpPr>
          <p:cNvPr id="38" name="Shape 30"/>
          <p:cNvSpPr/>
          <p:nvPr/>
        </p:nvSpPr>
        <p:spPr>
          <a:xfrm>
            <a:off x="548640" y="5795437"/>
            <a:ext cx="329184" cy="329184"/>
          </a:xfrm>
          <a:prstGeom prst="ellipse">
            <a:avLst/>
          </a:prstGeom>
          <a:solidFill>
            <a:srgbClr val="57606A"/>
          </a:solidFill>
          <a:ln/>
        </p:spPr>
      </p:sp>
      <p:pic>
        <p:nvPicPr>
          <p:cNvPr id="39" name="Image 6" descr="preencoded.png">    </p:cNvPr>
          <p:cNvPicPr>
            <a:picLocks noChangeAspect="1"/>
          </p:cNvPicPr>
          <p:nvPr/>
        </p:nvPicPr>
        <p:blipFill>
          <a:blip r:embed="rId7"/>
          <a:stretch>
            <a:fillRect/>
          </a:stretch>
        </p:blipFill>
        <p:spPr>
          <a:xfrm>
            <a:off x="621060" y="5867857"/>
            <a:ext cx="184343" cy="184343"/>
          </a:xfrm>
          <a:prstGeom prst="rect">
            <a:avLst/>
          </a:prstGeom>
        </p:spPr>
      </p:pic>
      <p:sp>
        <p:nvSpPr>
          <p:cNvPr id="40" name="Text 31"/>
          <p:cNvSpPr txBox="1"/>
          <p:nvPr/>
        </p:nvSpPr>
        <p:spPr>
          <a:xfrm>
            <a:off x="1005840" y="5777149"/>
            <a:ext cx="10545775" cy="370332"/>
          </a:xfrm>
          <a:prstGeom prst="rect">
            <a:avLst/>
          </a:prstGeom>
          <a:noFill/>
          <a:ln/>
        </p:spPr>
        <p:txBody>
          <a:bodyPr wrap="square" lIns="0" tIns="0" rIns="0" bIns="0" rtlCol="0" anchor="t"/>
          <a:lstStyle/>
          <a:p>
            <a:pPr indent="0" marL="0">
              <a:buNone/>
            </a:pPr>
            <a:r>
              <a:rPr lang="id-ID" altLang="en-US" sz="1800" dirty="0">
                <a:solidFill>
                  <a:srgbClr val="1F2328"/>
                </a:solidFill>
              </a:rPr>
              <a:t>Kesalahan terbesar saat ujian praktik adalah </a:t>
            </a:r>
            <a:r>
              <a:rPr lang="id-ID" altLang="en-US" sz="1800" b="1" dirty="0">
                <a:solidFill>
                  <a:srgbClr val="1F2328"/>
                </a:solidFill>
              </a:rPr>
              <a:t>langsung mengetik</a:t>
            </a:r>
            <a:r>
              <a:rPr lang="id-ID" altLang="en-US" sz="1800" dirty="0">
                <a:solidFill>
                  <a:srgbClr val="1F2328"/>
                </a:solidFill>
              </a:rPr>
              <a:t> tanpa rancangan.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Contoh Pembagian Waktu Soal Praktik 75 Menit</a:t>
            </a:r>
            <a:endParaRPr lang="id-ID"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54495"/>
          <a:ext cx="11094415" cy="914400"/>
        </p:xfrm>
        <a:graphic>
          <a:graphicData uri="http://schemas.openxmlformats.org/drawingml/2006/table">
            <a:tbl>
              <a:tblPr/>
              <a:tblGrid>
                <a:gridCol w="1155575"/>
                <a:gridCol w="9938840"/>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Menit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Kegiatan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0⁠—⁠10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Membaca, menandai, merancang, dan membuat sketsa diagram</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10⁠—⁠20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Menulis kerangka semua kelas dan </a:t>
                      </a:r>
                      <a:r>
                        <a:rPr lang="id-ID" altLang="en-US" sz="2200" dirty="0">
                          <a:solidFill>
                            <a:srgbClr val="0A3069"/>
                          </a:solidFill>
                          <a:latin typeface="Consolas" pitchFamily="34" charset="0"/>
                          <a:ea typeface="Consolas" pitchFamily="34" charset="-122"/>
                          <a:cs typeface="Consolas" pitchFamily="34" charset="-120"/>
                        </a:rPr>
                        <a:t>main</a:t>
                      </a:r>
                      <a:r>
                        <a:rPr lang="id-ID" altLang="en-US" sz="2200" dirty="0">
                          <a:solidFill>
                            <a:srgbClr val="1F2328"/>
                          </a:solidFill>
                          <a:latin typeface="Calibri" pitchFamily="34" charset="0"/>
                          <a:ea typeface="Calibri" pitchFamily="34" charset="-122"/>
                          <a:cs typeface="Calibri" pitchFamily="34" charset="-120"/>
                        </a:rPr>
                        <a:t> yang sudah bisa dijalankan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20⁠—⁠60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Mengisi kelas dari yang paling mandiri, sambil terus menjalankan program</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60⁠—⁠70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Mencocokkan </a:t>
                      </a:r>
                      <a:r>
                        <a:rPr lang="id-ID" altLang="en-US" sz="2200" i="1" dirty="0">
                          <a:solidFill>
                            <a:srgbClr val="1F2328"/>
                          </a:solidFill>
                          <a:latin typeface="Calibri" pitchFamily="34" charset="0"/>
                          <a:ea typeface="Calibri" pitchFamily="34" charset="-122"/>
                          <a:cs typeface="Calibri" pitchFamily="34" charset="-120"/>
                        </a:rPr>
                        <a:t>output</a:t>
                      </a:r>
                      <a:r>
                        <a:rPr lang="id-ID" altLang="en-US" sz="2200" dirty="0">
                          <a:solidFill>
                            <a:srgbClr val="1F2328"/>
                          </a:solidFill>
                          <a:latin typeface="Calibri" pitchFamily="34" charset="0"/>
                          <a:ea typeface="Calibri" pitchFamily="34" charset="-122"/>
                          <a:cs typeface="Calibri" pitchFamily="34" charset="-120"/>
                        </a:rPr>
                        <a:t> dan pesan </a:t>
                      </a:r>
                      <a:r>
                        <a:rPr lang="id-ID" altLang="en-US" sz="2200" i="1" dirty="0">
                          <a:solidFill>
                            <a:srgbClr val="1F2328"/>
                          </a:solidFill>
                          <a:latin typeface="Calibri" pitchFamily="34" charset="0"/>
                          <a:ea typeface="Calibri" pitchFamily="34" charset="-122"/>
                          <a:cs typeface="Calibri" pitchFamily="34" charset="-120"/>
                        </a:rPr>
                        <a:t>error</a:t>
                      </a:r>
                      <a:r>
                        <a:rPr lang="id-ID" altLang="en-US" sz="2200" dirty="0">
                          <a:solidFill>
                            <a:srgbClr val="1F2328"/>
                          </a:solidFill>
                          <a:latin typeface="Calibri" pitchFamily="34" charset="0"/>
                          <a:ea typeface="Calibri" pitchFamily="34" charset="-122"/>
                          <a:cs typeface="Calibri" pitchFamily="34" charset="-120"/>
                        </a:rPr>
                        <a:t> dengan contoh di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70⁠—⁠75</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Merapikan nama dan komentar, lalu menyimpan atau mengumpulkan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4387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16291"/>
            <a:ext cx="184343" cy="184343"/>
          </a:xfrm>
          <a:prstGeom prst="rect">
            <a:avLst/>
          </a:prstGeom>
        </p:spPr>
      </p:pic>
      <p:sp>
        <p:nvSpPr>
          <p:cNvPr id="8" name="Text 3"/>
          <p:cNvSpPr txBox="1"/>
          <p:nvPr/>
        </p:nvSpPr>
        <p:spPr>
          <a:xfrm>
            <a:off x="1005840" y="5225583"/>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Ini contoh untuk latihan. Durasi dan aturan UTS yang asli mengikuti pengumuman dosen.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Kesalahan yang Sering Mengurangi Nilai</a:t>
            </a:r>
            <a:endParaRPr lang="id-ID"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52311"/>
          <a:ext cx="11094415" cy="914400"/>
        </p:xfrm>
        <a:graphic>
          <a:graphicData uri="http://schemas.openxmlformats.org/drawingml/2006/table">
            <a:tbl>
              <a:tblPr/>
              <a:tblGrid>
                <a:gridCol w="3150034"/>
                <a:gridCol w="3675577"/>
                <a:gridCol w="4268805"/>
              </a:tblGrid>
              <a:tr h="399796">
                <a:tc>
                  <a:txBody>
                    <a:bodyPr/>
                    <a:lstStyle/>
                    <a:p>
                      <a:pPr indent="0" marL="0">
                        <a:buNone/>
                      </a:pPr>
                      <a:r>
                        <a:rPr lang="id-ID" altLang="en-US" sz="1400" b="1" dirty="0">
                          <a:solidFill>
                            <a:srgbClr val="FFFFFF"/>
                          </a:solidFill>
                          <a:latin typeface="Calibri" pitchFamily="34" charset="0"/>
                          <a:ea typeface="Calibri" pitchFamily="34" charset="-122"/>
                          <a:cs typeface="Calibri" pitchFamily="34" charset="-120"/>
                        </a:rPr>
                        <a:t>Kesalahan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400" b="1" dirty="0">
                          <a:solidFill>
                            <a:srgbClr val="FFFFFF"/>
                          </a:solidFill>
                          <a:latin typeface="Calibri" pitchFamily="34" charset="0"/>
                          <a:ea typeface="Calibri" pitchFamily="34" charset="-122"/>
                          <a:cs typeface="Calibri" pitchFamily="34" charset="-120"/>
                        </a:rPr>
                        <a:t>Akibatnya</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400" b="1" dirty="0">
                          <a:solidFill>
                            <a:srgbClr val="FFFFFF"/>
                          </a:solidFill>
                          <a:latin typeface="Calibri" pitchFamily="34" charset="0"/>
                          <a:ea typeface="Calibri" pitchFamily="34" charset="-122"/>
                          <a:cs typeface="Calibri" pitchFamily="34" charset="-120"/>
                        </a:rPr>
                        <a:t>Cara menghindarinya</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Lupa </a:t>
                      </a:r>
                      <a:r>
                        <a:rPr lang="id-ID" altLang="en-US" sz="1400" dirty="0">
                          <a:solidFill>
                            <a:srgbClr val="0A3069"/>
                          </a:solidFill>
                          <a:latin typeface="Consolas" pitchFamily="34" charset="0"/>
                          <a:ea typeface="Consolas" pitchFamily="34" charset="-122"/>
                          <a:cs typeface="Consolas" pitchFamily="34" charset="-120"/>
                        </a:rPr>
                        <a:t>self</a:t>
                      </a:r>
                      <a:r>
                        <a:rPr lang="id-ID" altLang="en-US" sz="1400" dirty="0">
                          <a:solidFill>
                            <a:srgbClr val="1F2328"/>
                          </a:solidFill>
                          <a:latin typeface="Calibri" pitchFamily="34" charset="0"/>
                          <a:ea typeface="Calibri" pitchFamily="34" charset="-122"/>
                          <a:cs typeface="Calibri" pitchFamily="34" charset="-120"/>
                        </a:rPr>
                        <a:t> sebagai parameter pertama </a:t>
                      </a:r>
                      <a:r>
                        <a:rPr lang="id-ID" altLang="en-US" sz="1400" i="1" dirty="0">
                          <a:solidFill>
                            <a:srgbClr val="1F2328"/>
                          </a:solidFill>
                          <a:latin typeface="Calibri" pitchFamily="34" charset="0"/>
                          <a:ea typeface="Calibri" pitchFamily="34" charset="-122"/>
                          <a:cs typeface="Calibri" pitchFamily="34" charset="-120"/>
                        </a:rPr>
                        <a:t>method</a:t>
                      </a:r>
                      <a:r>
                        <a:rPr lang="id-ID" altLang="en-US" sz="1400" dirty="0">
                          <a:solidFill>
                            <a:srgbClr val="1F2328"/>
                          </a:solidFill>
                          <a:latin typeface="Calibri" pitchFamily="34" charset="0"/>
                          <a:ea typeface="Calibri" pitchFamily="34" charset="-122"/>
                          <a:cs typeface="Calibri" pitchFamily="34" charset="-120"/>
                        </a:rPr>
                        <a:t> (Python)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400" dirty="0">
                          <a:solidFill>
                            <a:srgbClr val="0A3069"/>
                          </a:solidFill>
                          <a:latin typeface="Consolas" pitchFamily="34" charset="0"/>
                          <a:ea typeface="Consolas" pitchFamily="34" charset="-122"/>
                          <a:cs typeface="Consolas" pitchFamily="34" charset="-120"/>
                        </a:rPr>
                        <a:t>TypeError: ... takes 0 positional arguments but 1 was given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Setiap </a:t>
                      </a:r>
                      <a:r>
                        <a:rPr lang="id-ID" altLang="en-US" sz="1400" i="1" dirty="0">
                          <a:solidFill>
                            <a:srgbClr val="1F2328"/>
                          </a:solidFill>
                          <a:latin typeface="Calibri" pitchFamily="34" charset="0"/>
                          <a:ea typeface="Calibri" pitchFamily="34" charset="-122"/>
                          <a:cs typeface="Calibri" pitchFamily="34" charset="-120"/>
                        </a:rPr>
                        <a:t>method</a:t>
                      </a:r>
                      <a:r>
                        <a:rPr lang="id-ID" altLang="en-US" sz="1400" dirty="0">
                          <a:solidFill>
                            <a:srgbClr val="1F2328"/>
                          </a:solidFill>
                          <a:latin typeface="Calibri" pitchFamily="34" charset="0"/>
                          <a:ea typeface="Calibri" pitchFamily="34" charset="-122"/>
                          <a:cs typeface="Calibri" pitchFamily="34" charset="-120"/>
                        </a:rPr>
                        <a:t> objek diawali </a:t>
                      </a:r>
                      <a:r>
                        <a:rPr lang="id-ID" altLang="en-US" sz="1400" dirty="0">
                          <a:solidFill>
                            <a:srgbClr val="0A3069"/>
                          </a:solidFill>
                          <a:latin typeface="Consolas" pitchFamily="34" charset="0"/>
                          <a:ea typeface="Consolas" pitchFamily="34" charset="-122"/>
                          <a:cs typeface="Consolas" pitchFamily="34" charset="-120"/>
                        </a:rPr>
                        <a:t>self</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16712">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Lupa memanggil konstruktor induk</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Python: </a:t>
                      </a:r>
                      <a:r>
                        <a:rPr lang="id-ID" altLang="en-US" sz="1400" dirty="0">
                          <a:solidFill>
                            <a:srgbClr val="0A3069"/>
                          </a:solidFill>
                          <a:latin typeface="Consolas" pitchFamily="34" charset="0"/>
                          <a:ea typeface="Consolas" pitchFamily="34" charset="-122"/>
                          <a:cs typeface="Consolas" pitchFamily="34" charset="-120"/>
                        </a:rPr>
                        <a:t>AttributeError</a:t>
                      </a:r>
                      <a:r>
                        <a:rPr lang="id-ID" altLang="en-US" sz="1400" dirty="0">
                          <a:solidFill>
                            <a:srgbClr val="1F2328"/>
                          </a:solidFill>
                          <a:latin typeface="Calibri" pitchFamily="34" charset="0"/>
                          <a:ea typeface="Calibri" pitchFamily="34" charset="-122"/>
                          <a:cs typeface="Calibri" pitchFamily="34" charset="-120"/>
                        </a:rPr>
                        <a:t> saat atribut induk dipakai; Java: </a:t>
                      </a:r>
                      <a:r>
                        <a:rPr lang="id-ID" altLang="en-US" sz="1400" i="1" dirty="0">
                          <a:solidFill>
                            <a:srgbClr val="1F2328"/>
                          </a:solidFill>
                          <a:latin typeface="Calibri" pitchFamily="34" charset="0"/>
                          <a:ea typeface="Calibri" pitchFamily="34" charset="-122"/>
                          <a:cs typeface="Calibri" pitchFamily="34" charset="-120"/>
                        </a:rPr>
                        <a:t>error</a:t>
                      </a:r>
                      <a:r>
                        <a:rPr lang="id-ID" altLang="en-US" sz="1400" dirty="0">
                          <a:solidFill>
                            <a:srgbClr val="1F2328"/>
                          </a:solidFill>
                          <a:latin typeface="Calibri" pitchFamily="34" charset="0"/>
                          <a:ea typeface="Calibri" pitchFamily="34" charset="-122"/>
                          <a:cs typeface="Calibri" pitchFamily="34" charset="-120"/>
                        </a:rPr>
                        <a:t> kompilasi</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Tulis </a:t>
                      </a:r>
                      <a:r>
                        <a:rPr lang="id-ID" altLang="en-US" sz="1400" dirty="0">
                          <a:solidFill>
                            <a:srgbClr val="0A3069"/>
                          </a:solidFill>
                          <a:latin typeface="Consolas" pitchFamily="34" charset="0"/>
                          <a:ea typeface="Consolas" pitchFamily="34" charset="-122"/>
                          <a:cs typeface="Consolas" pitchFamily="34" charset="-120"/>
                        </a:rPr>
                        <a:t>super().__init__(...)</a:t>
                      </a:r>
                      <a:r>
                        <a:rPr lang="id-ID" altLang="en-US" sz="1400" dirty="0">
                          <a:solidFill>
                            <a:srgbClr val="1F2328"/>
                          </a:solidFill>
                          <a:latin typeface="Calibri" pitchFamily="34" charset="0"/>
                          <a:ea typeface="Calibri" pitchFamily="34" charset="-122"/>
                          <a:cs typeface="Calibri" pitchFamily="34" charset="-120"/>
                        </a:rPr>
                        <a:t>/</a:t>
                      </a:r>
                      <a:r>
                        <a:rPr lang="id-ID" altLang="en-US" sz="1400" dirty="0">
                          <a:solidFill>
                            <a:srgbClr val="0A3069"/>
                          </a:solidFill>
                          <a:latin typeface="Consolas" pitchFamily="34" charset="0"/>
                          <a:ea typeface="Consolas" pitchFamily="34" charset="-122"/>
                          <a:cs typeface="Consolas" pitchFamily="34" charset="-120"/>
                        </a:rPr>
                        <a:t>super(...)</a:t>
                      </a:r>
                      <a:r>
                        <a:rPr lang="id-ID" altLang="en-US" sz="1400" dirty="0">
                          <a:solidFill>
                            <a:srgbClr val="1F2328"/>
                          </a:solidFill>
                          <a:latin typeface="Calibri" pitchFamily="34" charset="0"/>
                          <a:ea typeface="Calibri" pitchFamily="34" charset="-122"/>
                          <a:cs typeface="Calibri" pitchFamily="34" charset="-120"/>
                        </a:rPr>
                        <a:t> di baris pertama</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616712">
                <a:tc>
                  <a:txBody>
                    <a:bodyPr/>
                    <a:lstStyle/>
                    <a:p>
                      <a:pPr indent="0" marL="0">
                        <a:buNone/>
                      </a:pPr>
                      <a:r>
                        <a:rPr lang="id-ID" altLang="en-US" sz="1400" i="1" dirty="0">
                          <a:solidFill>
                            <a:srgbClr val="1F2328"/>
                          </a:solidFill>
                          <a:latin typeface="Calibri" pitchFamily="34" charset="0"/>
                          <a:ea typeface="Calibri" pitchFamily="34" charset="-122"/>
                          <a:cs typeface="Calibri" pitchFamily="34" charset="-120"/>
                        </a:rPr>
                        <a:t>Setter</a:t>
                      </a:r>
                      <a:r>
                        <a:rPr lang="id-ID" altLang="en-US" sz="1400" dirty="0">
                          <a:solidFill>
                            <a:srgbClr val="1F2328"/>
                          </a:solidFill>
                          <a:latin typeface="Calibri" pitchFamily="34" charset="0"/>
                          <a:ea typeface="Calibri" pitchFamily="34" charset="-122"/>
                          <a:cs typeface="Calibri" pitchFamily="34" charset="-120"/>
                        </a:rPr>
                        <a:t> Python menulis </a:t>
                      </a:r>
                      <a:r>
                        <a:rPr lang="id-ID" altLang="en-US" sz="1400" dirty="0">
                          <a:solidFill>
                            <a:srgbClr val="0A3069"/>
                          </a:solidFill>
                          <a:latin typeface="Consolas" pitchFamily="34" charset="0"/>
                          <a:ea typeface="Consolas" pitchFamily="34" charset="-122"/>
                          <a:cs typeface="Consolas" pitchFamily="34" charset="-120"/>
                        </a:rPr>
                        <a:t>self.harga = nilai</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400" dirty="0">
                          <a:solidFill>
                            <a:srgbClr val="0A3069"/>
                          </a:solidFill>
                          <a:latin typeface="Consolas" pitchFamily="34" charset="0"/>
                          <a:ea typeface="Consolas" pitchFamily="34" charset="-122"/>
                          <a:cs typeface="Consolas" pitchFamily="34" charset="-120"/>
                        </a:rPr>
                        <a:t>RecursionError</a:t>
                      </a:r>
                      <a:r>
                        <a:rPr lang="id-ID" altLang="en-US" sz="1400" dirty="0">
                          <a:solidFill>
                            <a:srgbClr val="1F2328"/>
                          </a:solidFill>
                          <a:latin typeface="Calibri" pitchFamily="34" charset="0"/>
                          <a:ea typeface="Calibri" pitchFamily="34" charset="-122"/>
                          <a:cs typeface="Calibri" pitchFamily="34" charset="-120"/>
                        </a:rPr>
                        <a:t> karena </a:t>
                      </a:r>
                      <a:r>
                        <a:rPr lang="id-ID" altLang="en-US" sz="1400" i="1" dirty="0">
                          <a:solidFill>
                            <a:srgbClr val="1F2328"/>
                          </a:solidFill>
                          <a:latin typeface="Calibri" pitchFamily="34" charset="0"/>
                          <a:ea typeface="Calibri" pitchFamily="34" charset="-122"/>
                          <a:cs typeface="Calibri" pitchFamily="34" charset="-120"/>
                        </a:rPr>
                        <a:t>setter</a:t>
                      </a:r>
                      <a:r>
                        <a:rPr lang="id-ID" altLang="en-US" sz="1400" dirty="0">
                          <a:solidFill>
                            <a:srgbClr val="1F2328"/>
                          </a:solidFill>
                          <a:latin typeface="Calibri" pitchFamily="34" charset="0"/>
                          <a:ea typeface="Calibri" pitchFamily="34" charset="-122"/>
                          <a:cs typeface="Calibri" pitchFamily="34" charset="-120"/>
                        </a:rPr>
                        <a:t> memanggil dirinya sendiri</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Simpan ke </a:t>
                      </a:r>
                      <a:r>
                        <a:rPr lang="id-ID" altLang="en-US" sz="1400" dirty="0">
                          <a:solidFill>
                            <a:srgbClr val="0A3069"/>
                          </a:solidFill>
                          <a:latin typeface="Consolas" pitchFamily="34" charset="0"/>
                          <a:ea typeface="Consolas" pitchFamily="34" charset="-122"/>
                          <a:cs typeface="Consolas" pitchFamily="34" charset="-120"/>
                        </a:rPr>
                        <a:t>self._harga</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16712">
                <a:tc>
                  <a:txBody>
                    <a:bodyPr/>
                    <a:lstStyle/>
                    <a:p>
                      <a:pPr indent="0" marL="0">
                        <a:buNone/>
                      </a:pPr>
                      <a:r>
                        <a:rPr lang="id-ID" altLang="en-US" sz="1400" dirty="0">
                          <a:solidFill>
                            <a:srgbClr val="0A3069"/>
                          </a:solidFill>
                          <a:latin typeface="Consolas" pitchFamily="34" charset="0"/>
                          <a:ea typeface="Consolas" pitchFamily="34" charset="-122"/>
                          <a:cs typeface="Consolas" pitchFamily="34" charset="-120"/>
                        </a:rPr>
                        <a:t>__str__</a:t>
                      </a:r>
                      <a:r>
                        <a:rPr lang="id-ID" altLang="en-US" sz="1400" dirty="0">
                          <a:solidFill>
                            <a:srgbClr val="1F2328"/>
                          </a:solidFill>
                          <a:latin typeface="Calibri" pitchFamily="34" charset="0"/>
                          <a:ea typeface="Calibri" pitchFamily="34" charset="-122"/>
                          <a:cs typeface="Calibri" pitchFamily="34" charset="-120"/>
                        </a:rPr>
                        <a:t>/</a:t>
                      </a:r>
                      <a:r>
                        <a:rPr lang="id-ID" altLang="en-US" sz="1400" dirty="0">
                          <a:solidFill>
                            <a:srgbClr val="0A3069"/>
                          </a:solidFill>
                          <a:latin typeface="Consolas" pitchFamily="34" charset="0"/>
                          <a:ea typeface="Consolas" pitchFamily="34" charset="-122"/>
                          <a:cs typeface="Consolas" pitchFamily="34" charset="-120"/>
                        </a:rPr>
                        <a:t>toString()</a:t>
                      </a:r>
                      <a:r>
                        <a:rPr lang="id-ID" altLang="en-US" sz="1400" dirty="0">
                          <a:solidFill>
                            <a:srgbClr val="1F2328"/>
                          </a:solidFill>
                          <a:latin typeface="Calibri" pitchFamily="34" charset="0"/>
                          <a:ea typeface="Calibri" pitchFamily="34" charset="-122"/>
                          <a:cs typeface="Calibri" pitchFamily="34" charset="-120"/>
                        </a:rPr>
                        <a:t> mencetak alih-⁠alih mengembalikan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Python: </a:t>
                      </a:r>
                      <a:r>
                        <a:rPr lang="id-ID" altLang="en-US" sz="1400" dirty="0">
                          <a:solidFill>
                            <a:srgbClr val="0A3069"/>
                          </a:solidFill>
                          <a:latin typeface="Consolas" pitchFamily="34" charset="0"/>
                          <a:ea typeface="Consolas" pitchFamily="34" charset="-122"/>
                          <a:cs typeface="Consolas" pitchFamily="34" charset="-120"/>
                        </a:rPr>
                        <a:t>TypeError</a:t>
                      </a:r>
                      <a:r>
                        <a:rPr lang="id-ID" altLang="en-US" sz="1400" dirty="0">
                          <a:solidFill>
                            <a:srgbClr val="1F2328"/>
                          </a:solidFill>
                          <a:latin typeface="Calibri" pitchFamily="34" charset="0"/>
                          <a:ea typeface="Calibri" pitchFamily="34" charset="-122"/>
                          <a:cs typeface="Calibri" pitchFamily="34" charset="-120"/>
                        </a:rPr>
                        <a:t>; Java: </a:t>
                      </a:r>
                      <a:r>
                        <a:rPr lang="id-ID" altLang="en-US" sz="1400" i="1" dirty="0">
                          <a:solidFill>
                            <a:srgbClr val="1F2328"/>
                          </a:solidFill>
                          <a:latin typeface="Calibri" pitchFamily="34" charset="0"/>
                          <a:ea typeface="Calibri" pitchFamily="34" charset="-122"/>
                          <a:cs typeface="Calibri" pitchFamily="34" charset="-120"/>
                        </a:rPr>
                        <a:t>error</a:t>
                      </a:r>
                      <a:r>
                        <a:rPr lang="id-ID" altLang="en-US" sz="1400" dirty="0">
                          <a:solidFill>
                            <a:srgbClr val="1F2328"/>
                          </a:solidFill>
                          <a:latin typeface="Calibri" pitchFamily="34" charset="0"/>
                          <a:ea typeface="Calibri" pitchFamily="34" charset="-122"/>
                          <a:cs typeface="Calibri" pitchFamily="34" charset="-120"/>
                        </a:rPr>
                        <a:t> kompilasi</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Gunakan </a:t>
                      </a:r>
                      <a:r>
                        <a:rPr lang="id-ID" altLang="en-US" sz="1400" dirty="0">
                          <a:solidFill>
                            <a:srgbClr val="0A3069"/>
                          </a:solidFill>
                          <a:latin typeface="Consolas" pitchFamily="34" charset="0"/>
                          <a:ea typeface="Consolas" pitchFamily="34" charset="-122"/>
                          <a:cs typeface="Consolas" pitchFamily="34" charset="-120"/>
                        </a:rPr>
                        <a:t>return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399796">
                <a:tc>
                  <a:txBody>
                    <a:bodyPr/>
                    <a:lstStyle/>
                    <a:p>
                      <a:pPr indent="0" marL="0">
                        <a:buNone/>
                      </a:pPr>
                      <a:r>
                        <a:rPr lang="id-ID" altLang="en-US" sz="1400" i="1" dirty="0">
                          <a:solidFill>
                            <a:srgbClr val="1F2328"/>
                          </a:solidFill>
                          <a:latin typeface="Calibri" pitchFamily="34" charset="0"/>
                          <a:ea typeface="Calibri" pitchFamily="34" charset="-122"/>
                          <a:cs typeface="Calibri" pitchFamily="34" charset="-120"/>
                        </a:rPr>
                        <a:t>Getter</a:t>
                      </a:r>
                      <a:r>
                        <a:rPr lang="id-ID" altLang="en-US" sz="1400" dirty="0">
                          <a:solidFill>
                            <a:srgbClr val="1F2328"/>
                          </a:solidFill>
                          <a:latin typeface="Calibri" pitchFamily="34" charset="0"/>
                          <a:ea typeface="Calibri" pitchFamily="34" charset="-122"/>
                          <a:cs typeface="Calibri" pitchFamily="34" charset="-120"/>
                        </a:rPr>
                        <a:t> mengembalikan </a:t>
                      </a:r>
                      <a:r>
                        <a:rPr lang="id-ID" altLang="en-US" sz="1400" i="1" dirty="0">
                          <a:solidFill>
                            <a:srgbClr val="1F2328"/>
                          </a:solidFill>
                          <a:latin typeface="Calibri" pitchFamily="34" charset="0"/>
                          <a:ea typeface="Calibri" pitchFamily="34" charset="-122"/>
                          <a:cs typeface="Calibri" pitchFamily="34" charset="-120"/>
                        </a:rPr>
                        <a:t>list</a:t>
                      </a:r>
                      <a:r>
                        <a:rPr lang="id-ID" altLang="en-US" sz="1400" dirty="0">
                          <a:solidFill>
                            <a:srgbClr val="1F2328"/>
                          </a:solidFill>
                          <a:latin typeface="Calibri" pitchFamily="34" charset="0"/>
                          <a:ea typeface="Calibri" pitchFamily="34" charset="-122"/>
                          <a:cs typeface="Calibri" pitchFamily="34" charset="-120"/>
                        </a:rPr>
                        <a:t> asli</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Isi objek bisa dirusak dari luar</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Kembalikan salinan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16712">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Memakai pewarisan untuk hubungan “memiliki”</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Rancangan salah dan nilai desain turun</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400" dirty="0">
                          <a:solidFill>
                            <a:srgbClr val="1F2328"/>
                          </a:solidFill>
                          <a:latin typeface="Calibri" pitchFamily="34" charset="0"/>
                          <a:ea typeface="Calibri" pitchFamily="34" charset="-122"/>
                          <a:cs typeface="Calibri" pitchFamily="34" charset="-120"/>
                        </a:rPr>
                        <a:t>Uji dengan kalimat “X </a:t>
                      </a:r>
                      <a:r>
                        <a:rPr lang="id-ID" altLang="en-US" sz="1400" b="1" dirty="0">
                          <a:solidFill>
                            <a:srgbClr val="1F2328"/>
                          </a:solidFill>
                          <a:latin typeface="Calibri" pitchFamily="34" charset="0"/>
                          <a:ea typeface="Calibri" pitchFamily="34" charset="-122"/>
                          <a:cs typeface="Calibri" pitchFamily="34" charset="-120"/>
                        </a:rPr>
                        <a:t>adalah</a:t>
                      </a:r>
                      <a:r>
                        <a:rPr lang="id-ID" altLang="en-US" sz="1400" dirty="0">
                          <a:solidFill>
                            <a:srgbClr val="1F2328"/>
                          </a:solidFill>
                          <a:latin typeface="Calibri" pitchFamily="34" charset="0"/>
                          <a:ea typeface="Calibri" pitchFamily="34" charset="-122"/>
                          <a:cs typeface="Calibri" pitchFamily="34" charset="-120"/>
                        </a:rPr>
                        <a:t> Y”</a:t>
                      </a:r>
                      <a:endParaRPr lang="en-US" sz="14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79926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871688"/>
            <a:ext cx="184343" cy="184343"/>
          </a:xfrm>
          <a:prstGeom prst="rect">
            <a:avLst/>
          </a:prstGeom>
        </p:spPr>
      </p:pic>
      <p:sp>
        <p:nvSpPr>
          <p:cNvPr id="8" name="Text 3"/>
          <p:cNvSpPr txBox="1"/>
          <p:nvPr/>
        </p:nvSpPr>
        <p:spPr>
          <a:xfrm>
            <a:off x="1005840" y="5780979"/>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Daftar lengkapnya (12 kesalahan) ada di bagian 9 halaman Informasi UTS.</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Latihan Soal dan Contoh Soal</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Skor simulasi, dua contoh pilihan ganda, dan satu potongan solusi praktik.</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Isi Latihan Soal dan Skor Simulasi</a:t>
            </a:r>
            <a:endParaRPr lang="id-ID"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294443"/>
          <a:ext cx="11094415" cy="914400"/>
        </p:xfrm>
        <a:graphic>
          <a:graphicData uri="http://schemas.openxmlformats.org/drawingml/2006/table">
            <a:tbl>
              <a:tblPr/>
              <a:tblGrid>
                <a:gridCol w="1185647"/>
                <a:gridCol w="4130624"/>
                <a:gridCol w="2654354"/>
                <a:gridCol w="3123790"/>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Bagian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Bentuk dan jumlah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Saran waktu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Skor simulasi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Pilihan ganda, 15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30 menit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2 per soal (total 30)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Esai dan isian singkat, 5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45 menit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6 per soal (total 30)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Praktik (proyek kecil), 2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75 menit per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20 per soal (total 40)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63632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4708743"/>
            <a:ext cx="184343" cy="184343"/>
          </a:xfrm>
          <a:prstGeom prst="rect">
            <a:avLst/>
          </a:prstGeom>
        </p:spPr>
      </p:pic>
      <p:sp>
        <p:nvSpPr>
          <p:cNvPr id="8" name="Text 3"/>
          <p:cNvSpPr txBox="1"/>
          <p:nvPr/>
        </p:nvSpPr>
        <p:spPr>
          <a:xfrm>
            <a:off x="1005840" y="461803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Skor total 85⁠—⁠100 berarti siap menghadapi UTS; 70⁠—⁠84 berarti hampir siap.</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05566"/>
            <a:ext cx="11094415" cy="2626360"/>
          </a:xfrm>
          <a:prstGeom prst="roundRect">
            <a:avLst>
              <a:gd name="adj" fmla="val 1455"/>
            </a:avLst>
          </a:prstGeom>
          <a:solidFill>
            <a:srgbClr val="FBEFFF"/>
          </a:solidFill>
          <a:ln w="9525">
            <a:solidFill>
              <a:srgbClr val="C297FF"/>
            </a:solidFill>
            <a:prstDash val="solid"/>
          </a:ln>
        </p:spPr>
      </p:sp>
      <p:sp>
        <p:nvSpPr>
          <p:cNvPr id="6" name="Shape 3"/>
          <p:cNvSpPr/>
          <p:nvPr/>
        </p:nvSpPr>
        <p:spPr>
          <a:xfrm>
            <a:off x="777240" y="2590146"/>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90730"/>
            <a:ext cx="256032" cy="256032"/>
          </a:xfrm>
          <a:prstGeom prst="rect">
            <a:avLst/>
          </a:prstGeom>
        </p:spPr>
      </p:pic>
      <p:sp>
        <p:nvSpPr>
          <p:cNvPr id="8" name="Text 4"/>
          <p:cNvSpPr txBox="1"/>
          <p:nvPr/>
        </p:nvSpPr>
        <p:spPr>
          <a:xfrm>
            <a:off x="1417320" y="1734166"/>
            <a:ext cx="9951415" cy="2352040"/>
          </a:xfrm>
          <a:prstGeom prst="rect">
            <a:avLst/>
          </a:prstGeom>
          <a:noFill/>
          <a:ln/>
        </p:spPr>
        <p:txBody>
          <a:bodyPr wrap="square" lIns="0" tIns="0" rIns="0" bIns="0" rtlCol="0" anchor="t"/>
          <a:lstStyle/>
          <a:p>
            <a:pPr indent="0" marL="0">
              <a:buNone/>
            </a:pPr>
            <a:r>
              <a:rPr lang="id-ID" altLang="en-US" sz="2800" dirty="0">
                <a:solidFill>
                  <a:srgbClr val="0A3069"/>
                </a:solidFill>
                <a:latin typeface="Consolas" pitchFamily="34" charset="0"/>
                <a:ea typeface="Consolas" pitchFamily="34" charset="-122"/>
                <a:cs typeface="Consolas" pitchFamily="34" charset="-120"/>
              </a:rPr>
              <a:t>Gedung</a:t>
            </a:r>
            <a:r>
              <a:rPr lang="id-ID" altLang="en-US" sz="2800" dirty="0">
                <a:solidFill>
                  <a:srgbClr val="1F2328"/>
                </a:solidFill>
              </a:rPr>
              <a:t> membuat objek </a:t>
            </a:r>
            <a:r>
              <a:rPr lang="id-ID" altLang="en-US" sz="2800" dirty="0">
                <a:solidFill>
                  <a:srgbClr val="0A3069"/>
                </a:solidFill>
                <a:latin typeface="Consolas" pitchFamily="34" charset="0"/>
                <a:ea typeface="Consolas" pitchFamily="34" charset="-122"/>
                <a:cs typeface="Consolas" pitchFamily="34" charset="-120"/>
              </a:rPr>
              <a:t>Lantai</a:t>
            </a:r>
            <a:r>
              <a:rPr lang="id-ID" altLang="en-US" sz="2800" dirty="0">
                <a:solidFill>
                  <a:srgbClr val="1F2328"/>
                </a:solidFill>
              </a:rPr>
              <a:t> di konstruktornya; lantai ikut hilang bersama gedungnya. </a:t>
            </a:r>
            <a:r>
              <a:rPr lang="id-ID" altLang="en-US" sz="2800" dirty="0">
                <a:solidFill>
                  <a:srgbClr val="0A3069"/>
                </a:solidFill>
                <a:latin typeface="Consolas" pitchFamily="34" charset="0"/>
                <a:ea typeface="Consolas" pitchFamily="34" charset="-122"/>
                <a:cs typeface="Consolas" pitchFamily="34" charset="-120"/>
              </a:rPr>
              <a:t>Ukm</a:t>
            </a:r>
            <a:r>
              <a:rPr lang="id-ID" altLang="en-US" sz="2800" dirty="0">
                <a:solidFill>
                  <a:srgbClr val="1F2328"/>
                </a:solidFill>
              </a:rPr>
              <a:t> mencatat </a:t>
            </a:r>
            <a:r>
              <a:rPr lang="id-ID" altLang="en-US" sz="2800" dirty="0">
                <a:solidFill>
                  <a:srgbClr val="0A3069"/>
                </a:solidFill>
                <a:latin typeface="Consolas" pitchFamily="34" charset="0"/>
                <a:ea typeface="Consolas" pitchFamily="34" charset="-122"/>
                <a:cs typeface="Consolas" pitchFamily="34" charset="-120"/>
              </a:rPr>
              <a:t>Mahasiswa</a:t>
            </a:r>
            <a:r>
              <a:rPr lang="id-ID" altLang="en-US" sz="2800" dirty="0">
                <a:solidFill>
                  <a:srgbClr val="1F2328"/>
                </a:solidFill>
              </a:rPr>
              <a:t> yang sudah ada; jika UKM bubar, mahasiswanya tetap ada. Relasi </a:t>
            </a:r>
            <a:r>
              <a:rPr lang="id-ID" altLang="en-US" sz="2800" dirty="0">
                <a:solidFill>
                  <a:srgbClr val="0A3069"/>
                </a:solidFill>
                <a:latin typeface="Consolas" pitchFamily="34" charset="0"/>
                <a:ea typeface="Consolas" pitchFamily="34" charset="-122"/>
                <a:cs typeface="Consolas" pitchFamily="34" charset="-120"/>
              </a:rPr>
              <a:t>Gedung</a:t>
            </a:r>
            <a:r>
              <a:rPr lang="id-ID" altLang="en-US" sz="2800" dirty="0">
                <a:solidFill>
                  <a:srgbClr val="1F2328"/>
                </a:solidFill>
              </a:rPr>
              <a:t> dengan </a:t>
            </a:r>
            <a:r>
              <a:rPr lang="id-ID" altLang="en-US" sz="2800" dirty="0">
                <a:solidFill>
                  <a:srgbClr val="0A3069"/>
                </a:solidFill>
                <a:latin typeface="Consolas" pitchFamily="34" charset="0"/>
                <a:ea typeface="Consolas" pitchFamily="34" charset="-122"/>
                <a:cs typeface="Consolas" pitchFamily="34" charset="-120"/>
              </a:rPr>
              <a:t>Lantai</a:t>
            </a:r>
            <a:r>
              <a:rPr lang="id-ID" altLang="en-US" sz="2800" dirty="0">
                <a:solidFill>
                  <a:srgbClr val="1F2328"/>
                </a:solidFill>
              </a:rPr>
              <a:t> serta </a:t>
            </a:r>
            <a:r>
              <a:rPr lang="id-ID" altLang="en-US" sz="2800" dirty="0">
                <a:solidFill>
                  <a:srgbClr val="0A3069"/>
                </a:solidFill>
                <a:latin typeface="Consolas" pitchFamily="34" charset="0"/>
                <a:ea typeface="Consolas" pitchFamily="34" charset="-122"/>
                <a:cs typeface="Consolas" pitchFamily="34" charset="-120"/>
              </a:rPr>
              <a:t>Ukm</a:t>
            </a:r>
            <a:r>
              <a:rPr lang="id-ID" altLang="en-US" sz="2800" dirty="0">
                <a:solidFill>
                  <a:srgbClr val="1F2328"/>
                </a:solidFill>
              </a:rPr>
              <a:t> dengan </a:t>
            </a:r>
            <a:r>
              <a:rPr lang="id-ID" altLang="en-US" sz="2800" dirty="0">
                <a:solidFill>
                  <a:srgbClr val="0A3069"/>
                </a:solidFill>
                <a:latin typeface="Consolas" pitchFamily="34" charset="0"/>
                <a:ea typeface="Consolas" pitchFamily="34" charset="-122"/>
                <a:cs typeface="Consolas" pitchFamily="34" charset="-120"/>
              </a:rPr>
              <a:t>Mahasiswa</a:t>
            </a:r>
            <a:r>
              <a:rPr lang="id-ID" altLang="en-US" sz="2800" dirty="0">
                <a:solidFill>
                  <a:srgbClr val="1F2328"/>
                </a:solidFill>
              </a:rPr>
              <a:t> adalah ...</a:t>
            </a:r>
            <a:endParaRPr lang="id-ID" sz="2800" dirty="0"/>
          </a:p>
        </p:txBody>
      </p:sp>
      <p:sp>
        <p:nvSpPr>
          <p:cNvPr id="9" name="Shape 5"/>
          <p:cNvSpPr/>
          <p:nvPr/>
        </p:nvSpPr>
        <p:spPr>
          <a:xfrm>
            <a:off x="548640" y="4314806"/>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4481226"/>
            <a:ext cx="457200" cy="457200"/>
          </a:xfrm>
          <a:prstGeom prst="ellipse">
            <a:avLst/>
          </a:prstGeom>
          <a:solidFill>
            <a:srgbClr val="8250DF"/>
          </a:solidFill>
          <a:ln/>
        </p:spPr>
      </p:sp>
      <p:sp>
        <p:nvSpPr>
          <p:cNvPr id="11" name="Text 7"/>
          <p:cNvSpPr txBox="1"/>
          <p:nvPr/>
        </p:nvSpPr>
        <p:spPr>
          <a:xfrm>
            <a:off x="749808" y="44812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4424534"/>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agregasi dan komposisi</a:t>
            </a:r>
            <a:endParaRPr lang="id-ID" sz="2400" dirty="0"/>
          </a:p>
        </p:txBody>
      </p:sp>
      <p:sp>
        <p:nvSpPr>
          <p:cNvPr id="13" name="Shape 9"/>
          <p:cNvSpPr/>
          <p:nvPr/>
        </p:nvSpPr>
        <p:spPr>
          <a:xfrm>
            <a:off x="6187288" y="4314806"/>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4481226"/>
            <a:ext cx="457200" cy="457200"/>
          </a:xfrm>
          <a:prstGeom prst="ellipse">
            <a:avLst/>
          </a:prstGeom>
          <a:solidFill>
            <a:srgbClr val="8250DF"/>
          </a:solidFill>
          <a:ln/>
        </p:spPr>
      </p:sp>
      <p:sp>
        <p:nvSpPr>
          <p:cNvPr id="15" name="Text 11"/>
          <p:cNvSpPr txBox="1"/>
          <p:nvPr/>
        </p:nvSpPr>
        <p:spPr>
          <a:xfrm>
            <a:off x="6388456" y="44812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4424534"/>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asosiasi dan dependensi</a:t>
            </a:r>
            <a:endParaRPr lang="id-ID" sz="2400" dirty="0"/>
          </a:p>
        </p:txBody>
      </p:sp>
      <p:sp>
        <p:nvSpPr>
          <p:cNvPr id="17" name="Shape 13"/>
          <p:cNvSpPr/>
          <p:nvPr/>
        </p:nvSpPr>
        <p:spPr>
          <a:xfrm>
            <a:off x="548640" y="5287727"/>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5454148"/>
            <a:ext cx="457200" cy="457200"/>
          </a:xfrm>
          <a:prstGeom prst="ellipse">
            <a:avLst/>
          </a:prstGeom>
          <a:solidFill>
            <a:srgbClr val="8250DF"/>
          </a:solidFill>
          <a:ln/>
        </p:spPr>
      </p:sp>
      <p:sp>
        <p:nvSpPr>
          <p:cNvPr id="19" name="Text 15"/>
          <p:cNvSpPr txBox="1"/>
          <p:nvPr/>
        </p:nvSpPr>
        <p:spPr>
          <a:xfrm>
            <a:off x="749808" y="545414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397455"/>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komposisi dan dependensi</a:t>
            </a:r>
            <a:endParaRPr lang="id-ID" sz="2400" dirty="0"/>
          </a:p>
        </p:txBody>
      </p:sp>
      <p:sp>
        <p:nvSpPr>
          <p:cNvPr id="21" name="Shape 17"/>
          <p:cNvSpPr/>
          <p:nvPr/>
        </p:nvSpPr>
        <p:spPr>
          <a:xfrm>
            <a:off x="6187288" y="5287727"/>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5454148"/>
            <a:ext cx="457200" cy="457200"/>
          </a:xfrm>
          <a:prstGeom prst="ellipse">
            <a:avLst/>
          </a:prstGeom>
          <a:solidFill>
            <a:srgbClr val="8250DF"/>
          </a:solidFill>
          <a:ln/>
        </p:spPr>
      </p:sp>
      <p:sp>
        <p:nvSpPr>
          <p:cNvPr id="23" name="Text 19"/>
          <p:cNvSpPr txBox="1"/>
          <p:nvPr/>
        </p:nvSpPr>
        <p:spPr>
          <a:xfrm>
            <a:off x="6388456" y="545414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397455"/>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komposisi dan agregasi</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51906"/>
            <a:ext cx="11094415" cy="1064514"/>
          </a:xfrm>
          <a:prstGeom prst="roundRect">
            <a:avLst>
              <a:gd name="adj" fmla="val 8854"/>
            </a:avLst>
          </a:prstGeom>
          <a:solidFill>
            <a:srgbClr val="F6F8FA"/>
          </a:solidFill>
          <a:ln w="9525">
            <a:solidFill>
              <a:srgbClr val="D0D7DE"/>
            </a:solidFill>
            <a:prstDash val="solid"/>
          </a:ln>
        </p:spPr>
      </p:sp>
      <p:sp>
        <p:nvSpPr>
          <p:cNvPr id="6" name="Text 3"/>
          <p:cNvSpPr txBox="1"/>
          <p:nvPr/>
        </p:nvSpPr>
        <p:spPr>
          <a:xfrm>
            <a:off x="822960" y="1589066"/>
            <a:ext cx="10545775" cy="790194"/>
          </a:xfrm>
          <a:prstGeom prst="rect">
            <a:avLst/>
          </a:prstGeom>
          <a:noFill/>
          <a:ln/>
        </p:spPr>
        <p:txBody>
          <a:bodyPr wrap="square" lIns="0" tIns="0" rIns="0" bIns="0" rtlCol="0" anchor="t"/>
          <a:lstStyle/>
          <a:p>
            <a:pPr indent="0" marL="0">
              <a:buNone/>
            </a:pPr>
            <a:r>
              <a:rPr lang="id-ID" altLang="en-US" sz="1700" dirty="0">
                <a:solidFill>
                  <a:srgbClr val="0A3069"/>
                </a:solidFill>
                <a:latin typeface="Consolas" pitchFamily="34" charset="0"/>
                <a:ea typeface="Consolas" pitchFamily="34" charset="-122"/>
                <a:cs typeface="Consolas" pitchFamily="34" charset="-120"/>
              </a:rPr>
              <a:t>Gedung</a:t>
            </a:r>
            <a:r>
              <a:rPr lang="id-ID" altLang="en-US" sz="1700" dirty="0">
                <a:solidFill>
                  <a:srgbClr val="57606A"/>
                </a:solidFill>
              </a:rPr>
              <a:t> membuat objek </a:t>
            </a:r>
            <a:r>
              <a:rPr lang="id-ID" altLang="en-US" sz="1700" dirty="0">
                <a:solidFill>
                  <a:srgbClr val="0A3069"/>
                </a:solidFill>
                <a:latin typeface="Consolas" pitchFamily="34" charset="0"/>
                <a:ea typeface="Consolas" pitchFamily="34" charset="-122"/>
                <a:cs typeface="Consolas" pitchFamily="34" charset="-120"/>
              </a:rPr>
              <a:t>Lantai</a:t>
            </a:r>
            <a:r>
              <a:rPr lang="id-ID" altLang="en-US" sz="1700" dirty="0">
                <a:solidFill>
                  <a:srgbClr val="57606A"/>
                </a:solidFill>
              </a:rPr>
              <a:t> di konstruktornya; lantai ikut hilang bersama gedungnya. </a:t>
            </a:r>
            <a:r>
              <a:rPr lang="id-ID" altLang="en-US" sz="1700" dirty="0">
                <a:solidFill>
                  <a:srgbClr val="0A3069"/>
                </a:solidFill>
                <a:latin typeface="Consolas" pitchFamily="34" charset="0"/>
                <a:ea typeface="Consolas" pitchFamily="34" charset="-122"/>
                <a:cs typeface="Consolas" pitchFamily="34" charset="-120"/>
              </a:rPr>
              <a:t>Ukm</a:t>
            </a:r>
            <a:r>
              <a:rPr lang="id-ID" altLang="en-US" sz="1700" dirty="0">
                <a:solidFill>
                  <a:srgbClr val="57606A"/>
                </a:solidFill>
              </a:rPr>
              <a:t> mencatat </a:t>
            </a:r>
            <a:r>
              <a:rPr lang="id-ID" altLang="en-US" sz="1700" dirty="0">
                <a:solidFill>
                  <a:srgbClr val="0A3069"/>
                </a:solidFill>
                <a:latin typeface="Consolas" pitchFamily="34" charset="0"/>
                <a:ea typeface="Consolas" pitchFamily="34" charset="-122"/>
                <a:cs typeface="Consolas" pitchFamily="34" charset="-120"/>
              </a:rPr>
              <a:t>Mahasiswa</a:t>
            </a:r>
            <a:r>
              <a:rPr lang="id-ID" altLang="en-US" sz="1700" dirty="0">
                <a:solidFill>
                  <a:srgbClr val="57606A"/>
                </a:solidFill>
              </a:rPr>
              <a:t> yang sudah ada; jika UKM bubar, mahasiswanya tetap ada. Relasi </a:t>
            </a:r>
            <a:r>
              <a:rPr lang="id-ID" altLang="en-US" sz="1700" dirty="0">
                <a:solidFill>
                  <a:srgbClr val="0A3069"/>
                </a:solidFill>
                <a:latin typeface="Consolas" pitchFamily="34" charset="0"/>
                <a:ea typeface="Consolas" pitchFamily="34" charset="-122"/>
                <a:cs typeface="Consolas" pitchFamily="34" charset="-120"/>
              </a:rPr>
              <a:t>Gedung</a:t>
            </a:r>
            <a:r>
              <a:rPr lang="id-ID" altLang="en-US" sz="1700" dirty="0">
                <a:solidFill>
                  <a:srgbClr val="57606A"/>
                </a:solidFill>
              </a:rPr>
              <a:t> dengan </a:t>
            </a:r>
            <a:r>
              <a:rPr lang="id-ID" altLang="en-US" sz="1700" dirty="0">
                <a:solidFill>
                  <a:srgbClr val="0A3069"/>
                </a:solidFill>
                <a:latin typeface="Consolas" pitchFamily="34" charset="0"/>
                <a:ea typeface="Consolas" pitchFamily="34" charset="-122"/>
                <a:cs typeface="Consolas" pitchFamily="34" charset="-120"/>
              </a:rPr>
              <a:t>Lantai</a:t>
            </a:r>
            <a:r>
              <a:rPr lang="id-ID" altLang="en-US" sz="1700" dirty="0">
                <a:solidFill>
                  <a:srgbClr val="57606A"/>
                </a:solidFill>
              </a:rPr>
              <a:t> serta </a:t>
            </a:r>
            <a:r>
              <a:rPr lang="id-ID" altLang="en-US" sz="1700" dirty="0">
                <a:solidFill>
                  <a:srgbClr val="0A3069"/>
                </a:solidFill>
                <a:latin typeface="Consolas" pitchFamily="34" charset="0"/>
                <a:ea typeface="Consolas" pitchFamily="34" charset="-122"/>
                <a:cs typeface="Consolas" pitchFamily="34" charset="-120"/>
              </a:rPr>
              <a:t>Ukm</a:t>
            </a:r>
            <a:r>
              <a:rPr lang="id-ID" altLang="en-US" sz="1700" dirty="0">
                <a:solidFill>
                  <a:srgbClr val="57606A"/>
                </a:solidFill>
              </a:rPr>
              <a:t> dengan </a:t>
            </a:r>
            <a:r>
              <a:rPr lang="id-ID" altLang="en-US" sz="1700" dirty="0">
                <a:solidFill>
                  <a:srgbClr val="0A3069"/>
                </a:solidFill>
                <a:latin typeface="Consolas" pitchFamily="34" charset="0"/>
                <a:ea typeface="Consolas" pitchFamily="34" charset="-122"/>
                <a:cs typeface="Consolas" pitchFamily="34" charset="-120"/>
              </a:rPr>
              <a:t>Mahasiswa</a:t>
            </a:r>
            <a:r>
              <a:rPr lang="id-ID" altLang="en-US" sz="1700" dirty="0">
                <a:solidFill>
                  <a:srgbClr val="57606A"/>
                </a:solidFill>
              </a:rPr>
              <a:t> adalah ...</a:t>
            </a:r>
            <a:endParaRPr lang="id-ID" sz="1700" dirty="0"/>
          </a:p>
        </p:txBody>
      </p:sp>
      <p:sp>
        <p:nvSpPr>
          <p:cNvPr id="7" name="Shape 4"/>
          <p:cNvSpPr/>
          <p:nvPr/>
        </p:nvSpPr>
        <p:spPr>
          <a:xfrm>
            <a:off x="548640" y="2699300"/>
            <a:ext cx="5455768" cy="625450"/>
          </a:xfrm>
          <a:prstGeom prst="roundRect">
            <a:avLst>
              <a:gd name="adj" fmla="val 25649"/>
            </a:avLst>
          </a:prstGeom>
          <a:solidFill>
            <a:srgbClr val="FFFFFF"/>
          </a:solidFill>
          <a:ln w="9525">
            <a:solidFill>
              <a:srgbClr val="D0D7DE"/>
            </a:solidFill>
            <a:prstDash val="solid"/>
          </a:ln>
        </p:spPr>
      </p:sp>
      <p:sp>
        <p:nvSpPr>
          <p:cNvPr id="8" name="Shape 5"/>
          <p:cNvSpPr/>
          <p:nvPr/>
        </p:nvSpPr>
        <p:spPr>
          <a:xfrm>
            <a:off x="749808" y="2794854"/>
            <a:ext cx="434340" cy="434340"/>
          </a:xfrm>
          <a:prstGeom prst="ellipse">
            <a:avLst/>
          </a:prstGeom>
          <a:solidFill>
            <a:srgbClr val="8C959F"/>
          </a:solidFill>
          <a:ln/>
        </p:spPr>
      </p:sp>
      <p:sp>
        <p:nvSpPr>
          <p:cNvPr id="9" name="Text 6"/>
          <p:cNvSpPr txBox="1"/>
          <p:nvPr/>
        </p:nvSpPr>
        <p:spPr>
          <a:xfrm>
            <a:off x="749808" y="279485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A</a:t>
            </a:r>
            <a:endParaRPr lang="id-ID" sz="1700" dirty="0"/>
          </a:p>
        </p:txBody>
      </p:sp>
      <p:sp>
        <p:nvSpPr>
          <p:cNvPr id="10" name="Text 7"/>
          <p:cNvSpPr txBox="1"/>
          <p:nvPr/>
        </p:nvSpPr>
        <p:spPr>
          <a:xfrm>
            <a:off x="1353312" y="2809028"/>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agregasi dan komposisi</a:t>
            </a:r>
            <a:endParaRPr lang="id-ID" sz="1900" dirty="0"/>
          </a:p>
        </p:txBody>
      </p:sp>
      <p:sp>
        <p:nvSpPr>
          <p:cNvPr id="11" name="Shape 8"/>
          <p:cNvSpPr/>
          <p:nvPr/>
        </p:nvSpPr>
        <p:spPr>
          <a:xfrm>
            <a:off x="6187288" y="2699300"/>
            <a:ext cx="5455768" cy="625450"/>
          </a:xfrm>
          <a:prstGeom prst="roundRect">
            <a:avLst>
              <a:gd name="adj" fmla="val 25649"/>
            </a:avLst>
          </a:prstGeom>
          <a:solidFill>
            <a:srgbClr val="FFFFFF"/>
          </a:solidFill>
          <a:ln w="9525">
            <a:solidFill>
              <a:srgbClr val="D0D7DE"/>
            </a:solidFill>
            <a:prstDash val="solid"/>
          </a:ln>
        </p:spPr>
      </p:sp>
      <p:sp>
        <p:nvSpPr>
          <p:cNvPr id="12" name="Shape 9"/>
          <p:cNvSpPr/>
          <p:nvPr/>
        </p:nvSpPr>
        <p:spPr>
          <a:xfrm>
            <a:off x="6388456" y="2794854"/>
            <a:ext cx="434340" cy="434340"/>
          </a:xfrm>
          <a:prstGeom prst="ellipse">
            <a:avLst/>
          </a:prstGeom>
          <a:solidFill>
            <a:srgbClr val="8C959F"/>
          </a:solidFill>
          <a:ln/>
        </p:spPr>
      </p:sp>
      <p:sp>
        <p:nvSpPr>
          <p:cNvPr id="13" name="Text 10"/>
          <p:cNvSpPr txBox="1"/>
          <p:nvPr/>
        </p:nvSpPr>
        <p:spPr>
          <a:xfrm>
            <a:off x="6388456" y="279485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B</a:t>
            </a:r>
            <a:endParaRPr lang="id-ID" sz="1700" dirty="0"/>
          </a:p>
        </p:txBody>
      </p:sp>
      <p:sp>
        <p:nvSpPr>
          <p:cNvPr id="14" name="Text 11"/>
          <p:cNvSpPr txBox="1"/>
          <p:nvPr/>
        </p:nvSpPr>
        <p:spPr>
          <a:xfrm>
            <a:off x="6991960" y="2809028"/>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asosiasi dan dependensi</a:t>
            </a:r>
            <a:endParaRPr lang="id-ID" sz="1900" dirty="0"/>
          </a:p>
        </p:txBody>
      </p:sp>
      <p:sp>
        <p:nvSpPr>
          <p:cNvPr id="15" name="Shape 12"/>
          <p:cNvSpPr/>
          <p:nvPr/>
        </p:nvSpPr>
        <p:spPr>
          <a:xfrm>
            <a:off x="548640" y="3507629"/>
            <a:ext cx="5455768" cy="625450"/>
          </a:xfrm>
          <a:prstGeom prst="roundRect">
            <a:avLst>
              <a:gd name="adj" fmla="val 25649"/>
            </a:avLst>
          </a:prstGeom>
          <a:solidFill>
            <a:srgbClr val="FFFFFF"/>
          </a:solidFill>
          <a:ln w="9525">
            <a:solidFill>
              <a:srgbClr val="D0D7DE"/>
            </a:solidFill>
            <a:prstDash val="solid"/>
          </a:ln>
        </p:spPr>
      </p:sp>
      <p:sp>
        <p:nvSpPr>
          <p:cNvPr id="16" name="Shape 13"/>
          <p:cNvSpPr/>
          <p:nvPr/>
        </p:nvSpPr>
        <p:spPr>
          <a:xfrm>
            <a:off x="749808" y="3603184"/>
            <a:ext cx="434340" cy="434340"/>
          </a:xfrm>
          <a:prstGeom prst="ellipse">
            <a:avLst/>
          </a:prstGeom>
          <a:solidFill>
            <a:srgbClr val="8C959F"/>
          </a:solidFill>
          <a:ln/>
        </p:spPr>
      </p:sp>
      <p:sp>
        <p:nvSpPr>
          <p:cNvPr id="17" name="Text 14"/>
          <p:cNvSpPr txBox="1"/>
          <p:nvPr/>
        </p:nvSpPr>
        <p:spPr>
          <a:xfrm>
            <a:off x="749808" y="360318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C</a:t>
            </a:r>
            <a:endParaRPr lang="id-ID" sz="1700" dirty="0"/>
          </a:p>
        </p:txBody>
      </p:sp>
      <p:sp>
        <p:nvSpPr>
          <p:cNvPr id="18" name="Text 15"/>
          <p:cNvSpPr txBox="1"/>
          <p:nvPr/>
        </p:nvSpPr>
        <p:spPr>
          <a:xfrm>
            <a:off x="1353312" y="3617357"/>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komposisi dan dependensi</a:t>
            </a:r>
            <a:endParaRPr lang="id-ID" sz="1900" dirty="0"/>
          </a:p>
        </p:txBody>
      </p:sp>
      <p:sp>
        <p:nvSpPr>
          <p:cNvPr id="19" name="Shape 16"/>
          <p:cNvSpPr/>
          <p:nvPr/>
        </p:nvSpPr>
        <p:spPr>
          <a:xfrm>
            <a:off x="6187288" y="3507629"/>
            <a:ext cx="5455768" cy="625450"/>
          </a:xfrm>
          <a:prstGeom prst="roundRect">
            <a:avLst>
              <a:gd name="adj" fmla="val 25649"/>
            </a:avLst>
          </a:prstGeom>
          <a:solidFill>
            <a:srgbClr val="DAFBE1"/>
          </a:solidFill>
          <a:ln w="22225">
            <a:solidFill>
              <a:srgbClr val="1A7F37"/>
            </a:solidFill>
            <a:prstDash val="solid"/>
          </a:ln>
        </p:spPr>
      </p:sp>
      <p:sp>
        <p:nvSpPr>
          <p:cNvPr id="20" name="Shape 17"/>
          <p:cNvSpPr/>
          <p:nvPr/>
        </p:nvSpPr>
        <p:spPr>
          <a:xfrm>
            <a:off x="6388456" y="3603184"/>
            <a:ext cx="434340" cy="43434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84010" y="3698739"/>
            <a:ext cx="243230" cy="243230"/>
          </a:xfrm>
          <a:prstGeom prst="rect">
            <a:avLst/>
          </a:prstGeom>
        </p:spPr>
      </p:pic>
      <p:sp>
        <p:nvSpPr>
          <p:cNvPr id="22" name="Text 18"/>
          <p:cNvSpPr txBox="1"/>
          <p:nvPr/>
        </p:nvSpPr>
        <p:spPr>
          <a:xfrm>
            <a:off x="6991960" y="3617357"/>
            <a:ext cx="4541368" cy="405994"/>
          </a:xfrm>
          <a:prstGeom prst="rect">
            <a:avLst/>
          </a:prstGeom>
          <a:noFill/>
          <a:ln/>
        </p:spPr>
        <p:txBody>
          <a:bodyPr wrap="square" lIns="0" tIns="0" rIns="0" bIns="0" rtlCol="0" anchor="ctr"/>
          <a:lstStyle/>
          <a:p>
            <a:pPr indent="0" marL="0">
              <a:buNone/>
            </a:pPr>
            <a:r>
              <a:rPr lang="id-ID" altLang="en-US" sz="1900" dirty="0">
                <a:solidFill>
                  <a:srgbClr val="1F2328"/>
                </a:solidFill>
              </a:rPr>
              <a:t>komposisi dan agregasi</a:t>
            </a:r>
            <a:endParaRPr lang="id-ID" sz="1900" dirty="0"/>
          </a:p>
        </p:txBody>
      </p:sp>
      <p:sp>
        <p:nvSpPr>
          <p:cNvPr id="23" name="Shape 19"/>
          <p:cNvSpPr/>
          <p:nvPr/>
        </p:nvSpPr>
        <p:spPr>
          <a:xfrm>
            <a:off x="548640" y="4334247"/>
            <a:ext cx="11094415" cy="1817624"/>
          </a:xfrm>
          <a:prstGeom prst="roundRect">
            <a:avLst>
              <a:gd name="adj" fmla="val 3037"/>
            </a:avLst>
          </a:prstGeom>
          <a:solidFill>
            <a:srgbClr val="FFF8C5"/>
          </a:solidFill>
          <a:ln w="9525">
            <a:solidFill>
              <a:srgbClr val="D4A72C"/>
            </a:solidFill>
            <a:prstDash val="solid"/>
          </a:ln>
        </p:spPr>
      </p:sp>
      <p:sp>
        <p:nvSpPr>
          <p:cNvPr id="24" name="Shape 20"/>
          <p:cNvSpPr/>
          <p:nvPr/>
        </p:nvSpPr>
        <p:spPr>
          <a:xfrm>
            <a:off x="777240" y="4517127"/>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617711"/>
            <a:ext cx="256032" cy="256032"/>
          </a:xfrm>
          <a:prstGeom prst="rect">
            <a:avLst/>
          </a:prstGeom>
        </p:spPr>
      </p:pic>
      <p:sp>
        <p:nvSpPr>
          <p:cNvPr id="26" name="Text 21"/>
          <p:cNvSpPr txBox="1"/>
          <p:nvPr/>
        </p:nvSpPr>
        <p:spPr>
          <a:xfrm>
            <a:off x="1417320" y="4471407"/>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809735"/>
            <a:ext cx="9951415" cy="1268984"/>
          </a:xfrm>
          <a:prstGeom prst="rect">
            <a:avLst/>
          </a:prstGeom>
          <a:noFill/>
          <a:ln/>
        </p:spPr>
        <p:txBody>
          <a:bodyPr wrap="square" lIns="0" tIns="0" rIns="0" bIns="0" rtlCol="0" anchor="t"/>
          <a:lstStyle/>
          <a:p>
            <a:pPr indent="0" marL="0">
              <a:buNone/>
            </a:pPr>
            <a:r>
              <a:rPr lang="id-ID" altLang="en-US" sz="1900" dirty="0">
                <a:solidFill>
                  <a:srgbClr val="1F2328"/>
                </a:solidFill>
              </a:rPr>
              <a:t>Lantai dibuat </a:t>
            </a:r>
            <a:r>
              <a:rPr lang="id-ID" altLang="en-US" sz="1900" b="1" dirty="0">
                <a:solidFill>
                  <a:srgbClr val="1F2328"/>
                </a:solidFill>
              </a:rPr>
              <a:t>di dalam</a:t>
            </a:r>
            <a:r>
              <a:rPr lang="id-ID" altLang="en-US" sz="1900" dirty="0">
                <a:solidFill>
                  <a:srgbClr val="1F2328"/>
                </a:solidFill>
              </a:rPr>
              <a:t> gedung dan ikut hilang bersamanya: komposisi. Mahasiswa </a:t>
            </a:r>
            <a:r>
              <a:rPr lang="id-ID" altLang="en-US" sz="1900" b="1" dirty="0">
                <a:solidFill>
                  <a:srgbClr val="1F2328"/>
                </a:solidFill>
              </a:rPr>
              <a:t>sudah ada</a:t>
            </a:r>
            <a:r>
              <a:rPr lang="id-ID" altLang="en-US" sz="1900" dirty="0">
                <a:solidFill>
                  <a:srgbClr val="1F2328"/>
                </a:solidFill>
              </a:rPr>
              <a:t> sebelumnya dan tetap ada setelah UKM bubar: agregasi. A terbalik. B dan C salah karena dependensi berarti objek lain hanya dipakai sementara, misalnya sebagai parameter </a:t>
            </a:r>
            <a:r>
              <a:rPr lang="id-ID" altLang="en-US" sz="1900" i="1" dirty="0">
                <a:solidFill>
                  <a:srgbClr val="1F2328"/>
                </a:solidFill>
              </a:rPr>
              <a:t>method</a:t>
            </a:r>
            <a:r>
              <a:rPr lang="id-ID" altLang="en-US" sz="1900" dirty="0">
                <a:solidFill>
                  <a:srgbClr val="1F2328"/>
                </a:solidFill>
              </a:rPr>
              <a:t>, dan tidak disimpan sebagai atribut.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41816"/>
            <a:ext cx="11094415" cy="1944624"/>
          </a:xfrm>
          <a:prstGeom prst="roundRect">
            <a:avLst>
              <a:gd name="adj" fmla="val 2653"/>
            </a:avLst>
          </a:prstGeom>
          <a:solidFill>
            <a:srgbClr val="FBEFFF"/>
          </a:solidFill>
          <a:ln w="9525">
            <a:solidFill>
              <a:srgbClr val="C297FF"/>
            </a:solidFill>
            <a:prstDash val="solid"/>
          </a:ln>
        </p:spPr>
      </p:sp>
      <p:sp>
        <p:nvSpPr>
          <p:cNvPr id="6" name="Shape 3"/>
          <p:cNvSpPr/>
          <p:nvPr/>
        </p:nvSpPr>
        <p:spPr>
          <a:xfrm>
            <a:off x="777240" y="228552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386112"/>
            <a:ext cx="256032" cy="256032"/>
          </a:xfrm>
          <a:prstGeom prst="rect">
            <a:avLst/>
          </a:prstGeom>
        </p:spPr>
      </p:pic>
      <p:sp>
        <p:nvSpPr>
          <p:cNvPr id="8" name="Text 4"/>
          <p:cNvSpPr txBox="1"/>
          <p:nvPr/>
        </p:nvSpPr>
        <p:spPr>
          <a:xfrm>
            <a:off x="1417320" y="1770416"/>
            <a:ext cx="9951415" cy="1670304"/>
          </a:xfrm>
          <a:prstGeom prst="rect">
            <a:avLst/>
          </a:prstGeom>
          <a:noFill/>
          <a:ln/>
        </p:spPr>
        <p:txBody>
          <a:bodyPr wrap="square" lIns="0" tIns="0" rIns="0" bIns="0" rtlCol="0" anchor="t"/>
          <a:lstStyle/>
          <a:p>
            <a:pPr indent="0" marL="0">
              <a:buNone/>
            </a:pPr>
            <a:r>
              <a:rPr lang="id-ID" altLang="en-US" sz="2400" dirty="0">
                <a:solidFill>
                  <a:srgbClr val="1F2328"/>
                </a:solidFill>
              </a:rPr>
              <a:t>Tim pengembang aplikasi bengkel ingin memakai ulang atribut </a:t>
            </a:r>
            <a:r>
              <a:rPr lang="id-ID" altLang="en-US" sz="2400" dirty="0">
                <a:solidFill>
                  <a:srgbClr val="0A3069"/>
                </a:solidFill>
                <a:latin typeface="Consolas" pitchFamily="34" charset="0"/>
                <a:ea typeface="Consolas" pitchFamily="34" charset="-122"/>
                <a:cs typeface="Consolas" pitchFamily="34" charset="-120"/>
              </a:rPr>
              <a:t>cc</a:t>
            </a:r>
            <a:r>
              <a:rPr lang="id-ID" altLang="en-US" sz="2400" dirty="0">
                <a:solidFill>
                  <a:srgbClr val="1F2328"/>
                </a:solidFill>
              </a:rPr>
              <a:t> dan </a:t>
            </a:r>
            <a:r>
              <a:rPr lang="id-ID" altLang="en-US" sz="2400" i="1" dirty="0">
                <a:solidFill>
                  <a:srgbClr val="1F2328"/>
                </a:solidFill>
              </a:rPr>
              <a:t>method</a:t>
            </a:r>
            <a:r>
              <a:rPr lang="id-ID" altLang="en-US" sz="2400" dirty="0">
                <a:solidFill>
                  <a:srgbClr val="1F2328"/>
                </a:solidFill>
              </a:rPr>
              <a:t> </a:t>
            </a:r>
            <a:r>
              <a:rPr lang="id-ID" altLang="en-US" sz="2400" dirty="0">
                <a:solidFill>
                  <a:srgbClr val="0A3069"/>
                </a:solidFill>
                <a:latin typeface="Consolas" pitchFamily="34" charset="0"/>
                <a:ea typeface="Consolas" pitchFamily="34" charset="-122"/>
                <a:cs typeface="Consolas" pitchFamily="34" charset="-120"/>
              </a:rPr>
              <a:t>nyalakan()</a:t>
            </a:r>
            <a:r>
              <a:rPr lang="id-ID" altLang="en-US" sz="2400" dirty="0">
                <a:solidFill>
                  <a:srgbClr val="1F2328"/>
                </a:solidFill>
              </a:rPr>
              <a:t> milik </a:t>
            </a:r>
            <a:r>
              <a:rPr lang="id-ID" altLang="en-US" sz="2400" dirty="0">
                <a:solidFill>
                  <a:srgbClr val="0A3069"/>
                </a:solidFill>
                <a:latin typeface="Consolas" pitchFamily="34" charset="0"/>
                <a:ea typeface="Consolas" pitchFamily="34" charset="-122"/>
                <a:cs typeface="Consolas" pitchFamily="34" charset="-120"/>
              </a:rPr>
              <a:t>Mesin</a:t>
            </a:r>
            <a:r>
              <a:rPr lang="id-ID" altLang="en-US" sz="2400" dirty="0">
                <a:solidFill>
                  <a:srgbClr val="1F2328"/>
                </a:solidFill>
              </a:rPr>
              <a:t> di kelas </a:t>
            </a:r>
            <a:r>
              <a:rPr lang="id-ID" altLang="en-US" sz="2400" dirty="0">
                <a:solidFill>
                  <a:srgbClr val="0A3069"/>
                </a:solidFill>
                <a:latin typeface="Consolas" pitchFamily="34" charset="0"/>
                <a:ea typeface="Consolas" pitchFamily="34" charset="-122"/>
                <a:cs typeface="Consolas" pitchFamily="34" charset="-120"/>
              </a:rPr>
              <a:t>Mobil</a:t>
            </a:r>
            <a:r>
              <a:rPr lang="id-ID" altLang="en-US" sz="2400" dirty="0">
                <a:solidFill>
                  <a:srgbClr val="1F2328"/>
                </a:solidFill>
              </a:rPr>
              <a:t>. Seorang anggota tim mengusulkan agar </a:t>
            </a:r>
            <a:r>
              <a:rPr lang="id-ID" altLang="en-US" sz="2400" dirty="0">
                <a:solidFill>
                  <a:srgbClr val="0A3069"/>
                </a:solidFill>
                <a:latin typeface="Consolas" pitchFamily="34" charset="0"/>
                <a:ea typeface="Consolas" pitchFamily="34" charset="-122"/>
                <a:cs typeface="Consolas" pitchFamily="34" charset="-120"/>
              </a:rPr>
              <a:t>Mobil</a:t>
            </a:r>
            <a:r>
              <a:rPr lang="id-ID" altLang="en-US" sz="2400" dirty="0">
                <a:solidFill>
                  <a:srgbClr val="1F2328"/>
                </a:solidFill>
              </a:rPr>
              <a:t> dijadikan </a:t>
            </a:r>
            <a:r>
              <a:rPr lang="id-ID" altLang="en-US" sz="2400" b="1" dirty="0">
                <a:solidFill>
                  <a:srgbClr val="1F2328"/>
                </a:solidFill>
              </a:rPr>
              <a:t>kelas anak</a:t>
            </a:r>
            <a:r>
              <a:rPr lang="id-ID" altLang="en-US" sz="2400" dirty="0">
                <a:solidFill>
                  <a:srgbClr val="1F2328"/>
                </a:solidFill>
              </a:rPr>
              <a:t> dari </a:t>
            </a:r>
            <a:r>
              <a:rPr lang="id-ID" altLang="en-US" sz="2400" dirty="0">
                <a:solidFill>
                  <a:srgbClr val="0A3069"/>
                </a:solidFill>
                <a:latin typeface="Consolas" pitchFamily="34" charset="0"/>
                <a:ea typeface="Consolas" pitchFamily="34" charset="-122"/>
                <a:cs typeface="Consolas" pitchFamily="34" charset="-120"/>
              </a:rPr>
              <a:t>Mesin</a:t>
            </a:r>
            <a:r>
              <a:rPr lang="id-ID" altLang="en-US" sz="2400" dirty="0">
                <a:solidFill>
                  <a:srgbClr val="1F2328"/>
                </a:solidFill>
              </a:rPr>
              <a:t>. Penilaian yang paling tepat adalah ...</a:t>
            </a:r>
            <a:endParaRPr lang="id-ID" sz="2400" dirty="0"/>
          </a:p>
        </p:txBody>
      </p:sp>
      <p:sp>
        <p:nvSpPr>
          <p:cNvPr id="9" name="Shape 5"/>
          <p:cNvSpPr/>
          <p:nvPr/>
        </p:nvSpPr>
        <p:spPr>
          <a:xfrm>
            <a:off x="548640" y="3669320"/>
            <a:ext cx="5455768" cy="1250442"/>
          </a:xfrm>
          <a:prstGeom prst="roundRect">
            <a:avLst>
              <a:gd name="adj" fmla="val 6417"/>
            </a:avLst>
          </a:prstGeom>
          <a:solidFill>
            <a:srgbClr val="FFFFFF"/>
          </a:solidFill>
          <a:ln w="9525">
            <a:solidFill>
              <a:srgbClr val="D0D7DE"/>
            </a:solidFill>
            <a:prstDash val="solid"/>
          </a:ln>
        </p:spPr>
      </p:sp>
      <p:sp>
        <p:nvSpPr>
          <p:cNvPr id="10" name="Shape 6"/>
          <p:cNvSpPr/>
          <p:nvPr/>
        </p:nvSpPr>
        <p:spPr>
          <a:xfrm>
            <a:off x="749808" y="4065941"/>
            <a:ext cx="457200" cy="457200"/>
          </a:xfrm>
          <a:prstGeom prst="ellipse">
            <a:avLst/>
          </a:prstGeom>
          <a:solidFill>
            <a:srgbClr val="8250DF"/>
          </a:solidFill>
          <a:ln/>
        </p:spPr>
      </p:sp>
      <p:sp>
        <p:nvSpPr>
          <p:cNvPr id="11" name="Text 7"/>
          <p:cNvSpPr txBox="1"/>
          <p:nvPr/>
        </p:nvSpPr>
        <p:spPr>
          <a:xfrm>
            <a:off x="749808" y="406594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779048"/>
            <a:ext cx="4541368" cy="1030986"/>
          </a:xfrm>
          <a:prstGeom prst="rect">
            <a:avLst/>
          </a:prstGeom>
          <a:noFill/>
          <a:ln/>
        </p:spPr>
        <p:txBody>
          <a:bodyPr wrap="square" lIns="0" tIns="0" rIns="0" bIns="0" rtlCol="0" anchor="ctr"/>
          <a:lstStyle/>
          <a:p>
            <a:pPr indent="0" marL="0">
              <a:buNone/>
            </a:pPr>
            <a:r>
              <a:rPr lang="id-ID" altLang="en-US" sz="2100" dirty="0">
                <a:solidFill>
                  <a:srgbClr val="1F2328"/>
                </a:solidFill>
              </a:rPr>
              <a:t>Tepat karena pewarisan adalah satu-⁠satunya cara memakai ulang kode</a:t>
            </a:r>
            <a:endParaRPr lang="id-ID" sz="2100" dirty="0"/>
          </a:p>
        </p:txBody>
      </p:sp>
      <p:sp>
        <p:nvSpPr>
          <p:cNvPr id="13" name="Shape 9"/>
          <p:cNvSpPr/>
          <p:nvPr/>
        </p:nvSpPr>
        <p:spPr>
          <a:xfrm>
            <a:off x="6187288" y="3669320"/>
            <a:ext cx="5455768" cy="1250442"/>
          </a:xfrm>
          <a:prstGeom prst="roundRect">
            <a:avLst>
              <a:gd name="adj" fmla="val 6417"/>
            </a:avLst>
          </a:prstGeom>
          <a:solidFill>
            <a:srgbClr val="FFFFFF"/>
          </a:solidFill>
          <a:ln w="9525">
            <a:solidFill>
              <a:srgbClr val="D0D7DE"/>
            </a:solidFill>
            <a:prstDash val="solid"/>
          </a:ln>
        </p:spPr>
      </p:sp>
      <p:sp>
        <p:nvSpPr>
          <p:cNvPr id="14" name="Shape 10"/>
          <p:cNvSpPr/>
          <p:nvPr/>
        </p:nvSpPr>
        <p:spPr>
          <a:xfrm>
            <a:off x="6388456" y="4065941"/>
            <a:ext cx="457200" cy="457200"/>
          </a:xfrm>
          <a:prstGeom prst="ellipse">
            <a:avLst/>
          </a:prstGeom>
          <a:solidFill>
            <a:srgbClr val="8250DF"/>
          </a:solidFill>
          <a:ln/>
        </p:spPr>
      </p:sp>
      <p:sp>
        <p:nvSpPr>
          <p:cNvPr id="15" name="Text 11"/>
          <p:cNvSpPr txBox="1"/>
          <p:nvPr/>
        </p:nvSpPr>
        <p:spPr>
          <a:xfrm>
            <a:off x="6388456" y="406594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779048"/>
            <a:ext cx="4541368" cy="1030986"/>
          </a:xfrm>
          <a:prstGeom prst="rect">
            <a:avLst/>
          </a:prstGeom>
          <a:noFill/>
          <a:ln/>
        </p:spPr>
        <p:txBody>
          <a:bodyPr wrap="square" lIns="0" tIns="0" rIns="0" bIns="0" rtlCol="0" anchor="ctr"/>
          <a:lstStyle/>
          <a:p>
            <a:pPr indent="0" marL="0">
              <a:buNone/>
            </a:pPr>
            <a:r>
              <a:rPr lang="id-ID" altLang="en-US" sz="2100" dirty="0">
                <a:solidFill>
                  <a:srgbClr val="1F2328"/>
                </a:solidFill>
              </a:rPr>
              <a:t>Kurang tepat: mobil bukan sejenis mesin; lebih tepat </a:t>
            </a:r>
            <a:r>
              <a:rPr lang="id-ID" altLang="en-US" sz="2100" dirty="0">
                <a:solidFill>
                  <a:srgbClr val="0A3069"/>
                </a:solidFill>
                <a:latin typeface="Consolas" pitchFamily="34" charset="0"/>
                <a:ea typeface="Consolas" pitchFamily="34" charset="-122"/>
                <a:cs typeface="Consolas" pitchFamily="34" charset="-120"/>
              </a:rPr>
              <a:t>Mobil</a:t>
            </a:r>
            <a:r>
              <a:rPr lang="id-ID" altLang="en-US" sz="2100" dirty="0">
                <a:solidFill>
                  <a:srgbClr val="1F2328"/>
                </a:solidFill>
              </a:rPr>
              <a:t> </a:t>
            </a:r>
            <a:r>
              <a:rPr lang="id-ID" altLang="en-US" sz="2100" b="1" dirty="0">
                <a:solidFill>
                  <a:srgbClr val="1F2328"/>
                </a:solidFill>
              </a:rPr>
              <a:t>memiliki</a:t>
            </a:r>
            <a:r>
              <a:rPr lang="id-ID" altLang="en-US" sz="2100" dirty="0">
                <a:solidFill>
                  <a:srgbClr val="1F2328"/>
                </a:solidFill>
              </a:rPr>
              <a:t> </a:t>
            </a:r>
            <a:r>
              <a:rPr lang="id-ID" altLang="en-US" sz="2100" dirty="0">
                <a:solidFill>
                  <a:srgbClr val="0A3069"/>
                </a:solidFill>
                <a:latin typeface="Consolas" pitchFamily="34" charset="0"/>
                <a:ea typeface="Consolas" pitchFamily="34" charset="-122"/>
                <a:cs typeface="Consolas" pitchFamily="34" charset="-120"/>
              </a:rPr>
              <a:t>Mesin</a:t>
            </a:r>
            <a:r>
              <a:rPr lang="id-ID" altLang="en-US" sz="2100" dirty="0">
                <a:solidFill>
                  <a:srgbClr val="1F2328"/>
                </a:solidFill>
              </a:rPr>
              <a:t> (</a:t>
            </a:r>
            <a:r>
              <a:rPr lang="id-ID" altLang="en-US" sz="2100" i="1" dirty="0">
                <a:solidFill>
                  <a:srgbClr val="1F2328"/>
                </a:solidFill>
              </a:rPr>
              <a:t>has-⁠a</a:t>
            </a:r>
            <a:r>
              <a:rPr lang="id-ID" altLang="en-US" sz="2100" dirty="0">
                <a:solidFill>
                  <a:srgbClr val="1F2328"/>
                </a:solidFill>
              </a:rPr>
              <a:t>) lewat atribut</a:t>
            </a:r>
            <a:endParaRPr lang="id-ID" sz="2100" dirty="0"/>
          </a:p>
        </p:txBody>
      </p:sp>
      <p:sp>
        <p:nvSpPr>
          <p:cNvPr id="17" name="Shape 13"/>
          <p:cNvSpPr/>
          <p:nvPr/>
        </p:nvSpPr>
        <p:spPr>
          <a:xfrm>
            <a:off x="548640" y="5102642"/>
            <a:ext cx="5455768" cy="925068"/>
          </a:xfrm>
          <a:prstGeom prst="roundRect">
            <a:avLst>
              <a:gd name="adj" fmla="val 11725"/>
            </a:avLst>
          </a:prstGeom>
          <a:solidFill>
            <a:srgbClr val="FFFFFF"/>
          </a:solidFill>
          <a:ln w="9525">
            <a:solidFill>
              <a:srgbClr val="D0D7DE"/>
            </a:solidFill>
            <a:prstDash val="solid"/>
          </a:ln>
        </p:spPr>
      </p:sp>
      <p:sp>
        <p:nvSpPr>
          <p:cNvPr id="18" name="Shape 14"/>
          <p:cNvSpPr/>
          <p:nvPr/>
        </p:nvSpPr>
        <p:spPr>
          <a:xfrm>
            <a:off x="749808" y="5336576"/>
            <a:ext cx="457200" cy="457200"/>
          </a:xfrm>
          <a:prstGeom prst="ellipse">
            <a:avLst/>
          </a:prstGeom>
          <a:solidFill>
            <a:srgbClr val="8250DF"/>
          </a:solidFill>
          <a:ln/>
        </p:spPr>
      </p:sp>
      <p:sp>
        <p:nvSpPr>
          <p:cNvPr id="19" name="Text 15"/>
          <p:cNvSpPr txBox="1"/>
          <p:nvPr/>
        </p:nvSpPr>
        <p:spPr>
          <a:xfrm>
            <a:off x="749808" y="53365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212370"/>
            <a:ext cx="4541368" cy="705612"/>
          </a:xfrm>
          <a:prstGeom prst="rect">
            <a:avLst/>
          </a:prstGeom>
          <a:noFill/>
          <a:ln/>
        </p:spPr>
        <p:txBody>
          <a:bodyPr wrap="square" lIns="0" tIns="0" rIns="0" bIns="0" rtlCol="0" anchor="ctr"/>
          <a:lstStyle/>
          <a:p>
            <a:pPr indent="0" marL="0">
              <a:buNone/>
            </a:pPr>
            <a:r>
              <a:rPr lang="id-ID" altLang="en-US" sz="2100" dirty="0">
                <a:solidFill>
                  <a:srgbClr val="1F2328"/>
                </a:solidFill>
              </a:rPr>
              <a:t>Tepat, asalkan </a:t>
            </a:r>
            <a:r>
              <a:rPr lang="id-ID" altLang="en-US" sz="2100" dirty="0">
                <a:solidFill>
                  <a:srgbClr val="0A3069"/>
                </a:solidFill>
                <a:latin typeface="Consolas" pitchFamily="34" charset="0"/>
                <a:ea typeface="Consolas" pitchFamily="34" charset="-122"/>
                <a:cs typeface="Consolas" pitchFamily="34" charset="-120"/>
              </a:rPr>
              <a:t>Mobil</a:t>
            </a:r>
            <a:r>
              <a:rPr lang="id-ID" altLang="en-US" sz="2100" dirty="0">
                <a:solidFill>
                  <a:srgbClr val="1F2328"/>
                </a:solidFill>
              </a:rPr>
              <a:t> meng-⁠</a:t>
            </a:r>
            <a:r>
              <a:rPr lang="id-ID" altLang="en-US" sz="2100" i="1" dirty="0">
                <a:solidFill>
                  <a:srgbClr val="1F2328"/>
                </a:solidFill>
              </a:rPr>
              <a:t>override</a:t>
            </a:r>
            <a:r>
              <a:rPr lang="id-ID" altLang="en-US" sz="2100" dirty="0">
                <a:solidFill>
                  <a:srgbClr val="1F2328"/>
                </a:solidFill>
              </a:rPr>
              <a:t> semua </a:t>
            </a:r>
            <a:r>
              <a:rPr lang="id-ID" altLang="en-US" sz="2100" i="1" dirty="0">
                <a:solidFill>
                  <a:srgbClr val="1F2328"/>
                </a:solidFill>
              </a:rPr>
              <a:t>method</a:t>
            </a:r>
            <a:r>
              <a:rPr lang="id-ID" altLang="en-US" sz="2100" dirty="0">
                <a:solidFill>
                  <a:srgbClr val="1F2328"/>
                </a:solidFill>
              </a:rPr>
              <a:t> milik </a:t>
            </a:r>
            <a:r>
              <a:rPr lang="id-ID" altLang="en-US" sz="2100" dirty="0">
                <a:solidFill>
                  <a:srgbClr val="0A3069"/>
                </a:solidFill>
                <a:latin typeface="Consolas" pitchFamily="34" charset="0"/>
                <a:ea typeface="Consolas" pitchFamily="34" charset="-122"/>
                <a:cs typeface="Consolas" pitchFamily="34" charset="-120"/>
              </a:rPr>
              <a:t>Mesin</a:t>
            </a:r>
            <a:endParaRPr lang="id-ID" sz="2100" dirty="0"/>
          </a:p>
        </p:txBody>
      </p:sp>
      <p:sp>
        <p:nvSpPr>
          <p:cNvPr id="21" name="Shape 17"/>
          <p:cNvSpPr/>
          <p:nvPr/>
        </p:nvSpPr>
        <p:spPr>
          <a:xfrm>
            <a:off x="6187288" y="5102642"/>
            <a:ext cx="5455768" cy="925068"/>
          </a:xfrm>
          <a:prstGeom prst="roundRect">
            <a:avLst>
              <a:gd name="adj" fmla="val 11725"/>
            </a:avLst>
          </a:prstGeom>
          <a:solidFill>
            <a:srgbClr val="FFFFFF"/>
          </a:solidFill>
          <a:ln w="9525">
            <a:solidFill>
              <a:srgbClr val="D0D7DE"/>
            </a:solidFill>
            <a:prstDash val="solid"/>
          </a:ln>
        </p:spPr>
      </p:sp>
      <p:sp>
        <p:nvSpPr>
          <p:cNvPr id="22" name="Shape 18"/>
          <p:cNvSpPr/>
          <p:nvPr/>
        </p:nvSpPr>
        <p:spPr>
          <a:xfrm>
            <a:off x="6388456" y="5336576"/>
            <a:ext cx="457200" cy="457200"/>
          </a:xfrm>
          <a:prstGeom prst="ellipse">
            <a:avLst/>
          </a:prstGeom>
          <a:solidFill>
            <a:srgbClr val="8250DF"/>
          </a:solidFill>
          <a:ln/>
        </p:spPr>
      </p:sp>
      <p:sp>
        <p:nvSpPr>
          <p:cNvPr id="23" name="Text 19"/>
          <p:cNvSpPr txBox="1"/>
          <p:nvPr/>
        </p:nvSpPr>
        <p:spPr>
          <a:xfrm>
            <a:off x="6388456" y="53365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212370"/>
            <a:ext cx="4541368" cy="705612"/>
          </a:xfrm>
          <a:prstGeom prst="rect">
            <a:avLst/>
          </a:prstGeom>
          <a:noFill/>
          <a:ln/>
        </p:spPr>
        <p:txBody>
          <a:bodyPr wrap="square" lIns="0" tIns="0" rIns="0" bIns="0" rtlCol="0" anchor="ctr"/>
          <a:lstStyle/>
          <a:p>
            <a:pPr indent="0" marL="0">
              <a:buNone/>
            </a:pPr>
            <a:r>
              <a:rPr lang="id-ID" altLang="en-US" sz="2100" dirty="0">
                <a:solidFill>
                  <a:srgbClr val="1F2328"/>
                </a:solidFill>
              </a:rPr>
              <a:t>Kurang tepat karena kelas yang menjadi induk tidak boleh memiliki </a:t>
            </a:r>
            <a:r>
              <a:rPr lang="id-ID" altLang="en-US" sz="2100" i="1" dirty="0">
                <a:solidFill>
                  <a:srgbClr val="1F2328"/>
                </a:solidFill>
              </a:rPr>
              <a:t>method</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649242"/>
            <a:ext cx="11094415" cy="739140"/>
          </a:xfrm>
          <a:prstGeom prst="roundRect">
            <a:avLst>
              <a:gd name="adj" fmla="val 18365"/>
            </a:avLst>
          </a:prstGeom>
          <a:solidFill>
            <a:srgbClr val="F6F8FA"/>
          </a:solidFill>
          <a:ln w="9525">
            <a:solidFill>
              <a:srgbClr val="D0D7DE"/>
            </a:solidFill>
            <a:prstDash val="solid"/>
          </a:ln>
        </p:spPr>
      </p:sp>
      <p:sp>
        <p:nvSpPr>
          <p:cNvPr id="6" name="Text 3"/>
          <p:cNvSpPr txBox="1"/>
          <p:nvPr/>
        </p:nvSpPr>
        <p:spPr>
          <a:xfrm>
            <a:off x="822960" y="1786402"/>
            <a:ext cx="10545775" cy="464820"/>
          </a:xfrm>
          <a:prstGeom prst="rect">
            <a:avLst/>
          </a:prstGeom>
          <a:noFill/>
          <a:ln/>
        </p:spPr>
        <p:txBody>
          <a:bodyPr wrap="square" lIns="0" tIns="0" rIns="0" bIns="0" rtlCol="0" anchor="t"/>
          <a:lstStyle/>
          <a:p>
            <a:pPr indent="0" marL="0">
              <a:buNone/>
            </a:pPr>
            <a:r>
              <a:rPr lang="id-ID" altLang="en-US" sz="1500" dirty="0">
                <a:solidFill>
                  <a:srgbClr val="57606A"/>
                </a:solidFill>
              </a:rPr>
              <a:t>Tim pengembang aplikasi bengkel ingin memakai ulang atribut </a:t>
            </a:r>
            <a:r>
              <a:rPr lang="id-ID" altLang="en-US" sz="1500" dirty="0">
                <a:solidFill>
                  <a:srgbClr val="0A3069"/>
                </a:solidFill>
                <a:latin typeface="Consolas" pitchFamily="34" charset="0"/>
                <a:ea typeface="Consolas" pitchFamily="34" charset="-122"/>
                <a:cs typeface="Consolas" pitchFamily="34" charset="-120"/>
              </a:rPr>
              <a:t>cc</a:t>
            </a:r>
            <a:r>
              <a:rPr lang="id-ID" altLang="en-US" sz="1500" dirty="0">
                <a:solidFill>
                  <a:srgbClr val="57606A"/>
                </a:solidFill>
              </a:rPr>
              <a:t> dan </a:t>
            </a:r>
            <a:r>
              <a:rPr lang="id-ID" altLang="en-US" sz="1500" i="1" dirty="0">
                <a:solidFill>
                  <a:srgbClr val="57606A"/>
                </a:solidFill>
              </a:rPr>
              <a:t>method</a:t>
            </a:r>
            <a:r>
              <a:rPr lang="id-ID" altLang="en-US" sz="1500" dirty="0">
                <a:solidFill>
                  <a:srgbClr val="57606A"/>
                </a:solidFill>
              </a:rPr>
              <a:t> </a:t>
            </a:r>
            <a:r>
              <a:rPr lang="id-ID" altLang="en-US" sz="1500" dirty="0">
                <a:solidFill>
                  <a:srgbClr val="0A3069"/>
                </a:solidFill>
                <a:latin typeface="Consolas" pitchFamily="34" charset="0"/>
                <a:ea typeface="Consolas" pitchFamily="34" charset="-122"/>
                <a:cs typeface="Consolas" pitchFamily="34" charset="-120"/>
              </a:rPr>
              <a:t>nyalakan()</a:t>
            </a:r>
            <a:r>
              <a:rPr lang="id-ID" altLang="en-US" sz="1500" dirty="0">
                <a:solidFill>
                  <a:srgbClr val="57606A"/>
                </a:solidFill>
              </a:rPr>
              <a:t> milik </a:t>
            </a:r>
            <a:r>
              <a:rPr lang="id-ID" altLang="en-US" sz="1500" dirty="0">
                <a:solidFill>
                  <a:srgbClr val="0A3069"/>
                </a:solidFill>
                <a:latin typeface="Consolas" pitchFamily="34" charset="0"/>
                <a:ea typeface="Consolas" pitchFamily="34" charset="-122"/>
                <a:cs typeface="Consolas" pitchFamily="34" charset="-120"/>
              </a:rPr>
              <a:t>Mesin</a:t>
            </a:r>
            <a:r>
              <a:rPr lang="id-ID" altLang="en-US" sz="1500" dirty="0">
                <a:solidFill>
                  <a:srgbClr val="57606A"/>
                </a:solidFill>
              </a:rPr>
              <a:t> di kelas </a:t>
            </a:r>
            <a:r>
              <a:rPr lang="id-ID" altLang="en-US" sz="1500" dirty="0">
                <a:solidFill>
                  <a:srgbClr val="0A3069"/>
                </a:solidFill>
                <a:latin typeface="Consolas" pitchFamily="34" charset="0"/>
                <a:ea typeface="Consolas" pitchFamily="34" charset="-122"/>
                <a:cs typeface="Consolas" pitchFamily="34" charset="-120"/>
              </a:rPr>
              <a:t>Mobil</a:t>
            </a:r>
            <a:r>
              <a:rPr lang="id-ID" altLang="en-US" sz="1500" dirty="0">
                <a:solidFill>
                  <a:srgbClr val="57606A"/>
                </a:solidFill>
              </a:rPr>
              <a:t>. Seorang anggota tim mengusulkan agar </a:t>
            </a:r>
            <a:r>
              <a:rPr lang="id-ID" altLang="en-US" sz="1500" dirty="0">
                <a:solidFill>
                  <a:srgbClr val="0A3069"/>
                </a:solidFill>
                <a:latin typeface="Consolas" pitchFamily="34" charset="0"/>
                <a:ea typeface="Consolas" pitchFamily="34" charset="-122"/>
                <a:cs typeface="Consolas" pitchFamily="34" charset="-120"/>
              </a:rPr>
              <a:t>Mobil</a:t>
            </a:r>
            <a:r>
              <a:rPr lang="id-ID" altLang="en-US" sz="1500" dirty="0">
                <a:solidFill>
                  <a:srgbClr val="57606A"/>
                </a:solidFill>
              </a:rPr>
              <a:t> dijadikan </a:t>
            </a:r>
            <a:r>
              <a:rPr lang="id-ID" altLang="en-US" sz="1500" b="1" dirty="0">
                <a:solidFill>
                  <a:srgbClr val="57606A"/>
                </a:solidFill>
              </a:rPr>
              <a:t>kelas anak</a:t>
            </a:r>
            <a:r>
              <a:rPr lang="id-ID" altLang="en-US" sz="1500" dirty="0">
                <a:solidFill>
                  <a:srgbClr val="57606A"/>
                </a:solidFill>
              </a:rPr>
              <a:t> dari </a:t>
            </a:r>
            <a:r>
              <a:rPr lang="id-ID" altLang="en-US" sz="1500" dirty="0">
                <a:solidFill>
                  <a:srgbClr val="0A3069"/>
                </a:solidFill>
                <a:latin typeface="Consolas" pitchFamily="34" charset="0"/>
                <a:ea typeface="Consolas" pitchFamily="34" charset="-122"/>
                <a:cs typeface="Consolas" pitchFamily="34" charset="-120"/>
              </a:rPr>
              <a:t>Mesin</a:t>
            </a:r>
            <a:r>
              <a:rPr lang="id-ID" altLang="en-US" sz="1500" dirty="0">
                <a:solidFill>
                  <a:srgbClr val="57606A"/>
                </a:solidFill>
              </a:rPr>
              <a:t>. Penilaian yang paling tepat adalah ...</a:t>
            </a:r>
            <a:endParaRPr lang="id-ID" sz="1500" dirty="0"/>
          </a:p>
        </p:txBody>
      </p:sp>
      <p:sp>
        <p:nvSpPr>
          <p:cNvPr id="7" name="Shape 4"/>
          <p:cNvSpPr/>
          <p:nvPr/>
        </p:nvSpPr>
        <p:spPr>
          <a:xfrm>
            <a:off x="548640" y="2571262"/>
            <a:ext cx="5455768" cy="770128"/>
          </a:xfrm>
          <a:prstGeom prst="roundRect">
            <a:avLst>
              <a:gd name="adj" fmla="val 16917"/>
            </a:avLst>
          </a:prstGeom>
          <a:solidFill>
            <a:srgbClr val="FFFFFF"/>
          </a:solidFill>
          <a:ln w="9525">
            <a:solidFill>
              <a:srgbClr val="D0D7DE"/>
            </a:solidFill>
            <a:prstDash val="solid"/>
          </a:ln>
        </p:spPr>
      </p:sp>
      <p:sp>
        <p:nvSpPr>
          <p:cNvPr id="8" name="Shape 5"/>
          <p:cNvSpPr/>
          <p:nvPr/>
        </p:nvSpPr>
        <p:spPr>
          <a:xfrm>
            <a:off x="749808" y="2773446"/>
            <a:ext cx="365760" cy="365760"/>
          </a:xfrm>
          <a:prstGeom prst="ellipse">
            <a:avLst/>
          </a:prstGeom>
          <a:solidFill>
            <a:srgbClr val="8C959F"/>
          </a:solidFill>
          <a:ln/>
        </p:spPr>
      </p:sp>
      <p:sp>
        <p:nvSpPr>
          <p:cNvPr id="9" name="Text 6"/>
          <p:cNvSpPr txBox="1"/>
          <p:nvPr/>
        </p:nvSpPr>
        <p:spPr>
          <a:xfrm>
            <a:off x="749808" y="2773446"/>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A</a:t>
            </a:r>
            <a:endParaRPr lang="id-ID" sz="1400" dirty="0"/>
          </a:p>
        </p:txBody>
      </p:sp>
      <p:sp>
        <p:nvSpPr>
          <p:cNvPr id="10" name="Text 7"/>
          <p:cNvSpPr txBox="1"/>
          <p:nvPr/>
        </p:nvSpPr>
        <p:spPr>
          <a:xfrm>
            <a:off x="1353312" y="2680990"/>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Tepat karena pewarisan adalah satu-⁠satunya cara memakai ulang kode</a:t>
            </a:r>
            <a:endParaRPr lang="id-ID" sz="1600" dirty="0"/>
          </a:p>
        </p:txBody>
      </p:sp>
      <p:sp>
        <p:nvSpPr>
          <p:cNvPr id="11" name="Shape 8"/>
          <p:cNvSpPr/>
          <p:nvPr/>
        </p:nvSpPr>
        <p:spPr>
          <a:xfrm>
            <a:off x="6187288" y="2571262"/>
            <a:ext cx="5455768" cy="770128"/>
          </a:xfrm>
          <a:prstGeom prst="roundRect">
            <a:avLst>
              <a:gd name="adj" fmla="val 16917"/>
            </a:avLst>
          </a:prstGeom>
          <a:solidFill>
            <a:srgbClr val="DAFBE1"/>
          </a:solidFill>
          <a:ln w="22225">
            <a:solidFill>
              <a:srgbClr val="1A7F37"/>
            </a:solidFill>
            <a:prstDash val="solid"/>
          </a:ln>
        </p:spPr>
      </p:sp>
      <p:sp>
        <p:nvSpPr>
          <p:cNvPr id="12" name="Shape 9"/>
          <p:cNvSpPr/>
          <p:nvPr/>
        </p:nvSpPr>
        <p:spPr>
          <a:xfrm>
            <a:off x="6388456" y="2773446"/>
            <a:ext cx="365760" cy="36576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68923" y="2853914"/>
            <a:ext cx="204826" cy="204826"/>
          </a:xfrm>
          <a:prstGeom prst="rect">
            <a:avLst/>
          </a:prstGeom>
        </p:spPr>
      </p:pic>
      <p:sp>
        <p:nvSpPr>
          <p:cNvPr id="14" name="Text 10"/>
          <p:cNvSpPr txBox="1"/>
          <p:nvPr/>
        </p:nvSpPr>
        <p:spPr>
          <a:xfrm>
            <a:off x="6991960" y="2680990"/>
            <a:ext cx="4541368" cy="550672"/>
          </a:xfrm>
          <a:prstGeom prst="rect">
            <a:avLst/>
          </a:prstGeom>
          <a:noFill/>
          <a:ln/>
        </p:spPr>
        <p:txBody>
          <a:bodyPr wrap="square" lIns="0" tIns="0" rIns="0" bIns="0" rtlCol="0" anchor="ctr"/>
          <a:lstStyle/>
          <a:p>
            <a:pPr indent="0" marL="0">
              <a:buNone/>
            </a:pPr>
            <a:r>
              <a:rPr lang="id-ID" altLang="en-US" sz="1600" dirty="0">
                <a:solidFill>
                  <a:srgbClr val="1F2328"/>
                </a:solidFill>
              </a:rPr>
              <a:t>Kurang tepat: mobil bukan sejenis mesin; lebih tepat </a:t>
            </a:r>
            <a:r>
              <a:rPr lang="id-ID" altLang="en-US" sz="1600" dirty="0">
                <a:solidFill>
                  <a:srgbClr val="0A3069"/>
                </a:solidFill>
                <a:latin typeface="Consolas" pitchFamily="34" charset="0"/>
                <a:ea typeface="Consolas" pitchFamily="34" charset="-122"/>
                <a:cs typeface="Consolas" pitchFamily="34" charset="-120"/>
              </a:rPr>
              <a:t>Mobil</a:t>
            </a:r>
            <a:r>
              <a:rPr lang="id-ID" altLang="en-US" sz="1600" dirty="0">
                <a:solidFill>
                  <a:srgbClr val="1F2328"/>
                </a:solidFill>
              </a:rPr>
              <a:t> </a:t>
            </a:r>
            <a:r>
              <a:rPr lang="id-ID" altLang="en-US" sz="1600" b="1" dirty="0">
                <a:solidFill>
                  <a:srgbClr val="1F2328"/>
                </a:solidFill>
              </a:rPr>
              <a:t>memiliki</a:t>
            </a:r>
            <a:r>
              <a:rPr lang="id-ID" altLang="en-US" sz="1600" dirty="0">
                <a:solidFill>
                  <a:srgbClr val="1F2328"/>
                </a:solidFill>
              </a:rPr>
              <a:t> </a:t>
            </a:r>
            <a:r>
              <a:rPr lang="id-ID" altLang="en-US" sz="1600" dirty="0">
                <a:solidFill>
                  <a:srgbClr val="0A3069"/>
                </a:solidFill>
                <a:latin typeface="Consolas" pitchFamily="34" charset="0"/>
                <a:ea typeface="Consolas" pitchFamily="34" charset="-122"/>
                <a:cs typeface="Consolas" pitchFamily="34" charset="-120"/>
              </a:rPr>
              <a:t>Mesin</a:t>
            </a:r>
            <a:r>
              <a:rPr lang="id-ID" altLang="en-US" sz="1600" dirty="0">
                <a:solidFill>
                  <a:srgbClr val="1F2328"/>
                </a:solidFill>
              </a:rPr>
              <a:t> (</a:t>
            </a:r>
            <a:r>
              <a:rPr lang="id-ID" altLang="en-US" sz="1600" i="1" dirty="0">
                <a:solidFill>
                  <a:srgbClr val="1F2328"/>
                </a:solidFill>
              </a:rPr>
              <a:t>has-⁠a</a:t>
            </a:r>
            <a:r>
              <a:rPr lang="id-ID" altLang="en-US" sz="1600" dirty="0">
                <a:solidFill>
                  <a:srgbClr val="1F2328"/>
                </a:solidFill>
              </a:rPr>
              <a:t>) lewat atribut</a:t>
            </a:r>
            <a:endParaRPr lang="id-ID" sz="1600" dirty="0"/>
          </a:p>
        </p:txBody>
      </p:sp>
      <p:sp>
        <p:nvSpPr>
          <p:cNvPr id="15" name="Shape 11"/>
          <p:cNvSpPr/>
          <p:nvPr/>
        </p:nvSpPr>
        <p:spPr>
          <a:xfrm>
            <a:off x="548640" y="3524270"/>
            <a:ext cx="5455768" cy="770128"/>
          </a:xfrm>
          <a:prstGeom prst="roundRect">
            <a:avLst>
              <a:gd name="adj" fmla="val 16917"/>
            </a:avLst>
          </a:prstGeom>
          <a:solidFill>
            <a:srgbClr val="FFFFFF"/>
          </a:solidFill>
          <a:ln w="9525">
            <a:solidFill>
              <a:srgbClr val="D0D7DE"/>
            </a:solidFill>
            <a:prstDash val="solid"/>
          </a:ln>
        </p:spPr>
      </p:sp>
      <p:sp>
        <p:nvSpPr>
          <p:cNvPr id="16" name="Shape 12"/>
          <p:cNvSpPr/>
          <p:nvPr/>
        </p:nvSpPr>
        <p:spPr>
          <a:xfrm>
            <a:off x="749808" y="3726454"/>
            <a:ext cx="365760" cy="365760"/>
          </a:xfrm>
          <a:prstGeom prst="ellipse">
            <a:avLst/>
          </a:prstGeom>
          <a:solidFill>
            <a:srgbClr val="8C959F"/>
          </a:solidFill>
          <a:ln/>
        </p:spPr>
      </p:sp>
      <p:sp>
        <p:nvSpPr>
          <p:cNvPr id="17" name="Text 13"/>
          <p:cNvSpPr txBox="1"/>
          <p:nvPr/>
        </p:nvSpPr>
        <p:spPr>
          <a:xfrm>
            <a:off x="749808" y="3726454"/>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C</a:t>
            </a:r>
            <a:endParaRPr lang="id-ID" sz="1400" dirty="0"/>
          </a:p>
        </p:txBody>
      </p:sp>
      <p:sp>
        <p:nvSpPr>
          <p:cNvPr id="18" name="Text 14"/>
          <p:cNvSpPr txBox="1"/>
          <p:nvPr/>
        </p:nvSpPr>
        <p:spPr>
          <a:xfrm>
            <a:off x="1353312" y="3633998"/>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Tepat, asalkan </a:t>
            </a:r>
            <a:r>
              <a:rPr lang="id-ID" altLang="en-US" sz="1600" dirty="0">
                <a:solidFill>
                  <a:srgbClr val="0A3069"/>
                </a:solidFill>
                <a:latin typeface="Consolas" pitchFamily="34" charset="0"/>
                <a:ea typeface="Consolas" pitchFamily="34" charset="-122"/>
                <a:cs typeface="Consolas" pitchFamily="34" charset="-120"/>
              </a:rPr>
              <a:t>Mobil</a:t>
            </a:r>
            <a:r>
              <a:rPr lang="id-ID" altLang="en-US" sz="1600" dirty="0">
                <a:solidFill>
                  <a:srgbClr val="57606A"/>
                </a:solidFill>
              </a:rPr>
              <a:t> meng-⁠</a:t>
            </a:r>
            <a:r>
              <a:rPr lang="id-ID" altLang="en-US" sz="1600" i="1" dirty="0">
                <a:solidFill>
                  <a:srgbClr val="57606A"/>
                </a:solidFill>
              </a:rPr>
              <a:t>override</a:t>
            </a:r>
            <a:r>
              <a:rPr lang="id-ID" altLang="en-US" sz="1600" dirty="0">
                <a:solidFill>
                  <a:srgbClr val="57606A"/>
                </a:solidFill>
              </a:rPr>
              <a:t> semua </a:t>
            </a:r>
            <a:r>
              <a:rPr lang="id-ID" altLang="en-US" sz="1600" i="1" dirty="0">
                <a:solidFill>
                  <a:srgbClr val="57606A"/>
                </a:solidFill>
              </a:rPr>
              <a:t>method</a:t>
            </a:r>
            <a:r>
              <a:rPr lang="id-ID" altLang="en-US" sz="1600" dirty="0">
                <a:solidFill>
                  <a:srgbClr val="57606A"/>
                </a:solidFill>
              </a:rPr>
              <a:t> milik </a:t>
            </a:r>
            <a:r>
              <a:rPr lang="id-ID" altLang="en-US" sz="1600" dirty="0">
                <a:solidFill>
                  <a:srgbClr val="0A3069"/>
                </a:solidFill>
                <a:latin typeface="Consolas" pitchFamily="34" charset="0"/>
                <a:ea typeface="Consolas" pitchFamily="34" charset="-122"/>
                <a:cs typeface="Consolas" pitchFamily="34" charset="-120"/>
              </a:rPr>
              <a:t>Mesin</a:t>
            </a:r>
            <a:endParaRPr lang="id-ID" sz="1600" dirty="0"/>
          </a:p>
        </p:txBody>
      </p:sp>
      <p:sp>
        <p:nvSpPr>
          <p:cNvPr id="19" name="Shape 15"/>
          <p:cNvSpPr/>
          <p:nvPr/>
        </p:nvSpPr>
        <p:spPr>
          <a:xfrm>
            <a:off x="6187288" y="3524270"/>
            <a:ext cx="5455768" cy="770128"/>
          </a:xfrm>
          <a:prstGeom prst="roundRect">
            <a:avLst>
              <a:gd name="adj" fmla="val 16917"/>
            </a:avLst>
          </a:prstGeom>
          <a:solidFill>
            <a:srgbClr val="FFFFFF"/>
          </a:solidFill>
          <a:ln w="9525">
            <a:solidFill>
              <a:srgbClr val="D0D7DE"/>
            </a:solidFill>
            <a:prstDash val="solid"/>
          </a:ln>
        </p:spPr>
      </p:sp>
      <p:sp>
        <p:nvSpPr>
          <p:cNvPr id="20" name="Shape 16"/>
          <p:cNvSpPr/>
          <p:nvPr/>
        </p:nvSpPr>
        <p:spPr>
          <a:xfrm>
            <a:off x="6388456" y="3726454"/>
            <a:ext cx="365760" cy="365760"/>
          </a:xfrm>
          <a:prstGeom prst="ellipse">
            <a:avLst/>
          </a:prstGeom>
          <a:solidFill>
            <a:srgbClr val="8C959F"/>
          </a:solidFill>
          <a:ln/>
        </p:spPr>
      </p:sp>
      <p:sp>
        <p:nvSpPr>
          <p:cNvPr id="21" name="Text 17"/>
          <p:cNvSpPr txBox="1"/>
          <p:nvPr/>
        </p:nvSpPr>
        <p:spPr>
          <a:xfrm>
            <a:off x="6388456" y="3726454"/>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D</a:t>
            </a:r>
            <a:endParaRPr lang="id-ID" sz="1400" dirty="0"/>
          </a:p>
        </p:txBody>
      </p:sp>
      <p:sp>
        <p:nvSpPr>
          <p:cNvPr id="22" name="Text 18"/>
          <p:cNvSpPr txBox="1"/>
          <p:nvPr/>
        </p:nvSpPr>
        <p:spPr>
          <a:xfrm>
            <a:off x="6991960" y="3633998"/>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Kurang tepat karena kelas yang menjadi induk tidak boleh memiliki </a:t>
            </a:r>
            <a:r>
              <a:rPr lang="id-ID" altLang="en-US" sz="1600" i="1" dirty="0">
                <a:solidFill>
                  <a:srgbClr val="57606A"/>
                </a:solidFill>
              </a:rPr>
              <a:t>method</a:t>
            </a:r>
            <a:endParaRPr lang="id-ID" sz="1600" dirty="0"/>
          </a:p>
        </p:txBody>
      </p:sp>
      <p:sp>
        <p:nvSpPr>
          <p:cNvPr id="23" name="Shape 19"/>
          <p:cNvSpPr/>
          <p:nvPr/>
        </p:nvSpPr>
        <p:spPr>
          <a:xfrm>
            <a:off x="548640" y="4495566"/>
            <a:ext cx="11094415" cy="1383792"/>
          </a:xfrm>
          <a:prstGeom prst="roundRect">
            <a:avLst>
              <a:gd name="adj" fmla="val 5240"/>
            </a:avLst>
          </a:prstGeom>
          <a:solidFill>
            <a:srgbClr val="FFF8C5"/>
          </a:solidFill>
          <a:ln w="9525">
            <a:solidFill>
              <a:srgbClr val="D4A72C"/>
            </a:solidFill>
            <a:prstDash val="solid"/>
          </a:ln>
        </p:spPr>
      </p:sp>
      <p:sp>
        <p:nvSpPr>
          <p:cNvPr id="24" name="Shape 20"/>
          <p:cNvSpPr/>
          <p:nvPr/>
        </p:nvSpPr>
        <p:spPr>
          <a:xfrm>
            <a:off x="777240" y="4678446"/>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79030"/>
            <a:ext cx="256032" cy="256032"/>
          </a:xfrm>
          <a:prstGeom prst="rect">
            <a:avLst/>
          </a:prstGeom>
        </p:spPr>
      </p:pic>
      <p:sp>
        <p:nvSpPr>
          <p:cNvPr id="26" name="Text 21"/>
          <p:cNvSpPr txBox="1"/>
          <p:nvPr/>
        </p:nvSpPr>
        <p:spPr>
          <a:xfrm>
            <a:off x="1417320" y="4632726"/>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971054"/>
            <a:ext cx="9951415" cy="835152"/>
          </a:xfrm>
          <a:prstGeom prst="rect">
            <a:avLst/>
          </a:prstGeom>
          <a:noFill/>
          <a:ln/>
        </p:spPr>
        <p:txBody>
          <a:bodyPr wrap="square" lIns="0" tIns="0" rIns="0" bIns="0" rtlCol="0" anchor="t"/>
          <a:lstStyle/>
          <a:p>
            <a:pPr indent="0" marL="0">
              <a:buNone/>
            </a:pPr>
            <a:r>
              <a:rPr lang="id-ID" altLang="en-US" sz="1600" dirty="0">
                <a:solidFill>
                  <a:srgbClr val="1F2328"/>
                </a:solidFill>
              </a:rPr>
              <a:t>“Mobil </a:t>
            </a:r>
            <a:r>
              <a:rPr lang="id-ID" altLang="en-US" sz="1600" b="1" dirty="0">
                <a:solidFill>
                  <a:srgbClr val="1F2328"/>
                </a:solidFill>
              </a:rPr>
              <a:t>adalah</a:t>
            </a:r>
            <a:r>
              <a:rPr lang="id-ID" altLang="en-US" sz="1600" dirty="0">
                <a:solidFill>
                  <a:srgbClr val="1F2328"/>
                </a:solidFill>
              </a:rPr>
              <a:t> mesin” janggal, jadi bukan </a:t>
            </a:r>
            <a:r>
              <a:rPr lang="id-ID" altLang="en-US" sz="1600" i="1" dirty="0">
                <a:solidFill>
                  <a:srgbClr val="1F2328"/>
                </a:solidFill>
              </a:rPr>
              <a:t>is-⁠a</a:t>
            </a:r>
            <a:r>
              <a:rPr lang="id-ID" altLang="en-US" sz="1600" dirty="0">
                <a:solidFill>
                  <a:srgbClr val="1F2328"/>
                </a:solidFill>
              </a:rPr>
              <a:t>; “mobil </a:t>
            </a:r>
            <a:r>
              <a:rPr lang="id-ID" altLang="en-US" sz="1600" b="1" dirty="0">
                <a:solidFill>
                  <a:srgbClr val="1F2328"/>
                </a:solidFill>
              </a:rPr>
              <a:t>memiliki</a:t>
            </a:r>
            <a:r>
              <a:rPr lang="id-ID" altLang="en-US" sz="1600" dirty="0">
                <a:solidFill>
                  <a:srgbClr val="1F2328"/>
                </a:solidFill>
              </a:rPr>
              <a:t> mesin” wajar, jadi </a:t>
            </a:r>
            <a:r>
              <a:rPr lang="id-ID" altLang="en-US" sz="1600" i="1" dirty="0">
                <a:solidFill>
                  <a:srgbClr val="1F2328"/>
                </a:solidFill>
              </a:rPr>
              <a:t>has-⁠a</a:t>
            </a:r>
            <a:r>
              <a:rPr lang="id-ID" altLang="en-US" sz="1600" dirty="0">
                <a:solidFill>
                  <a:srgbClr val="1F2328"/>
                </a:solidFill>
              </a:rPr>
              <a:t>, misalnya komposisi. Mobil memakai ulang kemampuan mesin dengan meneruskan tugas ke objek mesinnya. A salah: komposisi juga cara memakai ulang kode. C tidak memperbaiki hubungan yang keliru. D salah: </a:t>
            </a:r>
            <a:r>
              <a:rPr lang="id-ID" altLang="en-US" sz="1600" i="1" dirty="0">
                <a:solidFill>
                  <a:srgbClr val="1F2328"/>
                </a:solidFill>
              </a:rPr>
              <a:t>method</a:t>
            </a:r>
            <a:r>
              <a:rPr lang="id-ID" altLang="en-US" sz="1600" dirty="0">
                <a:solidFill>
                  <a:srgbClr val="1F2328"/>
                </a:solidFill>
              </a:rPr>
              <a:t> induk justru yang diwariskan.</a:t>
            </a:r>
            <a:endParaRPr lang="id-ID"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Potongan Solusi C2: Urutan Langkah di </a:t>
            </a:r>
            <a:r>
              <a:rPr lang="id-ID" altLang="en-US" sz="3200" b="1" dirty="0">
                <a:solidFill>
                  <a:srgbClr val="0A3069"/>
                </a:solidFill>
                <a:latin typeface="Consolas" pitchFamily="34" charset="0"/>
                <a:ea typeface="Consolas" pitchFamily="34" charset="-122"/>
                <a:cs typeface="Consolas" pitchFamily="34" charset="-120"/>
              </a:rPr>
              <a:t>tambah_item</a:t>
            </a:r>
            <a:endParaRPr lang="id-ID" sz="3200" dirty="0"/>
          </a:p>
        </p:txBody>
      </p:sp>
      <p:sp>
        <p:nvSpPr>
          <p:cNvPr id="5" name="Text 2"/>
          <p:cNvSpPr txBox="1"/>
          <p:nvPr/>
        </p:nvSpPr>
        <p:spPr>
          <a:xfrm>
            <a:off x="548640" y="2309637"/>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57606A"/>
                </a:solidFill>
              </a:rPr>
              <a:t> membuat </a:t>
            </a:r>
            <a:r>
              <a:rPr lang="id-ID" altLang="en-US" sz="1800" dirty="0">
                <a:solidFill>
                  <a:srgbClr val="0A3069"/>
                </a:solidFill>
                <a:latin typeface="Consolas" pitchFamily="34" charset="0"/>
                <a:ea typeface="Consolas" pitchFamily="34" charset="-122"/>
                <a:cs typeface="Consolas" pitchFamily="34" charset="-120"/>
              </a:rPr>
              <a:t>ItemPesanan</a:t>
            </a:r>
            <a:r>
              <a:rPr lang="id-ID" altLang="en-US" sz="1800" dirty="0">
                <a:solidFill>
                  <a:srgbClr val="57606A"/>
                </a:solidFill>
              </a:rPr>
              <a:t> sendiri (komposisi). Urutan tiga langkahnya disengaja.</a:t>
            </a:r>
            <a:endParaRPr lang="id-ID" sz="1800" dirty="0"/>
          </a:p>
        </p:txBody>
      </p:sp>
      <p:sp>
        <p:nvSpPr>
          <p:cNvPr id="6" name="Shape 3"/>
          <p:cNvSpPr/>
          <p:nvPr/>
        </p:nvSpPr>
        <p:spPr>
          <a:xfrm>
            <a:off x="548640" y="2743977"/>
            <a:ext cx="1051560" cy="329184"/>
          </a:xfrm>
          <a:prstGeom prst="roundRect">
            <a:avLst>
              <a:gd name="adj" fmla="val 138889"/>
            </a:avLst>
          </a:prstGeom>
          <a:solidFill>
            <a:srgbClr val="3572A5"/>
          </a:solidFill>
          <a:ln/>
        </p:spPr>
      </p:sp>
      <p:sp>
        <p:nvSpPr>
          <p:cNvPr id="7" name="Text 4"/>
          <p:cNvSpPr txBox="1"/>
          <p:nvPr/>
        </p:nvSpPr>
        <p:spPr>
          <a:xfrm>
            <a:off x="548640" y="2743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743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python/solusi/soal_c2_toko_buku.py</a:t>
            </a:r>
            <a:endParaRPr lang="id-ID" sz="1100" dirty="0"/>
          </a:p>
        </p:txBody>
      </p:sp>
      <p:sp>
        <p:nvSpPr>
          <p:cNvPr id="9" name="Shape 6"/>
          <p:cNvSpPr/>
          <p:nvPr/>
        </p:nvSpPr>
        <p:spPr>
          <a:xfrm>
            <a:off x="548640" y="3164601"/>
            <a:ext cx="5432908" cy="1739646"/>
          </a:xfrm>
          <a:prstGeom prst="roundRect">
            <a:avLst>
              <a:gd name="adj" fmla="val 2763"/>
            </a:avLst>
          </a:prstGeom>
          <a:solidFill>
            <a:srgbClr val="F6F8FA"/>
          </a:solidFill>
          <a:ln w="9525">
            <a:solidFill>
              <a:srgbClr val="D0D7DE"/>
            </a:solidFill>
            <a:prstDash val="solid"/>
          </a:ln>
        </p:spPr>
      </p:sp>
      <p:sp>
        <p:nvSpPr>
          <p:cNvPr id="10" name="Text 7"/>
          <p:cNvSpPr txBox="1"/>
          <p:nvPr/>
        </p:nvSpPr>
        <p:spPr>
          <a:xfrm>
            <a:off x="658368" y="3256041"/>
            <a:ext cx="5213452" cy="155676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Pesanan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tambah_item</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produk: Produk, jumlah: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item = ItemPesanan(produk, 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produk.kurangi_stok(jumlah)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._daftar_item.append(item)</a:t>
            </a:r>
            <a:endParaRPr lang="en-US" sz="1100" dirty="0"/>
          </a:p>
        </p:txBody>
      </p:sp>
      <p:sp>
        <p:nvSpPr>
          <p:cNvPr id="11" name="Shape 8"/>
          <p:cNvSpPr/>
          <p:nvPr/>
        </p:nvSpPr>
        <p:spPr>
          <a:xfrm>
            <a:off x="6210148" y="2743977"/>
            <a:ext cx="1051560" cy="329184"/>
          </a:xfrm>
          <a:prstGeom prst="roundRect">
            <a:avLst>
              <a:gd name="adj" fmla="val 138889"/>
            </a:avLst>
          </a:prstGeom>
          <a:solidFill>
            <a:srgbClr val="B07219"/>
          </a:solidFill>
          <a:ln/>
        </p:spPr>
      </p:sp>
      <p:sp>
        <p:nvSpPr>
          <p:cNvPr id="12" name="Text 9"/>
          <p:cNvSpPr txBox="1"/>
          <p:nvPr/>
        </p:nvSpPr>
        <p:spPr>
          <a:xfrm>
            <a:off x="6210148" y="2743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743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java/solusi/SoalC2TokoBuku.java</a:t>
            </a:r>
            <a:endParaRPr lang="id-ID" sz="1100" dirty="0"/>
          </a:p>
        </p:txBody>
      </p:sp>
      <p:sp>
        <p:nvSpPr>
          <p:cNvPr id="14" name="Shape 11"/>
          <p:cNvSpPr/>
          <p:nvPr/>
        </p:nvSpPr>
        <p:spPr>
          <a:xfrm>
            <a:off x="6210148" y="3164601"/>
            <a:ext cx="5432908" cy="1739646"/>
          </a:xfrm>
          <a:prstGeom prst="roundRect">
            <a:avLst>
              <a:gd name="adj" fmla="val 2763"/>
            </a:avLst>
          </a:prstGeom>
          <a:solidFill>
            <a:srgbClr val="F6F8FA"/>
          </a:solidFill>
          <a:ln w="9525">
            <a:solidFill>
              <a:srgbClr val="D0D7DE"/>
            </a:solidFill>
            <a:prstDash val="solid"/>
          </a:ln>
        </p:spPr>
      </p:sp>
      <p:sp>
        <p:nvSpPr>
          <p:cNvPr id="15" name="Text 12"/>
          <p:cNvSpPr txBox="1"/>
          <p:nvPr/>
        </p:nvSpPr>
        <p:spPr>
          <a:xfrm>
            <a:off x="6319876" y="3256041"/>
            <a:ext cx="5213452" cy="1556766"/>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Pesanan</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tambahItem</a:t>
            </a:r>
            <a:r>
              <a:rPr lang="en-US" altLang="en-US" sz="1100" dirty="0">
                <a:solidFill>
                  <a:srgbClr val="1F2328"/>
                </a:solidFill>
                <a:latin typeface="Consolas" pitchFamily="34" charset="0"/>
                <a:ea typeface="Consolas" pitchFamily="34" charset="-122"/>
                <a:cs typeface="Consolas" pitchFamily="34" charset="-120"/>
              </a:rPr>
              <a:t>(Produk produk,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jumlah)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ItemPesanan item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ItemPesanan(produk, 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produk.kurangiStok(jumlah);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daftarItem.add(item);</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8026"/>
            <a:ext cx="310896" cy="31089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7037" y="1546423"/>
            <a:ext cx="174102" cy="174102"/>
          </a:xfrm>
          <a:prstGeom prst="rect">
            <a:avLst/>
          </a:prstGeom>
        </p:spPr>
      </p:pic>
      <p:sp>
        <p:nvSpPr>
          <p:cNvPr id="7" name="Text 3"/>
          <p:cNvSpPr txBox="1"/>
          <p:nvPr/>
        </p:nvSpPr>
        <p:spPr>
          <a:xfrm>
            <a:off x="1051560" y="1463040"/>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UTS mencakup Pertemuan 01⁠—⁠07. Bentuk dan aturan pastinya mengikuti pengumuman dosen.</a:t>
            </a:r>
            <a:endParaRPr lang="id-ID" sz="2200" dirty="0"/>
          </a:p>
        </p:txBody>
      </p:sp>
      <p:sp>
        <p:nvSpPr>
          <p:cNvPr id="8" name="Shape 4"/>
          <p:cNvSpPr/>
          <p:nvPr/>
        </p:nvSpPr>
        <p:spPr>
          <a:xfrm>
            <a:off x="548640" y="2360930"/>
            <a:ext cx="310896" cy="31089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7037" y="2429327"/>
            <a:ext cx="174102" cy="174102"/>
          </a:xfrm>
          <a:prstGeom prst="rect">
            <a:avLst/>
          </a:prstGeom>
        </p:spPr>
      </p:pic>
      <p:sp>
        <p:nvSpPr>
          <p:cNvPr id="10" name="Text 5"/>
          <p:cNvSpPr txBox="1"/>
          <p:nvPr/>
        </p:nvSpPr>
        <p:spPr>
          <a:xfrm>
            <a:off x="1051560" y="2345944"/>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Soal biasanya menguji pemahaman (C2), penerapan dan penelusuran kode (C3), analisis (C4), dan penilaian rancangan (C5).</a:t>
            </a:r>
            <a:endParaRPr lang="id-ID" sz="2200" dirty="0"/>
          </a:p>
        </p:txBody>
      </p:sp>
      <p:sp>
        <p:nvSpPr>
          <p:cNvPr id="11" name="Shape 6"/>
          <p:cNvSpPr/>
          <p:nvPr/>
        </p:nvSpPr>
        <p:spPr>
          <a:xfrm>
            <a:off x="548640" y="3243834"/>
            <a:ext cx="310896" cy="31089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7037" y="3312231"/>
            <a:ext cx="174102" cy="174102"/>
          </a:xfrm>
          <a:prstGeom prst="rect">
            <a:avLst/>
          </a:prstGeom>
        </p:spPr>
      </p:pic>
      <p:sp>
        <p:nvSpPr>
          <p:cNvPr id="13" name="Text 7"/>
          <p:cNvSpPr txBox="1"/>
          <p:nvPr/>
        </p:nvSpPr>
        <p:spPr>
          <a:xfrm>
            <a:off x="1051560" y="3228848"/>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Inti materi terangkum dalam diagram kelas KedaiKita versi Pertemuan 07: kelas, enkapsulasi, relasi, dan pewarisan.</a:t>
            </a:r>
            <a:endParaRPr lang="id-ID" sz="2200" dirty="0"/>
          </a:p>
        </p:txBody>
      </p:sp>
      <p:sp>
        <p:nvSpPr>
          <p:cNvPr id="14" name="Shape 8"/>
          <p:cNvSpPr/>
          <p:nvPr/>
        </p:nvSpPr>
        <p:spPr>
          <a:xfrm>
            <a:off x="548640" y="4126738"/>
            <a:ext cx="310896" cy="31089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7037" y="4195135"/>
            <a:ext cx="174102" cy="174102"/>
          </a:xfrm>
          <a:prstGeom prst="rect">
            <a:avLst/>
          </a:prstGeom>
        </p:spPr>
      </p:pic>
      <p:sp>
        <p:nvSpPr>
          <p:cNvPr id="16" name="Text 9"/>
          <p:cNvSpPr txBox="1"/>
          <p:nvPr/>
        </p:nvSpPr>
        <p:spPr>
          <a:xfrm>
            <a:off x="1051560" y="4111752"/>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Belajarlah secara aktif: tebak </a:t>
            </a:r>
            <a:r>
              <a:rPr lang="id-ID" altLang="en-US" sz="2200" i="1" dirty="0">
                <a:solidFill>
                  <a:srgbClr val="1F2328"/>
                </a:solidFill>
              </a:rPr>
              <a:t>output</a:t>
            </a:r>
            <a:r>
              <a:rPr lang="id-ID" altLang="en-US" sz="2200" dirty="0">
                <a:solidFill>
                  <a:srgbClr val="1F2328"/>
                </a:solidFill>
              </a:rPr>
              <a:t>, telusuri di kertas, ketik ulang dari ingatan, dan berlatih dengan batas waktu.</a:t>
            </a:r>
            <a:endParaRPr lang="id-ID" sz="2200" dirty="0"/>
          </a:p>
        </p:txBody>
      </p:sp>
      <p:sp>
        <p:nvSpPr>
          <p:cNvPr id="17" name="Shape 10"/>
          <p:cNvSpPr/>
          <p:nvPr/>
        </p:nvSpPr>
        <p:spPr>
          <a:xfrm>
            <a:off x="548640" y="5009642"/>
            <a:ext cx="310896" cy="31089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7037" y="5078039"/>
            <a:ext cx="174102" cy="174102"/>
          </a:xfrm>
          <a:prstGeom prst="rect">
            <a:avLst/>
          </a:prstGeom>
        </p:spPr>
      </p:pic>
      <p:sp>
        <p:nvSpPr>
          <p:cNvPr id="19" name="Text 11"/>
          <p:cNvSpPr txBox="1"/>
          <p:nvPr/>
        </p:nvSpPr>
        <p:spPr>
          <a:xfrm>
            <a:off x="1051560" y="4994656"/>
            <a:ext cx="10591495" cy="386588"/>
          </a:xfrm>
          <a:prstGeom prst="rect">
            <a:avLst/>
          </a:prstGeom>
          <a:noFill/>
          <a:ln/>
        </p:spPr>
        <p:txBody>
          <a:bodyPr wrap="square" lIns="0" tIns="0" rIns="0" bIns="0" rtlCol="0" anchor="t"/>
          <a:lstStyle/>
          <a:p>
            <a:pPr indent="0" marL="0">
              <a:buNone/>
            </a:pPr>
            <a:r>
              <a:rPr lang="id-ID" altLang="en-US" sz="2200" dirty="0">
                <a:solidFill>
                  <a:srgbClr val="1F2328"/>
                </a:solidFill>
              </a:rPr>
              <a:t>Soal praktik: rancang dulu, tulis kerangka yang bisa jalan, isi bertahap, lalu cocokkan </a:t>
            </a:r>
            <a:r>
              <a:rPr lang="id-ID" altLang="en-US" sz="2200" i="1" dirty="0">
                <a:solidFill>
                  <a:srgbClr val="1F2328"/>
                </a:solidFill>
              </a:rPr>
              <a:t>output</a:t>
            </a:r>
            <a:r>
              <a:rPr lang="id-ID" altLang="en-US" sz="2200" dirty="0">
                <a:solidFill>
                  <a:srgbClr val="1F232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03680"/>
            <a:ext cx="137160" cy="137160"/>
          </a:xfrm>
          <a:prstGeom prst="roundRect">
            <a:avLst>
              <a:gd name="adj" fmla="val 166667"/>
            </a:avLst>
          </a:prstGeom>
          <a:solidFill>
            <a:srgbClr val="FB8F44"/>
          </a:solidFill>
          <a:ln/>
        </p:spPr>
      </p:sp>
      <p:sp>
        <p:nvSpPr>
          <p:cNvPr id="6" name="Text 3"/>
          <p:cNvSpPr txBox="1"/>
          <p:nvPr/>
        </p:nvSpPr>
        <p:spPr>
          <a:xfrm>
            <a:off x="932688" y="141732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Kerjakan latihan soal dengan batas waktu, lalu cocokkan dengan pembahasan.</a:t>
            </a:r>
            <a:endParaRPr lang="id-ID" sz="2000" dirty="0"/>
          </a:p>
        </p:txBody>
      </p:sp>
      <p:sp>
        <p:nvSpPr>
          <p:cNvPr id="7" name="Shape 4"/>
          <p:cNvSpPr/>
          <p:nvPr/>
        </p:nvSpPr>
        <p:spPr>
          <a:xfrm>
            <a:off x="603504" y="2306320"/>
            <a:ext cx="137160" cy="137160"/>
          </a:xfrm>
          <a:prstGeom prst="roundRect">
            <a:avLst>
              <a:gd name="adj" fmla="val 166667"/>
            </a:avLst>
          </a:prstGeom>
          <a:solidFill>
            <a:srgbClr val="FB8F44"/>
          </a:solidFill>
          <a:ln/>
        </p:spPr>
      </p:sp>
      <p:sp>
        <p:nvSpPr>
          <p:cNvPr id="8" name="Text 5"/>
          <p:cNvSpPr txBox="1"/>
          <p:nvPr/>
        </p:nvSpPr>
        <p:spPr>
          <a:xfrm>
            <a:off x="932688" y="221996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Pelajari solusi praktik di jalur Python atau Java, dan centang </a:t>
            </a:r>
            <a:r>
              <a:rPr lang="id-ID" altLang="en-US" sz="2000" i="1" dirty="0">
                <a:solidFill>
                  <a:srgbClr val="FFFFFF"/>
                </a:solidFill>
              </a:rPr>
              <a:t>checklist</a:t>
            </a:r>
            <a:r>
              <a:rPr lang="id-ID" altLang="en-US" sz="2000" dirty="0">
                <a:solidFill>
                  <a:srgbClr val="FFFFFF"/>
                </a:solidFill>
              </a:rPr>
              <a:t> kesiapanmu.</a:t>
            </a:r>
            <a:endParaRPr lang="id-ID" sz="2000" dirty="0"/>
          </a:p>
        </p:txBody>
      </p:sp>
      <p:sp>
        <p:nvSpPr>
          <p:cNvPr id="9" name="Shape 6"/>
          <p:cNvSpPr/>
          <p:nvPr/>
        </p:nvSpPr>
        <p:spPr>
          <a:xfrm>
            <a:off x="603504" y="3108960"/>
            <a:ext cx="137160" cy="137160"/>
          </a:xfrm>
          <a:prstGeom prst="roundRect">
            <a:avLst>
              <a:gd name="adj" fmla="val 166667"/>
            </a:avLst>
          </a:prstGeom>
          <a:solidFill>
            <a:srgbClr val="FB8F44"/>
          </a:solidFill>
          <a:ln/>
        </p:spPr>
      </p:sp>
      <p:sp>
        <p:nvSpPr>
          <p:cNvPr id="10" name="Text 7"/>
          <p:cNvSpPr txBox="1"/>
          <p:nvPr/>
        </p:nvSpPr>
        <p:spPr>
          <a:xfrm>
            <a:off x="932688" y="3022600"/>
            <a:ext cx="7114032" cy="355600"/>
          </a:xfrm>
          <a:prstGeom prst="rect">
            <a:avLst/>
          </a:prstGeom>
          <a:noFill/>
          <a:ln/>
        </p:spPr>
        <p:txBody>
          <a:bodyPr wrap="square" lIns="0" tIns="0" rIns="0" bIns="0" rtlCol="0" anchor="t"/>
          <a:lstStyle/>
          <a:p>
            <a:pPr indent="0" marL="0">
              <a:buNone/>
            </a:pPr>
            <a:r>
              <a:rPr lang="id-ID" altLang="en-US" sz="2000" dirty="0">
                <a:solidFill>
                  <a:srgbClr val="FFFFFF"/>
                </a:solidFill>
              </a:rPr>
              <a:t>Setelah UTS, kita lanjut ke Pertemuan 09: Polimorfisme.</a:t>
            </a:r>
            <a:endParaRPr lang="id-ID" sz="2000" dirty="0"/>
          </a:p>
        </p:txBody>
      </p:sp>
      <p:sp>
        <p:nvSpPr>
          <p:cNvPr id="11" name="Text 8"/>
          <p:cNvSpPr txBox="1"/>
          <p:nvPr/>
        </p:nvSpPr>
        <p:spPr>
          <a:xfrm>
            <a:off x="548640" y="3652520"/>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4109720"/>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4210304"/>
            <a:ext cx="256032" cy="256032"/>
          </a:xfrm>
          <a:prstGeom prst="rect">
            <a:avLst/>
          </a:prstGeom>
        </p:spPr>
      </p:pic>
      <p:sp>
        <p:nvSpPr>
          <p:cNvPr id="14" name="Text 10"/>
          <p:cNvSpPr txBox="1"/>
          <p:nvPr/>
        </p:nvSpPr>
        <p:spPr>
          <a:xfrm>
            <a:off x="1051560"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Informasi dan kisi-kisi</a:t>
            </a:r>
            <a:endParaRPr lang="id-ID" sz="1600" dirty="0"/>
          </a:p>
        </p:txBody>
      </p:sp>
      <p:sp>
        <p:nvSpPr>
          <p:cNvPr id="15" name="Shape 11"/>
          <p:cNvSpPr/>
          <p:nvPr/>
        </p:nvSpPr>
        <p:spPr>
          <a:xfrm>
            <a:off x="4379976" y="4109720"/>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4210304"/>
            <a:ext cx="256032" cy="256032"/>
          </a:xfrm>
          <a:prstGeom prst="rect">
            <a:avLst/>
          </a:prstGeom>
        </p:spPr>
      </p:pic>
      <p:sp>
        <p:nvSpPr>
          <p:cNvPr id="17" name="Text 12"/>
          <p:cNvSpPr txBox="1"/>
          <p:nvPr/>
        </p:nvSpPr>
        <p:spPr>
          <a:xfrm>
            <a:off x="4882896"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694936"/>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795520"/>
            <a:ext cx="256032" cy="256032"/>
          </a:xfrm>
          <a:prstGeom prst="rect">
            <a:avLst/>
          </a:prstGeom>
        </p:spPr>
      </p:pic>
      <p:sp>
        <p:nvSpPr>
          <p:cNvPr id="20" name="Text 14"/>
          <p:cNvSpPr txBox="1"/>
          <p:nvPr/>
        </p:nvSpPr>
        <p:spPr>
          <a:xfrm>
            <a:off x="1051560"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694936"/>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795520"/>
            <a:ext cx="256032" cy="256032"/>
          </a:xfrm>
          <a:prstGeom prst="rect">
            <a:avLst/>
          </a:prstGeom>
        </p:spPr>
      </p:pic>
      <p:sp>
        <p:nvSpPr>
          <p:cNvPr id="23" name="Text 16"/>
          <p:cNvSpPr txBox="1"/>
          <p:nvPr/>
        </p:nvSpPr>
        <p:spPr>
          <a:xfrm>
            <a:off x="4882896"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latihan-soal.md" history="1" highlightClick="0" endSnd="0">
                  <a:extLst>
                    <a:ext uri="{A12FA001-AC4F-418D-AE19-62706E023703}">
                      <ahyp:hlinkClr xmlns:ahyp="http://schemas.microsoft.com/office/drawing/2018/hyperlinkcolor" val="tx"/>
                    </a:ext>
                  </a:extLst>
                </a:hlinkClick>
              </a:rPr>
              <a:t>Latihan soal</a:t>
            </a:r>
            <a:endParaRPr lang="id-ID" sz="1600" dirty="0"/>
          </a:p>
        </p:txBody>
      </p:sp>
      <p:sp>
        <p:nvSpPr>
          <p:cNvPr id="24" name="Shape 17"/>
          <p:cNvSpPr/>
          <p:nvPr/>
        </p:nvSpPr>
        <p:spPr>
          <a:xfrm>
            <a:off x="548640" y="5280152"/>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380736"/>
            <a:ext cx="256032" cy="256032"/>
          </a:xfrm>
          <a:prstGeom prst="rect">
            <a:avLst/>
          </a:prstGeom>
        </p:spPr>
      </p:pic>
      <p:sp>
        <p:nvSpPr>
          <p:cNvPr id="26" name="Text 18"/>
          <p:cNvSpPr txBox="1"/>
          <p:nvPr/>
        </p:nvSpPr>
        <p:spPr>
          <a:xfrm>
            <a:off x="1051560"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pembahasan.md" history="1" highlightClick="0" endSnd="0">
                  <a:extLst>
                    <a:ext uri="{A12FA001-AC4F-418D-AE19-62706E023703}">
                      <ahyp:hlinkClr xmlns:ahyp="http://schemas.microsoft.com/office/drawing/2018/hyperlinkcolor" val="tx"/>
                    </a:ext>
                  </a:extLst>
                </a:hlinkClick>
              </a:rPr>
              <a:t>Pembahasan</a:t>
            </a:r>
            <a:endParaRPr lang="id-ID" sz="1600" dirty="0"/>
          </a:p>
        </p:txBody>
      </p:sp>
      <p:sp>
        <p:nvSpPr>
          <p:cNvPr id="27" name="Shape 19"/>
          <p:cNvSpPr/>
          <p:nvPr/>
        </p:nvSpPr>
        <p:spPr>
          <a:xfrm>
            <a:off x="8503920" y="1280160"/>
            <a:ext cx="2880360" cy="2880360"/>
          </a:xfrm>
          <a:prstGeom prst="roundRect">
            <a:avLst>
              <a:gd name="adj" fmla="val 1411"/>
            </a:avLst>
          </a:prstGeom>
          <a:solidFill>
            <a:srgbClr val="FFFFFF"/>
          </a:solidFill>
          <a:ln/>
        </p:spPr>
      </p:sp>
      <p:pic>
        <p:nvPicPr>
          <p:cNvPr id="28" name="Image 6" descr="Kode QR menuju folder pertemuan di GitHub">    </p:cNvPr>
          <p:cNvPicPr>
            <a:picLocks noChangeAspect="1"/>
          </p:cNvPicPr>
          <p:nvPr/>
        </p:nvPicPr>
        <p:blipFill>
          <a:blip r:embed="rId12"/>
          <a:stretch>
            <a:fillRect/>
          </a:stretch>
        </p:blipFill>
        <p:spPr>
          <a:xfrm>
            <a:off x="8641080" y="1417320"/>
            <a:ext cx="2606040" cy="2606040"/>
          </a:xfrm>
          <a:prstGeom prst="rect">
            <a:avLst/>
          </a:prstGeom>
        </p:spPr>
      </p:pic>
      <p:sp>
        <p:nvSpPr>
          <p:cNvPr id="29"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0"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3"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github.com/antonprafanto/PBO2026/tree/master/Pertemuan-08-UTS</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08: UTS (Ujian Tengah Semester)</dc:title>
  <dc:subject>Pemrograman Berorientasi Objek 2026</dc:subject>
  <dc:creator>PBO 2026 UNMUL</dc:creator>
  <cp:lastModifiedBy>PBO 2026 UNMUL</cp:lastModifiedBy>
  <cp:revision>1</cp:revision>
  <dcterms:created xsi:type="dcterms:W3CDTF">2026-10-15T02:18:33Z</dcterms:created>
  <dcterms:modified xsi:type="dcterms:W3CDTF">2026-10-15T02:18:33Z</dcterms:modified>
</cp:coreProperties>
</file>