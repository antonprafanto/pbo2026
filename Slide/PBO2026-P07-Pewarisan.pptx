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23a26c3c-09ab-f224-f1b8-9ec8386d638d}">
          <p14:sldIdLst>
            <p14:sldId id="256"/>
            <p14:sldId id="257"/>
            <p14:sldId id="258"/>
            <p14:sldId id="259"/>
          </p14:sldIdLst>
        </p14:section>
        <p14:section name="Kode Kembar dan Generalisasi" id="{9b4d4ba1-28d6-0abe-fdae-604e5a119986}">
          <p14:sldIdLst>
            <p14:sldId id="260"/>
            <p14:sldId id="261"/>
            <p14:sldId id="262"/>
          </p14:sldIdLst>
        </p14:section>
        <p14:section name="Relasi “Adalah” (Is-a)" id="{f175b996-027d-7c16-26b0-68317e088426}">
          <p14:sldIdLst>
            <p14:sldId id="263"/>
            <p14:sldId id="264"/>
            <p14:sldId id="265"/>
          </p14:sldIdLst>
        </p14:section>
        <p14:section name="Konstruktor Anak dan super" id="{89be2e00-7b9c-a13a-a7ad-c60725249bda}">
          <p14:sldIdLst>
            <p14:sldId id="266"/>
            <p14:sldId id="267"/>
            <p14:sldId id="268"/>
            <p14:sldId id="269"/>
          </p14:sldIdLst>
        </p14:section>
        <p14:section name="Override: Menimpa Method Induk" id="{a8f0c8ff-2ba6-f77b-6502-2e590f8b2213}">
          <p14:sldIdLst>
            <p14:sldId id="270"/>
            <p14:sldId id="271"/>
            <p14:sldId id="272"/>
          </p14:sldIdLst>
        </p14:section>
        <p14:section name="Hak Akses, Kelas Akar, dan Kapan Tidak Mewarisi" id="{6b21d253-db06-d0e2-e2bc-7e280d3e36b7}">
          <p14:sldIdLst>
            <p14:sldId id="273"/>
            <p14:sldId id="274"/>
            <p14:sldId id="275"/>
            <p14:sldId id="276"/>
          </p14:sldIdLst>
        </p14:section>
        <p14:section name="Studi Kasus KedaiKita" id="{5445e48b-4547-e725-8ad8-cad93b204ed8}">
          <p14:sldIdLst>
            <p14:sldId id="277"/>
            <p14:sldId id="278"/>
            <p14:sldId id="279"/>
            <p14:sldId id="280"/>
          </p14:sldIdLst>
        </p14:section>
        <p14:section name="Cek Pemahaman" id="{2b31eefa-5314-e135-e748-4b47158e40d1}">
          <p14:sldIdLst>
            <p14:sldId id="281"/>
            <p14:sldId id="282"/>
            <p14:sldId id="283"/>
            <p14:sldId id="284"/>
            <p14:sldId id="285"/>
          </p14:sldIdLst>
        </p14:section>
        <p14:section name="Penutup" id="{9bfae9d2-123c-e793-e40e-c4408403169a}">
          <p14:sldIdLst>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Selamat datang di Pertemuan 07. Hari ini kita mempelajari pilar kedua PBO, yaitu pewarisan. Dengan pewarisan, bagian yang sama dari beberapa kelas cukup ditulis sekali di sebuah kelas induk, lalu diturunkan ke kelas-kelas anaknya. Kode menjadi lebih ringkas dan lebih mudah dirawat, dan KedaiKita akhirnya bisa membedakan makanan dan minuman dengan rapi. Semua materi, kode, latihan, dan kuis pertemuan ini ada di repositori GitHub mata kuliah, di folder Pertemuan-07-Pewarisan.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enam kemampuan yang kita kejar hari ini. Di akhir pertemuan, cek lagi satu per satu: sudahkah kamu bisa menjelaskannya dengan kata-katamu sendiri? Urutan belajarnya sama seperti biasa: konsep di </a:t>
            </a:r>
            <a:r>
              <a:rPr lang="id-ID" dirty="0" i="1"/>
              <a:t>slide</a:t>
            </a:r>
            <a:r>
              <a:rPr lang="id-ID" dirty="0"/>
              <a:t> ini, lalu praktik di halaman Python atau Java, kemudian halaman Jembatan Python ↔ Java, latihan, dan kuis. Tujuan kedua, memilih antara </a:t>
            </a:r>
            <a:r>
              <a:rPr lang="id-ID" dirty="0" i="1"/>
              <a:t>is-a</a:t>
            </a:r>
            <a:r>
              <a:rPr lang="id-ID" dirty="0"/>
              <a:t> dan </a:t>
            </a:r>
            <a:r>
              <a:rPr lang="id-ID" dirty="0" i="1"/>
              <a:t>has-a</a:t>
            </a:r>
            <a:r>
              <a:rPr lang="id-ID" dirty="0"/>
              <a:t>, adalah keputusan desain yang akan kita temui lagi di Pertemuan 13 dan Pertemuan 14.</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Sejak Pertemuan 05, KedaiKita terdiri atas beberapa </a:t>
            </a:r>
            <a:r>
              <a:rPr lang="id-ID" dirty="0" i="1"/>
              <a:t>file</a:t>
            </a:r>
            <a:r>
              <a:rPr lang="id-ID" dirty="0"/>
              <a:t> yang saling memakai, dan semua hubungan antarkelasnya berjenis "punya" atau "memakai". Di Pertemuan 06 kita juga sudah menggambar rencana </a:t>
            </a:r>
            <a:r>
              <a:rPr lang="en-US" dirty="0">
                <a:latin typeface="Consolas"/>
              </a:rPr>
              <a:t>Menu</a:t>
            </a:r>
            <a:r>
              <a:rPr lang="id-ID" dirty="0"/>
              <a:t> dengan dua kelas anak, </a:t>
            </a:r>
            <a:r>
              <a:rPr lang="en-US" dirty="0">
                <a:latin typeface="Consolas"/>
              </a:rPr>
              <a:t>Makanan</a:t>
            </a:r>
            <a:r>
              <a:rPr lang="id-ID" dirty="0"/>
              <a:t> dan </a:t>
            </a:r>
            <a:r>
              <a:rPr lang="en-US" dirty="0">
                <a:latin typeface="Consolas"/>
              </a:rPr>
              <a:t>Minuman</a:t>
            </a:r>
            <a:r>
              <a:rPr lang="id-ID" dirty="0"/>
              <a:t>, memakai segitiga kosong. Dua hal yang dulu hanya disebut sekilas, yaitu menimpa </a:t>
            </a:r>
            <a:r>
              <a:rPr lang="id-ID" dirty="0" i="1"/>
              <a:t>method</a:t>
            </a:r>
            <a:r>
              <a:rPr lang="id-ID" dirty="0"/>
              <a:t> bawaan dan </a:t>
            </a:r>
            <a:r>
              <a:rPr lang="en-US" dirty="0">
                <a:latin typeface="Consolas"/>
              </a:rPr>
              <a:t>protected</a:t>
            </a:r>
            <a:r>
              <a:rPr lang="id-ID" dirty="0"/>
              <a:t>, hari ini dibahas tuntas. Hari ini kita mempelajari jenis hubungan yang berbeda, yaitu hubungan "adalah".</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alur kita hari ini. Kita mulai dari masalah nyata di KedaiKita, yaitu dua kelas yang isinya hampir kembar, lalu mengenal pewarisan sebagai jalan keluarnya. Setelah itu kita belajar menguji hubungan "adalah", menulis konstruktor anak, menimpa </a:t>
            </a:r>
            <a:r>
              <a:rPr lang="id-ID" dirty="0" i="1"/>
              <a:t>method</a:t>
            </a:r>
            <a:r>
              <a:rPr lang="id-ID" dirty="0"/>
              <a:t>, dan mengenali kapan pewarisan justru keliru. Di bagian akhir, </a:t>
            </a:r>
            <a:r>
              <a:rPr lang="en-US" dirty="0">
                <a:latin typeface="Consolas"/>
              </a:rPr>
              <a:t>Makanan</a:t>
            </a:r>
            <a:r>
              <a:rPr lang="id-ID" dirty="0"/>
              <a:t> dan </a:t>
            </a:r>
            <a:r>
              <a:rPr lang="en-US" dirty="0">
                <a:latin typeface="Consolas"/>
              </a:rPr>
              <a:t>Minuman</a:t>
            </a:r>
            <a:r>
              <a:rPr lang="id-ID" dirty="0"/>
              <a:t> resmi menjadi kelas anak </a:t>
            </a:r>
            <a:r>
              <a:rPr lang="en-US" dirty="0">
                <a:latin typeface="Consolas"/>
              </a:rPr>
              <a:t>Menu</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Kita mulai dari masalah yang bisa langsung dirasakan: dua kelas yang isinya nyaris sama. Setelah masalahnya terasa, barulah kita mengenal pewarisan sebagai jalan keluarnya.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Pemilik KedaiKita ingin setiap makanan punya level pedas 0 sampai 5, dan setiap minuman punya keterangan dingin atau panas. Cara tercepat yang terpikir adalah menulis dua kelas terpisah selengkapnya. Hasilnya terlihat di diagram ini: hampir semua isinya kembar. Jika aturan harga berubah, perubahannya harus dilakukan di dua tempat; lupa satu, aturannya tidak konsisten. </a:t>
            </a:r>
            <a:r>
              <a:rPr lang="id-ID" dirty="0" i="1"/>
              <a:t>Bug</a:t>
            </a:r>
            <a:r>
              <a:rPr lang="id-ID" dirty="0"/>
              <a:t> di cara mengurangi stok harus diperbaiki dua kali. Jika pemilik ingin jenis baru, misalnya </a:t>
            </a:r>
            <a:r>
              <a:rPr lang="id-ID" dirty="0" i="1"/>
              <a:t>snack</a:t>
            </a:r>
            <a:r>
              <a:rPr lang="id-ID" dirty="0"/>
              <a:t>, seluruh kode disalin untuk ketiga kalinya. Bagi program, makanan dan minuman juga menjadi dua jenis yang sama sekali tidak berhubungan. Pemrogram punya semboyan untuk masalah ini: DRY (</a:t>
            </a:r>
            <a:r>
              <a:rPr lang="id-ID" dirty="0" i="1"/>
              <a:t>Don't Repeat Yourself</a:t>
            </a:r>
            <a:r>
              <a:rPr lang="id-ID" dirty="0"/>
              <a:t>), artinya setiap aturan sebaiknya ditulis di satu tempat saja.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Pikirkan kendaraan bermotor di jalanan Samarinda. Motor maupun mobil sama-sama punya merek, nomor polisi seperti KT 1234 AB, dan tahun pembuatan. Bedanya, mobil punya jumlah kursi, sedangkan motor punya jenis transmisi. Kita tidak perlu menjelaskan nomor polisi dua kali; cukup katakan bahwa motor dan mobil adalah kendaraan bermotor. Begitu pula KedaiKita: bagian yang sama dikumpulkan ke kelas </a:t>
            </a:r>
            <a:r>
              <a:rPr lang="en-US" dirty="0">
                <a:latin typeface="Consolas"/>
              </a:rPr>
              <a:t>Menu</a:t>
            </a:r>
            <a:r>
              <a:rPr lang="id-ID" dirty="0"/>
              <a:t>, lalu </a:t>
            </a:r>
            <a:r>
              <a:rPr lang="en-US" dirty="0">
                <a:latin typeface="Consolas"/>
              </a:rPr>
              <a:t>Makanan</a:t>
            </a:r>
            <a:r>
              <a:rPr lang="id-ID" dirty="0"/>
              <a:t> dan </a:t>
            </a:r>
            <a:r>
              <a:rPr lang="en-US" dirty="0">
                <a:latin typeface="Consolas"/>
              </a:rPr>
              <a:t>Minuman</a:t>
            </a:r>
            <a:r>
              <a:rPr lang="id-ID" dirty="0"/>
              <a:t> cukup menulis bagian khususnya. Pewarisan tidak membatasi kelas anak, tetapi memberinya modal awal: anak boleh menambah atribut dan </a:t>
            </a:r>
            <a:r>
              <a:rPr lang="id-ID" dirty="0" i="1"/>
              <a:t>method</a:t>
            </a:r>
            <a:r>
              <a:rPr lang="id-ID" dirty="0"/>
              <a:t> baru. Istilah lain yang sering kamu temui: </a:t>
            </a:r>
            <a:r>
              <a:rPr lang="id-ID" dirty="0" i="1"/>
              <a:t>parent class</a:t>
            </a:r>
            <a:r>
              <a:rPr lang="id-ID" dirty="0"/>
              <a:t> dan </a:t>
            </a:r>
            <a:r>
              <a:rPr lang="id-ID" dirty="0" i="1"/>
              <a:t>child class</a:t>
            </a:r>
            <a:r>
              <a:rPr lang="id-ID" dirty="0"/>
              <a:t>, atau </a:t>
            </a:r>
            <a:r>
              <a:rPr lang="id-ID" dirty="0" i="1"/>
              <a:t>base class</a:t>
            </a:r>
            <a:r>
              <a:rPr lang="id-ID" dirty="0"/>
              <a:t> dan </a:t>
            </a:r>
            <a:r>
              <a:rPr lang="id-ID" dirty="0" i="1"/>
              <a:t>derived class</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Tidak setiap pasangan kelas boleh dihubungkan dengan pewarisan. Bagian ini memberi kita alat uji yang sederhana, yaitu sebuah kalimat.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Ujinya sederhana: ucapkan kalimat "X adalah Y". Jika kalimat itu benar untuk setiap X, pewarisan layak dipertimbangkan. Karena itulah pewarisan disebut relasi </a:t>
            </a:r>
            <a:r>
              <a:rPr lang="id-ID" dirty="0" i="1"/>
              <a:t>is-a</a:t>
            </a:r>
            <a:r>
              <a:rPr lang="id-ID" dirty="0"/>
              <a:t>, artinya "adalah sebuah". Hubungan ini membawa konsekuensi penting: objek kelas anak juga terhitung sebagai objek kelas induk. Segelas kopi susu adalah minuman, dan sekaligus adalah menu.</a:t>
            </a:r>
            <a:endParaRPr lang="id-ID" dirty="0"/>
          </a:p>
          <a:p>
            <a:r>
              <a:rPr lang="id-ID" dirty="0"/>
              <a:t>Pertanyaan untuk kelas: mengapa "Menu adalah Makanan" salah, padahal "Makanan adalah Menu" benar? Jawabannya: tidak semua menu adalah makanan, karena ada juga minuman.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Cara paling mudah membayangkan relasi </a:t>
            </a:r>
            <a:r>
              <a:rPr lang="id-ID" dirty="0" i="1"/>
              <a:t>is-a</a:t>
            </a:r>
            <a:r>
              <a:rPr lang="id-ID" dirty="0"/>
              <a:t>: setiap kelas adalah sebuah himpunan objek, dan himpunan kelas anak berada di dalam himpunan kelas induknya. Lingkaran besar </a:t>
            </a:r>
            <a:r>
              <a:rPr lang="en-US" dirty="0">
                <a:latin typeface="Consolas"/>
              </a:rPr>
              <a:t>Menu</a:t>
            </a:r>
            <a:r>
              <a:rPr lang="id-ID" dirty="0"/>
              <a:t> memuat </a:t>
            </a:r>
            <a:r>
              <a:rPr lang="en-US" dirty="0">
                <a:latin typeface="Consolas"/>
              </a:rPr>
              <a:t>Makanan</a:t>
            </a:r>
            <a:r>
              <a:rPr lang="id-ID" dirty="0"/>
              <a:t> dan </a:t>
            </a:r>
            <a:r>
              <a:rPr lang="en-US" dirty="0">
                <a:latin typeface="Consolas"/>
              </a:rPr>
              <a:t>Minuman</a:t>
            </a:r>
            <a:r>
              <a:rPr lang="id-ID" dirty="0"/>
              <a:t>. Objek kopi ada di dalam </a:t>
            </a:r>
            <a:r>
              <a:rPr lang="en-US" dirty="0">
                <a:latin typeface="Consolas"/>
              </a:rPr>
              <a:t>Minuman</a:t>
            </a:r>
            <a:r>
              <a:rPr lang="id-ID" dirty="0"/>
              <a:t>, jadi kopi adalah minuman, dan karena </a:t>
            </a:r>
            <a:r>
              <a:rPr lang="en-US" dirty="0">
                <a:latin typeface="Consolas"/>
              </a:rPr>
              <a:t>Minuman</a:t>
            </a:r>
            <a:r>
              <a:rPr lang="id-ID" dirty="0"/>
              <a:t> ada di dalam </a:t>
            </a:r>
            <a:r>
              <a:rPr lang="en-US" dirty="0">
                <a:latin typeface="Consolas"/>
              </a:rPr>
              <a:t>Menu</a:t>
            </a:r>
            <a:r>
              <a:rPr lang="id-ID" dirty="0"/>
              <a:t>, kopi juga adalah menu. Namun, kopi bukan makanan. Program bisa menanyakannya langsung: Python memakai </a:t>
            </a:r>
            <a:r>
              <a:rPr lang="en-US" dirty="0">
                <a:latin typeface="Consolas"/>
              </a:rPr>
              <a:t>isinstance(kopi, Menu)</a:t>
            </a:r>
            <a:r>
              <a:rPr lang="id-ID" dirty="0"/>
              <a:t>, sedangkan Java memakai </a:t>
            </a:r>
            <a:r>
              <a:rPr lang="en-US" dirty="0">
                <a:latin typeface="Consolas"/>
              </a:rPr>
              <a:t>kopi instanceof Menu</a:t>
            </a:r>
            <a:r>
              <a:rPr lang="id-ID" dirty="0"/>
              <a:t>. Ingat juga: di diagram kelas, segitiga kosong selalu menempel di sisi kelas induk. Panah pewarisan yang terbalik adalah kesalahan menggambar yang paling sering terjadi.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Sebuah objek </a:t>
            </a:r>
            <a:r>
              <a:rPr lang="en-US" dirty="0">
                <a:latin typeface="Consolas"/>
              </a:rPr>
              <a:t>Makanan</a:t>
            </a:r>
            <a:r>
              <a:rPr lang="id-ID" dirty="0"/>
              <a:t> itu satu, tetapi isinya dua lapis: lapis yang dirancang oleh </a:t>
            </a:r>
            <a:r>
              <a:rPr lang="en-US" dirty="0">
                <a:latin typeface="Consolas"/>
              </a:rPr>
              <a:t>Menu</a:t>
            </a:r>
            <a:r>
              <a:rPr lang="id-ID" dirty="0"/>
              <a:t> dan lapis tambahan milik </a:t>
            </a:r>
            <a:r>
              <a:rPr lang="en-US" dirty="0">
                <a:latin typeface="Consolas"/>
              </a:rPr>
              <a:t>Makanan</a:t>
            </a:r>
            <a:r>
              <a:rPr lang="id-ID" dirty="0"/>
              <a:t>. Siapa yang sebaiknya mengisi lapis </a:t>
            </a:r>
            <a:r>
              <a:rPr lang="en-US" dirty="0">
                <a:latin typeface="Consolas"/>
              </a:rPr>
              <a:t>Menu</a:t>
            </a:r>
            <a:r>
              <a:rPr lang="id-ID" dirty="0"/>
              <a:t>? Tentu saja </a:t>
            </a:r>
            <a:r>
              <a:rPr lang="en-US" dirty="0">
                <a:latin typeface="Consolas"/>
              </a:rPr>
              <a:t>Menu</a:t>
            </a:r>
            <a:r>
              <a:rPr lang="id-ID" dirty="0"/>
              <a:t> sendiri.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onsolas"/>
              </a:rPr>
              <a:t>super</a:t>
            </a:r>
            <a:r>
              <a:rPr lang="id-ID" dirty="0"/>
              <a:t> adalah cara merujuk ke kelas induk dari dalam kelas anak. Di Java, </a:t>
            </a:r>
            <a:r>
              <a:rPr lang="en-US" dirty="0">
                <a:latin typeface="Consolas"/>
              </a:rPr>
              <a:t>super</a:t>
            </a:r>
            <a:r>
              <a:rPr lang="id-ID" dirty="0"/>
              <a:t> adalah kata kunci; di Python, </a:t>
            </a:r>
            <a:r>
              <a:rPr lang="en-US" dirty="0">
                <a:latin typeface="Consolas"/>
              </a:rPr>
              <a:t>super()</a:t>
            </a:r>
            <a:r>
              <a:rPr lang="id-ID" dirty="0"/>
              <a:t> adalah fungsi bawaan, jadi selalu ditulis dengan tanda kurung. Konstruktor </a:t>
            </a:r>
            <a:r>
              <a:rPr lang="en-US" dirty="0">
                <a:latin typeface="Consolas"/>
              </a:rPr>
              <a:t>Komputer</a:t>
            </a:r>
            <a:r>
              <a:rPr lang="id-ID" dirty="0"/>
              <a:t> menyerahkan merek kepada konstruktor </a:t>
            </a:r>
            <a:r>
              <a:rPr lang="en-US" dirty="0">
                <a:latin typeface="Consolas"/>
              </a:rPr>
              <a:t>Perangkat</a:t>
            </a:r>
            <a:r>
              <a:rPr lang="id-ID" dirty="0"/>
              <a:t>, baru mengisi atribut miliknya sendiri, yaitu RAM. Analoginya seperti membangun ruko dua lantai: tukang lantai dua tidak mengecor fondasi sendiri, tetapi menunggu lantai dasar selesai dikerjakan tim yang ahli. Baris cetak di versi Java dilompati karena panjang; isinya sama dengan versi Python. Kode lengkapnya adalah contoh 04 di halaman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Pada pewarisan bertingkat </a:t>
            </a:r>
            <a:r>
              <a:rPr lang="en-US" dirty="0">
                <a:latin typeface="Consolas"/>
              </a:rPr>
              <a:t>Perangkat</a:t>
            </a:r>
            <a:r>
              <a:rPr lang="id-ID" dirty="0"/>
              <a:t>, </a:t>
            </a:r>
            <a:r>
              <a:rPr lang="en-US" dirty="0">
                <a:latin typeface="Consolas"/>
              </a:rPr>
              <a:t>Komputer</a:t>
            </a:r>
            <a:r>
              <a:rPr lang="id-ID" dirty="0"/>
              <a:t>, lalu </a:t>
            </a:r>
            <a:r>
              <a:rPr lang="en-US" dirty="0">
                <a:latin typeface="Consolas"/>
              </a:rPr>
              <a:t>Laptop</a:t>
            </a:r>
            <a:r>
              <a:rPr lang="id-ID" dirty="0"/>
              <a:t>, perintah membuat objek </a:t>
            </a:r>
            <a:r>
              <a:rPr lang="en-US" dirty="0">
                <a:latin typeface="Consolas"/>
              </a:rPr>
              <a:t>Laptop</a:t>
            </a:r>
            <a:r>
              <a:rPr lang="id-ID" dirty="0"/>
              <a:t> memang memanggil konstruktor </a:t>
            </a:r>
            <a:r>
              <a:rPr lang="en-US" dirty="0">
                <a:latin typeface="Consolas"/>
              </a:rPr>
              <a:t>Laptop</a:t>
            </a:r>
            <a:r>
              <a:rPr lang="id-ID" dirty="0"/>
              <a:t> lebih dulu. Namun, langkah pertamanya memanggil konstruktor </a:t>
            </a:r>
            <a:r>
              <a:rPr lang="en-US" dirty="0">
                <a:latin typeface="Consolas"/>
              </a:rPr>
              <a:t>Komputer</a:t>
            </a:r>
            <a:r>
              <a:rPr lang="id-ID" dirty="0"/>
              <a:t>, yang langkah pertamanya memanggil konstruktor </a:t>
            </a:r>
            <a:r>
              <a:rPr lang="en-US" dirty="0">
                <a:latin typeface="Consolas"/>
              </a:rPr>
              <a:t>Perangkat</a:t>
            </a:r>
            <a:r>
              <a:rPr lang="id-ID" dirty="0"/>
              <a:t>. Jadi, lapis </a:t>
            </a:r>
            <a:r>
              <a:rPr lang="en-US" dirty="0">
                <a:latin typeface="Consolas"/>
              </a:rPr>
              <a:t>Perangkat</a:t>
            </a:r>
            <a:r>
              <a:rPr lang="id-ID" dirty="0"/>
              <a:t> selesai diisi pertama, disusul </a:t>
            </a:r>
            <a:r>
              <a:rPr lang="en-US" dirty="0">
                <a:latin typeface="Consolas"/>
              </a:rPr>
              <a:t>Komputer</a:t>
            </a:r>
            <a:r>
              <a:rPr lang="id-ID" dirty="0"/>
              <a:t>, lalu </a:t>
            </a:r>
            <a:r>
              <a:rPr lang="en-US" dirty="0">
                <a:latin typeface="Consolas"/>
              </a:rPr>
              <a:t>Laptop</a:t>
            </a:r>
            <a:r>
              <a:rPr lang="id-ID" dirty="0"/>
              <a:t>. Buktinya ada di contoh 04: membuat </a:t>
            </a:r>
            <a:r>
              <a:rPr lang="en-US" dirty="0">
                <a:latin typeface="Consolas"/>
              </a:rPr>
              <a:t>Laptop("Lenovo", 16, 8)</a:t>
            </a:r>
            <a:r>
              <a:rPr lang="id-ID" dirty="0"/>
              <a:t> mencetak pesan dari </a:t>
            </a:r>
            <a:r>
              <a:rPr lang="en-US" dirty="0">
                <a:latin typeface="Consolas"/>
              </a:rPr>
              <a:t>Perangkat</a:t>
            </a:r>
            <a:r>
              <a:rPr lang="id-ID" dirty="0"/>
              <a:t>, lalu </a:t>
            </a:r>
            <a:r>
              <a:rPr lang="en-US" dirty="0">
                <a:latin typeface="Consolas"/>
              </a:rPr>
              <a:t>Komputer</a:t>
            </a:r>
            <a:r>
              <a:rPr lang="id-ID" dirty="0"/>
              <a:t>, lalu </a:t>
            </a:r>
            <a:r>
              <a:rPr lang="en-US" dirty="0">
                <a:latin typeface="Consolas"/>
              </a:rPr>
              <a:t>Laptop</a:t>
            </a:r>
            <a:r>
              <a:rPr lang="id-ID" dirty="0"/>
              <a:t>. Objek </a:t>
            </a:r>
            <a:r>
              <a:rPr lang="en-US" dirty="0">
                <a:latin typeface="Consolas"/>
              </a:rPr>
              <a:t>Laptop</a:t>
            </a:r>
            <a:r>
              <a:rPr lang="id-ID" dirty="0"/>
              <a:t> juga bisa memakai </a:t>
            </a:r>
            <a:r>
              <a:rPr lang="id-ID" dirty="0" i="1"/>
              <a:t>method</a:t>
            </a:r>
            <a:r>
              <a:rPr lang="id-ID" dirty="0"/>
              <a:t> dari semua tingkat di atasnya. Usahakan rantai pewarisan tetap pendek, cukup dua atau tiga tingkat.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Java memeriksa dengan ketat. Jika kelas anak tidak menulis </a:t>
            </a:r>
            <a:r>
              <a:rPr lang="en-US" dirty="0">
                <a:latin typeface="Consolas"/>
              </a:rPr>
              <a:t>super(...)</a:t>
            </a:r>
            <a:r>
              <a:rPr lang="id-ID" dirty="0"/>
              <a:t>, atau tidak menulis konstruktor sama sekali, Java menyisipkan </a:t>
            </a:r>
            <a:r>
              <a:rPr lang="en-US" dirty="0">
                <a:latin typeface="Consolas"/>
              </a:rPr>
              <a:t>super()</a:t>
            </a:r>
            <a:r>
              <a:rPr lang="id-ID" dirty="0"/>
              <a:t> tanpa argumen. Karena </a:t>
            </a:r>
            <a:r>
              <a:rPr lang="en-US" dirty="0">
                <a:latin typeface="Consolas"/>
              </a:rPr>
              <a:t>Kendaraan</a:t>
            </a:r>
            <a:r>
              <a:rPr lang="id-ID" dirty="0"/>
              <a:t> di contoh 02 hanya punya konstruktor tiga parameter, kelas anak seperti </a:t>
            </a:r>
            <a:r>
              <a:rPr lang="en-US" dirty="0">
                <a:latin typeface="Consolas"/>
              </a:rPr>
              <a:t>Truk extends Kendaraan</a:t>
            </a:r>
            <a:r>
              <a:rPr lang="id-ID" dirty="0"/>
              <a:t> wajib menulis konstruktornya sendiri. Di Python, </a:t>
            </a:r>
            <a:r>
              <a:rPr lang="en-US" dirty="0">
                <a:latin typeface="Consolas"/>
              </a:rPr>
              <a:t>class Truk(Kendaraan): pass</a:t>
            </a:r>
            <a:r>
              <a:rPr lang="id-ID" dirty="0"/>
              <a:t> justru berhasil karena </a:t>
            </a:r>
            <a:r>
              <a:rPr lang="en-US" dirty="0">
                <a:latin typeface="Consolas"/>
              </a:rPr>
              <a:t>__init__</a:t>
            </a:r>
            <a:r>
              <a:rPr lang="id-ID" dirty="0"/>
              <a:t> ikut diwariskan. Python menyerahkan tanggung jawab kepada pemrogram: lupa </a:t>
            </a:r>
            <a:r>
              <a:rPr lang="en-US" dirty="0">
                <a:latin typeface="Consolas"/>
              </a:rPr>
              <a:t>super().__init__(...)</a:t>
            </a:r>
            <a:r>
              <a:rPr lang="id-ID" dirty="0"/>
              <a:t> membuat </a:t>
            </a:r>
            <a:r>
              <a:rPr lang="id-ID" dirty="0" i="1"/>
              <a:t>error</a:t>
            </a:r>
            <a:r>
              <a:rPr lang="id-ID" dirty="0"/>
              <a:t> baru muncul belakangan, jauh dari tempat kesalahannya. Java 25 sedikit melonggarkan aturan pernyataan pertama, tetapi materi ini tetap menulis </a:t>
            </a:r>
            <a:r>
              <a:rPr lang="en-US" dirty="0">
                <a:latin typeface="Consolas"/>
              </a:rPr>
              <a:t>super(...)</a:t>
            </a:r>
            <a:r>
              <a:rPr lang="id-ID" dirty="0"/>
              <a:t> di baris pertama agar berjalan di semua versi.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Di sebuah kampus, aturan umumnya semua pegawai pulang pukul 16.00. Satpam jaga malam punya aturan sendiri yang menggantikan aturan umum itu, khusus untuk dirinya. Aturan untuk pegawai lain tidak berubah. Kelas anak juga bisa melakukannya terhadap </a:t>
            </a:r>
            <a:r>
              <a:rPr lang="id-ID" dirty="0" i="1"/>
              <a:t>method</a:t>
            </a:r>
            <a:r>
              <a:rPr lang="id-ID" dirty="0"/>
              <a:t> milik induk.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KedaiKita memakai gaya kedua untuk teks menu. Versi </a:t>
            </a:r>
            <a:r>
              <a:rPr lang="en-US" dirty="0">
                <a:latin typeface="Consolas"/>
              </a:rPr>
              <a:t>Menu</a:t>
            </a:r>
            <a:r>
              <a:rPr lang="id-ID" dirty="0"/>
              <a:t> menghasilkan teks seperti </a:t>
            </a:r>
            <a:r>
              <a:rPr lang="en-US" dirty="0">
                <a:latin typeface="Consolas"/>
              </a:rPr>
              <a:t>[M03] Nasi Goreng Kampung (Makanan) - Rp25.000 | stok 15</a:t>
            </a:r>
            <a:r>
              <a:rPr lang="id-ID" dirty="0"/>
              <a:t>. Versi </a:t>
            </a:r>
            <a:r>
              <a:rPr lang="en-US" dirty="0">
                <a:latin typeface="Consolas"/>
              </a:rPr>
              <a:t>Makanan</a:t>
            </a:r>
            <a:r>
              <a:rPr lang="id-ID" dirty="0"/>
              <a:t> mengambil teks itu lewat </a:t>
            </a:r>
            <a:r>
              <a:rPr lang="en-US" dirty="0">
                <a:latin typeface="Consolas"/>
              </a:rPr>
              <a:t>super</a:t>
            </a:r>
            <a:r>
              <a:rPr lang="id-ID" dirty="0"/>
              <a:t>, lalu menambahkan </a:t>
            </a:r>
            <a:r>
              <a:rPr lang="en-US" dirty="0">
                <a:latin typeface="Consolas"/>
              </a:rPr>
              <a:t>| pedas level 2</a:t>
            </a:r>
            <a:r>
              <a:rPr lang="id-ID" dirty="0"/>
              <a:t>, jadi rumus teks induk tidak perlu ditulis ulang. Versi yang dipakai ditentukan oleh objeknya: objek makanan memakai versi </a:t>
            </a:r>
            <a:r>
              <a:rPr lang="en-US" dirty="0">
                <a:latin typeface="Consolas"/>
              </a:rPr>
              <a:t>Makanan</a:t>
            </a:r>
            <a:r>
              <a:rPr lang="id-ID" dirty="0"/>
              <a:t>, walaupun disimpan di daftar menu bersama minuman. Mekanisme ini disebut polimorfisme dan dibahas tuntas di Pertemuan 09. Jangan tertukar dengan </a:t>
            </a:r>
            <a:r>
              <a:rPr lang="id-ID" dirty="0" i="1"/>
              <a:t>overload</a:t>
            </a:r>
            <a:r>
              <a:rPr lang="id-ID" dirty="0"/>
              <a:t>: </a:t>
            </a:r>
            <a:r>
              <a:rPr lang="id-ID" dirty="0" i="1"/>
              <a:t>override</a:t>
            </a:r>
            <a:r>
              <a:rPr lang="id-ID" dirty="0"/>
              <a:t> memakai nama dan parameter yang sama untuk mengganti versi induk, sedangkan </a:t>
            </a:r>
            <a:r>
              <a:rPr lang="id-ID" dirty="0" i="1"/>
              <a:t>overload</a:t>
            </a:r>
            <a:r>
              <a:rPr lang="id-ID" dirty="0"/>
              <a:t> (khusus Java, Pertemuan 03) memakai nama sama dengan parameter berbeda.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Untuk tiket VIP Festival Musik Kampus seharga Rp120.000, versi induk </a:t>
            </a:r>
            <a:r>
              <a:rPr lang="en-US" dirty="0">
                <a:latin typeface="Consolas"/>
              </a:rPr>
              <a:t>info()</a:t>
            </a:r>
            <a:r>
              <a:rPr lang="id-ID" dirty="0"/>
              <a:t> menghasilkan </a:t>
            </a:r>
            <a:r>
              <a:rPr lang="en-US" dirty="0">
                <a:latin typeface="Consolas"/>
              </a:rPr>
              <a:t>Tiket Festival Musik Kampus - Rp120000</a:t>
            </a:r>
            <a:r>
              <a:rPr lang="id-ID" dirty="0"/>
              <a:t>, lalu versi anak menambahkan keterangan fasilitas VIP. Untuk tiga orang, versi induk </a:t>
            </a:r>
            <a:r>
              <a:rPr lang="en-US" dirty="0">
                <a:latin typeface="Consolas"/>
              </a:rPr>
              <a:t>hitung_bayar</a:t>
            </a:r>
            <a:r>
              <a:rPr lang="id-ID" dirty="0"/>
              <a:t> menghasilkan 3 x 120000 = 360000, lalu versi anak menambah biaya layanan 3 x 25000 = 75000 sehingga totalnya 435000. Perhatikan penulisannya: Python memanggil </a:t>
            </a:r>
            <a:r>
              <a:rPr lang="en-US" dirty="0">
                <a:latin typeface="Consolas"/>
              </a:rPr>
              <a:t>super().info()</a:t>
            </a:r>
            <a:r>
              <a:rPr lang="id-ID" dirty="0"/>
              <a:t> dengan kurung setelah </a:t>
            </a:r>
            <a:r>
              <a:rPr lang="en-US" dirty="0">
                <a:latin typeface="Consolas"/>
              </a:rPr>
              <a:t>super</a:t>
            </a:r>
            <a:r>
              <a:rPr lang="id-ID" dirty="0"/>
              <a:t>, sedangkan Java cukup </a:t>
            </a:r>
            <a:r>
              <a:rPr lang="en-US" dirty="0">
                <a:latin typeface="Consolas"/>
              </a:rPr>
              <a:t>super.info()</a:t>
            </a:r>
            <a:r>
              <a:rPr lang="id-ID" dirty="0"/>
              <a:t>. Java juga memasang </a:t>
            </a:r>
            <a:r>
              <a:rPr lang="en-US" dirty="0">
                <a:latin typeface="Consolas"/>
              </a:rPr>
              <a:t>@Override</a:t>
            </a:r>
            <a:r>
              <a:rPr lang="id-ID" dirty="0"/>
              <a:t> agar </a:t>
            </a:r>
            <a:r>
              <a:rPr lang="id-ID" dirty="0" i="1"/>
              <a:t>compiler</a:t>
            </a:r>
            <a:r>
              <a:rPr lang="id-ID" dirty="0"/>
              <a:t> memeriksa bahwa </a:t>
            </a:r>
            <a:r>
              <a:rPr lang="id-ID" dirty="0" i="1"/>
              <a:t>method</a:t>
            </a:r>
            <a:r>
              <a:rPr lang="id-ID" dirty="0"/>
              <a:t> itu benar-benar menimpa </a:t>
            </a:r>
            <a:r>
              <a:rPr lang="id-ID" dirty="0" i="1"/>
              <a:t>method</a:t>
            </a:r>
            <a:r>
              <a:rPr lang="id-ID" dirty="0"/>
              <a:t> induk. Python tidak memeriksa: salah ketik seperti </a:t>
            </a:r>
            <a:r>
              <a:rPr lang="en-US" dirty="0">
                <a:latin typeface="Consolas"/>
              </a:rPr>
              <a:t>hitung_byar</a:t>
            </a:r>
            <a:r>
              <a:rPr lang="id-ID" dirty="0"/>
              <a:t> diam-diam menjadi </a:t>
            </a:r>
            <a:r>
              <a:rPr lang="id-ID" dirty="0" i="1"/>
              <a:t>method</a:t>
            </a:r>
            <a:r>
              <a:rPr lang="id-ID" dirty="0"/>
              <a:t> baru. Kode lengkapnya adalah contoh 03 di halaman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Bagian ini merangkum aturan pewarisan yang berbeda di kedua bahasa, lalu menjawab pertanyaan penting: kapan kita justru tidak boleh memakai pewarisan?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Di Java, </a:t>
            </a:r>
            <a:r>
              <a:rPr lang="en-US" dirty="0">
                <a:latin typeface="Consolas"/>
              </a:rPr>
              <a:t>private</a:t>
            </a:r>
            <a:r>
              <a:rPr lang="id-ID" dirty="0"/>
              <a:t> tidak terbuka untuk kelas anak: atributnya tetap ada di objek anak, tetapi kelas anak harus memakai </a:t>
            </a:r>
            <a:r>
              <a:rPr lang="id-ID" dirty="0" i="1"/>
              <a:t>getter</a:t>
            </a:r>
            <a:r>
              <a:rPr lang="id-ID" dirty="0"/>
              <a:t> atau </a:t>
            </a:r>
            <a:r>
              <a:rPr lang="id-ID" dirty="0" i="1"/>
              <a:t>setter</a:t>
            </a:r>
            <a:r>
              <a:rPr lang="id-ID" dirty="0"/>
              <a:t> induk, ibarat brankas warisan yang kuncinya tetap dipegang orang tua. </a:t>
            </a:r>
            <a:r>
              <a:rPr lang="en-US" dirty="0">
                <a:latin typeface="Consolas"/>
              </a:rPr>
              <a:t>protected</a:t>
            </a:r>
            <a:r>
              <a:rPr lang="id-ID" dirty="0"/>
              <a:t> terbuka untuk kelas anak dan juga semua kelas di paket yang sama, jebakan yang sering terlupa. Python memakai kesepakatan </a:t>
            </a:r>
            <a:r>
              <a:rPr lang="en-US" dirty="0">
                <a:latin typeface="Consolas"/>
              </a:rPr>
              <a:t>_nama</a:t>
            </a:r>
            <a:r>
              <a:rPr lang="id-ID" dirty="0"/>
              <a:t>; awalan </a:t>
            </a:r>
            <a:r>
              <a:rPr lang="en-US" dirty="0">
                <a:latin typeface="Consolas"/>
              </a:rPr>
              <a:t>__nama</a:t>
            </a:r>
            <a:r>
              <a:rPr lang="id-ID" dirty="0"/>
              <a:t> justru membuat kelas anak gagal menemukannya. Setiap kelas otomatis mewarisi kelas akar, jadi saat menulis </a:t>
            </a:r>
            <a:r>
              <a:rPr lang="en-US" dirty="0">
                <a:latin typeface="Consolas"/>
              </a:rPr>
              <a:t>__str__</a:t>
            </a:r>
            <a:r>
              <a:rPr lang="id-ID" dirty="0"/>
              <a:t>/</a:t>
            </a:r>
            <a:r>
              <a:rPr lang="en-US" dirty="0">
                <a:latin typeface="Consolas"/>
              </a:rPr>
              <a:t>toString()</a:t>
            </a:r>
            <a:r>
              <a:rPr lang="id-ID" dirty="0"/>
              <a:t> sejak Pertemuan 03, sebenarnya kita meng-</a:t>
            </a:r>
            <a:r>
              <a:rPr lang="id-ID" dirty="0" i="1"/>
              <a:t>override</a:t>
            </a:r>
            <a:r>
              <a:rPr lang="id-ID" dirty="0"/>
              <a:t> </a:t>
            </a:r>
            <a:r>
              <a:rPr lang="id-ID" dirty="0" i="1"/>
              <a:t>method</a:t>
            </a:r>
            <a:r>
              <a:rPr lang="id-ID" dirty="0"/>
              <a:t> milik kelas akar. Untuk pewarisan ganda, Python mencari </a:t>
            </a:r>
            <a:r>
              <a:rPr lang="id-ID" dirty="0" i="1"/>
              <a:t>method</a:t>
            </a:r>
            <a:r>
              <a:rPr lang="id-ID" dirty="0"/>
              <a:t> mengikuti MRO (</a:t>
            </a:r>
            <a:r>
              <a:rPr lang="id-ID" dirty="0" i="1"/>
              <a:t>Method Resolution Order</a:t>
            </a:r>
            <a:r>
              <a:rPr lang="id-ID" dirty="0"/>
              <a:t>): kelas itu sendiri, lalu induk paling kiri, lalu induk berikutnya. KedaiKita versi Java memakai </a:t>
            </a:r>
            <a:r>
              <a:rPr lang="en-US" dirty="0">
                <a:latin typeface="Consolas"/>
              </a:rPr>
              <a:t>final</a:t>
            </a:r>
            <a:r>
              <a:rPr lang="id-ID" dirty="0"/>
              <a:t> pada </a:t>
            </a:r>
            <a:r>
              <a:rPr lang="en-US" dirty="0">
                <a:latin typeface="Consolas"/>
              </a:rPr>
              <a:t>setHarga()</a:t>
            </a:r>
            <a:r>
              <a:rPr lang="id-ID" dirty="0"/>
              <a:t> dan </a:t>
            </a:r>
            <a:r>
              <a:rPr lang="en-US" dirty="0">
                <a:latin typeface="Consolas"/>
              </a:rPr>
              <a:t>setLevelPedas()</a:t>
            </a:r>
            <a:r>
              <a:rPr lang="id-ID" dirty="0"/>
              <a:t> karena keduanya dipanggil dari konstruktor.</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onsolas"/>
              </a:rPr>
              <a:t>MobilKeliru</a:t>
            </a:r>
            <a:r>
              <a:rPr lang="id-ID" dirty="0"/>
              <a:t> mewarisi </a:t>
            </a:r>
            <a:r>
              <a:rPr lang="en-US" dirty="0">
                <a:latin typeface="Consolas"/>
              </a:rPr>
              <a:t>Mesin</a:t>
            </a:r>
            <a:r>
              <a:rPr lang="id-ID" dirty="0"/>
              <a:t> hanya agar bisa memakai </a:t>
            </a:r>
            <a:r>
              <a:rPr lang="en-US" dirty="0">
                <a:latin typeface="Consolas"/>
              </a:rPr>
              <a:t>hidupkan()</a:t>
            </a:r>
            <a:r>
              <a:rPr lang="id-ID" dirty="0"/>
              <a:t>. Programnya berjalan, tetapi </a:t>
            </a:r>
            <a:r>
              <a:rPr lang="en-US" dirty="0">
                <a:latin typeface="Consolas"/>
              </a:rPr>
              <a:t>isinstance(avanza, Mesin)</a:t>
            </a:r>
            <a:r>
              <a:rPr lang="id-ID" dirty="0"/>
              <a:t> (Java: </a:t>
            </a:r>
            <a:r>
              <a:rPr lang="en-US" dirty="0">
                <a:latin typeface="Consolas"/>
              </a:rPr>
              <a:t>avanza instanceof Mesin</a:t>
            </a:r>
            <a:r>
              <a:rPr lang="id-ID" dirty="0"/>
              <a:t>) menjawab ya: menurut program, Avanza adalah sebuah mesin. Janggal! Mesinnya juga tidak bisa diganti karena mesin itu adalah mobil itu sendiri. </a:t>
            </a:r>
            <a:r>
              <a:rPr lang="en-US" dirty="0">
                <a:latin typeface="Consolas"/>
              </a:rPr>
              <a:t>MobilTepat</a:t>
            </a:r>
            <a:r>
              <a:rPr lang="id-ID" dirty="0"/>
              <a:t> tidak mewarisi apa pun; ia menyimpan objek </a:t>
            </a:r>
            <a:r>
              <a:rPr lang="en-US" dirty="0">
                <a:latin typeface="Consolas"/>
              </a:rPr>
              <a:t>Mesin</a:t>
            </a:r>
            <a:r>
              <a:rPr lang="id-ID" dirty="0"/>
              <a:t> sebagai atribut, persis seperti relasi di Pertemuan 05. Saat diminta jalan, mobil meneruskan tugas menghidupkan mesin ke objek mesinnya. Teknik ini disebut delegasi. Karena mesin hanyalah atribut, mesin bisa diganti kapan saja: mesin Xenia berganti dari 1300 cc menjadi 1500 cc. Kode lengkapnya adalah contoh 07 di halaman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Sebelum menulis pewarisan, ajukan tiga pertanyaan. Pertama, apakah kalimat "X adalah Y" benar untuk setiap objek X? Kedua, apakah semua </a:t>
            </a:r>
            <a:r>
              <a:rPr lang="id-ID" dirty="0" i="1"/>
              <a:t>method</a:t>
            </a:r>
            <a:r>
              <a:rPr lang="id-ID" dirty="0"/>
              <a:t> Y masuk akal dimiliki X? Ketiga, apakah X tetap menjadi Y selama program berjalan, tanpa perlu berganti? Jika salah satu jawabannya tidak, pilih </a:t>
            </a:r>
            <a:r>
              <a:rPr lang="id-ID" dirty="0" i="1"/>
              <a:t>has-a</a:t>
            </a:r>
            <a:r>
              <a:rPr lang="id-ID" dirty="0"/>
              <a:t>. Prinsip </a:t>
            </a:r>
            <a:r>
              <a:rPr lang="id-ID" dirty="0" i="1"/>
              <a:t>composition over inheritance</a:t>
            </a:r>
            <a:r>
              <a:rPr lang="id-ID" dirty="0"/>
              <a:t>, yaitu "utamakan komposisi daripada pewarisan", bukan berarti jangan pernah mewarisi, melainkan warisi hanya jika hubungannya benar-benar </a:t>
            </a:r>
            <a:r>
              <a:rPr lang="id-ID" dirty="0" i="1"/>
              <a:t>is-a</a:t>
            </a:r>
            <a:r>
              <a:rPr lang="id-ID" dirty="0"/>
              <a:t>. Gagasan ini akan kamu temui lagi di Pertemuan 13 dan Pertemuan 14.</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Saatnya menerapkan semua itu ke KedaiKita. Perhatikan betapa sedikit kode yang perlu berubah.</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Yang berubah: </a:t>
            </a:r>
            <a:r>
              <a:rPr lang="en-US" dirty="0">
                <a:latin typeface="Consolas"/>
              </a:rPr>
              <a:t>Menu</a:t>
            </a:r>
            <a:r>
              <a:rPr lang="id-ID" dirty="0"/>
              <a:t> kini menjadi kelas induk yang berisi semua data dan perilaku milik setiap menu. </a:t>
            </a:r>
            <a:r>
              <a:rPr lang="en-US" dirty="0">
                <a:latin typeface="Consolas"/>
              </a:rPr>
              <a:t>Makanan</a:t>
            </a:r>
            <a:r>
              <a:rPr lang="id-ID" dirty="0"/>
              <a:t> menambah level pedas 0 sampai 5, dan nilai di luar rentang itu ditolak. </a:t>
            </a:r>
            <a:r>
              <a:rPr lang="en-US" dirty="0">
                <a:latin typeface="Consolas"/>
              </a:rPr>
              <a:t>Minuman</a:t>
            </a:r>
            <a:r>
              <a:rPr lang="id-ID" dirty="0"/>
              <a:t> menambah keterangan dingin atau panas. Kategori diisi otomatis oleh konstruktor anak, lalu teks menu di-</a:t>
            </a:r>
            <a:r>
              <a:rPr lang="id-ID" dirty="0" i="1"/>
              <a:t>override</a:t>
            </a:r>
            <a:r>
              <a:rPr lang="id-ID" dirty="0"/>
              <a:t> agar keterangan tambahannya ikut tampil. Yang tidak berubah: </a:t>
            </a:r>
            <a:r>
              <a:rPr lang="en-US" dirty="0">
                <a:latin typeface="Consolas"/>
              </a:rPr>
              <a:t>Pesanan</a:t>
            </a:r>
            <a:r>
              <a:rPr lang="id-ID" dirty="0"/>
              <a:t>, </a:t>
            </a:r>
            <a:r>
              <a:rPr lang="en-US" dirty="0">
                <a:latin typeface="Consolas"/>
              </a:rPr>
              <a:t>ItemPesanan</a:t>
            </a:r>
            <a:r>
              <a:rPr lang="id-ID" dirty="0"/>
              <a:t>, </a:t>
            </a:r>
            <a:r>
              <a:rPr lang="en-US" dirty="0">
                <a:latin typeface="Consolas"/>
              </a:rPr>
              <a:t>Kedai</a:t>
            </a:r>
            <a:r>
              <a:rPr lang="id-ID" dirty="0"/>
              <a:t>, dan </a:t>
            </a:r>
            <a:r>
              <a:rPr lang="en-US" dirty="0">
                <a:latin typeface="Consolas"/>
              </a:rPr>
              <a:t>Pelanggan</a:t>
            </a:r>
            <a:r>
              <a:rPr lang="id-ID" dirty="0"/>
              <a:t>. Kelas-kelas itu bekerja dengan </a:t>
            </a:r>
            <a:r>
              <a:rPr lang="en-US" dirty="0">
                <a:latin typeface="Consolas"/>
              </a:rPr>
              <a:t>Menu</a:t>
            </a:r>
            <a:r>
              <a:rPr lang="id-ID" dirty="0"/>
              <a:t>, dan karena makanan adalah menu serta minuman adalah menu, semuanya langsung bisa dipakai. Inilah keuntungan besar pewarisan. Diagram ini diringkas dan memakai gaya nama Java; di Python, </a:t>
            </a:r>
            <a:r>
              <a:rPr lang="en-US" dirty="0">
                <a:latin typeface="Consolas"/>
              </a:rPr>
              <a:t>toString</a:t>
            </a:r>
            <a:r>
              <a:rPr lang="id-ID" dirty="0"/>
              <a:t> berpadanan dengan </a:t>
            </a:r>
            <a:r>
              <a:rPr lang="en-US" dirty="0">
                <a:latin typeface="Consolas"/>
              </a:rPr>
              <a:t>__str__</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Konstruktor anak menerima data tanpa kategori. Kategori </a:t>
            </a:r>
            <a:r>
              <a:rPr lang="en-US" dirty="0">
                <a:latin typeface="Consolas"/>
              </a:rPr>
              <a:t>"Minuman"</a:t>
            </a:r>
            <a:r>
              <a:rPr lang="id-ID" dirty="0"/>
              <a:t> dikirim otomatis ke konstruktor induk sehingga pemakai kelas ini tidak perlu, dan tidak bisa, salah menulis kategori. Semua validasi milik </a:t>
            </a:r>
            <a:r>
              <a:rPr lang="en-US" dirty="0">
                <a:latin typeface="Consolas"/>
              </a:rPr>
              <a:t>Menu</a:t>
            </a:r>
            <a:r>
              <a:rPr lang="id-ID" dirty="0"/>
              <a:t>, seperti stok tidak negatif dan harga lebih dari 0, tetap berjalan karena dikerjakan oleh konstruktor induk. Teks menu di-</a:t>
            </a:r>
            <a:r>
              <a:rPr lang="id-ID" dirty="0" i="1"/>
              <a:t>override</a:t>
            </a:r>
            <a:r>
              <a:rPr lang="id-ID" dirty="0"/>
              <a:t> dengan gaya memperluas: teks lengkap dari </a:t>
            </a:r>
            <a:r>
              <a:rPr lang="en-US" dirty="0">
                <a:latin typeface="Consolas"/>
              </a:rPr>
              <a:t>Menu</a:t>
            </a:r>
            <a:r>
              <a:rPr lang="id-ID" dirty="0"/>
              <a:t> diambil lewat </a:t>
            </a:r>
            <a:r>
              <a:rPr lang="en-US" dirty="0">
                <a:latin typeface="Consolas"/>
              </a:rPr>
              <a:t>super</a:t>
            </a:r>
            <a:r>
              <a:rPr lang="id-ID" dirty="0"/>
              <a:t>, lalu ditambah keterangan suhu. Kelas </a:t>
            </a:r>
            <a:r>
              <a:rPr lang="en-US" dirty="0">
                <a:latin typeface="Consolas"/>
              </a:rPr>
              <a:t>Makanan</a:t>
            </a:r>
            <a:r>
              <a:rPr lang="id-ID" dirty="0"/>
              <a:t> ditulis dengan pola yang sama, ditambah </a:t>
            </a:r>
            <a:r>
              <a:rPr lang="id-ID" dirty="0" i="1"/>
              <a:t>setter</a:t>
            </a:r>
            <a:r>
              <a:rPr lang="id-ID" dirty="0"/>
              <a:t> level pedas yang menolak nilai di luar 0 sampai 5. Di Java, </a:t>
            </a:r>
            <a:r>
              <a:rPr lang="id-ID" dirty="0" i="1"/>
              <a:t>setter</a:t>
            </a:r>
            <a:r>
              <a:rPr lang="id-ID" dirty="0"/>
              <a:t> itu diberi </a:t>
            </a:r>
            <a:r>
              <a:rPr lang="en-US" dirty="0">
                <a:latin typeface="Consolas"/>
              </a:rPr>
              <a:t>final</a:t>
            </a:r>
            <a:r>
              <a:rPr lang="id-ID" dirty="0"/>
              <a:t> karena dipanggil dari konstruktor.</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Kelas </a:t>
            </a:r>
            <a:r>
              <a:rPr lang="en-US" dirty="0">
                <a:latin typeface="Consolas"/>
              </a:rPr>
              <a:t>Kedai</a:t>
            </a:r>
            <a:r>
              <a:rPr lang="id-ID" dirty="0"/>
              <a:t> tidak berubah sejak Pertemuan 05. Parameter </a:t>
            </a:r>
            <a:r>
              <a:rPr lang="en-US" dirty="0">
                <a:latin typeface="Consolas"/>
              </a:rPr>
              <a:t>tambah_menu</a:t>
            </a:r>
            <a:r>
              <a:rPr lang="id-ID" dirty="0"/>
              <a:t> bertipe </a:t>
            </a:r>
            <a:r>
              <a:rPr lang="en-US" dirty="0">
                <a:latin typeface="Consolas"/>
              </a:rPr>
              <a:t>Menu</a:t>
            </a:r>
            <a:r>
              <a:rPr lang="id-ID" dirty="0"/>
              <a:t>, dan kita mengirim </a:t>
            </a:r>
            <a:r>
              <a:rPr lang="en-US" dirty="0">
                <a:latin typeface="Consolas"/>
              </a:rPr>
              <a:t>Makanan</a:t>
            </a:r>
            <a:r>
              <a:rPr lang="id-ID" dirty="0"/>
              <a:t> atau </a:t>
            </a:r>
            <a:r>
              <a:rPr lang="en-US" dirty="0">
                <a:latin typeface="Consolas"/>
              </a:rPr>
              <a:t>Minuman</a:t>
            </a:r>
            <a:r>
              <a:rPr lang="id-ID" dirty="0"/>
              <a:t>. Itu sah karena keduanya adalah </a:t>
            </a:r>
            <a:r>
              <a:rPr lang="en-US" dirty="0">
                <a:latin typeface="Consolas"/>
              </a:rPr>
              <a:t>Menu</a:t>
            </a:r>
            <a:r>
              <a:rPr lang="id-ID" dirty="0"/>
              <a:t>. </a:t>
            </a:r>
            <a:r>
              <a:rPr lang="id-ID" dirty="0" i="1"/>
              <a:t>Method</a:t>
            </a:r>
            <a:r>
              <a:rPr lang="id-ID" dirty="0"/>
              <a:t> </a:t>
            </a:r>
            <a:r>
              <a:rPr lang="en-US" dirty="0">
                <a:latin typeface="Consolas"/>
              </a:rPr>
              <a:t>tampilkan_menu()</a:t>
            </a:r>
            <a:r>
              <a:rPr lang="id-ID" dirty="0"/>
              <a:t> hanya mencetak setiap menu tanpa tahu jenisnya, tetapi setiap baris tetap tampil dengan keterangan yang tepat: makanan dengan level pedas, minuman dengan suhu. Setiap objek memakai </a:t>
            </a:r>
            <a:r>
              <a:rPr lang="en-US" dirty="0">
                <a:latin typeface="Consolas"/>
              </a:rPr>
              <a:t>__str__</a:t>
            </a:r>
            <a:r>
              <a:rPr lang="id-ID" dirty="0"/>
              <a:t>/</a:t>
            </a:r>
            <a:r>
              <a:rPr lang="en-US" dirty="0">
                <a:latin typeface="Consolas"/>
              </a:rPr>
              <a:t>toString()</a:t>
            </a:r>
            <a:r>
              <a:rPr lang="id-ID" dirty="0"/>
              <a:t> miliknya sendiri; mekanisme ini dibahas tuntas di Pertemuan 09. </a:t>
            </a:r>
            <a:r>
              <a:rPr lang="id-ID" dirty="0" i="1"/>
              <a:t>Output</a:t>
            </a:r>
            <a:r>
              <a:rPr lang="id-ID" dirty="0"/>
              <a:t> lengkapnya juga memuat cek pewarisan, penolakan Seblak level 9, dan struk pesanan Budi dan Siti; semuanya ada di halaman praktik. </a:t>
            </a:r>
            <a:r>
              <a:rPr lang="id-ID" dirty="0" i="1"/>
              <a:t>Output</a:t>
            </a:r>
            <a:r>
              <a:rPr lang="id-ID" dirty="0"/>
              <a:t> versi Python dan Java identik.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Tiga anggapan keliru ini sering muncul saat pertama kali belajar pewarisan. Ajak kelas menebak dulu: mengapa anggapan di kiri salah? Istilah induk dan anak memang dipinjam dari keluarga, tetapi hubungannya berbeda. Tiga miskonsepsi lain, yaitu menganggap semua atribut induk bisa langsung dipakai anak, menganggap konstruktor induk berjalan sendiri, dan menganggap objek induk juga termasuk kelas anak, dibahas di bagian 11 halaman konsep.</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Beri waktu sekitar 30 detik untuk berpikir, lalu minta mahasiswa mengangkat tangan sesuai pilihannya. Ingatkan alat ujinya: ucapkan kalimat "X adalah Y" untuk setiap pasangan. Jawaban dan pembahasannya ada di </a:t>
            </a:r>
            <a:r>
              <a:rPr lang="id-ID" dirty="0" i="1"/>
              <a:t>slide</a:t>
            </a:r>
            <a:r>
              <a:rPr lang="id-ID" dirty="0"/>
              <a:t> berikutnya. Kuis lengkap berisi 10 soal ada di </a:t>
            </a:r>
            <a:r>
              <a:rPr lang="id-ID" dirty="0" i="1"/>
              <a:t>file</a:t>
            </a:r>
            <a:r>
              <a:rPr lang="id-ID" dirty="0"/>
              <a:t> kuis.md pada folder pertemuan ini.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C. Uji dengan kalimat "X </a:t>
            </a:r>
            <a:r>
              <a:rPr lang="id-ID" dirty="0" b="1"/>
              <a:t>adalah</a:t>
            </a:r>
            <a:r>
              <a:rPr lang="id-ID" dirty="0"/>
              <a:t> Y". "Dosen adalah pegawai" benar, jadi hubungannya </a:t>
            </a:r>
            <a:r>
              <a:rPr lang="id-ID" dirty="0" i="1"/>
              <a:t>is-a</a:t>
            </a:r>
            <a:r>
              <a:rPr lang="id-ID" dirty="0"/>
              <a:t>. Tiga pilihan lain adalah </a:t>
            </a:r>
            <a:r>
              <a:rPr lang="id-ID" dirty="0" i="1"/>
              <a:t>has-a</a:t>
            </a:r>
            <a:r>
              <a:rPr lang="id-ID" dirty="0"/>
              <a:t>: mobil </a:t>
            </a:r>
            <a:r>
              <a:rPr lang="id-ID" dirty="0" b="1"/>
              <a:t>punya</a:t>
            </a:r>
            <a:r>
              <a:rPr lang="id-ID" dirty="0"/>
              <a:t> mesin, pesanan </a:t>
            </a:r>
            <a:r>
              <a:rPr lang="id-ID" dirty="0" b="1"/>
              <a:t>punya</a:t>
            </a:r>
            <a:r>
              <a:rPr lang="id-ID" dirty="0"/>
              <a:t> item pesanan (komposisi), dan kedai </a:t>
            </a:r>
            <a:r>
              <a:rPr lang="id-ID" dirty="0" b="1"/>
              <a:t>punya</a:t>
            </a:r>
            <a:r>
              <a:rPr lang="id-ID" dirty="0"/>
              <a:t> daftar menu (agregasi). Hubungan "punya" diwujudkan dengan atribut, bukan pewarisan.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Soal ini menguji aturan konstruktor anak yang baru saja kita bandingkan. Pertanyaan pancingan untuk kelas: apa bedanya jika kode serupa ditulis di Python? Jawabannya ada di pembahasan pilihan B. Pesan </a:t>
            </a:r>
            <a:r>
              <a:rPr lang="id-ID" dirty="0" i="1"/>
              <a:t>error</a:t>
            </a:r>
            <a:r>
              <a:rPr lang="id-ID" dirty="0"/>
              <a:t> Java yang muncul adalah </a:t>
            </a:r>
            <a:r>
              <a:rPr lang="en-US" dirty="0">
                <a:latin typeface="Consolas"/>
              </a:rPr>
              <a:t>constructor Kendaraan in class Kendaraan cannot be applied to given types</a:t>
            </a:r>
            <a:r>
              <a:rPr lang="id-ID" dirty="0"/>
              <a:t>. Jawaban dan pembahasannya ada di </a:t>
            </a:r>
            <a:r>
              <a:rPr lang="id-ID" dirty="0" i="1"/>
              <a:t>slide</a:t>
            </a:r>
            <a:r>
              <a:rPr lang="id-ID" dirty="0"/>
              <a:t> berikutnya.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A. Java menyisipkan </a:t>
            </a:r>
            <a:r>
              <a:rPr lang="en-US" dirty="0">
                <a:latin typeface="Consolas"/>
              </a:rPr>
              <a:t>super();</a:t>
            </a:r>
            <a:r>
              <a:rPr lang="id-ID" dirty="0"/>
              <a:t> di baris pertama, dan kompilasi gagal karena </a:t>
            </a:r>
            <a:r>
              <a:rPr lang="en-US" dirty="0">
                <a:latin typeface="Consolas"/>
              </a:rPr>
              <a:t>Kendaraan</a:t>
            </a:r>
            <a:r>
              <a:rPr lang="id-ID" dirty="0"/>
              <a:t> tidak punya konstruktor tanpa parameter. Java tidak pernah melewati konstruktor induk (D) dan tidak menebak argumen (C). Pilihan B mirip yang terjadi di Python jika lupa </a:t>
            </a:r>
            <a:r>
              <a:rPr lang="en-US" dirty="0">
                <a:latin typeface="Consolas"/>
              </a:rPr>
              <a:t>super().__init__(...)</a:t>
            </a:r>
            <a:r>
              <a:rPr lang="id-ID" dirty="0"/>
              <a:t>: program berjalan, lalu gagal belakangan.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tujuh hal yang perlu kamu bawa pulang hari ini. Kalau ada yang masih terasa samar, baca lagi bagian yang sesuai di halaman konsep, lalu jalankan contohnya di halaman praktik. Ingat juga: semua kelas berakar pada </a:t>
            </a:r>
            <a:r>
              <a:rPr lang="en-US" dirty="0">
                <a:latin typeface="Consolas"/>
              </a:rPr>
              <a:t>object</a:t>
            </a:r>
            <a:r>
              <a:rPr lang="id-ID" dirty="0"/>
              <a:t>/</a:t>
            </a:r>
            <a:r>
              <a:rPr lang="en-US" dirty="0">
                <a:latin typeface="Consolas"/>
              </a:rPr>
              <a:t>Object</a:t>
            </a:r>
            <a:r>
              <a:rPr lang="id-ID" dirty="0"/>
              <a:t>, Python mengizinkan pewarisan ganda dengan MRO, dan Java punya </a:t>
            </a:r>
            <a:r>
              <a:rPr lang="en-US" dirty="0">
                <a:latin typeface="Consolas"/>
              </a:rPr>
              <a:t>final</a:t>
            </a:r>
            <a:r>
              <a:rPr lang="id-ID" dirty="0"/>
              <a:t> untuk mengunci kelas atau </a:t>
            </a:r>
            <a:r>
              <a:rPr lang="id-ID" dirty="0" i="1"/>
              <a:t>method</a:t>
            </a:r>
            <a:r>
              <a:rPr lang="id-ID" dirty="0"/>
              <a:t>. Pertemuan berikutnya adalah UTS, yang mencakup Pertemuan 01 sampai 07.</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Semua bahan pertemuan ini ada di folder Pertemuan-07-Pewarisan di GitHub. Mulailah dari halaman praktik sesuai jalurmu, Python atau Java. Simpan semua percobaanmu di folder PBO-latihan-saya/pertemuan-07, bukan di folder materi. Untuk studi kasus, salin seluruh folder </a:t>
            </a:r>
            <a:r>
              <a:rPr lang="en-US" dirty="0">
                <a:latin typeface="Consolas"/>
              </a:rPr>
              <a:t>studi-kasus</a:t>
            </a:r>
            <a:r>
              <a:rPr lang="id-ID" dirty="0"/>
              <a:t> karena </a:t>
            </a:r>
            <a:r>
              <a:rPr lang="id-ID" dirty="0" i="1"/>
              <a:t>file</a:t>
            </a:r>
            <a:r>
              <a:rPr lang="id-ID" dirty="0"/>
              <a:t>-nya saling memakai. Sampai jumpa di Pertemuan 08.</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7589520" cy="182880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697480" y="2377440"/>
            <a:ext cx="8778240" cy="96012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07 · Pewarisan (</a:t>
            </a:r>
            <a:r>
              <a:rPr lang="en-US" sz="1100" dirty="0" i="1">
                <a:solidFill>
                  <a:srgbClr val="9FB3C8"/>
                </a:solidFill>
              </a:rPr>
              <a:t>Inheritance</a:t>
            </a:r>
            <a:r>
              <a:rPr lang="en-US" sz="1100" dirty="0">
                <a:solidFill>
                  <a:srgbClr val="9FB3C8"/>
                </a:solidFill>
              </a:rPr>
              <a:t>)</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0A3069"/>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57606A"/>
                </a:solidFill>
              </a:rPr>
              <a:t>PBO 2026 · Pertemuan 07 · Pewarisan (</a:t>
            </a:r>
            <a:r>
              <a:rPr lang="en-US" sz="1100" dirty="0" i="1">
                <a:solidFill>
                  <a:srgbClr val="57606A"/>
                </a:solidFill>
              </a:rPr>
              <a:t>Inheritance</a:t>
            </a:r>
            <a:r>
              <a:rPr lang="en-US" sz="1100" dirty="0">
                <a:solidFill>
                  <a:srgbClr val="57606A"/>
                </a:solidFill>
              </a:rPr>
              <a:t>)</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LAP">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07 · Pewarisan (</a:t>
            </a:r>
            <a:r>
              <a:rPr lang="en-US" sz="1100" dirty="0" i="1">
                <a:solidFill>
                  <a:srgbClr val="9FB3C8"/>
                </a:solidFill>
              </a:rPr>
              <a:t>Inheritance</a:t>
            </a:r>
            <a:r>
              <a:rPr lang="en-US" sz="1100" dirty="0">
                <a:solidFill>
                  <a:srgbClr val="9FB3C8"/>
                </a:solidFill>
              </a:rPr>
              <a:t>)</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1.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1.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6-3.png"/><Relationship Id="rId4" Type="http://schemas.openxmlformats.org/officeDocument/2006/relationships/image" Target="../media/image-26-3.png"/><Relationship Id="rId5" Type="http://schemas.openxmlformats.org/officeDocument/2006/relationships/image" Target="../media/image-26-3.png"/><Relationship Id="rId6" Type="http://schemas.openxmlformats.org/officeDocument/2006/relationships/image" Target="../media/image-26-3.png"/><Relationship Id="rId7" Type="http://schemas.openxmlformats.org/officeDocument/2006/relationships/image" Target="../media/image-26-3.png"/><Relationship Id="rId8" Type="http://schemas.openxmlformats.org/officeDocument/2006/relationships/image" Target="../media/image-26-3.png"/><Relationship Id="rId9" Type="http://schemas.openxmlformats.org/officeDocument/2006/relationships/slideLayout" Target="../slideLayouts/slideLayout4.xml"/><Relationship Id="rId1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antonprafanto/PBO2026/blob/master/Pertemuan-07-Pewarisan/README.md" TargetMode="External"/><Relationship Id="rId5" Type="http://schemas.openxmlformats.org/officeDocument/2006/relationships/hyperlink" Target="https://github.com/antonprafanto/PBO2026/blob/master/Pertemuan-07-Pewarisan/python/README.md" TargetMode="External"/><Relationship Id="rId7" Type="http://schemas.openxmlformats.org/officeDocument/2006/relationships/hyperlink" Target="https://github.com/antonprafanto/PBO2026/blob/master/Pertemuan-07-Pewarisan/java/README.md" TargetMode="External"/><Relationship Id="rId9" Type="http://schemas.openxmlformats.org/officeDocument/2006/relationships/hyperlink" Target="https://github.com/antonprafanto/PBO2026/blob/master/Pertemuan-07-Pewarisan/jembatan-python-java.md" TargetMode="External"/><Relationship Id="rId11" Type="http://schemas.openxmlformats.org/officeDocument/2006/relationships/hyperlink" Target="https://github.com/antonprafanto/PBO2026/blob/master/Pertemuan-07-Pewarisan/latihan.md" TargetMode="External"/><Relationship Id="rId13" Type="http://schemas.openxmlformats.org/officeDocument/2006/relationships/hyperlink" Target="https://github.com/antonprafanto/PBO2026/blob/master/Pertemuan-07-Pewarisan/kuis.md" TargetMode="External"/><Relationship Id="rId15" Type="http://schemas.openxmlformats.org/officeDocument/2006/relationships/hyperlink" Target="https://github.com/antonprafanto/PBO2026/tree/master/Pertemuan-07-Pewarisan" TargetMode="External"/><Relationship Id="rId1" Type="http://schemas.openxmlformats.org/officeDocument/2006/relationships/image" Target="../media/image-32-1.png"/><Relationship Id="rId2" Type="http://schemas.openxmlformats.org/officeDocument/2006/relationships/image" Target="../media/image-32-2.png"/><Relationship Id="rId4" Type="http://schemas.openxmlformats.org/officeDocument/2006/relationships/image" Target="../media/image-32-3.png"/><Relationship Id="rId6" Type="http://schemas.openxmlformats.org/officeDocument/2006/relationships/image" Target="../media/image-32-3.png"/><Relationship Id="rId8" Type="http://schemas.openxmlformats.org/officeDocument/2006/relationships/image" Target="../media/image-32-5.png"/><Relationship Id="rId10" Type="http://schemas.openxmlformats.org/officeDocument/2006/relationships/image" Target="../media/image-32-6.png"/><Relationship Id="rId12" Type="http://schemas.openxmlformats.org/officeDocument/2006/relationships/image" Target="../media/image-32-7.png"/><Relationship Id="rId14" Type="http://schemas.openxmlformats.org/officeDocument/2006/relationships/image" Target="../media/image-32-8.png"/><Relationship Id="rId16" Type="http://schemas.openxmlformats.org/officeDocument/2006/relationships/slideLayout" Target="../slideLayouts/slideLayout5.xml"/><Relationship Id="rId17"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7680960" cy="365760"/>
          </a:xfrm>
          <a:prstGeom prst="rect">
            <a:avLst/>
          </a:prstGeom>
          <a:noFill/>
          <a:ln/>
        </p:spPr>
        <p:txBody>
          <a:bodyPr wrap="square" lIns="0" tIns="0" rIns="0" bIns="0" rtlCol="0" anchor="t"/>
          <a:lstStyle/>
          <a:p>
            <a:pPr indent="0" marL="0">
              <a:buNone/>
            </a:pPr>
            <a:r>
              <a:rPr lang="id-ID" altLang="en-US" sz="1500" b="1" spc="200" kern="0" dirty="0">
                <a:solidFill>
                  <a:srgbClr val="54AEFF"/>
                </a:solidFill>
              </a:rPr>
              <a:t>PEMROGRAMAN BERORIENTASI OBJEK 2026</a:t>
            </a:r>
            <a:endParaRPr lang="id-ID" sz="1500" dirty="0"/>
          </a:p>
        </p:txBody>
      </p:sp>
      <p:sp>
        <p:nvSpPr>
          <p:cNvPr id="3" name="Text 0"/>
          <p:cNvSpPr/>
          <p:nvPr>
            <p:ph idx="100" type="title" hasCustomPrompt="1"/>
          </p:nvPr>
        </p:nvSpPr>
        <p:spPr>
          <a:xfrm>
            <a:off x="731520" y="1600200"/>
            <a:ext cx="7589520" cy="1828800"/>
          </a:xfrm>
          <a:prstGeom prst="rect">
            <a:avLst/>
          </a:prstGeom>
          <a:noFill/>
          <a:ln/>
        </p:spPr>
        <p:txBody>
          <a:bodyPr wrap="square" lIns="0" tIns="0" rIns="0" bIns="0" rtlCol="0" anchor="t"/>
          <a:lstStyle/>
          <a:p>
            <a:pPr algn="l" indent="0" marL="0">
              <a:buNone/>
            </a:pPr>
            <a:r>
              <a:rPr lang="id-ID" altLang="en-US" sz="4800" b="1" dirty="0">
                <a:solidFill>
                  <a:srgbClr val="FFFFFF"/>
                </a:solidFill>
              </a:rPr>
              <a:t>Pewarisan (</a:t>
            </a:r>
            <a:r>
              <a:rPr lang="id-ID" altLang="en-US" sz="4800" b="1" i="1" dirty="0">
                <a:solidFill>
                  <a:srgbClr val="FFFFFF"/>
                </a:solidFill>
              </a:rPr>
              <a:t>Inheritance</a:t>
            </a:r>
            <a:r>
              <a:rPr lang="id-ID" altLang="en-US" sz="4800" b="1" dirty="0">
                <a:solidFill>
                  <a:srgbClr val="FFFFFF"/>
                </a:solidFill>
              </a:rPr>
              <a:t>)</a:t>
            </a:r>
            <a:endParaRPr lang="id-ID" sz="4800" dirty="0"/>
          </a:p>
        </p:txBody>
      </p:sp>
      <p:sp>
        <p:nvSpPr>
          <p:cNvPr id="4" name="Text 2"/>
          <p:cNvSpPr txBox="1"/>
          <p:nvPr/>
        </p:nvSpPr>
        <p:spPr>
          <a:xfrm>
            <a:off x="731520" y="2663952"/>
            <a:ext cx="7589520" cy="1097280"/>
          </a:xfrm>
          <a:prstGeom prst="rect">
            <a:avLst/>
          </a:prstGeom>
          <a:noFill/>
          <a:ln/>
        </p:spPr>
        <p:txBody>
          <a:bodyPr wrap="square" lIns="0" tIns="0" rIns="0" bIns="0" rtlCol="0" anchor="t"/>
          <a:lstStyle/>
          <a:p>
            <a:pPr indent="0" marL="0">
              <a:buNone/>
            </a:pPr>
            <a:r>
              <a:rPr lang="id-ID" altLang="en-US" sz="2200" dirty="0">
                <a:solidFill>
                  <a:srgbClr val="C9D7E8"/>
                </a:solidFill>
              </a:rPr>
              <a:t>Pilar kedua PBO: bagian yang sama ditulis sekali di kelas induk, lalu diturunkan ke kelas anak</a:t>
            </a:r>
            <a:endParaRPr lang="id-ID" sz="2200" dirty="0"/>
          </a:p>
        </p:txBody>
      </p:sp>
      <p:sp>
        <p:nvSpPr>
          <p:cNvPr id="5" name="Text 3"/>
          <p:cNvSpPr txBox="1"/>
          <p:nvPr/>
        </p:nvSpPr>
        <p:spPr>
          <a:xfrm>
            <a:off x="731520" y="5349240"/>
            <a:ext cx="7589520" cy="731520"/>
          </a:xfrm>
          <a:prstGeom prst="rect">
            <a:avLst/>
          </a:prstGeom>
          <a:noFill/>
          <a:ln/>
        </p:spPr>
        <p:txBody>
          <a:bodyPr wrap="square" lIns="0" tIns="0" rIns="0" bIns="0" rtlCol="0" anchor="t"/>
          <a:lstStyle/>
          <a:p>
            <a:pPr indent="0" marL="0">
              <a:buNone/>
            </a:pPr>
            <a:r>
              <a:rPr lang="id-ID" altLang="en-US" sz="1500" dirty="0">
                <a:solidFill>
                  <a:srgbClr val="9FB3C8"/>
                </a:solidFill>
              </a:rPr>
              <a:t>Program Studi Informatika · Universitas Mulawarman</a:t>
            </a:r>
            <a:endParaRPr lang="id-ID" sz="1500" dirty="0"/>
          </a:p>
          <a:p>
            <a:pPr indent="0" marL="0">
              <a:buNone/>
            </a:pPr>
            <a:r>
              <a:rPr lang="id-ID" altLang="en-US" sz="1500" dirty="0">
                <a:solidFill>
                  <a:srgbClr val="9FB3C8"/>
                </a:solidFill>
              </a:rPr>
              <a:t>Jalur praktik: Python dan Java</a:t>
            </a:r>
            <a:endParaRPr lang="id-ID" sz="1500" dirty="0"/>
          </a:p>
        </p:txBody>
      </p:sp>
      <p:sp>
        <p:nvSpPr>
          <p:cNvPr id="6" name="Shape 4"/>
          <p:cNvSpPr/>
          <p:nvPr/>
        </p:nvSpPr>
        <p:spPr>
          <a:xfrm>
            <a:off x="8549640" y="1691640"/>
            <a:ext cx="3017520" cy="3017520"/>
          </a:xfrm>
          <a:prstGeom prst="ellipse">
            <a:avLst/>
          </a:prstGeom>
          <a:solidFill>
            <a:srgbClr val="0969DA"/>
          </a:solidFill>
          <a:ln/>
        </p:spPr>
      </p:sp>
      <p:sp>
        <p:nvSpPr>
          <p:cNvPr id="7" name="Shape 5"/>
          <p:cNvSpPr/>
          <p:nvPr/>
        </p:nvSpPr>
        <p:spPr>
          <a:xfrm>
            <a:off x="8385048" y="1527048"/>
            <a:ext cx="3346704" cy="3346704"/>
          </a:xfrm>
          <a:prstGeom prst="ellipse">
            <a:avLst/>
          </a:prstGeom>
          <a:ln w="19050">
            <a:solidFill>
              <a:srgbClr val="54AEFF"/>
            </a:solidFill>
            <a:prstDash val="solid"/>
          </a:ln>
        </p:spPr>
      </p:sp>
      <p:sp>
        <p:nvSpPr>
          <p:cNvPr id="8" name="Text 6"/>
          <p:cNvSpPr txBox="1"/>
          <p:nvPr/>
        </p:nvSpPr>
        <p:spPr>
          <a:xfrm>
            <a:off x="8549640" y="2258568"/>
            <a:ext cx="3017520" cy="365760"/>
          </a:xfrm>
          <a:prstGeom prst="rect">
            <a:avLst/>
          </a:prstGeom>
          <a:noFill/>
          <a:ln/>
        </p:spPr>
        <p:txBody>
          <a:bodyPr wrap="square" lIns="0" tIns="0" rIns="0" bIns="0" rtlCol="0" anchor="t"/>
          <a:lstStyle/>
          <a:p>
            <a:pPr algn="ctr" indent="0" marL="0">
              <a:buNone/>
            </a:pPr>
            <a:r>
              <a:rPr lang="id-ID" altLang="en-US" sz="1600" b="1" spc="300" kern="0" dirty="0">
                <a:solidFill>
                  <a:srgbClr val="DDF4FF"/>
                </a:solidFill>
              </a:rPr>
              <a:t>PERTEMUAN</a:t>
            </a:r>
            <a:endParaRPr lang="id-ID" sz="1600" dirty="0"/>
          </a:p>
        </p:txBody>
      </p:sp>
      <p:sp>
        <p:nvSpPr>
          <p:cNvPr id="9" name="Text 7"/>
          <p:cNvSpPr txBox="1"/>
          <p:nvPr/>
        </p:nvSpPr>
        <p:spPr>
          <a:xfrm>
            <a:off x="8549640" y="2560320"/>
            <a:ext cx="3017520" cy="1463040"/>
          </a:xfrm>
          <a:prstGeom prst="rect">
            <a:avLst/>
          </a:prstGeom>
          <a:noFill/>
          <a:ln/>
        </p:spPr>
        <p:txBody>
          <a:bodyPr wrap="square" lIns="0" tIns="0" rIns="0" bIns="0" rtlCol="0" anchor="ctr"/>
          <a:lstStyle/>
          <a:p>
            <a:pPr algn="ctr" indent="0" marL="0">
              <a:buNone/>
            </a:pPr>
            <a:r>
              <a:rPr lang="id-ID" altLang="en-US" sz="9600" b="1" dirty="0">
                <a:solidFill>
                  <a:srgbClr val="FFFFFF"/>
                </a:solidFill>
              </a:rPr>
              <a:t>07</a:t>
            </a:r>
            <a:endParaRPr lang="id-ID" sz="9600" dirty="0"/>
          </a:p>
        </p:txBody>
      </p:sp>
      <p:sp>
        <p:nvSpPr>
          <p:cNvPr id="10" name="Text 8"/>
          <p:cNvSpPr txBox="1"/>
          <p:nvPr/>
        </p:nvSpPr>
        <p:spPr>
          <a:xfrm>
            <a:off x="8549640" y="4069080"/>
            <a:ext cx="3017520" cy="365760"/>
          </a:xfrm>
          <a:prstGeom prst="rect">
            <a:avLst/>
          </a:prstGeom>
          <a:noFill/>
          <a:ln/>
        </p:spPr>
        <p:txBody>
          <a:bodyPr wrap="square" lIns="0" tIns="0" rIns="0" bIns="0" rtlCol="0" anchor="t"/>
          <a:lstStyle/>
          <a:p>
            <a:pPr algn="ctr" indent="0" marL="0">
              <a:buNone/>
            </a:pPr>
            <a:r>
              <a:rPr lang="id-ID" altLang="en-US" sz="1500" dirty="0">
                <a:solidFill>
                  <a:srgbClr val="DDF4FF"/>
                </a:solidFill>
              </a:rPr>
              <a:t>dari 16</a:t>
            </a:r>
            <a:endParaRPr lang="id-ID"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Tujuan Pembelajaran</a:t>
            </a:r>
            <a:endParaRPr lang="id-ID" sz="3200" dirty="0"/>
          </a:p>
        </p:txBody>
      </p:sp>
      <p:sp>
        <p:nvSpPr>
          <p:cNvPr id="5" name="Text 2"/>
          <p:cNvSpPr txBox="1"/>
          <p:nvPr/>
        </p:nvSpPr>
        <p:spPr>
          <a:xfrm>
            <a:off x="548640" y="1417320"/>
            <a:ext cx="11094415" cy="365760"/>
          </a:xfrm>
          <a:prstGeom prst="rect">
            <a:avLst/>
          </a:prstGeom>
          <a:noFill/>
          <a:ln/>
        </p:spPr>
        <p:txBody>
          <a:bodyPr wrap="square" lIns="0" tIns="0" rIns="0" bIns="0" rtlCol="0" anchor="t"/>
          <a:lstStyle/>
          <a:p>
            <a:pPr indent="0" marL="0">
              <a:buNone/>
            </a:pPr>
            <a:r>
              <a:rPr lang="id-ID" altLang="en-US" sz="1800" dirty="0">
                <a:solidFill>
                  <a:srgbClr val="57606A"/>
                </a:solidFill>
              </a:rPr>
              <a:t>Setelah pertemuan ini, kamu mampu:</a:t>
            </a:r>
            <a:endParaRPr lang="id-ID" sz="1800" dirty="0"/>
          </a:p>
        </p:txBody>
      </p:sp>
      <p:sp>
        <p:nvSpPr>
          <p:cNvPr id="6" name="Shape 3"/>
          <p:cNvSpPr/>
          <p:nvPr/>
        </p:nvSpPr>
        <p:spPr>
          <a:xfrm>
            <a:off x="548640" y="1920240"/>
            <a:ext cx="5432908" cy="1212342"/>
          </a:xfrm>
          <a:prstGeom prst="roundRect">
            <a:avLst>
              <a:gd name="adj" fmla="val 6827"/>
            </a:avLst>
          </a:prstGeom>
          <a:solidFill>
            <a:srgbClr val="F6F8FA"/>
          </a:solidFill>
          <a:ln w="9525">
            <a:solidFill>
              <a:srgbClr val="D0D7DE"/>
            </a:solidFill>
            <a:prstDash val="solid"/>
          </a:ln>
        </p:spPr>
      </p:sp>
      <p:sp>
        <p:nvSpPr>
          <p:cNvPr id="7" name="Shape 4"/>
          <p:cNvSpPr/>
          <p:nvPr/>
        </p:nvSpPr>
        <p:spPr>
          <a:xfrm>
            <a:off x="777240" y="2084832"/>
            <a:ext cx="457200" cy="457200"/>
          </a:xfrm>
          <a:prstGeom prst="ellipse">
            <a:avLst/>
          </a:prstGeom>
          <a:solidFill>
            <a:srgbClr val="0969DA"/>
          </a:solidFill>
          <a:ln/>
        </p:spPr>
      </p:sp>
      <p:sp>
        <p:nvSpPr>
          <p:cNvPr id="8" name="Text 5"/>
          <p:cNvSpPr txBox="1"/>
          <p:nvPr/>
        </p:nvSpPr>
        <p:spPr>
          <a:xfrm>
            <a:off x="777240"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1</a:t>
            </a:r>
            <a:endParaRPr lang="id-ID" sz="1800" dirty="0"/>
          </a:p>
        </p:txBody>
      </p:sp>
      <p:sp>
        <p:nvSpPr>
          <p:cNvPr id="9" name="Text 6"/>
          <p:cNvSpPr txBox="1"/>
          <p:nvPr/>
        </p:nvSpPr>
        <p:spPr>
          <a:xfrm>
            <a:off x="1417320" y="2084832"/>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Menjelaskan masalah duplikasi kode dan cara </a:t>
            </a:r>
            <a:r>
              <a:rPr lang="id-ID" altLang="en-US" sz="1900" b="1" dirty="0">
                <a:solidFill>
                  <a:srgbClr val="1F2328"/>
                </a:solidFill>
              </a:rPr>
              <a:t>generalisasi</a:t>
            </a:r>
            <a:r>
              <a:rPr lang="id-ID" altLang="en-US" sz="1900" dirty="0">
                <a:solidFill>
                  <a:srgbClr val="1F2328"/>
                </a:solidFill>
              </a:rPr>
              <a:t> menyelesaikannya.</a:t>
            </a:r>
            <a:endParaRPr lang="id-ID" sz="1900" dirty="0"/>
          </a:p>
        </p:txBody>
      </p:sp>
      <p:sp>
        <p:nvSpPr>
          <p:cNvPr id="10" name="Shape 7"/>
          <p:cNvSpPr/>
          <p:nvPr/>
        </p:nvSpPr>
        <p:spPr>
          <a:xfrm>
            <a:off x="6210148" y="1920240"/>
            <a:ext cx="5432908" cy="1212342"/>
          </a:xfrm>
          <a:prstGeom prst="roundRect">
            <a:avLst>
              <a:gd name="adj" fmla="val 6827"/>
            </a:avLst>
          </a:prstGeom>
          <a:solidFill>
            <a:srgbClr val="F6F8FA"/>
          </a:solidFill>
          <a:ln w="9525">
            <a:solidFill>
              <a:srgbClr val="D0D7DE"/>
            </a:solidFill>
            <a:prstDash val="solid"/>
          </a:ln>
        </p:spPr>
      </p:sp>
      <p:sp>
        <p:nvSpPr>
          <p:cNvPr id="11" name="Shape 8"/>
          <p:cNvSpPr/>
          <p:nvPr/>
        </p:nvSpPr>
        <p:spPr>
          <a:xfrm>
            <a:off x="6438748" y="2084832"/>
            <a:ext cx="457200" cy="457200"/>
          </a:xfrm>
          <a:prstGeom prst="ellipse">
            <a:avLst/>
          </a:prstGeom>
          <a:solidFill>
            <a:srgbClr val="0969DA"/>
          </a:solidFill>
          <a:ln/>
        </p:spPr>
      </p:sp>
      <p:sp>
        <p:nvSpPr>
          <p:cNvPr id="12" name="Text 9"/>
          <p:cNvSpPr txBox="1"/>
          <p:nvPr/>
        </p:nvSpPr>
        <p:spPr>
          <a:xfrm>
            <a:off x="6438748"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2</a:t>
            </a:r>
            <a:endParaRPr lang="id-ID" sz="1800" dirty="0"/>
          </a:p>
        </p:txBody>
      </p:sp>
      <p:sp>
        <p:nvSpPr>
          <p:cNvPr id="13" name="Text 10"/>
          <p:cNvSpPr txBox="1"/>
          <p:nvPr/>
        </p:nvSpPr>
        <p:spPr>
          <a:xfrm>
            <a:off x="7078828" y="2084832"/>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Menentukan apakah hubungan dua kelas termasuk </a:t>
            </a:r>
            <a:r>
              <a:rPr lang="id-ID" altLang="en-US" sz="1900" i="1" dirty="0">
                <a:solidFill>
                  <a:srgbClr val="1F2328"/>
                </a:solidFill>
              </a:rPr>
              <a:t>is-⁠a</a:t>
            </a:r>
            <a:r>
              <a:rPr lang="id-ID" altLang="en-US" sz="1900" dirty="0">
                <a:solidFill>
                  <a:srgbClr val="1F2328"/>
                </a:solidFill>
              </a:rPr>
              <a:t> (pewarisan) atau </a:t>
            </a:r>
            <a:r>
              <a:rPr lang="id-ID" altLang="en-US" sz="1900" i="1" dirty="0">
                <a:solidFill>
                  <a:srgbClr val="1F2328"/>
                </a:solidFill>
              </a:rPr>
              <a:t>has-⁠a</a:t>
            </a:r>
            <a:r>
              <a:rPr lang="id-ID" altLang="en-US" sz="1900" dirty="0">
                <a:solidFill>
                  <a:srgbClr val="1F2328"/>
                </a:solidFill>
              </a:rPr>
              <a:t> (relasi biasa).</a:t>
            </a:r>
            <a:endParaRPr lang="id-ID" sz="1900" dirty="0"/>
          </a:p>
        </p:txBody>
      </p:sp>
      <p:sp>
        <p:nvSpPr>
          <p:cNvPr id="14" name="Shape 11"/>
          <p:cNvSpPr/>
          <p:nvPr/>
        </p:nvSpPr>
        <p:spPr>
          <a:xfrm>
            <a:off x="548640" y="3315462"/>
            <a:ext cx="5432908" cy="1212342"/>
          </a:xfrm>
          <a:prstGeom prst="roundRect">
            <a:avLst>
              <a:gd name="adj" fmla="val 6827"/>
            </a:avLst>
          </a:prstGeom>
          <a:solidFill>
            <a:srgbClr val="F6F8FA"/>
          </a:solidFill>
          <a:ln w="9525">
            <a:solidFill>
              <a:srgbClr val="D0D7DE"/>
            </a:solidFill>
            <a:prstDash val="solid"/>
          </a:ln>
        </p:spPr>
      </p:sp>
      <p:sp>
        <p:nvSpPr>
          <p:cNvPr id="15" name="Shape 12"/>
          <p:cNvSpPr/>
          <p:nvPr/>
        </p:nvSpPr>
        <p:spPr>
          <a:xfrm>
            <a:off x="777240" y="3480054"/>
            <a:ext cx="457200" cy="457200"/>
          </a:xfrm>
          <a:prstGeom prst="ellipse">
            <a:avLst/>
          </a:prstGeom>
          <a:solidFill>
            <a:srgbClr val="0969DA"/>
          </a:solidFill>
          <a:ln/>
        </p:spPr>
      </p:sp>
      <p:sp>
        <p:nvSpPr>
          <p:cNvPr id="16" name="Text 13"/>
          <p:cNvSpPr txBox="1"/>
          <p:nvPr/>
        </p:nvSpPr>
        <p:spPr>
          <a:xfrm>
            <a:off x="777240" y="348005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3</a:t>
            </a:r>
            <a:endParaRPr lang="id-ID" sz="1800" dirty="0"/>
          </a:p>
        </p:txBody>
      </p:sp>
      <p:sp>
        <p:nvSpPr>
          <p:cNvPr id="17" name="Text 14"/>
          <p:cNvSpPr txBox="1"/>
          <p:nvPr/>
        </p:nvSpPr>
        <p:spPr>
          <a:xfrm>
            <a:off x="1417320" y="3480054"/>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Membuat kelas anak yang memanggil konstruktor induk dengan </a:t>
            </a:r>
            <a:r>
              <a:rPr lang="id-ID" altLang="en-US" sz="1900" dirty="0">
                <a:solidFill>
                  <a:srgbClr val="1F2328"/>
                </a:solidFill>
                <a:latin typeface="Consolas" pitchFamily="34" charset="0"/>
                <a:ea typeface="Consolas" pitchFamily="34" charset="-122"/>
                <a:cs typeface="Consolas" pitchFamily="34" charset="-120"/>
              </a:rPr>
              <a:t>super</a:t>
            </a:r>
            <a:r>
              <a:rPr lang="id-ID" altLang="en-US" sz="1900" dirty="0">
                <a:solidFill>
                  <a:srgbClr val="1F2328"/>
                </a:solidFill>
              </a:rPr>
              <a:t>, lalu menambah atribut dan </a:t>
            </a:r>
            <a:r>
              <a:rPr lang="id-ID" altLang="en-US" sz="1900" i="1" dirty="0">
                <a:solidFill>
                  <a:srgbClr val="1F2328"/>
                </a:solidFill>
              </a:rPr>
              <a:t>method</a:t>
            </a:r>
            <a:r>
              <a:rPr lang="id-ID" altLang="en-US" sz="1900" dirty="0">
                <a:solidFill>
                  <a:srgbClr val="1F2328"/>
                </a:solidFill>
              </a:rPr>
              <a:t> baru.</a:t>
            </a:r>
            <a:endParaRPr lang="id-ID" sz="1900" dirty="0"/>
          </a:p>
        </p:txBody>
      </p:sp>
      <p:sp>
        <p:nvSpPr>
          <p:cNvPr id="18" name="Shape 15"/>
          <p:cNvSpPr/>
          <p:nvPr/>
        </p:nvSpPr>
        <p:spPr>
          <a:xfrm>
            <a:off x="6210148" y="3315462"/>
            <a:ext cx="5432908" cy="1212342"/>
          </a:xfrm>
          <a:prstGeom prst="roundRect">
            <a:avLst>
              <a:gd name="adj" fmla="val 6827"/>
            </a:avLst>
          </a:prstGeom>
          <a:solidFill>
            <a:srgbClr val="F6F8FA"/>
          </a:solidFill>
          <a:ln w="9525">
            <a:solidFill>
              <a:srgbClr val="D0D7DE"/>
            </a:solidFill>
            <a:prstDash val="solid"/>
          </a:ln>
        </p:spPr>
      </p:sp>
      <p:sp>
        <p:nvSpPr>
          <p:cNvPr id="19" name="Shape 16"/>
          <p:cNvSpPr/>
          <p:nvPr/>
        </p:nvSpPr>
        <p:spPr>
          <a:xfrm>
            <a:off x="6438748" y="3480054"/>
            <a:ext cx="457200" cy="457200"/>
          </a:xfrm>
          <a:prstGeom prst="ellipse">
            <a:avLst/>
          </a:prstGeom>
          <a:solidFill>
            <a:srgbClr val="0969DA"/>
          </a:solidFill>
          <a:ln/>
        </p:spPr>
      </p:sp>
      <p:sp>
        <p:nvSpPr>
          <p:cNvPr id="20" name="Text 17"/>
          <p:cNvSpPr txBox="1"/>
          <p:nvPr/>
        </p:nvSpPr>
        <p:spPr>
          <a:xfrm>
            <a:off x="6438748" y="348005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4</a:t>
            </a:r>
            <a:endParaRPr lang="id-ID" sz="1800" dirty="0"/>
          </a:p>
        </p:txBody>
      </p:sp>
      <p:sp>
        <p:nvSpPr>
          <p:cNvPr id="21" name="Text 18"/>
          <p:cNvSpPr txBox="1"/>
          <p:nvPr/>
        </p:nvSpPr>
        <p:spPr>
          <a:xfrm>
            <a:off x="7078828" y="3480054"/>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Meng-⁠</a:t>
            </a:r>
            <a:r>
              <a:rPr lang="id-ID" altLang="en-US" sz="1900" i="1" dirty="0">
                <a:solidFill>
                  <a:srgbClr val="1F2328"/>
                </a:solidFill>
              </a:rPr>
              <a:t>override</a:t>
            </a:r>
            <a:r>
              <a:rPr lang="id-ID" altLang="en-US" sz="1900" dirty="0">
                <a:solidFill>
                  <a:srgbClr val="1F2328"/>
                </a:solidFill>
              </a:rPr>
              <a:t> </a:t>
            </a:r>
            <a:r>
              <a:rPr lang="id-ID" altLang="en-US" sz="1900" i="1" dirty="0">
                <a:solidFill>
                  <a:srgbClr val="1F2328"/>
                </a:solidFill>
              </a:rPr>
              <a:t>method</a:t>
            </a:r>
            <a:r>
              <a:rPr lang="id-ID" altLang="en-US" sz="1900" dirty="0">
                <a:solidFill>
                  <a:srgbClr val="1F2328"/>
                </a:solidFill>
              </a:rPr>
              <a:t> induk sambil tetap memakai versi induknya.</a:t>
            </a:r>
            <a:endParaRPr lang="id-ID" sz="1900" dirty="0"/>
          </a:p>
        </p:txBody>
      </p:sp>
      <p:sp>
        <p:nvSpPr>
          <p:cNvPr id="22" name="Shape 19"/>
          <p:cNvSpPr/>
          <p:nvPr/>
        </p:nvSpPr>
        <p:spPr>
          <a:xfrm>
            <a:off x="548640" y="4710684"/>
            <a:ext cx="5432908" cy="1212342"/>
          </a:xfrm>
          <a:prstGeom prst="roundRect">
            <a:avLst>
              <a:gd name="adj" fmla="val 6827"/>
            </a:avLst>
          </a:prstGeom>
          <a:solidFill>
            <a:srgbClr val="F6F8FA"/>
          </a:solidFill>
          <a:ln w="9525">
            <a:solidFill>
              <a:srgbClr val="D0D7DE"/>
            </a:solidFill>
            <a:prstDash val="solid"/>
          </a:ln>
        </p:spPr>
      </p:sp>
      <p:sp>
        <p:nvSpPr>
          <p:cNvPr id="23" name="Shape 20"/>
          <p:cNvSpPr/>
          <p:nvPr/>
        </p:nvSpPr>
        <p:spPr>
          <a:xfrm>
            <a:off x="777240" y="4875276"/>
            <a:ext cx="457200" cy="457200"/>
          </a:xfrm>
          <a:prstGeom prst="ellipse">
            <a:avLst/>
          </a:prstGeom>
          <a:solidFill>
            <a:srgbClr val="0969DA"/>
          </a:solidFill>
          <a:ln/>
        </p:spPr>
      </p:sp>
      <p:sp>
        <p:nvSpPr>
          <p:cNvPr id="24" name="Text 21"/>
          <p:cNvSpPr txBox="1"/>
          <p:nvPr/>
        </p:nvSpPr>
        <p:spPr>
          <a:xfrm>
            <a:off x="777240" y="487527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5</a:t>
            </a:r>
            <a:endParaRPr lang="id-ID" sz="1800" dirty="0"/>
          </a:p>
        </p:txBody>
      </p:sp>
      <p:sp>
        <p:nvSpPr>
          <p:cNvPr id="25" name="Text 22"/>
          <p:cNvSpPr txBox="1"/>
          <p:nvPr/>
        </p:nvSpPr>
        <p:spPr>
          <a:xfrm>
            <a:off x="1417320" y="4875276"/>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Menjelaskan urutan berjalannya konstruktor pada pewarisan bertingkat.</a:t>
            </a:r>
            <a:endParaRPr lang="id-ID" sz="1900" dirty="0"/>
          </a:p>
        </p:txBody>
      </p:sp>
      <p:sp>
        <p:nvSpPr>
          <p:cNvPr id="26" name="Shape 23"/>
          <p:cNvSpPr/>
          <p:nvPr/>
        </p:nvSpPr>
        <p:spPr>
          <a:xfrm>
            <a:off x="6210148" y="4710684"/>
            <a:ext cx="5432908" cy="1212342"/>
          </a:xfrm>
          <a:prstGeom prst="roundRect">
            <a:avLst>
              <a:gd name="adj" fmla="val 6827"/>
            </a:avLst>
          </a:prstGeom>
          <a:solidFill>
            <a:srgbClr val="F6F8FA"/>
          </a:solidFill>
          <a:ln w="9525">
            <a:solidFill>
              <a:srgbClr val="D0D7DE"/>
            </a:solidFill>
            <a:prstDash val="solid"/>
          </a:ln>
        </p:spPr>
      </p:sp>
      <p:sp>
        <p:nvSpPr>
          <p:cNvPr id="27" name="Shape 24"/>
          <p:cNvSpPr/>
          <p:nvPr/>
        </p:nvSpPr>
        <p:spPr>
          <a:xfrm>
            <a:off x="6438748" y="4875276"/>
            <a:ext cx="457200" cy="457200"/>
          </a:xfrm>
          <a:prstGeom prst="ellipse">
            <a:avLst/>
          </a:prstGeom>
          <a:solidFill>
            <a:srgbClr val="0969DA"/>
          </a:solidFill>
          <a:ln/>
        </p:spPr>
      </p:sp>
      <p:sp>
        <p:nvSpPr>
          <p:cNvPr id="28" name="Text 25"/>
          <p:cNvSpPr txBox="1"/>
          <p:nvPr/>
        </p:nvSpPr>
        <p:spPr>
          <a:xfrm>
            <a:off x="6438748" y="487527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6</a:t>
            </a:r>
            <a:endParaRPr lang="id-ID" sz="1800" dirty="0"/>
          </a:p>
        </p:txBody>
      </p:sp>
      <p:sp>
        <p:nvSpPr>
          <p:cNvPr id="29" name="Text 26"/>
          <p:cNvSpPr txBox="1"/>
          <p:nvPr/>
        </p:nvSpPr>
        <p:spPr>
          <a:xfrm>
            <a:off x="7078828" y="4875276"/>
            <a:ext cx="4381348" cy="938022"/>
          </a:xfrm>
          <a:prstGeom prst="rect">
            <a:avLst/>
          </a:prstGeom>
          <a:noFill/>
          <a:ln/>
        </p:spPr>
        <p:txBody>
          <a:bodyPr wrap="square" lIns="0" tIns="0" rIns="0" bIns="0" rtlCol="0" anchor="t"/>
          <a:lstStyle/>
          <a:p>
            <a:pPr indent="0" marL="0">
              <a:buNone/>
            </a:pPr>
            <a:r>
              <a:rPr lang="id-ID" altLang="en-US" sz="1900" dirty="0">
                <a:solidFill>
                  <a:srgbClr val="1F2328"/>
                </a:solidFill>
              </a:rPr>
              <a:t>Membedakan aturan pewarisan di Python dan Java: hak akses untuk kelas anak, kelas akar, pewarisan ganda, dan </a:t>
            </a:r>
            <a:r>
              <a:rPr lang="id-ID" altLang="en-US" sz="1900" dirty="0">
                <a:solidFill>
                  <a:srgbClr val="1F2328"/>
                </a:solidFill>
                <a:latin typeface="Consolas" pitchFamily="34" charset="0"/>
                <a:ea typeface="Consolas" pitchFamily="34" charset="-122"/>
                <a:cs typeface="Consolas" pitchFamily="34" charset="-120"/>
              </a:rPr>
              <a:t>final</a:t>
            </a:r>
            <a:r>
              <a:rPr lang="id-ID" altLang="en-US" sz="1900" dirty="0">
                <a:solidFill>
                  <a:srgbClr val="1F2328"/>
                </a:solidFill>
              </a:rPr>
              <a:t>.</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Mengingat Kembali</a:t>
            </a:r>
            <a:endParaRPr lang="id-ID" sz="3200" dirty="0"/>
          </a:p>
        </p:txBody>
      </p:sp>
      <p:sp>
        <p:nvSpPr>
          <p:cNvPr id="5" name="Shape 2"/>
          <p:cNvSpPr/>
          <p:nvPr/>
        </p:nvSpPr>
        <p:spPr>
          <a:xfrm>
            <a:off x="548640" y="1444203"/>
            <a:ext cx="2377440" cy="4718304"/>
          </a:xfrm>
          <a:prstGeom prst="roundRect">
            <a:avLst>
              <a:gd name="adj" fmla="val 2663"/>
            </a:avLst>
          </a:prstGeom>
          <a:solidFill>
            <a:srgbClr val="DDF4FF"/>
          </a:solidFill>
          <a:ln w="9525">
            <a:solidFill>
              <a:srgbClr val="54AEFF"/>
            </a:solidFill>
            <a:prstDash val="solid"/>
          </a:ln>
        </p:spPr>
      </p:sp>
      <p:sp>
        <p:nvSpPr>
          <p:cNvPr id="6" name="Shape 3"/>
          <p:cNvSpPr/>
          <p:nvPr/>
        </p:nvSpPr>
        <p:spPr>
          <a:xfrm>
            <a:off x="1188720" y="2843235"/>
            <a:ext cx="1097280" cy="1097280"/>
          </a:xfrm>
          <a:prstGeom prst="ellipse">
            <a:avLst/>
          </a:prstGeom>
          <a:solidFill>
            <a:srgbClr val="0969DA"/>
          </a:solidFill>
          <a:ln/>
        </p:spPr>
      </p:sp>
      <p:pic>
        <p:nvPicPr>
          <p:cNvPr id="7" name="Image 1" descr="preencoded.png">    </p:cNvPr>
          <p:cNvPicPr>
            <a:picLocks noChangeAspect="1"/>
          </p:cNvPicPr>
          <p:nvPr/>
        </p:nvPicPr>
        <p:blipFill>
          <a:blip r:embed="rId2"/>
          <a:stretch>
            <a:fillRect/>
          </a:stretch>
        </p:blipFill>
        <p:spPr>
          <a:xfrm>
            <a:off x="1430122" y="3084637"/>
            <a:ext cx="614477" cy="614477"/>
          </a:xfrm>
          <a:prstGeom prst="rect">
            <a:avLst/>
          </a:prstGeom>
        </p:spPr>
      </p:pic>
      <p:sp>
        <p:nvSpPr>
          <p:cNvPr id="8" name="Text 4"/>
          <p:cNvSpPr txBox="1"/>
          <p:nvPr/>
        </p:nvSpPr>
        <p:spPr>
          <a:xfrm>
            <a:off x="731520" y="4123395"/>
            <a:ext cx="2011680" cy="640080"/>
          </a:xfrm>
          <a:prstGeom prst="rect">
            <a:avLst/>
          </a:prstGeom>
          <a:noFill/>
          <a:ln/>
        </p:spPr>
        <p:txBody>
          <a:bodyPr wrap="square" lIns="0" tIns="0" rIns="0" bIns="0" rtlCol="0" anchor="t"/>
          <a:lstStyle/>
          <a:p>
            <a:pPr algn="ctr" indent="0" marL="0">
              <a:buNone/>
            </a:pPr>
            <a:r>
              <a:rPr lang="id-ID" altLang="en-US" sz="1600" b="1" dirty="0">
                <a:solidFill>
                  <a:srgbClr val="0A3069"/>
                </a:solidFill>
              </a:rPr>
              <a:t>Dari pertemuan sebelumnya</a:t>
            </a:r>
            <a:endParaRPr lang="id-ID" sz="1600" dirty="0"/>
          </a:p>
        </p:txBody>
      </p:sp>
      <p:sp>
        <p:nvSpPr>
          <p:cNvPr id="9" name="Shape 5"/>
          <p:cNvSpPr/>
          <p:nvPr/>
        </p:nvSpPr>
        <p:spPr>
          <a:xfrm>
            <a:off x="3346704" y="1835871"/>
            <a:ext cx="137160" cy="137160"/>
          </a:xfrm>
          <a:prstGeom prst="roundRect">
            <a:avLst>
              <a:gd name="adj" fmla="val 166667"/>
            </a:avLst>
          </a:prstGeom>
          <a:solidFill>
            <a:srgbClr val="0969DA"/>
          </a:solidFill>
          <a:ln/>
        </p:spPr>
      </p:sp>
      <p:sp>
        <p:nvSpPr>
          <p:cNvPr id="10" name="Text 6"/>
          <p:cNvSpPr txBox="1"/>
          <p:nvPr/>
        </p:nvSpPr>
        <p:spPr>
          <a:xfrm>
            <a:off x="3675888" y="1718523"/>
            <a:ext cx="7967167" cy="1161288"/>
          </a:xfrm>
          <a:prstGeom prst="rect">
            <a:avLst/>
          </a:prstGeom>
          <a:noFill/>
          <a:ln/>
        </p:spPr>
        <p:txBody>
          <a:bodyPr wrap="square" lIns="0" tIns="0" rIns="0" bIns="0" rtlCol="0" anchor="t"/>
          <a:lstStyle/>
          <a:p>
            <a:pPr indent="0" marL="0">
              <a:buNone/>
            </a:pPr>
            <a:r>
              <a:rPr lang="id-ID" altLang="en-US" sz="2400" dirty="0">
                <a:solidFill>
                  <a:srgbClr val="1F2328"/>
                </a:solidFill>
              </a:rPr>
              <a:t>Pertemuan 05: kelas dihubungkan lewat asosiasi, agregasi, komposisi, dan dependensi, semuanya hubungan “</a:t>
            </a:r>
            <a:r>
              <a:rPr lang="id-ID" altLang="en-US" sz="2400" b="1" dirty="0">
                <a:solidFill>
                  <a:srgbClr val="1F2328"/>
                </a:solidFill>
              </a:rPr>
              <a:t>punya</a:t>
            </a:r>
            <a:r>
              <a:rPr lang="id-ID" altLang="en-US" sz="2400" dirty="0">
                <a:solidFill>
                  <a:srgbClr val="1F2328"/>
                </a:solidFill>
              </a:rPr>
              <a:t>” atau “</a:t>
            </a:r>
            <a:r>
              <a:rPr lang="id-ID" altLang="en-US" sz="2400" b="1" dirty="0">
                <a:solidFill>
                  <a:srgbClr val="1F2328"/>
                </a:solidFill>
              </a:rPr>
              <a:t>memakai</a:t>
            </a:r>
            <a:r>
              <a:rPr lang="id-ID" altLang="en-US" sz="2400" dirty="0">
                <a:solidFill>
                  <a:srgbClr val="1F2328"/>
                </a:solidFill>
              </a:rPr>
              <a:t>”.</a:t>
            </a:r>
            <a:endParaRPr lang="id-ID" sz="2400" dirty="0"/>
          </a:p>
        </p:txBody>
      </p:sp>
      <p:sp>
        <p:nvSpPr>
          <p:cNvPr id="11" name="Shape 7"/>
          <p:cNvSpPr/>
          <p:nvPr/>
        </p:nvSpPr>
        <p:spPr>
          <a:xfrm>
            <a:off x="3346704" y="3225759"/>
            <a:ext cx="137160" cy="137160"/>
          </a:xfrm>
          <a:prstGeom prst="roundRect">
            <a:avLst>
              <a:gd name="adj" fmla="val 166667"/>
            </a:avLst>
          </a:prstGeom>
          <a:solidFill>
            <a:srgbClr val="0969DA"/>
          </a:solidFill>
          <a:ln/>
        </p:spPr>
      </p:sp>
      <p:sp>
        <p:nvSpPr>
          <p:cNvPr id="12" name="Text 8"/>
          <p:cNvSpPr txBox="1"/>
          <p:nvPr/>
        </p:nvSpPr>
        <p:spPr>
          <a:xfrm>
            <a:off x="3675888" y="3108411"/>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Contohnya, </a:t>
            </a:r>
            <a:r>
              <a:rPr lang="id-ID" altLang="en-US" sz="2400" dirty="0">
                <a:solidFill>
                  <a:srgbClr val="1F2328"/>
                </a:solidFill>
                <a:latin typeface="Consolas" pitchFamily="34" charset="0"/>
                <a:ea typeface="Consolas" pitchFamily="34" charset="-122"/>
                <a:cs typeface="Consolas" pitchFamily="34" charset="-120"/>
              </a:rPr>
              <a:t>Kedai</a:t>
            </a:r>
            <a:r>
              <a:rPr lang="id-ID" altLang="en-US" sz="2400" dirty="0">
                <a:solidFill>
                  <a:srgbClr val="1F2328"/>
                </a:solidFill>
              </a:rPr>
              <a:t> menyimpan daftar </a:t>
            </a:r>
            <a:r>
              <a:rPr lang="id-ID" altLang="en-US" sz="2400" dirty="0">
                <a:solidFill>
                  <a:srgbClr val="1F2328"/>
                </a:solidFill>
                <a:latin typeface="Consolas" pitchFamily="34" charset="0"/>
                <a:ea typeface="Consolas" pitchFamily="34" charset="-122"/>
                <a:cs typeface="Consolas" pitchFamily="34" charset="-120"/>
              </a:rPr>
              <a:t>Menu</a:t>
            </a:r>
            <a:r>
              <a:rPr lang="id-ID" altLang="en-US" sz="2400" dirty="0">
                <a:solidFill>
                  <a:srgbClr val="1F2328"/>
                </a:solidFill>
              </a:rPr>
              <a:t> (agregasi) dan </a:t>
            </a:r>
            <a:r>
              <a:rPr lang="id-ID" altLang="en-US" sz="2400" dirty="0">
                <a:solidFill>
                  <a:srgbClr val="1F2328"/>
                </a:solidFill>
                <a:latin typeface="Consolas" pitchFamily="34" charset="0"/>
                <a:ea typeface="Consolas" pitchFamily="34" charset="-122"/>
                <a:cs typeface="Consolas" pitchFamily="34" charset="-120"/>
              </a:rPr>
              <a:t>Pesanan</a:t>
            </a:r>
            <a:r>
              <a:rPr lang="id-ID" altLang="en-US" sz="2400" dirty="0">
                <a:solidFill>
                  <a:srgbClr val="1F2328"/>
                </a:solidFill>
              </a:rPr>
              <a:t> menyusun </a:t>
            </a:r>
            <a:r>
              <a:rPr lang="id-ID" altLang="en-US" sz="2400" dirty="0">
                <a:solidFill>
                  <a:srgbClr val="1F2328"/>
                </a:solidFill>
                <a:latin typeface="Consolas" pitchFamily="34" charset="0"/>
                <a:ea typeface="Consolas" pitchFamily="34" charset="-122"/>
                <a:cs typeface="Consolas" pitchFamily="34" charset="-120"/>
              </a:rPr>
              <a:t>ItemPesanan</a:t>
            </a:r>
            <a:r>
              <a:rPr lang="id-ID" altLang="en-US" sz="2400" dirty="0">
                <a:solidFill>
                  <a:srgbClr val="1F2328"/>
                </a:solidFill>
              </a:rPr>
              <a:t> (komposisi).</a:t>
            </a:r>
            <a:endParaRPr lang="id-ID" sz="2400" dirty="0"/>
          </a:p>
        </p:txBody>
      </p:sp>
      <p:sp>
        <p:nvSpPr>
          <p:cNvPr id="13" name="Shape 9"/>
          <p:cNvSpPr/>
          <p:nvPr/>
        </p:nvSpPr>
        <p:spPr>
          <a:xfrm>
            <a:off x="3346704" y="4243791"/>
            <a:ext cx="137160" cy="137160"/>
          </a:xfrm>
          <a:prstGeom prst="roundRect">
            <a:avLst>
              <a:gd name="adj" fmla="val 166667"/>
            </a:avLst>
          </a:prstGeom>
          <a:solidFill>
            <a:srgbClr val="0969DA"/>
          </a:solidFill>
          <a:ln/>
        </p:spPr>
      </p:sp>
      <p:sp>
        <p:nvSpPr>
          <p:cNvPr id="14" name="Text 10"/>
          <p:cNvSpPr txBox="1"/>
          <p:nvPr/>
        </p:nvSpPr>
        <p:spPr>
          <a:xfrm>
            <a:off x="3675888" y="4126443"/>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Pertemuan 06: notasi </a:t>
            </a:r>
            <a:r>
              <a:rPr lang="id-ID" altLang="en-US" sz="2400" b="1" dirty="0">
                <a:solidFill>
                  <a:srgbClr val="1F2328"/>
                </a:solidFill>
              </a:rPr>
              <a:t>generalisasi</a:t>
            </a:r>
            <a:r>
              <a:rPr lang="id-ID" altLang="en-US" sz="2400" dirty="0">
                <a:solidFill>
                  <a:srgbClr val="1F2328"/>
                </a:solidFill>
              </a:rPr>
              <a:t> berupa garis dengan segitiga kosong yang menunjuk ke kelas induk (</a:t>
            </a:r>
            <a:r>
              <a:rPr lang="id-ID" altLang="en-US" sz="2400" dirty="0">
                <a:solidFill>
                  <a:srgbClr val="1F2328"/>
                </a:solidFill>
                <a:latin typeface="Consolas" pitchFamily="34" charset="0"/>
                <a:ea typeface="Consolas" pitchFamily="34" charset="-122"/>
                <a:cs typeface="Consolas" pitchFamily="34" charset="-120"/>
              </a:rPr>
              <a:t>&lt;|--</a:t>
            </a:r>
            <a:r>
              <a:rPr lang="id-ID" altLang="en-US" sz="2400" dirty="0">
                <a:solidFill>
                  <a:srgbClr val="1F2328"/>
                </a:solidFill>
              </a:rPr>
              <a:t>).</a:t>
            </a:r>
            <a:endParaRPr lang="id-ID" sz="2400" dirty="0"/>
          </a:p>
        </p:txBody>
      </p:sp>
      <p:sp>
        <p:nvSpPr>
          <p:cNvPr id="15" name="Shape 11"/>
          <p:cNvSpPr/>
          <p:nvPr/>
        </p:nvSpPr>
        <p:spPr>
          <a:xfrm>
            <a:off x="3346704" y="5261823"/>
            <a:ext cx="137160" cy="137160"/>
          </a:xfrm>
          <a:prstGeom prst="roundRect">
            <a:avLst>
              <a:gd name="adj" fmla="val 166667"/>
            </a:avLst>
          </a:prstGeom>
          <a:solidFill>
            <a:srgbClr val="0969DA"/>
          </a:solidFill>
          <a:ln/>
        </p:spPr>
      </p:sp>
      <p:sp>
        <p:nvSpPr>
          <p:cNvPr id="16" name="Text 12"/>
          <p:cNvSpPr txBox="1"/>
          <p:nvPr/>
        </p:nvSpPr>
        <p:spPr>
          <a:xfrm>
            <a:off x="3675888" y="5144475"/>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latin typeface="Consolas" pitchFamily="34" charset="0"/>
                <a:ea typeface="Consolas" pitchFamily="34" charset="-122"/>
                <a:cs typeface="Consolas" pitchFamily="34" charset="-120"/>
              </a:rPr>
              <a:t>__str__</a:t>
            </a:r>
            <a:r>
              <a:rPr lang="id-ID" altLang="en-US" sz="2400" dirty="0">
                <a:solidFill>
                  <a:srgbClr val="1F2328"/>
                </a:solidFill>
              </a:rPr>
              <a:t>/</a:t>
            </a:r>
            <a:r>
              <a:rPr lang="id-ID" altLang="en-US" sz="2400" dirty="0">
                <a:solidFill>
                  <a:srgbClr val="1F2328"/>
                </a:solidFill>
                <a:latin typeface="Consolas" pitchFamily="34" charset="0"/>
                <a:ea typeface="Consolas" pitchFamily="34" charset="-122"/>
                <a:cs typeface="Consolas" pitchFamily="34" charset="-120"/>
              </a:rPr>
              <a:t>toString()</a:t>
            </a:r>
            <a:r>
              <a:rPr lang="id-ID" altLang="en-US" sz="2400" dirty="0">
                <a:solidFill>
                  <a:srgbClr val="1F2328"/>
                </a:solidFill>
              </a:rPr>
              <a:t> disebut “menimpa </a:t>
            </a:r>
            <a:r>
              <a:rPr lang="id-ID" altLang="en-US" sz="2400" i="1" dirty="0">
                <a:solidFill>
                  <a:srgbClr val="1F2328"/>
                </a:solidFill>
              </a:rPr>
              <a:t>method</a:t>
            </a:r>
            <a:r>
              <a:rPr lang="id-ID" altLang="en-US" sz="2400" dirty="0">
                <a:solidFill>
                  <a:srgbClr val="1F2328"/>
                </a:solidFill>
              </a:rPr>
              <a:t> bawaan” (P03), dan </a:t>
            </a:r>
            <a:r>
              <a:rPr lang="id-ID" altLang="en-US" sz="2400" dirty="0">
                <a:solidFill>
                  <a:srgbClr val="1F2328"/>
                </a:solidFill>
                <a:latin typeface="Consolas" pitchFamily="34" charset="0"/>
                <a:ea typeface="Consolas" pitchFamily="34" charset="-122"/>
                <a:cs typeface="Consolas" pitchFamily="34" charset="-120"/>
              </a:rPr>
              <a:t>protected</a:t>
            </a:r>
            <a:r>
              <a:rPr lang="id-ID" altLang="en-US" sz="2400" dirty="0">
                <a:solidFill>
                  <a:srgbClr val="1F2328"/>
                </a:solidFill>
              </a:rPr>
              <a:t> disebut sekilas (P04).</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Agenda Hari Ini</a:t>
            </a:r>
            <a:endParaRPr lang="id-ID" sz="3200" dirty="0"/>
          </a:p>
        </p:txBody>
      </p:sp>
      <p:sp>
        <p:nvSpPr>
          <p:cNvPr id="5" name="Shape 2"/>
          <p:cNvSpPr/>
          <p:nvPr/>
        </p:nvSpPr>
        <p:spPr>
          <a:xfrm>
            <a:off x="548640" y="1709420"/>
            <a:ext cx="3515258" cy="1824736"/>
          </a:xfrm>
          <a:prstGeom prst="roundRect">
            <a:avLst>
              <a:gd name="adj" fmla="val 3013"/>
            </a:avLst>
          </a:prstGeom>
          <a:solidFill>
            <a:srgbClr val="F6F8FA"/>
          </a:solidFill>
          <a:ln w="9525">
            <a:solidFill>
              <a:srgbClr val="D0D7DE"/>
            </a:solidFill>
            <a:prstDash val="solid"/>
          </a:ln>
        </p:spPr>
      </p:sp>
      <p:sp>
        <p:nvSpPr>
          <p:cNvPr id="6" name="Shape 3"/>
          <p:cNvSpPr/>
          <p:nvPr/>
        </p:nvSpPr>
        <p:spPr>
          <a:xfrm>
            <a:off x="777240" y="1938020"/>
            <a:ext cx="512064" cy="512064"/>
          </a:xfrm>
          <a:prstGeom prst="ellipse">
            <a:avLst/>
          </a:prstGeom>
          <a:solidFill>
            <a:srgbClr val="0969DA"/>
          </a:solidFill>
          <a:ln/>
        </p:spPr>
      </p:sp>
      <p:sp>
        <p:nvSpPr>
          <p:cNvPr id="7" name="Text 4"/>
          <p:cNvSpPr txBox="1"/>
          <p:nvPr/>
        </p:nvSpPr>
        <p:spPr>
          <a:xfrm>
            <a:off x="777240"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1</a:t>
            </a:r>
            <a:endParaRPr lang="id-ID" sz="2000" dirty="0"/>
          </a:p>
        </p:txBody>
      </p:sp>
      <p:sp>
        <p:nvSpPr>
          <p:cNvPr id="8" name="Text 5"/>
          <p:cNvSpPr txBox="1"/>
          <p:nvPr/>
        </p:nvSpPr>
        <p:spPr>
          <a:xfrm>
            <a:off x="777240"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Kode kembar dan generalisasi</a:t>
            </a:r>
            <a:endParaRPr lang="id-ID" sz="2200" dirty="0"/>
          </a:p>
        </p:txBody>
      </p:sp>
      <p:sp>
        <p:nvSpPr>
          <p:cNvPr id="9" name="Shape 6"/>
          <p:cNvSpPr/>
          <p:nvPr/>
        </p:nvSpPr>
        <p:spPr>
          <a:xfrm>
            <a:off x="4338218" y="1709420"/>
            <a:ext cx="3515258" cy="1824736"/>
          </a:xfrm>
          <a:prstGeom prst="roundRect">
            <a:avLst>
              <a:gd name="adj" fmla="val 3013"/>
            </a:avLst>
          </a:prstGeom>
          <a:solidFill>
            <a:srgbClr val="F6F8FA"/>
          </a:solidFill>
          <a:ln w="9525">
            <a:solidFill>
              <a:srgbClr val="D0D7DE"/>
            </a:solidFill>
            <a:prstDash val="solid"/>
          </a:ln>
        </p:spPr>
      </p:sp>
      <p:sp>
        <p:nvSpPr>
          <p:cNvPr id="10" name="Shape 7"/>
          <p:cNvSpPr/>
          <p:nvPr/>
        </p:nvSpPr>
        <p:spPr>
          <a:xfrm>
            <a:off x="4566818" y="1938020"/>
            <a:ext cx="512064" cy="512064"/>
          </a:xfrm>
          <a:prstGeom prst="ellipse">
            <a:avLst/>
          </a:prstGeom>
          <a:solidFill>
            <a:srgbClr val="0969DA"/>
          </a:solidFill>
          <a:ln/>
        </p:spPr>
      </p:sp>
      <p:sp>
        <p:nvSpPr>
          <p:cNvPr id="11" name="Text 8"/>
          <p:cNvSpPr txBox="1"/>
          <p:nvPr/>
        </p:nvSpPr>
        <p:spPr>
          <a:xfrm>
            <a:off x="4566818"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2</a:t>
            </a:r>
            <a:endParaRPr lang="id-ID" sz="2000" dirty="0"/>
          </a:p>
        </p:txBody>
      </p:sp>
      <p:sp>
        <p:nvSpPr>
          <p:cNvPr id="12" name="Text 9"/>
          <p:cNvSpPr txBox="1"/>
          <p:nvPr/>
        </p:nvSpPr>
        <p:spPr>
          <a:xfrm>
            <a:off x="4566818"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Relasi “adalah” (</a:t>
            </a:r>
            <a:r>
              <a:rPr lang="id-ID" altLang="en-US" sz="2200" i="1" dirty="0">
                <a:solidFill>
                  <a:srgbClr val="1F2328"/>
                </a:solidFill>
              </a:rPr>
              <a:t>is-⁠a</a:t>
            </a:r>
            <a:r>
              <a:rPr lang="id-ID" altLang="en-US" sz="2200" dirty="0">
                <a:solidFill>
                  <a:srgbClr val="1F2328"/>
                </a:solidFill>
              </a:rPr>
              <a:t>)</a:t>
            </a:r>
            <a:endParaRPr lang="id-ID" sz="2200" dirty="0"/>
          </a:p>
        </p:txBody>
      </p:sp>
      <p:sp>
        <p:nvSpPr>
          <p:cNvPr id="13" name="Shape 10"/>
          <p:cNvSpPr/>
          <p:nvPr/>
        </p:nvSpPr>
        <p:spPr>
          <a:xfrm>
            <a:off x="8127797" y="1709420"/>
            <a:ext cx="3515258" cy="1824736"/>
          </a:xfrm>
          <a:prstGeom prst="roundRect">
            <a:avLst>
              <a:gd name="adj" fmla="val 3013"/>
            </a:avLst>
          </a:prstGeom>
          <a:solidFill>
            <a:srgbClr val="F6F8FA"/>
          </a:solidFill>
          <a:ln w="9525">
            <a:solidFill>
              <a:srgbClr val="D0D7DE"/>
            </a:solidFill>
            <a:prstDash val="solid"/>
          </a:ln>
        </p:spPr>
      </p:sp>
      <p:sp>
        <p:nvSpPr>
          <p:cNvPr id="14" name="Shape 11"/>
          <p:cNvSpPr/>
          <p:nvPr/>
        </p:nvSpPr>
        <p:spPr>
          <a:xfrm>
            <a:off x="8356397" y="1938020"/>
            <a:ext cx="512064" cy="512064"/>
          </a:xfrm>
          <a:prstGeom prst="ellipse">
            <a:avLst/>
          </a:prstGeom>
          <a:solidFill>
            <a:srgbClr val="0969DA"/>
          </a:solidFill>
          <a:ln/>
        </p:spPr>
      </p:sp>
      <p:sp>
        <p:nvSpPr>
          <p:cNvPr id="15" name="Text 12"/>
          <p:cNvSpPr txBox="1"/>
          <p:nvPr/>
        </p:nvSpPr>
        <p:spPr>
          <a:xfrm>
            <a:off x="8356397"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3</a:t>
            </a:r>
            <a:endParaRPr lang="id-ID" sz="2000" dirty="0"/>
          </a:p>
        </p:txBody>
      </p:sp>
      <p:sp>
        <p:nvSpPr>
          <p:cNvPr id="16" name="Text 13"/>
          <p:cNvSpPr txBox="1"/>
          <p:nvPr/>
        </p:nvSpPr>
        <p:spPr>
          <a:xfrm>
            <a:off x="8356397"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Konstruktor anak dan </a:t>
            </a:r>
            <a:r>
              <a:rPr lang="id-ID" altLang="en-US" sz="2200" dirty="0">
                <a:solidFill>
                  <a:srgbClr val="1F2328"/>
                </a:solidFill>
                <a:latin typeface="Consolas" pitchFamily="34" charset="0"/>
                <a:ea typeface="Consolas" pitchFamily="34" charset="-122"/>
                <a:cs typeface="Consolas" pitchFamily="34" charset="-120"/>
              </a:rPr>
              <a:t>super</a:t>
            </a:r>
            <a:endParaRPr lang="id-ID" sz="2200" dirty="0"/>
          </a:p>
        </p:txBody>
      </p:sp>
      <p:sp>
        <p:nvSpPr>
          <p:cNvPr id="17" name="Shape 14"/>
          <p:cNvSpPr/>
          <p:nvPr/>
        </p:nvSpPr>
        <p:spPr>
          <a:xfrm>
            <a:off x="548640" y="3808476"/>
            <a:ext cx="3515258" cy="1824736"/>
          </a:xfrm>
          <a:prstGeom prst="roundRect">
            <a:avLst>
              <a:gd name="adj" fmla="val 3013"/>
            </a:avLst>
          </a:prstGeom>
          <a:solidFill>
            <a:srgbClr val="F6F8FA"/>
          </a:solidFill>
          <a:ln w="9525">
            <a:solidFill>
              <a:srgbClr val="D0D7DE"/>
            </a:solidFill>
            <a:prstDash val="solid"/>
          </a:ln>
        </p:spPr>
      </p:sp>
      <p:sp>
        <p:nvSpPr>
          <p:cNvPr id="18" name="Shape 15"/>
          <p:cNvSpPr/>
          <p:nvPr/>
        </p:nvSpPr>
        <p:spPr>
          <a:xfrm>
            <a:off x="777240" y="4037076"/>
            <a:ext cx="512064" cy="512064"/>
          </a:xfrm>
          <a:prstGeom prst="ellipse">
            <a:avLst/>
          </a:prstGeom>
          <a:solidFill>
            <a:srgbClr val="0969DA"/>
          </a:solidFill>
          <a:ln/>
        </p:spPr>
      </p:sp>
      <p:sp>
        <p:nvSpPr>
          <p:cNvPr id="19" name="Text 16"/>
          <p:cNvSpPr txBox="1"/>
          <p:nvPr/>
        </p:nvSpPr>
        <p:spPr>
          <a:xfrm>
            <a:off x="777240"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4</a:t>
            </a:r>
            <a:endParaRPr lang="id-ID" sz="2000" dirty="0"/>
          </a:p>
        </p:txBody>
      </p:sp>
      <p:sp>
        <p:nvSpPr>
          <p:cNvPr id="20" name="Text 17"/>
          <p:cNvSpPr txBox="1"/>
          <p:nvPr/>
        </p:nvSpPr>
        <p:spPr>
          <a:xfrm>
            <a:off x="777240" y="4677156"/>
            <a:ext cx="3058058" cy="773176"/>
          </a:xfrm>
          <a:prstGeom prst="rect">
            <a:avLst/>
          </a:prstGeom>
          <a:noFill/>
          <a:ln/>
        </p:spPr>
        <p:txBody>
          <a:bodyPr wrap="square" lIns="0" tIns="0" rIns="0" bIns="0" rtlCol="0" anchor="t"/>
          <a:lstStyle/>
          <a:p>
            <a:pPr indent="0" marL="0">
              <a:buNone/>
            </a:pPr>
            <a:r>
              <a:rPr lang="id-ID" altLang="en-US" sz="2200" i="1" dirty="0">
                <a:solidFill>
                  <a:srgbClr val="1F2328"/>
                </a:solidFill>
              </a:rPr>
              <a:t>Override</a:t>
            </a:r>
            <a:r>
              <a:rPr lang="id-ID" altLang="en-US" sz="2200" dirty="0">
                <a:solidFill>
                  <a:srgbClr val="1F2328"/>
                </a:solidFill>
              </a:rPr>
              <a:t>: menimpa </a:t>
            </a:r>
            <a:r>
              <a:rPr lang="id-ID" altLang="en-US" sz="2200" i="1" dirty="0">
                <a:solidFill>
                  <a:srgbClr val="1F2328"/>
                </a:solidFill>
              </a:rPr>
              <a:t>method</a:t>
            </a:r>
            <a:r>
              <a:rPr lang="id-ID" altLang="en-US" sz="2200" dirty="0">
                <a:solidFill>
                  <a:srgbClr val="1F2328"/>
                </a:solidFill>
              </a:rPr>
              <a:t> induk</a:t>
            </a:r>
            <a:endParaRPr lang="id-ID" sz="2200" dirty="0"/>
          </a:p>
        </p:txBody>
      </p:sp>
      <p:sp>
        <p:nvSpPr>
          <p:cNvPr id="21" name="Shape 18"/>
          <p:cNvSpPr/>
          <p:nvPr/>
        </p:nvSpPr>
        <p:spPr>
          <a:xfrm>
            <a:off x="4338218" y="3808476"/>
            <a:ext cx="3515258" cy="1824736"/>
          </a:xfrm>
          <a:prstGeom prst="roundRect">
            <a:avLst>
              <a:gd name="adj" fmla="val 3013"/>
            </a:avLst>
          </a:prstGeom>
          <a:solidFill>
            <a:srgbClr val="F6F8FA"/>
          </a:solidFill>
          <a:ln w="9525">
            <a:solidFill>
              <a:srgbClr val="D0D7DE"/>
            </a:solidFill>
            <a:prstDash val="solid"/>
          </a:ln>
        </p:spPr>
      </p:sp>
      <p:sp>
        <p:nvSpPr>
          <p:cNvPr id="22" name="Shape 19"/>
          <p:cNvSpPr/>
          <p:nvPr/>
        </p:nvSpPr>
        <p:spPr>
          <a:xfrm>
            <a:off x="4566818" y="4037076"/>
            <a:ext cx="512064" cy="512064"/>
          </a:xfrm>
          <a:prstGeom prst="ellipse">
            <a:avLst/>
          </a:prstGeom>
          <a:solidFill>
            <a:srgbClr val="0969DA"/>
          </a:solidFill>
          <a:ln/>
        </p:spPr>
      </p:sp>
      <p:sp>
        <p:nvSpPr>
          <p:cNvPr id="23" name="Text 20"/>
          <p:cNvSpPr txBox="1"/>
          <p:nvPr/>
        </p:nvSpPr>
        <p:spPr>
          <a:xfrm>
            <a:off x="4566818"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5</a:t>
            </a:r>
            <a:endParaRPr lang="id-ID" sz="2000" dirty="0"/>
          </a:p>
        </p:txBody>
      </p:sp>
      <p:sp>
        <p:nvSpPr>
          <p:cNvPr id="24" name="Text 21"/>
          <p:cNvSpPr txBox="1"/>
          <p:nvPr/>
        </p:nvSpPr>
        <p:spPr>
          <a:xfrm>
            <a:off x="4566818"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Hak akses, kelas akar, dan </a:t>
            </a:r>
            <a:r>
              <a:rPr lang="id-ID" altLang="en-US" sz="2200" i="1" dirty="0">
                <a:solidFill>
                  <a:srgbClr val="1F2328"/>
                </a:solidFill>
              </a:rPr>
              <a:t>has-⁠a</a:t>
            </a:r>
            <a:endParaRPr lang="id-ID" sz="2200" dirty="0"/>
          </a:p>
        </p:txBody>
      </p:sp>
      <p:sp>
        <p:nvSpPr>
          <p:cNvPr id="25" name="Shape 22"/>
          <p:cNvSpPr/>
          <p:nvPr/>
        </p:nvSpPr>
        <p:spPr>
          <a:xfrm>
            <a:off x="8127797" y="3808476"/>
            <a:ext cx="3515258" cy="1824736"/>
          </a:xfrm>
          <a:prstGeom prst="roundRect">
            <a:avLst>
              <a:gd name="adj" fmla="val 3013"/>
            </a:avLst>
          </a:prstGeom>
          <a:solidFill>
            <a:srgbClr val="F6F8FA"/>
          </a:solidFill>
          <a:ln w="9525">
            <a:solidFill>
              <a:srgbClr val="D0D7DE"/>
            </a:solidFill>
            <a:prstDash val="solid"/>
          </a:ln>
        </p:spPr>
      </p:sp>
      <p:sp>
        <p:nvSpPr>
          <p:cNvPr id="26" name="Shape 23"/>
          <p:cNvSpPr/>
          <p:nvPr/>
        </p:nvSpPr>
        <p:spPr>
          <a:xfrm>
            <a:off x="8356397" y="4037076"/>
            <a:ext cx="512064" cy="512064"/>
          </a:xfrm>
          <a:prstGeom prst="ellipse">
            <a:avLst/>
          </a:prstGeom>
          <a:solidFill>
            <a:srgbClr val="0969DA"/>
          </a:solidFill>
          <a:ln/>
        </p:spPr>
      </p:sp>
      <p:sp>
        <p:nvSpPr>
          <p:cNvPr id="27" name="Text 24"/>
          <p:cNvSpPr txBox="1"/>
          <p:nvPr/>
        </p:nvSpPr>
        <p:spPr>
          <a:xfrm>
            <a:off x="8356397"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6</a:t>
            </a:r>
            <a:endParaRPr lang="id-ID" sz="2000" dirty="0"/>
          </a:p>
        </p:txBody>
      </p:sp>
      <p:sp>
        <p:nvSpPr>
          <p:cNvPr id="28" name="Text 25"/>
          <p:cNvSpPr txBox="1"/>
          <p:nvPr/>
        </p:nvSpPr>
        <p:spPr>
          <a:xfrm>
            <a:off x="8356397"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Studi kasus KedaiKita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1</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1</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Kode Kembar dan Generalisasi</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Masalah yang muncul saat dua kelas ditulis hampir sama persis.</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Masalah: </a:t>
            </a:r>
            <a:r>
              <a:rPr lang="id-ID" altLang="en-US" sz="3200" b="1" dirty="0">
                <a:solidFill>
                  <a:srgbClr val="0A3069"/>
                </a:solidFill>
                <a:latin typeface="Consolas" pitchFamily="34" charset="0"/>
                <a:ea typeface="Consolas" pitchFamily="34" charset="-122"/>
                <a:cs typeface="Consolas" pitchFamily="34" charset="-120"/>
              </a:rPr>
              <a:t>Makanan</a:t>
            </a:r>
            <a:r>
              <a:rPr lang="id-ID" altLang="en-US" sz="3200" b="1" dirty="0">
                <a:solidFill>
                  <a:srgbClr val="0A3069"/>
                </a:solidFill>
              </a:rPr>
              <a:t> dan </a:t>
            </a:r>
            <a:r>
              <a:rPr lang="id-ID" altLang="en-US" sz="3200" b="1" dirty="0">
                <a:solidFill>
                  <a:srgbClr val="0A3069"/>
                </a:solidFill>
                <a:latin typeface="Consolas" pitchFamily="34" charset="0"/>
                <a:ea typeface="Consolas" pitchFamily="34" charset="-122"/>
                <a:cs typeface="Consolas" pitchFamily="34" charset="-120"/>
              </a:rPr>
              <a:t>Minuman</a:t>
            </a:r>
            <a:r>
              <a:rPr lang="id-ID" altLang="en-US" sz="3200" b="1" dirty="0">
                <a:solidFill>
                  <a:srgbClr val="0A3069"/>
                </a:solidFill>
              </a:rPr>
              <a:t> yang Kembar</a:t>
            </a:r>
            <a:endParaRPr lang="id-ID" sz="3200" dirty="0"/>
          </a:p>
        </p:txBody>
      </p:sp>
      <p:pic>
        <p:nvPicPr>
          <p:cNvPr id="5" name="Image 1" descr="Hampir seluruh isi kedua kotak sama persis. Hanya satu atribut yang berbeda di masing-masing kelas.">    </p:cNvPr>
          <p:cNvPicPr>
            <a:picLocks noChangeAspect="1"/>
          </p:cNvPicPr>
          <p:nvPr/>
        </p:nvPicPr>
        <p:blipFill>
          <a:blip r:embed="rId2"/>
          <a:stretch>
            <a:fillRect/>
          </a:stretch>
        </p:blipFill>
        <p:spPr>
          <a:xfrm>
            <a:off x="1642823" y="1417320"/>
            <a:ext cx="8906049" cy="4308602"/>
          </a:xfrm>
          <a:prstGeom prst="rect">
            <a:avLst/>
          </a:prstGeom>
        </p:spPr>
      </p:pic>
      <p:sp>
        <p:nvSpPr>
          <p:cNvPr id="6" name="Text 2"/>
          <p:cNvSpPr txBox="1"/>
          <p:nvPr/>
        </p:nvSpPr>
        <p:spPr>
          <a:xfrm>
            <a:off x="1005840" y="5835650"/>
            <a:ext cx="10180015" cy="427990"/>
          </a:xfrm>
          <a:prstGeom prst="rect">
            <a:avLst/>
          </a:prstGeom>
          <a:noFill/>
          <a:ln/>
        </p:spPr>
        <p:txBody>
          <a:bodyPr wrap="square" lIns="0" tIns="0" rIns="0" bIns="0" rtlCol="0" anchor="t"/>
          <a:lstStyle/>
          <a:p>
            <a:pPr algn="ctr" indent="0" marL="0">
              <a:buNone/>
            </a:pPr>
            <a:r>
              <a:rPr lang="id-ID" altLang="en-US" sz="1700" dirty="0">
                <a:solidFill>
                  <a:srgbClr val="57606A"/>
                </a:solidFill>
              </a:rPr>
              <a:t>Hampir seluruh isi kedua kotak sama persis. Hanya satu atribut yang berbeda di masing-⁠masing kelas.</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Pewarisan: Kelas Induk dan Kelas Anak</a:t>
            </a:r>
            <a:endParaRPr lang="id-ID" sz="3200" dirty="0"/>
          </a:p>
        </p:txBody>
      </p:sp>
      <p:sp>
        <p:nvSpPr>
          <p:cNvPr id="5" name="Text 2"/>
          <p:cNvSpPr txBox="1"/>
          <p:nvPr/>
        </p:nvSpPr>
        <p:spPr>
          <a:xfrm>
            <a:off x="548640" y="1521546"/>
            <a:ext cx="11094415" cy="548640"/>
          </a:xfrm>
          <a:prstGeom prst="rect">
            <a:avLst/>
          </a:prstGeom>
          <a:noFill/>
          <a:ln/>
        </p:spPr>
        <p:txBody>
          <a:bodyPr wrap="square" lIns="0" tIns="0" rIns="0" bIns="0" rtlCol="0" anchor="t"/>
          <a:lstStyle/>
          <a:p>
            <a:pPr indent="0" marL="0">
              <a:buNone/>
            </a:pPr>
            <a:r>
              <a:rPr lang="id-ID" altLang="en-US" sz="3000" b="1" dirty="0">
                <a:solidFill>
                  <a:srgbClr val="0969DA"/>
                </a:solidFill>
              </a:rPr>
              <a:t>Pewarisan (</a:t>
            </a:r>
            <a:r>
              <a:rPr lang="id-ID" altLang="en-US" sz="3000" b="1" i="1" dirty="0">
                <a:solidFill>
                  <a:srgbClr val="0969DA"/>
                </a:solidFill>
              </a:rPr>
              <a:t>inheritance</a:t>
            </a:r>
            <a:r>
              <a:rPr lang="id-ID" altLang="en-US" sz="3000" b="1" dirty="0">
                <a:solidFill>
                  <a:srgbClr val="0969DA"/>
                </a:solidFill>
              </a:rPr>
              <a:t>)</a:t>
            </a:r>
            <a:endParaRPr lang="id-ID" sz="3000" dirty="0"/>
          </a:p>
        </p:txBody>
      </p:sp>
      <p:sp>
        <p:nvSpPr>
          <p:cNvPr id="6" name="Shape 3"/>
          <p:cNvSpPr/>
          <p:nvPr/>
        </p:nvSpPr>
        <p:spPr>
          <a:xfrm>
            <a:off x="548640" y="2234778"/>
            <a:ext cx="11094415" cy="1261364"/>
          </a:xfrm>
          <a:prstGeom prst="roundRect">
            <a:avLst>
              <a:gd name="adj" fmla="val 6306"/>
            </a:avLst>
          </a:prstGeom>
          <a:solidFill>
            <a:srgbClr val="DDF4FF"/>
          </a:solidFill>
          <a:ln w="9525">
            <a:solidFill>
              <a:srgbClr val="54AEFF"/>
            </a:solidFill>
            <a:prstDash val="solid"/>
          </a:ln>
        </p:spPr>
      </p:sp>
      <p:sp>
        <p:nvSpPr>
          <p:cNvPr id="7" name="Shape 4"/>
          <p:cNvSpPr/>
          <p:nvPr/>
        </p:nvSpPr>
        <p:spPr>
          <a:xfrm>
            <a:off x="804672" y="2591140"/>
            <a:ext cx="548640" cy="548640"/>
          </a:xfrm>
          <a:prstGeom prst="ellipse">
            <a:avLst/>
          </a:prstGeom>
          <a:solidFill>
            <a:srgbClr val="0969DA"/>
          </a:solidFill>
          <a:ln/>
        </p:spPr>
      </p:sp>
      <p:pic>
        <p:nvPicPr>
          <p:cNvPr id="8" name="Image 1" descr="preencoded.png">    </p:cNvPr>
          <p:cNvPicPr>
            <a:picLocks noChangeAspect="1"/>
          </p:cNvPicPr>
          <p:nvPr/>
        </p:nvPicPr>
        <p:blipFill>
          <a:blip r:embed="rId2"/>
          <a:stretch>
            <a:fillRect/>
          </a:stretch>
        </p:blipFill>
        <p:spPr>
          <a:xfrm>
            <a:off x="925373" y="2711841"/>
            <a:ext cx="307238" cy="307238"/>
          </a:xfrm>
          <a:prstGeom prst="rect">
            <a:avLst/>
          </a:prstGeom>
        </p:spPr>
      </p:pic>
      <p:sp>
        <p:nvSpPr>
          <p:cNvPr id="9" name="Text 5"/>
          <p:cNvSpPr txBox="1"/>
          <p:nvPr/>
        </p:nvSpPr>
        <p:spPr>
          <a:xfrm>
            <a:off x="1554480" y="2509098"/>
            <a:ext cx="9859975" cy="895604"/>
          </a:xfrm>
          <a:prstGeom prst="rect">
            <a:avLst/>
          </a:prstGeom>
          <a:noFill/>
          <a:ln/>
        </p:spPr>
        <p:txBody>
          <a:bodyPr wrap="square" lIns="0" tIns="0" rIns="0" bIns="0" rtlCol="0" anchor="t"/>
          <a:lstStyle/>
          <a:p>
            <a:pPr indent="0" marL="0">
              <a:buNone/>
            </a:pPr>
            <a:r>
              <a:rPr lang="id-ID" altLang="en-US" sz="2300" dirty="0">
                <a:solidFill>
                  <a:srgbClr val="1F2328"/>
                </a:solidFill>
              </a:rPr>
              <a:t>Mekanisme ketika sebuah kelas </a:t>
            </a:r>
            <a:r>
              <a:rPr lang="id-ID" altLang="en-US" sz="2300" b="1" dirty="0">
                <a:solidFill>
                  <a:srgbClr val="1F2328"/>
                </a:solidFill>
              </a:rPr>
              <a:t>mewarisi</a:t>
            </a:r>
            <a:r>
              <a:rPr lang="id-ID" altLang="en-US" sz="2300" dirty="0">
                <a:solidFill>
                  <a:srgbClr val="1F2328"/>
                </a:solidFill>
              </a:rPr>
              <a:t> atribut dan </a:t>
            </a:r>
            <a:r>
              <a:rPr lang="id-ID" altLang="en-US" sz="2300" i="1" dirty="0">
                <a:solidFill>
                  <a:srgbClr val="1F2328"/>
                </a:solidFill>
              </a:rPr>
              <a:t>method</a:t>
            </a:r>
            <a:r>
              <a:rPr lang="id-ID" altLang="en-US" sz="2300" dirty="0">
                <a:solidFill>
                  <a:srgbClr val="1F2328"/>
                </a:solidFill>
              </a:rPr>
              <a:t> dari kelas lain, lalu boleh </a:t>
            </a:r>
            <a:r>
              <a:rPr lang="id-ID" altLang="en-US" sz="2300" b="1" dirty="0">
                <a:solidFill>
                  <a:srgbClr val="1F2328"/>
                </a:solidFill>
              </a:rPr>
              <a:t>menambah</a:t>
            </a:r>
            <a:r>
              <a:rPr lang="id-ID" altLang="en-US" sz="2300" dirty="0">
                <a:solidFill>
                  <a:srgbClr val="1F2328"/>
                </a:solidFill>
              </a:rPr>
              <a:t> atau </a:t>
            </a:r>
            <a:r>
              <a:rPr lang="id-ID" altLang="en-US" sz="2300" b="1" dirty="0">
                <a:solidFill>
                  <a:srgbClr val="1F2328"/>
                </a:solidFill>
              </a:rPr>
              <a:t>mengubah</a:t>
            </a:r>
            <a:r>
              <a:rPr lang="id-ID" altLang="en-US" sz="2300" dirty="0">
                <a:solidFill>
                  <a:srgbClr val="1F2328"/>
                </a:solidFill>
              </a:rPr>
              <a:t> sebagiannya.</a:t>
            </a:r>
            <a:endParaRPr lang="id-ID" sz="2300" dirty="0"/>
          </a:p>
        </p:txBody>
      </p:sp>
      <p:sp>
        <p:nvSpPr>
          <p:cNvPr id="10" name="Shape 6"/>
          <p:cNvSpPr/>
          <p:nvPr/>
        </p:nvSpPr>
        <p:spPr>
          <a:xfrm>
            <a:off x="603504" y="4047449"/>
            <a:ext cx="137160" cy="137160"/>
          </a:xfrm>
          <a:prstGeom prst="roundRect">
            <a:avLst>
              <a:gd name="adj" fmla="val 166667"/>
            </a:avLst>
          </a:prstGeom>
          <a:solidFill>
            <a:srgbClr val="0969DA"/>
          </a:solidFill>
          <a:ln/>
        </p:spPr>
      </p:sp>
      <p:sp>
        <p:nvSpPr>
          <p:cNvPr id="11" name="Text 7"/>
          <p:cNvSpPr txBox="1"/>
          <p:nvPr/>
        </p:nvSpPr>
        <p:spPr>
          <a:xfrm>
            <a:off x="932688" y="3953342"/>
            <a:ext cx="10710367" cy="371094"/>
          </a:xfrm>
          <a:prstGeom prst="rect">
            <a:avLst/>
          </a:prstGeom>
          <a:noFill/>
          <a:ln/>
        </p:spPr>
        <p:txBody>
          <a:bodyPr wrap="square" lIns="0" tIns="0" rIns="0" bIns="0" rtlCol="0" anchor="t"/>
          <a:lstStyle/>
          <a:p>
            <a:pPr indent="0" marL="0">
              <a:buNone/>
            </a:pPr>
            <a:r>
              <a:rPr lang="id-ID" altLang="en-US" sz="2100" dirty="0">
                <a:solidFill>
                  <a:srgbClr val="1F2328"/>
                </a:solidFill>
              </a:rPr>
              <a:t>Yang mewariskan disebut </a:t>
            </a:r>
            <a:r>
              <a:rPr lang="id-ID" altLang="en-US" sz="2100" b="1" dirty="0">
                <a:solidFill>
                  <a:srgbClr val="1F2328"/>
                </a:solidFill>
              </a:rPr>
              <a:t>kelas induk</a:t>
            </a:r>
            <a:r>
              <a:rPr lang="id-ID" altLang="en-US" sz="2100" dirty="0">
                <a:solidFill>
                  <a:srgbClr val="1F2328"/>
                </a:solidFill>
              </a:rPr>
              <a:t> (</a:t>
            </a:r>
            <a:r>
              <a:rPr lang="id-ID" altLang="en-US" sz="2100" i="1" dirty="0">
                <a:solidFill>
                  <a:srgbClr val="1F2328"/>
                </a:solidFill>
              </a:rPr>
              <a:t>superclass</a:t>
            </a:r>
            <a:r>
              <a:rPr lang="id-ID" altLang="en-US" sz="2100" dirty="0">
                <a:solidFill>
                  <a:srgbClr val="1F2328"/>
                </a:solidFill>
              </a:rPr>
              <a:t>); yang mewarisi disebut </a:t>
            </a:r>
            <a:r>
              <a:rPr lang="id-ID" altLang="en-US" sz="2100" b="1" dirty="0">
                <a:solidFill>
                  <a:srgbClr val="1F2328"/>
                </a:solidFill>
              </a:rPr>
              <a:t>kelas anak</a:t>
            </a:r>
            <a:r>
              <a:rPr lang="id-ID" altLang="en-US" sz="2100" dirty="0">
                <a:solidFill>
                  <a:srgbClr val="1F2328"/>
                </a:solidFill>
              </a:rPr>
              <a:t> (</a:t>
            </a:r>
            <a:r>
              <a:rPr lang="id-ID" altLang="en-US" sz="2100" i="1" dirty="0">
                <a:solidFill>
                  <a:srgbClr val="1F2328"/>
                </a:solidFill>
              </a:rPr>
              <a:t>subclass</a:t>
            </a:r>
            <a:r>
              <a:rPr lang="id-ID" altLang="en-US" sz="2100" dirty="0">
                <a:solidFill>
                  <a:srgbClr val="1F2328"/>
                </a:solidFill>
              </a:rPr>
              <a:t>).</a:t>
            </a:r>
            <a:endParaRPr lang="id-ID" sz="2100" dirty="0"/>
          </a:p>
        </p:txBody>
      </p:sp>
      <p:sp>
        <p:nvSpPr>
          <p:cNvPr id="12" name="Shape 8"/>
          <p:cNvSpPr/>
          <p:nvPr/>
        </p:nvSpPr>
        <p:spPr>
          <a:xfrm>
            <a:off x="603504" y="4610567"/>
            <a:ext cx="137160" cy="137160"/>
          </a:xfrm>
          <a:prstGeom prst="roundRect">
            <a:avLst>
              <a:gd name="adj" fmla="val 166667"/>
            </a:avLst>
          </a:prstGeom>
          <a:solidFill>
            <a:srgbClr val="0969DA"/>
          </a:solidFill>
          <a:ln/>
        </p:spPr>
      </p:sp>
      <p:sp>
        <p:nvSpPr>
          <p:cNvPr id="13" name="Text 9"/>
          <p:cNvSpPr txBox="1"/>
          <p:nvPr/>
        </p:nvSpPr>
        <p:spPr>
          <a:xfrm>
            <a:off x="932688" y="4516460"/>
            <a:ext cx="10710367" cy="696468"/>
          </a:xfrm>
          <a:prstGeom prst="rect">
            <a:avLst/>
          </a:prstGeom>
          <a:noFill/>
          <a:ln/>
        </p:spPr>
        <p:txBody>
          <a:bodyPr wrap="square" lIns="0" tIns="0" rIns="0" bIns="0" rtlCol="0" anchor="t"/>
          <a:lstStyle/>
          <a:p>
            <a:pPr indent="0" marL="0">
              <a:buNone/>
            </a:pPr>
            <a:r>
              <a:rPr lang="id-ID" altLang="en-US" sz="2100" b="1" dirty="0">
                <a:solidFill>
                  <a:srgbClr val="1F2328"/>
                </a:solidFill>
              </a:rPr>
              <a:t>Generalisasi</a:t>
            </a:r>
            <a:r>
              <a:rPr lang="id-ID" altLang="en-US" sz="2100" dirty="0">
                <a:solidFill>
                  <a:srgbClr val="1F2328"/>
                </a:solidFill>
              </a:rPr>
              <a:t>: mengumpulkan bagian yang sama ke induk. </a:t>
            </a:r>
            <a:r>
              <a:rPr lang="id-ID" altLang="en-US" sz="2100" b="1" dirty="0">
                <a:solidFill>
                  <a:srgbClr val="1F2328"/>
                </a:solidFill>
              </a:rPr>
              <a:t>Spesialisasi</a:t>
            </a:r>
            <a:r>
              <a:rPr lang="id-ID" altLang="en-US" sz="2100" dirty="0">
                <a:solidFill>
                  <a:srgbClr val="1F2328"/>
                </a:solidFill>
              </a:rPr>
              <a:t>: membuat anak yang lebih khusus.</a:t>
            </a:r>
            <a:endParaRPr lang="id-ID" sz="2100" dirty="0"/>
          </a:p>
        </p:txBody>
      </p:sp>
      <p:sp>
        <p:nvSpPr>
          <p:cNvPr id="14" name="Shape 10"/>
          <p:cNvSpPr/>
          <p:nvPr/>
        </p:nvSpPr>
        <p:spPr>
          <a:xfrm>
            <a:off x="603504" y="5499059"/>
            <a:ext cx="137160" cy="137160"/>
          </a:xfrm>
          <a:prstGeom prst="roundRect">
            <a:avLst>
              <a:gd name="adj" fmla="val 166667"/>
            </a:avLst>
          </a:prstGeom>
          <a:solidFill>
            <a:srgbClr val="0969DA"/>
          </a:solidFill>
          <a:ln/>
        </p:spPr>
      </p:sp>
      <p:sp>
        <p:nvSpPr>
          <p:cNvPr id="15" name="Text 11"/>
          <p:cNvSpPr txBox="1"/>
          <p:nvPr/>
        </p:nvSpPr>
        <p:spPr>
          <a:xfrm>
            <a:off x="932688" y="5404952"/>
            <a:ext cx="10710367" cy="696468"/>
          </a:xfrm>
          <a:prstGeom prst="rect">
            <a:avLst/>
          </a:prstGeom>
          <a:noFill/>
          <a:ln/>
        </p:spPr>
        <p:txBody>
          <a:bodyPr wrap="square" lIns="0" tIns="0" rIns="0" bIns="0" rtlCol="0" anchor="t"/>
          <a:lstStyle/>
          <a:p>
            <a:pPr indent="0" marL="0">
              <a:buNone/>
            </a:pPr>
            <a:r>
              <a:rPr lang="id-ID" altLang="en-US" sz="2100" dirty="0">
                <a:solidFill>
                  <a:srgbClr val="1F2328"/>
                </a:solidFill>
              </a:rPr>
              <a:t>Sintaksnya: </a:t>
            </a:r>
            <a:r>
              <a:rPr lang="id-ID" altLang="en-US" sz="2100" dirty="0">
                <a:solidFill>
                  <a:srgbClr val="1F2328"/>
                </a:solidFill>
                <a:latin typeface="Consolas" pitchFamily="34" charset="0"/>
                <a:ea typeface="Consolas" pitchFamily="34" charset="-122"/>
                <a:cs typeface="Consolas" pitchFamily="34" charset="-120"/>
              </a:rPr>
              <a:t>class Makanan(Menu):</a:t>
            </a:r>
            <a:r>
              <a:rPr lang="id-ID" altLang="en-US" sz="2100" dirty="0">
                <a:solidFill>
                  <a:srgbClr val="1F2328"/>
                </a:solidFill>
              </a:rPr>
              <a:t> di Python, </a:t>
            </a:r>
            <a:r>
              <a:rPr lang="id-ID" altLang="en-US" sz="2100" dirty="0">
                <a:solidFill>
                  <a:srgbClr val="1F2328"/>
                </a:solidFill>
                <a:latin typeface="Consolas" pitchFamily="34" charset="0"/>
                <a:ea typeface="Consolas" pitchFamily="34" charset="-122"/>
                <a:cs typeface="Consolas" pitchFamily="34" charset="-120"/>
              </a:rPr>
              <a:t>class Makanan extends Menu</a:t>
            </a:r>
            <a:r>
              <a:rPr lang="id-ID" altLang="en-US" sz="2100" dirty="0">
                <a:solidFill>
                  <a:srgbClr val="1F2328"/>
                </a:solidFill>
              </a:rPr>
              <a:t> di Java.</a:t>
            </a:r>
            <a:endParaRPr lang="id-ID" sz="2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2</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2</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Relasi “Adalah” (</a:t>
            </a:r>
            <a:r>
              <a:rPr lang="id-ID" altLang="en-US" sz="4200" b="1" i="1" dirty="0">
                <a:solidFill>
                  <a:srgbClr val="FFFFFF"/>
                </a:solidFill>
              </a:rPr>
              <a:t>Is-⁠a</a:t>
            </a:r>
            <a:r>
              <a:rPr lang="id-ID" altLang="en-US" sz="4200" b="1" dirty="0">
                <a:solidFill>
                  <a:srgbClr val="FFFFFF"/>
                </a:solidFill>
              </a:rPr>
              <a:t>)</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Kapan sebuah kelas boleh menjadi anak kelas lain?</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Uji Kalimat “X Adalah Y”</a:t>
            </a:r>
            <a:endParaRPr lang="id-ID"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34520"/>
          <a:ext cx="11094415" cy="914400"/>
        </p:xfrm>
        <a:graphic>
          <a:graphicData uri="http://schemas.openxmlformats.org/drawingml/2006/table">
            <a:tbl>
              <a:tblPr/>
              <a:tblGrid>
                <a:gridCol w="3418259"/>
                <a:gridCol w="1057114"/>
                <a:gridCol w="6619041"/>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Kalimat uji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Benar?</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Kesimpulan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Makanan </a:t>
                      </a:r>
                      <a:r>
                        <a:rPr lang="id-ID" altLang="en-US" sz="2200" b="1" dirty="0">
                          <a:solidFill>
                            <a:srgbClr val="1F2328"/>
                          </a:solidFill>
                          <a:latin typeface="Calibri" pitchFamily="34" charset="0"/>
                          <a:ea typeface="Calibri" pitchFamily="34" charset="-122"/>
                          <a:cs typeface="Calibri" pitchFamily="34" charset="-120"/>
                        </a:rPr>
                        <a:t>adalah</a:t>
                      </a:r>
                      <a:r>
                        <a:rPr lang="id-ID" altLang="en-US" sz="2200" dirty="0">
                          <a:solidFill>
                            <a:srgbClr val="1F2328"/>
                          </a:solidFill>
                          <a:latin typeface="Calibri" pitchFamily="34" charset="0"/>
                          <a:ea typeface="Calibri" pitchFamily="34" charset="-122"/>
                          <a:cs typeface="Calibri" pitchFamily="34" charset="-120"/>
                        </a:rPr>
                        <a:t> Menu</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ya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Makanan</a:t>
                      </a:r>
                      <a:r>
                        <a:rPr lang="id-ID" altLang="en-US" sz="2200" dirty="0">
                          <a:solidFill>
                            <a:srgbClr val="1F2328"/>
                          </a:solidFill>
                          <a:latin typeface="Calibri" pitchFamily="34" charset="0"/>
                          <a:ea typeface="Calibri" pitchFamily="34" charset="-122"/>
                          <a:cs typeface="Calibri" pitchFamily="34" charset="-120"/>
                        </a:rPr>
                        <a:t> boleh menjadi anak </a:t>
                      </a:r>
                      <a:r>
                        <a:rPr lang="id-ID" altLang="en-US" sz="2200" dirty="0">
                          <a:solidFill>
                            <a:srgbClr val="0A3069"/>
                          </a:solidFill>
                          <a:latin typeface="Consolas" pitchFamily="34" charset="0"/>
                          <a:ea typeface="Consolas" pitchFamily="34" charset="-122"/>
                          <a:cs typeface="Consolas" pitchFamily="34" charset="-120"/>
                        </a:rPr>
                        <a:t>Menu</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Dosen </a:t>
                      </a:r>
                      <a:r>
                        <a:rPr lang="id-ID" altLang="en-US" sz="2200" b="1" dirty="0">
                          <a:solidFill>
                            <a:srgbClr val="1F2328"/>
                          </a:solidFill>
                          <a:latin typeface="Calibri" pitchFamily="34" charset="0"/>
                          <a:ea typeface="Calibri" pitchFamily="34" charset="-122"/>
                          <a:cs typeface="Calibri" pitchFamily="34" charset="-120"/>
                        </a:rPr>
                        <a:t>adalah</a:t>
                      </a:r>
                      <a:r>
                        <a:rPr lang="id-ID" altLang="en-US" sz="2200" dirty="0">
                          <a:solidFill>
                            <a:srgbClr val="1F2328"/>
                          </a:solidFill>
                          <a:latin typeface="Calibri" pitchFamily="34" charset="0"/>
                          <a:ea typeface="Calibri" pitchFamily="34" charset="-122"/>
                          <a:cs typeface="Calibri" pitchFamily="34" charset="-120"/>
                        </a:rPr>
                        <a:t> Pegawai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ya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Dosen</a:t>
                      </a:r>
                      <a:r>
                        <a:rPr lang="id-ID" altLang="en-US" sz="2200" dirty="0">
                          <a:solidFill>
                            <a:srgbClr val="1F2328"/>
                          </a:solidFill>
                          <a:latin typeface="Calibri" pitchFamily="34" charset="0"/>
                          <a:ea typeface="Calibri" pitchFamily="34" charset="-122"/>
                          <a:cs typeface="Calibri" pitchFamily="34" charset="-120"/>
                        </a:rPr>
                        <a:t> boleh menjadi anak </a:t>
                      </a:r>
                      <a:r>
                        <a:rPr lang="id-ID" altLang="en-US" sz="2200" dirty="0">
                          <a:solidFill>
                            <a:srgbClr val="0A3069"/>
                          </a:solidFill>
                          <a:latin typeface="Consolas" pitchFamily="34" charset="0"/>
                          <a:ea typeface="Consolas" pitchFamily="34" charset="-122"/>
                          <a:cs typeface="Consolas" pitchFamily="34" charset="-120"/>
                        </a:rPr>
                        <a:t>Pegawai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Laptop </a:t>
                      </a:r>
                      <a:r>
                        <a:rPr lang="id-ID" altLang="en-US" sz="2200" b="1" dirty="0">
                          <a:solidFill>
                            <a:srgbClr val="1F2328"/>
                          </a:solidFill>
                          <a:latin typeface="Calibri" pitchFamily="34" charset="0"/>
                          <a:ea typeface="Calibri" pitchFamily="34" charset="-122"/>
                          <a:cs typeface="Calibri" pitchFamily="34" charset="-120"/>
                        </a:rPr>
                        <a:t>adalah</a:t>
                      </a:r>
                      <a:r>
                        <a:rPr lang="id-ID" altLang="en-US" sz="2200" dirty="0">
                          <a:solidFill>
                            <a:srgbClr val="1F2328"/>
                          </a:solidFill>
                          <a:latin typeface="Calibri" pitchFamily="34" charset="0"/>
                          <a:ea typeface="Calibri" pitchFamily="34" charset="-122"/>
                          <a:cs typeface="Calibri" pitchFamily="34" charset="-120"/>
                        </a:rPr>
                        <a:t> Komputer</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ya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Laptop</a:t>
                      </a:r>
                      <a:r>
                        <a:rPr lang="id-ID" altLang="en-US" sz="2200" dirty="0">
                          <a:solidFill>
                            <a:srgbClr val="1F2328"/>
                          </a:solidFill>
                          <a:latin typeface="Calibri" pitchFamily="34" charset="0"/>
                          <a:ea typeface="Calibri" pitchFamily="34" charset="-122"/>
                          <a:cs typeface="Calibri" pitchFamily="34" charset="-120"/>
                        </a:rPr>
                        <a:t> boleh menjadi anak </a:t>
                      </a:r>
                      <a:r>
                        <a:rPr lang="id-ID" altLang="en-US" sz="2200" dirty="0">
                          <a:solidFill>
                            <a:srgbClr val="0A3069"/>
                          </a:solidFill>
                          <a:latin typeface="Consolas" pitchFamily="34" charset="0"/>
                          <a:ea typeface="Consolas" pitchFamily="34" charset="-122"/>
                          <a:cs typeface="Consolas" pitchFamily="34" charset="-120"/>
                        </a:rPr>
                        <a:t>Komputer</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Menu </a:t>
                      </a:r>
                      <a:r>
                        <a:rPr lang="id-ID" altLang="en-US" sz="2200" b="1" dirty="0">
                          <a:solidFill>
                            <a:srgbClr val="1F2328"/>
                          </a:solidFill>
                          <a:latin typeface="Calibri" pitchFamily="34" charset="0"/>
                          <a:ea typeface="Calibri" pitchFamily="34" charset="-122"/>
                          <a:cs typeface="Calibri" pitchFamily="34" charset="-120"/>
                        </a:rPr>
                        <a:t>adalah</a:t>
                      </a:r>
                      <a:r>
                        <a:rPr lang="id-ID" altLang="en-US" sz="2200" dirty="0">
                          <a:solidFill>
                            <a:srgbClr val="1F2328"/>
                          </a:solidFill>
                          <a:latin typeface="Calibri" pitchFamily="34" charset="0"/>
                          <a:ea typeface="Calibri" pitchFamily="34" charset="-122"/>
                          <a:cs typeface="Calibri" pitchFamily="34" charset="-120"/>
                        </a:rPr>
                        <a:t> Makanan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tidak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Arahnya terbalik: tidak semua menu adalah makanan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Mobil </a:t>
                      </a:r>
                      <a:r>
                        <a:rPr lang="id-ID" altLang="en-US" sz="2200" b="1" dirty="0">
                          <a:solidFill>
                            <a:srgbClr val="1F2328"/>
                          </a:solidFill>
                          <a:latin typeface="Calibri" pitchFamily="34" charset="0"/>
                          <a:ea typeface="Calibri" pitchFamily="34" charset="-122"/>
                          <a:cs typeface="Calibri" pitchFamily="34" charset="-120"/>
                        </a:rPr>
                        <a:t>adalah</a:t>
                      </a:r>
                      <a:r>
                        <a:rPr lang="id-ID" altLang="en-US" sz="2200" dirty="0">
                          <a:solidFill>
                            <a:srgbClr val="1F2328"/>
                          </a:solidFill>
                          <a:latin typeface="Calibri" pitchFamily="34" charset="0"/>
                          <a:ea typeface="Calibri" pitchFamily="34" charset="-122"/>
                          <a:cs typeface="Calibri" pitchFamily="34" charset="-120"/>
                        </a:rPr>
                        <a:t> Mesin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tidak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Mobil </a:t>
                      </a:r>
                      <a:r>
                        <a:rPr lang="id-ID" altLang="en-US" sz="2200" b="1" dirty="0">
                          <a:solidFill>
                            <a:srgbClr val="1F2328"/>
                          </a:solidFill>
                          <a:latin typeface="Calibri" pitchFamily="34" charset="0"/>
                          <a:ea typeface="Calibri" pitchFamily="34" charset="-122"/>
                          <a:cs typeface="Calibri" pitchFamily="34" charset="-120"/>
                        </a:rPr>
                        <a:t>punya</a:t>
                      </a:r>
                      <a:r>
                        <a:rPr lang="id-ID" altLang="en-US" sz="2200" dirty="0">
                          <a:solidFill>
                            <a:srgbClr val="1F2328"/>
                          </a:solidFill>
                          <a:latin typeface="Calibri" pitchFamily="34" charset="0"/>
                          <a:ea typeface="Calibri" pitchFamily="34" charset="-122"/>
                          <a:cs typeface="Calibri" pitchFamily="34" charset="-120"/>
                        </a:rPr>
                        <a:t> mesin (dibahas di bagian 5)</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Pesanan </a:t>
                      </a:r>
                      <a:r>
                        <a:rPr lang="id-ID" altLang="en-US" sz="2200" b="1" dirty="0">
                          <a:solidFill>
                            <a:srgbClr val="1F2328"/>
                          </a:solidFill>
                          <a:latin typeface="Calibri" pitchFamily="34" charset="0"/>
                          <a:ea typeface="Calibri" pitchFamily="34" charset="-122"/>
                          <a:cs typeface="Calibri" pitchFamily="34" charset="-120"/>
                        </a:rPr>
                        <a:t>adalah</a:t>
                      </a:r>
                      <a:r>
                        <a:rPr lang="id-ID" altLang="en-US" sz="2200" dirty="0">
                          <a:solidFill>
                            <a:srgbClr val="1F2328"/>
                          </a:solidFill>
                          <a:latin typeface="Calibri" pitchFamily="34" charset="0"/>
                          <a:ea typeface="Calibri" pitchFamily="34" charset="-122"/>
                          <a:cs typeface="Calibri" pitchFamily="34" charset="-120"/>
                        </a:rPr>
                        <a:t> Pelanggan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tidak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Pesanan </a:t>
                      </a:r>
                      <a:r>
                        <a:rPr lang="id-ID" altLang="en-US" sz="2200" b="1" dirty="0">
                          <a:solidFill>
                            <a:srgbClr val="1F2328"/>
                          </a:solidFill>
                          <a:latin typeface="Calibri" pitchFamily="34" charset="0"/>
                          <a:ea typeface="Calibri" pitchFamily="34" charset="-122"/>
                          <a:cs typeface="Calibri" pitchFamily="34" charset="-120"/>
                        </a:rPr>
                        <a:t>milik</a:t>
                      </a:r>
                      <a:r>
                        <a:rPr lang="id-ID" altLang="en-US" sz="2200" dirty="0">
                          <a:solidFill>
                            <a:srgbClr val="1F2328"/>
                          </a:solidFill>
                          <a:latin typeface="Calibri" pitchFamily="34" charset="0"/>
                          <a:ea typeface="Calibri" pitchFamily="34" charset="-122"/>
                          <a:cs typeface="Calibri" pitchFamily="34" charset="-120"/>
                        </a:rPr>
                        <a:t> pelanggan (asosiasi, Pertemuan 05)</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547644"/>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620065"/>
            <a:ext cx="184343" cy="184343"/>
          </a:xfrm>
          <a:prstGeom prst="rect">
            <a:avLst/>
          </a:prstGeom>
        </p:spPr>
      </p:pic>
      <p:sp>
        <p:nvSpPr>
          <p:cNvPr id="8" name="Text 3"/>
          <p:cNvSpPr txBox="1"/>
          <p:nvPr/>
        </p:nvSpPr>
        <p:spPr>
          <a:xfrm>
            <a:off x="1005840" y="5529356"/>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Jika kalimat “X adalah Y” benar untuk </a:t>
            </a:r>
            <a:r>
              <a:rPr lang="id-ID" altLang="en-US" sz="1800" b="1" dirty="0">
                <a:solidFill>
                  <a:srgbClr val="57606A"/>
                </a:solidFill>
              </a:rPr>
              <a:t>setiap</a:t>
            </a:r>
            <a:r>
              <a:rPr lang="id-ID" altLang="en-US" sz="1800" dirty="0">
                <a:solidFill>
                  <a:srgbClr val="57606A"/>
                </a:solidFill>
              </a:rPr>
              <a:t> X, pewarisan layak dipertimbangkan.</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Kelas Anak Berada di dalam Kelas Induk</a:t>
            </a:r>
            <a:endParaRPr lang="id-ID" sz="3200" dirty="0"/>
          </a:p>
        </p:txBody>
      </p:sp>
      <p:pic>
        <p:nvPicPr>
          <p:cNvPr id="5" name="Image 1" descr="Setiap kelas adalah himpunan objek. Arahnya hanya ke atas: setiap Minuman adalah Menu, tetapi tidak setiap Menu adalah Minuman.">    </p:cNvPr>
          <p:cNvPicPr>
            <a:picLocks noChangeAspect="1"/>
          </p:cNvPicPr>
          <p:nvPr/>
        </p:nvPicPr>
        <p:blipFill>
          <a:blip r:embed="rId2"/>
          <a:stretch>
            <a:fillRect/>
          </a:stretch>
        </p:blipFill>
        <p:spPr>
          <a:xfrm>
            <a:off x="1159990" y="1417320"/>
            <a:ext cx="9871716" cy="4072636"/>
          </a:xfrm>
          <a:prstGeom prst="rect">
            <a:avLst/>
          </a:prstGeom>
        </p:spPr>
      </p:pic>
      <p:sp>
        <p:nvSpPr>
          <p:cNvPr id="6" name="Text 2"/>
          <p:cNvSpPr txBox="1"/>
          <p:nvPr/>
        </p:nvSpPr>
        <p:spPr>
          <a:xfrm>
            <a:off x="1005840" y="5599684"/>
            <a:ext cx="10180015" cy="663956"/>
          </a:xfrm>
          <a:prstGeom prst="rect">
            <a:avLst/>
          </a:prstGeom>
          <a:noFill/>
          <a:ln/>
        </p:spPr>
        <p:txBody>
          <a:bodyPr wrap="square" lIns="0" tIns="0" rIns="0" bIns="0" rtlCol="0" anchor="t"/>
          <a:lstStyle/>
          <a:p>
            <a:pPr algn="ctr" indent="0" marL="0">
              <a:buNone/>
            </a:pPr>
            <a:r>
              <a:rPr lang="id-ID" altLang="en-US" sz="1700" dirty="0">
                <a:solidFill>
                  <a:srgbClr val="57606A"/>
                </a:solidFill>
              </a:rPr>
              <a:t>Setiap kelas adalah himpunan objek. Arahnya hanya ke atas: setiap </a:t>
            </a:r>
            <a:r>
              <a:rPr lang="id-ID" altLang="en-US" sz="1700" dirty="0">
                <a:solidFill>
                  <a:srgbClr val="57606A"/>
                </a:solidFill>
                <a:latin typeface="Consolas" pitchFamily="34" charset="0"/>
                <a:ea typeface="Consolas" pitchFamily="34" charset="-122"/>
                <a:cs typeface="Consolas" pitchFamily="34" charset="-120"/>
              </a:rPr>
              <a:t>Minuman</a:t>
            </a:r>
            <a:r>
              <a:rPr lang="id-ID" altLang="en-US" sz="1700" dirty="0">
                <a:solidFill>
                  <a:srgbClr val="57606A"/>
                </a:solidFill>
              </a:rPr>
              <a:t> adalah </a:t>
            </a:r>
            <a:r>
              <a:rPr lang="id-ID" altLang="en-US" sz="1700" dirty="0">
                <a:solidFill>
                  <a:srgbClr val="57606A"/>
                </a:solidFill>
                <a:latin typeface="Consolas" pitchFamily="34" charset="0"/>
                <a:ea typeface="Consolas" pitchFamily="34" charset="-122"/>
                <a:cs typeface="Consolas" pitchFamily="34" charset="-120"/>
              </a:rPr>
              <a:t>Menu</a:t>
            </a:r>
            <a:r>
              <a:rPr lang="id-ID" altLang="en-US" sz="1700" dirty="0">
                <a:solidFill>
                  <a:srgbClr val="57606A"/>
                </a:solidFill>
              </a:rPr>
              <a:t>, tetapi tidak setiap </a:t>
            </a:r>
            <a:r>
              <a:rPr lang="id-ID" altLang="en-US" sz="1700" dirty="0">
                <a:solidFill>
                  <a:srgbClr val="57606A"/>
                </a:solidFill>
                <a:latin typeface="Consolas" pitchFamily="34" charset="0"/>
                <a:ea typeface="Consolas" pitchFamily="34" charset="-122"/>
                <a:cs typeface="Consolas" pitchFamily="34" charset="-120"/>
              </a:rPr>
              <a:t>Menu</a:t>
            </a:r>
            <a:r>
              <a:rPr lang="id-ID" altLang="en-US" sz="1700" dirty="0">
                <a:solidFill>
                  <a:srgbClr val="57606A"/>
                </a:solidFill>
              </a:rPr>
              <a:t> adalah </a:t>
            </a:r>
            <a:r>
              <a:rPr lang="id-ID" altLang="en-US" sz="1700" dirty="0">
                <a:solidFill>
                  <a:srgbClr val="57606A"/>
                </a:solidFill>
                <a:latin typeface="Consolas" pitchFamily="34" charset="0"/>
                <a:ea typeface="Consolas" pitchFamily="34" charset="-122"/>
                <a:cs typeface="Consolas" pitchFamily="34" charset="-120"/>
              </a:rPr>
              <a:t>Minuman</a:t>
            </a:r>
            <a:r>
              <a:rPr lang="id-ID" altLang="en-US" sz="1700" dirty="0">
                <a:solidFill>
                  <a:srgbClr val="57606A"/>
                </a:solidFill>
              </a:rPr>
              <a:t>.</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3</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3</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Konstruktor Anak dan </a:t>
            </a:r>
            <a:r>
              <a:rPr lang="id-ID" altLang="en-US" sz="4200" b="1" dirty="0">
                <a:solidFill>
                  <a:srgbClr val="FFFFFF"/>
                </a:solidFill>
                <a:latin typeface="Consolas" pitchFamily="34" charset="0"/>
                <a:ea typeface="Consolas" pitchFamily="34" charset="-122"/>
                <a:cs typeface="Consolas" pitchFamily="34" charset="-120"/>
              </a:rPr>
              <a:t>super</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Siapa yang mengisi lapis induk saat objek anak dibuat?</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Konstruktor Anak Memanggil </a:t>
            </a:r>
            <a:r>
              <a:rPr lang="id-ID" altLang="en-US" sz="3200" b="1" dirty="0">
                <a:solidFill>
                  <a:srgbClr val="0A3069"/>
                </a:solidFill>
                <a:latin typeface="Consolas" pitchFamily="34" charset="0"/>
                <a:ea typeface="Consolas" pitchFamily="34" charset="-122"/>
                <a:cs typeface="Consolas" pitchFamily="34" charset="-120"/>
              </a:rPr>
              <a:t>super</a:t>
            </a:r>
            <a:endParaRPr lang="id-ID" sz="3200" dirty="0"/>
          </a:p>
        </p:txBody>
      </p:sp>
      <p:sp>
        <p:nvSpPr>
          <p:cNvPr id="5" name="Text 2"/>
          <p:cNvSpPr txBox="1"/>
          <p:nvPr/>
        </p:nvSpPr>
        <p:spPr>
          <a:xfrm>
            <a:off x="548640" y="2171167"/>
            <a:ext cx="11094415" cy="324612"/>
          </a:xfrm>
          <a:prstGeom prst="rect">
            <a:avLst/>
          </a:prstGeom>
          <a:noFill/>
          <a:ln/>
        </p:spPr>
        <p:txBody>
          <a:bodyPr wrap="square" lIns="0" tIns="0" rIns="0" bIns="0" rtlCol="0" anchor="t"/>
          <a:lstStyle/>
          <a:p>
            <a:pPr indent="0" marL="0">
              <a:buNone/>
            </a:pPr>
            <a:r>
              <a:rPr lang="id-ID" altLang="en-US" sz="1800" dirty="0">
                <a:solidFill>
                  <a:srgbClr val="0A3069"/>
                </a:solidFill>
                <a:latin typeface="Consolas" pitchFamily="34" charset="0"/>
                <a:ea typeface="Consolas" pitchFamily="34" charset="-122"/>
                <a:cs typeface="Consolas" pitchFamily="34" charset="-120"/>
              </a:rPr>
              <a:t>Komputer</a:t>
            </a:r>
            <a:r>
              <a:rPr lang="id-ID" altLang="en-US" sz="1800" dirty="0">
                <a:solidFill>
                  <a:srgbClr val="57606A"/>
                </a:solidFill>
              </a:rPr>
              <a:t> mewarisi </a:t>
            </a:r>
            <a:r>
              <a:rPr lang="id-ID" altLang="en-US" sz="1800" dirty="0">
                <a:solidFill>
                  <a:srgbClr val="0A3069"/>
                </a:solidFill>
                <a:latin typeface="Consolas" pitchFamily="34" charset="0"/>
                <a:ea typeface="Consolas" pitchFamily="34" charset="-122"/>
                <a:cs typeface="Consolas" pitchFamily="34" charset="-120"/>
              </a:rPr>
              <a:t>Perangkat</a:t>
            </a:r>
            <a:r>
              <a:rPr lang="id-ID" altLang="en-US" sz="1800" dirty="0">
                <a:solidFill>
                  <a:srgbClr val="57606A"/>
                </a:solidFill>
              </a:rPr>
              <a:t> (contoh 04). Baris pertama konstruktornya meminta induk mengisi lapis induk.</a:t>
            </a:r>
            <a:endParaRPr lang="id-ID" sz="1800" dirty="0"/>
          </a:p>
        </p:txBody>
      </p:sp>
      <p:sp>
        <p:nvSpPr>
          <p:cNvPr id="6" name="Shape 3"/>
          <p:cNvSpPr/>
          <p:nvPr/>
        </p:nvSpPr>
        <p:spPr>
          <a:xfrm>
            <a:off x="548640" y="2605507"/>
            <a:ext cx="1051560" cy="329184"/>
          </a:xfrm>
          <a:prstGeom prst="roundRect">
            <a:avLst>
              <a:gd name="adj" fmla="val 138889"/>
            </a:avLst>
          </a:prstGeom>
          <a:solidFill>
            <a:srgbClr val="3572A5"/>
          </a:solidFill>
          <a:ln/>
        </p:spPr>
      </p:sp>
      <p:sp>
        <p:nvSpPr>
          <p:cNvPr id="7" name="Text 4"/>
          <p:cNvSpPr txBox="1"/>
          <p:nvPr/>
        </p:nvSpPr>
        <p:spPr>
          <a:xfrm>
            <a:off x="548640" y="2605507"/>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605507"/>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python/contoh/contoh04_urutan_konstruktor.py</a:t>
            </a:r>
            <a:endParaRPr lang="id-ID" sz="1100" dirty="0"/>
          </a:p>
        </p:txBody>
      </p:sp>
      <p:sp>
        <p:nvSpPr>
          <p:cNvPr id="9" name="Shape 6"/>
          <p:cNvSpPr/>
          <p:nvPr/>
        </p:nvSpPr>
        <p:spPr>
          <a:xfrm>
            <a:off x="548640" y="3026131"/>
            <a:ext cx="5432908" cy="2069338"/>
          </a:xfrm>
          <a:prstGeom prst="roundRect">
            <a:avLst>
              <a:gd name="adj" fmla="val 1953"/>
            </a:avLst>
          </a:prstGeom>
          <a:solidFill>
            <a:srgbClr val="F6F8FA"/>
          </a:solidFill>
          <a:ln w="9525">
            <a:solidFill>
              <a:srgbClr val="D0D7DE"/>
            </a:solidFill>
            <a:prstDash val="solid"/>
          </a:ln>
        </p:spPr>
      </p:sp>
      <p:sp>
        <p:nvSpPr>
          <p:cNvPr id="10" name="Text 7"/>
          <p:cNvSpPr txBox="1"/>
          <p:nvPr/>
        </p:nvSpPr>
        <p:spPr>
          <a:xfrm>
            <a:off x="658368" y="3117571"/>
            <a:ext cx="5213452" cy="1886458"/>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Komputer</a:t>
            </a:r>
            <a:r>
              <a:rPr lang="en-US" altLang="en-US" sz="1100" dirty="0">
                <a:solidFill>
                  <a:srgbClr val="1F2328"/>
                </a:solidFill>
                <a:latin typeface="Consolas" pitchFamily="34" charset="0"/>
                <a:ea typeface="Consolas" pitchFamily="34" charset="-122"/>
                <a:cs typeface="Consolas" pitchFamily="34" charset="-120"/>
              </a:rPr>
              <a:t>(Perangkat):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A3069"/>
                </a:solidFill>
                <a:latin typeface="Consolas" pitchFamily="34" charset="0"/>
                <a:ea typeface="Consolas" pitchFamily="34" charset="-122"/>
                <a:cs typeface="Consolas" pitchFamily="34" charset="-120"/>
              </a:rPr>
              <a:t>"""Tingkat 2: Komputer adalah Perangkat."""</a:t>
            </a:r>
            <a:endParaRPr lang="en-US" sz="1100" dirty="0"/>
          </a:p>
          <a:p>
            <a:pPr indent="0" marL="0">
              <a:buNone/>
            </a:pPr>
            <a:r>
              <a:rPr lang="en-US" altLang="en-US" sz="1100" dirty="0">
                <a:solidFill>
                  <a:srgbClr val="000000"/>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__init__</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 merek: </a:t>
            </a:r>
            <a:r>
              <a:rPr lang="en-US" altLang="en-US" sz="1100" dirty="0">
                <a:solidFill>
                  <a:srgbClr val="0550AE"/>
                </a:solidFill>
                <a:latin typeface="Consolas" pitchFamily="34" charset="0"/>
                <a:ea typeface="Consolas" pitchFamily="34" charset="-122"/>
                <a:cs typeface="Consolas" pitchFamily="34" charset="-120"/>
              </a:rPr>
              <a:t>str</a:t>
            </a:r>
            <a:r>
              <a:rPr lang="en-US" altLang="en-US" sz="1100" dirty="0">
                <a:solidFill>
                  <a:srgbClr val="1F2328"/>
                </a:solidFill>
                <a:latin typeface="Consolas" pitchFamily="34" charset="0"/>
                <a:ea typeface="Consolas" pitchFamily="34" charset="-122"/>
                <a:cs typeface="Consolas" pitchFamily="34" charset="-120"/>
              </a:rPr>
              <a:t>, ram_gb: </a:t>
            </a:r>
            <a:r>
              <a:rPr lang="en-US" altLang="en-US" sz="1100" dirty="0">
                <a:solidFill>
                  <a:srgbClr val="0550A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super</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8250DF"/>
                </a:solidFill>
                <a:latin typeface="Consolas" pitchFamily="34" charset="0"/>
                <a:ea typeface="Consolas" pitchFamily="34" charset="-122"/>
                <a:cs typeface="Consolas" pitchFamily="34" charset="-120"/>
              </a:rPr>
              <a:t>__init__</a:t>
            </a:r>
            <a:r>
              <a:rPr lang="en-US" altLang="en-US" sz="1100" dirty="0">
                <a:solidFill>
                  <a:srgbClr val="1F2328"/>
                </a:solidFill>
                <a:latin typeface="Consolas" pitchFamily="34" charset="0"/>
                <a:ea typeface="Consolas" pitchFamily="34" charset="-122"/>
                <a:cs typeface="Consolas" pitchFamily="34" charset="-120"/>
              </a:rPr>
              <a:t>(merek)</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._ram_gb = ram_gb</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print</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A3069"/>
                </a:solidFill>
                <a:latin typeface="Consolas" pitchFamily="34" charset="0"/>
                <a:ea typeface="Consolas" pitchFamily="34" charset="-122"/>
                <a:cs typeface="Consolas" pitchFamily="34" charset="-120"/>
              </a:rPr>
              <a:t>f"  Bagian Komputer selesai: RAM {</a:t>
            </a:r>
            <a:r>
              <a:rPr lang="en-US" altLang="en-US" sz="1100" dirty="0">
                <a:solidFill>
                  <a:srgbClr val="1F2328"/>
                </a:solidFill>
                <a:latin typeface="Consolas" pitchFamily="34" charset="0"/>
                <a:ea typeface="Consolas" pitchFamily="34" charset="-122"/>
                <a:cs typeface="Consolas" pitchFamily="34" charset="-120"/>
              </a:rPr>
              <a:t>ram_gb</a:t>
            </a:r>
            <a:r>
              <a:rPr lang="en-US" altLang="en-US" sz="1100" dirty="0">
                <a:solidFill>
                  <a:srgbClr val="0A3069"/>
                </a:solidFill>
                <a:latin typeface="Consolas" pitchFamily="34" charset="0"/>
                <a:ea typeface="Consolas" pitchFamily="34" charset="-122"/>
                <a:cs typeface="Consolas" pitchFamily="34" charset="-120"/>
              </a:rPr>
              <a:t>} GB"</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p:txBody>
      </p:sp>
      <p:sp>
        <p:nvSpPr>
          <p:cNvPr id="11" name="Shape 8"/>
          <p:cNvSpPr/>
          <p:nvPr/>
        </p:nvSpPr>
        <p:spPr>
          <a:xfrm>
            <a:off x="6210148" y="2605507"/>
            <a:ext cx="1051560" cy="329184"/>
          </a:xfrm>
          <a:prstGeom prst="roundRect">
            <a:avLst>
              <a:gd name="adj" fmla="val 138889"/>
            </a:avLst>
          </a:prstGeom>
          <a:solidFill>
            <a:srgbClr val="B07219"/>
          </a:solidFill>
          <a:ln/>
        </p:spPr>
      </p:sp>
      <p:sp>
        <p:nvSpPr>
          <p:cNvPr id="12" name="Text 9"/>
          <p:cNvSpPr txBox="1"/>
          <p:nvPr/>
        </p:nvSpPr>
        <p:spPr>
          <a:xfrm>
            <a:off x="6210148" y="2605507"/>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605507"/>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java/contoh/Contoh04UrutanKonstruktor.java</a:t>
            </a:r>
            <a:endParaRPr lang="id-ID" sz="1100" dirty="0"/>
          </a:p>
        </p:txBody>
      </p:sp>
      <p:sp>
        <p:nvSpPr>
          <p:cNvPr id="14" name="Shape 11"/>
          <p:cNvSpPr/>
          <p:nvPr/>
        </p:nvSpPr>
        <p:spPr>
          <a:xfrm>
            <a:off x="6210148" y="3026131"/>
            <a:ext cx="5432908" cy="2069338"/>
          </a:xfrm>
          <a:prstGeom prst="roundRect">
            <a:avLst>
              <a:gd name="adj" fmla="val 1953"/>
            </a:avLst>
          </a:prstGeom>
          <a:solidFill>
            <a:srgbClr val="F6F8FA"/>
          </a:solidFill>
          <a:ln w="9525">
            <a:solidFill>
              <a:srgbClr val="D0D7DE"/>
            </a:solidFill>
            <a:prstDash val="solid"/>
          </a:ln>
        </p:spPr>
      </p:sp>
      <p:sp>
        <p:nvSpPr>
          <p:cNvPr id="15" name="Text 12"/>
          <p:cNvSpPr txBox="1"/>
          <p:nvPr/>
        </p:nvSpPr>
        <p:spPr>
          <a:xfrm>
            <a:off x="6319876" y="3117571"/>
            <a:ext cx="5213452" cy="1886458"/>
          </a:xfrm>
          <a:prstGeom prst="rect">
            <a:avLst/>
          </a:prstGeom>
          <a:noFill/>
          <a:ln/>
        </p:spPr>
        <p:txBody>
          <a:bodyPr wrap="square" lIns="0" tIns="0" rIns="0" bIns="0" rtlCol="0" anchor="t"/>
          <a:lstStyle/>
          <a:p>
            <a:pPr indent="0" marL="0">
              <a:buNone/>
            </a:pPr>
            <a:r>
              <a:rPr lang="en-US" altLang="en-US" sz="1100" i="1" dirty="0">
                <a:solidFill>
                  <a:srgbClr val="6E7781"/>
                </a:solidFill>
                <a:latin typeface="Consolas" pitchFamily="34" charset="0"/>
                <a:ea typeface="Consolas" pitchFamily="34" charset="-122"/>
                <a:cs typeface="Consolas" pitchFamily="34" charset="-120"/>
              </a:rPr>
              <a:t>/** Tingkat 2: Komputer adalah Perangkat. */</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Komputer</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extends</a:t>
            </a:r>
            <a:r>
              <a:rPr lang="en-US" altLang="en-US" sz="1100" dirty="0">
                <a:solidFill>
                  <a:srgbClr val="1F2328"/>
                </a:solidFill>
                <a:latin typeface="Consolas" pitchFamily="34" charset="0"/>
                <a:ea typeface="Consolas" pitchFamily="34" charset="-122"/>
                <a:cs typeface="Consolas" pitchFamily="34" charset="-120"/>
              </a:rPr>
              <a:t> Perangkat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private</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ramGb;</a:t>
            </a:r>
            <a:endParaRPr lang="en-US" sz="1100" dirty="0"/>
          </a:p>
          <a:p>
            <a:pPr indent="0" marL="0">
              <a:buNone/>
            </a:pPr>
            <a:r>
              <a:rPr lang="en-US" altLang="en-US" sz="1100" dirty="0">
                <a:solidFill>
                  <a:srgbClr val="000000"/>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public</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Komputer</a:t>
            </a:r>
            <a:r>
              <a:rPr lang="en-US" altLang="en-US" sz="1100" dirty="0">
                <a:solidFill>
                  <a:srgbClr val="1F2328"/>
                </a:solidFill>
                <a:latin typeface="Consolas" pitchFamily="34" charset="0"/>
                <a:ea typeface="Consolas" pitchFamily="34" charset="-122"/>
                <a:cs typeface="Consolas" pitchFamily="34" charset="-120"/>
              </a:rPr>
              <a:t>(String merek, </a:t>
            </a: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ramGb)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super</a:t>
            </a:r>
            <a:r>
              <a:rPr lang="en-US" altLang="en-US" sz="1100" dirty="0">
                <a:solidFill>
                  <a:srgbClr val="1F2328"/>
                </a:solidFill>
                <a:latin typeface="Consolas" pitchFamily="34" charset="0"/>
                <a:ea typeface="Consolas" pitchFamily="34" charset="-122"/>
                <a:cs typeface="Consolas" pitchFamily="34" charset="-120"/>
              </a:rPr>
              <a:t>(merek);</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this</a:t>
            </a:r>
            <a:r>
              <a:rPr lang="en-US" altLang="en-US" sz="1100" dirty="0">
                <a:solidFill>
                  <a:srgbClr val="1F2328"/>
                </a:solidFill>
                <a:latin typeface="Consolas" pitchFamily="34" charset="0"/>
                <a:ea typeface="Consolas" pitchFamily="34" charset="-122"/>
                <a:cs typeface="Consolas" pitchFamily="34" charset="-120"/>
              </a:rPr>
              <a:t>.ramGb = ramGb;</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Urutan Konstruktor: Induk Selesai Lebih Dulu</a:t>
            </a:r>
            <a:endParaRPr lang="id-ID" sz="3200" dirty="0"/>
          </a:p>
        </p:txBody>
      </p:sp>
      <p:pic>
        <p:nvPicPr>
          <p:cNvPr id="5" name="Image 1" descr="Yang dipanggil pertama memang konstruktor anak, tetapi yang selesai pertama adalah lapis paling atas.">    </p:cNvPr>
          <p:cNvPicPr>
            <a:picLocks noChangeAspect="1"/>
          </p:cNvPicPr>
          <p:nvPr/>
        </p:nvPicPr>
        <p:blipFill>
          <a:blip r:embed="rId2"/>
          <a:stretch>
            <a:fillRect/>
          </a:stretch>
        </p:blipFill>
        <p:spPr>
          <a:xfrm>
            <a:off x="2021786" y="1417320"/>
            <a:ext cx="8148122" cy="4308602"/>
          </a:xfrm>
          <a:prstGeom prst="rect">
            <a:avLst/>
          </a:prstGeom>
        </p:spPr>
      </p:pic>
      <p:sp>
        <p:nvSpPr>
          <p:cNvPr id="6" name="Text 2"/>
          <p:cNvSpPr txBox="1"/>
          <p:nvPr/>
        </p:nvSpPr>
        <p:spPr>
          <a:xfrm>
            <a:off x="1005840" y="5835650"/>
            <a:ext cx="10180015" cy="427990"/>
          </a:xfrm>
          <a:prstGeom prst="rect">
            <a:avLst/>
          </a:prstGeom>
          <a:noFill/>
          <a:ln/>
        </p:spPr>
        <p:txBody>
          <a:bodyPr wrap="square" lIns="0" tIns="0" rIns="0" bIns="0" rtlCol="0" anchor="t"/>
          <a:lstStyle/>
          <a:p>
            <a:pPr algn="ctr" indent="0" marL="0">
              <a:buNone/>
            </a:pPr>
            <a:r>
              <a:rPr lang="id-ID" altLang="en-US" sz="1700" dirty="0">
                <a:solidFill>
                  <a:srgbClr val="57606A"/>
                </a:solidFill>
              </a:rPr>
              <a:t>Yang </a:t>
            </a:r>
            <a:r>
              <a:rPr lang="id-ID" altLang="en-US" sz="1700" b="1" dirty="0">
                <a:solidFill>
                  <a:srgbClr val="57606A"/>
                </a:solidFill>
              </a:rPr>
              <a:t>dipanggil</a:t>
            </a:r>
            <a:r>
              <a:rPr lang="id-ID" altLang="en-US" sz="1700" dirty="0">
                <a:solidFill>
                  <a:srgbClr val="57606A"/>
                </a:solidFill>
              </a:rPr>
              <a:t> pertama memang konstruktor anak, tetapi yang </a:t>
            </a:r>
            <a:r>
              <a:rPr lang="id-ID" altLang="en-US" sz="1700" b="1" dirty="0">
                <a:solidFill>
                  <a:srgbClr val="57606A"/>
                </a:solidFill>
              </a:rPr>
              <a:t>selesai</a:t>
            </a:r>
            <a:r>
              <a:rPr lang="id-ID" altLang="en-US" sz="1700" dirty="0">
                <a:solidFill>
                  <a:srgbClr val="57606A"/>
                </a:solidFill>
              </a:rPr>
              <a:t> pertama adalah lapis paling atas.</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Aturan Konstruktor Anak di Java dan Python</a:t>
            </a:r>
            <a:endParaRPr lang="id-ID" sz="3200" dirty="0"/>
          </a:p>
        </p:txBody>
      </p:sp>
      <p:sp>
        <p:nvSpPr>
          <p:cNvPr id="5" name="Shape 2"/>
          <p:cNvSpPr/>
          <p:nvPr/>
        </p:nvSpPr>
        <p:spPr>
          <a:xfrm>
            <a:off x="548640" y="1510452"/>
            <a:ext cx="5364328" cy="4560570"/>
          </a:xfrm>
          <a:prstGeom prst="roundRect">
            <a:avLst>
              <a:gd name="adj" fmla="val 563"/>
            </a:avLst>
          </a:prstGeom>
          <a:solidFill>
            <a:srgbClr val="FFFFFF"/>
          </a:solidFill>
          <a:ln w="12700">
            <a:solidFill>
              <a:srgbClr val="54AEFF"/>
            </a:solidFill>
            <a:prstDash val="solid"/>
          </a:ln>
        </p:spPr>
      </p:sp>
      <p:sp>
        <p:nvSpPr>
          <p:cNvPr id="6" name="Shape 3"/>
          <p:cNvSpPr/>
          <p:nvPr/>
        </p:nvSpPr>
        <p:spPr>
          <a:xfrm>
            <a:off x="548640" y="1510452"/>
            <a:ext cx="5364328" cy="658368"/>
          </a:xfrm>
          <a:prstGeom prst="roundRect">
            <a:avLst>
              <a:gd name="adj" fmla="val 27006"/>
            </a:avLst>
          </a:prstGeom>
          <a:solidFill>
            <a:srgbClr val="0969DA"/>
          </a:solidFill>
          <a:ln/>
        </p:spPr>
      </p:sp>
      <p:sp>
        <p:nvSpPr>
          <p:cNvPr id="7" name="Shape 4"/>
          <p:cNvSpPr/>
          <p:nvPr/>
        </p:nvSpPr>
        <p:spPr>
          <a:xfrm>
            <a:off x="548640" y="1839636"/>
            <a:ext cx="5364328" cy="329184"/>
          </a:xfrm>
          <a:prstGeom prst="rect">
            <a:avLst/>
          </a:prstGeom>
          <a:solidFill>
            <a:srgbClr val="0969DA"/>
          </a:solidFill>
          <a:ln/>
        </p:spPr>
      </p:sp>
      <p:sp>
        <p:nvSpPr>
          <p:cNvPr id="8" name="Text 5"/>
          <p:cNvSpPr txBox="1"/>
          <p:nvPr/>
        </p:nvSpPr>
        <p:spPr>
          <a:xfrm>
            <a:off x="822960" y="1510452"/>
            <a:ext cx="4815688" cy="658368"/>
          </a:xfrm>
          <a:prstGeom prst="rect">
            <a:avLst/>
          </a:prstGeom>
          <a:noFill/>
          <a:ln/>
        </p:spPr>
        <p:txBody>
          <a:bodyPr wrap="square" lIns="0" tIns="0" rIns="0" bIns="0" rtlCol="0" anchor="ctr"/>
          <a:lstStyle/>
          <a:p>
            <a:pPr indent="0" marL="0">
              <a:buNone/>
            </a:pPr>
            <a:r>
              <a:rPr lang="id-ID" altLang="en-US" sz="2200" b="1" dirty="0">
                <a:solidFill>
                  <a:srgbClr val="FFFFFF"/>
                </a:solidFill>
              </a:rPr>
              <a:t>Java</a:t>
            </a:r>
            <a:endParaRPr lang="id-ID" sz="2200" dirty="0"/>
          </a:p>
        </p:txBody>
      </p:sp>
      <p:sp>
        <p:nvSpPr>
          <p:cNvPr id="9" name="Shape 6"/>
          <p:cNvSpPr/>
          <p:nvPr/>
        </p:nvSpPr>
        <p:spPr>
          <a:xfrm>
            <a:off x="877824" y="2521753"/>
            <a:ext cx="137160" cy="137160"/>
          </a:xfrm>
          <a:prstGeom prst="roundRect">
            <a:avLst>
              <a:gd name="adj" fmla="val 166667"/>
            </a:avLst>
          </a:prstGeom>
          <a:solidFill>
            <a:srgbClr val="0969DA"/>
          </a:solidFill>
          <a:ln/>
        </p:spPr>
      </p:sp>
      <p:sp>
        <p:nvSpPr>
          <p:cNvPr id="10" name="Text 7"/>
          <p:cNvSpPr txBox="1"/>
          <p:nvPr/>
        </p:nvSpPr>
        <p:spPr>
          <a:xfrm>
            <a:off x="1207008" y="2443140"/>
            <a:ext cx="4431640" cy="634492"/>
          </a:xfrm>
          <a:prstGeom prst="rect">
            <a:avLst/>
          </a:prstGeom>
          <a:noFill/>
          <a:ln/>
        </p:spPr>
        <p:txBody>
          <a:bodyPr wrap="square" lIns="0" tIns="0" rIns="0" bIns="0" rtlCol="0" anchor="t"/>
          <a:lstStyle/>
          <a:p>
            <a:pPr indent="0" marL="0">
              <a:buNone/>
            </a:pPr>
            <a:r>
              <a:rPr lang="id-ID" altLang="en-US" sz="1900" dirty="0">
                <a:solidFill>
                  <a:srgbClr val="1F2328"/>
                </a:solidFill>
              </a:rPr>
              <a:t>Konstruktor </a:t>
            </a:r>
            <a:r>
              <a:rPr lang="id-ID" altLang="en-US" sz="1900" b="1" dirty="0">
                <a:solidFill>
                  <a:srgbClr val="1F2328"/>
                </a:solidFill>
              </a:rPr>
              <a:t>tidak</a:t>
            </a:r>
            <a:r>
              <a:rPr lang="id-ID" altLang="en-US" sz="1900" dirty="0">
                <a:solidFill>
                  <a:srgbClr val="1F2328"/>
                </a:solidFill>
              </a:rPr>
              <a:t> diwariskan; setiap kelas menentukan sendiri cara objeknya dibuat.</a:t>
            </a:r>
            <a:endParaRPr lang="id-ID" sz="1900" dirty="0"/>
          </a:p>
        </p:txBody>
      </p:sp>
      <p:sp>
        <p:nvSpPr>
          <p:cNvPr id="11" name="Shape 8"/>
          <p:cNvSpPr/>
          <p:nvPr/>
        </p:nvSpPr>
        <p:spPr>
          <a:xfrm>
            <a:off x="877824" y="3329981"/>
            <a:ext cx="137160" cy="137160"/>
          </a:xfrm>
          <a:prstGeom prst="roundRect">
            <a:avLst>
              <a:gd name="adj" fmla="val 166667"/>
            </a:avLst>
          </a:prstGeom>
          <a:solidFill>
            <a:srgbClr val="0969DA"/>
          </a:solidFill>
          <a:ln/>
        </p:spPr>
      </p:sp>
      <p:sp>
        <p:nvSpPr>
          <p:cNvPr id="12" name="Text 9"/>
          <p:cNvSpPr txBox="1"/>
          <p:nvPr/>
        </p:nvSpPr>
        <p:spPr>
          <a:xfrm>
            <a:off x="1207008" y="3251368"/>
            <a:ext cx="4431640" cy="928878"/>
          </a:xfrm>
          <a:prstGeom prst="rect">
            <a:avLst/>
          </a:prstGeom>
          <a:noFill/>
          <a:ln/>
        </p:spPr>
        <p:txBody>
          <a:bodyPr wrap="square" lIns="0" tIns="0" rIns="0" bIns="0" rtlCol="0" anchor="t"/>
          <a:lstStyle/>
          <a:p>
            <a:pPr indent="0" marL="0">
              <a:buNone/>
            </a:pPr>
            <a:r>
              <a:rPr lang="id-ID" altLang="en-US" sz="1900" dirty="0">
                <a:solidFill>
                  <a:srgbClr val="1F2328"/>
                </a:solidFill>
                <a:latin typeface="Consolas" pitchFamily="34" charset="0"/>
                <a:ea typeface="Consolas" pitchFamily="34" charset="-122"/>
                <a:cs typeface="Consolas" pitchFamily="34" charset="-120"/>
              </a:rPr>
              <a:t>super(...)</a:t>
            </a:r>
            <a:r>
              <a:rPr lang="id-ID" altLang="en-US" sz="1900" dirty="0">
                <a:solidFill>
                  <a:srgbClr val="1F2328"/>
                </a:solidFill>
              </a:rPr>
              <a:t> wajib menjadi </a:t>
            </a:r>
            <a:r>
              <a:rPr lang="id-ID" altLang="en-US" sz="1900" b="1" dirty="0">
                <a:solidFill>
                  <a:srgbClr val="1F2328"/>
                </a:solidFill>
              </a:rPr>
              <a:t>pernyataan pertama</a:t>
            </a:r>
            <a:r>
              <a:rPr lang="id-ID" altLang="en-US" sz="1900" dirty="0">
                <a:solidFill>
                  <a:srgbClr val="1F2328"/>
                </a:solidFill>
              </a:rPr>
              <a:t> di konstruktor anak (Java 17 dan 21).</a:t>
            </a:r>
            <a:endParaRPr lang="id-ID" sz="1900" dirty="0"/>
          </a:p>
        </p:txBody>
      </p:sp>
      <p:sp>
        <p:nvSpPr>
          <p:cNvPr id="13" name="Shape 10"/>
          <p:cNvSpPr/>
          <p:nvPr/>
        </p:nvSpPr>
        <p:spPr>
          <a:xfrm>
            <a:off x="877824" y="4432595"/>
            <a:ext cx="137160" cy="137160"/>
          </a:xfrm>
          <a:prstGeom prst="roundRect">
            <a:avLst>
              <a:gd name="adj" fmla="val 166667"/>
            </a:avLst>
          </a:prstGeom>
          <a:solidFill>
            <a:srgbClr val="0969DA"/>
          </a:solidFill>
          <a:ln/>
        </p:spPr>
      </p:sp>
      <p:sp>
        <p:nvSpPr>
          <p:cNvPr id="14" name="Text 11"/>
          <p:cNvSpPr txBox="1"/>
          <p:nvPr/>
        </p:nvSpPr>
        <p:spPr>
          <a:xfrm>
            <a:off x="1207008" y="4353982"/>
            <a:ext cx="4431640" cy="634492"/>
          </a:xfrm>
          <a:prstGeom prst="rect">
            <a:avLst/>
          </a:prstGeom>
          <a:noFill/>
          <a:ln/>
        </p:spPr>
        <p:txBody>
          <a:bodyPr wrap="square" lIns="0" tIns="0" rIns="0" bIns="0" rtlCol="0" anchor="t"/>
          <a:lstStyle/>
          <a:p>
            <a:pPr indent="0" marL="0">
              <a:buNone/>
            </a:pPr>
            <a:r>
              <a:rPr lang="id-ID" altLang="en-US" sz="1900" dirty="0">
                <a:solidFill>
                  <a:srgbClr val="1F2328"/>
                </a:solidFill>
              </a:rPr>
              <a:t>Jika tidak ditulis, Java diam-⁠diam memanggil </a:t>
            </a:r>
            <a:r>
              <a:rPr lang="id-ID" altLang="en-US" sz="1900" dirty="0">
                <a:solidFill>
                  <a:srgbClr val="1F2328"/>
                </a:solidFill>
                <a:latin typeface="Consolas" pitchFamily="34" charset="0"/>
                <a:ea typeface="Consolas" pitchFamily="34" charset="-122"/>
                <a:cs typeface="Consolas" pitchFamily="34" charset="-120"/>
              </a:rPr>
              <a:t>super()</a:t>
            </a:r>
            <a:r>
              <a:rPr lang="id-ID" altLang="en-US" sz="1900" dirty="0">
                <a:solidFill>
                  <a:srgbClr val="1F2328"/>
                </a:solidFill>
              </a:rPr>
              <a:t> tanpa argumen.</a:t>
            </a:r>
            <a:endParaRPr lang="id-ID" sz="1900" dirty="0"/>
          </a:p>
        </p:txBody>
      </p:sp>
      <p:sp>
        <p:nvSpPr>
          <p:cNvPr id="15" name="Shape 12"/>
          <p:cNvSpPr/>
          <p:nvPr/>
        </p:nvSpPr>
        <p:spPr>
          <a:xfrm>
            <a:off x="877824" y="5240823"/>
            <a:ext cx="137160" cy="137160"/>
          </a:xfrm>
          <a:prstGeom prst="roundRect">
            <a:avLst>
              <a:gd name="adj" fmla="val 166667"/>
            </a:avLst>
          </a:prstGeom>
          <a:solidFill>
            <a:srgbClr val="0969DA"/>
          </a:solidFill>
          <a:ln/>
        </p:spPr>
      </p:sp>
      <p:sp>
        <p:nvSpPr>
          <p:cNvPr id="16" name="Text 13"/>
          <p:cNvSpPr txBox="1"/>
          <p:nvPr/>
        </p:nvSpPr>
        <p:spPr>
          <a:xfrm>
            <a:off x="1207008" y="5162210"/>
            <a:ext cx="4431640" cy="634492"/>
          </a:xfrm>
          <a:prstGeom prst="rect">
            <a:avLst/>
          </a:prstGeom>
          <a:noFill/>
          <a:ln/>
        </p:spPr>
        <p:txBody>
          <a:bodyPr wrap="square" lIns="0" tIns="0" rIns="0" bIns="0" rtlCol="0" anchor="t"/>
          <a:lstStyle/>
          <a:p>
            <a:pPr indent="0" marL="0">
              <a:buNone/>
            </a:pPr>
            <a:r>
              <a:rPr lang="id-ID" altLang="en-US" sz="1900" dirty="0">
                <a:solidFill>
                  <a:srgbClr val="1F2328"/>
                </a:solidFill>
              </a:rPr>
              <a:t>Kompilasi gagal jika induk tidak punya konstruktor tanpa parameter.</a:t>
            </a:r>
            <a:endParaRPr lang="id-ID" sz="1900" dirty="0"/>
          </a:p>
        </p:txBody>
      </p:sp>
      <p:sp>
        <p:nvSpPr>
          <p:cNvPr id="17" name="Shape 14"/>
          <p:cNvSpPr/>
          <p:nvPr/>
        </p:nvSpPr>
        <p:spPr>
          <a:xfrm>
            <a:off x="6278728" y="1510452"/>
            <a:ext cx="5364328" cy="4560570"/>
          </a:xfrm>
          <a:prstGeom prst="roundRect">
            <a:avLst>
              <a:gd name="adj" fmla="val 563"/>
            </a:avLst>
          </a:prstGeom>
          <a:solidFill>
            <a:srgbClr val="FFFFFF"/>
          </a:solidFill>
          <a:ln w="12700">
            <a:solidFill>
              <a:srgbClr val="4AC26B"/>
            </a:solidFill>
            <a:prstDash val="solid"/>
          </a:ln>
        </p:spPr>
      </p:sp>
      <p:sp>
        <p:nvSpPr>
          <p:cNvPr id="18" name="Shape 15"/>
          <p:cNvSpPr/>
          <p:nvPr/>
        </p:nvSpPr>
        <p:spPr>
          <a:xfrm>
            <a:off x="6278728" y="1510452"/>
            <a:ext cx="5364328" cy="658368"/>
          </a:xfrm>
          <a:prstGeom prst="roundRect">
            <a:avLst>
              <a:gd name="adj" fmla="val 27006"/>
            </a:avLst>
          </a:prstGeom>
          <a:solidFill>
            <a:srgbClr val="1A7F37"/>
          </a:solidFill>
          <a:ln/>
        </p:spPr>
      </p:sp>
      <p:sp>
        <p:nvSpPr>
          <p:cNvPr id="19" name="Shape 16"/>
          <p:cNvSpPr/>
          <p:nvPr/>
        </p:nvSpPr>
        <p:spPr>
          <a:xfrm>
            <a:off x="6278728" y="1839636"/>
            <a:ext cx="5364328" cy="329184"/>
          </a:xfrm>
          <a:prstGeom prst="rect">
            <a:avLst/>
          </a:prstGeom>
          <a:solidFill>
            <a:srgbClr val="1A7F37"/>
          </a:solidFill>
          <a:ln/>
        </p:spPr>
      </p:sp>
      <p:sp>
        <p:nvSpPr>
          <p:cNvPr id="20" name="Text 17"/>
          <p:cNvSpPr txBox="1"/>
          <p:nvPr/>
        </p:nvSpPr>
        <p:spPr>
          <a:xfrm>
            <a:off x="6553048" y="1510452"/>
            <a:ext cx="4815688" cy="658368"/>
          </a:xfrm>
          <a:prstGeom prst="rect">
            <a:avLst/>
          </a:prstGeom>
          <a:noFill/>
          <a:ln/>
        </p:spPr>
        <p:txBody>
          <a:bodyPr wrap="square" lIns="0" tIns="0" rIns="0" bIns="0" rtlCol="0" anchor="ctr"/>
          <a:lstStyle/>
          <a:p>
            <a:pPr indent="0" marL="0">
              <a:buNone/>
            </a:pPr>
            <a:r>
              <a:rPr lang="id-ID" altLang="en-US" sz="2200" b="1" dirty="0">
                <a:solidFill>
                  <a:srgbClr val="FFFFFF"/>
                </a:solidFill>
              </a:rPr>
              <a:t>Python</a:t>
            </a:r>
            <a:endParaRPr lang="id-ID" sz="2200" dirty="0"/>
          </a:p>
        </p:txBody>
      </p:sp>
      <p:sp>
        <p:nvSpPr>
          <p:cNvPr id="21" name="Shape 18"/>
          <p:cNvSpPr/>
          <p:nvPr/>
        </p:nvSpPr>
        <p:spPr>
          <a:xfrm>
            <a:off x="6607912" y="2521753"/>
            <a:ext cx="137160" cy="137160"/>
          </a:xfrm>
          <a:prstGeom prst="roundRect">
            <a:avLst>
              <a:gd name="adj" fmla="val 166667"/>
            </a:avLst>
          </a:prstGeom>
          <a:solidFill>
            <a:srgbClr val="1A7F37"/>
          </a:solidFill>
          <a:ln/>
        </p:spPr>
      </p:sp>
      <p:sp>
        <p:nvSpPr>
          <p:cNvPr id="22" name="Text 19"/>
          <p:cNvSpPr txBox="1"/>
          <p:nvPr/>
        </p:nvSpPr>
        <p:spPr>
          <a:xfrm>
            <a:off x="6937096" y="2443140"/>
            <a:ext cx="4431640" cy="634492"/>
          </a:xfrm>
          <a:prstGeom prst="rect">
            <a:avLst/>
          </a:prstGeom>
          <a:noFill/>
          <a:ln/>
        </p:spPr>
        <p:txBody>
          <a:bodyPr wrap="square" lIns="0" tIns="0" rIns="0" bIns="0" rtlCol="0" anchor="t"/>
          <a:lstStyle/>
          <a:p>
            <a:pPr indent="0" marL="0">
              <a:buNone/>
            </a:pPr>
            <a:r>
              <a:rPr lang="id-ID" altLang="en-US" sz="1900" dirty="0">
                <a:solidFill>
                  <a:srgbClr val="1F2328"/>
                </a:solidFill>
                <a:latin typeface="Consolas" pitchFamily="34" charset="0"/>
                <a:ea typeface="Consolas" pitchFamily="34" charset="-122"/>
                <a:cs typeface="Consolas" pitchFamily="34" charset="-120"/>
              </a:rPr>
              <a:t>__init__</a:t>
            </a:r>
            <a:r>
              <a:rPr lang="id-ID" altLang="en-US" sz="1900" dirty="0">
                <a:solidFill>
                  <a:srgbClr val="1F2328"/>
                </a:solidFill>
              </a:rPr>
              <a:t> adalah </a:t>
            </a:r>
            <a:r>
              <a:rPr lang="id-ID" altLang="en-US" sz="1900" i="1" dirty="0">
                <a:solidFill>
                  <a:srgbClr val="1F2328"/>
                </a:solidFill>
              </a:rPr>
              <a:t>method</a:t>
            </a:r>
            <a:r>
              <a:rPr lang="id-ID" altLang="en-US" sz="1900" dirty="0">
                <a:solidFill>
                  <a:srgbClr val="1F2328"/>
                </a:solidFill>
              </a:rPr>
              <a:t> biasa, jadi ikut diwariskan jika anak tidak menulisnya.</a:t>
            </a:r>
            <a:endParaRPr lang="id-ID" sz="1900" dirty="0"/>
          </a:p>
        </p:txBody>
      </p:sp>
      <p:sp>
        <p:nvSpPr>
          <p:cNvPr id="23" name="Shape 20"/>
          <p:cNvSpPr/>
          <p:nvPr/>
        </p:nvSpPr>
        <p:spPr>
          <a:xfrm>
            <a:off x="6607912" y="3329981"/>
            <a:ext cx="137160" cy="137160"/>
          </a:xfrm>
          <a:prstGeom prst="roundRect">
            <a:avLst>
              <a:gd name="adj" fmla="val 166667"/>
            </a:avLst>
          </a:prstGeom>
          <a:solidFill>
            <a:srgbClr val="1A7F37"/>
          </a:solidFill>
          <a:ln/>
        </p:spPr>
      </p:sp>
      <p:sp>
        <p:nvSpPr>
          <p:cNvPr id="24" name="Text 21"/>
          <p:cNvSpPr txBox="1"/>
          <p:nvPr/>
        </p:nvSpPr>
        <p:spPr>
          <a:xfrm>
            <a:off x="6937096" y="3251368"/>
            <a:ext cx="4431640" cy="928878"/>
          </a:xfrm>
          <a:prstGeom prst="rect">
            <a:avLst/>
          </a:prstGeom>
          <a:noFill/>
          <a:ln/>
        </p:spPr>
        <p:txBody>
          <a:bodyPr wrap="square" lIns="0" tIns="0" rIns="0" bIns="0" rtlCol="0" anchor="t"/>
          <a:lstStyle/>
          <a:p>
            <a:pPr indent="0" marL="0">
              <a:buNone/>
            </a:pPr>
            <a:r>
              <a:rPr lang="id-ID" altLang="en-US" sz="1900" dirty="0">
                <a:solidFill>
                  <a:srgbClr val="1F2328"/>
                </a:solidFill>
              </a:rPr>
              <a:t>Tidak ada pemeriksaan otomatis; biasakan </a:t>
            </a:r>
            <a:r>
              <a:rPr lang="id-ID" altLang="en-US" sz="1900" dirty="0">
                <a:solidFill>
                  <a:srgbClr val="1F2328"/>
                </a:solidFill>
                <a:latin typeface="Consolas" pitchFamily="34" charset="0"/>
                <a:ea typeface="Consolas" pitchFamily="34" charset="-122"/>
                <a:cs typeface="Consolas" pitchFamily="34" charset="-120"/>
              </a:rPr>
              <a:t>super().__init__(...)</a:t>
            </a:r>
            <a:r>
              <a:rPr lang="id-ID" altLang="en-US" sz="1900" dirty="0">
                <a:solidFill>
                  <a:srgbClr val="1F2328"/>
                </a:solidFill>
              </a:rPr>
              <a:t> di </a:t>
            </a:r>
            <a:r>
              <a:rPr lang="id-ID" altLang="en-US" sz="1900" b="1" dirty="0">
                <a:solidFill>
                  <a:srgbClr val="1F2328"/>
                </a:solidFill>
              </a:rPr>
              <a:t>baris pertama</a:t>
            </a:r>
            <a:r>
              <a:rPr lang="id-ID" altLang="en-US" sz="1900" dirty="0">
                <a:solidFill>
                  <a:srgbClr val="1F2328"/>
                </a:solidFill>
              </a:rPr>
              <a:t>.</a:t>
            </a:r>
            <a:endParaRPr lang="id-ID" sz="1900" dirty="0"/>
          </a:p>
        </p:txBody>
      </p:sp>
      <p:sp>
        <p:nvSpPr>
          <p:cNvPr id="25" name="Shape 22"/>
          <p:cNvSpPr/>
          <p:nvPr/>
        </p:nvSpPr>
        <p:spPr>
          <a:xfrm>
            <a:off x="6607912" y="4432595"/>
            <a:ext cx="137160" cy="137160"/>
          </a:xfrm>
          <a:prstGeom prst="roundRect">
            <a:avLst>
              <a:gd name="adj" fmla="val 166667"/>
            </a:avLst>
          </a:prstGeom>
          <a:solidFill>
            <a:srgbClr val="1A7F37"/>
          </a:solidFill>
          <a:ln/>
        </p:spPr>
      </p:sp>
      <p:sp>
        <p:nvSpPr>
          <p:cNvPr id="26" name="Text 23"/>
          <p:cNvSpPr txBox="1"/>
          <p:nvPr/>
        </p:nvSpPr>
        <p:spPr>
          <a:xfrm>
            <a:off x="6937096" y="4353982"/>
            <a:ext cx="4431640" cy="634492"/>
          </a:xfrm>
          <a:prstGeom prst="rect">
            <a:avLst/>
          </a:prstGeom>
          <a:noFill/>
          <a:ln/>
        </p:spPr>
        <p:txBody>
          <a:bodyPr wrap="square" lIns="0" tIns="0" rIns="0" bIns="0" rtlCol="0" anchor="t"/>
          <a:lstStyle/>
          <a:p>
            <a:pPr indent="0" marL="0">
              <a:buNone/>
            </a:pPr>
            <a:r>
              <a:rPr lang="id-ID" altLang="en-US" sz="1900" dirty="0">
                <a:solidFill>
                  <a:srgbClr val="1F2328"/>
                </a:solidFill>
              </a:rPr>
              <a:t>Jika lupa ditulis, atribut induk tidak pernah dibuat.</a:t>
            </a:r>
            <a:endParaRPr lang="id-ID" sz="1900" dirty="0"/>
          </a:p>
        </p:txBody>
      </p:sp>
      <p:sp>
        <p:nvSpPr>
          <p:cNvPr id="27" name="Shape 24"/>
          <p:cNvSpPr/>
          <p:nvPr/>
        </p:nvSpPr>
        <p:spPr>
          <a:xfrm>
            <a:off x="6607912" y="5240823"/>
            <a:ext cx="137160" cy="137160"/>
          </a:xfrm>
          <a:prstGeom prst="roundRect">
            <a:avLst>
              <a:gd name="adj" fmla="val 166667"/>
            </a:avLst>
          </a:prstGeom>
          <a:solidFill>
            <a:srgbClr val="1A7F37"/>
          </a:solidFill>
          <a:ln/>
        </p:spPr>
      </p:sp>
      <p:sp>
        <p:nvSpPr>
          <p:cNvPr id="28" name="Text 25"/>
          <p:cNvSpPr txBox="1"/>
          <p:nvPr/>
        </p:nvSpPr>
        <p:spPr>
          <a:xfrm>
            <a:off x="6937096" y="5162210"/>
            <a:ext cx="4431640" cy="634492"/>
          </a:xfrm>
          <a:prstGeom prst="rect">
            <a:avLst/>
          </a:prstGeom>
          <a:noFill/>
          <a:ln/>
        </p:spPr>
        <p:txBody>
          <a:bodyPr wrap="square" lIns="0" tIns="0" rIns="0" bIns="0" rtlCol="0" anchor="t"/>
          <a:lstStyle/>
          <a:p>
            <a:pPr indent="0" marL="0">
              <a:buNone/>
            </a:pPr>
            <a:r>
              <a:rPr lang="id-ID" altLang="en-US" sz="1900" dirty="0">
                <a:solidFill>
                  <a:srgbClr val="1F2328"/>
                </a:solidFill>
              </a:rPr>
              <a:t>Program baru gagal (</a:t>
            </a:r>
            <a:r>
              <a:rPr lang="id-ID" altLang="en-US" sz="1900" dirty="0">
                <a:solidFill>
                  <a:srgbClr val="1F2328"/>
                </a:solidFill>
                <a:latin typeface="Consolas" pitchFamily="34" charset="0"/>
                <a:ea typeface="Consolas" pitchFamily="34" charset="-122"/>
                <a:cs typeface="Consolas" pitchFamily="34" charset="-120"/>
              </a:rPr>
              <a:t>AttributeError</a:t>
            </a:r>
            <a:r>
              <a:rPr lang="id-ID" altLang="en-US" sz="1900" dirty="0">
                <a:solidFill>
                  <a:srgbClr val="1F2328"/>
                </a:solidFill>
              </a:rPr>
              <a:t>) saat atribut itu dipakai.</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4</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4</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i="1" dirty="0">
                <a:solidFill>
                  <a:srgbClr val="FFFFFF"/>
                </a:solidFill>
              </a:rPr>
              <a:t>Override</a:t>
            </a:r>
            <a:r>
              <a:rPr lang="id-ID" altLang="en-US" sz="4200" b="1" dirty="0">
                <a:solidFill>
                  <a:srgbClr val="FFFFFF"/>
                </a:solidFill>
              </a:rPr>
              <a:t>: Menimpa </a:t>
            </a:r>
            <a:r>
              <a:rPr lang="id-ID" altLang="en-US" sz="4200" b="1" i="1" dirty="0">
                <a:solidFill>
                  <a:srgbClr val="FFFFFF"/>
                </a:solidFill>
              </a:rPr>
              <a:t>Method</a:t>
            </a:r>
            <a:r>
              <a:rPr lang="id-ID" altLang="en-US" sz="4200" b="1" dirty="0">
                <a:solidFill>
                  <a:srgbClr val="FFFFFF"/>
                </a:solidFill>
              </a:rPr>
              <a:t> Induk</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Kelas anak boleh mengganti perilaku warisan, khusus untuk dirinya.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Override</a:t>
            </a:r>
            <a:r>
              <a:rPr lang="id-ID" altLang="en-US" sz="3200" b="1" dirty="0">
                <a:solidFill>
                  <a:srgbClr val="0A3069"/>
                </a:solidFill>
              </a:rPr>
              <a:t> dan Dua Gayanya</a:t>
            </a:r>
            <a:endParaRPr lang="id-ID" sz="3200" dirty="0"/>
          </a:p>
        </p:txBody>
      </p:sp>
      <p:sp>
        <p:nvSpPr>
          <p:cNvPr id="5" name="Text 2"/>
          <p:cNvSpPr txBox="1"/>
          <p:nvPr/>
        </p:nvSpPr>
        <p:spPr>
          <a:xfrm>
            <a:off x="548640" y="1462979"/>
            <a:ext cx="11094415" cy="548640"/>
          </a:xfrm>
          <a:prstGeom prst="rect">
            <a:avLst/>
          </a:prstGeom>
          <a:noFill/>
          <a:ln/>
        </p:spPr>
        <p:txBody>
          <a:bodyPr wrap="square" lIns="0" tIns="0" rIns="0" bIns="0" rtlCol="0" anchor="t"/>
          <a:lstStyle/>
          <a:p>
            <a:pPr indent="0" marL="0">
              <a:buNone/>
            </a:pPr>
            <a:r>
              <a:rPr lang="id-ID" altLang="en-US" sz="3000" b="1" i="1" dirty="0">
                <a:solidFill>
                  <a:srgbClr val="0969DA"/>
                </a:solidFill>
              </a:rPr>
              <a:t>Override</a:t>
            </a:r>
            <a:r>
              <a:rPr lang="id-ID" altLang="en-US" sz="3000" b="1" dirty="0">
                <a:solidFill>
                  <a:srgbClr val="0969DA"/>
                </a:solidFill>
              </a:rPr>
              <a:t> (menimpa)</a:t>
            </a:r>
            <a:endParaRPr lang="id-ID" sz="3000" dirty="0"/>
          </a:p>
        </p:txBody>
      </p:sp>
      <p:sp>
        <p:nvSpPr>
          <p:cNvPr id="6" name="Shape 3"/>
          <p:cNvSpPr/>
          <p:nvPr/>
        </p:nvSpPr>
        <p:spPr>
          <a:xfrm>
            <a:off x="548640" y="2176211"/>
            <a:ext cx="11094415" cy="1323340"/>
          </a:xfrm>
          <a:prstGeom prst="roundRect">
            <a:avLst>
              <a:gd name="adj" fmla="val 5729"/>
            </a:avLst>
          </a:prstGeom>
          <a:solidFill>
            <a:srgbClr val="DDF4FF"/>
          </a:solidFill>
          <a:ln w="9525">
            <a:solidFill>
              <a:srgbClr val="54AEFF"/>
            </a:solidFill>
            <a:prstDash val="solid"/>
          </a:ln>
        </p:spPr>
      </p:sp>
      <p:sp>
        <p:nvSpPr>
          <p:cNvPr id="7" name="Shape 4"/>
          <p:cNvSpPr/>
          <p:nvPr/>
        </p:nvSpPr>
        <p:spPr>
          <a:xfrm>
            <a:off x="804672" y="2563561"/>
            <a:ext cx="548640" cy="548640"/>
          </a:xfrm>
          <a:prstGeom prst="ellipse">
            <a:avLst/>
          </a:prstGeom>
          <a:solidFill>
            <a:srgbClr val="0969DA"/>
          </a:solidFill>
          <a:ln/>
        </p:spPr>
      </p:sp>
      <p:pic>
        <p:nvPicPr>
          <p:cNvPr id="8" name="Image 1" descr="preencoded.png">    </p:cNvPr>
          <p:cNvPicPr>
            <a:picLocks noChangeAspect="1"/>
          </p:cNvPicPr>
          <p:nvPr/>
        </p:nvPicPr>
        <p:blipFill>
          <a:blip r:embed="rId2"/>
          <a:stretch>
            <a:fillRect/>
          </a:stretch>
        </p:blipFill>
        <p:spPr>
          <a:xfrm>
            <a:off x="925373" y="2684262"/>
            <a:ext cx="307238" cy="307238"/>
          </a:xfrm>
          <a:prstGeom prst="rect">
            <a:avLst/>
          </a:prstGeom>
        </p:spPr>
      </p:pic>
      <p:sp>
        <p:nvSpPr>
          <p:cNvPr id="9" name="Text 5"/>
          <p:cNvSpPr txBox="1"/>
          <p:nvPr/>
        </p:nvSpPr>
        <p:spPr>
          <a:xfrm>
            <a:off x="1554480" y="2450531"/>
            <a:ext cx="9859975" cy="957580"/>
          </a:xfrm>
          <a:prstGeom prst="rect">
            <a:avLst/>
          </a:prstGeom>
          <a:noFill/>
          <a:ln/>
        </p:spPr>
        <p:txBody>
          <a:bodyPr wrap="square" lIns="0" tIns="0" rIns="0" bIns="0" rtlCol="0" anchor="t"/>
          <a:lstStyle/>
          <a:p>
            <a:pPr indent="0" marL="0">
              <a:buNone/>
            </a:pPr>
            <a:r>
              <a:rPr lang="id-ID" altLang="en-US" sz="2500" dirty="0">
                <a:solidFill>
                  <a:srgbClr val="1F2328"/>
                </a:solidFill>
              </a:rPr>
              <a:t>Menulis ulang </a:t>
            </a:r>
            <a:r>
              <a:rPr lang="id-ID" altLang="en-US" sz="2500" i="1" dirty="0">
                <a:solidFill>
                  <a:srgbClr val="1F2328"/>
                </a:solidFill>
              </a:rPr>
              <a:t>method</a:t>
            </a:r>
            <a:r>
              <a:rPr lang="id-ID" altLang="en-US" sz="2500" dirty="0">
                <a:solidFill>
                  <a:srgbClr val="1F2328"/>
                </a:solidFill>
              </a:rPr>
              <a:t> milik kelas induk di kelas anak, dengan </a:t>
            </a:r>
            <a:r>
              <a:rPr lang="id-ID" altLang="en-US" sz="2500" b="1" dirty="0">
                <a:solidFill>
                  <a:srgbClr val="1F2328"/>
                </a:solidFill>
              </a:rPr>
              <a:t>nama dan parameter yang sama</a:t>
            </a:r>
            <a:r>
              <a:rPr lang="id-ID" altLang="en-US" sz="2500" dirty="0">
                <a:solidFill>
                  <a:srgbClr val="1F2328"/>
                </a:solidFill>
              </a:rPr>
              <a:t> sehingga objek kelas anak memakai versi barunya.</a:t>
            </a:r>
            <a:endParaRPr lang="id-ID" sz="2500" dirty="0"/>
          </a:p>
        </p:txBody>
      </p:sp>
      <p:sp>
        <p:nvSpPr>
          <p:cNvPr id="10" name="Shape 6"/>
          <p:cNvSpPr/>
          <p:nvPr/>
        </p:nvSpPr>
        <p:spPr>
          <a:xfrm>
            <a:off x="603504" y="4058605"/>
            <a:ext cx="137160" cy="137160"/>
          </a:xfrm>
          <a:prstGeom prst="roundRect">
            <a:avLst>
              <a:gd name="adj" fmla="val 166667"/>
            </a:avLst>
          </a:prstGeom>
          <a:solidFill>
            <a:srgbClr val="0969DA"/>
          </a:solidFill>
          <a:ln/>
        </p:spPr>
      </p:sp>
      <p:sp>
        <p:nvSpPr>
          <p:cNvPr id="11" name="Text 7"/>
          <p:cNvSpPr txBox="1"/>
          <p:nvPr/>
        </p:nvSpPr>
        <p:spPr>
          <a:xfrm>
            <a:off x="932688" y="3956751"/>
            <a:ext cx="10710367" cy="386588"/>
          </a:xfrm>
          <a:prstGeom prst="rect">
            <a:avLst/>
          </a:prstGeom>
          <a:noFill/>
          <a:ln/>
        </p:spPr>
        <p:txBody>
          <a:bodyPr wrap="square" lIns="0" tIns="0" rIns="0" bIns="0" rtlCol="0" anchor="t"/>
          <a:lstStyle/>
          <a:p>
            <a:pPr indent="0" marL="0">
              <a:buNone/>
            </a:pPr>
            <a:r>
              <a:rPr lang="id-ID" altLang="en-US" sz="2200" b="1" dirty="0">
                <a:solidFill>
                  <a:srgbClr val="1F2328"/>
                </a:solidFill>
              </a:rPr>
              <a:t>Mengganti total</a:t>
            </a:r>
            <a:r>
              <a:rPr lang="id-ID" altLang="en-US" sz="2200" dirty="0">
                <a:solidFill>
                  <a:srgbClr val="1F2328"/>
                </a:solidFill>
              </a:rPr>
              <a:t>: versi anak sama sekali tidak memakai versi induk.</a:t>
            </a:r>
            <a:endParaRPr lang="id-ID" sz="2200" dirty="0"/>
          </a:p>
        </p:txBody>
      </p:sp>
      <p:sp>
        <p:nvSpPr>
          <p:cNvPr id="12" name="Shape 8"/>
          <p:cNvSpPr/>
          <p:nvPr/>
        </p:nvSpPr>
        <p:spPr>
          <a:xfrm>
            <a:off x="603504" y="4637217"/>
            <a:ext cx="137160" cy="137160"/>
          </a:xfrm>
          <a:prstGeom prst="roundRect">
            <a:avLst>
              <a:gd name="adj" fmla="val 166667"/>
            </a:avLst>
          </a:prstGeom>
          <a:solidFill>
            <a:srgbClr val="0969DA"/>
          </a:solidFill>
          <a:ln/>
        </p:spPr>
      </p:sp>
      <p:sp>
        <p:nvSpPr>
          <p:cNvPr id="13" name="Text 9"/>
          <p:cNvSpPr txBox="1"/>
          <p:nvPr/>
        </p:nvSpPr>
        <p:spPr>
          <a:xfrm>
            <a:off x="932688" y="4535363"/>
            <a:ext cx="10710367" cy="727456"/>
          </a:xfrm>
          <a:prstGeom prst="rect">
            <a:avLst/>
          </a:prstGeom>
          <a:noFill/>
          <a:ln/>
        </p:spPr>
        <p:txBody>
          <a:bodyPr wrap="square" lIns="0" tIns="0" rIns="0" bIns="0" rtlCol="0" anchor="t"/>
          <a:lstStyle/>
          <a:p>
            <a:pPr indent="0" marL="0">
              <a:buNone/>
            </a:pPr>
            <a:r>
              <a:rPr lang="id-ID" altLang="en-US" sz="2200" b="1" dirty="0">
                <a:solidFill>
                  <a:srgbClr val="1F2328"/>
                </a:solidFill>
              </a:rPr>
              <a:t>Memperluas</a:t>
            </a:r>
            <a:r>
              <a:rPr lang="id-ID" altLang="en-US" sz="2200" dirty="0">
                <a:solidFill>
                  <a:srgbClr val="1F2328"/>
                </a:solidFill>
              </a:rPr>
              <a:t>: versi anak memanggil versi induk lewat </a:t>
            </a:r>
            <a:r>
              <a:rPr lang="id-ID" altLang="en-US" sz="2200" dirty="0">
                <a:solidFill>
                  <a:srgbClr val="1F2328"/>
                </a:solidFill>
                <a:latin typeface="Consolas" pitchFamily="34" charset="0"/>
                <a:ea typeface="Consolas" pitchFamily="34" charset="-122"/>
                <a:cs typeface="Consolas" pitchFamily="34" charset="-120"/>
              </a:rPr>
              <a:t>super</a:t>
            </a:r>
            <a:r>
              <a:rPr lang="id-ID" altLang="en-US" sz="2200" dirty="0">
                <a:solidFill>
                  <a:srgbClr val="1F2328"/>
                </a:solidFill>
              </a:rPr>
              <a:t>, lalu menambahkan sesuatu. Gaya ini paling sering dipakai.</a:t>
            </a:r>
            <a:endParaRPr lang="id-ID" sz="2200" dirty="0"/>
          </a:p>
        </p:txBody>
      </p:sp>
      <p:sp>
        <p:nvSpPr>
          <p:cNvPr id="14" name="Shape 10"/>
          <p:cNvSpPr/>
          <p:nvPr/>
        </p:nvSpPr>
        <p:spPr>
          <a:xfrm>
            <a:off x="603504" y="5556697"/>
            <a:ext cx="137160" cy="137160"/>
          </a:xfrm>
          <a:prstGeom prst="roundRect">
            <a:avLst>
              <a:gd name="adj" fmla="val 166667"/>
            </a:avLst>
          </a:prstGeom>
          <a:solidFill>
            <a:srgbClr val="0969DA"/>
          </a:solidFill>
          <a:ln/>
        </p:spPr>
      </p:sp>
      <p:sp>
        <p:nvSpPr>
          <p:cNvPr id="15" name="Text 11"/>
          <p:cNvSpPr txBox="1"/>
          <p:nvPr/>
        </p:nvSpPr>
        <p:spPr>
          <a:xfrm>
            <a:off x="932688" y="5454843"/>
            <a:ext cx="10710367" cy="727456"/>
          </a:xfrm>
          <a:prstGeom prst="rect">
            <a:avLst/>
          </a:prstGeom>
          <a:noFill/>
          <a:ln/>
        </p:spPr>
        <p:txBody>
          <a:bodyPr wrap="square" lIns="0" tIns="0" rIns="0" bIns="0" rtlCol="0" anchor="t"/>
          <a:lstStyle/>
          <a:p>
            <a:pPr indent="0" marL="0">
              <a:buNone/>
            </a:pPr>
            <a:r>
              <a:rPr lang="id-ID" altLang="en-US" sz="2200" dirty="0">
                <a:solidFill>
                  <a:srgbClr val="1F2328"/>
                </a:solidFill>
              </a:rPr>
              <a:t>Java memakai anotasi </a:t>
            </a:r>
            <a:r>
              <a:rPr lang="id-ID" altLang="en-US" sz="2200" dirty="0">
                <a:solidFill>
                  <a:srgbClr val="1F2328"/>
                </a:solidFill>
                <a:latin typeface="Consolas" pitchFamily="34" charset="0"/>
                <a:ea typeface="Consolas" pitchFamily="34" charset="-122"/>
                <a:cs typeface="Consolas" pitchFamily="34" charset="-120"/>
              </a:rPr>
              <a:t>@Override</a:t>
            </a:r>
            <a:r>
              <a:rPr lang="id-ID" altLang="en-US" sz="2200" dirty="0">
                <a:solidFill>
                  <a:srgbClr val="1F2328"/>
                </a:solidFill>
              </a:rPr>
              <a:t> dan melarang hak akses yang lebih sempit; Python tidak memeriksa.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Override</a:t>
            </a:r>
            <a:r>
              <a:rPr lang="id-ID" altLang="en-US" sz="3200" b="1" dirty="0">
                <a:solidFill>
                  <a:srgbClr val="0A3069"/>
                </a:solidFill>
              </a:rPr>
              <a:t> yang Memperluas Versi Induk</a:t>
            </a:r>
            <a:endParaRPr lang="id-ID" sz="3200" dirty="0"/>
          </a:p>
        </p:txBody>
      </p:sp>
      <p:sp>
        <p:nvSpPr>
          <p:cNvPr id="5" name="Text 2"/>
          <p:cNvSpPr txBox="1"/>
          <p:nvPr/>
        </p:nvSpPr>
        <p:spPr>
          <a:xfrm>
            <a:off x="548640" y="2032696"/>
            <a:ext cx="11094415" cy="324612"/>
          </a:xfrm>
          <a:prstGeom prst="rect">
            <a:avLst/>
          </a:prstGeom>
          <a:noFill/>
          <a:ln/>
        </p:spPr>
        <p:txBody>
          <a:bodyPr wrap="square" lIns="0" tIns="0" rIns="0" bIns="0" rtlCol="0" anchor="t"/>
          <a:lstStyle/>
          <a:p>
            <a:pPr indent="0" marL="0">
              <a:buNone/>
            </a:pPr>
            <a:r>
              <a:rPr lang="id-ID" altLang="en-US" sz="1800" dirty="0">
                <a:solidFill>
                  <a:srgbClr val="0A3069"/>
                </a:solidFill>
                <a:latin typeface="Consolas" pitchFamily="34" charset="0"/>
                <a:ea typeface="Consolas" pitchFamily="34" charset="-122"/>
                <a:cs typeface="Consolas" pitchFamily="34" charset="-120"/>
              </a:rPr>
              <a:t>TiketVIP</a:t>
            </a:r>
            <a:r>
              <a:rPr lang="id-ID" altLang="en-US" sz="1800" dirty="0">
                <a:solidFill>
                  <a:srgbClr val="57606A"/>
                </a:solidFill>
              </a:rPr>
              <a:t> mewarisi </a:t>
            </a:r>
            <a:r>
              <a:rPr lang="id-ID" altLang="en-US" sz="1800" dirty="0">
                <a:solidFill>
                  <a:srgbClr val="0A3069"/>
                </a:solidFill>
                <a:latin typeface="Consolas" pitchFamily="34" charset="0"/>
                <a:ea typeface="Consolas" pitchFamily="34" charset="-122"/>
                <a:cs typeface="Consolas" pitchFamily="34" charset="-120"/>
              </a:rPr>
              <a:t>Tiket</a:t>
            </a:r>
            <a:r>
              <a:rPr lang="id-ID" altLang="en-US" sz="1800" dirty="0">
                <a:solidFill>
                  <a:srgbClr val="57606A"/>
                </a:solidFill>
              </a:rPr>
              <a:t>, lalu menimpa dua </a:t>
            </a:r>
            <a:r>
              <a:rPr lang="id-ID" altLang="en-US" sz="1800" i="1" dirty="0">
                <a:solidFill>
                  <a:srgbClr val="57606A"/>
                </a:solidFill>
              </a:rPr>
              <a:t>method</a:t>
            </a:r>
            <a:r>
              <a:rPr lang="id-ID" altLang="en-US" sz="1800" dirty="0">
                <a:solidFill>
                  <a:srgbClr val="57606A"/>
                </a:solidFill>
              </a:rPr>
              <a:t>. Versi induk tetap dipakai lewat </a:t>
            </a:r>
            <a:r>
              <a:rPr lang="id-ID" altLang="en-US" sz="1800" dirty="0">
                <a:solidFill>
                  <a:srgbClr val="0A3069"/>
                </a:solidFill>
                <a:latin typeface="Consolas" pitchFamily="34" charset="0"/>
                <a:ea typeface="Consolas" pitchFamily="34" charset="-122"/>
                <a:cs typeface="Consolas" pitchFamily="34" charset="-120"/>
              </a:rPr>
              <a:t>super</a:t>
            </a:r>
            <a:r>
              <a:rPr lang="id-ID" altLang="en-US" sz="1800" dirty="0">
                <a:solidFill>
                  <a:srgbClr val="57606A"/>
                </a:solidFill>
              </a:rPr>
              <a:t>.</a:t>
            </a:r>
            <a:endParaRPr lang="id-ID" sz="1800" dirty="0"/>
          </a:p>
        </p:txBody>
      </p:sp>
      <p:sp>
        <p:nvSpPr>
          <p:cNvPr id="6" name="Shape 3"/>
          <p:cNvSpPr/>
          <p:nvPr/>
        </p:nvSpPr>
        <p:spPr>
          <a:xfrm>
            <a:off x="548640" y="2467036"/>
            <a:ext cx="1051560" cy="329184"/>
          </a:xfrm>
          <a:prstGeom prst="roundRect">
            <a:avLst>
              <a:gd name="adj" fmla="val 138889"/>
            </a:avLst>
          </a:prstGeom>
          <a:solidFill>
            <a:srgbClr val="3572A5"/>
          </a:solidFill>
          <a:ln/>
        </p:spPr>
      </p:sp>
      <p:sp>
        <p:nvSpPr>
          <p:cNvPr id="7" name="Text 4"/>
          <p:cNvSpPr txBox="1"/>
          <p:nvPr/>
        </p:nvSpPr>
        <p:spPr>
          <a:xfrm>
            <a:off x="548640" y="2467036"/>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467036"/>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python/contoh/contoh03_override.py</a:t>
            </a:r>
            <a:endParaRPr lang="id-ID" sz="1100" dirty="0"/>
          </a:p>
        </p:txBody>
      </p:sp>
      <p:sp>
        <p:nvSpPr>
          <p:cNvPr id="9" name="Shape 6"/>
          <p:cNvSpPr/>
          <p:nvPr/>
        </p:nvSpPr>
        <p:spPr>
          <a:xfrm>
            <a:off x="548640" y="2887660"/>
            <a:ext cx="5432908" cy="2399030"/>
          </a:xfrm>
          <a:prstGeom prst="roundRect">
            <a:avLst>
              <a:gd name="adj" fmla="val 1453"/>
            </a:avLst>
          </a:prstGeom>
          <a:solidFill>
            <a:srgbClr val="F6F8FA"/>
          </a:solidFill>
          <a:ln w="9525">
            <a:solidFill>
              <a:srgbClr val="D0D7DE"/>
            </a:solidFill>
            <a:prstDash val="solid"/>
          </a:ln>
        </p:spPr>
      </p:sp>
      <p:sp>
        <p:nvSpPr>
          <p:cNvPr id="10" name="Text 7"/>
          <p:cNvSpPr txBox="1"/>
          <p:nvPr/>
        </p:nvSpPr>
        <p:spPr>
          <a:xfrm>
            <a:off x="658368" y="2979100"/>
            <a:ext cx="5213452" cy="2216150"/>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TiketVIP</a:t>
            </a:r>
            <a:r>
              <a:rPr lang="en-US" altLang="en-US" sz="1100" dirty="0">
                <a:solidFill>
                  <a:srgbClr val="1F2328"/>
                </a:solidFill>
                <a:latin typeface="Consolas" pitchFamily="34" charset="0"/>
                <a:ea typeface="Consolas" pitchFamily="34" charset="-122"/>
                <a:cs typeface="Consolas" pitchFamily="34" charset="-120"/>
              </a:rPr>
              <a:t>(Tiket):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info</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 -&gt; </a:t>
            </a:r>
            <a:r>
              <a:rPr lang="en-US" altLang="en-US" sz="1100" dirty="0">
                <a:solidFill>
                  <a:srgbClr val="0550AE"/>
                </a:solidFill>
                <a:latin typeface="Consolas" pitchFamily="34" charset="0"/>
                <a:ea typeface="Consolas" pitchFamily="34" charset="-122"/>
                <a:cs typeface="Consolas" pitchFamily="34" charset="-120"/>
              </a:rPr>
              <a:t>str</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return</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A3069"/>
                </a:solidFill>
                <a:latin typeface="Consolas" pitchFamily="34" charset="0"/>
                <a:ea typeface="Consolas" pitchFamily="34" charset="-122"/>
                <a:cs typeface="Consolas" pitchFamily="34" charset="-120"/>
              </a:rPr>
              <a:t>f"{</a:t>
            </a:r>
            <a:r>
              <a:rPr lang="en-US" altLang="en-US" sz="1100" dirty="0">
                <a:solidFill>
                  <a:srgbClr val="0550AE"/>
                </a:solidFill>
                <a:latin typeface="Consolas" pitchFamily="34" charset="0"/>
                <a:ea typeface="Consolas" pitchFamily="34" charset="-122"/>
                <a:cs typeface="Consolas" pitchFamily="34" charset="-120"/>
              </a:rPr>
              <a:t>super</a:t>
            </a:r>
            <a:r>
              <a:rPr lang="en-US" altLang="en-US" sz="1100" dirty="0">
                <a:solidFill>
                  <a:srgbClr val="1F2328"/>
                </a:solidFill>
                <a:latin typeface="Consolas" pitchFamily="34" charset="0"/>
                <a:ea typeface="Consolas" pitchFamily="34" charset="-122"/>
                <a:cs typeface="Consolas" pitchFamily="34" charset="-120"/>
              </a:rPr>
              <a:t>().info()</a:t>
            </a:r>
            <a:r>
              <a:rPr lang="en-US" altLang="en-US" sz="1100" dirty="0">
                <a:solidFill>
                  <a:srgbClr val="0A3069"/>
                </a:solidFill>
                <a:latin typeface="Consolas" pitchFamily="34" charset="0"/>
                <a:ea typeface="Consolas" pitchFamily="34" charset="-122"/>
                <a:cs typeface="Consolas" pitchFamily="34" charset="-120"/>
              </a:rPr>
              <a:t>} | VIP: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._fasilitas</a:t>
            </a:r>
            <a:r>
              <a:rPr lang="en-US" altLang="en-US" sz="1100" dirty="0">
                <a:solidFill>
                  <a:srgbClr val="0A3069"/>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000000"/>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hitung_bayar</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 jumlah: </a:t>
            </a:r>
            <a:r>
              <a:rPr lang="en-US" altLang="en-US" sz="1100" dirty="0">
                <a:solidFill>
                  <a:srgbClr val="0550A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-&gt; </a:t>
            </a:r>
            <a:r>
              <a:rPr lang="en-US" altLang="en-US" sz="1100" dirty="0">
                <a:solidFill>
                  <a:srgbClr val="0550A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harga_dasar = </a:t>
            </a:r>
            <a:r>
              <a:rPr lang="en-US" altLang="en-US" sz="1100" dirty="0">
                <a:solidFill>
                  <a:srgbClr val="0550AE"/>
                </a:solidFill>
                <a:latin typeface="Consolas" pitchFamily="34" charset="0"/>
                <a:ea typeface="Consolas" pitchFamily="34" charset="-122"/>
                <a:cs typeface="Consolas" pitchFamily="34" charset="-120"/>
              </a:rPr>
              <a:t>super</a:t>
            </a:r>
            <a:r>
              <a:rPr lang="en-US" altLang="en-US" sz="1100" dirty="0">
                <a:solidFill>
                  <a:srgbClr val="1F2328"/>
                </a:solidFill>
                <a:latin typeface="Consolas" pitchFamily="34" charset="0"/>
                <a:ea typeface="Consolas" pitchFamily="34" charset="-122"/>
                <a:cs typeface="Consolas" pitchFamily="34" charset="-120"/>
              </a:rPr>
              <a:t>().hitung_bayar(jumlah)</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return</a:t>
            </a:r>
            <a:r>
              <a:rPr lang="en-US" altLang="en-US" sz="1100" dirty="0">
                <a:solidFill>
                  <a:srgbClr val="1F2328"/>
                </a:solidFill>
                <a:latin typeface="Consolas" pitchFamily="34" charset="0"/>
                <a:ea typeface="Consolas" pitchFamily="34" charset="-122"/>
                <a:cs typeface="Consolas" pitchFamily="34" charset="-120"/>
              </a:rPr>
              <a:t> harga_dasar + BIAYA_LAYANAN_VIP * jumlah</a:t>
            </a:r>
            <a:endParaRPr lang="en-US" sz="1100" dirty="0"/>
          </a:p>
        </p:txBody>
      </p:sp>
      <p:sp>
        <p:nvSpPr>
          <p:cNvPr id="11" name="Shape 8"/>
          <p:cNvSpPr/>
          <p:nvPr/>
        </p:nvSpPr>
        <p:spPr>
          <a:xfrm>
            <a:off x="6210148" y="2467036"/>
            <a:ext cx="1051560" cy="329184"/>
          </a:xfrm>
          <a:prstGeom prst="roundRect">
            <a:avLst>
              <a:gd name="adj" fmla="val 138889"/>
            </a:avLst>
          </a:prstGeom>
          <a:solidFill>
            <a:srgbClr val="B07219"/>
          </a:solidFill>
          <a:ln/>
        </p:spPr>
      </p:sp>
      <p:sp>
        <p:nvSpPr>
          <p:cNvPr id="12" name="Text 9"/>
          <p:cNvSpPr txBox="1"/>
          <p:nvPr/>
        </p:nvSpPr>
        <p:spPr>
          <a:xfrm>
            <a:off x="6210148" y="2467036"/>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467036"/>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java/contoh/Contoh03Override.java</a:t>
            </a:r>
            <a:endParaRPr lang="id-ID" sz="1100" dirty="0"/>
          </a:p>
        </p:txBody>
      </p:sp>
      <p:sp>
        <p:nvSpPr>
          <p:cNvPr id="14" name="Shape 11"/>
          <p:cNvSpPr/>
          <p:nvPr/>
        </p:nvSpPr>
        <p:spPr>
          <a:xfrm>
            <a:off x="6210148" y="2887660"/>
            <a:ext cx="5432908" cy="2399030"/>
          </a:xfrm>
          <a:prstGeom prst="roundRect">
            <a:avLst>
              <a:gd name="adj" fmla="val 1453"/>
            </a:avLst>
          </a:prstGeom>
          <a:solidFill>
            <a:srgbClr val="F6F8FA"/>
          </a:solidFill>
          <a:ln w="9525">
            <a:solidFill>
              <a:srgbClr val="D0D7DE"/>
            </a:solidFill>
            <a:prstDash val="solid"/>
          </a:ln>
        </p:spPr>
      </p:sp>
      <p:sp>
        <p:nvSpPr>
          <p:cNvPr id="15" name="Text 12"/>
          <p:cNvSpPr txBox="1"/>
          <p:nvPr/>
        </p:nvSpPr>
        <p:spPr>
          <a:xfrm>
            <a:off x="6319876" y="2979100"/>
            <a:ext cx="5213452" cy="2216150"/>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TiketVIP</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extends</a:t>
            </a:r>
            <a:r>
              <a:rPr lang="en-US" altLang="en-US" sz="1100" dirty="0">
                <a:solidFill>
                  <a:srgbClr val="1F2328"/>
                </a:solidFill>
                <a:latin typeface="Consolas" pitchFamily="34" charset="0"/>
                <a:ea typeface="Consolas" pitchFamily="34" charset="-122"/>
                <a:cs typeface="Consolas" pitchFamily="34" charset="-120"/>
              </a:rPr>
              <a:t> Tiket {</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@Override</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public</a:t>
            </a:r>
            <a:r>
              <a:rPr lang="en-US" altLang="en-US" sz="1100" dirty="0">
                <a:solidFill>
                  <a:srgbClr val="1F2328"/>
                </a:solidFill>
                <a:latin typeface="Consolas" pitchFamily="34" charset="0"/>
                <a:ea typeface="Consolas" pitchFamily="34" charset="-122"/>
                <a:cs typeface="Consolas" pitchFamily="34" charset="-120"/>
              </a:rPr>
              <a:t> String </a:t>
            </a:r>
            <a:r>
              <a:rPr lang="en-US" altLang="en-US" sz="1100" dirty="0">
                <a:solidFill>
                  <a:srgbClr val="8250DF"/>
                </a:solidFill>
                <a:latin typeface="Consolas" pitchFamily="34" charset="0"/>
                <a:ea typeface="Consolas" pitchFamily="34" charset="-122"/>
                <a:cs typeface="Consolas" pitchFamily="34" charset="-120"/>
              </a:rPr>
              <a:t>info</a:t>
            </a: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return</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super</a:t>
            </a:r>
            <a:r>
              <a:rPr lang="en-US" altLang="en-US" sz="1100" dirty="0">
                <a:solidFill>
                  <a:srgbClr val="1F2328"/>
                </a:solidFill>
                <a:latin typeface="Consolas" pitchFamily="34" charset="0"/>
                <a:ea typeface="Consolas" pitchFamily="34" charset="-122"/>
                <a:cs typeface="Consolas" pitchFamily="34" charset="-120"/>
              </a:rPr>
              <a:t>.info() + </a:t>
            </a:r>
            <a:r>
              <a:rPr lang="en-US" altLang="en-US" sz="1100" dirty="0">
                <a:solidFill>
                  <a:srgbClr val="0A3069"/>
                </a:solidFill>
                <a:latin typeface="Consolas" pitchFamily="34" charset="0"/>
                <a:ea typeface="Consolas" pitchFamily="34" charset="-122"/>
                <a:cs typeface="Consolas" pitchFamily="34" charset="-120"/>
              </a:rPr>
              <a:t>" | VIP: "</a:t>
            </a:r>
            <a:r>
              <a:rPr lang="en-US" altLang="en-US" sz="1100" dirty="0">
                <a:solidFill>
                  <a:srgbClr val="1F2328"/>
                </a:solidFill>
                <a:latin typeface="Consolas" pitchFamily="34" charset="0"/>
                <a:ea typeface="Consolas" pitchFamily="34" charset="-122"/>
                <a:cs typeface="Consolas" pitchFamily="34" charset="-120"/>
              </a:rPr>
              <a:t> + fasilitas;</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000000"/>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@Override</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public</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hitungBayar</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jumlah)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hargaDasar = </a:t>
            </a:r>
            <a:r>
              <a:rPr lang="en-US" altLang="en-US" sz="1100" dirty="0">
                <a:solidFill>
                  <a:srgbClr val="CF222E"/>
                </a:solidFill>
                <a:latin typeface="Consolas" pitchFamily="34" charset="0"/>
                <a:ea typeface="Consolas" pitchFamily="34" charset="-122"/>
                <a:cs typeface="Consolas" pitchFamily="34" charset="-120"/>
              </a:rPr>
              <a:t>super</a:t>
            </a:r>
            <a:r>
              <a:rPr lang="en-US" altLang="en-US" sz="1100" dirty="0">
                <a:solidFill>
                  <a:srgbClr val="1F2328"/>
                </a:solidFill>
                <a:latin typeface="Consolas" pitchFamily="34" charset="0"/>
                <a:ea typeface="Consolas" pitchFamily="34" charset="-122"/>
                <a:cs typeface="Consolas" pitchFamily="34" charset="-120"/>
              </a:rPr>
              <a:t>.hitungBayar(jumlah);</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return</a:t>
            </a:r>
            <a:r>
              <a:rPr lang="en-US" altLang="en-US" sz="1100" dirty="0">
                <a:solidFill>
                  <a:srgbClr val="1F2328"/>
                </a:solidFill>
                <a:latin typeface="Consolas" pitchFamily="34" charset="0"/>
                <a:ea typeface="Consolas" pitchFamily="34" charset="-122"/>
                <a:cs typeface="Consolas" pitchFamily="34" charset="-120"/>
              </a:rPr>
              <a:t> hargaDasar + BIAYA_LAYANAN_VIP * jumlah;</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5</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5</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3200" b="1" dirty="0">
                <a:solidFill>
                  <a:srgbClr val="FFFFFF"/>
                </a:solidFill>
              </a:rPr>
              <a:t>Hak Akses, Kelas Akar,</a:t>
            </a:r>
            <a:endParaRPr lang="id-ID" sz="3200" dirty="0"/>
          </a:p>
          <a:p>
            <a:pPr algn="l" indent="0" marL="0">
              <a:buNone/>
            </a:pPr>
            <a:r>
              <a:rPr lang="id-ID" altLang="en-US" sz="3200" b="1" dirty="0">
                <a:solidFill>
                  <a:srgbClr val="FFFFFF"/>
                </a:solidFill>
              </a:rPr>
              <a:t>dan Kapan Tidak Mewarisi</a:t>
            </a:r>
            <a:endParaRPr lang="id-ID" sz="3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Beda aturan Python dan Java, lalu jebakan desain yang paling sering terjadi.</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Beda Aturan Pewarisan di Python dan Java</a:t>
            </a:r>
            <a:endParaRPr lang="id-ID"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530401"/>
          <a:ext cx="11094415" cy="914400"/>
        </p:xfrm>
        <a:graphic>
          <a:graphicData uri="http://schemas.openxmlformats.org/drawingml/2006/table">
            <a:tbl>
              <a:tblPr/>
              <a:tblGrid>
                <a:gridCol w="2416893"/>
                <a:gridCol w="4258170"/>
                <a:gridCol w="4419352"/>
              </a:tblGrid>
              <a:tr h="446278">
                <a:tc>
                  <a:txBody>
                    <a:bodyPr/>
                    <a:lstStyle/>
                    <a:p>
                      <a:pPr indent="0" marL="0">
                        <a:buNone/>
                      </a:pPr>
                      <a:r>
                        <a:rPr lang="id-ID" altLang="en-US" sz="1700" b="1" dirty="0">
                          <a:solidFill>
                            <a:srgbClr val="FFFFFF"/>
                          </a:solidFill>
                          <a:latin typeface="Calibri" pitchFamily="34" charset="0"/>
                          <a:ea typeface="Calibri" pitchFamily="34" charset="-122"/>
                          <a:cs typeface="Calibri" pitchFamily="34" charset="-120"/>
                        </a:rPr>
                        <a:t>Konsep</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700" b="1" dirty="0">
                          <a:solidFill>
                            <a:srgbClr val="FFFFFF"/>
                          </a:solidFill>
                          <a:latin typeface="Calibri" pitchFamily="34" charset="0"/>
                          <a:ea typeface="Calibri" pitchFamily="34" charset="-122"/>
                          <a:cs typeface="Calibri" pitchFamily="34" charset="-120"/>
                        </a:rPr>
                        <a:t>Python</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700" b="1" dirty="0">
                          <a:solidFill>
                            <a:srgbClr val="FFFFFF"/>
                          </a:solidFill>
                          <a:latin typeface="Calibri" pitchFamily="34" charset="0"/>
                          <a:ea typeface="Calibri" pitchFamily="34" charset="-122"/>
                          <a:cs typeface="Calibri" pitchFamily="34" charset="-120"/>
                        </a:rPr>
                        <a:t>Java</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446278">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Atribut untuk kelas anak</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kesepakatan </a:t>
                      </a:r>
                      <a:r>
                        <a:rPr lang="id-ID" altLang="en-US" sz="1700" dirty="0">
                          <a:solidFill>
                            <a:srgbClr val="0A3069"/>
                          </a:solidFill>
                          <a:latin typeface="Consolas" pitchFamily="34" charset="0"/>
                          <a:ea typeface="Consolas" pitchFamily="34" charset="-122"/>
                          <a:cs typeface="Consolas" pitchFamily="34" charset="-120"/>
                        </a:rPr>
                        <a:t>_nama</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protected</a:t>
                      </a:r>
                      <a:r>
                        <a:rPr lang="id-ID" altLang="en-US" sz="1700" dirty="0">
                          <a:solidFill>
                            <a:srgbClr val="1F2328"/>
                          </a:solidFill>
                          <a:latin typeface="Calibri" pitchFamily="34" charset="0"/>
                          <a:ea typeface="Calibri" pitchFamily="34" charset="-122"/>
                          <a:cs typeface="Calibri" pitchFamily="34" charset="-120"/>
                        </a:rPr>
                        <a:t> (juga terbuka untuk satu paket)</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46278">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Tertutup bagi kelas anak</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__nama</a:t>
                      </a:r>
                      <a:r>
                        <a:rPr lang="id-ID" altLang="en-US" sz="1700" dirty="0">
                          <a:solidFill>
                            <a:srgbClr val="1F2328"/>
                          </a:solidFill>
                          <a:latin typeface="Calibri" pitchFamily="34" charset="0"/>
                          <a:ea typeface="Calibri" pitchFamily="34" charset="-122"/>
                          <a:cs typeface="Calibri" pitchFamily="34" charset="-120"/>
                        </a:rPr>
                        <a:t> (</a:t>
                      </a:r>
                      <a:r>
                        <a:rPr lang="id-ID" altLang="en-US" sz="1700" i="1" dirty="0">
                          <a:solidFill>
                            <a:srgbClr val="1F2328"/>
                          </a:solidFill>
                          <a:latin typeface="Calibri" pitchFamily="34" charset="0"/>
                          <a:ea typeface="Calibri" pitchFamily="34" charset="-122"/>
                          <a:cs typeface="Calibri" pitchFamily="34" charset="-120"/>
                        </a:rPr>
                        <a:t>name mangling</a:t>
                      </a:r>
                      <a:r>
                        <a:rPr lang="id-ID" altLang="en-US" sz="1700" dirty="0">
                          <a:solidFill>
                            <a:srgbClr val="1F2328"/>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private</a:t>
                      </a:r>
                      <a:r>
                        <a:rPr lang="id-ID" altLang="en-US" sz="1700" dirty="0">
                          <a:solidFill>
                            <a:srgbClr val="1F2328"/>
                          </a:solidFill>
                          <a:latin typeface="Calibri" pitchFamily="34" charset="0"/>
                          <a:ea typeface="Calibri" pitchFamily="34" charset="-122"/>
                          <a:cs typeface="Calibri" pitchFamily="34" charset="-120"/>
                        </a:rPr>
                        <a:t> (tetap ada di objek anak)</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46278">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Kelas akar</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object</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Object</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09676">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Teks objek bawaan yang di-⁠</a:t>
                      </a:r>
                      <a:r>
                        <a:rPr lang="id-ID" altLang="en-US" sz="1700" i="1" dirty="0">
                          <a:solidFill>
                            <a:srgbClr val="1F2328"/>
                          </a:solidFill>
                          <a:latin typeface="Calibri" pitchFamily="34" charset="0"/>
                          <a:ea typeface="Calibri" pitchFamily="34" charset="-122"/>
                          <a:cs typeface="Calibri" pitchFamily="34" charset="-120"/>
                        </a:rPr>
                        <a:t>override</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__str__</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toString()</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709676">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Lebih dari satu induk</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boleh; urutan pencariannya disebut MRO (</a:t>
                      </a:r>
                      <a:r>
                        <a:rPr lang="id-ID" altLang="en-US" sz="1700" i="1" dirty="0">
                          <a:solidFill>
                            <a:srgbClr val="1F2328"/>
                          </a:solidFill>
                          <a:latin typeface="Calibri" pitchFamily="34" charset="0"/>
                          <a:ea typeface="Calibri" pitchFamily="34" charset="-122"/>
                          <a:cs typeface="Calibri" pitchFamily="34" charset="-120"/>
                        </a:rPr>
                        <a:t>Method Resolution Order</a:t>
                      </a:r>
                      <a:r>
                        <a:rPr lang="id-ID" altLang="en-US" sz="1700" dirty="0">
                          <a:solidFill>
                            <a:srgbClr val="1F2328"/>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tidak boleh; satu induk + </a:t>
                      </a:r>
                      <a:r>
                        <a:rPr lang="id-ID" altLang="en-US" sz="1700" i="1" dirty="0">
                          <a:solidFill>
                            <a:srgbClr val="1F2328"/>
                          </a:solidFill>
                          <a:latin typeface="Calibri" pitchFamily="34" charset="0"/>
                          <a:ea typeface="Calibri" pitchFamily="34" charset="-122"/>
                          <a:cs typeface="Calibri" pitchFamily="34" charset="-120"/>
                        </a:rPr>
                        <a:t>interface</a:t>
                      </a:r>
                      <a:r>
                        <a:rPr lang="id-ID" altLang="en-US" sz="1700" dirty="0">
                          <a:solidFill>
                            <a:srgbClr val="1F2328"/>
                          </a:solidFill>
                          <a:latin typeface="Calibri" pitchFamily="34" charset="0"/>
                          <a:ea typeface="Calibri" pitchFamily="34" charset="-122"/>
                          <a:cs typeface="Calibri" pitchFamily="34" charset="-120"/>
                        </a:rPr>
                        <a:t> (Pertemuan 10)</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09676">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Mengunci kelas atau </a:t>
                      </a:r>
                      <a:r>
                        <a:rPr lang="id-ID" altLang="en-US" sz="1700" i="1" dirty="0">
                          <a:solidFill>
                            <a:srgbClr val="1F2328"/>
                          </a:solidFill>
                          <a:latin typeface="Calibri" pitchFamily="34" charset="0"/>
                          <a:ea typeface="Calibri" pitchFamily="34" charset="-122"/>
                          <a:cs typeface="Calibri" pitchFamily="34" charset="-120"/>
                        </a:rPr>
                        <a:t>method</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1F2328"/>
                          </a:solidFill>
                          <a:latin typeface="Calibri" pitchFamily="34" charset="0"/>
                          <a:ea typeface="Calibri" pitchFamily="34" charset="-122"/>
                          <a:cs typeface="Calibri" pitchFamily="34" charset="-120"/>
                        </a:rPr>
                        <a:t>tidak ada kata kunci</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700" dirty="0">
                          <a:solidFill>
                            <a:srgbClr val="0A3069"/>
                          </a:solidFill>
                          <a:latin typeface="Consolas" pitchFamily="34" charset="0"/>
                          <a:ea typeface="Consolas" pitchFamily="34" charset="-122"/>
                          <a:cs typeface="Consolas" pitchFamily="34" charset="-120"/>
                        </a:rPr>
                        <a:t>final</a:t>
                      </a:r>
                      <a:endParaRPr lang="en-US" sz="17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691429"/>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763849"/>
            <a:ext cx="184343" cy="184343"/>
          </a:xfrm>
          <a:prstGeom prst="rect">
            <a:avLst/>
          </a:prstGeom>
        </p:spPr>
      </p:pic>
      <p:sp>
        <p:nvSpPr>
          <p:cNvPr id="8" name="Text 3"/>
          <p:cNvSpPr txBox="1"/>
          <p:nvPr/>
        </p:nvSpPr>
        <p:spPr>
          <a:xfrm>
            <a:off x="1005840" y="5673141"/>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Pilihan aman di kedua bahasa: buat atribut tertutup, lalu sediakan </a:t>
            </a:r>
            <a:r>
              <a:rPr lang="id-ID" altLang="en-US" sz="1800" i="1" dirty="0">
                <a:solidFill>
                  <a:srgbClr val="57606A"/>
                </a:solidFill>
              </a:rPr>
              <a:t>method</a:t>
            </a:r>
            <a:r>
              <a:rPr lang="id-ID" altLang="en-US" sz="1800" dirty="0">
                <a:solidFill>
                  <a:srgbClr val="57606A"/>
                </a:solidFill>
              </a:rPr>
              <a:t> resmi yang juga dipakai kelas anak.</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Mobil Bukan Mesin: </a:t>
            </a:r>
            <a:r>
              <a:rPr lang="id-ID" altLang="en-US" sz="3200" b="1" i="1" dirty="0">
                <a:solidFill>
                  <a:srgbClr val="0A3069"/>
                </a:solidFill>
              </a:rPr>
              <a:t>Is-⁠a</a:t>
            </a:r>
            <a:r>
              <a:rPr lang="id-ID" altLang="en-US" sz="3200" b="1" dirty="0">
                <a:solidFill>
                  <a:srgbClr val="0A3069"/>
                </a:solidFill>
              </a:rPr>
              <a:t> vs </a:t>
            </a:r>
            <a:r>
              <a:rPr lang="id-ID" altLang="en-US" sz="3200" b="1" i="1" dirty="0">
                <a:solidFill>
                  <a:srgbClr val="0A3069"/>
                </a:solidFill>
              </a:rPr>
              <a:t>Has-⁠a</a:t>
            </a:r>
            <a:endParaRPr lang="id-ID" sz="3200" dirty="0"/>
          </a:p>
        </p:txBody>
      </p:sp>
      <p:sp>
        <p:nvSpPr>
          <p:cNvPr id="5" name="Text 2"/>
          <p:cNvSpPr txBox="1"/>
          <p:nvPr/>
        </p:nvSpPr>
        <p:spPr>
          <a:xfrm>
            <a:off x="548640" y="1758208"/>
            <a:ext cx="11094415" cy="603504"/>
          </a:xfrm>
          <a:prstGeom prst="rect">
            <a:avLst/>
          </a:prstGeom>
          <a:noFill/>
          <a:ln/>
        </p:spPr>
        <p:txBody>
          <a:bodyPr wrap="square" lIns="0" tIns="0" rIns="0" bIns="0" rtlCol="0" anchor="t"/>
          <a:lstStyle/>
          <a:p>
            <a:pPr indent="0" marL="0">
              <a:buNone/>
            </a:pPr>
            <a:r>
              <a:rPr lang="id-ID" altLang="en-US" sz="1800" dirty="0">
                <a:solidFill>
                  <a:srgbClr val="57606A"/>
                </a:solidFill>
              </a:rPr>
              <a:t>Mobil butuh </a:t>
            </a:r>
            <a:r>
              <a:rPr lang="id-ID" altLang="en-US" sz="1800" dirty="0">
                <a:solidFill>
                  <a:srgbClr val="0A3069"/>
                </a:solidFill>
                <a:latin typeface="Consolas" pitchFamily="34" charset="0"/>
                <a:ea typeface="Consolas" pitchFamily="34" charset="-122"/>
                <a:cs typeface="Consolas" pitchFamily="34" charset="-120"/>
              </a:rPr>
              <a:t>hidupkan()</a:t>
            </a:r>
            <a:r>
              <a:rPr lang="id-ID" altLang="en-US" sz="1800" dirty="0">
                <a:solidFill>
                  <a:srgbClr val="57606A"/>
                </a:solidFill>
              </a:rPr>
              <a:t> milik </a:t>
            </a:r>
            <a:r>
              <a:rPr lang="id-ID" altLang="en-US" sz="1800" dirty="0">
                <a:solidFill>
                  <a:srgbClr val="0A3069"/>
                </a:solidFill>
                <a:latin typeface="Consolas" pitchFamily="34" charset="0"/>
                <a:ea typeface="Consolas" pitchFamily="34" charset="-122"/>
                <a:cs typeface="Consolas" pitchFamily="34" charset="-120"/>
              </a:rPr>
              <a:t>Mesin</a:t>
            </a:r>
            <a:r>
              <a:rPr lang="id-ID" altLang="en-US" sz="1800" dirty="0">
                <a:solidFill>
                  <a:srgbClr val="57606A"/>
                </a:solidFill>
              </a:rPr>
              <a:t>. Rancangan keliru mewarisi </a:t>
            </a:r>
            <a:r>
              <a:rPr lang="id-ID" altLang="en-US" sz="1800" dirty="0">
                <a:solidFill>
                  <a:srgbClr val="0A3069"/>
                </a:solidFill>
                <a:latin typeface="Consolas" pitchFamily="34" charset="0"/>
                <a:ea typeface="Consolas" pitchFamily="34" charset="-122"/>
                <a:cs typeface="Consolas" pitchFamily="34" charset="-120"/>
              </a:rPr>
              <a:t>Mesin</a:t>
            </a:r>
            <a:r>
              <a:rPr lang="id-ID" altLang="en-US" sz="1800" dirty="0">
                <a:solidFill>
                  <a:srgbClr val="57606A"/>
                </a:solidFill>
              </a:rPr>
              <a:t>; rancangan tepat </a:t>
            </a:r>
            <a:r>
              <a:rPr lang="id-ID" altLang="en-US" sz="1800" b="1" dirty="0">
                <a:solidFill>
                  <a:srgbClr val="57606A"/>
                </a:solidFill>
              </a:rPr>
              <a:t>menyimpan</a:t>
            </a:r>
            <a:r>
              <a:rPr lang="id-ID" altLang="en-US" sz="1800" dirty="0">
                <a:solidFill>
                  <a:srgbClr val="57606A"/>
                </a:solidFill>
              </a:rPr>
              <a:t> objek </a:t>
            </a:r>
            <a:r>
              <a:rPr lang="id-ID" altLang="en-US" sz="1800" dirty="0">
                <a:solidFill>
                  <a:srgbClr val="0A3069"/>
                </a:solidFill>
                <a:latin typeface="Consolas" pitchFamily="34" charset="0"/>
                <a:ea typeface="Consolas" pitchFamily="34" charset="-122"/>
                <a:cs typeface="Consolas" pitchFamily="34" charset="-120"/>
              </a:rPr>
              <a:t>Mesin</a:t>
            </a:r>
            <a:r>
              <a:rPr lang="id-ID" altLang="en-US" sz="1800" dirty="0">
                <a:solidFill>
                  <a:srgbClr val="57606A"/>
                </a:solidFill>
              </a:rPr>
              <a:t>.</a:t>
            </a:r>
            <a:endParaRPr lang="id-ID" sz="1800" dirty="0"/>
          </a:p>
        </p:txBody>
      </p:sp>
      <p:sp>
        <p:nvSpPr>
          <p:cNvPr id="6" name="Shape 3"/>
          <p:cNvSpPr/>
          <p:nvPr/>
        </p:nvSpPr>
        <p:spPr>
          <a:xfrm>
            <a:off x="548640" y="2471440"/>
            <a:ext cx="1051560" cy="329184"/>
          </a:xfrm>
          <a:prstGeom prst="roundRect">
            <a:avLst>
              <a:gd name="adj" fmla="val 138889"/>
            </a:avLst>
          </a:prstGeom>
          <a:solidFill>
            <a:srgbClr val="3572A5"/>
          </a:solidFill>
          <a:ln/>
        </p:spPr>
      </p:sp>
      <p:sp>
        <p:nvSpPr>
          <p:cNvPr id="7" name="Text 4"/>
          <p:cNvSpPr txBox="1"/>
          <p:nvPr/>
        </p:nvSpPr>
        <p:spPr>
          <a:xfrm>
            <a:off x="548640" y="2471440"/>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471440"/>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python/contoh/contoh07_is_a_dan_has_a.py</a:t>
            </a:r>
            <a:endParaRPr lang="id-ID" sz="1100" dirty="0"/>
          </a:p>
        </p:txBody>
      </p:sp>
      <p:sp>
        <p:nvSpPr>
          <p:cNvPr id="9" name="Shape 6"/>
          <p:cNvSpPr/>
          <p:nvPr/>
        </p:nvSpPr>
        <p:spPr>
          <a:xfrm>
            <a:off x="548640" y="2892064"/>
            <a:ext cx="5432908" cy="2773680"/>
          </a:xfrm>
          <a:prstGeom prst="roundRect">
            <a:avLst>
              <a:gd name="adj" fmla="val 1087"/>
            </a:avLst>
          </a:prstGeom>
          <a:solidFill>
            <a:srgbClr val="F6F8FA"/>
          </a:solidFill>
          <a:ln w="9525">
            <a:solidFill>
              <a:srgbClr val="D0D7DE"/>
            </a:solidFill>
            <a:prstDash val="solid"/>
          </a:ln>
        </p:spPr>
      </p:sp>
      <p:sp>
        <p:nvSpPr>
          <p:cNvPr id="10" name="Text 7"/>
          <p:cNvSpPr txBox="1"/>
          <p:nvPr/>
        </p:nvSpPr>
        <p:spPr>
          <a:xfrm>
            <a:off x="658368" y="2983504"/>
            <a:ext cx="5213452" cy="2590800"/>
          </a:xfrm>
          <a:prstGeom prst="rect">
            <a:avLst/>
          </a:prstGeom>
          <a:noFill/>
          <a:ln/>
        </p:spPr>
        <p:txBody>
          <a:bodyPr wrap="square" lIns="0" tIns="0" rIns="0" bIns="0" rtlCol="0" anchor="t"/>
          <a:lstStyle/>
          <a:p>
            <a:pPr indent="0" marL="0">
              <a:buNone/>
            </a:pPr>
            <a:r>
              <a:rPr lang="en-US" altLang="en-US" sz="1200" dirty="0">
                <a:solidFill>
                  <a:srgbClr val="CF222E"/>
                </a:solidFill>
                <a:latin typeface="Consolas" pitchFamily="34" charset="0"/>
                <a:ea typeface="Consolas" pitchFamily="34" charset="-122"/>
                <a:cs typeface="Consolas" pitchFamily="34" charset="-120"/>
              </a:rPr>
              <a:t>class</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953800"/>
                </a:solidFill>
                <a:latin typeface="Consolas" pitchFamily="34" charset="0"/>
                <a:ea typeface="Consolas" pitchFamily="34" charset="-122"/>
                <a:cs typeface="Consolas" pitchFamily="34" charset="-120"/>
              </a:rPr>
              <a:t>MobilKeliru</a:t>
            </a:r>
            <a:r>
              <a:rPr lang="en-US" altLang="en-US" sz="1200" dirty="0">
                <a:solidFill>
                  <a:srgbClr val="1F2328"/>
                </a:solidFill>
                <a:latin typeface="Consolas" pitchFamily="34" charset="0"/>
                <a:ea typeface="Consolas" pitchFamily="34" charset="-122"/>
                <a:cs typeface="Consolas" pitchFamily="34" charset="-120"/>
              </a:rPr>
              <a:t>(Mesin):</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000000"/>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CF222E"/>
                </a:solidFill>
                <a:latin typeface="Consolas" pitchFamily="34" charset="0"/>
                <a:ea typeface="Consolas" pitchFamily="34" charset="-122"/>
                <a:cs typeface="Consolas" pitchFamily="34" charset="-120"/>
              </a:rPr>
              <a:t>class</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953800"/>
                </a:solidFill>
                <a:latin typeface="Consolas" pitchFamily="34" charset="0"/>
                <a:ea typeface="Consolas" pitchFamily="34" charset="-122"/>
                <a:cs typeface="Consolas" pitchFamily="34" charset="-120"/>
              </a:rPr>
              <a:t>MobilTepat</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def</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__init__</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 nama: </a:t>
            </a:r>
            <a:r>
              <a:rPr lang="en-US" altLang="en-US" sz="1200" dirty="0">
                <a:solidFill>
                  <a:srgbClr val="0550AE"/>
                </a:solidFill>
                <a:latin typeface="Consolas" pitchFamily="34" charset="0"/>
                <a:ea typeface="Consolas" pitchFamily="34" charset="-122"/>
                <a:cs typeface="Consolas" pitchFamily="34" charset="-120"/>
              </a:rPr>
              <a:t>str</a:t>
            </a:r>
            <a:r>
              <a:rPr lang="en-US" altLang="en-US" sz="1200" dirty="0">
                <a:solidFill>
                  <a:srgbClr val="1F2328"/>
                </a:solidFill>
                <a:latin typeface="Consolas" pitchFamily="34" charset="0"/>
                <a:ea typeface="Consolas" pitchFamily="34" charset="-122"/>
                <a:cs typeface="Consolas" pitchFamily="34" charset="-120"/>
              </a:rPr>
              <a:t>, mesin: Mesin):</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._nama = nama</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._mesin = mesin</a:t>
            </a:r>
            <a:endParaRPr lang="en-US" sz="1200" dirty="0"/>
          </a:p>
          <a:p>
            <a:pPr indent="0" marL="0">
              <a:buNone/>
            </a:pPr>
            <a:r>
              <a:rPr lang="en-US" altLang="en-US" sz="1200" dirty="0">
                <a:solidFill>
                  <a:srgbClr val="000000"/>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def</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jalan</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 -&gt; </a:t>
            </a:r>
            <a:r>
              <a:rPr lang="en-US" altLang="en-US" sz="1200" dirty="0">
                <a:solidFill>
                  <a:srgbClr val="0550AE"/>
                </a:solidFill>
                <a:latin typeface="Consolas" pitchFamily="34" charset="0"/>
                <a:ea typeface="Consolas" pitchFamily="34" charset="-122"/>
                <a:cs typeface="Consolas" pitchFamily="34" charset="-120"/>
              </a:rPr>
              <a:t>str</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return</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A3069"/>
                </a:solidFill>
                <a:latin typeface="Consolas" pitchFamily="34" charset="0"/>
                <a:ea typeface="Consolas" pitchFamily="34" charset="-122"/>
                <a:cs typeface="Consolas" pitchFamily="34" charset="-120"/>
              </a:rPr>
              <a:t>f"{</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._nama</a:t>
            </a:r>
            <a:r>
              <a:rPr lang="en-US" altLang="en-US" sz="1200" dirty="0">
                <a:solidFill>
                  <a:srgbClr val="0A3069"/>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._mesin.hidupkan()</a:t>
            </a:r>
            <a:r>
              <a:rPr lang="en-US" altLang="en-US" sz="1200" dirty="0">
                <a:solidFill>
                  <a:srgbClr val="0A3069"/>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000000"/>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def</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ganti_mesin</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 mesin_baru: Mesin):</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._mesin = mesin_baru</a:t>
            </a:r>
            <a:endParaRPr lang="en-US" sz="1200" dirty="0"/>
          </a:p>
        </p:txBody>
      </p:sp>
      <p:sp>
        <p:nvSpPr>
          <p:cNvPr id="11" name="Shape 8"/>
          <p:cNvSpPr/>
          <p:nvPr/>
        </p:nvSpPr>
        <p:spPr>
          <a:xfrm>
            <a:off x="6210148" y="2471440"/>
            <a:ext cx="1051560" cy="329184"/>
          </a:xfrm>
          <a:prstGeom prst="roundRect">
            <a:avLst>
              <a:gd name="adj" fmla="val 138889"/>
            </a:avLst>
          </a:prstGeom>
          <a:solidFill>
            <a:srgbClr val="B07219"/>
          </a:solidFill>
          <a:ln/>
        </p:spPr>
      </p:sp>
      <p:sp>
        <p:nvSpPr>
          <p:cNvPr id="12" name="Text 9"/>
          <p:cNvSpPr txBox="1"/>
          <p:nvPr/>
        </p:nvSpPr>
        <p:spPr>
          <a:xfrm>
            <a:off x="6210148" y="2471440"/>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471440"/>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java/contoh/Contoh07IsADanHasA.java</a:t>
            </a:r>
            <a:endParaRPr lang="id-ID" sz="1100" dirty="0"/>
          </a:p>
        </p:txBody>
      </p:sp>
      <p:sp>
        <p:nvSpPr>
          <p:cNvPr id="14" name="Shape 11"/>
          <p:cNvSpPr/>
          <p:nvPr/>
        </p:nvSpPr>
        <p:spPr>
          <a:xfrm>
            <a:off x="6210148" y="2892064"/>
            <a:ext cx="5432908" cy="2773680"/>
          </a:xfrm>
          <a:prstGeom prst="roundRect">
            <a:avLst>
              <a:gd name="adj" fmla="val 1087"/>
            </a:avLst>
          </a:prstGeom>
          <a:solidFill>
            <a:srgbClr val="F6F8FA"/>
          </a:solidFill>
          <a:ln w="9525">
            <a:solidFill>
              <a:srgbClr val="D0D7DE"/>
            </a:solidFill>
            <a:prstDash val="solid"/>
          </a:ln>
        </p:spPr>
      </p:sp>
      <p:sp>
        <p:nvSpPr>
          <p:cNvPr id="15" name="Text 12"/>
          <p:cNvSpPr txBox="1"/>
          <p:nvPr/>
        </p:nvSpPr>
        <p:spPr>
          <a:xfrm>
            <a:off x="6319876" y="2983504"/>
            <a:ext cx="5213452" cy="2590800"/>
          </a:xfrm>
          <a:prstGeom prst="rect">
            <a:avLst/>
          </a:prstGeom>
          <a:noFill/>
          <a:ln/>
        </p:spPr>
        <p:txBody>
          <a:bodyPr wrap="square" lIns="0" tIns="0" rIns="0" bIns="0" rtlCol="0" anchor="t"/>
          <a:lstStyle/>
          <a:p>
            <a:pPr indent="0" marL="0">
              <a:buNone/>
            </a:pPr>
            <a:r>
              <a:rPr lang="en-US" altLang="en-US" sz="1200" dirty="0">
                <a:solidFill>
                  <a:srgbClr val="CF222E"/>
                </a:solidFill>
                <a:latin typeface="Consolas" pitchFamily="34" charset="0"/>
                <a:ea typeface="Consolas" pitchFamily="34" charset="-122"/>
                <a:cs typeface="Consolas" pitchFamily="34" charset="-120"/>
              </a:rPr>
              <a:t>class</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953800"/>
                </a:solidFill>
                <a:latin typeface="Consolas" pitchFamily="34" charset="0"/>
                <a:ea typeface="Consolas" pitchFamily="34" charset="-122"/>
                <a:cs typeface="Consolas" pitchFamily="34" charset="-120"/>
              </a:rPr>
              <a:t>MobilKeliru</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extends</a:t>
            </a:r>
            <a:r>
              <a:rPr lang="en-US" altLang="en-US" sz="1200" dirty="0">
                <a:solidFill>
                  <a:srgbClr val="1F2328"/>
                </a:solidFill>
                <a:latin typeface="Consolas" pitchFamily="34" charset="0"/>
                <a:ea typeface="Consolas" pitchFamily="34" charset="-122"/>
                <a:cs typeface="Consolas" pitchFamily="34" charset="-120"/>
              </a:rPr>
              <a:t> Mesin {</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CF222E"/>
                </a:solidFill>
                <a:latin typeface="Consolas" pitchFamily="34" charset="0"/>
                <a:ea typeface="Consolas" pitchFamily="34" charset="-122"/>
                <a:cs typeface="Consolas" pitchFamily="34" charset="-120"/>
              </a:rPr>
              <a:t>class</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953800"/>
                </a:solidFill>
                <a:latin typeface="Consolas" pitchFamily="34" charset="0"/>
                <a:ea typeface="Consolas" pitchFamily="34" charset="-122"/>
                <a:cs typeface="Consolas" pitchFamily="34" charset="-120"/>
              </a:rPr>
              <a:t>MobilTepat</a:t>
            </a: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private</a:t>
            </a:r>
            <a:r>
              <a:rPr lang="en-US" altLang="en-US" sz="1200" dirty="0">
                <a:solidFill>
                  <a:srgbClr val="1F2328"/>
                </a:solidFill>
                <a:latin typeface="Consolas" pitchFamily="34" charset="0"/>
                <a:ea typeface="Consolas" pitchFamily="34" charset="-122"/>
                <a:cs typeface="Consolas" pitchFamily="34" charset="-120"/>
              </a:rPr>
              <a:t> String nama;</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private</a:t>
            </a:r>
            <a:r>
              <a:rPr lang="en-US" altLang="en-US" sz="1200" dirty="0">
                <a:solidFill>
                  <a:srgbClr val="1F2328"/>
                </a:solidFill>
                <a:latin typeface="Consolas" pitchFamily="34" charset="0"/>
                <a:ea typeface="Consolas" pitchFamily="34" charset="-122"/>
                <a:cs typeface="Consolas" pitchFamily="34" charset="-120"/>
              </a:rPr>
              <a:t> Mesin mesin;</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public</a:t>
            </a:r>
            <a:r>
              <a:rPr lang="en-US" altLang="en-US" sz="1200" dirty="0">
                <a:solidFill>
                  <a:srgbClr val="1F2328"/>
                </a:solidFill>
                <a:latin typeface="Consolas" pitchFamily="34" charset="0"/>
                <a:ea typeface="Consolas" pitchFamily="34" charset="-122"/>
                <a:cs typeface="Consolas" pitchFamily="34" charset="-120"/>
              </a:rPr>
              <a:t> String </a:t>
            </a:r>
            <a:r>
              <a:rPr lang="en-US" altLang="en-US" sz="1200" dirty="0">
                <a:solidFill>
                  <a:srgbClr val="8250DF"/>
                </a:solidFill>
                <a:latin typeface="Consolas" pitchFamily="34" charset="0"/>
                <a:ea typeface="Consolas" pitchFamily="34" charset="-122"/>
                <a:cs typeface="Consolas" pitchFamily="34" charset="-120"/>
              </a:rPr>
              <a:t>jalan</a:t>
            </a: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return</a:t>
            </a:r>
            <a:r>
              <a:rPr lang="en-US" altLang="en-US" sz="1200" dirty="0">
                <a:solidFill>
                  <a:srgbClr val="1F2328"/>
                </a:solidFill>
                <a:latin typeface="Consolas" pitchFamily="34" charset="0"/>
                <a:ea typeface="Consolas" pitchFamily="34" charset="-122"/>
                <a:cs typeface="Consolas" pitchFamily="34" charset="-120"/>
              </a:rPr>
              <a:t> nama + </a:t>
            </a:r>
            <a:r>
              <a:rPr lang="en-US" altLang="en-US" sz="1200" dirty="0">
                <a:solidFill>
                  <a:srgbClr val="0A3069"/>
                </a:solidFill>
                <a:latin typeface="Consolas" pitchFamily="34" charset="0"/>
                <a:ea typeface="Consolas" pitchFamily="34" charset="-122"/>
                <a:cs typeface="Consolas" pitchFamily="34" charset="-120"/>
              </a:rPr>
              <a:t>": "</a:t>
            </a:r>
            <a:r>
              <a:rPr lang="en-US" altLang="en-US" sz="1200" dirty="0">
                <a:solidFill>
                  <a:srgbClr val="1F2328"/>
                </a:solidFill>
                <a:latin typeface="Consolas" pitchFamily="34" charset="0"/>
                <a:ea typeface="Consolas" pitchFamily="34" charset="-122"/>
                <a:cs typeface="Consolas" pitchFamily="34" charset="-120"/>
              </a:rPr>
              <a:t> + mesin.hidupkan();</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public</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void</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gantiMesin</a:t>
            </a:r>
            <a:r>
              <a:rPr lang="en-US" altLang="en-US" sz="1200" dirty="0">
                <a:solidFill>
                  <a:srgbClr val="1F2328"/>
                </a:solidFill>
                <a:latin typeface="Consolas" pitchFamily="34" charset="0"/>
                <a:ea typeface="Consolas" pitchFamily="34" charset="-122"/>
                <a:cs typeface="Consolas" pitchFamily="34" charset="-120"/>
              </a:rPr>
              <a:t>(Mesin mesinBaru)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this</a:t>
            </a:r>
            <a:r>
              <a:rPr lang="en-US" altLang="en-US" sz="1200" dirty="0">
                <a:solidFill>
                  <a:srgbClr val="1F2328"/>
                </a:solidFill>
                <a:latin typeface="Consolas" pitchFamily="34" charset="0"/>
                <a:ea typeface="Consolas" pitchFamily="34" charset="-122"/>
                <a:cs typeface="Consolas" pitchFamily="34" charset="-120"/>
              </a:rPr>
              <a:t>.mesin = mesinBaru;</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Is-⁠a</a:t>
            </a:r>
            <a:r>
              <a:rPr lang="id-ID" altLang="en-US" sz="3200" b="1" dirty="0">
                <a:solidFill>
                  <a:srgbClr val="0A3069"/>
                </a:solidFill>
              </a:rPr>
              <a:t> atau </a:t>
            </a:r>
            <a:r>
              <a:rPr lang="id-ID" altLang="en-US" sz="3200" b="1" i="1" dirty="0">
                <a:solidFill>
                  <a:srgbClr val="0A3069"/>
                </a:solidFill>
              </a:rPr>
              <a:t>Has-⁠a</a:t>
            </a:r>
            <a:r>
              <a:rPr lang="id-ID" altLang="en-US" sz="3200" b="1" dirty="0">
                <a:solidFill>
                  <a:srgbClr val="0A3069"/>
                </a:solidFill>
              </a:rPr>
              <a:t>?</a:t>
            </a:r>
            <a:endParaRPr lang="id-ID"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425001"/>
          <a:ext cx="11094415" cy="914400"/>
        </p:xfrm>
        <a:graphic>
          <a:graphicData uri="http://schemas.openxmlformats.org/drawingml/2006/table">
            <a:tbl>
              <a:tblPr/>
              <a:tblGrid>
                <a:gridCol w="3999144"/>
                <a:gridCol w="3594169"/>
                <a:gridCol w="3501103"/>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Aspek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i="1" dirty="0">
                          <a:solidFill>
                            <a:srgbClr val="FFFFFF"/>
                          </a:solidFill>
                          <a:latin typeface="Calibri" pitchFamily="34" charset="0"/>
                          <a:ea typeface="Calibri" pitchFamily="34" charset="-122"/>
                          <a:cs typeface="Calibri" pitchFamily="34" charset="-120"/>
                        </a:rPr>
                        <a:t>is-⁠a</a:t>
                      </a:r>
                      <a:r>
                        <a:rPr lang="id-ID" altLang="en-US" sz="2200" b="1" dirty="0">
                          <a:solidFill>
                            <a:srgbClr val="FFFFFF"/>
                          </a:solidFill>
                          <a:latin typeface="Calibri" pitchFamily="34" charset="0"/>
                          <a:ea typeface="Calibri" pitchFamily="34" charset="-122"/>
                          <a:cs typeface="Calibri" pitchFamily="34" charset="-120"/>
                        </a:rPr>
                        <a:t> (pewarisan)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i="1" dirty="0">
                          <a:solidFill>
                            <a:srgbClr val="FFFFFF"/>
                          </a:solidFill>
                          <a:latin typeface="Calibri" pitchFamily="34" charset="0"/>
                          <a:ea typeface="Calibri" pitchFamily="34" charset="-122"/>
                          <a:cs typeface="Calibri" pitchFamily="34" charset="-120"/>
                        </a:rPr>
                        <a:t>has-⁠a</a:t>
                      </a:r>
                      <a:r>
                        <a:rPr lang="id-ID" altLang="en-US" sz="2200" b="1" dirty="0">
                          <a:solidFill>
                            <a:srgbClr val="FFFFFF"/>
                          </a:solidFill>
                          <a:latin typeface="Calibri" pitchFamily="34" charset="0"/>
                          <a:ea typeface="Calibri" pitchFamily="34" charset="-122"/>
                          <a:cs typeface="Calibri" pitchFamily="34" charset="-120"/>
                        </a:rPr>
                        <a:t> (relasi Pertemuan 05)</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Kalimat uji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“X </a:t>
                      </a:r>
                      <a:r>
                        <a:rPr lang="id-ID" altLang="en-US" sz="2200" b="1" dirty="0">
                          <a:solidFill>
                            <a:srgbClr val="1F2328"/>
                          </a:solidFill>
                          <a:latin typeface="Calibri" pitchFamily="34" charset="0"/>
                          <a:ea typeface="Calibri" pitchFamily="34" charset="-122"/>
                          <a:cs typeface="Calibri" pitchFamily="34" charset="-120"/>
                        </a:rPr>
                        <a:t>adalah</a:t>
                      </a:r>
                      <a:r>
                        <a:rPr lang="id-ID" altLang="en-US" sz="2200" dirty="0">
                          <a:solidFill>
                            <a:srgbClr val="1F2328"/>
                          </a:solidFill>
                          <a:latin typeface="Calibri" pitchFamily="34" charset="0"/>
                          <a:ea typeface="Calibri" pitchFamily="34" charset="-122"/>
                          <a:cs typeface="Calibri" pitchFamily="34" charset="-120"/>
                        </a:rPr>
                        <a:t> Y”</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“X </a:t>
                      </a:r>
                      <a:r>
                        <a:rPr lang="id-ID" altLang="en-US" sz="2200" b="1" dirty="0">
                          <a:solidFill>
                            <a:srgbClr val="1F2328"/>
                          </a:solidFill>
                          <a:latin typeface="Calibri" pitchFamily="34" charset="0"/>
                          <a:ea typeface="Calibri" pitchFamily="34" charset="-122"/>
                          <a:cs typeface="Calibri" pitchFamily="34" charset="-120"/>
                        </a:rPr>
                        <a:t>punya</a:t>
                      </a:r>
                      <a:r>
                        <a:rPr lang="id-ID" altLang="en-US" sz="2200" dirty="0">
                          <a:solidFill>
                            <a:srgbClr val="1F2328"/>
                          </a:solidFill>
                          <a:latin typeface="Calibri" pitchFamily="34" charset="0"/>
                          <a:ea typeface="Calibri" pitchFamily="34" charset="-122"/>
                          <a:cs typeface="Calibri" pitchFamily="34" charset="-120"/>
                        </a:rPr>
                        <a:t> Y”</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523748">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Contoh</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Makanan adalah Menu</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Pesanan punya ItemPesanan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Wujud di kode</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kelas anak menyebut induknya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atribut berisi objek lain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Bisa berubah saat program berjalan?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tidak, tetap seumur hidup objek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bisa, misalnya mesin diganti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Simbol di diagram kelas</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segitiga kosong</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garis, panah, atau belah ketupat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836981"/>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909401"/>
            <a:ext cx="184343" cy="184343"/>
          </a:xfrm>
          <a:prstGeom prst="rect">
            <a:avLst/>
          </a:prstGeom>
        </p:spPr>
      </p:pic>
      <p:sp>
        <p:nvSpPr>
          <p:cNvPr id="8" name="Text 3"/>
          <p:cNvSpPr txBox="1"/>
          <p:nvPr/>
        </p:nvSpPr>
        <p:spPr>
          <a:xfrm>
            <a:off x="1005840" y="5818693"/>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Prinsip </a:t>
            </a:r>
            <a:r>
              <a:rPr lang="id-ID" altLang="en-US" sz="1800" b="1" i="1" dirty="0">
                <a:solidFill>
                  <a:srgbClr val="57606A"/>
                </a:solidFill>
              </a:rPr>
              <a:t>composition over inheritance</a:t>
            </a:r>
            <a:r>
              <a:rPr lang="id-ID" altLang="en-US" sz="1800" dirty="0">
                <a:solidFill>
                  <a:srgbClr val="57606A"/>
                </a:solidFill>
              </a:rPr>
              <a:t>: warisi hanya jika hubungannya benar-⁠benar </a:t>
            </a:r>
            <a:r>
              <a:rPr lang="id-ID" altLang="en-US" sz="1800" i="1" dirty="0">
                <a:solidFill>
                  <a:srgbClr val="57606A"/>
                </a:solidFill>
              </a:rPr>
              <a:t>is-⁠a</a:t>
            </a:r>
            <a:r>
              <a:rPr lang="id-ID" altLang="en-US" sz="1800" dirty="0">
                <a:solidFill>
                  <a:srgbClr val="57606A"/>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1216152" y="2633472"/>
            <a:ext cx="722376" cy="722376"/>
          </a:xfrm>
          <a:prstGeom prst="rect">
            <a:avLst/>
          </a:prstGeom>
        </p:spPr>
      </p:pic>
      <p:sp>
        <p:nvSpPr>
          <p:cNvPr id="4" name="Text 1"/>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FB8F44"/>
                </a:solidFill>
              </a:rPr>
              <a:t>STUDI KASUS</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Studi Kasus KedaiKita</a:t>
            </a:r>
            <a:endParaRPr lang="id-ID" sz="4200" dirty="0"/>
          </a:p>
        </p:txBody>
      </p:sp>
      <p:sp>
        <p:nvSpPr>
          <p:cNvPr id="6" name="Text 3"/>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DDF4FF"/>
                </a:solidFill>
                <a:latin typeface="Consolas" pitchFamily="34" charset="0"/>
                <a:ea typeface="Consolas" pitchFamily="34" charset="-122"/>
                <a:cs typeface="Consolas" pitchFamily="34" charset="-120"/>
              </a:rPr>
              <a:t>Makanan</a:t>
            </a:r>
            <a:r>
              <a:rPr lang="id-ID" altLang="en-US" sz="2200" dirty="0">
                <a:solidFill>
                  <a:srgbClr val="C9D7E8"/>
                </a:solidFill>
              </a:rPr>
              <a:t> dan </a:t>
            </a:r>
            <a:r>
              <a:rPr lang="id-ID" altLang="en-US" sz="2200" dirty="0">
                <a:solidFill>
                  <a:srgbClr val="DDF4FF"/>
                </a:solidFill>
                <a:latin typeface="Consolas" pitchFamily="34" charset="0"/>
                <a:ea typeface="Consolas" pitchFamily="34" charset="-122"/>
                <a:cs typeface="Consolas" pitchFamily="34" charset="-120"/>
              </a:rPr>
              <a:t>Minuman</a:t>
            </a:r>
            <a:r>
              <a:rPr lang="id-ID" altLang="en-US" sz="2200" dirty="0">
                <a:solidFill>
                  <a:srgbClr val="C9D7E8"/>
                </a:solidFill>
              </a:rPr>
              <a:t> resmi menjadi kelas anak </a:t>
            </a:r>
            <a:r>
              <a:rPr lang="id-ID" altLang="en-US" sz="2200" dirty="0">
                <a:solidFill>
                  <a:srgbClr val="DDF4FF"/>
                </a:solidFill>
                <a:latin typeface="Consolas" pitchFamily="34" charset="0"/>
                <a:ea typeface="Consolas" pitchFamily="34" charset="-122"/>
                <a:cs typeface="Consolas" pitchFamily="34" charset="-120"/>
              </a:rPr>
              <a:t>Menu</a:t>
            </a:r>
            <a:r>
              <a:rPr lang="id-ID" altLang="en-US" sz="2200" dirty="0">
                <a:solidFill>
                  <a:srgbClr val="C9D7E8"/>
                </a:solidFill>
              </a:rPr>
              <a:t>.</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Diagram Kelas KedaiKita Pertemuan 07</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pic>
        <p:nvPicPr>
          <p:cNvPr id="7" name="Image 1" descr="Bagian yang baru hanya Makanan, Minuman, dan dua garis pewarisan. Kelas lain tidak disentuh sama sekali.">    </p:cNvPr>
          <p:cNvPicPr>
            <a:picLocks noChangeAspect="1"/>
          </p:cNvPicPr>
          <p:nvPr/>
        </p:nvPicPr>
        <p:blipFill>
          <a:blip r:embed="rId2"/>
          <a:stretch>
            <a:fillRect/>
          </a:stretch>
        </p:blipFill>
        <p:spPr>
          <a:xfrm>
            <a:off x="548640" y="1677216"/>
            <a:ext cx="11094415" cy="3788811"/>
          </a:xfrm>
          <a:prstGeom prst="rect">
            <a:avLst/>
          </a:prstGeom>
        </p:spPr>
      </p:pic>
      <p:sp>
        <p:nvSpPr>
          <p:cNvPr id="8" name="Text 4"/>
          <p:cNvSpPr txBox="1"/>
          <p:nvPr/>
        </p:nvSpPr>
        <p:spPr>
          <a:xfrm>
            <a:off x="1005840" y="5575754"/>
            <a:ext cx="10180015" cy="427990"/>
          </a:xfrm>
          <a:prstGeom prst="rect">
            <a:avLst/>
          </a:prstGeom>
          <a:noFill/>
          <a:ln/>
        </p:spPr>
        <p:txBody>
          <a:bodyPr wrap="square" lIns="0" tIns="0" rIns="0" bIns="0" rtlCol="0" anchor="t"/>
          <a:lstStyle/>
          <a:p>
            <a:pPr algn="ctr" indent="0" marL="0">
              <a:buNone/>
            </a:pPr>
            <a:r>
              <a:rPr lang="id-ID" altLang="en-US" sz="1700" dirty="0">
                <a:solidFill>
                  <a:srgbClr val="57606A"/>
                </a:solidFill>
              </a:rPr>
              <a:t>Bagian yang baru hanya </a:t>
            </a:r>
            <a:r>
              <a:rPr lang="id-ID" altLang="en-US" sz="1700" dirty="0">
                <a:solidFill>
                  <a:srgbClr val="57606A"/>
                </a:solidFill>
                <a:latin typeface="Consolas" pitchFamily="34" charset="0"/>
                <a:ea typeface="Consolas" pitchFamily="34" charset="-122"/>
                <a:cs typeface="Consolas" pitchFamily="34" charset="-120"/>
              </a:rPr>
              <a:t>Makanan</a:t>
            </a:r>
            <a:r>
              <a:rPr lang="id-ID" altLang="en-US" sz="1700" dirty="0">
                <a:solidFill>
                  <a:srgbClr val="57606A"/>
                </a:solidFill>
              </a:rPr>
              <a:t>, </a:t>
            </a:r>
            <a:r>
              <a:rPr lang="id-ID" altLang="en-US" sz="1700" dirty="0">
                <a:solidFill>
                  <a:srgbClr val="57606A"/>
                </a:solidFill>
                <a:latin typeface="Consolas" pitchFamily="34" charset="0"/>
                <a:ea typeface="Consolas" pitchFamily="34" charset="-122"/>
                <a:cs typeface="Consolas" pitchFamily="34" charset="-120"/>
              </a:rPr>
              <a:t>Minuman</a:t>
            </a:r>
            <a:r>
              <a:rPr lang="id-ID" altLang="en-US" sz="1700" dirty="0">
                <a:solidFill>
                  <a:srgbClr val="57606A"/>
                </a:solidFill>
              </a:rPr>
              <a:t>, dan dua garis pewarisan. Kelas lain tidak disentuh sama sekali.</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Kelas </a:t>
            </a:r>
            <a:r>
              <a:rPr lang="id-ID" altLang="en-US" sz="3200" b="1" dirty="0">
                <a:solidFill>
                  <a:srgbClr val="0A3069"/>
                </a:solidFill>
                <a:latin typeface="Consolas" pitchFamily="34" charset="0"/>
                <a:ea typeface="Consolas" pitchFamily="34" charset="-122"/>
                <a:cs typeface="Consolas" pitchFamily="34" charset="-120"/>
              </a:rPr>
              <a:t>Minuman</a:t>
            </a:r>
            <a:r>
              <a:rPr lang="id-ID" altLang="en-US" sz="3200" b="1" dirty="0">
                <a:solidFill>
                  <a:srgbClr val="0A3069"/>
                </a:solidFill>
              </a:rPr>
              <a:t> Mewarisi </a:t>
            </a:r>
            <a:r>
              <a:rPr lang="id-ID" altLang="en-US" sz="3200" b="1" dirty="0">
                <a:solidFill>
                  <a:srgbClr val="0A3069"/>
                </a:solidFill>
                <a:latin typeface="Consolas" pitchFamily="34" charset="0"/>
                <a:ea typeface="Consolas" pitchFamily="34" charset="-122"/>
                <a:cs typeface="Consolas" pitchFamily="34" charset="-120"/>
              </a:rPr>
              <a:t>Menu</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Text 4"/>
          <p:cNvSpPr txBox="1"/>
          <p:nvPr/>
        </p:nvSpPr>
        <p:spPr>
          <a:xfrm>
            <a:off x="548640" y="1915561"/>
            <a:ext cx="11094415" cy="603504"/>
          </a:xfrm>
          <a:prstGeom prst="rect">
            <a:avLst/>
          </a:prstGeom>
          <a:noFill/>
          <a:ln/>
        </p:spPr>
        <p:txBody>
          <a:bodyPr wrap="square" lIns="0" tIns="0" rIns="0" bIns="0" rtlCol="0" anchor="t"/>
          <a:lstStyle/>
          <a:p>
            <a:pPr indent="0" marL="0">
              <a:buNone/>
            </a:pPr>
            <a:r>
              <a:rPr lang="id-ID" altLang="en-US" sz="1800" dirty="0">
                <a:solidFill>
                  <a:srgbClr val="57606A"/>
                </a:solidFill>
              </a:rPr>
              <a:t>Kepala konstruktor yang panjang dipersingkat dengan </a:t>
            </a:r>
            <a:r>
              <a:rPr lang="id-ID" altLang="en-US" sz="1800" dirty="0">
                <a:solidFill>
                  <a:srgbClr val="0A3069"/>
                </a:solidFill>
                <a:latin typeface="Consolas" pitchFamily="34" charset="0"/>
                <a:ea typeface="Consolas" pitchFamily="34" charset="-122"/>
                <a:cs typeface="Consolas" pitchFamily="34" charset="-120"/>
              </a:rPr>
              <a:t>...</a:t>
            </a:r>
            <a:r>
              <a:rPr lang="id-ID" altLang="en-US" sz="1800" dirty="0">
                <a:solidFill>
                  <a:srgbClr val="57606A"/>
                </a:solidFill>
              </a:rPr>
              <a:t>. Kategori </a:t>
            </a:r>
            <a:r>
              <a:rPr lang="id-ID" altLang="en-US" sz="1800" dirty="0">
                <a:solidFill>
                  <a:srgbClr val="0A3069"/>
                </a:solidFill>
                <a:latin typeface="Consolas" pitchFamily="34" charset="0"/>
                <a:ea typeface="Consolas" pitchFamily="34" charset="-122"/>
                <a:cs typeface="Consolas" pitchFamily="34" charset="-120"/>
              </a:rPr>
              <a:t>"Minuman"</a:t>
            </a:r>
            <a:r>
              <a:rPr lang="id-ID" altLang="en-US" sz="1800" dirty="0">
                <a:solidFill>
                  <a:srgbClr val="57606A"/>
                </a:solidFill>
              </a:rPr>
              <a:t> dikirim otomatis ke konstruktor induk.</a:t>
            </a:r>
            <a:endParaRPr lang="id-ID" sz="1800" dirty="0"/>
          </a:p>
        </p:txBody>
      </p:sp>
      <p:sp>
        <p:nvSpPr>
          <p:cNvPr id="8" name="Shape 5"/>
          <p:cNvSpPr/>
          <p:nvPr/>
        </p:nvSpPr>
        <p:spPr>
          <a:xfrm>
            <a:off x="548640" y="2628793"/>
            <a:ext cx="1051560" cy="329184"/>
          </a:xfrm>
          <a:prstGeom prst="roundRect">
            <a:avLst>
              <a:gd name="adj" fmla="val 138889"/>
            </a:avLst>
          </a:prstGeom>
          <a:solidFill>
            <a:srgbClr val="3572A5"/>
          </a:solidFill>
          <a:ln/>
        </p:spPr>
      </p:sp>
      <p:sp>
        <p:nvSpPr>
          <p:cNvPr id="9" name="Text 6"/>
          <p:cNvSpPr txBox="1"/>
          <p:nvPr/>
        </p:nvSpPr>
        <p:spPr>
          <a:xfrm>
            <a:off x="548640" y="2628793"/>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10" name="Text 7"/>
          <p:cNvSpPr txBox="1"/>
          <p:nvPr/>
        </p:nvSpPr>
        <p:spPr>
          <a:xfrm>
            <a:off x="1737360" y="2628793"/>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python/studi-kasus/menu.py</a:t>
            </a:r>
            <a:endParaRPr lang="id-ID" sz="1100" dirty="0"/>
          </a:p>
        </p:txBody>
      </p:sp>
      <p:sp>
        <p:nvSpPr>
          <p:cNvPr id="11" name="Shape 8"/>
          <p:cNvSpPr/>
          <p:nvPr/>
        </p:nvSpPr>
        <p:spPr>
          <a:xfrm>
            <a:off x="548640" y="3049417"/>
            <a:ext cx="5432908" cy="2399030"/>
          </a:xfrm>
          <a:prstGeom prst="roundRect">
            <a:avLst>
              <a:gd name="adj" fmla="val 1453"/>
            </a:avLst>
          </a:prstGeom>
          <a:solidFill>
            <a:srgbClr val="F6F8FA"/>
          </a:solidFill>
          <a:ln w="9525">
            <a:solidFill>
              <a:srgbClr val="D0D7DE"/>
            </a:solidFill>
            <a:prstDash val="solid"/>
          </a:ln>
        </p:spPr>
      </p:sp>
      <p:sp>
        <p:nvSpPr>
          <p:cNvPr id="12" name="Text 9"/>
          <p:cNvSpPr txBox="1"/>
          <p:nvPr/>
        </p:nvSpPr>
        <p:spPr>
          <a:xfrm>
            <a:off x="658368" y="3140857"/>
            <a:ext cx="5213452" cy="2216150"/>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Minuman</a:t>
            </a:r>
            <a:r>
              <a:rPr lang="en-US" altLang="en-US" sz="1100" dirty="0">
                <a:solidFill>
                  <a:srgbClr val="1F2328"/>
                </a:solidFill>
                <a:latin typeface="Consolas" pitchFamily="34" charset="0"/>
                <a:ea typeface="Consolas" pitchFamily="34" charset="-122"/>
                <a:cs typeface="Consolas" pitchFamily="34" charset="-120"/>
              </a:rPr>
              <a:t>(Menu):</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__init__</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 kode: </a:t>
            </a:r>
            <a:r>
              <a:rPr lang="en-US" altLang="en-US" sz="1100" dirty="0">
                <a:solidFill>
                  <a:srgbClr val="0550AE"/>
                </a:solidFill>
                <a:latin typeface="Consolas" pitchFamily="34" charset="0"/>
                <a:ea typeface="Consolas" pitchFamily="34" charset="-122"/>
                <a:cs typeface="Consolas" pitchFamily="34" charset="-120"/>
              </a:rPr>
              <a:t>str</a:t>
            </a:r>
            <a:r>
              <a:rPr lang="en-US" altLang="en-US" sz="1100" dirty="0">
                <a:solidFill>
                  <a:srgbClr val="1F2328"/>
                </a:solidFill>
                <a:latin typeface="Consolas" pitchFamily="34" charset="0"/>
                <a:ea typeface="Consolas" pitchFamily="34" charset="-122"/>
                <a:cs typeface="Consolas" pitchFamily="34" charset="-120"/>
              </a:rPr>
              <a:t>, ..., dingin: </a:t>
            </a:r>
            <a:r>
              <a:rPr lang="en-US" altLang="en-US" sz="1100" dirty="0">
                <a:solidFill>
                  <a:srgbClr val="0550AE"/>
                </a:solidFill>
                <a:latin typeface="Consolas" pitchFamily="34" charset="0"/>
                <a:ea typeface="Consolas" pitchFamily="34" charset="-122"/>
                <a:cs typeface="Consolas" pitchFamily="34" charset="-120"/>
              </a:rPr>
              <a:t>bool</a:t>
            </a:r>
            <a:r>
              <a:rPr lang="en-US" altLang="en-US" sz="1100" dirty="0">
                <a:solidFill>
                  <a:srgbClr val="1F2328"/>
                </a:solidFill>
                <a:latin typeface="Consolas" pitchFamily="34" charset="0"/>
                <a:ea typeface="Consolas" pitchFamily="34" charset="-122"/>
                <a:cs typeface="Consolas" pitchFamily="34" charset="-120"/>
              </a:rPr>
              <a:t> = </a:t>
            </a:r>
            <a:r>
              <a:rPr lang="en-US" altLang="en-US" sz="1100" dirty="0">
                <a:solidFill>
                  <a:srgbClr val="CF222E"/>
                </a:solidFill>
                <a:latin typeface="Consolas" pitchFamily="34" charset="0"/>
                <a:ea typeface="Consolas" pitchFamily="34" charset="-122"/>
                <a:cs typeface="Consolas" pitchFamily="34" charset="-120"/>
              </a:rPr>
              <a:t>True</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super</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8250DF"/>
                </a:solidFill>
                <a:latin typeface="Consolas" pitchFamily="34" charset="0"/>
                <a:ea typeface="Consolas" pitchFamily="34" charset="-122"/>
                <a:cs typeface="Consolas" pitchFamily="34" charset="-120"/>
              </a:rPr>
              <a:t>__init__</a:t>
            </a:r>
            <a:r>
              <a:rPr lang="en-US" altLang="en-US" sz="1100" dirty="0">
                <a:solidFill>
                  <a:srgbClr val="1F2328"/>
                </a:solidFill>
                <a:latin typeface="Consolas" pitchFamily="34" charset="0"/>
                <a:ea typeface="Consolas" pitchFamily="34" charset="-122"/>
                <a:cs typeface="Consolas" pitchFamily="34" charset="-120"/>
              </a:rPr>
              <a:t>(kode, nama, harga, </a:t>
            </a:r>
            <a:r>
              <a:rPr lang="en-US" altLang="en-US" sz="1100" dirty="0">
                <a:solidFill>
                  <a:srgbClr val="0A3069"/>
                </a:solidFill>
                <a:latin typeface="Consolas" pitchFamily="34" charset="0"/>
                <a:ea typeface="Consolas" pitchFamily="34" charset="-122"/>
                <a:cs typeface="Consolas" pitchFamily="34" charset="-120"/>
              </a:rPr>
              <a:t>"Minuman"</a:t>
            </a:r>
            <a:r>
              <a:rPr lang="en-US" altLang="en-US" sz="1100" dirty="0">
                <a:solidFill>
                  <a:srgbClr val="1F2328"/>
                </a:solidFill>
                <a:latin typeface="Consolas" pitchFamily="34" charset="0"/>
                <a:ea typeface="Consolas" pitchFamily="34" charset="-122"/>
                <a:cs typeface="Consolas" pitchFamily="34" charset="-120"/>
              </a:rPr>
              <a:t>, stok)</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._dingin = dingin</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__str__</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 -&gt; </a:t>
            </a:r>
            <a:r>
              <a:rPr lang="en-US" altLang="en-US" sz="1100" dirty="0">
                <a:solidFill>
                  <a:srgbClr val="0550AE"/>
                </a:solidFill>
                <a:latin typeface="Consolas" pitchFamily="34" charset="0"/>
                <a:ea typeface="Consolas" pitchFamily="34" charset="-122"/>
                <a:cs typeface="Consolas" pitchFamily="34" charset="-120"/>
              </a:rPr>
              <a:t>str</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suhu = </a:t>
            </a:r>
            <a:r>
              <a:rPr lang="en-US" altLang="en-US" sz="1100" dirty="0">
                <a:solidFill>
                  <a:srgbClr val="0A3069"/>
                </a:solidFill>
                <a:latin typeface="Consolas" pitchFamily="34" charset="0"/>
                <a:ea typeface="Consolas" pitchFamily="34" charset="-122"/>
                <a:cs typeface="Consolas" pitchFamily="34" charset="-120"/>
              </a:rPr>
              <a:t>"dingin"</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._dingin </a:t>
            </a:r>
            <a:r>
              <a:rPr lang="en-US" altLang="en-US" sz="1100" dirty="0">
                <a:solidFill>
                  <a:srgbClr val="CF222E"/>
                </a:solidFill>
                <a:latin typeface="Consolas" pitchFamily="34" charset="0"/>
                <a:ea typeface="Consolas" pitchFamily="34" charset="-122"/>
                <a:cs typeface="Consolas" pitchFamily="34" charset="-120"/>
              </a:rPr>
              <a:t>else</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A3069"/>
                </a:solidFill>
                <a:latin typeface="Consolas" pitchFamily="34" charset="0"/>
                <a:ea typeface="Consolas" pitchFamily="34" charset="-122"/>
                <a:cs typeface="Consolas" pitchFamily="34" charset="-120"/>
              </a:rPr>
              <a:t>"panas"</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return</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A3069"/>
                </a:solidFill>
                <a:latin typeface="Consolas" pitchFamily="34" charset="0"/>
                <a:ea typeface="Consolas" pitchFamily="34" charset="-122"/>
                <a:cs typeface="Consolas" pitchFamily="34" charset="-120"/>
              </a:rPr>
              <a:t>f"{</a:t>
            </a:r>
            <a:r>
              <a:rPr lang="en-US" altLang="en-US" sz="1100" dirty="0">
                <a:solidFill>
                  <a:srgbClr val="0550AE"/>
                </a:solidFill>
                <a:latin typeface="Consolas" pitchFamily="34" charset="0"/>
                <a:ea typeface="Consolas" pitchFamily="34" charset="-122"/>
                <a:cs typeface="Consolas" pitchFamily="34" charset="-120"/>
              </a:rPr>
              <a:t>super</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8250DF"/>
                </a:solidFill>
                <a:latin typeface="Consolas" pitchFamily="34" charset="0"/>
                <a:ea typeface="Consolas" pitchFamily="34" charset="-122"/>
                <a:cs typeface="Consolas" pitchFamily="34" charset="-120"/>
              </a:rPr>
              <a:t>__str__</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A3069"/>
                </a:solidFill>
                <a:latin typeface="Consolas" pitchFamily="34" charset="0"/>
                <a:ea typeface="Consolas" pitchFamily="34" charset="-122"/>
                <a:cs typeface="Consolas" pitchFamily="34" charset="-120"/>
              </a:rPr>
              <a:t>} | {</a:t>
            </a:r>
            <a:r>
              <a:rPr lang="en-US" altLang="en-US" sz="1100" dirty="0">
                <a:solidFill>
                  <a:srgbClr val="1F2328"/>
                </a:solidFill>
                <a:latin typeface="Consolas" pitchFamily="34" charset="0"/>
                <a:ea typeface="Consolas" pitchFamily="34" charset="-122"/>
                <a:cs typeface="Consolas" pitchFamily="34" charset="-120"/>
              </a:rPr>
              <a:t>suhu</a:t>
            </a:r>
            <a:r>
              <a:rPr lang="en-US" altLang="en-US" sz="1100" dirty="0">
                <a:solidFill>
                  <a:srgbClr val="0A3069"/>
                </a:solidFill>
                <a:latin typeface="Consolas" pitchFamily="34" charset="0"/>
                <a:ea typeface="Consolas" pitchFamily="34" charset="-122"/>
                <a:cs typeface="Consolas" pitchFamily="34" charset="-120"/>
              </a:rPr>
              <a:t>}"</a:t>
            </a:r>
            <a:endParaRPr lang="en-US" sz="1100" dirty="0"/>
          </a:p>
        </p:txBody>
      </p:sp>
      <p:sp>
        <p:nvSpPr>
          <p:cNvPr id="13" name="Shape 10"/>
          <p:cNvSpPr/>
          <p:nvPr/>
        </p:nvSpPr>
        <p:spPr>
          <a:xfrm>
            <a:off x="6210148" y="2628793"/>
            <a:ext cx="1051560" cy="329184"/>
          </a:xfrm>
          <a:prstGeom prst="roundRect">
            <a:avLst>
              <a:gd name="adj" fmla="val 138889"/>
            </a:avLst>
          </a:prstGeom>
          <a:solidFill>
            <a:srgbClr val="B07219"/>
          </a:solidFill>
          <a:ln/>
        </p:spPr>
      </p:sp>
      <p:sp>
        <p:nvSpPr>
          <p:cNvPr id="14" name="Text 11"/>
          <p:cNvSpPr txBox="1"/>
          <p:nvPr/>
        </p:nvSpPr>
        <p:spPr>
          <a:xfrm>
            <a:off x="6210148" y="2628793"/>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5" name="Text 12"/>
          <p:cNvSpPr txBox="1"/>
          <p:nvPr/>
        </p:nvSpPr>
        <p:spPr>
          <a:xfrm>
            <a:off x="7398868" y="2628793"/>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java/studi-kasus/Minuman.java</a:t>
            </a:r>
            <a:endParaRPr lang="id-ID" sz="1100" dirty="0"/>
          </a:p>
        </p:txBody>
      </p:sp>
      <p:sp>
        <p:nvSpPr>
          <p:cNvPr id="16" name="Shape 13"/>
          <p:cNvSpPr/>
          <p:nvPr/>
        </p:nvSpPr>
        <p:spPr>
          <a:xfrm>
            <a:off x="6210148" y="3049417"/>
            <a:ext cx="5432908" cy="2399030"/>
          </a:xfrm>
          <a:prstGeom prst="roundRect">
            <a:avLst>
              <a:gd name="adj" fmla="val 1453"/>
            </a:avLst>
          </a:prstGeom>
          <a:solidFill>
            <a:srgbClr val="F6F8FA"/>
          </a:solidFill>
          <a:ln w="9525">
            <a:solidFill>
              <a:srgbClr val="D0D7DE"/>
            </a:solidFill>
            <a:prstDash val="solid"/>
          </a:ln>
        </p:spPr>
      </p:sp>
      <p:sp>
        <p:nvSpPr>
          <p:cNvPr id="17" name="Text 14"/>
          <p:cNvSpPr txBox="1"/>
          <p:nvPr/>
        </p:nvSpPr>
        <p:spPr>
          <a:xfrm>
            <a:off x="6319876" y="3140857"/>
            <a:ext cx="5213452" cy="2216150"/>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public</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Minuman</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extends</a:t>
            </a:r>
            <a:r>
              <a:rPr lang="en-US" altLang="en-US" sz="1100" dirty="0">
                <a:solidFill>
                  <a:srgbClr val="1F2328"/>
                </a:solidFill>
                <a:latin typeface="Consolas" pitchFamily="34" charset="0"/>
                <a:ea typeface="Consolas" pitchFamily="34" charset="-122"/>
                <a:cs typeface="Consolas" pitchFamily="34" charset="-120"/>
              </a:rPr>
              <a:t> Menu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private</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boolean</a:t>
            </a:r>
            <a:r>
              <a:rPr lang="en-US" altLang="en-US" sz="1100" dirty="0">
                <a:solidFill>
                  <a:srgbClr val="1F2328"/>
                </a:solidFill>
                <a:latin typeface="Consolas" pitchFamily="34" charset="0"/>
                <a:ea typeface="Consolas" pitchFamily="34" charset="-122"/>
                <a:cs typeface="Consolas" pitchFamily="34" charset="-120"/>
              </a:rPr>
              <a:t> dingin;</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public</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Minuman</a:t>
            </a:r>
            <a:r>
              <a:rPr lang="en-US" altLang="en-US" sz="1100" dirty="0">
                <a:solidFill>
                  <a:srgbClr val="1F2328"/>
                </a:solidFill>
                <a:latin typeface="Consolas" pitchFamily="34" charset="0"/>
                <a:ea typeface="Consolas" pitchFamily="34" charset="-122"/>
                <a:cs typeface="Consolas" pitchFamily="34" charset="-120"/>
              </a:rPr>
              <a:t>(String kode, ..., </a:t>
            </a:r>
            <a:r>
              <a:rPr lang="en-US" altLang="en-US" sz="1100" dirty="0">
                <a:solidFill>
                  <a:srgbClr val="CF222E"/>
                </a:solidFill>
                <a:latin typeface="Consolas" pitchFamily="34" charset="0"/>
                <a:ea typeface="Consolas" pitchFamily="34" charset="-122"/>
                <a:cs typeface="Consolas" pitchFamily="34" charset="-120"/>
              </a:rPr>
              <a:t>boolean</a:t>
            </a:r>
            <a:r>
              <a:rPr lang="en-US" altLang="en-US" sz="1100" dirty="0">
                <a:solidFill>
                  <a:srgbClr val="1F2328"/>
                </a:solidFill>
                <a:latin typeface="Consolas" pitchFamily="34" charset="0"/>
                <a:ea typeface="Consolas" pitchFamily="34" charset="-122"/>
                <a:cs typeface="Consolas" pitchFamily="34" charset="-120"/>
              </a:rPr>
              <a:t> dingin)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super</a:t>
            </a:r>
            <a:r>
              <a:rPr lang="en-US" altLang="en-US" sz="1100" dirty="0">
                <a:solidFill>
                  <a:srgbClr val="1F2328"/>
                </a:solidFill>
                <a:latin typeface="Consolas" pitchFamily="34" charset="0"/>
                <a:ea typeface="Consolas" pitchFamily="34" charset="-122"/>
                <a:cs typeface="Consolas" pitchFamily="34" charset="-120"/>
              </a:rPr>
              <a:t>(kode, nama, harga, </a:t>
            </a:r>
            <a:r>
              <a:rPr lang="en-US" altLang="en-US" sz="1100" dirty="0">
                <a:solidFill>
                  <a:srgbClr val="0A3069"/>
                </a:solidFill>
                <a:latin typeface="Consolas" pitchFamily="34" charset="0"/>
                <a:ea typeface="Consolas" pitchFamily="34" charset="-122"/>
                <a:cs typeface="Consolas" pitchFamily="34" charset="-120"/>
              </a:rPr>
              <a:t>"Minuman"</a:t>
            </a:r>
            <a:r>
              <a:rPr lang="en-US" altLang="en-US" sz="1100" dirty="0">
                <a:solidFill>
                  <a:srgbClr val="1F2328"/>
                </a:solidFill>
                <a:latin typeface="Consolas" pitchFamily="34" charset="0"/>
                <a:ea typeface="Consolas" pitchFamily="34" charset="-122"/>
                <a:cs typeface="Consolas" pitchFamily="34" charset="-120"/>
              </a:rPr>
              <a:t>, stok);</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this</a:t>
            </a:r>
            <a:r>
              <a:rPr lang="en-US" altLang="en-US" sz="1100" dirty="0">
                <a:solidFill>
                  <a:srgbClr val="1F2328"/>
                </a:solidFill>
                <a:latin typeface="Consolas" pitchFamily="34" charset="0"/>
                <a:ea typeface="Consolas" pitchFamily="34" charset="-122"/>
                <a:cs typeface="Consolas" pitchFamily="34" charset="-120"/>
              </a:rPr>
              <a:t>.dingin = dingin;</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@Override</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public</a:t>
            </a:r>
            <a:r>
              <a:rPr lang="en-US" altLang="en-US" sz="1100" dirty="0">
                <a:solidFill>
                  <a:srgbClr val="1F2328"/>
                </a:solidFill>
                <a:latin typeface="Consolas" pitchFamily="34" charset="0"/>
                <a:ea typeface="Consolas" pitchFamily="34" charset="-122"/>
                <a:cs typeface="Consolas" pitchFamily="34" charset="-120"/>
              </a:rPr>
              <a:t> String </a:t>
            </a:r>
            <a:r>
              <a:rPr lang="en-US" altLang="en-US" sz="1100" dirty="0">
                <a:solidFill>
                  <a:srgbClr val="8250DF"/>
                </a:solidFill>
                <a:latin typeface="Consolas" pitchFamily="34" charset="0"/>
                <a:ea typeface="Consolas" pitchFamily="34" charset="-122"/>
                <a:cs typeface="Consolas" pitchFamily="34" charset="-120"/>
              </a:rPr>
              <a:t>toString</a:t>
            </a: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String suhu = dingin ? </a:t>
            </a:r>
            <a:r>
              <a:rPr lang="en-US" altLang="en-US" sz="1100" dirty="0">
                <a:solidFill>
                  <a:srgbClr val="0A3069"/>
                </a:solidFill>
                <a:latin typeface="Consolas" pitchFamily="34" charset="0"/>
                <a:ea typeface="Consolas" pitchFamily="34" charset="-122"/>
                <a:cs typeface="Consolas" pitchFamily="34" charset="-120"/>
              </a:rPr>
              <a:t>"dingin"</a:t>
            </a:r>
            <a:r>
              <a:rPr lang="en-US" altLang="en-US" sz="1100" dirty="0">
                <a:solidFill>
                  <a:srgbClr val="1F2328"/>
                </a:solidFill>
                <a:latin typeface="Consolas" pitchFamily="34" charset="0"/>
                <a:ea typeface="Consolas" pitchFamily="34" charset="-122"/>
                <a:cs typeface="Consolas" pitchFamily="34" charset="-120"/>
              </a:rPr>
              <a:t> : </a:t>
            </a:r>
            <a:r>
              <a:rPr lang="en-US" altLang="en-US" sz="1100" dirty="0">
                <a:solidFill>
                  <a:srgbClr val="0A3069"/>
                </a:solidFill>
                <a:latin typeface="Consolas" pitchFamily="34" charset="0"/>
                <a:ea typeface="Consolas" pitchFamily="34" charset="-122"/>
                <a:cs typeface="Consolas" pitchFamily="34" charset="-120"/>
              </a:rPr>
              <a:t>"panas"</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return</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super</a:t>
            </a:r>
            <a:r>
              <a:rPr lang="en-US" altLang="en-US" sz="1100" dirty="0">
                <a:solidFill>
                  <a:srgbClr val="1F2328"/>
                </a:solidFill>
                <a:latin typeface="Consolas" pitchFamily="34" charset="0"/>
                <a:ea typeface="Consolas" pitchFamily="34" charset="-122"/>
                <a:cs typeface="Consolas" pitchFamily="34" charset="-120"/>
              </a:rPr>
              <a:t>.toString() + </a:t>
            </a:r>
            <a:r>
              <a:rPr lang="en-US" altLang="en-US" sz="1100" dirty="0">
                <a:solidFill>
                  <a:srgbClr val="0A3069"/>
                </a:solidFill>
                <a:latin typeface="Consolas" pitchFamily="34" charset="0"/>
                <a:ea typeface="Consolas" pitchFamily="34" charset="-122"/>
                <a:cs typeface="Consolas" pitchFamily="34" charset="-120"/>
              </a:rPr>
              <a:t>" | "</a:t>
            </a:r>
            <a:r>
              <a:rPr lang="en-US" altLang="en-US" sz="1100" dirty="0">
                <a:solidFill>
                  <a:srgbClr val="1F2328"/>
                </a:solidFill>
                <a:latin typeface="Consolas" pitchFamily="34" charset="0"/>
                <a:ea typeface="Consolas" pitchFamily="34" charset="-122"/>
                <a:cs typeface="Consolas" pitchFamily="34" charset="-120"/>
              </a:rPr>
              <a:t> + suhu;</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000" b="1" dirty="0">
                <a:solidFill>
                  <a:srgbClr val="0A3069"/>
                </a:solidFill>
                <a:latin typeface="Consolas" pitchFamily="34" charset="0"/>
                <a:ea typeface="Consolas" pitchFamily="34" charset="-122"/>
                <a:cs typeface="Consolas" pitchFamily="34" charset="-120"/>
              </a:rPr>
              <a:t>Kedai</a:t>
            </a:r>
            <a:r>
              <a:rPr lang="id-ID" altLang="en-US" sz="3000" b="1" dirty="0">
                <a:solidFill>
                  <a:srgbClr val="0A3069"/>
                </a:solidFill>
              </a:rPr>
              <a:t> Tidak Diubah, Menu Tetap Tampil Lengkap</a:t>
            </a:r>
            <a:endParaRPr lang="id-ID" sz="30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Text 4"/>
          <p:cNvSpPr txBox="1"/>
          <p:nvPr/>
        </p:nvSpPr>
        <p:spPr>
          <a:xfrm>
            <a:off x="548640" y="1409578"/>
            <a:ext cx="11094415" cy="324612"/>
          </a:xfrm>
          <a:prstGeom prst="rect">
            <a:avLst/>
          </a:prstGeom>
          <a:noFill/>
          <a:ln/>
        </p:spPr>
        <p:txBody>
          <a:bodyPr wrap="square" lIns="0" tIns="0" rIns="0" bIns="0" rtlCol="0" anchor="t"/>
          <a:lstStyle/>
          <a:p>
            <a:pPr indent="0" marL="0">
              <a:buNone/>
            </a:pPr>
            <a:r>
              <a:rPr lang="id-ID" altLang="en-US" sz="1800" dirty="0">
                <a:solidFill>
                  <a:srgbClr val="0A3069"/>
                </a:solidFill>
                <a:latin typeface="Consolas" pitchFamily="34" charset="0"/>
                <a:ea typeface="Consolas" pitchFamily="34" charset="-122"/>
                <a:cs typeface="Consolas" pitchFamily="34" charset="-120"/>
              </a:rPr>
              <a:t>tambah_menu</a:t>
            </a:r>
            <a:r>
              <a:rPr lang="id-ID" altLang="en-US" sz="1800" dirty="0">
                <a:solidFill>
                  <a:srgbClr val="57606A"/>
                </a:solidFill>
              </a:rPr>
              <a:t> menerima </a:t>
            </a:r>
            <a:r>
              <a:rPr lang="id-ID" altLang="en-US" sz="1800" dirty="0">
                <a:solidFill>
                  <a:srgbClr val="0A3069"/>
                </a:solidFill>
                <a:latin typeface="Consolas" pitchFamily="34" charset="0"/>
                <a:ea typeface="Consolas" pitchFamily="34" charset="-122"/>
                <a:cs typeface="Consolas" pitchFamily="34" charset="-120"/>
              </a:rPr>
              <a:t>Menu</a:t>
            </a:r>
            <a:r>
              <a:rPr lang="id-ID" altLang="en-US" sz="1800" dirty="0">
                <a:solidFill>
                  <a:srgbClr val="57606A"/>
                </a:solidFill>
              </a:rPr>
              <a:t>, dan </a:t>
            </a:r>
            <a:r>
              <a:rPr lang="id-ID" altLang="en-US" sz="1800" dirty="0">
                <a:solidFill>
                  <a:srgbClr val="0A3069"/>
                </a:solidFill>
                <a:latin typeface="Consolas" pitchFamily="34" charset="0"/>
                <a:ea typeface="Consolas" pitchFamily="34" charset="-122"/>
                <a:cs typeface="Consolas" pitchFamily="34" charset="-120"/>
              </a:rPr>
              <a:t>tampilkan_menu</a:t>
            </a:r>
            <a:r>
              <a:rPr lang="id-ID" altLang="en-US" sz="1800" dirty="0">
                <a:solidFill>
                  <a:srgbClr val="57606A"/>
                </a:solidFill>
              </a:rPr>
              <a:t> hanya mencetak setiap menu tanpa tahu jenisnya.</a:t>
            </a:r>
            <a:endParaRPr lang="id-ID" sz="1800" dirty="0"/>
          </a:p>
        </p:txBody>
      </p:sp>
      <p:sp>
        <p:nvSpPr>
          <p:cNvPr id="8" name="Shape 5"/>
          <p:cNvSpPr/>
          <p:nvPr/>
        </p:nvSpPr>
        <p:spPr>
          <a:xfrm>
            <a:off x="548640" y="1843918"/>
            <a:ext cx="1051560" cy="329184"/>
          </a:xfrm>
          <a:prstGeom prst="roundRect">
            <a:avLst>
              <a:gd name="adj" fmla="val 138889"/>
            </a:avLst>
          </a:prstGeom>
          <a:solidFill>
            <a:srgbClr val="3572A5"/>
          </a:solidFill>
          <a:ln/>
        </p:spPr>
      </p:sp>
      <p:sp>
        <p:nvSpPr>
          <p:cNvPr id="9" name="Text 6"/>
          <p:cNvSpPr txBox="1"/>
          <p:nvPr/>
        </p:nvSpPr>
        <p:spPr>
          <a:xfrm>
            <a:off x="548640" y="1843918"/>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10" name="Text 7"/>
          <p:cNvSpPr txBox="1"/>
          <p:nvPr/>
        </p:nvSpPr>
        <p:spPr>
          <a:xfrm>
            <a:off x="1737360" y="1843918"/>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python/studi-kasus/kedai.py</a:t>
            </a:r>
            <a:endParaRPr lang="id-ID" sz="1100" dirty="0"/>
          </a:p>
        </p:txBody>
      </p:sp>
      <p:sp>
        <p:nvSpPr>
          <p:cNvPr id="11" name="Shape 8"/>
          <p:cNvSpPr/>
          <p:nvPr/>
        </p:nvSpPr>
        <p:spPr>
          <a:xfrm>
            <a:off x="548640" y="2264542"/>
            <a:ext cx="5432908" cy="2129282"/>
          </a:xfrm>
          <a:prstGeom prst="roundRect">
            <a:avLst>
              <a:gd name="adj" fmla="val 1844"/>
            </a:avLst>
          </a:prstGeom>
          <a:solidFill>
            <a:srgbClr val="F6F8FA"/>
          </a:solidFill>
          <a:ln w="9525">
            <a:solidFill>
              <a:srgbClr val="D0D7DE"/>
            </a:solidFill>
            <a:prstDash val="solid"/>
          </a:ln>
        </p:spPr>
      </p:sp>
      <p:sp>
        <p:nvSpPr>
          <p:cNvPr id="12" name="Text 9"/>
          <p:cNvSpPr txBox="1"/>
          <p:nvPr/>
        </p:nvSpPr>
        <p:spPr>
          <a:xfrm>
            <a:off x="658368" y="2355982"/>
            <a:ext cx="5213452" cy="1946402"/>
          </a:xfrm>
          <a:prstGeom prst="rect">
            <a:avLst/>
          </a:prstGeom>
          <a:noFill/>
          <a:ln/>
        </p:spPr>
        <p:txBody>
          <a:bodyPr wrap="square" lIns="0" tIns="0" rIns="0" bIns="0" rtlCol="0" anchor="t"/>
          <a:lstStyle/>
          <a:p>
            <a:pPr indent="0" marL="0">
              <a:buNone/>
            </a:pPr>
            <a:r>
              <a:rPr lang="en-US" altLang="en-US" sz="1250" dirty="0">
                <a:solidFill>
                  <a:srgbClr val="CF222E"/>
                </a:solidFill>
                <a:latin typeface="Consolas" pitchFamily="34" charset="0"/>
                <a:ea typeface="Consolas" pitchFamily="34" charset="-122"/>
                <a:cs typeface="Consolas" pitchFamily="34" charset="-120"/>
              </a:rPr>
              <a:t>def</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8250DF"/>
                </a:solidFill>
                <a:latin typeface="Consolas" pitchFamily="34" charset="0"/>
                <a:ea typeface="Consolas" pitchFamily="34" charset="-122"/>
                <a:cs typeface="Consolas" pitchFamily="34" charset="-120"/>
              </a:rPr>
              <a:t>tambah_menu</a:t>
            </a:r>
            <a:r>
              <a:rPr lang="en-US" altLang="en-US" sz="1250" dirty="0">
                <a:solidFill>
                  <a:srgbClr val="1F2328"/>
                </a:solidFill>
                <a:latin typeface="Consolas" pitchFamily="34" charset="0"/>
                <a:ea typeface="Consolas" pitchFamily="34" charset="-122"/>
                <a:cs typeface="Consolas" pitchFamily="34" charset="-120"/>
              </a:rPr>
              <a:t>(</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 menu: Menu):</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._daftar_menu.append(menu)</a:t>
            </a:r>
            <a:endParaRPr lang="en-US" sz="1250" dirty="0"/>
          </a:p>
          <a:p>
            <a:pPr indent="0" marL="0">
              <a:buNone/>
            </a:pPr>
            <a:r>
              <a:rPr lang="en-US" altLang="en-US" sz="1250" i="1" dirty="0">
                <a:solidFill>
                  <a:srgbClr val="6E7781"/>
                </a:solidFill>
                <a:latin typeface="Consolas" pitchFamily="34" charset="0"/>
                <a:ea typeface="Consolas" pitchFamily="34" charset="-122"/>
                <a:cs typeface="Consolas" pitchFamily="34" charset="-120"/>
              </a:rPr>
              <a:t># ... (dilewati)</a:t>
            </a:r>
            <a:endParaRPr lang="en-US" sz="1250" dirty="0"/>
          </a:p>
          <a:p>
            <a:pPr indent="0" marL="0">
              <a:buNone/>
            </a:pPr>
            <a:r>
              <a:rPr lang="en-US" altLang="en-US" sz="1250" dirty="0">
                <a:solidFill>
                  <a:srgbClr val="CF222E"/>
                </a:solidFill>
                <a:latin typeface="Consolas" pitchFamily="34" charset="0"/>
                <a:ea typeface="Consolas" pitchFamily="34" charset="-122"/>
                <a:cs typeface="Consolas" pitchFamily="34" charset="-120"/>
              </a:rPr>
              <a:t>def</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8250DF"/>
                </a:solidFill>
                <a:latin typeface="Consolas" pitchFamily="34" charset="0"/>
                <a:ea typeface="Consolas" pitchFamily="34" charset="-122"/>
                <a:cs typeface="Consolas" pitchFamily="34" charset="-120"/>
              </a:rPr>
              <a:t>tampilkan_menu</a:t>
            </a:r>
            <a:r>
              <a:rPr lang="en-US" altLang="en-US" sz="1250" dirty="0">
                <a:solidFill>
                  <a:srgbClr val="1F2328"/>
                </a:solidFill>
                <a:latin typeface="Consolas" pitchFamily="34" charset="0"/>
                <a:ea typeface="Consolas" pitchFamily="34" charset="-122"/>
                <a:cs typeface="Consolas" pitchFamily="34" charset="-120"/>
              </a:rPr>
              <a:t>(</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print</a:t>
            </a:r>
            <a:r>
              <a:rPr lang="en-US" altLang="en-US" sz="1250" dirty="0">
                <a:solidFill>
                  <a:srgbClr val="1F2328"/>
                </a:solidFill>
                <a:latin typeface="Consolas" pitchFamily="34" charset="0"/>
                <a:ea typeface="Consolas" pitchFamily="34" charset="-122"/>
                <a:cs typeface="Consolas" pitchFamily="34" charset="-120"/>
              </a:rPr>
              <a:t>(</a:t>
            </a:r>
            <a:r>
              <a:rPr lang="en-US" altLang="en-US" sz="1250" dirty="0">
                <a:solidFill>
                  <a:srgbClr val="0A3069"/>
                </a:solidFill>
                <a:latin typeface="Consolas" pitchFamily="34" charset="0"/>
                <a:ea typeface="Consolas" pitchFamily="34" charset="-122"/>
                <a:cs typeface="Consolas" pitchFamily="34" charset="-120"/>
              </a:rPr>
              <a:t>f"=== MENU {</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._nama</a:t>
            </a:r>
            <a:r>
              <a:rPr lang="en-US" altLang="en-US" sz="1250" dirty="0">
                <a:solidFill>
                  <a:srgbClr val="0A3069"/>
                </a:solidFill>
                <a:latin typeface="Consolas" pitchFamily="34" charset="0"/>
                <a:ea typeface="Consolas" pitchFamily="34" charset="-122"/>
                <a:cs typeface="Consolas" pitchFamily="34" charset="-120"/>
              </a:rPr>
              <a:t>} ==="</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for</a:t>
            </a:r>
            <a:r>
              <a:rPr lang="en-US" altLang="en-US" sz="1250" dirty="0">
                <a:solidFill>
                  <a:srgbClr val="1F2328"/>
                </a:solidFill>
                <a:latin typeface="Consolas" pitchFamily="34" charset="0"/>
                <a:ea typeface="Consolas" pitchFamily="34" charset="-122"/>
                <a:cs typeface="Consolas" pitchFamily="34" charset="-120"/>
              </a:rPr>
              <a:t> menu in </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._daftar_menu:</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print</a:t>
            </a:r>
            <a:r>
              <a:rPr lang="en-US" altLang="en-US" sz="1250" dirty="0">
                <a:solidFill>
                  <a:srgbClr val="1F2328"/>
                </a:solidFill>
                <a:latin typeface="Consolas" pitchFamily="34" charset="0"/>
                <a:ea typeface="Consolas" pitchFamily="34" charset="-122"/>
                <a:cs typeface="Consolas" pitchFamily="34" charset="-120"/>
              </a:rPr>
              <a:t>(menu)</a:t>
            </a:r>
            <a:endParaRPr lang="en-US" sz="1250" dirty="0"/>
          </a:p>
        </p:txBody>
      </p:sp>
      <p:sp>
        <p:nvSpPr>
          <p:cNvPr id="13" name="Shape 10"/>
          <p:cNvSpPr/>
          <p:nvPr/>
        </p:nvSpPr>
        <p:spPr>
          <a:xfrm>
            <a:off x="6210148" y="1843918"/>
            <a:ext cx="1051560" cy="329184"/>
          </a:xfrm>
          <a:prstGeom prst="roundRect">
            <a:avLst>
              <a:gd name="adj" fmla="val 138889"/>
            </a:avLst>
          </a:prstGeom>
          <a:solidFill>
            <a:srgbClr val="B07219"/>
          </a:solidFill>
          <a:ln/>
        </p:spPr>
      </p:sp>
      <p:sp>
        <p:nvSpPr>
          <p:cNvPr id="14" name="Text 11"/>
          <p:cNvSpPr txBox="1"/>
          <p:nvPr/>
        </p:nvSpPr>
        <p:spPr>
          <a:xfrm>
            <a:off x="6210148" y="1843918"/>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5" name="Text 12"/>
          <p:cNvSpPr txBox="1"/>
          <p:nvPr/>
        </p:nvSpPr>
        <p:spPr>
          <a:xfrm>
            <a:off x="7398868" y="1843918"/>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java/studi-kasus/Kedai.java</a:t>
            </a:r>
            <a:endParaRPr lang="id-ID" sz="1100" dirty="0"/>
          </a:p>
        </p:txBody>
      </p:sp>
      <p:sp>
        <p:nvSpPr>
          <p:cNvPr id="16" name="Shape 13"/>
          <p:cNvSpPr/>
          <p:nvPr/>
        </p:nvSpPr>
        <p:spPr>
          <a:xfrm>
            <a:off x="6210148" y="2264542"/>
            <a:ext cx="5432908" cy="2129282"/>
          </a:xfrm>
          <a:prstGeom prst="roundRect">
            <a:avLst>
              <a:gd name="adj" fmla="val 1844"/>
            </a:avLst>
          </a:prstGeom>
          <a:solidFill>
            <a:srgbClr val="F6F8FA"/>
          </a:solidFill>
          <a:ln w="9525">
            <a:solidFill>
              <a:srgbClr val="D0D7DE"/>
            </a:solidFill>
            <a:prstDash val="solid"/>
          </a:ln>
        </p:spPr>
      </p:sp>
      <p:sp>
        <p:nvSpPr>
          <p:cNvPr id="17" name="Text 14"/>
          <p:cNvSpPr txBox="1"/>
          <p:nvPr/>
        </p:nvSpPr>
        <p:spPr>
          <a:xfrm>
            <a:off x="6319876" y="2355982"/>
            <a:ext cx="5213452" cy="1946402"/>
          </a:xfrm>
          <a:prstGeom prst="rect">
            <a:avLst/>
          </a:prstGeom>
          <a:noFill/>
          <a:ln/>
        </p:spPr>
        <p:txBody>
          <a:bodyPr wrap="square" lIns="0" tIns="0" rIns="0" bIns="0" rtlCol="0" anchor="t"/>
          <a:lstStyle/>
          <a:p>
            <a:pPr indent="0" marL="0">
              <a:buNone/>
            </a:pPr>
            <a:r>
              <a:rPr lang="en-US" altLang="en-US" sz="1250" dirty="0">
                <a:solidFill>
                  <a:srgbClr val="CF222E"/>
                </a:solidFill>
                <a:latin typeface="Consolas" pitchFamily="34" charset="0"/>
                <a:ea typeface="Consolas" pitchFamily="34" charset="-122"/>
                <a:cs typeface="Consolas" pitchFamily="34" charset="-120"/>
              </a:rPr>
              <a:t>public</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void</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8250DF"/>
                </a:solidFill>
                <a:latin typeface="Consolas" pitchFamily="34" charset="0"/>
                <a:ea typeface="Consolas" pitchFamily="34" charset="-122"/>
                <a:cs typeface="Consolas" pitchFamily="34" charset="-120"/>
              </a:rPr>
              <a:t>tambahMenu</a:t>
            </a:r>
            <a:r>
              <a:rPr lang="en-US" altLang="en-US" sz="1250" dirty="0">
                <a:solidFill>
                  <a:srgbClr val="1F2328"/>
                </a:solidFill>
                <a:latin typeface="Consolas" pitchFamily="34" charset="0"/>
                <a:ea typeface="Consolas" pitchFamily="34" charset="-122"/>
                <a:cs typeface="Consolas" pitchFamily="34" charset="-120"/>
              </a:rPr>
              <a:t>(Menu menu)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daftarMenu.add(menu);</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i="1" dirty="0">
                <a:solidFill>
                  <a:srgbClr val="6E7781"/>
                </a:solidFill>
                <a:latin typeface="Consolas" pitchFamily="34" charset="0"/>
                <a:ea typeface="Consolas" pitchFamily="34" charset="-122"/>
                <a:cs typeface="Consolas" pitchFamily="34" charset="-120"/>
              </a:rPr>
              <a:t>// ... (dilewati)</a:t>
            </a:r>
            <a:endParaRPr lang="en-US" sz="1250" dirty="0"/>
          </a:p>
          <a:p>
            <a:pPr indent="0" marL="0">
              <a:buNone/>
            </a:pPr>
            <a:r>
              <a:rPr lang="en-US" altLang="en-US" sz="1250" dirty="0">
                <a:solidFill>
                  <a:srgbClr val="CF222E"/>
                </a:solidFill>
                <a:latin typeface="Consolas" pitchFamily="34" charset="0"/>
                <a:ea typeface="Consolas" pitchFamily="34" charset="-122"/>
                <a:cs typeface="Consolas" pitchFamily="34" charset="-120"/>
              </a:rPr>
              <a:t>public</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void</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8250DF"/>
                </a:solidFill>
                <a:latin typeface="Consolas" pitchFamily="34" charset="0"/>
                <a:ea typeface="Consolas" pitchFamily="34" charset="-122"/>
                <a:cs typeface="Consolas" pitchFamily="34" charset="-120"/>
              </a:rPr>
              <a:t>tampilkanMenu</a:t>
            </a: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System.out.println(</a:t>
            </a:r>
            <a:r>
              <a:rPr lang="en-US" altLang="en-US" sz="1250" dirty="0">
                <a:solidFill>
                  <a:srgbClr val="0A3069"/>
                </a:solidFill>
                <a:latin typeface="Consolas" pitchFamily="34" charset="0"/>
                <a:ea typeface="Consolas" pitchFamily="34" charset="-122"/>
                <a:cs typeface="Consolas" pitchFamily="34" charset="-120"/>
              </a:rPr>
              <a:t>"=== MENU "</a:t>
            </a:r>
            <a:r>
              <a:rPr lang="en-US" altLang="en-US" sz="1250" dirty="0">
                <a:solidFill>
                  <a:srgbClr val="1F2328"/>
                </a:solidFill>
                <a:latin typeface="Consolas" pitchFamily="34" charset="0"/>
                <a:ea typeface="Consolas" pitchFamily="34" charset="-122"/>
                <a:cs typeface="Consolas" pitchFamily="34" charset="-120"/>
              </a:rPr>
              <a:t> + nama + </a:t>
            </a:r>
            <a:r>
              <a:rPr lang="en-US" altLang="en-US" sz="1250" dirty="0">
                <a:solidFill>
                  <a:srgbClr val="0A3069"/>
                </a:solidFill>
                <a:latin typeface="Consolas" pitchFamily="34" charset="0"/>
                <a:ea typeface="Consolas" pitchFamily="34" charset="-122"/>
                <a:cs typeface="Consolas" pitchFamily="34" charset="-120"/>
              </a:rPr>
              <a:t>" ==="</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for</a:t>
            </a:r>
            <a:r>
              <a:rPr lang="en-US" altLang="en-US" sz="1250" dirty="0">
                <a:solidFill>
                  <a:srgbClr val="1F2328"/>
                </a:solidFill>
                <a:latin typeface="Consolas" pitchFamily="34" charset="0"/>
                <a:ea typeface="Consolas" pitchFamily="34" charset="-122"/>
                <a:cs typeface="Consolas" pitchFamily="34" charset="-120"/>
              </a:rPr>
              <a:t> (Menu menu : daftarMenu)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System.out.println(menu);</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a:t>
            </a:r>
            <a:endParaRPr lang="en-US" sz="1250" dirty="0"/>
          </a:p>
        </p:txBody>
      </p:sp>
      <p:sp>
        <p:nvSpPr>
          <p:cNvPr id="18" name="Shape 15"/>
          <p:cNvSpPr/>
          <p:nvPr/>
        </p:nvSpPr>
        <p:spPr>
          <a:xfrm>
            <a:off x="548640" y="4622424"/>
            <a:ext cx="11094415" cy="1524762"/>
          </a:xfrm>
          <a:prstGeom prst="roundRect">
            <a:avLst>
              <a:gd name="adj" fmla="val 3596"/>
            </a:avLst>
          </a:prstGeom>
          <a:solidFill>
            <a:srgbClr val="0D1117"/>
          </a:solidFill>
          <a:ln/>
        </p:spPr>
      </p:sp>
      <p:sp>
        <p:nvSpPr>
          <p:cNvPr id="19" name="Shape 16"/>
          <p:cNvSpPr/>
          <p:nvPr/>
        </p:nvSpPr>
        <p:spPr>
          <a:xfrm>
            <a:off x="713232" y="4750440"/>
            <a:ext cx="960120" cy="292608"/>
          </a:xfrm>
          <a:prstGeom prst="roundRect">
            <a:avLst>
              <a:gd name="adj" fmla="val 156250"/>
            </a:avLst>
          </a:prstGeom>
          <a:solidFill>
            <a:srgbClr val="30363D"/>
          </a:solidFill>
          <a:ln/>
        </p:spPr>
      </p:sp>
      <p:sp>
        <p:nvSpPr>
          <p:cNvPr id="20" name="Text 17"/>
          <p:cNvSpPr txBox="1"/>
          <p:nvPr/>
        </p:nvSpPr>
        <p:spPr>
          <a:xfrm>
            <a:off x="713232" y="4750440"/>
            <a:ext cx="960120" cy="292608"/>
          </a:xfrm>
          <a:prstGeom prst="rect">
            <a:avLst/>
          </a:prstGeom>
          <a:noFill/>
          <a:ln/>
        </p:spPr>
        <p:txBody>
          <a:bodyPr wrap="square" lIns="0" tIns="0" rIns="0" bIns="0" rtlCol="0" anchor="ctr"/>
          <a:lstStyle/>
          <a:p>
            <a:pPr algn="ctr" indent="0" marL="0">
              <a:buNone/>
            </a:pPr>
            <a:r>
              <a:rPr lang="id-ID" altLang="en-US" sz="1200" b="1" i="1" dirty="0">
                <a:solidFill>
                  <a:srgbClr val="E6EDF3"/>
                </a:solidFill>
              </a:rPr>
              <a:t>Output</a:t>
            </a:r>
            <a:endParaRPr lang="id-ID" sz="1200" dirty="0"/>
          </a:p>
        </p:txBody>
      </p:sp>
      <p:sp>
        <p:nvSpPr>
          <p:cNvPr id="21" name="Text 18"/>
          <p:cNvSpPr txBox="1"/>
          <p:nvPr/>
        </p:nvSpPr>
        <p:spPr>
          <a:xfrm>
            <a:off x="1828800" y="4750440"/>
            <a:ext cx="9631375" cy="1305306"/>
          </a:xfrm>
          <a:prstGeom prst="rect">
            <a:avLst/>
          </a:prstGeom>
          <a:noFill/>
          <a:ln/>
        </p:spPr>
        <p:txBody>
          <a:bodyPr wrap="square" lIns="0" tIns="0" rIns="0" bIns="0" rtlCol="0" anchor="t"/>
          <a:lstStyle/>
          <a:p>
            <a:pPr indent="0" marL="0">
              <a:buNone/>
            </a:pPr>
            <a:r>
              <a:rPr lang="en-US" altLang="en-US" sz="1350" dirty="0">
                <a:solidFill>
                  <a:srgbClr val="E6EDF3"/>
                </a:solidFill>
                <a:latin typeface="Consolas" pitchFamily="34" charset="0"/>
                <a:ea typeface="Consolas" pitchFamily="34" charset="-122"/>
                <a:cs typeface="Consolas" pitchFamily="34" charset="-120"/>
              </a:rPr>
              <a:t>=== MENU KedaiKita ===</a:t>
            </a:r>
            <a:endParaRPr lang="en-US" sz="1350" dirty="0"/>
          </a:p>
          <a:p>
            <a:pPr indent="0" marL="0">
              <a:buNone/>
            </a:pPr>
            <a:r>
              <a:rPr lang="en-US" altLang="en-US" sz="1350" dirty="0">
                <a:solidFill>
                  <a:srgbClr val="E6EDF3"/>
                </a:solidFill>
                <a:latin typeface="Consolas" pitchFamily="34" charset="0"/>
                <a:ea typeface="Consolas" pitchFamily="34" charset="-122"/>
                <a:cs typeface="Consolas" pitchFamily="34" charset="-120"/>
              </a:rPr>
              <a:t>[M01] Kopi Susu Gula Aren (Minuman) - Rp18.000 | stok 20 | dingin</a:t>
            </a:r>
            <a:endParaRPr lang="en-US" sz="1350" dirty="0"/>
          </a:p>
          <a:p>
            <a:pPr indent="0" marL="0">
              <a:buNone/>
            </a:pPr>
            <a:r>
              <a:rPr lang="en-US" altLang="en-US" sz="1350" dirty="0">
                <a:solidFill>
                  <a:srgbClr val="E6EDF3"/>
                </a:solidFill>
                <a:latin typeface="Consolas" pitchFamily="34" charset="0"/>
                <a:ea typeface="Consolas" pitchFamily="34" charset="-122"/>
                <a:cs typeface="Consolas" pitchFamily="34" charset="-120"/>
              </a:rPr>
              <a:t>[M02] Es Teh Manis (Minuman) - Rp8.000 | stok 30 | dingin</a:t>
            </a:r>
            <a:endParaRPr lang="en-US" sz="1350" dirty="0"/>
          </a:p>
          <a:p>
            <a:pPr indent="0" marL="0">
              <a:buNone/>
            </a:pPr>
            <a:r>
              <a:rPr lang="en-US" altLang="en-US" sz="1350" dirty="0">
                <a:solidFill>
                  <a:srgbClr val="E6EDF3"/>
                </a:solidFill>
                <a:latin typeface="Consolas" pitchFamily="34" charset="0"/>
                <a:ea typeface="Consolas" pitchFamily="34" charset="-122"/>
                <a:cs typeface="Consolas" pitchFamily="34" charset="-120"/>
              </a:rPr>
              <a:t>[M03] Nasi Goreng Kampung (Makanan) - Rp25.000 | stok 15 | pedas level 2</a:t>
            </a:r>
            <a:endParaRPr lang="en-US" sz="1350" dirty="0"/>
          </a:p>
          <a:p>
            <a:pPr indent="0" marL="0">
              <a:buNone/>
            </a:pPr>
            <a:r>
              <a:rPr lang="en-US" altLang="en-US" sz="1350" dirty="0">
                <a:solidFill>
                  <a:srgbClr val="E6EDF3"/>
                </a:solidFill>
                <a:latin typeface="Consolas" pitchFamily="34" charset="0"/>
                <a:ea typeface="Consolas" pitchFamily="34" charset="-122"/>
                <a:cs typeface="Consolas" pitchFamily="34" charset="-120"/>
              </a:rPr>
              <a:t>[M04] Mie Goreng Jawa (Makanan) - Rp23.000 | stok 10 | pedas level 1</a:t>
            </a:r>
            <a:endParaRPr lang="en-US" sz="1350" dirty="0"/>
          </a:p>
          <a:p>
            <a:pPr indent="0" marL="0">
              <a:buNone/>
            </a:pPr>
            <a:r>
              <a:rPr lang="en-US" altLang="en-US" sz="1350" dirty="0">
                <a:solidFill>
                  <a:srgbClr val="E6EDF3"/>
                </a:solidFill>
                <a:latin typeface="Consolas" pitchFamily="34" charset="0"/>
                <a:ea typeface="Consolas" pitchFamily="34" charset="-122"/>
                <a:cs typeface="Consolas" pitchFamily="34" charset="-120"/>
              </a:rPr>
              <a:t>[M05] Pisang Goreng Keju (Makanan) - Rp15.000 | stok 12 | pedas level 0</a:t>
            </a:r>
            <a:endParaRPr lang="en-US" sz="13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F222E"/>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Miskonsepsi yang Sering Terjadi</a:t>
            </a:r>
            <a:endParaRPr lang="id-ID" sz="3200" dirty="0"/>
          </a:p>
        </p:txBody>
      </p:sp>
      <p:sp>
        <p:nvSpPr>
          <p:cNvPr id="5" name="Shape 2"/>
          <p:cNvSpPr/>
          <p:nvPr/>
        </p:nvSpPr>
        <p:spPr>
          <a:xfrm>
            <a:off x="548640" y="1472047"/>
            <a:ext cx="329184" cy="329184"/>
          </a:xfrm>
          <a:prstGeom prst="ellipse">
            <a:avLst/>
          </a:prstGeom>
          <a:solidFill>
            <a:srgbClr val="CF222E"/>
          </a:solidFill>
          <a:ln/>
        </p:spPr>
      </p:sp>
      <p:pic>
        <p:nvPicPr>
          <p:cNvPr id="6" name="Image 1" descr="preencoded.png">    </p:cNvPr>
          <p:cNvPicPr>
            <a:picLocks noChangeAspect="1"/>
          </p:cNvPicPr>
          <p:nvPr/>
        </p:nvPicPr>
        <p:blipFill>
          <a:blip r:embed="rId2"/>
          <a:stretch>
            <a:fillRect/>
          </a:stretch>
        </p:blipFill>
        <p:spPr>
          <a:xfrm>
            <a:off x="621060" y="1544467"/>
            <a:ext cx="184343" cy="184343"/>
          </a:xfrm>
          <a:prstGeom prst="rect">
            <a:avLst/>
          </a:prstGeom>
        </p:spPr>
      </p:pic>
      <p:sp>
        <p:nvSpPr>
          <p:cNvPr id="7" name="Text 3"/>
          <p:cNvSpPr txBox="1"/>
          <p:nvPr/>
        </p:nvSpPr>
        <p:spPr>
          <a:xfrm>
            <a:off x="987552" y="1472047"/>
            <a:ext cx="3886200" cy="329184"/>
          </a:xfrm>
          <a:prstGeom prst="rect">
            <a:avLst/>
          </a:prstGeom>
          <a:noFill/>
          <a:ln/>
        </p:spPr>
        <p:txBody>
          <a:bodyPr wrap="square" lIns="0" tIns="0" rIns="0" bIns="0" rtlCol="0" anchor="ctr"/>
          <a:lstStyle/>
          <a:p>
            <a:pPr indent="0" marL="0">
              <a:buNone/>
            </a:pPr>
            <a:r>
              <a:rPr lang="id-ID" altLang="en-US" sz="1600" b="1" dirty="0">
                <a:solidFill>
                  <a:srgbClr val="CF222E"/>
                </a:solidFill>
              </a:rPr>
              <a:t>Anggapan keliru</a:t>
            </a:r>
            <a:endParaRPr lang="id-ID" sz="1600" dirty="0"/>
          </a:p>
        </p:txBody>
      </p:sp>
      <p:sp>
        <p:nvSpPr>
          <p:cNvPr id="8" name="Shape 4"/>
          <p:cNvSpPr/>
          <p:nvPr/>
        </p:nvSpPr>
        <p:spPr>
          <a:xfrm>
            <a:off x="5166360" y="1472047"/>
            <a:ext cx="329184" cy="329184"/>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5238780" y="1544467"/>
            <a:ext cx="184343" cy="184343"/>
          </a:xfrm>
          <a:prstGeom prst="rect">
            <a:avLst/>
          </a:prstGeom>
        </p:spPr>
      </p:pic>
      <p:sp>
        <p:nvSpPr>
          <p:cNvPr id="10" name="Text 5"/>
          <p:cNvSpPr txBox="1"/>
          <p:nvPr/>
        </p:nvSpPr>
        <p:spPr>
          <a:xfrm>
            <a:off x="5605272" y="1472047"/>
            <a:ext cx="6019495" cy="329184"/>
          </a:xfrm>
          <a:prstGeom prst="rect">
            <a:avLst/>
          </a:prstGeom>
          <a:noFill/>
          <a:ln/>
        </p:spPr>
        <p:txBody>
          <a:bodyPr wrap="square" lIns="0" tIns="0" rIns="0" bIns="0" rtlCol="0" anchor="ctr"/>
          <a:lstStyle/>
          <a:p>
            <a:pPr indent="0" marL="0">
              <a:buNone/>
            </a:pPr>
            <a:r>
              <a:rPr lang="id-ID" altLang="en-US" sz="1600" b="1" dirty="0">
                <a:solidFill>
                  <a:srgbClr val="1A7F37"/>
                </a:solidFill>
              </a:rPr>
              <a:t>Yang benar</a:t>
            </a:r>
            <a:endParaRPr lang="id-ID" sz="1600" dirty="0"/>
          </a:p>
        </p:txBody>
      </p:sp>
      <p:sp>
        <p:nvSpPr>
          <p:cNvPr id="11" name="Shape 6"/>
          <p:cNvSpPr/>
          <p:nvPr/>
        </p:nvSpPr>
        <p:spPr>
          <a:xfrm>
            <a:off x="548640" y="1974967"/>
            <a:ext cx="4343400" cy="1248918"/>
          </a:xfrm>
          <a:prstGeom prst="roundRect">
            <a:avLst>
              <a:gd name="adj" fmla="val 6433"/>
            </a:avLst>
          </a:prstGeom>
          <a:solidFill>
            <a:srgbClr val="FFEBE9"/>
          </a:solidFill>
          <a:ln w="9525">
            <a:solidFill>
              <a:srgbClr val="FF8182"/>
            </a:solidFill>
            <a:prstDash val="solid"/>
          </a:ln>
        </p:spPr>
      </p:sp>
      <p:sp>
        <p:nvSpPr>
          <p:cNvPr id="12" name="Text 7"/>
          <p:cNvSpPr txBox="1"/>
          <p:nvPr/>
        </p:nvSpPr>
        <p:spPr>
          <a:xfrm>
            <a:off x="777240" y="2157847"/>
            <a:ext cx="3886200" cy="974598"/>
          </a:xfrm>
          <a:prstGeom prst="rect">
            <a:avLst/>
          </a:prstGeom>
          <a:noFill/>
          <a:ln/>
        </p:spPr>
        <p:txBody>
          <a:bodyPr wrap="square" lIns="0" tIns="0" rIns="0" bIns="0" rtlCol="0" anchor="t"/>
          <a:lstStyle/>
          <a:p>
            <a:pPr indent="0" marL="0">
              <a:buNone/>
            </a:pPr>
            <a:r>
              <a:rPr lang="id-ID" altLang="en-US" sz="1900" dirty="0">
                <a:solidFill>
                  <a:srgbClr val="1F2328"/>
                </a:solidFill>
              </a:rPr>
              <a:t>“Kalau dua kelas punya kode yang mirip, salah satunya harus mewarisi yang lain.”</a:t>
            </a:r>
            <a:endParaRPr lang="id-ID" sz="1900" dirty="0"/>
          </a:p>
        </p:txBody>
      </p:sp>
      <p:sp>
        <p:nvSpPr>
          <p:cNvPr id="13" name="Shape 8"/>
          <p:cNvSpPr/>
          <p:nvPr/>
        </p:nvSpPr>
        <p:spPr>
          <a:xfrm>
            <a:off x="5166360" y="1974967"/>
            <a:ext cx="6476695" cy="1248918"/>
          </a:xfrm>
          <a:prstGeom prst="roundRect">
            <a:avLst>
              <a:gd name="adj" fmla="val 6433"/>
            </a:avLst>
          </a:prstGeom>
          <a:solidFill>
            <a:srgbClr val="DAFBE1"/>
          </a:solidFill>
          <a:ln w="9525">
            <a:solidFill>
              <a:srgbClr val="4AC26B"/>
            </a:solidFill>
            <a:prstDash val="solid"/>
          </a:ln>
        </p:spPr>
      </p:sp>
      <p:sp>
        <p:nvSpPr>
          <p:cNvPr id="14" name="Text 9"/>
          <p:cNvSpPr txBox="1"/>
          <p:nvPr/>
        </p:nvSpPr>
        <p:spPr>
          <a:xfrm>
            <a:off x="5394960" y="2157847"/>
            <a:ext cx="6019495" cy="974598"/>
          </a:xfrm>
          <a:prstGeom prst="rect">
            <a:avLst/>
          </a:prstGeom>
          <a:noFill/>
          <a:ln/>
        </p:spPr>
        <p:txBody>
          <a:bodyPr wrap="square" lIns="0" tIns="0" rIns="0" bIns="0" rtlCol="0" anchor="t"/>
          <a:lstStyle/>
          <a:p>
            <a:pPr indent="0" marL="0">
              <a:buNone/>
            </a:pPr>
            <a:r>
              <a:rPr lang="id-ID" altLang="en-US" sz="1900" dirty="0">
                <a:solidFill>
                  <a:srgbClr val="1F2328"/>
                </a:solidFill>
              </a:rPr>
              <a:t>Pewarisan hanya tepat untuk hubungan </a:t>
            </a:r>
            <a:r>
              <a:rPr lang="id-ID" altLang="en-US" sz="1900" i="1" dirty="0">
                <a:solidFill>
                  <a:srgbClr val="1F2328"/>
                </a:solidFill>
              </a:rPr>
              <a:t>is-⁠a</a:t>
            </a:r>
            <a:r>
              <a:rPr lang="id-ID" altLang="en-US" sz="1900" dirty="0">
                <a:solidFill>
                  <a:srgbClr val="1F2328"/>
                </a:solidFill>
              </a:rPr>
              <a:t>. Untuk hubungan “punya”, pakai atribut (</a:t>
            </a:r>
            <a:r>
              <a:rPr lang="id-ID" altLang="en-US" sz="1900" i="1" dirty="0">
                <a:solidFill>
                  <a:srgbClr val="1F2328"/>
                </a:solidFill>
              </a:rPr>
              <a:t>has-⁠a</a:t>
            </a:r>
            <a:r>
              <a:rPr lang="id-ID" altLang="en-US" sz="1900" dirty="0">
                <a:solidFill>
                  <a:srgbClr val="1F2328"/>
                </a:solidFill>
              </a:rPr>
              <a:t>). Kemiripan kode saja bukan alasan.</a:t>
            </a:r>
            <a:endParaRPr lang="id-ID" sz="1900" dirty="0"/>
          </a:p>
        </p:txBody>
      </p:sp>
      <p:sp>
        <p:nvSpPr>
          <p:cNvPr id="15" name="Shape 10"/>
          <p:cNvSpPr/>
          <p:nvPr/>
        </p:nvSpPr>
        <p:spPr>
          <a:xfrm>
            <a:off x="548640" y="3425053"/>
            <a:ext cx="4343400" cy="1248918"/>
          </a:xfrm>
          <a:prstGeom prst="roundRect">
            <a:avLst>
              <a:gd name="adj" fmla="val 6433"/>
            </a:avLst>
          </a:prstGeom>
          <a:solidFill>
            <a:srgbClr val="FFEBE9"/>
          </a:solidFill>
          <a:ln w="9525">
            <a:solidFill>
              <a:srgbClr val="FF8182"/>
            </a:solidFill>
            <a:prstDash val="solid"/>
          </a:ln>
        </p:spPr>
      </p:sp>
      <p:sp>
        <p:nvSpPr>
          <p:cNvPr id="16" name="Text 11"/>
          <p:cNvSpPr txBox="1"/>
          <p:nvPr/>
        </p:nvSpPr>
        <p:spPr>
          <a:xfrm>
            <a:off x="777240" y="3607933"/>
            <a:ext cx="3886200" cy="974598"/>
          </a:xfrm>
          <a:prstGeom prst="rect">
            <a:avLst/>
          </a:prstGeom>
          <a:noFill/>
          <a:ln/>
        </p:spPr>
        <p:txBody>
          <a:bodyPr wrap="square" lIns="0" tIns="0" rIns="0" bIns="0" rtlCol="0" anchor="t"/>
          <a:lstStyle/>
          <a:p>
            <a:pPr indent="0" marL="0">
              <a:buNone/>
            </a:pPr>
            <a:r>
              <a:rPr lang="id-ID" altLang="en-US" sz="1900" dirty="0">
                <a:solidFill>
                  <a:srgbClr val="1F2328"/>
                </a:solidFill>
              </a:rPr>
              <a:t>“Kelas anak itu seperti anak manusia: keturunan dari induknya.”</a:t>
            </a:r>
            <a:endParaRPr lang="id-ID" sz="1900" dirty="0"/>
          </a:p>
        </p:txBody>
      </p:sp>
      <p:sp>
        <p:nvSpPr>
          <p:cNvPr id="17" name="Shape 12"/>
          <p:cNvSpPr/>
          <p:nvPr/>
        </p:nvSpPr>
        <p:spPr>
          <a:xfrm>
            <a:off x="5166360" y="3425053"/>
            <a:ext cx="6476695" cy="1248918"/>
          </a:xfrm>
          <a:prstGeom prst="roundRect">
            <a:avLst>
              <a:gd name="adj" fmla="val 6433"/>
            </a:avLst>
          </a:prstGeom>
          <a:solidFill>
            <a:srgbClr val="DAFBE1"/>
          </a:solidFill>
          <a:ln w="9525">
            <a:solidFill>
              <a:srgbClr val="4AC26B"/>
            </a:solidFill>
            <a:prstDash val="solid"/>
          </a:ln>
        </p:spPr>
      </p:sp>
      <p:sp>
        <p:nvSpPr>
          <p:cNvPr id="18" name="Text 13"/>
          <p:cNvSpPr txBox="1"/>
          <p:nvPr/>
        </p:nvSpPr>
        <p:spPr>
          <a:xfrm>
            <a:off x="5394960" y="3607933"/>
            <a:ext cx="6019495" cy="974598"/>
          </a:xfrm>
          <a:prstGeom prst="rect">
            <a:avLst/>
          </a:prstGeom>
          <a:noFill/>
          <a:ln/>
        </p:spPr>
        <p:txBody>
          <a:bodyPr wrap="square" lIns="0" tIns="0" rIns="0" bIns="0" rtlCol="0" anchor="t"/>
          <a:lstStyle/>
          <a:p>
            <a:pPr indent="0" marL="0">
              <a:buNone/>
            </a:pPr>
            <a:r>
              <a:rPr lang="id-ID" altLang="en-US" sz="1900" dirty="0">
                <a:solidFill>
                  <a:srgbClr val="1F2328"/>
                </a:solidFill>
              </a:rPr>
              <a:t>Seorang anak bukan jenis dari ayahnya, sedangkan </a:t>
            </a:r>
            <a:r>
              <a:rPr lang="id-ID" altLang="en-US" sz="1900" dirty="0">
                <a:solidFill>
                  <a:srgbClr val="1F2328"/>
                </a:solidFill>
                <a:latin typeface="Consolas" pitchFamily="34" charset="0"/>
                <a:ea typeface="Consolas" pitchFamily="34" charset="-122"/>
                <a:cs typeface="Consolas" pitchFamily="34" charset="-120"/>
              </a:rPr>
              <a:t>Makanan</a:t>
            </a:r>
            <a:r>
              <a:rPr lang="id-ID" altLang="en-US" sz="1900" dirty="0">
                <a:solidFill>
                  <a:srgbClr val="1F2328"/>
                </a:solidFill>
              </a:rPr>
              <a:t> adalah </a:t>
            </a:r>
            <a:r>
              <a:rPr lang="id-ID" altLang="en-US" sz="1900" b="1" dirty="0">
                <a:solidFill>
                  <a:srgbClr val="1F2328"/>
                </a:solidFill>
              </a:rPr>
              <a:t>jenis dari</a:t>
            </a:r>
            <a:r>
              <a:rPr lang="id-ID" altLang="en-US" sz="1900" dirty="0">
                <a:solidFill>
                  <a:srgbClr val="1F2328"/>
                </a:solidFill>
              </a:rPr>
              <a:t> </a:t>
            </a:r>
            <a:r>
              <a:rPr lang="id-ID" altLang="en-US" sz="1900" dirty="0">
                <a:solidFill>
                  <a:srgbClr val="1F2328"/>
                </a:solidFill>
                <a:latin typeface="Consolas" pitchFamily="34" charset="0"/>
                <a:ea typeface="Consolas" pitchFamily="34" charset="-122"/>
                <a:cs typeface="Consolas" pitchFamily="34" charset="-120"/>
              </a:rPr>
              <a:t>Menu</a:t>
            </a:r>
            <a:r>
              <a:rPr lang="id-ID" altLang="en-US" sz="1900" dirty="0">
                <a:solidFill>
                  <a:srgbClr val="1F2328"/>
                </a:solidFill>
              </a:rPr>
              <a:t>. Pegang kalimat “anak </a:t>
            </a:r>
            <a:r>
              <a:rPr lang="id-ID" altLang="en-US" sz="1900" b="1" dirty="0">
                <a:solidFill>
                  <a:srgbClr val="1F2328"/>
                </a:solidFill>
              </a:rPr>
              <a:t>adalah</a:t>
            </a:r>
            <a:r>
              <a:rPr lang="id-ID" altLang="en-US" sz="1900" dirty="0">
                <a:solidFill>
                  <a:srgbClr val="1F2328"/>
                </a:solidFill>
              </a:rPr>
              <a:t> induk”.</a:t>
            </a:r>
            <a:endParaRPr lang="id-ID" sz="1900" dirty="0"/>
          </a:p>
        </p:txBody>
      </p:sp>
      <p:sp>
        <p:nvSpPr>
          <p:cNvPr id="19" name="Shape 14"/>
          <p:cNvSpPr/>
          <p:nvPr/>
        </p:nvSpPr>
        <p:spPr>
          <a:xfrm>
            <a:off x="548640" y="4875139"/>
            <a:ext cx="4343400" cy="1248918"/>
          </a:xfrm>
          <a:prstGeom prst="roundRect">
            <a:avLst>
              <a:gd name="adj" fmla="val 6433"/>
            </a:avLst>
          </a:prstGeom>
          <a:solidFill>
            <a:srgbClr val="FFEBE9"/>
          </a:solidFill>
          <a:ln w="9525">
            <a:solidFill>
              <a:srgbClr val="FF8182"/>
            </a:solidFill>
            <a:prstDash val="solid"/>
          </a:ln>
        </p:spPr>
      </p:sp>
      <p:sp>
        <p:nvSpPr>
          <p:cNvPr id="20" name="Text 15"/>
          <p:cNvSpPr txBox="1"/>
          <p:nvPr/>
        </p:nvSpPr>
        <p:spPr>
          <a:xfrm>
            <a:off x="777240" y="5058019"/>
            <a:ext cx="3886200" cy="974598"/>
          </a:xfrm>
          <a:prstGeom prst="rect">
            <a:avLst/>
          </a:prstGeom>
          <a:noFill/>
          <a:ln/>
        </p:spPr>
        <p:txBody>
          <a:bodyPr wrap="square" lIns="0" tIns="0" rIns="0" bIns="0" rtlCol="0" anchor="t"/>
          <a:lstStyle/>
          <a:p>
            <a:pPr indent="0" marL="0">
              <a:buNone/>
            </a:pPr>
            <a:r>
              <a:rPr lang="id-ID" altLang="en-US" sz="1900" dirty="0">
                <a:solidFill>
                  <a:srgbClr val="1F2328"/>
                </a:solidFill>
              </a:rPr>
              <a:t>“</a:t>
            </a:r>
            <a:r>
              <a:rPr lang="id-ID" altLang="en-US" sz="1900" i="1" dirty="0">
                <a:solidFill>
                  <a:srgbClr val="1F2328"/>
                </a:solidFill>
              </a:rPr>
              <a:t>Override</a:t>
            </a:r>
            <a:r>
              <a:rPr lang="id-ID" altLang="en-US" sz="1900" dirty="0">
                <a:solidFill>
                  <a:srgbClr val="1F2328"/>
                </a:solidFill>
              </a:rPr>
              <a:t> dan </a:t>
            </a:r>
            <a:r>
              <a:rPr lang="id-ID" altLang="en-US" sz="1900" i="1" dirty="0">
                <a:solidFill>
                  <a:srgbClr val="1F2328"/>
                </a:solidFill>
              </a:rPr>
              <a:t>overload</a:t>
            </a:r>
            <a:r>
              <a:rPr lang="id-ID" altLang="en-US" sz="1900" dirty="0">
                <a:solidFill>
                  <a:srgbClr val="1F2328"/>
                </a:solidFill>
              </a:rPr>
              <a:t> itu sama saja.”</a:t>
            </a:r>
            <a:endParaRPr lang="id-ID" sz="1900" dirty="0"/>
          </a:p>
        </p:txBody>
      </p:sp>
      <p:sp>
        <p:nvSpPr>
          <p:cNvPr id="21" name="Shape 16"/>
          <p:cNvSpPr/>
          <p:nvPr/>
        </p:nvSpPr>
        <p:spPr>
          <a:xfrm>
            <a:off x="5166360" y="4875139"/>
            <a:ext cx="6476695" cy="1248918"/>
          </a:xfrm>
          <a:prstGeom prst="roundRect">
            <a:avLst>
              <a:gd name="adj" fmla="val 6433"/>
            </a:avLst>
          </a:prstGeom>
          <a:solidFill>
            <a:srgbClr val="DAFBE1"/>
          </a:solidFill>
          <a:ln w="9525">
            <a:solidFill>
              <a:srgbClr val="4AC26B"/>
            </a:solidFill>
            <a:prstDash val="solid"/>
          </a:ln>
        </p:spPr>
      </p:sp>
      <p:sp>
        <p:nvSpPr>
          <p:cNvPr id="22" name="Text 17"/>
          <p:cNvSpPr txBox="1"/>
          <p:nvPr/>
        </p:nvSpPr>
        <p:spPr>
          <a:xfrm>
            <a:off x="5394960" y="5058019"/>
            <a:ext cx="6019495" cy="974598"/>
          </a:xfrm>
          <a:prstGeom prst="rect">
            <a:avLst/>
          </a:prstGeom>
          <a:noFill/>
          <a:ln/>
        </p:spPr>
        <p:txBody>
          <a:bodyPr wrap="square" lIns="0" tIns="0" rIns="0" bIns="0" rtlCol="0" anchor="t"/>
          <a:lstStyle/>
          <a:p>
            <a:pPr indent="0" marL="0">
              <a:buNone/>
            </a:pPr>
            <a:r>
              <a:rPr lang="id-ID" altLang="en-US" sz="1900" i="1" dirty="0">
                <a:solidFill>
                  <a:srgbClr val="1F2328"/>
                </a:solidFill>
              </a:rPr>
              <a:t>Override</a:t>
            </a:r>
            <a:r>
              <a:rPr lang="id-ID" altLang="en-US" sz="1900" dirty="0">
                <a:solidFill>
                  <a:srgbClr val="1F2328"/>
                </a:solidFill>
              </a:rPr>
              <a:t> mengganti </a:t>
            </a:r>
            <a:r>
              <a:rPr lang="id-ID" altLang="en-US" sz="1900" i="1" dirty="0">
                <a:solidFill>
                  <a:srgbClr val="1F2328"/>
                </a:solidFill>
              </a:rPr>
              <a:t>method</a:t>
            </a:r>
            <a:r>
              <a:rPr lang="id-ID" altLang="en-US" sz="1900" dirty="0">
                <a:solidFill>
                  <a:srgbClr val="1F2328"/>
                </a:solidFill>
              </a:rPr>
              <a:t> induk dengan nama dan parameter yang sama. </a:t>
            </a:r>
            <a:r>
              <a:rPr lang="id-ID" altLang="en-US" sz="1900" i="1" dirty="0">
                <a:solidFill>
                  <a:srgbClr val="1F2328"/>
                </a:solidFill>
              </a:rPr>
              <a:t>Overload</a:t>
            </a:r>
            <a:r>
              <a:rPr lang="id-ID" altLang="en-US" sz="1900" dirty="0">
                <a:solidFill>
                  <a:srgbClr val="1F2328"/>
                </a:solidFill>
              </a:rPr>
              <a:t> membuat variasi </a:t>
            </a:r>
            <a:r>
              <a:rPr lang="id-ID" altLang="en-US" sz="1900" i="1" dirty="0">
                <a:solidFill>
                  <a:srgbClr val="1F2328"/>
                </a:solidFill>
              </a:rPr>
              <a:t>method</a:t>
            </a:r>
            <a:r>
              <a:rPr lang="id-ID" altLang="en-US" sz="1900" dirty="0">
                <a:solidFill>
                  <a:srgbClr val="1F2328"/>
                </a:solidFill>
              </a:rPr>
              <a:t> dengan parameter berbeda.</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869985"/>
            <a:ext cx="11094415" cy="1758696"/>
          </a:xfrm>
          <a:prstGeom prst="roundRect">
            <a:avLst>
              <a:gd name="adj" fmla="val 3244"/>
            </a:avLst>
          </a:prstGeom>
          <a:solidFill>
            <a:srgbClr val="FBEFFF"/>
          </a:solidFill>
          <a:ln w="9525">
            <a:solidFill>
              <a:srgbClr val="C297FF"/>
            </a:solidFill>
            <a:prstDash val="solid"/>
          </a:ln>
        </p:spPr>
      </p:sp>
      <p:sp>
        <p:nvSpPr>
          <p:cNvPr id="6" name="Shape 3"/>
          <p:cNvSpPr/>
          <p:nvPr/>
        </p:nvSpPr>
        <p:spPr>
          <a:xfrm>
            <a:off x="777240" y="2520733"/>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621317"/>
            <a:ext cx="256032" cy="256032"/>
          </a:xfrm>
          <a:prstGeom prst="rect">
            <a:avLst/>
          </a:prstGeom>
        </p:spPr>
      </p:pic>
      <p:sp>
        <p:nvSpPr>
          <p:cNvPr id="8" name="Text 4"/>
          <p:cNvSpPr txBox="1"/>
          <p:nvPr/>
        </p:nvSpPr>
        <p:spPr>
          <a:xfrm>
            <a:off x="1417320" y="2098585"/>
            <a:ext cx="9951415" cy="1484376"/>
          </a:xfrm>
          <a:prstGeom prst="rect">
            <a:avLst/>
          </a:prstGeom>
          <a:noFill/>
          <a:ln/>
        </p:spPr>
        <p:txBody>
          <a:bodyPr wrap="square" lIns="0" tIns="0" rIns="0" bIns="0" rtlCol="0" anchor="t"/>
          <a:lstStyle/>
          <a:p>
            <a:pPr indent="0" marL="0">
              <a:buNone/>
            </a:pPr>
            <a:r>
              <a:rPr lang="id-ID" altLang="en-US" sz="2800" dirty="0">
                <a:solidFill>
                  <a:srgbClr val="1F2328"/>
                </a:solidFill>
              </a:rPr>
              <a:t>Pasangan manakah yang paling tepat dimodelkan dengan pewarisan, dengan kelas </a:t>
            </a:r>
            <a:r>
              <a:rPr lang="id-ID" altLang="en-US" sz="2800" b="1" dirty="0">
                <a:solidFill>
                  <a:srgbClr val="1F2328"/>
                </a:solidFill>
              </a:rPr>
              <a:t>pertama</a:t>
            </a:r>
            <a:r>
              <a:rPr lang="id-ID" altLang="en-US" sz="2800" dirty="0">
                <a:solidFill>
                  <a:srgbClr val="1F2328"/>
                </a:solidFill>
              </a:rPr>
              <a:t> sebagai kelas anak dan kelas </a:t>
            </a:r>
            <a:r>
              <a:rPr lang="id-ID" altLang="en-US" sz="2800" b="1" dirty="0">
                <a:solidFill>
                  <a:srgbClr val="1F2328"/>
                </a:solidFill>
              </a:rPr>
              <a:t>kedua</a:t>
            </a:r>
            <a:r>
              <a:rPr lang="id-ID" altLang="en-US" sz="2800" dirty="0">
                <a:solidFill>
                  <a:srgbClr val="1F2328"/>
                </a:solidFill>
              </a:rPr>
              <a:t> sebagai kelas induk?</a:t>
            </a:r>
            <a:endParaRPr lang="id-ID" sz="2800" dirty="0"/>
          </a:p>
        </p:txBody>
      </p:sp>
      <p:sp>
        <p:nvSpPr>
          <p:cNvPr id="9" name="Shape 5"/>
          <p:cNvSpPr/>
          <p:nvPr/>
        </p:nvSpPr>
        <p:spPr>
          <a:xfrm>
            <a:off x="548640" y="3811561"/>
            <a:ext cx="5455768" cy="790042"/>
          </a:xfrm>
          <a:prstGeom prst="roundRect">
            <a:avLst>
              <a:gd name="adj" fmla="val 16075"/>
            </a:avLst>
          </a:prstGeom>
          <a:solidFill>
            <a:srgbClr val="FFFFFF"/>
          </a:solidFill>
          <a:ln w="9525">
            <a:solidFill>
              <a:srgbClr val="D0D7DE"/>
            </a:solidFill>
            <a:prstDash val="solid"/>
          </a:ln>
        </p:spPr>
      </p:sp>
      <p:sp>
        <p:nvSpPr>
          <p:cNvPr id="10" name="Shape 6"/>
          <p:cNvSpPr/>
          <p:nvPr/>
        </p:nvSpPr>
        <p:spPr>
          <a:xfrm>
            <a:off x="749808" y="3977981"/>
            <a:ext cx="457200" cy="457200"/>
          </a:xfrm>
          <a:prstGeom prst="ellipse">
            <a:avLst/>
          </a:prstGeom>
          <a:solidFill>
            <a:srgbClr val="8250DF"/>
          </a:solidFill>
          <a:ln/>
        </p:spPr>
      </p:sp>
      <p:sp>
        <p:nvSpPr>
          <p:cNvPr id="11" name="Text 7"/>
          <p:cNvSpPr txBox="1"/>
          <p:nvPr/>
        </p:nvSpPr>
        <p:spPr>
          <a:xfrm>
            <a:off x="749808" y="3977981"/>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3921289"/>
            <a:ext cx="4541368" cy="570586"/>
          </a:xfrm>
          <a:prstGeom prst="rect">
            <a:avLst/>
          </a:prstGeom>
          <a:noFill/>
          <a:ln/>
        </p:spPr>
        <p:txBody>
          <a:bodyPr wrap="square" lIns="0" tIns="0" rIns="0" bIns="0" rtlCol="0" anchor="ctr"/>
          <a:lstStyle/>
          <a:p>
            <a:pPr indent="0" marL="0">
              <a:buNone/>
            </a:pPr>
            <a:r>
              <a:rPr lang="id-ID" altLang="en-US" sz="2400" dirty="0">
                <a:solidFill>
                  <a:srgbClr val="0A3069"/>
                </a:solidFill>
                <a:latin typeface="Consolas" pitchFamily="34" charset="0"/>
                <a:ea typeface="Consolas" pitchFamily="34" charset="-122"/>
                <a:cs typeface="Consolas" pitchFamily="34" charset="-120"/>
              </a:rPr>
              <a:t>Mobil</a:t>
            </a:r>
            <a:r>
              <a:rPr lang="id-ID" altLang="en-US" sz="2400" dirty="0">
                <a:solidFill>
                  <a:srgbClr val="1F2328"/>
                </a:solidFill>
              </a:rPr>
              <a:t> dan </a:t>
            </a:r>
            <a:r>
              <a:rPr lang="id-ID" altLang="en-US" sz="2400" dirty="0">
                <a:solidFill>
                  <a:srgbClr val="0A3069"/>
                </a:solidFill>
                <a:latin typeface="Consolas" pitchFamily="34" charset="0"/>
                <a:ea typeface="Consolas" pitchFamily="34" charset="-122"/>
                <a:cs typeface="Consolas" pitchFamily="34" charset="-120"/>
              </a:rPr>
              <a:t>Mesin</a:t>
            </a:r>
            <a:endParaRPr lang="id-ID" sz="2400" dirty="0"/>
          </a:p>
        </p:txBody>
      </p:sp>
      <p:sp>
        <p:nvSpPr>
          <p:cNvPr id="13" name="Shape 9"/>
          <p:cNvSpPr/>
          <p:nvPr/>
        </p:nvSpPr>
        <p:spPr>
          <a:xfrm>
            <a:off x="6187288" y="3811561"/>
            <a:ext cx="5455768" cy="790042"/>
          </a:xfrm>
          <a:prstGeom prst="roundRect">
            <a:avLst>
              <a:gd name="adj" fmla="val 16075"/>
            </a:avLst>
          </a:prstGeom>
          <a:solidFill>
            <a:srgbClr val="FFFFFF"/>
          </a:solidFill>
          <a:ln w="9525">
            <a:solidFill>
              <a:srgbClr val="D0D7DE"/>
            </a:solidFill>
            <a:prstDash val="solid"/>
          </a:ln>
        </p:spPr>
      </p:sp>
      <p:sp>
        <p:nvSpPr>
          <p:cNvPr id="14" name="Shape 10"/>
          <p:cNvSpPr/>
          <p:nvPr/>
        </p:nvSpPr>
        <p:spPr>
          <a:xfrm>
            <a:off x="6388456" y="3977981"/>
            <a:ext cx="457200" cy="457200"/>
          </a:xfrm>
          <a:prstGeom prst="ellipse">
            <a:avLst/>
          </a:prstGeom>
          <a:solidFill>
            <a:srgbClr val="8250DF"/>
          </a:solidFill>
          <a:ln/>
        </p:spPr>
      </p:sp>
      <p:sp>
        <p:nvSpPr>
          <p:cNvPr id="15" name="Text 11"/>
          <p:cNvSpPr txBox="1"/>
          <p:nvPr/>
        </p:nvSpPr>
        <p:spPr>
          <a:xfrm>
            <a:off x="6388456" y="3977981"/>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3921289"/>
            <a:ext cx="4541368" cy="570586"/>
          </a:xfrm>
          <a:prstGeom prst="rect">
            <a:avLst/>
          </a:prstGeom>
          <a:noFill/>
          <a:ln/>
        </p:spPr>
        <p:txBody>
          <a:bodyPr wrap="square" lIns="0" tIns="0" rIns="0" bIns="0" rtlCol="0" anchor="ctr"/>
          <a:lstStyle/>
          <a:p>
            <a:pPr indent="0" marL="0">
              <a:buNone/>
            </a:pPr>
            <a:r>
              <a:rPr lang="id-ID" altLang="en-US" sz="2400" dirty="0">
                <a:solidFill>
                  <a:srgbClr val="0A3069"/>
                </a:solidFill>
                <a:latin typeface="Consolas" pitchFamily="34" charset="0"/>
                <a:ea typeface="Consolas" pitchFamily="34" charset="-122"/>
                <a:cs typeface="Consolas" pitchFamily="34" charset="-120"/>
              </a:rPr>
              <a:t>Pesanan</a:t>
            </a:r>
            <a:r>
              <a:rPr lang="id-ID" altLang="en-US" sz="2400" dirty="0">
                <a:solidFill>
                  <a:srgbClr val="1F2328"/>
                </a:solidFill>
              </a:rPr>
              <a:t> dan </a:t>
            </a:r>
            <a:r>
              <a:rPr lang="id-ID" altLang="en-US" sz="2400" dirty="0">
                <a:solidFill>
                  <a:srgbClr val="0A3069"/>
                </a:solidFill>
                <a:latin typeface="Consolas" pitchFamily="34" charset="0"/>
                <a:ea typeface="Consolas" pitchFamily="34" charset="-122"/>
                <a:cs typeface="Consolas" pitchFamily="34" charset="-120"/>
              </a:rPr>
              <a:t>ItemPesanan</a:t>
            </a:r>
            <a:endParaRPr lang="id-ID" sz="2400" dirty="0"/>
          </a:p>
        </p:txBody>
      </p:sp>
      <p:sp>
        <p:nvSpPr>
          <p:cNvPr id="17" name="Shape 13"/>
          <p:cNvSpPr/>
          <p:nvPr/>
        </p:nvSpPr>
        <p:spPr>
          <a:xfrm>
            <a:off x="548640" y="4784482"/>
            <a:ext cx="5455768" cy="790042"/>
          </a:xfrm>
          <a:prstGeom prst="roundRect">
            <a:avLst>
              <a:gd name="adj" fmla="val 16075"/>
            </a:avLst>
          </a:prstGeom>
          <a:solidFill>
            <a:srgbClr val="FFFFFF"/>
          </a:solidFill>
          <a:ln w="9525">
            <a:solidFill>
              <a:srgbClr val="D0D7DE"/>
            </a:solidFill>
            <a:prstDash val="solid"/>
          </a:ln>
        </p:spPr>
      </p:sp>
      <p:sp>
        <p:nvSpPr>
          <p:cNvPr id="18" name="Shape 14"/>
          <p:cNvSpPr/>
          <p:nvPr/>
        </p:nvSpPr>
        <p:spPr>
          <a:xfrm>
            <a:off x="749808" y="4950903"/>
            <a:ext cx="457200" cy="457200"/>
          </a:xfrm>
          <a:prstGeom prst="ellipse">
            <a:avLst/>
          </a:prstGeom>
          <a:solidFill>
            <a:srgbClr val="8250DF"/>
          </a:solidFill>
          <a:ln/>
        </p:spPr>
      </p:sp>
      <p:sp>
        <p:nvSpPr>
          <p:cNvPr id="19" name="Text 15"/>
          <p:cNvSpPr txBox="1"/>
          <p:nvPr/>
        </p:nvSpPr>
        <p:spPr>
          <a:xfrm>
            <a:off x="749808" y="4950903"/>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4894210"/>
            <a:ext cx="4541368" cy="570586"/>
          </a:xfrm>
          <a:prstGeom prst="rect">
            <a:avLst/>
          </a:prstGeom>
          <a:noFill/>
          <a:ln/>
        </p:spPr>
        <p:txBody>
          <a:bodyPr wrap="square" lIns="0" tIns="0" rIns="0" bIns="0" rtlCol="0" anchor="ctr"/>
          <a:lstStyle/>
          <a:p>
            <a:pPr indent="0" marL="0">
              <a:buNone/>
            </a:pPr>
            <a:r>
              <a:rPr lang="id-ID" altLang="en-US" sz="2400" dirty="0">
                <a:solidFill>
                  <a:srgbClr val="0A3069"/>
                </a:solidFill>
                <a:latin typeface="Consolas" pitchFamily="34" charset="0"/>
                <a:ea typeface="Consolas" pitchFamily="34" charset="-122"/>
                <a:cs typeface="Consolas" pitchFamily="34" charset="-120"/>
              </a:rPr>
              <a:t>Dosen</a:t>
            </a:r>
            <a:r>
              <a:rPr lang="id-ID" altLang="en-US" sz="2400" dirty="0">
                <a:solidFill>
                  <a:srgbClr val="1F2328"/>
                </a:solidFill>
              </a:rPr>
              <a:t> dan </a:t>
            </a:r>
            <a:r>
              <a:rPr lang="id-ID" altLang="en-US" sz="2400" dirty="0">
                <a:solidFill>
                  <a:srgbClr val="0A3069"/>
                </a:solidFill>
                <a:latin typeface="Consolas" pitchFamily="34" charset="0"/>
                <a:ea typeface="Consolas" pitchFamily="34" charset="-122"/>
                <a:cs typeface="Consolas" pitchFamily="34" charset="-120"/>
              </a:rPr>
              <a:t>Pegawai</a:t>
            </a:r>
            <a:endParaRPr lang="id-ID" sz="2400" dirty="0"/>
          </a:p>
        </p:txBody>
      </p:sp>
      <p:sp>
        <p:nvSpPr>
          <p:cNvPr id="21" name="Shape 17"/>
          <p:cNvSpPr/>
          <p:nvPr/>
        </p:nvSpPr>
        <p:spPr>
          <a:xfrm>
            <a:off x="6187288" y="4784482"/>
            <a:ext cx="5455768" cy="790042"/>
          </a:xfrm>
          <a:prstGeom prst="roundRect">
            <a:avLst>
              <a:gd name="adj" fmla="val 16075"/>
            </a:avLst>
          </a:prstGeom>
          <a:solidFill>
            <a:srgbClr val="FFFFFF"/>
          </a:solidFill>
          <a:ln w="9525">
            <a:solidFill>
              <a:srgbClr val="D0D7DE"/>
            </a:solidFill>
            <a:prstDash val="solid"/>
          </a:ln>
        </p:spPr>
      </p:sp>
      <p:sp>
        <p:nvSpPr>
          <p:cNvPr id="22" name="Shape 18"/>
          <p:cNvSpPr/>
          <p:nvPr/>
        </p:nvSpPr>
        <p:spPr>
          <a:xfrm>
            <a:off x="6388456" y="4950903"/>
            <a:ext cx="457200" cy="457200"/>
          </a:xfrm>
          <a:prstGeom prst="ellipse">
            <a:avLst/>
          </a:prstGeom>
          <a:solidFill>
            <a:srgbClr val="8250DF"/>
          </a:solidFill>
          <a:ln/>
        </p:spPr>
      </p:sp>
      <p:sp>
        <p:nvSpPr>
          <p:cNvPr id="23" name="Text 19"/>
          <p:cNvSpPr txBox="1"/>
          <p:nvPr/>
        </p:nvSpPr>
        <p:spPr>
          <a:xfrm>
            <a:off x="6388456" y="4950903"/>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4894210"/>
            <a:ext cx="4541368" cy="570586"/>
          </a:xfrm>
          <a:prstGeom prst="rect">
            <a:avLst/>
          </a:prstGeom>
          <a:noFill/>
          <a:ln/>
        </p:spPr>
        <p:txBody>
          <a:bodyPr wrap="square" lIns="0" tIns="0" rIns="0" bIns="0" rtlCol="0" anchor="ctr"/>
          <a:lstStyle/>
          <a:p>
            <a:pPr indent="0" marL="0">
              <a:buNone/>
            </a:pPr>
            <a:r>
              <a:rPr lang="id-ID" altLang="en-US" sz="2400" dirty="0">
                <a:solidFill>
                  <a:srgbClr val="0A3069"/>
                </a:solidFill>
                <a:latin typeface="Consolas" pitchFamily="34" charset="0"/>
                <a:ea typeface="Consolas" pitchFamily="34" charset="-122"/>
                <a:cs typeface="Consolas" pitchFamily="34" charset="-120"/>
              </a:rPr>
              <a:t>Kedai</a:t>
            </a:r>
            <a:r>
              <a:rPr lang="id-ID" altLang="en-US" sz="2400" dirty="0">
                <a:solidFill>
                  <a:srgbClr val="1F2328"/>
                </a:solidFill>
              </a:rPr>
              <a:t> dan </a:t>
            </a:r>
            <a:r>
              <a:rPr lang="id-ID" altLang="en-US" sz="2400" dirty="0">
                <a:solidFill>
                  <a:srgbClr val="0A3069"/>
                </a:solidFill>
                <a:latin typeface="Consolas" pitchFamily="34" charset="0"/>
                <a:ea typeface="Consolas" pitchFamily="34" charset="-122"/>
                <a:cs typeface="Consolas" pitchFamily="34" charset="-120"/>
              </a:rPr>
              <a:t>Menu</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495836"/>
            <a:ext cx="11094415" cy="832104"/>
          </a:xfrm>
          <a:prstGeom prst="roundRect">
            <a:avLst>
              <a:gd name="adj" fmla="val 14491"/>
            </a:avLst>
          </a:prstGeom>
          <a:solidFill>
            <a:srgbClr val="F6F8FA"/>
          </a:solidFill>
          <a:ln w="9525">
            <a:solidFill>
              <a:srgbClr val="D0D7DE"/>
            </a:solidFill>
            <a:prstDash val="solid"/>
          </a:ln>
        </p:spPr>
      </p:sp>
      <p:sp>
        <p:nvSpPr>
          <p:cNvPr id="6" name="Text 3"/>
          <p:cNvSpPr txBox="1"/>
          <p:nvPr/>
        </p:nvSpPr>
        <p:spPr>
          <a:xfrm>
            <a:off x="822960" y="1632996"/>
            <a:ext cx="10545775" cy="557784"/>
          </a:xfrm>
          <a:prstGeom prst="rect">
            <a:avLst/>
          </a:prstGeom>
          <a:noFill/>
          <a:ln/>
        </p:spPr>
        <p:txBody>
          <a:bodyPr wrap="square" lIns="0" tIns="0" rIns="0" bIns="0" rtlCol="0" anchor="t"/>
          <a:lstStyle/>
          <a:p>
            <a:pPr indent="0" marL="0">
              <a:buNone/>
            </a:pPr>
            <a:r>
              <a:rPr lang="id-ID" altLang="en-US" sz="1800" dirty="0">
                <a:solidFill>
                  <a:srgbClr val="57606A"/>
                </a:solidFill>
              </a:rPr>
              <a:t>Pasangan manakah yang paling tepat dimodelkan dengan pewarisan, dengan kelas </a:t>
            </a:r>
            <a:r>
              <a:rPr lang="id-ID" altLang="en-US" sz="1800" b="1" dirty="0">
                <a:solidFill>
                  <a:srgbClr val="57606A"/>
                </a:solidFill>
              </a:rPr>
              <a:t>pertama</a:t>
            </a:r>
            <a:r>
              <a:rPr lang="id-ID" altLang="en-US" sz="1800" dirty="0">
                <a:solidFill>
                  <a:srgbClr val="57606A"/>
                </a:solidFill>
              </a:rPr>
              <a:t> sebagai kelas anak dan kelas </a:t>
            </a:r>
            <a:r>
              <a:rPr lang="id-ID" altLang="en-US" sz="1800" b="1" dirty="0">
                <a:solidFill>
                  <a:srgbClr val="57606A"/>
                </a:solidFill>
              </a:rPr>
              <a:t>kedua</a:t>
            </a:r>
            <a:r>
              <a:rPr lang="id-ID" altLang="en-US" sz="1800" dirty="0">
                <a:solidFill>
                  <a:srgbClr val="57606A"/>
                </a:solidFill>
              </a:rPr>
              <a:t> sebagai kelas induk?</a:t>
            </a:r>
            <a:endParaRPr lang="id-ID" sz="1800" dirty="0"/>
          </a:p>
        </p:txBody>
      </p:sp>
      <p:sp>
        <p:nvSpPr>
          <p:cNvPr id="7" name="Shape 4"/>
          <p:cNvSpPr/>
          <p:nvPr/>
        </p:nvSpPr>
        <p:spPr>
          <a:xfrm>
            <a:off x="548640" y="2510820"/>
            <a:ext cx="5455768" cy="658368"/>
          </a:xfrm>
          <a:prstGeom prst="roundRect">
            <a:avLst>
              <a:gd name="adj" fmla="val 23148"/>
            </a:avLst>
          </a:prstGeom>
          <a:solidFill>
            <a:srgbClr val="FFFFFF"/>
          </a:solidFill>
          <a:ln w="9525">
            <a:solidFill>
              <a:srgbClr val="D0D7DE"/>
            </a:solidFill>
            <a:prstDash val="solid"/>
          </a:ln>
        </p:spPr>
      </p:sp>
      <p:sp>
        <p:nvSpPr>
          <p:cNvPr id="8" name="Shape 5"/>
          <p:cNvSpPr/>
          <p:nvPr/>
        </p:nvSpPr>
        <p:spPr>
          <a:xfrm>
            <a:off x="749808" y="2611404"/>
            <a:ext cx="457200" cy="457200"/>
          </a:xfrm>
          <a:prstGeom prst="ellipse">
            <a:avLst/>
          </a:prstGeom>
          <a:solidFill>
            <a:srgbClr val="8C959F"/>
          </a:solidFill>
          <a:ln/>
        </p:spPr>
      </p:sp>
      <p:sp>
        <p:nvSpPr>
          <p:cNvPr id="9" name="Text 6"/>
          <p:cNvSpPr txBox="1"/>
          <p:nvPr/>
        </p:nvSpPr>
        <p:spPr>
          <a:xfrm>
            <a:off x="749808" y="261140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0" name="Text 7"/>
          <p:cNvSpPr txBox="1"/>
          <p:nvPr/>
        </p:nvSpPr>
        <p:spPr>
          <a:xfrm>
            <a:off x="1353312" y="2620548"/>
            <a:ext cx="4541368" cy="438912"/>
          </a:xfrm>
          <a:prstGeom prst="rect">
            <a:avLst/>
          </a:prstGeom>
          <a:noFill/>
          <a:ln/>
        </p:spPr>
        <p:txBody>
          <a:bodyPr wrap="square" lIns="0" tIns="0" rIns="0" bIns="0" rtlCol="0" anchor="ctr"/>
          <a:lstStyle/>
          <a:p>
            <a:pPr indent="0" marL="0">
              <a:buNone/>
            </a:pPr>
            <a:r>
              <a:rPr lang="id-ID" altLang="en-US" sz="2000" dirty="0">
                <a:solidFill>
                  <a:srgbClr val="0A3069"/>
                </a:solidFill>
                <a:latin typeface="Consolas" pitchFamily="34" charset="0"/>
                <a:ea typeface="Consolas" pitchFamily="34" charset="-122"/>
                <a:cs typeface="Consolas" pitchFamily="34" charset="-120"/>
              </a:rPr>
              <a:t>Mobil</a:t>
            </a:r>
            <a:r>
              <a:rPr lang="id-ID" altLang="en-US" sz="2000" dirty="0">
                <a:solidFill>
                  <a:srgbClr val="57606A"/>
                </a:solidFill>
              </a:rPr>
              <a:t> dan </a:t>
            </a:r>
            <a:r>
              <a:rPr lang="id-ID" altLang="en-US" sz="2000" dirty="0">
                <a:solidFill>
                  <a:srgbClr val="0A3069"/>
                </a:solidFill>
                <a:latin typeface="Consolas" pitchFamily="34" charset="0"/>
                <a:ea typeface="Consolas" pitchFamily="34" charset="-122"/>
                <a:cs typeface="Consolas" pitchFamily="34" charset="-120"/>
              </a:rPr>
              <a:t>Mesin</a:t>
            </a:r>
            <a:endParaRPr lang="id-ID" sz="2000" dirty="0"/>
          </a:p>
        </p:txBody>
      </p:sp>
      <p:sp>
        <p:nvSpPr>
          <p:cNvPr id="11" name="Shape 8"/>
          <p:cNvSpPr/>
          <p:nvPr/>
        </p:nvSpPr>
        <p:spPr>
          <a:xfrm>
            <a:off x="6187288" y="2510820"/>
            <a:ext cx="5455768" cy="658368"/>
          </a:xfrm>
          <a:prstGeom prst="roundRect">
            <a:avLst>
              <a:gd name="adj" fmla="val 23148"/>
            </a:avLst>
          </a:prstGeom>
          <a:solidFill>
            <a:srgbClr val="FFFFFF"/>
          </a:solidFill>
          <a:ln w="9525">
            <a:solidFill>
              <a:srgbClr val="D0D7DE"/>
            </a:solidFill>
            <a:prstDash val="solid"/>
          </a:ln>
        </p:spPr>
      </p:sp>
      <p:sp>
        <p:nvSpPr>
          <p:cNvPr id="12" name="Shape 9"/>
          <p:cNvSpPr/>
          <p:nvPr/>
        </p:nvSpPr>
        <p:spPr>
          <a:xfrm>
            <a:off x="6388456" y="2611404"/>
            <a:ext cx="457200" cy="457200"/>
          </a:xfrm>
          <a:prstGeom prst="ellipse">
            <a:avLst/>
          </a:prstGeom>
          <a:solidFill>
            <a:srgbClr val="8C959F"/>
          </a:solidFill>
          <a:ln/>
        </p:spPr>
      </p:sp>
      <p:sp>
        <p:nvSpPr>
          <p:cNvPr id="13" name="Text 10"/>
          <p:cNvSpPr txBox="1"/>
          <p:nvPr/>
        </p:nvSpPr>
        <p:spPr>
          <a:xfrm>
            <a:off x="6388456" y="261140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4" name="Text 11"/>
          <p:cNvSpPr txBox="1"/>
          <p:nvPr/>
        </p:nvSpPr>
        <p:spPr>
          <a:xfrm>
            <a:off x="6991960" y="2620548"/>
            <a:ext cx="4541368" cy="438912"/>
          </a:xfrm>
          <a:prstGeom prst="rect">
            <a:avLst/>
          </a:prstGeom>
          <a:noFill/>
          <a:ln/>
        </p:spPr>
        <p:txBody>
          <a:bodyPr wrap="square" lIns="0" tIns="0" rIns="0" bIns="0" rtlCol="0" anchor="ctr"/>
          <a:lstStyle/>
          <a:p>
            <a:pPr indent="0" marL="0">
              <a:buNone/>
            </a:pPr>
            <a:r>
              <a:rPr lang="id-ID" altLang="en-US" sz="2000" dirty="0">
                <a:solidFill>
                  <a:srgbClr val="0A3069"/>
                </a:solidFill>
                <a:latin typeface="Consolas" pitchFamily="34" charset="0"/>
                <a:ea typeface="Consolas" pitchFamily="34" charset="-122"/>
                <a:cs typeface="Consolas" pitchFamily="34" charset="-120"/>
              </a:rPr>
              <a:t>Pesanan</a:t>
            </a:r>
            <a:r>
              <a:rPr lang="id-ID" altLang="en-US" sz="2000" dirty="0">
                <a:solidFill>
                  <a:srgbClr val="57606A"/>
                </a:solidFill>
              </a:rPr>
              <a:t> dan </a:t>
            </a:r>
            <a:r>
              <a:rPr lang="id-ID" altLang="en-US" sz="2000" dirty="0">
                <a:solidFill>
                  <a:srgbClr val="0A3069"/>
                </a:solidFill>
                <a:latin typeface="Consolas" pitchFamily="34" charset="0"/>
                <a:ea typeface="Consolas" pitchFamily="34" charset="-122"/>
                <a:cs typeface="Consolas" pitchFamily="34" charset="-120"/>
              </a:rPr>
              <a:t>ItemPesanan</a:t>
            </a:r>
            <a:endParaRPr lang="id-ID" sz="2000" dirty="0"/>
          </a:p>
        </p:txBody>
      </p:sp>
      <p:sp>
        <p:nvSpPr>
          <p:cNvPr id="15" name="Shape 12"/>
          <p:cNvSpPr/>
          <p:nvPr/>
        </p:nvSpPr>
        <p:spPr>
          <a:xfrm>
            <a:off x="548640" y="3352068"/>
            <a:ext cx="5455768" cy="658368"/>
          </a:xfrm>
          <a:prstGeom prst="roundRect">
            <a:avLst>
              <a:gd name="adj" fmla="val 23148"/>
            </a:avLst>
          </a:prstGeom>
          <a:solidFill>
            <a:srgbClr val="DAFBE1"/>
          </a:solidFill>
          <a:ln w="22225">
            <a:solidFill>
              <a:srgbClr val="1A7F37"/>
            </a:solidFill>
            <a:prstDash val="solid"/>
          </a:ln>
        </p:spPr>
      </p:sp>
      <p:sp>
        <p:nvSpPr>
          <p:cNvPr id="16" name="Shape 13"/>
          <p:cNvSpPr/>
          <p:nvPr/>
        </p:nvSpPr>
        <p:spPr>
          <a:xfrm>
            <a:off x="749808" y="3452652"/>
            <a:ext cx="457200" cy="457200"/>
          </a:xfrm>
          <a:prstGeom prst="ellipse">
            <a:avLst/>
          </a:prstGeom>
          <a:solidFill>
            <a:srgbClr val="1A7F37"/>
          </a:solidFill>
          <a:ln/>
        </p:spPr>
      </p:sp>
      <p:pic>
        <p:nvPicPr>
          <p:cNvPr id="17" name="Image 1" descr="preencoded.png">    </p:cNvPr>
          <p:cNvPicPr>
            <a:picLocks noChangeAspect="1"/>
          </p:cNvPicPr>
          <p:nvPr/>
        </p:nvPicPr>
        <p:blipFill>
          <a:blip r:embed="rId2"/>
          <a:stretch>
            <a:fillRect/>
          </a:stretch>
        </p:blipFill>
        <p:spPr>
          <a:xfrm>
            <a:off x="850392" y="3553236"/>
            <a:ext cx="256032" cy="256032"/>
          </a:xfrm>
          <a:prstGeom prst="rect">
            <a:avLst/>
          </a:prstGeom>
        </p:spPr>
      </p:pic>
      <p:sp>
        <p:nvSpPr>
          <p:cNvPr id="18" name="Text 14"/>
          <p:cNvSpPr txBox="1"/>
          <p:nvPr/>
        </p:nvSpPr>
        <p:spPr>
          <a:xfrm>
            <a:off x="1353312" y="3461796"/>
            <a:ext cx="4541368" cy="438912"/>
          </a:xfrm>
          <a:prstGeom prst="rect">
            <a:avLst/>
          </a:prstGeom>
          <a:noFill/>
          <a:ln/>
        </p:spPr>
        <p:txBody>
          <a:bodyPr wrap="square" lIns="0" tIns="0" rIns="0" bIns="0" rtlCol="0" anchor="ctr"/>
          <a:lstStyle/>
          <a:p>
            <a:pPr indent="0" marL="0">
              <a:buNone/>
            </a:pPr>
            <a:r>
              <a:rPr lang="id-ID" altLang="en-US" sz="2000" dirty="0">
                <a:solidFill>
                  <a:srgbClr val="0A3069"/>
                </a:solidFill>
                <a:latin typeface="Consolas" pitchFamily="34" charset="0"/>
                <a:ea typeface="Consolas" pitchFamily="34" charset="-122"/>
                <a:cs typeface="Consolas" pitchFamily="34" charset="-120"/>
              </a:rPr>
              <a:t>Dosen</a:t>
            </a:r>
            <a:r>
              <a:rPr lang="id-ID" altLang="en-US" sz="2000" dirty="0">
                <a:solidFill>
                  <a:srgbClr val="1F2328"/>
                </a:solidFill>
              </a:rPr>
              <a:t> dan </a:t>
            </a:r>
            <a:r>
              <a:rPr lang="id-ID" altLang="en-US" sz="2000" dirty="0">
                <a:solidFill>
                  <a:srgbClr val="0A3069"/>
                </a:solidFill>
                <a:latin typeface="Consolas" pitchFamily="34" charset="0"/>
                <a:ea typeface="Consolas" pitchFamily="34" charset="-122"/>
                <a:cs typeface="Consolas" pitchFamily="34" charset="-120"/>
              </a:rPr>
              <a:t>Pegawai</a:t>
            </a:r>
            <a:endParaRPr lang="id-ID" sz="2000" dirty="0"/>
          </a:p>
        </p:txBody>
      </p:sp>
      <p:sp>
        <p:nvSpPr>
          <p:cNvPr id="19" name="Shape 15"/>
          <p:cNvSpPr/>
          <p:nvPr/>
        </p:nvSpPr>
        <p:spPr>
          <a:xfrm>
            <a:off x="6187288" y="3352068"/>
            <a:ext cx="5455768" cy="658368"/>
          </a:xfrm>
          <a:prstGeom prst="roundRect">
            <a:avLst>
              <a:gd name="adj" fmla="val 23148"/>
            </a:avLst>
          </a:prstGeom>
          <a:solidFill>
            <a:srgbClr val="FFFFFF"/>
          </a:solidFill>
          <a:ln w="9525">
            <a:solidFill>
              <a:srgbClr val="D0D7DE"/>
            </a:solidFill>
            <a:prstDash val="solid"/>
          </a:ln>
        </p:spPr>
      </p:sp>
      <p:sp>
        <p:nvSpPr>
          <p:cNvPr id="20" name="Shape 16"/>
          <p:cNvSpPr/>
          <p:nvPr/>
        </p:nvSpPr>
        <p:spPr>
          <a:xfrm>
            <a:off x="6388456" y="3452652"/>
            <a:ext cx="457200" cy="457200"/>
          </a:xfrm>
          <a:prstGeom prst="ellipse">
            <a:avLst/>
          </a:prstGeom>
          <a:solidFill>
            <a:srgbClr val="8C959F"/>
          </a:solidFill>
          <a:ln/>
        </p:spPr>
      </p:sp>
      <p:sp>
        <p:nvSpPr>
          <p:cNvPr id="21" name="Text 17"/>
          <p:cNvSpPr txBox="1"/>
          <p:nvPr/>
        </p:nvSpPr>
        <p:spPr>
          <a:xfrm>
            <a:off x="6388456" y="345265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2" name="Text 18"/>
          <p:cNvSpPr txBox="1"/>
          <p:nvPr/>
        </p:nvSpPr>
        <p:spPr>
          <a:xfrm>
            <a:off x="6991960" y="3461796"/>
            <a:ext cx="4541368" cy="438912"/>
          </a:xfrm>
          <a:prstGeom prst="rect">
            <a:avLst/>
          </a:prstGeom>
          <a:noFill/>
          <a:ln/>
        </p:spPr>
        <p:txBody>
          <a:bodyPr wrap="square" lIns="0" tIns="0" rIns="0" bIns="0" rtlCol="0" anchor="ctr"/>
          <a:lstStyle/>
          <a:p>
            <a:pPr indent="0" marL="0">
              <a:buNone/>
            </a:pPr>
            <a:r>
              <a:rPr lang="id-ID" altLang="en-US" sz="2000" dirty="0">
                <a:solidFill>
                  <a:srgbClr val="0A3069"/>
                </a:solidFill>
                <a:latin typeface="Consolas" pitchFamily="34" charset="0"/>
                <a:ea typeface="Consolas" pitchFamily="34" charset="-122"/>
                <a:cs typeface="Consolas" pitchFamily="34" charset="-120"/>
              </a:rPr>
              <a:t>Kedai</a:t>
            </a:r>
            <a:r>
              <a:rPr lang="id-ID" altLang="en-US" sz="2000" dirty="0">
                <a:solidFill>
                  <a:srgbClr val="57606A"/>
                </a:solidFill>
              </a:rPr>
              <a:t> dan </a:t>
            </a:r>
            <a:r>
              <a:rPr lang="id-ID" altLang="en-US" sz="2000" dirty="0">
                <a:solidFill>
                  <a:srgbClr val="0A3069"/>
                </a:solidFill>
                <a:latin typeface="Consolas" pitchFamily="34" charset="0"/>
                <a:ea typeface="Consolas" pitchFamily="34" charset="-122"/>
                <a:cs typeface="Consolas" pitchFamily="34" charset="-120"/>
              </a:rPr>
              <a:t>Menu</a:t>
            </a:r>
            <a:endParaRPr lang="id-ID" sz="2000" dirty="0"/>
          </a:p>
        </p:txBody>
      </p:sp>
      <p:sp>
        <p:nvSpPr>
          <p:cNvPr id="23" name="Shape 19"/>
          <p:cNvSpPr/>
          <p:nvPr/>
        </p:nvSpPr>
        <p:spPr>
          <a:xfrm>
            <a:off x="548640" y="4211604"/>
            <a:ext cx="11094415" cy="1879600"/>
          </a:xfrm>
          <a:prstGeom prst="roundRect">
            <a:avLst>
              <a:gd name="adj" fmla="val 2840"/>
            </a:avLst>
          </a:prstGeom>
          <a:solidFill>
            <a:srgbClr val="FFF8C5"/>
          </a:solidFill>
          <a:ln w="9525">
            <a:solidFill>
              <a:srgbClr val="D4A72C"/>
            </a:solidFill>
            <a:prstDash val="solid"/>
          </a:ln>
        </p:spPr>
      </p:sp>
      <p:sp>
        <p:nvSpPr>
          <p:cNvPr id="24" name="Shape 20"/>
          <p:cNvSpPr/>
          <p:nvPr/>
        </p:nvSpPr>
        <p:spPr>
          <a:xfrm>
            <a:off x="777240" y="4394484"/>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495068"/>
            <a:ext cx="256032" cy="256032"/>
          </a:xfrm>
          <a:prstGeom prst="rect">
            <a:avLst/>
          </a:prstGeom>
        </p:spPr>
      </p:pic>
      <p:sp>
        <p:nvSpPr>
          <p:cNvPr id="26" name="Text 21"/>
          <p:cNvSpPr txBox="1"/>
          <p:nvPr/>
        </p:nvSpPr>
        <p:spPr>
          <a:xfrm>
            <a:off x="1417320" y="4348764"/>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C</a:t>
            </a:r>
            <a:endParaRPr lang="id-ID" sz="1600" dirty="0"/>
          </a:p>
        </p:txBody>
      </p:sp>
      <p:sp>
        <p:nvSpPr>
          <p:cNvPr id="27" name="Text 22"/>
          <p:cNvSpPr txBox="1"/>
          <p:nvPr/>
        </p:nvSpPr>
        <p:spPr>
          <a:xfrm>
            <a:off x="1417320" y="4687092"/>
            <a:ext cx="9951415" cy="1330960"/>
          </a:xfrm>
          <a:prstGeom prst="rect">
            <a:avLst/>
          </a:prstGeom>
          <a:noFill/>
          <a:ln/>
        </p:spPr>
        <p:txBody>
          <a:bodyPr wrap="square" lIns="0" tIns="0" rIns="0" bIns="0" rtlCol="0" anchor="t"/>
          <a:lstStyle/>
          <a:p>
            <a:pPr indent="0" marL="0">
              <a:buNone/>
            </a:pPr>
            <a:r>
              <a:rPr lang="id-ID" altLang="en-US" sz="2000" dirty="0">
                <a:solidFill>
                  <a:srgbClr val="1F2328"/>
                </a:solidFill>
              </a:rPr>
              <a:t>Uji dengan kalimat “X </a:t>
            </a:r>
            <a:r>
              <a:rPr lang="id-ID" altLang="en-US" sz="2000" b="1" dirty="0">
                <a:solidFill>
                  <a:srgbClr val="1F2328"/>
                </a:solidFill>
              </a:rPr>
              <a:t>adalah</a:t>
            </a:r>
            <a:r>
              <a:rPr lang="id-ID" altLang="en-US" sz="2000" dirty="0">
                <a:solidFill>
                  <a:srgbClr val="1F2328"/>
                </a:solidFill>
              </a:rPr>
              <a:t> Y”. “Dosen adalah pegawai” benar, jadi hubungannya </a:t>
            </a:r>
            <a:r>
              <a:rPr lang="id-ID" altLang="en-US" sz="2000" i="1" dirty="0">
                <a:solidFill>
                  <a:srgbClr val="1F2328"/>
                </a:solidFill>
              </a:rPr>
              <a:t>is-⁠a</a:t>
            </a:r>
            <a:r>
              <a:rPr lang="id-ID" altLang="en-US" sz="2000" dirty="0">
                <a:solidFill>
                  <a:srgbClr val="1F2328"/>
                </a:solidFill>
              </a:rPr>
              <a:t>. Tiga pilihan lain adalah </a:t>
            </a:r>
            <a:r>
              <a:rPr lang="id-ID" altLang="en-US" sz="2000" i="1" dirty="0">
                <a:solidFill>
                  <a:srgbClr val="1F2328"/>
                </a:solidFill>
              </a:rPr>
              <a:t>has-⁠a</a:t>
            </a:r>
            <a:r>
              <a:rPr lang="id-ID" altLang="en-US" sz="2000" dirty="0">
                <a:solidFill>
                  <a:srgbClr val="1F2328"/>
                </a:solidFill>
              </a:rPr>
              <a:t>: mobil </a:t>
            </a:r>
            <a:r>
              <a:rPr lang="id-ID" altLang="en-US" sz="2000" b="1" dirty="0">
                <a:solidFill>
                  <a:srgbClr val="1F2328"/>
                </a:solidFill>
              </a:rPr>
              <a:t>punya</a:t>
            </a:r>
            <a:r>
              <a:rPr lang="id-ID" altLang="en-US" sz="2000" dirty="0">
                <a:solidFill>
                  <a:srgbClr val="1F2328"/>
                </a:solidFill>
              </a:rPr>
              <a:t> mesin, pesanan </a:t>
            </a:r>
            <a:r>
              <a:rPr lang="id-ID" altLang="en-US" sz="2000" b="1" dirty="0">
                <a:solidFill>
                  <a:srgbClr val="1F2328"/>
                </a:solidFill>
              </a:rPr>
              <a:t>punya</a:t>
            </a:r>
            <a:r>
              <a:rPr lang="id-ID" altLang="en-US" sz="2000" dirty="0">
                <a:solidFill>
                  <a:srgbClr val="1F2328"/>
                </a:solidFill>
              </a:rPr>
              <a:t> item pesanan (komposisi), dan kedai </a:t>
            </a:r>
            <a:r>
              <a:rPr lang="id-ID" altLang="en-US" sz="2000" b="1" dirty="0">
                <a:solidFill>
                  <a:srgbClr val="1F2328"/>
                </a:solidFill>
              </a:rPr>
              <a:t>punya</a:t>
            </a:r>
            <a:r>
              <a:rPr lang="id-ID" altLang="en-US" sz="2000" dirty="0">
                <a:solidFill>
                  <a:srgbClr val="1F2328"/>
                </a:solidFill>
              </a:rPr>
              <a:t> daftar menu (agregasi). Hubungan “punya” diwujudkan dengan atribut, bukan pewarisan.</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424681"/>
            <a:ext cx="11094415" cy="1712214"/>
          </a:xfrm>
          <a:prstGeom prst="roundRect">
            <a:avLst>
              <a:gd name="adj" fmla="val 3422"/>
            </a:avLst>
          </a:prstGeom>
          <a:solidFill>
            <a:srgbClr val="FBEFFF"/>
          </a:solidFill>
          <a:ln w="9525">
            <a:solidFill>
              <a:srgbClr val="C297FF"/>
            </a:solidFill>
            <a:prstDash val="solid"/>
          </a:ln>
        </p:spPr>
      </p:sp>
      <p:sp>
        <p:nvSpPr>
          <p:cNvPr id="6" name="Shape 3"/>
          <p:cNvSpPr/>
          <p:nvPr/>
        </p:nvSpPr>
        <p:spPr>
          <a:xfrm>
            <a:off x="777240" y="2052188"/>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152772"/>
            <a:ext cx="256032" cy="256032"/>
          </a:xfrm>
          <a:prstGeom prst="rect">
            <a:avLst/>
          </a:prstGeom>
        </p:spPr>
      </p:pic>
      <p:sp>
        <p:nvSpPr>
          <p:cNvPr id="8" name="Text 4"/>
          <p:cNvSpPr txBox="1"/>
          <p:nvPr/>
        </p:nvSpPr>
        <p:spPr>
          <a:xfrm>
            <a:off x="1417320" y="1653281"/>
            <a:ext cx="9951415" cy="1437894"/>
          </a:xfrm>
          <a:prstGeom prst="rect">
            <a:avLst/>
          </a:prstGeom>
          <a:noFill/>
          <a:ln/>
        </p:spPr>
        <p:txBody>
          <a:bodyPr wrap="square" lIns="0" tIns="0" rIns="0" bIns="0" rtlCol="0" anchor="t"/>
          <a:lstStyle/>
          <a:p>
            <a:pPr indent="0" marL="0">
              <a:buNone/>
            </a:pPr>
            <a:r>
              <a:rPr lang="id-ID" altLang="en-US" sz="2700" dirty="0">
                <a:solidFill>
                  <a:srgbClr val="1F2328"/>
                </a:solidFill>
              </a:rPr>
              <a:t>Di Java, kelas </a:t>
            </a:r>
            <a:r>
              <a:rPr lang="id-ID" altLang="en-US" sz="2700" dirty="0">
                <a:solidFill>
                  <a:srgbClr val="0A3069"/>
                </a:solidFill>
                <a:latin typeface="Consolas" pitchFamily="34" charset="0"/>
                <a:ea typeface="Consolas" pitchFamily="34" charset="-122"/>
                <a:cs typeface="Consolas" pitchFamily="34" charset="-120"/>
              </a:rPr>
              <a:t>Kendaraan</a:t>
            </a:r>
            <a:r>
              <a:rPr lang="id-ID" altLang="en-US" sz="2700" dirty="0">
                <a:solidFill>
                  <a:srgbClr val="1F2328"/>
                </a:solidFill>
              </a:rPr>
              <a:t> hanya punya satu konstruktor, yaitu </a:t>
            </a:r>
            <a:r>
              <a:rPr lang="id-ID" altLang="en-US" sz="2700" dirty="0">
                <a:solidFill>
                  <a:srgbClr val="0A3069"/>
                </a:solidFill>
                <a:latin typeface="Consolas" pitchFamily="34" charset="0"/>
                <a:ea typeface="Consolas" pitchFamily="34" charset="-122"/>
                <a:cs typeface="Consolas" pitchFamily="34" charset="-120"/>
              </a:rPr>
              <a:t>Kendaraan(String merek)</a:t>
            </a:r>
            <a:r>
              <a:rPr lang="id-ID" altLang="en-US" sz="2700" dirty="0">
                <a:solidFill>
                  <a:srgbClr val="1F2328"/>
                </a:solidFill>
              </a:rPr>
              <a:t>. Konstruktor kelas anak </a:t>
            </a:r>
            <a:r>
              <a:rPr lang="id-ID" altLang="en-US" sz="2700" dirty="0">
                <a:solidFill>
                  <a:srgbClr val="0A3069"/>
                </a:solidFill>
                <a:latin typeface="Consolas" pitchFamily="34" charset="0"/>
                <a:ea typeface="Consolas" pitchFamily="34" charset="-122"/>
                <a:cs typeface="Consolas" pitchFamily="34" charset="-120"/>
              </a:rPr>
              <a:t>Motor</a:t>
            </a:r>
            <a:r>
              <a:rPr lang="id-ID" altLang="en-US" sz="2700" dirty="0">
                <a:solidFill>
                  <a:srgbClr val="1F2328"/>
                </a:solidFill>
              </a:rPr>
              <a:t> </a:t>
            </a:r>
            <a:r>
              <a:rPr lang="id-ID" altLang="en-US" sz="2700" b="1" dirty="0">
                <a:solidFill>
                  <a:srgbClr val="1F2328"/>
                </a:solidFill>
              </a:rPr>
              <a:t>tidak</a:t>
            </a:r>
            <a:r>
              <a:rPr lang="id-ID" altLang="en-US" sz="2700" dirty="0">
                <a:solidFill>
                  <a:srgbClr val="1F2328"/>
                </a:solidFill>
              </a:rPr>
              <a:t> menulis </a:t>
            </a:r>
            <a:r>
              <a:rPr lang="id-ID" altLang="en-US" sz="2700" dirty="0">
                <a:solidFill>
                  <a:srgbClr val="0A3069"/>
                </a:solidFill>
                <a:latin typeface="Consolas" pitchFamily="34" charset="0"/>
                <a:ea typeface="Consolas" pitchFamily="34" charset="-122"/>
                <a:cs typeface="Consolas" pitchFamily="34" charset="-120"/>
              </a:rPr>
              <a:t>super(...)</a:t>
            </a:r>
            <a:r>
              <a:rPr lang="id-ID" altLang="en-US" sz="2700" dirty="0">
                <a:solidFill>
                  <a:srgbClr val="1F2328"/>
                </a:solidFill>
              </a:rPr>
              <a:t> sama sekali. Apa yang terjadi?</a:t>
            </a:r>
            <a:endParaRPr lang="id-ID" sz="2700" dirty="0"/>
          </a:p>
        </p:txBody>
      </p:sp>
      <p:sp>
        <p:nvSpPr>
          <p:cNvPr id="9" name="Shape 5"/>
          <p:cNvSpPr/>
          <p:nvPr/>
        </p:nvSpPr>
        <p:spPr>
          <a:xfrm>
            <a:off x="548640" y="3319775"/>
            <a:ext cx="5455768" cy="1343406"/>
          </a:xfrm>
          <a:prstGeom prst="roundRect">
            <a:avLst>
              <a:gd name="adj" fmla="val 5560"/>
            </a:avLst>
          </a:prstGeom>
          <a:solidFill>
            <a:srgbClr val="FFFFFF"/>
          </a:solidFill>
          <a:ln w="9525">
            <a:solidFill>
              <a:srgbClr val="D0D7DE"/>
            </a:solidFill>
            <a:prstDash val="solid"/>
          </a:ln>
        </p:spPr>
      </p:sp>
      <p:sp>
        <p:nvSpPr>
          <p:cNvPr id="10" name="Shape 6"/>
          <p:cNvSpPr/>
          <p:nvPr/>
        </p:nvSpPr>
        <p:spPr>
          <a:xfrm>
            <a:off x="749808" y="3762878"/>
            <a:ext cx="457200" cy="457200"/>
          </a:xfrm>
          <a:prstGeom prst="ellipse">
            <a:avLst/>
          </a:prstGeom>
          <a:solidFill>
            <a:srgbClr val="8250DF"/>
          </a:solidFill>
          <a:ln/>
        </p:spPr>
      </p:sp>
      <p:sp>
        <p:nvSpPr>
          <p:cNvPr id="11" name="Text 7"/>
          <p:cNvSpPr txBox="1"/>
          <p:nvPr/>
        </p:nvSpPr>
        <p:spPr>
          <a:xfrm>
            <a:off x="749808" y="3762878"/>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3429503"/>
            <a:ext cx="4541368" cy="1123950"/>
          </a:xfrm>
          <a:prstGeom prst="rect">
            <a:avLst/>
          </a:prstGeom>
          <a:noFill/>
          <a:ln/>
        </p:spPr>
        <p:txBody>
          <a:bodyPr wrap="square" lIns="0" tIns="0" rIns="0" bIns="0" rtlCol="0" anchor="ctr"/>
          <a:lstStyle/>
          <a:p>
            <a:pPr indent="0" marL="0">
              <a:buNone/>
            </a:pPr>
            <a:r>
              <a:rPr lang="id-ID" altLang="en-US" sz="2300" dirty="0">
                <a:solidFill>
                  <a:srgbClr val="1F2328"/>
                </a:solidFill>
              </a:rPr>
              <a:t>Java menyisipkan </a:t>
            </a:r>
            <a:r>
              <a:rPr lang="id-ID" altLang="en-US" sz="2300" dirty="0">
                <a:solidFill>
                  <a:srgbClr val="0A3069"/>
                </a:solidFill>
                <a:latin typeface="Consolas" pitchFamily="34" charset="0"/>
                <a:ea typeface="Consolas" pitchFamily="34" charset="-122"/>
                <a:cs typeface="Consolas" pitchFamily="34" charset="-120"/>
              </a:rPr>
              <a:t>super()</a:t>
            </a:r>
            <a:r>
              <a:rPr lang="id-ID" altLang="en-US" sz="2300" dirty="0">
                <a:solidFill>
                  <a:srgbClr val="1F2328"/>
                </a:solidFill>
              </a:rPr>
              <a:t> tanpa argumen secara otomatis sehingga kompilasi gagal</a:t>
            </a:r>
            <a:endParaRPr lang="id-ID" sz="2300" dirty="0"/>
          </a:p>
        </p:txBody>
      </p:sp>
      <p:sp>
        <p:nvSpPr>
          <p:cNvPr id="13" name="Shape 9"/>
          <p:cNvSpPr/>
          <p:nvPr/>
        </p:nvSpPr>
        <p:spPr>
          <a:xfrm>
            <a:off x="6187288" y="3319775"/>
            <a:ext cx="5455768" cy="1343406"/>
          </a:xfrm>
          <a:prstGeom prst="roundRect">
            <a:avLst>
              <a:gd name="adj" fmla="val 5560"/>
            </a:avLst>
          </a:prstGeom>
          <a:solidFill>
            <a:srgbClr val="FFFFFF"/>
          </a:solidFill>
          <a:ln w="9525">
            <a:solidFill>
              <a:srgbClr val="D0D7DE"/>
            </a:solidFill>
            <a:prstDash val="solid"/>
          </a:ln>
        </p:spPr>
      </p:sp>
      <p:sp>
        <p:nvSpPr>
          <p:cNvPr id="14" name="Shape 10"/>
          <p:cNvSpPr/>
          <p:nvPr/>
        </p:nvSpPr>
        <p:spPr>
          <a:xfrm>
            <a:off x="6388456" y="3762878"/>
            <a:ext cx="457200" cy="457200"/>
          </a:xfrm>
          <a:prstGeom prst="ellipse">
            <a:avLst/>
          </a:prstGeom>
          <a:solidFill>
            <a:srgbClr val="8250DF"/>
          </a:solidFill>
          <a:ln/>
        </p:spPr>
      </p:sp>
      <p:sp>
        <p:nvSpPr>
          <p:cNvPr id="15" name="Text 11"/>
          <p:cNvSpPr txBox="1"/>
          <p:nvPr/>
        </p:nvSpPr>
        <p:spPr>
          <a:xfrm>
            <a:off x="6388456" y="3762878"/>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3429503"/>
            <a:ext cx="4541368" cy="1123950"/>
          </a:xfrm>
          <a:prstGeom prst="rect">
            <a:avLst/>
          </a:prstGeom>
          <a:noFill/>
          <a:ln/>
        </p:spPr>
        <p:txBody>
          <a:bodyPr wrap="square" lIns="0" tIns="0" rIns="0" bIns="0" rtlCol="0" anchor="ctr"/>
          <a:lstStyle/>
          <a:p>
            <a:pPr indent="0" marL="0">
              <a:buNone/>
            </a:pPr>
            <a:r>
              <a:rPr lang="id-ID" altLang="en-US" sz="2300" dirty="0">
                <a:solidFill>
                  <a:srgbClr val="1F2328"/>
                </a:solidFill>
              </a:rPr>
              <a:t>Program berjalan normal, dan </a:t>
            </a:r>
            <a:r>
              <a:rPr lang="id-ID" altLang="en-US" sz="2300" i="1" dirty="0">
                <a:solidFill>
                  <a:srgbClr val="1F2328"/>
                </a:solidFill>
              </a:rPr>
              <a:t>field</a:t>
            </a:r>
            <a:r>
              <a:rPr lang="id-ID" altLang="en-US" sz="2300" dirty="0">
                <a:solidFill>
                  <a:srgbClr val="1F2328"/>
                </a:solidFill>
              </a:rPr>
              <a:t> </a:t>
            </a:r>
            <a:r>
              <a:rPr lang="id-ID" altLang="en-US" sz="2300" dirty="0">
                <a:solidFill>
                  <a:srgbClr val="0A3069"/>
                </a:solidFill>
                <a:latin typeface="Consolas" pitchFamily="34" charset="0"/>
                <a:ea typeface="Consolas" pitchFamily="34" charset="-122"/>
                <a:cs typeface="Consolas" pitchFamily="34" charset="-120"/>
              </a:rPr>
              <a:t>merek</a:t>
            </a:r>
            <a:r>
              <a:rPr lang="id-ID" altLang="en-US" sz="2300" dirty="0">
                <a:solidFill>
                  <a:srgbClr val="1F2328"/>
                </a:solidFill>
              </a:rPr>
              <a:t> bernilai </a:t>
            </a:r>
            <a:r>
              <a:rPr lang="id-ID" altLang="en-US" sz="2300" dirty="0">
                <a:solidFill>
                  <a:srgbClr val="0A3069"/>
                </a:solidFill>
                <a:latin typeface="Consolas" pitchFamily="34" charset="0"/>
                <a:ea typeface="Consolas" pitchFamily="34" charset="-122"/>
                <a:cs typeface="Consolas" pitchFamily="34" charset="-120"/>
              </a:rPr>
              <a:t>null</a:t>
            </a:r>
            <a:endParaRPr lang="id-ID" sz="2300" dirty="0"/>
          </a:p>
        </p:txBody>
      </p:sp>
      <p:sp>
        <p:nvSpPr>
          <p:cNvPr id="17" name="Shape 13"/>
          <p:cNvSpPr/>
          <p:nvPr/>
        </p:nvSpPr>
        <p:spPr>
          <a:xfrm>
            <a:off x="548640" y="4846061"/>
            <a:ext cx="5455768" cy="1343406"/>
          </a:xfrm>
          <a:prstGeom prst="roundRect">
            <a:avLst>
              <a:gd name="adj" fmla="val 5560"/>
            </a:avLst>
          </a:prstGeom>
          <a:solidFill>
            <a:srgbClr val="FFFFFF"/>
          </a:solidFill>
          <a:ln w="9525">
            <a:solidFill>
              <a:srgbClr val="D0D7DE"/>
            </a:solidFill>
            <a:prstDash val="solid"/>
          </a:ln>
        </p:spPr>
      </p:sp>
      <p:sp>
        <p:nvSpPr>
          <p:cNvPr id="18" name="Shape 14"/>
          <p:cNvSpPr/>
          <p:nvPr/>
        </p:nvSpPr>
        <p:spPr>
          <a:xfrm>
            <a:off x="749808" y="5289164"/>
            <a:ext cx="457200" cy="457200"/>
          </a:xfrm>
          <a:prstGeom prst="ellipse">
            <a:avLst/>
          </a:prstGeom>
          <a:solidFill>
            <a:srgbClr val="8250DF"/>
          </a:solidFill>
          <a:ln/>
        </p:spPr>
      </p:sp>
      <p:sp>
        <p:nvSpPr>
          <p:cNvPr id="19" name="Text 15"/>
          <p:cNvSpPr txBox="1"/>
          <p:nvPr/>
        </p:nvSpPr>
        <p:spPr>
          <a:xfrm>
            <a:off x="749808" y="528916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4955789"/>
            <a:ext cx="4541368" cy="1123950"/>
          </a:xfrm>
          <a:prstGeom prst="rect">
            <a:avLst/>
          </a:prstGeom>
          <a:noFill/>
          <a:ln/>
        </p:spPr>
        <p:txBody>
          <a:bodyPr wrap="square" lIns="0" tIns="0" rIns="0" bIns="0" rtlCol="0" anchor="ctr"/>
          <a:lstStyle/>
          <a:p>
            <a:pPr indent="0" marL="0">
              <a:buNone/>
            </a:pPr>
            <a:r>
              <a:rPr lang="id-ID" altLang="en-US" sz="2300" dirty="0">
                <a:solidFill>
                  <a:srgbClr val="1F2328"/>
                </a:solidFill>
              </a:rPr>
              <a:t>Java otomatis meneruskan semua parameter </a:t>
            </a:r>
            <a:r>
              <a:rPr lang="id-ID" altLang="en-US" sz="2300" dirty="0">
                <a:solidFill>
                  <a:srgbClr val="0A3069"/>
                </a:solidFill>
                <a:latin typeface="Consolas" pitchFamily="34" charset="0"/>
                <a:ea typeface="Consolas" pitchFamily="34" charset="-122"/>
                <a:cs typeface="Consolas" pitchFamily="34" charset="-120"/>
              </a:rPr>
              <a:t>Motor</a:t>
            </a:r>
            <a:r>
              <a:rPr lang="id-ID" altLang="en-US" sz="2300" dirty="0">
                <a:solidFill>
                  <a:srgbClr val="1F2328"/>
                </a:solidFill>
              </a:rPr>
              <a:t> ke konstruktor </a:t>
            </a:r>
            <a:r>
              <a:rPr lang="id-ID" altLang="en-US" sz="2300" dirty="0">
                <a:solidFill>
                  <a:srgbClr val="0A3069"/>
                </a:solidFill>
                <a:latin typeface="Consolas" pitchFamily="34" charset="0"/>
                <a:ea typeface="Consolas" pitchFamily="34" charset="-122"/>
                <a:cs typeface="Consolas" pitchFamily="34" charset="-120"/>
              </a:rPr>
              <a:t>Kendaraan</a:t>
            </a:r>
            <a:endParaRPr lang="id-ID" sz="2300" dirty="0"/>
          </a:p>
        </p:txBody>
      </p:sp>
      <p:sp>
        <p:nvSpPr>
          <p:cNvPr id="21" name="Shape 17"/>
          <p:cNvSpPr/>
          <p:nvPr/>
        </p:nvSpPr>
        <p:spPr>
          <a:xfrm>
            <a:off x="6187288" y="4846061"/>
            <a:ext cx="5455768" cy="1343406"/>
          </a:xfrm>
          <a:prstGeom prst="roundRect">
            <a:avLst>
              <a:gd name="adj" fmla="val 5560"/>
            </a:avLst>
          </a:prstGeom>
          <a:solidFill>
            <a:srgbClr val="FFFFFF"/>
          </a:solidFill>
          <a:ln w="9525">
            <a:solidFill>
              <a:srgbClr val="D0D7DE"/>
            </a:solidFill>
            <a:prstDash val="solid"/>
          </a:ln>
        </p:spPr>
      </p:sp>
      <p:sp>
        <p:nvSpPr>
          <p:cNvPr id="22" name="Shape 18"/>
          <p:cNvSpPr/>
          <p:nvPr/>
        </p:nvSpPr>
        <p:spPr>
          <a:xfrm>
            <a:off x="6388456" y="5289164"/>
            <a:ext cx="457200" cy="457200"/>
          </a:xfrm>
          <a:prstGeom prst="ellipse">
            <a:avLst/>
          </a:prstGeom>
          <a:solidFill>
            <a:srgbClr val="8250DF"/>
          </a:solidFill>
          <a:ln/>
        </p:spPr>
      </p:sp>
      <p:sp>
        <p:nvSpPr>
          <p:cNvPr id="23" name="Text 19"/>
          <p:cNvSpPr txBox="1"/>
          <p:nvPr/>
        </p:nvSpPr>
        <p:spPr>
          <a:xfrm>
            <a:off x="6388456" y="528916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4955789"/>
            <a:ext cx="4541368" cy="1123950"/>
          </a:xfrm>
          <a:prstGeom prst="rect">
            <a:avLst/>
          </a:prstGeom>
          <a:noFill/>
          <a:ln/>
        </p:spPr>
        <p:txBody>
          <a:bodyPr wrap="square" lIns="0" tIns="0" rIns="0" bIns="0" rtlCol="0" anchor="ctr"/>
          <a:lstStyle/>
          <a:p>
            <a:pPr indent="0" marL="0">
              <a:buNone/>
            </a:pPr>
            <a:r>
              <a:rPr lang="id-ID" altLang="en-US" sz="2300" dirty="0">
                <a:solidFill>
                  <a:srgbClr val="1F2328"/>
                </a:solidFill>
              </a:rPr>
              <a:t>Konstruktor </a:t>
            </a:r>
            <a:r>
              <a:rPr lang="id-ID" altLang="en-US" sz="2300" dirty="0">
                <a:solidFill>
                  <a:srgbClr val="0A3069"/>
                </a:solidFill>
                <a:latin typeface="Consolas" pitchFamily="34" charset="0"/>
                <a:ea typeface="Consolas" pitchFamily="34" charset="-122"/>
                <a:cs typeface="Consolas" pitchFamily="34" charset="-120"/>
              </a:rPr>
              <a:t>Kendaraan</a:t>
            </a:r>
            <a:r>
              <a:rPr lang="id-ID" altLang="en-US" sz="2300" dirty="0">
                <a:solidFill>
                  <a:srgbClr val="1F2328"/>
                </a:solidFill>
              </a:rPr>
              <a:t> dilewati, hanya konstruktor </a:t>
            </a:r>
            <a:r>
              <a:rPr lang="id-ID" altLang="en-US" sz="2300" dirty="0">
                <a:solidFill>
                  <a:srgbClr val="0A3069"/>
                </a:solidFill>
                <a:latin typeface="Consolas" pitchFamily="34" charset="0"/>
                <a:ea typeface="Consolas" pitchFamily="34" charset="-122"/>
                <a:cs typeface="Consolas" pitchFamily="34" charset="-120"/>
              </a:rPr>
              <a:t>Motor</a:t>
            </a:r>
            <a:r>
              <a:rPr lang="id-ID" altLang="en-US" sz="2300" dirty="0">
                <a:solidFill>
                  <a:srgbClr val="1F2328"/>
                </a:solidFill>
              </a:rPr>
              <a:t> yang berjalan</a:t>
            </a:r>
            <a:endParaRPr lang="id-ID" sz="2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427988"/>
            <a:ext cx="11094415" cy="770128"/>
          </a:xfrm>
          <a:prstGeom prst="roundRect">
            <a:avLst>
              <a:gd name="adj" fmla="val 16917"/>
            </a:avLst>
          </a:prstGeom>
          <a:solidFill>
            <a:srgbClr val="F6F8FA"/>
          </a:solidFill>
          <a:ln w="9525">
            <a:solidFill>
              <a:srgbClr val="D0D7DE"/>
            </a:solidFill>
            <a:prstDash val="solid"/>
          </a:ln>
        </p:spPr>
      </p:sp>
      <p:sp>
        <p:nvSpPr>
          <p:cNvPr id="6" name="Text 3"/>
          <p:cNvSpPr txBox="1"/>
          <p:nvPr/>
        </p:nvSpPr>
        <p:spPr>
          <a:xfrm>
            <a:off x="822960" y="1565148"/>
            <a:ext cx="10545775" cy="495808"/>
          </a:xfrm>
          <a:prstGeom prst="rect">
            <a:avLst/>
          </a:prstGeom>
          <a:noFill/>
          <a:ln/>
        </p:spPr>
        <p:txBody>
          <a:bodyPr wrap="square" lIns="0" tIns="0" rIns="0" bIns="0" rtlCol="0" anchor="t"/>
          <a:lstStyle/>
          <a:p>
            <a:pPr indent="0" marL="0">
              <a:buNone/>
            </a:pPr>
            <a:r>
              <a:rPr lang="id-ID" altLang="en-US" sz="1600" dirty="0">
                <a:solidFill>
                  <a:srgbClr val="57606A"/>
                </a:solidFill>
              </a:rPr>
              <a:t>Di Java, kelas </a:t>
            </a:r>
            <a:r>
              <a:rPr lang="id-ID" altLang="en-US" sz="1600" dirty="0">
                <a:solidFill>
                  <a:srgbClr val="0A3069"/>
                </a:solidFill>
                <a:latin typeface="Consolas" pitchFamily="34" charset="0"/>
                <a:ea typeface="Consolas" pitchFamily="34" charset="-122"/>
                <a:cs typeface="Consolas" pitchFamily="34" charset="-120"/>
              </a:rPr>
              <a:t>Kendaraan</a:t>
            </a:r>
            <a:r>
              <a:rPr lang="id-ID" altLang="en-US" sz="1600" dirty="0">
                <a:solidFill>
                  <a:srgbClr val="57606A"/>
                </a:solidFill>
              </a:rPr>
              <a:t> hanya punya satu konstruktor, yaitu </a:t>
            </a:r>
            <a:r>
              <a:rPr lang="id-ID" altLang="en-US" sz="1600" dirty="0">
                <a:solidFill>
                  <a:srgbClr val="0A3069"/>
                </a:solidFill>
                <a:latin typeface="Consolas" pitchFamily="34" charset="0"/>
                <a:ea typeface="Consolas" pitchFamily="34" charset="-122"/>
                <a:cs typeface="Consolas" pitchFamily="34" charset="-120"/>
              </a:rPr>
              <a:t>Kendaraan(String merek)</a:t>
            </a:r>
            <a:r>
              <a:rPr lang="id-ID" altLang="en-US" sz="1600" dirty="0">
                <a:solidFill>
                  <a:srgbClr val="57606A"/>
                </a:solidFill>
              </a:rPr>
              <a:t>. Konstruktor kelas anak </a:t>
            </a:r>
            <a:r>
              <a:rPr lang="id-ID" altLang="en-US" sz="1600" dirty="0">
                <a:solidFill>
                  <a:srgbClr val="0A3069"/>
                </a:solidFill>
                <a:latin typeface="Consolas" pitchFamily="34" charset="0"/>
                <a:ea typeface="Consolas" pitchFamily="34" charset="-122"/>
                <a:cs typeface="Consolas" pitchFamily="34" charset="-120"/>
              </a:rPr>
              <a:t>Motor</a:t>
            </a:r>
            <a:r>
              <a:rPr lang="id-ID" altLang="en-US" sz="1600" dirty="0">
                <a:solidFill>
                  <a:srgbClr val="57606A"/>
                </a:solidFill>
              </a:rPr>
              <a:t> </a:t>
            </a:r>
            <a:r>
              <a:rPr lang="id-ID" altLang="en-US" sz="1600" b="1" dirty="0">
                <a:solidFill>
                  <a:srgbClr val="57606A"/>
                </a:solidFill>
              </a:rPr>
              <a:t>tidak</a:t>
            </a:r>
            <a:r>
              <a:rPr lang="id-ID" altLang="en-US" sz="1600" dirty="0">
                <a:solidFill>
                  <a:srgbClr val="57606A"/>
                </a:solidFill>
              </a:rPr>
              <a:t> menulis </a:t>
            </a:r>
            <a:r>
              <a:rPr lang="id-ID" altLang="en-US" sz="1600" dirty="0">
                <a:solidFill>
                  <a:srgbClr val="0A3069"/>
                </a:solidFill>
                <a:latin typeface="Consolas" pitchFamily="34" charset="0"/>
                <a:ea typeface="Consolas" pitchFamily="34" charset="-122"/>
                <a:cs typeface="Consolas" pitchFamily="34" charset="-120"/>
              </a:rPr>
              <a:t>super(...)</a:t>
            </a:r>
            <a:r>
              <a:rPr lang="id-ID" altLang="en-US" sz="1600" dirty="0">
                <a:solidFill>
                  <a:srgbClr val="57606A"/>
                </a:solidFill>
              </a:rPr>
              <a:t> sama sekali. Apa yang terjadi?</a:t>
            </a:r>
            <a:endParaRPr lang="id-ID" sz="1600" dirty="0"/>
          </a:p>
        </p:txBody>
      </p:sp>
      <p:sp>
        <p:nvSpPr>
          <p:cNvPr id="7" name="Shape 4"/>
          <p:cNvSpPr/>
          <p:nvPr/>
        </p:nvSpPr>
        <p:spPr>
          <a:xfrm>
            <a:off x="548640" y="2380996"/>
            <a:ext cx="5455768" cy="832104"/>
          </a:xfrm>
          <a:prstGeom prst="roundRect">
            <a:avLst>
              <a:gd name="adj" fmla="val 14491"/>
            </a:avLst>
          </a:prstGeom>
          <a:solidFill>
            <a:srgbClr val="DAFBE1"/>
          </a:solidFill>
          <a:ln w="22225">
            <a:solidFill>
              <a:srgbClr val="1A7F37"/>
            </a:solidFill>
            <a:prstDash val="solid"/>
          </a:ln>
        </p:spPr>
      </p:sp>
      <p:sp>
        <p:nvSpPr>
          <p:cNvPr id="8" name="Shape 5"/>
          <p:cNvSpPr/>
          <p:nvPr/>
        </p:nvSpPr>
        <p:spPr>
          <a:xfrm>
            <a:off x="749808" y="2591308"/>
            <a:ext cx="411480" cy="411480"/>
          </a:xfrm>
          <a:prstGeom prst="ellipse">
            <a:avLst/>
          </a:prstGeom>
          <a:solidFill>
            <a:srgbClr val="1A7F37"/>
          </a:solidFill>
          <a:ln/>
        </p:spPr>
      </p:sp>
      <p:pic>
        <p:nvPicPr>
          <p:cNvPr id="9" name="Image 1" descr="preencoded.png">    </p:cNvPr>
          <p:cNvPicPr>
            <a:picLocks noChangeAspect="1"/>
          </p:cNvPicPr>
          <p:nvPr/>
        </p:nvPicPr>
        <p:blipFill>
          <a:blip r:embed="rId2"/>
          <a:stretch>
            <a:fillRect/>
          </a:stretch>
        </p:blipFill>
        <p:spPr>
          <a:xfrm>
            <a:off x="840334" y="2681834"/>
            <a:ext cx="230429" cy="230429"/>
          </a:xfrm>
          <a:prstGeom prst="rect">
            <a:avLst/>
          </a:prstGeom>
        </p:spPr>
      </p:pic>
      <p:sp>
        <p:nvSpPr>
          <p:cNvPr id="10" name="Text 6"/>
          <p:cNvSpPr txBox="1"/>
          <p:nvPr/>
        </p:nvSpPr>
        <p:spPr>
          <a:xfrm>
            <a:off x="1353312" y="2490724"/>
            <a:ext cx="4541368" cy="612648"/>
          </a:xfrm>
          <a:prstGeom prst="rect">
            <a:avLst/>
          </a:prstGeom>
          <a:noFill/>
          <a:ln/>
        </p:spPr>
        <p:txBody>
          <a:bodyPr wrap="square" lIns="0" tIns="0" rIns="0" bIns="0" rtlCol="0" anchor="ctr"/>
          <a:lstStyle/>
          <a:p>
            <a:pPr indent="0" marL="0">
              <a:buNone/>
            </a:pPr>
            <a:r>
              <a:rPr lang="id-ID" altLang="en-US" sz="1800" dirty="0">
                <a:solidFill>
                  <a:srgbClr val="1F2328"/>
                </a:solidFill>
              </a:rPr>
              <a:t>Java menyisipkan </a:t>
            </a:r>
            <a:r>
              <a:rPr lang="id-ID" altLang="en-US" sz="1800" dirty="0">
                <a:solidFill>
                  <a:srgbClr val="0A3069"/>
                </a:solidFill>
                <a:latin typeface="Consolas" pitchFamily="34" charset="0"/>
                <a:ea typeface="Consolas" pitchFamily="34" charset="-122"/>
                <a:cs typeface="Consolas" pitchFamily="34" charset="-120"/>
              </a:rPr>
              <a:t>super()</a:t>
            </a:r>
            <a:r>
              <a:rPr lang="id-ID" altLang="en-US" sz="1800" dirty="0">
                <a:solidFill>
                  <a:srgbClr val="1F2328"/>
                </a:solidFill>
              </a:rPr>
              <a:t> tanpa argumen secara otomatis sehingga kompilasi gagal</a:t>
            </a:r>
            <a:endParaRPr lang="id-ID" sz="1800" dirty="0"/>
          </a:p>
        </p:txBody>
      </p:sp>
      <p:sp>
        <p:nvSpPr>
          <p:cNvPr id="11" name="Shape 7"/>
          <p:cNvSpPr/>
          <p:nvPr/>
        </p:nvSpPr>
        <p:spPr>
          <a:xfrm>
            <a:off x="6187288" y="2380996"/>
            <a:ext cx="5455768" cy="832104"/>
          </a:xfrm>
          <a:prstGeom prst="roundRect">
            <a:avLst>
              <a:gd name="adj" fmla="val 14491"/>
            </a:avLst>
          </a:prstGeom>
          <a:solidFill>
            <a:srgbClr val="FFFFFF"/>
          </a:solidFill>
          <a:ln w="9525">
            <a:solidFill>
              <a:srgbClr val="D0D7DE"/>
            </a:solidFill>
            <a:prstDash val="solid"/>
          </a:ln>
        </p:spPr>
      </p:sp>
      <p:sp>
        <p:nvSpPr>
          <p:cNvPr id="12" name="Shape 8"/>
          <p:cNvSpPr/>
          <p:nvPr/>
        </p:nvSpPr>
        <p:spPr>
          <a:xfrm>
            <a:off x="6388456" y="2591308"/>
            <a:ext cx="411480" cy="411480"/>
          </a:xfrm>
          <a:prstGeom prst="ellipse">
            <a:avLst/>
          </a:prstGeom>
          <a:solidFill>
            <a:srgbClr val="8C959F"/>
          </a:solidFill>
          <a:ln/>
        </p:spPr>
      </p:sp>
      <p:sp>
        <p:nvSpPr>
          <p:cNvPr id="13" name="Text 9"/>
          <p:cNvSpPr txBox="1"/>
          <p:nvPr/>
        </p:nvSpPr>
        <p:spPr>
          <a:xfrm>
            <a:off x="6388456" y="2591308"/>
            <a:ext cx="411480" cy="411480"/>
          </a:xfrm>
          <a:prstGeom prst="rect">
            <a:avLst/>
          </a:prstGeom>
          <a:noFill/>
          <a:ln/>
        </p:spPr>
        <p:txBody>
          <a:bodyPr wrap="square" lIns="0" tIns="0" rIns="0" bIns="0" rtlCol="0" anchor="ctr"/>
          <a:lstStyle/>
          <a:p>
            <a:pPr algn="ctr" indent="0" marL="0">
              <a:buNone/>
            </a:pPr>
            <a:r>
              <a:rPr lang="id-ID" altLang="en-US" sz="1600" b="1" dirty="0">
                <a:solidFill>
                  <a:srgbClr val="FFFFFF"/>
                </a:solidFill>
              </a:rPr>
              <a:t>B</a:t>
            </a:r>
            <a:endParaRPr lang="id-ID" sz="1600" dirty="0"/>
          </a:p>
        </p:txBody>
      </p:sp>
      <p:sp>
        <p:nvSpPr>
          <p:cNvPr id="14" name="Text 10"/>
          <p:cNvSpPr txBox="1"/>
          <p:nvPr/>
        </p:nvSpPr>
        <p:spPr>
          <a:xfrm>
            <a:off x="6991960" y="2490724"/>
            <a:ext cx="4541368" cy="612648"/>
          </a:xfrm>
          <a:prstGeom prst="rect">
            <a:avLst/>
          </a:prstGeom>
          <a:noFill/>
          <a:ln/>
        </p:spPr>
        <p:txBody>
          <a:bodyPr wrap="square" lIns="0" tIns="0" rIns="0" bIns="0" rtlCol="0" anchor="ctr"/>
          <a:lstStyle/>
          <a:p>
            <a:pPr indent="0" marL="0">
              <a:buNone/>
            </a:pPr>
            <a:r>
              <a:rPr lang="id-ID" altLang="en-US" sz="1800" dirty="0">
                <a:solidFill>
                  <a:srgbClr val="57606A"/>
                </a:solidFill>
              </a:rPr>
              <a:t>Program berjalan normal, dan </a:t>
            </a:r>
            <a:r>
              <a:rPr lang="id-ID" altLang="en-US" sz="1800" i="1" dirty="0">
                <a:solidFill>
                  <a:srgbClr val="57606A"/>
                </a:solidFill>
              </a:rPr>
              <a:t>field</a:t>
            </a:r>
            <a:r>
              <a:rPr lang="id-ID" altLang="en-US" sz="1800" dirty="0">
                <a:solidFill>
                  <a:srgbClr val="57606A"/>
                </a:solidFill>
              </a:rPr>
              <a:t> </a:t>
            </a:r>
            <a:r>
              <a:rPr lang="id-ID" altLang="en-US" sz="1800" dirty="0">
                <a:solidFill>
                  <a:srgbClr val="0A3069"/>
                </a:solidFill>
                <a:latin typeface="Consolas" pitchFamily="34" charset="0"/>
                <a:ea typeface="Consolas" pitchFamily="34" charset="-122"/>
                <a:cs typeface="Consolas" pitchFamily="34" charset="-120"/>
              </a:rPr>
              <a:t>merek</a:t>
            </a:r>
            <a:r>
              <a:rPr lang="id-ID" altLang="en-US" sz="1800" dirty="0">
                <a:solidFill>
                  <a:srgbClr val="57606A"/>
                </a:solidFill>
              </a:rPr>
              <a:t> bernilai </a:t>
            </a:r>
            <a:r>
              <a:rPr lang="id-ID" altLang="en-US" sz="1800" dirty="0">
                <a:solidFill>
                  <a:srgbClr val="0A3069"/>
                </a:solidFill>
                <a:latin typeface="Consolas" pitchFamily="34" charset="0"/>
                <a:ea typeface="Consolas" pitchFamily="34" charset="-122"/>
                <a:cs typeface="Consolas" pitchFamily="34" charset="-120"/>
              </a:rPr>
              <a:t>null</a:t>
            </a:r>
            <a:endParaRPr lang="id-ID" sz="1800" dirty="0"/>
          </a:p>
        </p:txBody>
      </p:sp>
      <p:sp>
        <p:nvSpPr>
          <p:cNvPr id="15" name="Shape 11"/>
          <p:cNvSpPr/>
          <p:nvPr/>
        </p:nvSpPr>
        <p:spPr>
          <a:xfrm>
            <a:off x="548640" y="3395980"/>
            <a:ext cx="5455768" cy="832104"/>
          </a:xfrm>
          <a:prstGeom prst="roundRect">
            <a:avLst>
              <a:gd name="adj" fmla="val 14491"/>
            </a:avLst>
          </a:prstGeom>
          <a:solidFill>
            <a:srgbClr val="FFFFFF"/>
          </a:solidFill>
          <a:ln w="9525">
            <a:solidFill>
              <a:srgbClr val="D0D7DE"/>
            </a:solidFill>
            <a:prstDash val="solid"/>
          </a:ln>
        </p:spPr>
      </p:sp>
      <p:sp>
        <p:nvSpPr>
          <p:cNvPr id="16" name="Shape 12"/>
          <p:cNvSpPr/>
          <p:nvPr/>
        </p:nvSpPr>
        <p:spPr>
          <a:xfrm>
            <a:off x="749808" y="3606292"/>
            <a:ext cx="411480" cy="411480"/>
          </a:xfrm>
          <a:prstGeom prst="ellipse">
            <a:avLst/>
          </a:prstGeom>
          <a:solidFill>
            <a:srgbClr val="8C959F"/>
          </a:solidFill>
          <a:ln/>
        </p:spPr>
      </p:sp>
      <p:sp>
        <p:nvSpPr>
          <p:cNvPr id="17" name="Text 13"/>
          <p:cNvSpPr txBox="1"/>
          <p:nvPr/>
        </p:nvSpPr>
        <p:spPr>
          <a:xfrm>
            <a:off x="749808" y="3606292"/>
            <a:ext cx="411480" cy="411480"/>
          </a:xfrm>
          <a:prstGeom prst="rect">
            <a:avLst/>
          </a:prstGeom>
          <a:noFill/>
          <a:ln/>
        </p:spPr>
        <p:txBody>
          <a:bodyPr wrap="square" lIns="0" tIns="0" rIns="0" bIns="0" rtlCol="0" anchor="ctr"/>
          <a:lstStyle/>
          <a:p>
            <a:pPr algn="ctr" indent="0" marL="0">
              <a:buNone/>
            </a:pPr>
            <a:r>
              <a:rPr lang="id-ID" altLang="en-US" sz="1600" b="1" dirty="0">
                <a:solidFill>
                  <a:srgbClr val="FFFFFF"/>
                </a:solidFill>
              </a:rPr>
              <a:t>C</a:t>
            </a:r>
            <a:endParaRPr lang="id-ID" sz="1600" dirty="0"/>
          </a:p>
        </p:txBody>
      </p:sp>
      <p:sp>
        <p:nvSpPr>
          <p:cNvPr id="18" name="Text 14"/>
          <p:cNvSpPr txBox="1"/>
          <p:nvPr/>
        </p:nvSpPr>
        <p:spPr>
          <a:xfrm>
            <a:off x="1353312" y="3505708"/>
            <a:ext cx="4541368" cy="612648"/>
          </a:xfrm>
          <a:prstGeom prst="rect">
            <a:avLst/>
          </a:prstGeom>
          <a:noFill/>
          <a:ln/>
        </p:spPr>
        <p:txBody>
          <a:bodyPr wrap="square" lIns="0" tIns="0" rIns="0" bIns="0" rtlCol="0" anchor="ctr"/>
          <a:lstStyle/>
          <a:p>
            <a:pPr indent="0" marL="0">
              <a:buNone/>
            </a:pPr>
            <a:r>
              <a:rPr lang="id-ID" altLang="en-US" sz="1800" dirty="0">
                <a:solidFill>
                  <a:srgbClr val="57606A"/>
                </a:solidFill>
              </a:rPr>
              <a:t>Java otomatis meneruskan semua parameter </a:t>
            </a:r>
            <a:r>
              <a:rPr lang="id-ID" altLang="en-US" sz="1800" dirty="0">
                <a:solidFill>
                  <a:srgbClr val="0A3069"/>
                </a:solidFill>
                <a:latin typeface="Consolas" pitchFamily="34" charset="0"/>
                <a:ea typeface="Consolas" pitchFamily="34" charset="-122"/>
                <a:cs typeface="Consolas" pitchFamily="34" charset="-120"/>
              </a:rPr>
              <a:t>Motor</a:t>
            </a:r>
            <a:r>
              <a:rPr lang="id-ID" altLang="en-US" sz="1800" dirty="0">
                <a:solidFill>
                  <a:srgbClr val="57606A"/>
                </a:solidFill>
              </a:rPr>
              <a:t> ke konstruktor </a:t>
            </a:r>
            <a:r>
              <a:rPr lang="id-ID" altLang="en-US" sz="1800" dirty="0">
                <a:solidFill>
                  <a:srgbClr val="0A3069"/>
                </a:solidFill>
                <a:latin typeface="Consolas" pitchFamily="34" charset="0"/>
                <a:ea typeface="Consolas" pitchFamily="34" charset="-122"/>
                <a:cs typeface="Consolas" pitchFamily="34" charset="-120"/>
              </a:rPr>
              <a:t>Kendaraan</a:t>
            </a:r>
            <a:endParaRPr lang="id-ID" sz="1800" dirty="0"/>
          </a:p>
        </p:txBody>
      </p:sp>
      <p:sp>
        <p:nvSpPr>
          <p:cNvPr id="19" name="Shape 15"/>
          <p:cNvSpPr/>
          <p:nvPr/>
        </p:nvSpPr>
        <p:spPr>
          <a:xfrm>
            <a:off x="6187288" y="3395980"/>
            <a:ext cx="5455768" cy="832104"/>
          </a:xfrm>
          <a:prstGeom prst="roundRect">
            <a:avLst>
              <a:gd name="adj" fmla="val 14491"/>
            </a:avLst>
          </a:prstGeom>
          <a:solidFill>
            <a:srgbClr val="FFFFFF"/>
          </a:solidFill>
          <a:ln w="9525">
            <a:solidFill>
              <a:srgbClr val="D0D7DE"/>
            </a:solidFill>
            <a:prstDash val="solid"/>
          </a:ln>
        </p:spPr>
      </p:sp>
      <p:sp>
        <p:nvSpPr>
          <p:cNvPr id="20" name="Shape 16"/>
          <p:cNvSpPr/>
          <p:nvPr/>
        </p:nvSpPr>
        <p:spPr>
          <a:xfrm>
            <a:off x="6388456" y="3606292"/>
            <a:ext cx="411480" cy="411480"/>
          </a:xfrm>
          <a:prstGeom prst="ellipse">
            <a:avLst/>
          </a:prstGeom>
          <a:solidFill>
            <a:srgbClr val="8C959F"/>
          </a:solidFill>
          <a:ln/>
        </p:spPr>
      </p:sp>
      <p:sp>
        <p:nvSpPr>
          <p:cNvPr id="21" name="Text 17"/>
          <p:cNvSpPr txBox="1"/>
          <p:nvPr/>
        </p:nvSpPr>
        <p:spPr>
          <a:xfrm>
            <a:off x="6388456" y="3606292"/>
            <a:ext cx="411480" cy="411480"/>
          </a:xfrm>
          <a:prstGeom prst="rect">
            <a:avLst/>
          </a:prstGeom>
          <a:noFill/>
          <a:ln/>
        </p:spPr>
        <p:txBody>
          <a:bodyPr wrap="square" lIns="0" tIns="0" rIns="0" bIns="0" rtlCol="0" anchor="ctr"/>
          <a:lstStyle/>
          <a:p>
            <a:pPr algn="ctr" indent="0" marL="0">
              <a:buNone/>
            </a:pPr>
            <a:r>
              <a:rPr lang="id-ID" altLang="en-US" sz="1600" b="1" dirty="0">
                <a:solidFill>
                  <a:srgbClr val="FFFFFF"/>
                </a:solidFill>
              </a:rPr>
              <a:t>D</a:t>
            </a:r>
            <a:endParaRPr lang="id-ID" sz="1600" dirty="0"/>
          </a:p>
        </p:txBody>
      </p:sp>
      <p:sp>
        <p:nvSpPr>
          <p:cNvPr id="22" name="Text 18"/>
          <p:cNvSpPr txBox="1"/>
          <p:nvPr/>
        </p:nvSpPr>
        <p:spPr>
          <a:xfrm>
            <a:off x="6991960" y="3505708"/>
            <a:ext cx="4541368" cy="612648"/>
          </a:xfrm>
          <a:prstGeom prst="rect">
            <a:avLst/>
          </a:prstGeom>
          <a:noFill/>
          <a:ln/>
        </p:spPr>
        <p:txBody>
          <a:bodyPr wrap="square" lIns="0" tIns="0" rIns="0" bIns="0" rtlCol="0" anchor="ctr"/>
          <a:lstStyle/>
          <a:p>
            <a:pPr indent="0" marL="0">
              <a:buNone/>
            </a:pPr>
            <a:r>
              <a:rPr lang="id-ID" altLang="en-US" sz="1800" dirty="0">
                <a:solidFill>
                  <a:srgbClr val="57606A"/>
                </a:solidFill>
              </a:rPr>
              <a:t>Konstruktor </a:t>
            </a:r>
            <a:r>
              <a:rPr lang="id-ID" altLang="en-US" sz="1800" dirty="0">
                <a:solidFill>
                  <a:srgbClr val="0A3069"/>
                </a:solidFill>
                <a:latin typeface="Consolas" pitchFamily="34" charset="0"/>
                <a:ea typeface="Consolas" pitchFamily="34" charset="-122"/>
                <a:cs typeface="Consolas" pitchFamily="34" charset="-120"/>
              </a:rPr>
              <a:t>Kendaraan</a:t>
            </a:r>
            <a:r>
              <a:rPr lang="id-ID" altLang="en-US" sz="1800" dirty="0">
                <a:solidFill>
                  <a:srgbClr val="57606A"/>
                </a:solidFill>
              </a:rPr>
              <a:t> dilewati, hanya konstruktor </a:t>
            </a:r>
            <a:r>
              <a:rPr lang="id-ID" altLang="en-US" sz="1800" dirty="0">
                <a:solidFill>
                  <a:srgbClr val="0A3069"/>
                </a:solidFill>
                <a:latin typeface="Consolas" pitchFamily="34" charset="0"/>
                <a:ea typeface="Consolas" pitchFamily="34" charset="-122"/>
                <a:cs typeface="Consolas" pitchFamily="34" charset="-120"/>
              </a:rPr>
              <a:t>Motor</a:t>
            </a:r>
            <a:r>
              <a:rPr lang="id-ID" altLang="en-US" sz="1800" dirty="0">
                <a:solidFill>
                  <a:srgbClr val="57606A"/>
                </a:solidFill>
              </a:rPr>
              <a:t> yang berjalan</a:t>
            </a:r>
            <a:endParaRPr lang="id-ID" sz="1800" dirty="0"/>
          </a:p>
        </p:txBody>
      </p:sp>
      <p:sp>
        <p:nvSpPr>
          <p:cNvPr id="23" name="Shape 19"/>
          <p:cNvSpPr/>
          <p:nvPr/>
        </p:nvSpPr>
        <p:spPr>
          <a:xfrm>
            <a:off x="548640" y="4429252"/>
            <a:ext cx="11094415" cy="1755648"/>
          </a:xfrm>
          <a:prstGeom prst="roundRect">
            <a:avLst>
              <a:gd name="adj" fmla="val 3255"/>
            </a:avLst>
          </a:prstGeom>
          <a:solidFill>
            <a:srgbClr val="FFF8C5"/>
          </a:solidFill>
          <a:ln w="9525">
            <a:solidFill>
              <a:srgbClr val="D4A72C"/>
            </a:solidFill>
            <a:prstDash val="solid"/>
          </a:ln>
        </p:spPr>
      </p:sp>
      <p:sp>
        <p:nvSpPr>
          <p:cNvPr id="24" name="Shape 20"/>
          <p:cNvSpPr/>
          <p:nvPr/>
        </p:nvSpPr>
        <p:spPr>
          <a:xfrm>
            <a:off x="777240" y="4612132"/>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712716"/>
            <a:ext cx="256032" cy="256032"/>
          </a:xfrm>
          <a:prstGeom prst="rect">
            <a:avLst/>
          </a:prstGeom>
        </p:spPr>
      </p:pic>
      <p:sp>
        <p:nvSpPr>
          <p:cNvPr id="26" name="Text 21"/>
          <p:cNvSpPr txBox="1"/>
          <p:nvPr/>
        </p:nvSpPr>
        <p:spPr>
          <a:xfrm>
            <a:off x="1417320" y="4566412"/>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A</a:t>
            </a:r>
            <a:endParaRPr lang="id-ID" sz="1600" dirty="0"/>
          </a:p>
        </p:txBody>
      </p:sp>
      <p:sp>
        <p:nvSpPr>
          <p:cNvPr id="27" name="Text 22"/>
          <p:cNvSpPr txBox="1"/>
          <p:nvPr/>
        </p:nvSpPr>
        <p:spPr>
          <a:xfrm>
            <a:off x="1417320" y="4904740"/>
            <a:ext cx="9951415" cy="1207008"/>
          </a:xfrm>
          <a:prstGeom prst="rect">
            <a:avLst/>
          </a:prstGeom>
          <a:noFill/>
          <a:ln/>
        </p:spPr>
        <p:txBody>
          <a:bodyPr wrap="square" lIns="0" tIns="0" rIns="0" bIns="0" rtlCol="0" anchor="t"/>
          <a:lstStyle/>
          <a:p>
            <a:pPr indent="0" marL="0">
              <a:buNone/>
            </a:pPr>
            <a:r>
              <a:rPr lang="id-ID" altLang="en-US" sz="1800" dirty="0">
                <a:solidFill>
                  <a:srgbClr val="1F2328"/>
                </a:solidFill>
              </a:rPr>
              <a:t>Java menyisipkan </a:t>
            </a:r>
            <a:r>
              <a:rPr lang="id-ID" altLang="en-US" sz="1800" dirty="0">
                <a:solidFill>
                  <a:srgbClr val="0A3069"/>
                </a:solidFill>
                <a:latin typeface="Consolas" pitchFamily="34" charset="0"/>
                <a:ea typeface="Consolas" pitchFamily="34" charset="-122"/>
                <a:cs typeface="Consolas" pitchFamily="34" charset="-120"/>
              </a:rPr>
              <a:t>super();</a:t>
            </a:r>
            <a:r>
              <a:rPr lang="id-ID" altLang="en-US" sz="1800" dirty="0">
                <a:solidFill>
                  <a:srgbClr val="1F2328"/>
                </a:solidFill>
              </a:rPr>
              <a:t> di baris pertama, dan kompilasi gagal karena </a:t>
            </a:r>
            <a:r>
              <a:rPr lang="id-ID" altLang="en-US" sz="1800" dirty="0">
                <a:solidFill>
                  <a:srgbClr val="0A3069"/>
                </a:solidFill>
                <a:latin typeface="Consolas" pitchFamily="34" charset="0"/>
                <a:ea typeface="Consolas" pitchFamily="34" charset="-122"/>
                <a:cs typeface="Consolas" pitchFamily="34" charset="-120"/>
              </a:rPr>
              <a:t>Kendaraan</a:t>
            </a:r>
            <a:r>
              <a:rPr lang="id-ID" altLang="en-US" sz="1800" dirty="0">
                <a:solidFill>
                  <a:srgbClr val="1F2328"/>
                </a:solidFill>
              </a:rPr>
              <a:t> tidak punya konstruktor tanpa parameter. Java tidak pernah melewati konstruktor induk (D) dan tidak menebak argumen (C). Pilihan B mirip yang terjadi di Python jika lupa </a:t>
            </a:r>
            <a:r>
              <a:rPr lang="id-ID" altLang="en-US" sz="1800" dirty="0">
                <a:solidFill>
                  <a:srgbClr val="0A3069"/>
                </a:solidFill>
                <a:latin typeface="Consolas" pitchFamily="34" charset="0"/>
                <a:ea typeface="Consolas" pitchFamily="34" charset="-122"/>
                <a:cs typeface="Consolas" pitchFamily="34" charset="-120"/>
              </a:rPr>
              <a:t>super().__init__(...)</a:t>
            </a:r>
            <a:r>
              <a:rPr lang="id-ID" altLang="en-US" sz="1800" dirty="0">
                <a:solidFill>
                  <a:srgbClr val="1F2328"/>
                </a:solidFill>
              </a:rPr>
              <a:t>: program berjalan, lalu gagal belakangan.</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A7F37"/>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Ringkasan</a:t>
            </a:r>
            <a:endParaRPr lang="id-ID" sz="3200" dirty="0"/>
          </a:p>
        </p:txBody>
      </p:sp>
      <p:sp>
        <p:nvSpPr>
          <p:cNvPr id="5" name="Shape 2"/>
          <p:cNvSpPr/>
          <p:nvPr/>
        </p:nvSpPr>
        <p:spPr>
          <a:xfrm>
            <a:off x="548640" y="1470400"/>
            <a:ext cx="279667" cy="279667"/>
          </a:xfrm>
          <a:prstGeom prst="ellipse">
            <a:avLst/>
          </a:prstGeom>
          <a:solidFill>
            <a:srgbClr val="1A7F37"/>
          </a:solidFill>
          <a:ln/>
        </p:spPr>
      </p:sp>
      <p:pic>
        <p:nvPicPr>
          <p:cNvPr id="6" name="Image 1" descr="preencoded.png">    </p:cNvPr>
          <p:cNvPicPr>
            <a:picLocks noChangeAspect="1"/>
          </p:cNvPicPr>
          <p:nvPr/>
        </p:nvPicPr>
        <p:blipFill>
          <a:blip r:embed="rId2"/>
          <a:stretch>
            <a:fillRect/>
          </a:stretch>
        </p:blipFill>
        <p:spPr>
          <a:xfrm>
            <a:off x="610167" y="1531926"/>
            <a:ext cx="156613" cy="156613"/>
          </a:xfrm>
          <a:prstGeom prst="rect">
            <a:avLst/>
          </a:prstGeom>
        </p:spPr>
      </p:pic>
      <p:sp>
        <p:nvSpPr>
          <p:cNvPr id="7" name="Text 3"/>
          <p:cNvSpPr txBox="1"/>
          <p:nvPr/>
        </p:nvSpPr>
        <p:spPr>
          <a:xfrm>
            <a:off x="1051560" y="1463040"/>
            <a:ext cx="10591495" cy="634492"/>
          </a:xfrm>
          <a:prstGeom prst="rect">
            <a:avLst/>
          </a:prstGeom>
          <a:noFill/>
          <a:ln/>
        </p:spPr>
        <p:txBody>
          <a:bodyPr wrap="square" lIns="0" tIns="0" rIns="0" bIns="0" rtlCol="0" anchor="t"/>
          <a:lstStyle/>
          <a:p>
            <a:pPr indent="0" marL="0">
              <a:buNone/>
            </a:pPr>
            <a:r>
              <a:rPr lang="id-ID" altLang="en-US" sz="1900" dirty="0">
                <a:solidFill>
                  <a:srgbClr val="1F2328"/>
                </a:solidFill>
              </a:rPr>
              <a:t>Pewarisan menghilangkan </a:t>
            </a:r>
            <a:r>
              <a:rPr lang="id-ID" altLang="en-US" sz="1900" b="1" dirty="0">
                <a:solidFill>
                  <a:srgbClr val="1F2328"/>
                </a:solidFill>
              </a:rPr>
              <a:t>duplikasi</a:t>
            </a:r>
            <a:r>
              <a:rPr lang="id-ID" altLang="en-US" sz="1900" dirty="0">
                <a:solidFill>
                  <a:srgbClr val="1F2328"/>
                </a:solidFill>
              </a:rPr>
              <a:t>: bagian yang sama ditulis sekali di </a:t>
            </a:r>
            <a:r>
              <a:rPr lang="id-ID" altLang="en-US" sz="1900" b="1" dirty="0">
                <a:solidFill>
                  <a:srgbClr val="1F2328"/>
                </a:solidFill>
              </a:rPr>
              <a:t>kelas induk</a:t>
            </a:r>
            <a:r>
              <a:rPr lang="id-ID" altLang="en-US" sz="1900" dirty="0">
                <a:solidFill>
                  <a:srgbClr val="1F2328"/>
                </a:solidFill>
              </a:rPr>
              <a:t>, anak menulis bagian khususnya.</a:t>
            </a:r>
            <a:endParaRPr lang="id-ID" sz="1900" dirty="0"/>
          </a:p>
        </p:txBody>
      </p:sp>
      <p:sp>
        <p:nvSpPr>
          <p:cNvPr id="8" name="Shape 4"/>
          <p:cNvSpPr/>
          <p:nvPr/>
        </p:nvSpPr>
        <p:spPr>
          <a:xfrm>
            <a:off x="548640" y="2260340"/>
            <a:ext cx="279667" cy="279667"/>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610167" y="2321866"/>
            <a:ext cx="156613" cy="156613"/>
          </a:xfrm>
          <a:prstGeom prst="rect">
            <a:avLst/>
          </a:prstGeom>
        </p:spPr>
      </p:pic>
      <p:sp>
        <p:nvSpPr>
          <p:cNvPr id="10" name="Text 5"/>
          <p:cNvSpPr txBox="1"/>
          <p:nvPr/>
        </p:nvSpPr>
        <p:spPr>
          <a:xfrm>
            <a:off x="1051560" y="2252980"/>
            <a:ext cx="10591495" cy="340106"/>
          </a:xfrm>
          <a:prstGeom prst="rect">
            <a:avLst/>
          </a:prstGeom>
          <a:noFill/>
          <a:ln/>
        </p:spPr>
        <p:txBody>
          <a:bodyPr wrap="square" lIns="0" tIns="0" rIns="0" bIns="0" rtlCol="0" anchor="t"/>
          <a:lstStyle/>
          <a:p>
            <a:pPr indent="0" marL="0">
              <a:buNone/>
            </a:pPr>
            <a:r>
              <a:rPr lang="id-ID" altLang="en-US" sz="1900" dirty="0">
                <a:solidFill>
                  <a:srgbClr val="1F2328"/>
                </a:solidFill>
              </a:rPr>
              <a:t>Pewarisan adalah relasi </a:t>
            </a:r>
            <a:r>
              <a:rPr lang="id-ID" altLang="en-US" sz="1900" b="1" i="1" dirty="0">
                <a:solidFill>
                  <a:srgbClr val="1F2328"/>
                </a:solidFill>
              </a:rPr>
              <a:t>is-⁠a</a:t>
            </a:r>
            <a:r>
              <a:rPr lang="id-ID" altLang="en-US" sz="1900" dirty="0">
                <a:solidFill>
                  <a:srgbClr val="1F2328"/>
                </a:solidFill>
              </a:rPr>
              <a:t>, diuji dengan kalimat “X adalah Y”. Objek anak juga terhitung objek induk.</a:t>
            </a:r>
            <a:endParaRPr lang="id-ID" sz="1900" dirty="0"/>
          </a:p>
        </p:txBody>
      </p:sp>
      <p:sp>
        <p:nvSpPr>
          <p:cNvPr id="11" name="Shape 6"/>
          <p:cNvSpPr/>
          <p:nvPr/>
        </p:nvSpPr>
        <p:spPr>
          <a:xfrm>
            <a:off x="548640" y="2755894"/>
            <a:ext cx="279667" cy="279667"/>
          </a:xfrm>
          <a:prstGeom prst="ellipse">
            <a:avLst/>
          </a:prstGeom>
          <a:solidFill>
            <a:srgbClr val="1A7F37"/>
          </a:solidFill>
          <a:ln/>
        </p:spPr>
      </p:sp>
      <p:pic>
        <p:nvPicPr>
          <p:cNvPr id="12" name="Image 3" descr="preencoded.png">    </p:cNvPr>
          <p:cNvPicPr>
            <a:picLocks noChangeAspect="1"/>
          </p:cNvPicPr>
          <p:nvPr/>
        </p:nvPicPr>
        <p:blipFill>
          <a:blip r:embed="rId4"/>
          <a:stretch>
            <a:fillRect/>
          </a:stretch>
        </p:blipFill>
        <p:spPr>
          <a:xfrm>
            <a:off x="610167" y="2817420"/>
            <a:ext cx="156613" cy="156613"/>
          </a:xfrm>
          <a:prstGeom prst="rect">
            <a:avLst/>
          </a:prstGeom>
        </p:spPr>
      </p:pic>
      <p:sp>
        <p:nvSpPr>
          <p:cNvPr id="13" name="Text 7"/>
          <p:cNvSpPr txBox="1"/>
          <p:nvPr/>
        </p:nvSpPr>
        <p:spPr>
          <a:xfrm>
            <a:off x="1051560" y="2748534"/>
            <a:ext cx="10591495" cy="340106"/>
          </a:xfrm>
          <a:prstGeom prst="rect">
            <a:avLst/>
          </a:prstGeom>
          <a:noFill/>
          <a:ln/>
        </p:spPr>
        <p:txBody>
          <a:bodyPr wrap="square" lIns="0" tIns="0" rIns="0" bIns="0" rtlCol="0" anchor="t"/>
          <a:lstStyle/>
          <a:p>
            <a:pPr indent="0" marL="0">
              <a:buNone/>
            </a:pPr>
            <a:r>
              <a:rPr lang="id-ID" altLang="en-US" sz="1900" dirty="0">
                <a:solidFill>
                  <a:srgbClr val="1F2328"/>
                </a:solidFill>
              </a:rPr>
              <a:t>Kelas anak mewarisi atribut dan </a:t>
            </a:r>
            <a:r>
              <a:rPr lang="id-ID" altLang="en-US" sz="1900" i="1" dirty="0">
                <a:solidFill>
                  <a:srgbClr val="1F2328"/>
                </a:solidFill>
              </a:rPr>
              <a:t>method</a:t>
            </a:r>
            <a:r>
              <a:rPr lang="id-ID" altLang="en-US" sz="1900" dirty="0">
                <a:solidFill>
                  <a:srgbClr val="1F2328"/>
                </a:solidFill>
              </a:rPr>
              <a:t> induk, lalu boleh menambah yang baru.</a:t>
            </a:r>
            <a:endParaRPr lang="id-ID" sz="1900" dirty="0"/>
          </a:p>
        </p:txBody>
      </p:sp>
      <p:sp>
        <p:nvSpPr>
          <p:cNvPr id="14" name="Shape 8"/>
          <p:cNvSpPr/>
          <p:nvPr/>
        </p:nvSpPr>
        <p:spPr>
          <a:xfrm>
            <a:off x="548640" y="3251448"/>
            <a:ext cx="279667" cy="279667"/>
          </a:xfrm>
          <a:prstGeom prst="ellipse">
            <a:avLst/>
          </a:prstGeom>
          <a:solidFill>
            <a:srgbClr val="1A7F37"/>
          </a:solidFill>
          <a:ln/>
        </p:spPr>
      </p:sp>
      <p:pic>
        <p:nvPicPr>
          <p:cNvPr id="15" name="Image 4" descr="preencoded.png">    </p:cNvPr>
          <p:cNvPicPr>
            <a:picLocks noChangeAspect="1"/>
          </p:cNvPicPr>
          <p:nvPr/>
        </p:nvPicPr>
        <p:blipFill>
          <a:blip r:embed="rId5"/>
          <a:stretch>
            <a:fillRect/>
          </a:stretch>
        </p:blipFill>
        <p:spPr>
          <a:xfrm>
            <a:off x="610167" y="3312974"/>
            <a:ext cx="156613" cy="156613"/>
          </a:xfrm>
          <a:prstGeom prst="rect">
            <a:avLst/>
          </a:prstGeom>
        </p:spPr>
      </p:pic>
      <p:sp>
        <p:nvSpPr>
          <p:cNvPr id="16" name="Text 9"/>
          <p:cNvSpPr txBox="1"/>
          <p:nvPr/>
        </p:nvSpPr>
        <p:spPr>
          <a:xfrm>
            <a:off x="1051560" y="3244088"/>
            <a:ext cx="10591495" cy="340106"/>
          </a:xfrm>
          <a:prstGeom prst="rect">
            <a:avLst/>
          </a:prstGeom>
          <a:noFill/>
          <a:ln/>
        </p:spPr>
        <p:txBody>
          <a:bodyPr wrap="square" lIns="0" tIns="0" rIns="0" bIns="0" rtlCol="0" anchor="t"/>
          <a:lstStyle/>
          <a:p>
            <a:pPr indent="0" marL="0">
              <a:buNone/>
            </a:pPr>
            <a:r>
              <a:rPr lang="id-ID" altLang="en-US" sz="1900" dirty="0">
                <a:solidFill>
                  <a:srgbClr val="1F2328"/>
                </a:solidFill>
              </a:rPr>
              <a:t>Konstruktor anak memanggil konstruktor induk dengan </a:t>
            </a:r>
            <a:r>
              <a:rPr lang="id-ID" altLang="en-US" sz="1900" dirty="0">
                <a:solidFill>
                  <a:srgbClr val="1F2328"/>
                </a:solidFill>
                <a:latin typeface="Consolas" pitchFamily="34" charset="0"/>
                <a:ea typeface="Consolas" pitchFamily="34" charset="-122"/>
                <a:cs typeface="Consolas" pitchFamily="34" charset="-120"/>
              </a:rPr>
              <a:t>super</a:t>
            </a:r>
            <a:r>
              <a:rPr lang="id-ID" altLang="en-US" sz="1900" dirty="0">
                <a:solidFill>
                  <a:srgbClr val="1F2328"/>
                </a:solidFill>
              </a:rPr>
              <a:t>, dan lapis induk selalu </a:t>
            </a:r>
            <a:r>
              <a:rPr lang="id-ID" altLang="en-US" sz="1900" b="1" dirty="0">
                <a:solidFill>
                  <a:srgbClr val="1F2328"/>
                </a:solidFill>
              </a:rPr>
              <a:t>selesai lebih dulu</a:t>
            </a:r>
            <a:r>
              <a:rPr lang="id-ID" altLang="en-US" sz="1900" dirty="0">
                <a:solidFill>
                  <a:srgbClr val="1F2328"/>
                </a:solidFill>
              </a:rPr>
              <a:t>.</a:t>
            </a:r>
            <a:endParaRPr lang="id-ID" sz="1900" dirty="0"/>
          </a:p>
        </p:txBody>
      </p:sp>
      <p:sp>
        <p:nvSpPr>
          <p:cNvPr id="17" name="Shape 10"/>
          <p:cNvSpPr/>
          <p:nvPr/>
        </p:nvSpPr>
        <p:spPr>
          <a:xfrm>
            <a:off x="548640" y="3747002"/>
            <a:ext cx="279667" cy="279667"/>
          </a:xfrm>
          <a:prstGeom prst="ellipse">
            <a:avLst/>
          </a:prstGeom>
          <a:solidFill>
            <a:srgbClr val="1A7F37"/>
          </a:solidFill>
          <a:ln/>
        </p:spPr>
      </p:sp>
      <p:pic>
        <p:nvPicPr>
          <p:cNvPr id="18" name="Image 5" descr="preencoded.png">    </p:cNvPr>
          <p:cNvPicPr>
            <a:picLocks noChangeAspect="1"/>
          </p:cNvPicPr>
          <p:nvPr/>
        </p:nvPicPr>
        <p:blipFill>
          <a:blip r:embed="rId6"/>
          <a:stretch>
            <a:fillRect/>
          </a:stretch>
        </p:blipFill>
        <p:spPr>
          <a:xfrm>
            <a:off x="610167" y="3808528"/>
            <a:ext cx="156613" cy="156613"/>
          </a:xfrm>
          <a:prstGeom prst="rect">
            <a:avLst/>
          </a:prstGeom>
        </p:spPr>
      </p:pic>
      <p:sp>
        <p:nvSpPr>
          <p:cNvPr id="19" name="Text 11"/>
          <p:cNvSpPr txBox="1"/>
          <p:nvPr/>
        </p:nvSpPr>
        <p:spPr>
          <a:xfrm>
            <a:off x="1051560" y="3739642"/>
            <a:ext cx="10591495" cy="634492"/>
          </a:xfrm>
          <a:prstGeom prst="rect">
            <a:avLst/>
          </a:prstGeom>
          <a:noFill/>
          <a:ln/>
        </p:spPr>
        <p:txBody>
          <a:bodyPr wrap="square" lIns="0" tIns="0" rIns="0" bIns="0" rtlCol="0" anchor="t"/>
          <a:lstStyle/>
          <a:p>
            <a:pPr indent="0" marL="0">
              <a:buNone/>
            </a:pPr>
            <a:r>
              <a:rPr lang="id-ID" altLang="en-US" sz="1900" b="1" i="1" dirty="0">
                <a:solidFill>
                  <a:srgbClr val="1F2328"/>
                </a:solidFill>
              </a:rPr>
              <a:t>Override</a:t>
            </a:r>
            <a:r>
              <a:rPr lang="id-ID" altLang="en-US" sz="1900" dirty="0">
                <a:solidFill>
                  <a:srgbClr val="1F2328"/>
                </a:solidFill>
              </a:rPr>
              <a:t> menimpa </a:t>
            </a:r>
            <a:r>
              <a:rPr lang="id-ID" altLang="en-US" sz="1900" i="1" dirty="0">
                <a:solidFill>
                  <a:srgbClr val="1F2328"/>
                </a:solidFill>
              </a:rPr>
              <a:t>method</a:t>
            </a:r>
            <a:r>
              <a:rPr lang="id-ID" altLang="en-US" sz="1900" dirty="0">
                <a:solidFill>
                  <a:srgbClr val="1F2328"/>
                </a:solidFill>
              </a:rPr>
              <a:t> induk dengan nama dan parameter sama; versi induk tetap dipakai lewat </a:t>
            </a:r>
            <a:r>
              <a:rPr lang="id-ID" altLang="en-US" sz="1900" dirty="0">
                <a:solidFill>
                  <a:srgbClr val="1F2328"/>
                </a:solidFill>
                <a:latin typeface="Consolas" pitchFamily="34" charset="0"/>
                <a:ea typeface="Consolas" pitchFamily="34" charset="-122"/>
                <a:cs typeface="Consolas" pitchFamily="34" charset="-120"/>
              </a:rPr>
              <a:t>super</a:t>
            </a:r>
            <a:r>
              <a:rPr lang="id-ID" altLang="en-US" sz="1900" dirty="0">
                <a:solidFill>
                  <a:srgbClr val="1F2328"/>
                </a:solidFill>
              </a:rPr>
              <a:t>.</a:t>
            </a:r>
            <a:endParaRPr lang="id-ID" sz="1900" dirty="0"/>
          </a:p>
        </p:txBody>
      </p:sp>
      <p:sp>
        <p:nvSpPr>
          <p:cNvPr id="20" name="Shape 12"/>
          <p:cNvSpPr/>
          <p:nvPr/>
        </p:nvSpPr>
        <p:spPr>
          <a:xfrm>
            <a:off x="548640" y="4536942"/>
            <a:ext cx="279667" cy="279667"/>
          </a:xfrm>
          <a:prstGeom prst="ellipse">
            <a:avLst/>
          </a:prstGeom>
          <a:solidFill>
            <a:srgbClr val="1A7F37"/>
          </a:solidFill>
          <a:ln/>
        </p:spPr>
      </p:sp>
      <p:pic>
        <p:nvPicPr>
          <p:cNvPr id="21" name="Image 6" descr="preencoded.png">    </p:cNvPr>
          <p:cNvPicPr>
            <a:picLocks noChangeAspect="1"/>
          </p:cNvPicPr>
          <p:nvPr/>
        </p:nvPicPr>
        <p:blipFill>
          <a:blip r:embed="rId7"/>
          <a:stretch>
            <a:fillRect/>
          </a:stretch>
        </p:blipFill>
        <p:spPr>
          <a:xfrm>
            <a:off x="610167" y="4598468"/>
            <a:ext cx="156613" cy="156613"/>
          </a:xfrm>
          <a:prstGeom prst="rect">
            <a:avLst/>
          </a:prstGeom>
        </p:spPr>
      </p:pic>
      <p:sp>
        <p:nvSpPr>
          <p:cNvPr id="22" name="Text 13"/>
          <p:cNvSpPr txBox="1"/>
          <p:nvPr/>
        </p:nvSpPr>
        <p:spPr>
          <a:xfrm>
            <a:off x="1051560" y="4529582"/>
            <a:ext cx="10591495" cy="634492"/>
          </a:xfrm>
          <a:prstGeom prst="rect">
            <a:avLst/>
          </a:prstGeom>
          <a:noFill/>
          <a:ln/>
        </p:spPr>
        <p:txBody>
          <a:bodyPr wrap="square" lIns="0" tIns="0" rIns="0" bIns="0" rtlCol="0" anchor="t"/>
          <a:lstStyle/>
          <a:p>
            <a:pPr indent="0" marL="0">
              <a:buNone/>
            </a:pPr>
            <a:r>
              <a:rPr lang="id-ID" altLang="en-US" sz="1900" dirty="0">
                <a:solidFill>
                  <a:srgbClr val="1F2328"/>
                </a:solidFill>
              </a:rPr>
              <a:t>Java </a:t>
            </a:r>
            <a:r>
              <a:rPr lang="id-ID" altLang="en-US" sz="1900" dirty="0">
                <a:solidFill>
                  <a:srgbClr val="1F2328"/>
                </a:solidFill>
                <a:latin typeface="Consolas" pitchFamily="34" charset="0"/>
                <a:ea typeface="Consolas" pitchFamily="34" charset="-122"/>
                <a:cs typeface="Consolas" pitchFamily="34" charset="-120"/>
              </a:rPr>
              <a:t>protected</a:t>
            </a:r>
            <a:r>
              <a:rPr lang="id-ID" altLang="en-US" sz="1900" dirty="0">
                <a:solidFill>
                  <a:srgbClr val="1F2328"/>
                </a:solidFill>
              </a:rPr>
              <a:t> terbuka untuk anak </a:t>
            </a:r>
            <a:r>
              <a:rPr lang="id-ID" altLang="en-US" sz="1900" b="1" dirty="0">
                <a:solidFill>
                  <a:srgbClr val="1F2328"/>
                </a:solidFill>
              </a:rPr>
              <a:t>dan</a:t>
            </a:r>
            <a:r>
              <a:rPr lang="id-ID" altLang="en-US" sz="1900" dirty="0">
                <a:solidFill>
                  <a:srgbClr val="1F2328"/>
                </a:solidFill>
              </a:rPr>
              <a:t> satu paket; Python memakai </a:t>
            </a:r>
            <a:r>
              <a:rPr lang="id-ID" altLang="en-US" sz="1900" dirty="0">
                <a:solidFill>
                  <a:srgbClr val="1F2328"/>
                </a:solidFill>
                <a:latin typeface="Consolas" pitchFamily="34" charset="0"/>
                <a:ea typeface="Consolas" pitchFamily="34" charset="-122"/>
                <a:cs typeface="Consolas" pitchFamily="34" charset="-120"/>
              </a:rPr>
              <a:t>_nama</a:t>
            </a:r>
            <a:r>
              <a:rPr lang="id-ID" altLang="en-US" sz="1900" dirty="0">
                <a:solidFill>
                  <a:srgbClr val="1F2328"/>
                </a:solidFill>
              </a:rPr>
              <a:t>. Java hanya boleh satu induk.</a:t>
            </a:r>
            <a:endParaRPr lang="id-ID" sz="1900" dirty="0"/>
          </a:p>
        </p:txBody>
      </p:sp>
      <p:sp>
        <p:nvSpPr>
          <p:cNvPr id="23" name="Shape 14"/>
          <p:cNvSpPr/>
          <p:nvPr/>
        </p:nvSpPr>
        <p:spPr>
          <a:xfrm>
            <a:off x="548640" y="5326882"/>
            <a:ext cx="279667" cy="279667"/>
          </a:xfrm>
          <a:prstGeom prst="ellipse">
            <a:avLst/>
          </a:prstGeom>
          <a:solidFill>
            <a:srgbClr val="1A7F37"/>
          </a:solidFill>
          <a:ln/>
        </p:spPr>
      </p:sp>
      <p:pic>
        <p:nvPicPr>
          <p:cNvPr id="24" name="Image 7" descr="preencoded.png">    </p:cNvPr>
          <p:cNvPicPr>
            <a:picLocks noChangeAspect="1"/>
          </p:cNvPicPr>
          <p:nvPr/>
        </p:nvPicPr>
        <p:blipFill>
          <a:blip r:embed="rId8"/>
          <a:stretch>
            <a:fillRect/>
          </a:stretch>
        </p:blipFill>
        <p:spPr>
          <a:xfrm>
            <a:off x="610167" y="5388408"/>
            <a:ext cx="156613" cy="156613"/>
          </a:xfrm>
          <a:prstGeom prst="rect">
            <a:avLst/>
          </a:prstGeom>
        </p:spPr>
      </p:pic>
      <p:sp>
        <p:nvSpPr>
          <p:cNvPr id="25" name="Text 15"/>
          <p:cNvSpPr txBox="1"/>
          <p:nvPr/>
        </p:nvSpPr>
        <p:spPr>
          <a:xfrm>
            <a:off x="1051560" y="5319522"/>
            <a:ext cx="10591495" cy="340106"/>
          </a:xfrm>
          <a:prstGeom prst="rect">
            <a:avLst/>
          </a:prstGeom>
          <a:noFill/>
          <a:ln/>
        </p:spPr>
        <p:txBody>
          <a:bodyPr wrap="square" lIns="0" tIns="0" rIns="0" bIns="0" rtlCol="0" anchor="t"/>
          <a:lstStyle/>
          <a:p>
            <a:pPr indent="0" marL="0">
              <a:buNone/>
            </a:pPr>
            <a:r>
              <a:rPr lang="id-ID" altLang="en-US" sz="1900" dirty="0">
                <a:solidFill>
                  <a:srgbClr val="1F2328"/>
                </a:solidFill>
              </a:rPr>
              <a:t>Untuk hubungan “punya”, pakai </a:t>
            </a:r>
            <a:r>
              <a:rPr lang="id-ID" altLang="en-US" sz="1900" b="1" i="1" dirty="0">
                <a:solidFill>
                  <a:srgbClr val="1F2328"/>
                </a:solidFill>
              </a:rPr>
              <a:t>has-⁠a</a:t>
            </a:r>
            <a:r>
              <a:rPr lang="id-ID" altLang="en-US" sz="1900" dirty="0">
                <a:solidFill>
                  <a:srgbClr val="1F2328"/>
                </a:solidFill>
              </a:rPr>
              <a:t>. Prinsipnya: </a:t>
            </a:r>
            <a:r>
              <a:rPr lang="id-ID" altLang="en-US" sz="1900" i="1" dirty="0">
                <a:solidFill>
                  <a:srgbClr val="1F2328"/>
                </a:solidFill>
              </a:rPr>
              <a:t>composition over inheritance</a:t>
            </a:r>
            <a:r>
              <a:rPr lang="id-ID" altLang="en-US" sz="1900" dirty="0">
                <a:solidFill>
                  <a:srgbClr val="1F2328"/>
                </a:solidFill>
              </a:rPr>
              <a:t>.</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FFFFFF"/>
                </a:solidFill>
              </a:rPr>
              <a:t>Langkah Berikutnya</a:t>
            </a:r>
            <a:endParaRPr lang="id-ID" sz="3200" dirty="0"/>
          </a:p>
        </p:txBody>
      </p:sp>
      <p:sp>
        <p:nvSpPr>
          <p:cNvPr id="5" name="Shape 2"/>
          <p:cNvSpPr/>
          <p:nvPr/>
        </p:nvSpPr>
        <p:spPr>
          <a:xfrm>
            <a:off x="603504" y="1511427"/>
            <a:ext cx="137160" cy="137160"/>
          </a:xfrm>
          <a:prstGeom prst="roundRect">
            <a:avLst>
              <a:gd name="adj" fmla="val 166667"/>
            </a:avLst>
          </a:prstGeom>
          <a:solidFill>
            <a:srgbClr val="FB8F44"/>
          </a:solidFill>
          <a:ln/>
        </p:spPr>
      </p:sp>
      <p:sp>
        <p:nvSpPr>
          <p:cNvPr id="6" name="Text 3"/>
          <p:cNvSpPr txBox="1"/>
          <p:nvPr/>
        </p:nvSpPr>
        <p:spPr>
          <a:xfrm>
            <a:off x="932688" y="1417320"/>
            <a:ext cx="7114032" cy="696468"/>
          </a:xfrm>
          <a:prstGeom prst="rect">
            <a:avLst/>
          </a:prstGeom>
          <a:noFill/>
          <a:ln/>
        </p:spPr>
        <p:txBody>
          <a:bodyPr wrap="square" lIns="0" tIns="0" rIns="0" bIns="0" rtlCol="0" anchor="t"/>
          <a:lstStyle/>
          <a:p>
            <a:pPr indent="0" marL="0">
              <a:buNone/>
            </a:pPr>
            <a:r>
              <a:rPr lang="id-ID" altLang="en-US" sz="2100" dirty="0">
                <a:solidFill>
                  <a:srgbClr val="FFFFFF"/>
                </a:solidFill>
              </a:rPr>
              <a:t>Jalankan contoh 01⁠—⁠08 (Python) atau 01⁠—⁠07 (Java) dan studi kasus KedaiKita di jalur pilihanmu.</a:t>
            </a:r>
            <a:endParaRPr lang="id-ID" sz="2100" dirty="0"/>
          </a:p>
        </p:txBody>
      </p:sp>
      <p:sp>
        <p:nvSpPr>
          <p:cNvPr id="7" name="Shape 4"/>
          <p:cNvSpPr/>
          <p:nvPr/>
        </p:nvSpPr>
        <p:spPr>
          <a:xfrm>
            <a:off x="603504" y="2345055"/>
            <a:ext cx="137160" cy="137160"/>
          </a:xfrm>
          <a:prstGeom prst="roundRect">
            <a:avLst>
              <a:gd name="adj" fmla="val 166667"/>
            </a:avLst>
          </a:prstGeom>
          <a:solidFill>
            <a:srgbClr val="FB8F44"/>
          </a:solidFill>
          <a:ln/>
        </p:spPr>
      </p:sp>
      <p:sp>
        <p:nvSpPr>
          <p:cNvPr id="8" name="Text 5"/>
          <p:cNvSpPr txBox="1"/>
          <p:nvPr/>
        </p:nvSpPr>
        <p:spPr>
          <a:xfrm>
            <a:off x="932688" y="2250948"/>
            <a:ext cx="7114032" cy="371094"/>
          </a:xfrm>
          <a:prstGeom prst="rect">
            <a:avLst/>
          </a:prstGeom>
          <a:noFill/>
          <a:ln/>
        </p:spPr>
        <p:txBody>
          <a:bodyPr wrap="square" lIns="0" tIns="0" rIns="0" bIns="0" rtlCol="0" anchor="t"/>
          <a:lstStyle/>
          <a:p>
            <a:pPr indent="0" marL="0">
              <a:buNone/>
            </a:pPr>
            <a:r>
              <a:rPr lang="id-ID" altLang="en-US" sz="2100" dirty="0">
                <a:solidFill>
                  <a:srgbClr val="FFFFFF"/>
                </a:solidFill>
              </a:rPr>
              <a:t>Kerjakan latihan, lalu cek pemahamanmu dengan kuis 10 soal.</a:t>
            </a:r>
            <a:endParaRPr lang="id-ID" sz="2100" dirty="0"/>
          </a:p>
        </p:txBody>
      </p:sp>
      <p:sp>
        <p:nvSpPr>
          <p:cNvPr id="9" name="Shape 6"/>
          <p:cNvSpPr/>
          <p:nvPr/>
        </p:nvSpPr>
        <p:spPr>
          <a:xfrm>
            <a:off x="603504" y="2853309"/>
            <a:ext cx="137160" cy="137160"/>
          </a:xfrm>
          <a:prstGeom prst="roundRect">
            <a:avLst>
              <a:gd name="adj" fmla="val 166667"/>
            </a:avLst>
          </a:prstGeom>
          <a:solidFill>
            <a:srgbClr val="FB8F44"/>
          </a:solidFill>
          <a:ln/>
        </p:spPr>
      </p:sp>
      <p:sp>
        <p:nvSpPr>
          <p:cNvPr id="10" name="Text 7"/>
          <p:cNvSpPr txBox="1"/>
          <p:nvPr/>
        </p:nvSpPr>
        <p:spPr>
          <a:xfrm>
            <a:off x="932688" y="2759202"/>
            <a:ext cx="7114032" cy="371094"/>
          </a:xfrm>
          <a:prstGeom prst="rect">
            <a:avLst/>
          </a:prstGeom>
          <a:noFill/>
          <a:ln/>
        </p:spPr>
        <p:txBody>
          <a:bodyPr wrap="square" lIns="0" tIns="0" rIns="0" bIns="0" rtlCol="0" anchor="t"/>
          <a:lstStyle/>
          <a:p>
            <a:pPr indent="0" marL="0">
              <a:buNone/>
            </a:pPr>
            <a:r>
              <a:rPr lang="id-ID" altLang="en-US" sz="2100" dirty="0">
                <a:solidFill>
                  <a:srgbClr val="FFFFFF"/>
                </a:solidFill>
              </a:rPr>
              <a:t>Lanjutkan ke Pertemuan 08 (UTS) dan kerjakan latihan soalnya.</a:t>
            </a:r>
            <a:endParaRPr lang="id-ID" sz="2100" dirty="0"/>
          </a:p>
        </p:txBody>
      </p:sp>
      <p:sp>
        <p:nvSpPr>
          <p:cNvPr id="11" name="Text 8"/>
          <p:cNvSpPr txBox="1"/>
          <p:nvPr/>
        </p:nvSpPr>
        <p:spPr>
          <a:xfrm>
            <a:off x="548640" y="3404616"/>
            <a:ext cx="7498080" cy="365760"/>
          </a:xfrm>
          <a:prstGeom prst="rect">
            <a:avLst/>
          </a:prstGeom>
          <a:noFill/>
          <a:ln/>
        </p:spPr>
        <p:txBody>
          <a:bodyPr wrap="square" lIns="0" tIns="0" rIns="0" bIns="0" rtlCol="0" anchor="t"/>
          <a:lstStyle/>
          <a:p>
            <a:pPr indent="0" marL="0">
              <a:buNone/>
            </a:pPr>
            <a:r>
              <a:rPr lang="id-ID" altLang="en-US" sz="1700" b="1" dirty="0">
                <a:solidFill>
                  <a:srgbClr val="C9D7E8"/>
                </a:solidFill>
              </a:rPr>
              <a:t>Buka bahan pertemuan ini di GitHub:</a:t>
            </a:r>
            <a:endParaRPr lang="id-ID" sz="1700" dirty="0"/>
          </a:p>
        </p:txBody>
      </p:sp>
      <p:sp>
        <p:nvSpPr>
          <p:cNvPr id="12" name="Shape 9"/>
          <p:cNvSpPr/>
          <p:nvPr/>
        </p:nvSpPr>
        <p:spPr>
          <a:xfrm>
            <a:off x="548640" y="3861816"/>
            <a:ext cx="3666744" cy="457200"/>
          </a:xfrm>
          <a:prstGeom prst="roundRect">
            <a:avLst>
              <a:gd name="adj" fmla="val 100000"/>
            </a:avLst>
          </a:prstGeom>
          <a:solidFill>
            <a:srgbClr val="12407F"/>
          </a:solidFill>
          <a:ln w="12700">
            <a:solidFill>
              <a:srgbClr val="2F6FB5"/>
            </a:solidFill>
            <a:prstDash val="solid"/>
          </a:ln>
        </p:spPr>
      </p:sp>
      <p:pic>
        <p:nvPicPr>
          <p:cNvPr id="13" name="Image 1" descr="preencoded.png">    </p:cNvPr>
          <p:cNvPicPr>
            <a:picLocks noChangeAspect="1"/>
          </p:cNvPicPr>
          <p:nvPr/>
        </p:nvPicPr>
        <p:blipFill>
          <a:blip r:embed="rId2"/>
          <a:stretch>
            <a:fillRect/>
          </a:stretch>
        </p:blipFill>
        <p:spPr>
          <a:xfrm>
            <a:off x="694944" y="3962400"/>
            <a:ext cx="256032" cy="256032"/>
          </a:xfrm>
          <a:prstGeom prst="rect">
            <a:avLst/>
          </a:prstGeom>
        </p:spPr>
      </p:pic>
      <p:sp>
        <p:nvSpPr>
          <p:cNvPr id="14" name="Text 10"/>
          <p:cNvSpPr txBox="1"/>
          <p:nvPr/>
        </p:nvSpPr>
        <p:spPr>
          <a:xfrm>
            <a:off x="1051560" y="3861816"/>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3" invalidUrl="" action="" tgtFrame="" tooltip="README.md" history="1" highlightClick="0" endSnd="0">
                  <a:extLst>
                    <a:ext uri="{A12FA001-AC4F-418D-AE19-62706E023703}">
                      <ahyp:hlinkClr xmlns:ahyp="http://schemas.microsoft.com/office/drawing/2018/hyperlinkcolor" val="tx"/>
                    </a:ext>
                  </a:extLst>
                </a:hlinkClick>
              </a:rPr>
              <a:t>Konsep</a:t>
            </a:r>
            <a:endParaRPr lang="id-ID" sz="1600" dirty="0"/>
          </a:p>
        </p:txBody>
      </p:sp>
      <p:sp>
        <p:nvSpPr>
          <p:cNvPr id="15" name="Shape 11"/>
          <p:cNvSpPr/>
          <p:nvPr/>
        </p:nvSpPr>
        <p:spPr>
          <a:xfrm>
            <a:off x="4379976" y="3861816"/>
            <a:ext cx="3666744" cy="457200"/>
          </a:xfrm>
          <a:prstGeom prst="roundRect">
            <a:avLst>
              <a:gd name="adj" fmla="val 100000"/>
            </a:avLst>
          </a:prstGeom>
          <a:solidFill>
            <a:srgbClr val="12407F"/>
          </a:solidFill>
          <a:ln w="12700">
            <a:solidFill>
              <a:srgbClr val="2F6FB5"/>
            </a:solidFill>
            <a:prstDash val="solid"/>
          </a:ln>
        </p:spPr>
      </p:sp>
      <p:pic>
        <p:nvPicPr>
          <p:cNvPr id="16" name="Image 2" descr="preencoded.png">    </p:cNvPr>
          <p:cNvPicPr>
            <a:picLocks noChangeAspect="1"/>
          </p:cNvPicPr>
          <p:nvPr/>
        </p:nvPicPr>
        <p:blipFill>
          <a:blip r:embed="rId4"/>
          <a:stretch>
            <a:fillRect/>
          </a:stretch>
        </p:blipFill>
        <p:spPr>
          <a:xfrm>
            <a:off x="4526280" y="3962400"/>
            <a:ext cx="256032" cy="256032"/>
          </a:xfrm>
          <a:prstGeom prst="rect">
            <a:avLst/>
          </a:prstGeom>
        </p:spPr>
      </p:pic>
      <p:sp>
        <p:nvSpPr>
          <p:cNvPr id="17" name="Text 12"/>
          <p:cNvSpPr txBox="1"/>
          <p:nvPr/>
        </p:nvSpPr>
        <p:spPr>
          <a:xfrm>
            <a:off x="4882896" y="3861816"/>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5" invalidUrl="" action="" tgtFrame="" tooltip="python/README.md" history="1" highlightClick="0" endSnd="0">
                  <a:extLst>
                    <a:ext uri="{A12FA001-AC4F-418D-AE19-62706E023703}">
                      <ahyp:hlinkClr xmlns:ahyp="http://schemas.microsoft.com/office/drawing/2018/hyperlinkcolor" val="tx"/>
                    </a:ext>
                  </a:extLst>
                </a:hlinkClick>
              </a:rPr>
              <a:t>Praktik Python</a:t>
            </a:r>
            <a:endParaRPr lang="id-ID" sz="1600" dirty="0"/>
          </a:p>
        </p:txBody>
      </p:sp>
      <p:sp>
        <p:nvSpPr>
          <p:cNvPr id="18" name="Shape 13"/>
          <p:cNvSpPr/>
          <p:nvPr/>
        </p:nvSpPr>
        <p:spPr>
          <a:xfrm>
            <a:off x="548640" y="4447032"/>
            <a:ext cx="3666744" cy="457200"/>
          </a:xfrm>
          <a:prstGeom prst="roundRect">
            <a:avLst>
              <a:gd name="adj" fmla="val 100000"/>
            </a:avLst>
          </a:prstGeom>
          <a:solidFill>
            <a:srgbClr val="12407F"/>
          </a:solidFill>
          <a:ln w="12700">
            <a:solidFill>
              <a:srgbClr val="2F6FB5"/>
            </a:solidFill>
            <a:prstDash val="solid"/>
          </a:ln>
        </p:spPr>
      </p:sp>
      <p:pic>
        <p:nvPicPr>
          <p:cNvPr id="19" name="Image 3" descr="preencoded.png">    </p:cNvPr>
          <p:cNvPicPr>
            <a:picLocks noChangeAspect="1"/>
          </p:cNvPicPr>
          <p:nvPr/>
        </p:nvPicPr>
        <p:blipFill>
          <a:blip r:embed="rId6"/>
          <a:stretch>
            <a:fillRect/>
          </a:stretch>
        </p:blipFill>
        <p:spPr>
          <a:xfrm>
            <a:off x="694944" y="4547616"/>
            <a:ext cx="256032" cy="256032"/>
          </a:xfrm>
          <a:prstGeom prst="rect">
            <a:avLst/>
          </a:prstGeom>
        </p:spPr>
      </p:pic>
      <p:sp>
        <p:nvSpPr>
          <p:cNvPr id="20" name="Text 14"/>
          <p:cNvSpPr txBox="1"/>
          <p:nvPr/>
        </p:nvSpPr>
        <p:spPr>
          <a:xfrm>
            <a:off x="1051560" y="444703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7" invalidUrl="" action="" tgtFrame="" tooltip="java/README.md" history="1" highlightClick="0" endSnd="0">
                  <a:extLst>
                    <a:ext uri="{A12FA001-AC4F-418D-AE19-62706E023703}">
                      <ahyp:hlinkClr xmlns:ahyp="http://schemas.microsoft.com/office/drawing/2018/hyperlinkcolor" val="tx"/>
                    </a:ext>
                  </a:extLst>
                </a:hlinkClick>
              </a:rPr>
              <a:t>Praktik Java</a:t>
            </a:r>
            <a:endParaRPr lang="id-ID" sz="1600" dirty="0"/>
          </a:p>
        </p:txBody>
      </p:sp>
      <p:sp>
        <p:nvSpPr>
          <p:cNvPr id="21" name="Shape 15"/>
          <p:cNvSpPr/>
          <p:nvPr/>
        </p:nvSpPr>
        <p:spPr>
          <a:xfrm>
            <a:off x="4379976" y="4447032"/>
            <a:ext cx="3666744" cy="457200"/>
          </a:xfrm>
          <a:prstGeom prst="roundRect">
            <a:avLst>
              <a:gd name="adj" fmla="val 100000"/>
            </a:avLst>
          </a:prstGeom>
          <a:solidFill>
            <a:srgbClr val="12407F"/>
          </a:solidFill>
          <a:ln w="12700">
            <a:solidFill>
              <a:srgbClr val="2F6FB5"/>
            </a:solidFill>
            <a:prstDash val="solid"/>
          </a:ln>
        </p:spPr>
      </p:sp>
      <p:pic>
        <p:nvPicPr>
          <p:cNvPr id="22" name="Image 4" descr="preencoded.png">    </p:cNvPr>
          <p:cNvPicPr>
            <a:picLocks noChangeAspect="1"/>
          </p:cNvPicPr>
          <p:nvPr/>
        </p:nvPicPr>
        <p:blipFill>
          <a:blip r:embed="rId8"/>
          <a:stretch>
            <a:fillRect/>
          </a:stretch>
        </p:blipFill>
        <p:spPr>
          <a:xfrm>
            <a:off x="4526280" y="4547616"/>
            <a:ext cx="256032" cy="256032"/>
          </a:xfrm>
          <a:prstGeom prst="rect">
            <a:avLst/>
          </a:prstGeom>
        </p:spPr>
      </p:pic>
      <p:sp>
        <p:nvSpPr>
          <p:cNvPr id="23" name="Text 16"/>
          <p:cNvSpPr txBox="1"/>
          <p:nvPr/>
        </p:nvSpPr>
        <p:spPr>
          <a:xfrm>
            <a:off x="4882896" y="444703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9" invalidUrl="" action="" tgtFrame="" tooltip="jembatan-python-java.md" history="1" highlightClick="0" endSnd="0">
                  <a:extLst>
                    <a:ext uri="{A12FA001-AC4F-418D-AE19-62706E023703}">
                      <ahyp:hlinkClr xmlns:ahyp="http://schemas.microsoft.com/office/drawing/2018/hyperlinkcolor" val="tx"/>
                    </a:ext>
                  </a:extLst>
                </a:hlinkClick>
              </a:rPr>
              <a:t>Jembatan Python ↔ Java</a:t>
            </a:r>
            <a:endParaRPr lang="id-ID" sz="1600" dirty="0"/>
          </a:p>
        </p:txBody>
      </p:sp>
      <p:sp>
        <p:nvSpPr>
          <p:cNvPr id="24" name="Shape 17"/>
          <p:cNvSpPr/>
          <p:nvPr/>
        </p:nvSpPr>
        <p:spPr>
          <a:xfrm>
            <a:off x="548640" y="5032248"/>
            <a:ext cx="3666744" cy="457200"/>
          </a:xfrm>
          <a:prstGeom prst="roundRect">
            <a:avLst>
              <a:gd name="adj" fmla="val 100000"/>
            </a:avLst>
          </a:prstGeom>
          <a:solidFill>
            <a:srgbClr val="12407F"/>
          </a:solidFill>
          <a:ln w="12700">
            <a:solidFill>
              <a:srgbClr val="2F6FB5"/>
            </a:solidFill>
            <a:prstDash val="solid"/>
          </a:ln>
        </p:spPr>
      </p:sp>
      <p:pic>
        <p:nvPicPr>
          <p:cNvPr id="25" name="Image 5" descr="preencoded.png">    </p:cNvPr>
          <p:cNvPicPr>
            <a:picLocks noChangeAspect="1"/>
          </p:cNvPicPr>
          <p:nvPr/>
        </p:nvPicPr>
        <p:blipFill>
          <a:blip r:embed="rId10"/>
          <a:stretch>
            <a:fillRect/>
          </a:stretch>
        </p:blipFill>
        <p:spPr>
          <a:xfrm>
            <a:off x="694944" y="5132832"/>
            <a:ext cx="256032" cy="256032"/>
          </a:xfrm>
          <a:prstGeom prst="rect">
            <a:avLst/>
          </a:prstGeom>
        </p:spPr>
      </p:pic>
      <p:sp>
        <p:nvSpPr>
          <p:cNvPr id="26" name="Text 18"/>
          <p:cNvSpPr txBox="1"/>
          <p:nvPr/>
        </p:nvSpPr>
        <p:spPr>
          <a:xfrm>
            <a:off x="1051560" y="5032248"/>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1" invalidUrl="" action="" tgtFrame="" tooltip="latihan.md" history="1" highlightClick="0" endSnd="0">
                  <a:extLst>
                    <a:ext uri="{A12FA001-AC4F-418D-AE19-62706E023703}">
                      <ahyp:hlinkClr xmlns:ahyp="http://schemas.microsoft.com/office/drawing/2018/hyperlinkcolor" val="tx"/>
                    </a:ext>
                  </a:extLst>
                </a:hlinkClick>
              </a:rPr>
              <a:t>Latihan</a:t>
            </a:r>
            <a:endParaRPr lang="id-ID" sz="1600" dirty="0"/>
          </a:p>
        </p:txBody>
      </p:sp>
      <p:sp>
        <p:nvSpPr>
          <p:cNvPr id="27" name="Shape 19"/>
          <p:cNvSpPr/>
          <p:nvPr/>
        </p:nvSpPr>
        <p:spPr>
          <a:xfrm>
            <a:off x="4379976" y="5032248"/>
            <a:ext cx="3666744" cy="457200"/>
          </a:xfrm>
          <a:prstGeom prst="roundRect">
            <a:avLst>
              <a:gd name="adj" fmla="val 100000"/>
            </a:avLst>
          </a:prstGeom>
          <a:solidFill>
            <a:srgbClr val="12407F"/>
          </a:solidFill>
          <a:ln w="12700">
            <a:solidFill>
              <a:srgbClr val="2F6FB5"/>
            </a:solidFill>
            <a:prstDash val="solid"/>
          </a:ln>
        </p:spPr>
      </p:sp>
      <p:pic>
        <p:nvPicPr>
          <p:cNvPr id="28" name="Image 6" descr="preencoded.png">    </p:cNvPr>
          <p:cNvPicPr>
            <a:picLocks noChangeAspect="1"/>
          </p:cNvPicPr>
          <p:nvPr/>
        </p:nvPicPr>
        <p:blipFill>
          <a:blip r:embed="rId12"/>
          <a:stretch>
            <a:fillRect/>
          </a:stretch>
        </p:blipFill>
        <p:spPr>
          <a:xfrm>
            <a:off x="4526280" y="5132832"/>
            <a:ext cx="256032" cy="256032"/>
          </a:xfrm>
          <a:prstGeom prst="rect">
            <a:avLst/>
          </a:prstGeom>
        </p:spPr>
      </p:pic>
      <p:sp>
        <p:nvSpPr>
          <p:cNvPr id="29" name="Text 20"/>
          <p:cNvSpPr txBox="1"/>
          <p:nvPr/>
        </p:nvSpPr>
        <p:spPr>
          <a:xfrm>
            <a:off x="4882896" y="5032248"/>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3" invalidUrl="" action="" tgtFrame="" tooltip="kuis.md" history="1" highlightClick="0" endSnd="0">
                  <a:extLst>
                    <a:ext uri="{A12FA001-AC4F-418D-AE19-62706E023703}">
                      <ahyp:hlinkClr xmlns:ahyp="http://schemas.microsoft.com/office/drawing/2018/hyperlinkcolor" val="tx"/>
                    </a:ext>
                  </a:extLst>
                </a:hlinkClick>
              </a:rPr>
              <a:t>Kuis 10 soal</a:t>
            </a:r>
            <a:endParaRPr lang="id-ID" sz="1600" dirty="0"/>
          </a:p>
        </p:txBody>
      </p:sp>
      <p:sp>
        <p:nvSpPr>
          <p:cNvPr id="30" name="Shape 21"/>
          <p:cNvSpPr/>
          <p:nvPr/>
        </p:nvSpPr>
        <p:spPr>
          <a:xfrm>
            <a:off x="8503920" y="1280160"/>
            <a:ext cx="2880360" cy="2880360"/>
          </a:xfrm>
          <a:prstGeom prst="roundRect">
            <a:avLst>
              <a:gd name="adj" fmla="val 1411"/>
            </a:avLst>
          </a:prstGeom>
          <a:solidFill>
            <a:srgbClr val="FFFFFF"/>
          </a:solidFill>
          <a:ln/>
        </p:spPr>
      </p:sp>
      <p:pic>
        <p:nvPicPr>
          <p:cNvPr id="31" name="Image 7" descr="Kode QR menuju folder pertemuan di GitHub">    </p:cNvPr>
          <p:cNvPicPr>
            <a:picLocks noChangeAspect="1"/>
          </p:cNvPicPr>
          <p:nvPr/>
        </p:nvPicPr>
        <p:blipFill>
          <a:blip r:embed="rId14"/>
          <a:stretch>
            <a:fillRect/>
          </a:stretch>
        </p:blipFill>
        <p:spPr>
          <a:xfrm>
            <a:off x="8641080" y="1417320"/>
            <a:ext cx="2606040" cy="2606040"/>
          </a:xfrm>
          <a:prstGeom prst="rect">
            <a:avLst/>
          </a:prstGeom>
        </p:spPr>
      </p:pic>
      <p:sp>
        <p:nvSpPr>
          <p:cNvPr id="32" name="Text 22"/>
          <p:cNvSpPr txBox="1"/>
          <p:nvPr/>
        </p:nvSpPr>
        <p:spPr>
          <a:xfrm>
            <a:off x="8458200" y="4297680"/>
            <a:ext cx="2971800" cy="640080"/>
          </a:xfrm>
          <a:prstGeom prst="rect">
            <a:avLst/>
          </a:prstGeom>
          <a:noFill/>
          <a:ln/>
        </p:spPr>
        <p:txBody>
          <a:bodyPr wrap="square" lIns="0" tIns="0" rIns="0" bIns="0" rtlCol="0" anchor="t"/>
          <a:lstStyle/>
          <a:p>
            <a:pPr algn="ctr" indent="0" marL="0">
              <a:buNone/>
            </a:pPr>
            <a:r>
              <a:rPr lang="id-ID" altLang="en-US" sz="1400" dirty="0">
                <a:solidFill>
                  <a:srgbClr val="C9D7E8"/>
                </a:solidFill>
              </a:rPr>
              <a:t>Pindai untuk membuka folder pertemuan ini di GitHub</a:t>
            </a:r>
            <a:endParaRPr lang="id-ID" sz="1400" dirty="0"/>
          </a:p>
        </p:txBody>
      </p:sp>
      <p:sp>
        <p:nvSpPr>
          <p:cNvPr id="33" name="Text 23"/>
          <p:cNvSpPr txBox="1"/>
          <p:nvPr/>
        </p:nvSpPr>
        <p:spPr>
          <a:xfrm>
            <a:off x="548640" y="5925312"/>
            <a:ext cx="11094415" cy="320040"/>
          </a:xfrm>
          <a:prstGeom prst="rect">
            <a:avLst/>
          </a:prstGeom>
          <a:noFill/>
          <a:ln/>
        </p:spPr>
        <p:txBody>
          <a:bodyPr wrap="square" lIns="0" tIns="0" rIns="0" bIns="0" rtlCol="0" anchor="ctr"/>
          <a:lstStyle/>
          <a:p>
            <a:pPr indent="0" marL="0">
              <a:buNone/>
            </a:pPr>
            <a:r>
              <a:rPr lang="en-US" altLang="en-US" sz="1300" u="sng" dirty="0">
                <a:solidFill>
                  <a:srgbClr val="54AEFF"/>
                </a:solidFill>
                <a:hlinkClick r:id="rId15" invalidUrl="" action="" tgtFrame="" tooltip="" history="1" highlightClick="0" endSnd="0">
                  <a:extLst>
                    <a:ext uri="{A12FA001-AC4F-418D-AE19-62706E023703}">
                      <ahyp:hlinkClr xmlns:ahyp="http://schemas.microsoft.com/office/drawing/2018/hyperlinkcolor" val="tx"/>
                    </a:ext>
                  </a:extLst>
                </a:hlinkClick>
              </a:rPr>
              <a:t>github.com/antonprafanto/PBO2026/tree/master/Pertemuan-07-Pewarisan</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PBO 2026">
  <a:themeElements>
    <a:clrScheme name="PBO 2026">
      <a:dk1>
        <a:srgbClr val="1F2328"/>
      </a:dk1>
      <a:lt1>
        <a:srgbClr val="FFFFFF"/>
      </a:lt1>
      <a:dk2>
        <a:srgbClr val="0A3069"/>
      </a:dk2>
      <a:lt2>
        <a:srgbClr val="F6F8FA"/>
      </a:lt2>
      <a:accent1>
        <a:srgbClr val="0969DA"/>
      </a:accent1>
      <a:accent2>
        <a:srgbClr val="BC4C00"/>
      </a:accent2>
      <a:accent3>
        <a:srgbClr val="1A7F37"/>
      </a:accent3>
      <a:accent4>
        <a:srgbClr val="8250DF"/>
      </a:accent4>
      <a:accent5>
        <a:srgbClr val="CF222E"/>
      </a:accent5>
      <a:accent6>
        <a:srgbClr val="9A6700"/>
      </a:accent6>
      <a:hlink>
        <a:srgbClr val="0969DA"/>
      </a:hlink>
      <a:folHlink>
        <a:srgbClr val="8250DF"/>
      </a:folHlink>
    </a:clrScheme>
    <a:fontScheme name="PBO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Informatika Universitas Mulawarman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PBO 2026 Pertemuan 07: Pewarisan (Inheritance)</dc:title>
  <dc:subject>Pemrograman Berorientasi Objek 2026</dc:subject>
  <dc:creator>PBO 2026 UNMUL</dc:creator>
  <cp:lastModifiedBy>PBO 2026 UNMUL</cp:lastModifiedBy>
  <cp:revision>1</cp:revision>
  <dcterms:created xsi:type="dcterms:W3CDTF">2026-10-15T02:18:33Z</dcterms:created>
  <dcterms:modified xsi:type="dcterms:W3CDTF">2026-10-15T02:18:33Z</dcterms:modified>
</cp:coreProperties>
</file>