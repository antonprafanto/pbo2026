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63d64257-7218-bed5-8b23-adff9ed75a39}">
          <p14:sldIdLst>
            <p14:sldId id="256"/>
            <p14:sldId id="257"/>
            <p14:sldId id="258"/>
            <p14:sldId id="259"/>
          </p14:sldIdLst>
        </p14:section>
        <p14:section name="Atribut Objek dan Atribut Kelas" id="{e1a6df85-4277-bd99-fcb6-99d2798c49be}">
          <p14:sldIdLst>
            <p14:sldId id="260"/>
            <p14:sldId id="261"/>
            <p14:sldId id="262"/>
            <p14:sldId id="263"/>
          </p14:sldIdLst>
        </p14:section>
        <p14:section name="Method Milik Kelas dan Konstruktor yang Luwes" id="{0ab8e916-9565-31ea-6819-679d892c00b6}">
          <p14:sldIdLst>
            <p14:sldId id="264"/>
            <p14:sldId id="265"/>
            <p14:sldId id="266"/>
            <p14:sldId id="267"/>
            <p14:sldId id="268"/>
          </p14:sldIdLst>
        </p14:section>
        <p14:section name="Objek yang Bisa Memperkenalkan Diri" id="{072534e0-5c7f-64c8-9e67-0e1a15c3451a}">
          <p14:sldIdLst>
            <p14:sldId id="269"/>
            <p14:sldId id="270"/>
            <p14:sldId id="271"/>
          </p14:sldIdLst>
        </p14:section>
        <p14:section name="Variabel Menyimpan Referensi" id="{65fab19a-41c4-18ab-1023-78d21b4c5392}">
          <p14:sldIdLst>
            <p14:sldId id="272"/>
            <p14:sldId id="273"/>
            <p14:sldId id="274"/>
            <p14:sldId id="275"/>
            <p14:sldId id="276"/>
          </p14:sldIdLst>
        </p14:section>
        <p14:section name="Studi Kasus KedaiKita" id="{26a743c5-8d3a-b3fd-de57-7da6a0528e01}">
          <p14:sldIdLst>
            <p14:sldId id="277"/>
            <p14:sldId id="278"/>
            <p14:sldId id="279"/>
            <p14:sldId id="280"/>
          </p14:sldIdLst>
        </p14:section>
        <p14:section name="Cek Pemahaman" id="{fa101ab3-c456-effa-2ee8-b28fdc021989}">
          <p14:sldIdLst>
            <p14:sldId id="281"/>
            <p14:sldId id="282"/>
            <p14:sldId id="283"/>
            <p14:sldId id="284"/>
            <p14:sldId id="285"/>
          </p14:sldIdLst>
        </p14:section>
        <p14:section name="Penutup" id="{8731fcdd-6f9a-3fd7-b4a5-bc64b454c0af}">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03. Di Pertemuan 02 kita sudah bisa membuat kelas dan objek. Hari ini kita mengupas isinya lebih dalam: data yang dimiliki bersama, </a:t>
            </a:r>
            <a:r>
              <a:rPr lang="id-ID" dirty="0" i="1"/>
              <a:t>method</a:t>
            </a:r>
            <a:r>
              <a:rPr lang="id-ID" dirty="0"/>
              <a:t> yang tidak butuh objek, konstruktor yang luwes, objek yang bisa memperkenalkan diri, dan apa sebenarnya yang disimpan sebuah variabel. Bekal ini akan terus dipakai sampai akhir semester. Semua materi, kode, latihan, dan kuis pertemuan ini ada di repositori GitHub mata kuliah, di folder Pertemuan-03-Atribut-dan-Method.</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Semuanya memperdalam kelas dan objek yang sudah kamu kenal di Pertemuan 02. Di akhir pertemuan, cek lagi satu per satu: sudahkah kamu bisa menjelaskannya dengan kata-katamu sendiri? Urutan belajarnya sama seperti biasa: konsep di </a:t>
            </a:r>
            <a:r>
              <a:rPr lang="id-ID" dirty="0" i="1"/>
              <a:t>slide</a:t>
            </a:r>
            <a:r>
              <a:rPr lang="id-ID" dirty="0"/>
              <a:t> ini, lalu praktik di halaman Python atau Java, kemudian halaman Jembatan Python ↔ Java, latihan, dan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Sebelum masuk materi baru, ingat lagi empat hal dari Pertemuan 02.</a:t>
            </a:r>
            <a:endParaRPr lang="id-ID" dirty="0"/>
          </a:p>
          <a:p>
            <a:r>
              <a:rPr lang="id-ID" dirty="0"/>
              <a:t>Pertanyaan untuk kelas: apa arti </a:t>
            </a:r>
            <a:r>
              <a:rPr lang="en-US" dirty="0">
                <a:latin typeface="Consolas"/>
              </a:rPr>
              <a:t>self</a:t>
            </a:r>
            <a:r>
              <a:rPr lang="id-ID" dirty="0"/>
              <a:t> di Python dan </a:t>
            </a:r>
            <a:r>
              <a:rPr lang="en-US" dirty="0">
                <a:latin typeface="Consolas"/>
              </a:rPr>
              <a:t>this</a:t>
            </a:r>
            <a:r>
              <a:rPr lang="id-ID" dirty="0"/>
              <a:t> di Java? Jawabannya: objek yang sedang menjalankan </a:t>
            </a:r>
            <a:r>
              <a:rPr lang="id-ID" dirty="0" i="1"/>
              <a:t>method</a:t>
            </a:r>
            <a:r>
              <a:rPr lang="id-ID" dirty="0"/>
              <a:t> itu. Butir terakhir adalah janji kita dari Pertemuan 02. Satu objek ternyata bisa ditunjuk oleh dua variabel, dan hari ini kita lihat akibatnya.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data milik bersama, lalu </a:t>
            </a:r>
            <a:r>
              <a:rPr lang="id-ID" dirty="0" i="1"/>
              <a:t>method</a:t>
            </a:r>
            <a:r>
              <a:rPr lang="id-ID" dirty="0"/>
              <a:t> yang tidak butuh objek dan cara membuat konstruktor yang luwes. Setelah itu objek belajar memperkenalkan diri, dan kita membongkar apa sebenarnya isi sebuah variabel. Di bagian akhir, semua konsep itu dipakai untuk mengembangkan KedaiKita.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dengan cerita dari ruang kuliah kita sendiri. Ada data yang dimiliki setiap orang, dan ada data yang dimiliki bersama.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suasana kelas PBO. Setiap mahasiswa punya buku catatan sendiri berisi nama, NIM, dan catatannya. Di depan kelas ada satu papan pengumuman yang dibaca semua orang, misalnya "Kampus: Universitas Mulawarman". Data yang dimiliki setiap objek disebut atribut objek. Data milik kelas, yang hanya ada satu dan dipakai bersama oleh semua objek, disebut atribut kelas. Di Java, atribut kelas ditandai kata kunci </a:t>
            </a:r>
            <a:r>
              <a:rPr lang="en-US" dirty="0">
                <a:latin typeface="Consolas"/>
              </a:rPr>
              <a:t>static</a:t>
            </a:r>
            <a:r>
              <a:rPr lang="id-ID" dirty="0"/>
              <a:t>.</a:t>
            </a:r>
            <a:endParaRPr lang="id-ID" dirty="0"/>
          </a:p>
          <a:p>
            <a:r>
              <a:rPr lang="id-ID" dirty="0"/>
              <a:t>Pertanyaan untuk kelas: pemilik KedaiKita ingin tahu sudah berapa menu yang terdaftar. Di mana angka itu sebaiknya disimpan? Jawabannya: di "papan pengumuman", yaitu atribut 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kedua bahasa, </a:t>
            </a:r>
            <a:r>
              <a:rPr lang="en-US" dirty="0">
                <a:latin typeface="Consolas"/>
              </a:rPr>
              <a:t>kampus</a:t>
            </a:r>
            <a:r>
              <a:rPr lang="id-ID" dirty="0"/>
              <a:t> dan </a:t>
            </a:r>
            <a:r>
              <a:rPr lang="en-US" dirty="0">
                <a:latin typeface="Consolas"/>
              </a:rPr>
              <a:t>jumlah</a:t>
            </a:r>
            <a:r>
              <a:rPr lang="id-ID" dirty="0"/>
              <a:t> adalah atribut kelas, sedangkan </a:t>
            </a:r>
            <a:r>
              <a:rPr lang="en-US" dirty="0">
                <a:latin typeface="Consolas"/>
              </a:rPr>
              <a:t>nim</a:t>
            </a:r>
            <a:r>
              <a:rPr lang="id-ID" dirty="0"/>
              <a:t> dan </a:t>
            </a:r>
            <a:r>
              <a:rPr lang="en-US" dirty="0">
                <a:latin typeface="Consolas"/>
              </a:rPr>
              <a:t>nama</a:t>
            </a:r>
            <a:r>
              <a:rPr lang="id-ID" dirty="0"/>
              <a:t> adalah atribut objek. Pemakaian atribut kelas yang paling sering adalah penghitung: setiap kali konstruktor berjalan, </a:t>
            </a:r>
            <a:r>
              <a:rPr lang="en-US" dirty="0">
                <a:latin typeface="Consolas"/>
              </a:rPr>
              <a:t>Mahasiswa.jumlah</a:t>
            </a:r>
            <a:r>
              <a:rPr lang="id-ID" dirty="0"/>
              <a:t> bertambah satu, jadi setelah tiga objek dibuat nilainya 3. Atribut kelas sudah ada sebelum objek mana pun dibuat, sehingga </a:t>
            </a:r>
            <a:r>
              <a:rPr lang="en-US" dirty="0">
                <a:latin typeface="Consolas"/>
              </a:rPr>
              <a:t>Mahasiswa.jumlah</a:t>
            </a:r>
            <a:r>
              <a:rPr lang="id-ID" dirty="0"/>
              <a:t> bisa dibaca lewat nama kelasnya dan hasilnya 0. Perhatikan juga bahwa penghitung diubah lewat nama kelas, bukan lewat </a:t>
            </a:r>
            <a:r>
              <a:rPr lang="en-US" dirty="0">
                <a:latin typeface="Consolas"/>
              </a:rPr>
              <a:t>self</a:t>
            </a:r>
            <a:r>
              <a:rPr lang="id-ID" dirty="0"/>
              <a:t> atau </a:t>
            </a:r>
            <a:r>
              <a:rPr lang="en-US" dirty="0">
                <a:latin typeface="Consolas"/>
              </a:rPr>
              <a:t>this</a:t>
            </a:r>
            <a:r>
              <a:rPr lang="id-ID" dirty="0"/>
              <a:t>. Alasannya ada di </a:t>
            </a:r>
            <a:r>
              <a:rPr lang="id-ID" dirty="0" i="1"/>
              <a:t>slide</a:t>
            </a:r>
            <a:r>
              <a:rPr lang="id-ID" dirty="0"/>
              <a:t> berikutnya. Kode lengkapnya adalah contoh 01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Kode yang terlihat setara ini memberi hasil berbeda. Perpustakaan kampus menghitung pengunjung dengan atribut kelas </a:t>
            </a:r>
            <a:r>
              <a:rPr lang="en-US" dirty="0">
                <a:latin typeface="Consolas"/>
              </a:rPr>
              <a:t>total = 0</a:t>
            </a:r>
            <a:r>
              <a:rPr lang="id-ID" dirty="0"/>
              <a:t>. Di Python, </a:t>
            </a:r>
            <a:r>
              <a:rPr lang="en-US" dirty="0">
                <a:latin typeface="Consolas"/>
              </a:rPr>
              <a:t>self.total += 1</a:t>
            </a:r>
            <a:r>
              <a:rPr lang="id-ID" dirty="0"/>
              <a:t> membaca total milik kelas, lalu menyimpan hasilnya sebagai atribut baru milik objek. Atribut baru itu membayangi atribut kelas sehingga nilai bersama tetap 0. Di Java, </a:t>
            </a:r>
            <a:r>
              <a:rPr lang="id-ID" dirty="0" i="1"/>
              <a:t>field</a:t>
            </a:r>
            <a:r>
              <a:rPr lang="id-ID" dirty="0"/>
              <a:t> </a:t>
            </a:r>
            <a:r>
              <a:rPr lang="en-US" dirty="0">
                <a:latin typeface="Consolas"/>
              </a:rPr>
              <a:t>static</a:t>
            </a:r>
            <a:r>
              <a:rPr lang="id-ID" dirty="0"/>
              <a:t> hanya ada satu, jadi </a:t>
            </a:r>
            <a:r>
              <a:rPr lang="en-US" dirty="0">
                <a:latin typeface="Consolas"/>
              </a:rPr>
              <a:t>this.total</a:t>
            </a:r>
            <a:r>
              <a:rPr lang="id-ID" dirty="0"/>
              <a:t> tetap berarti </a:t>
            </a:r>
            <a:r>
              <a:rPr lang="en-US" dirty="0">
                <a:latin typeface="Consolas"/>
              </a:rPr>
              <a:t>Pengunjung.total</a:t>
            </a:r>
            <a:r>
              <a:rPr lang="id-ID" dirty="0"/>
              <a:t>. Hasilnya benar, tetapi tulisannya menyesatkan karena terlihat seperti milik objek. Program lengkapnya adalah contoh 02 di kedua halaman praktik, dan perbandingannya ada di halaman Jembatan Python ↔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a:t>
            </a:r>
            <a:r>
              <a:rPr lang="id-ID" dirty="0" i="1"/>
              <a:t>method</a:t>
            </a:r>
            <a:r>
              <a:rPr lang="id-ID" dirty="0"/>
              <a:t> di Pertemuan 02 membutuhkan objek. Sekarang kita berkenalan dengan </a:t>
            </a:r>
            <a:r>
              <a:rPr lang="id-ID" dirty="0" i="1"/>
              <a:t>method</a:t>
            </a:r>
            <a:r>
              <a:rPr lang="id-ID" dirty="0"/>
              <a:t> yang cukup dipanggil lewat nama kelasnya, lalu dua cara membuat konstruktor yang luwes.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pertanyaan "Apakah tahun 2024 tahun kabisat?". Untuk menjawabnya kita tidak butuh objek tanggal tertentu, cukup angka tahunnya. Pertanyaan seperti ini mirip kalkulator di meja kasir: alat bantu milik bersama yang bisa dipakai siapa saja. </a:t>
            </a:r>
            <a:r>
              <a:rPr lang="id-ID" dirty="0" i="1"/>
              <a:t>Method</a:t>
            </a:r>
            <a:r>
              <a:rPr lang="id-ID" dirty="0"/>
              <a:t> milik kelas dipanggil lewat nama kelas dan tidak membutuhkan objek. Karena tidak terikat pada objek, </a:t>
            </a:r>
            <a:r>
              <a:rPr lang="id-ID" dirty="0" i="1"/>
              <a:t>method</a:t>
            </a:r>
            <a:r>
              <a:rPr lang="id-ID" dirty="0"/>
              <a:t> ini tidak bisa memakai </a:t>
            </a:r>
            <a:r>
              <a:rPr lang="en-US" dirty="0">
                <a:latin typeface="Consolas"/>
              </a:rPr>
              <a:t>self</a:t>
            </a:r>
            <a:r>
              <a:rPr lang="id-ID" dirty="0"/>
              <a:t> atau </a:t>
            </a:r>
            <a:r>
              <a:rPr lang="en-US" dirty="0">
                <a:latin typeface="Consolas"/>
              </a:rPr>
              <a:t>this</a:t>
            </a:r>
            <a:r>
              <a:rPr lang="id-ID" dirty="0"/>
              <a:t>; semua datanya datang dari parameter atau dari atribut kelas.</a:t>
            </a:r>
            <a:endParaRPr lang="id-ID" dirty="0"/>
          </a:p>
          <a:p>
            <a:r>
              <a:rPr lang="id-ID" dirty="0"/>
              <a:t>Pertanyaan untuk kelas: mengapa </a:t>
            </a:r>
            <a:r>
              <a:rPr lang="en-US" dirty="0">
                <a:latin typeface="Consolas"/>
              </a:rPr>
              <a:t>main</a:t>
            </a:r>
            <a:r>
              <a:rPr lang="id-ID" dirty="0"/>
              <a:t> di Java ditulis </a:t>
            </a:r>
            <a:r>
              <a:rPr lang="en-US" dirty="0">
                <a:latin typeface="Consolas"/>
              </a:rPr>
              <a:t>static</a:t>
            </a:r>
            <a:r>
              <a:rPr lang="id-ID" dirty="0"/>
              <a:t>? Karena saat program baru mulai, belum ada objek apa pun.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Python menandai </a:t>
            </a:r>
            <a:r>
              <a:rPr lang="id-ID" dirty="0" i="1"/>
              <a:t>method</a:t>
            </a:r>
            <a:r>
              <a:rPr lang="id-ID" dirty="0"/>
              <a:t> milik kelas dengan dekorator, yaitu tanda </a:t>
            </a:r>
            <a:r>
              <a:rPr lang="en-US" dirty="0">
                <a:latin typeface="Consolas"/>
              </a:rPr>
              <a:t>@...</a:t>
            </a:r>
            <a:r>
              <a:rPr lang="id-ID" dirty="0"/>
              <a:t> di atas </a:t>
            </a:r>
            <a:r>
              <a:rPr lang="en-US" dirty="0">
                <a:latin typeface="Consolas"/>
              </a:rPr>
              <a:t>def</a:t>
            </a:r>
            <a:r>
              <a:rPr lang="id-ID" dirty="0"/>
              <a:t>. </a:t>
            </a:r>
            <a:r>
              <a:rPr lang="en-US" dirty="0">
                <a:latin typeface="Consolas"/>
              </a:rPr>
              <a:t>@staticmethod</a:t>
            </a:r>
            <a:r>
              <a:rPr lang="id-ID" dirty="0"/>
              <a:t> tidak menerima </a:t>
            </a:r>
            <a:r>
              <a:rPr lang="en-US" dirty="0">
                <a:latin typeface="Consolas"/>
              </a:rPr>
              <a:t>self</a:t>
            </a:r>
            <a:r>
              <a:rPr lang="id-ID" dirty="0"/>
              <a:t> maupun </a:t>
            </a:r>
            <a:r>
              <a:rPr lang="en-US" dirty="0">
                <a:latin typeface="Consolas"/>
              </a:rPr>
              <a:t>cls</a:t>
            </a:r>
            <a:r>
              <a:rPr lang="id-ID" dirty="0"/>
              <a:t>. </a:t>
            </a:r>
            <a:r>
              <a:rPr lang="en-US" dirty="0">
                <a:latin typeface="Consolas"/>
              </a:rPr>
              <a:t>@classmethod</a:t>
            </a:r>
            <a:r>
              <a:rPr lang="id-ID" dirty="0"/>
              <a:t> menerima kelasnya sendiri sebagai </a:t>
            </a:r>
            <a:r>
              <a:rPr lang="en-US" dirty="0">
                <a:latin typeface="Consolas"/>
              </a:rPr>
              <a:t>cls</a:t>
            </a:r>
            <a:r>
              <a:rPr lang="id-ID" dirty="0"/>
              <a:t>, sehingga </a:t>
            </a:r>
            <a:r>
              <a:rPr lang="en-US" dirty="0">
                <a:latin typeface="Consolas"/>
              </a:rPr>
              <a:t>cls(...)</a:t>
            </a:r>
            <a:r>
              <a:rPr lang="id-ID" dirty="0"/>
              <a:t> sama artinya dengan </a:t>
            </a:r>
            <a:r>
              <a:rPr lang="en-US" dirty="0">
                <a:latin typeface="Consolas"/>
              </a:rPr>
              <a:t>Tanggal(...)</a:t>
            </a:r>
            <a:r>
              <a:rPr lang="id-ID" dirty="0"/>
              <a:t>. Java cukup punya satu jenis, yaitu </a:t>
            </a:r>
            <a:r>
              <a:rPr lang="id-ID" dirty="0" i="1"/>
              <a:t>method</a:t>
            </a:r>
            <a:r>
              <a:rPr lang="id-ID" dirty="0"/>
              <a:t> </a:t>
            </a:r>
            <a:r>
              <a:rPr lang="en-US" dirty="0">
                <a:latin typeface="Consolas"/>
              </a:rPr>
              <a:t>static</a:t>
            </a:r>
            <a:r>
              <a:rPr lang="id-ID" dirty="0"/>
              <a:t>, dan untuk membuat objek ia menulis </a:t>
            </a:r>
            <a:r>
              <a:rPr lang="en-US" dirty="0">
                <a:latin typeface="Consolas"/>
              </a:rPr>
              <a:t>new Tanggal(...)</a:t>
            </a:r>
            <a:r>
              <a:rPr lang="id-ID" dirty="0"/>
              <a:t>. Konstruktor alternatif ibarat mendaftar anggota KedaiKita dengan menyerahkan KTP, bukan mengisi formulir: bentuk datanya berbeda, hasilnya sama-sama kartu anggota baru. Keduanya dipanggil lewat nama kelas, misalnya </a:t>
            </a:r>
            <a:r>
              <a:rPr lang="en-US" dirty="0">
                <a:latin typeface="Consolas"/>
              </a:rPr>
              <a:t>Tanggal.kabisat(2024)</a:t>
            </a:r>
            <a:r>
              <a:rPr lang="id-ID" dirty="0"/>
              <a:t>. Kode lengkapnya adalah contoh 03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 memesan es teh, kamu cukup berkata "Es teh satu!". Barista langsung memakai pilihan standar: gula normal, ukuran reguler. Kalau ingin berbeda, barulah kamu menyebutnya. KedaiKita butuh hal yang sama: menu yang baru didaftarkan sering belum punya stok, jadi stok boleh tidak disebut dan otomatis bernilai 0. Python mewujudkannya dengan nilai bawaan di daftar parameter, yaitu </a:t>
            </a:r>
            <a:r>
              <a:rPr lang="en-US" dirty="0">
                <a:latin typeface="Consolas"/>
              </a:rPr>
              <a:t>stok=0</a:t>
            </a:r>
            <a:r>
              <a:rPr lang="id-ID" dirty="0"/>
              <a:t>. Java tidak mengenal nilai bawaan, jadi Java menulis beberapa konstruktor dengan daftar parameter berbeda. Teknik ini disebut </a:t>
            </a:r>
            <a:r>
              <a:rPr lang="id-ID" dirty="0" i="1"/>
              <a:t>overloading</a:t>
            </a:r>
            <a:r>
              <a:rPr lang="id-ID" dirty="0"/>
              <a:t>. Konstruktor yang pendek meneruskan pekerjaannya ke konstruktor yang lengkap dengan </a:t>
            </a:r>
            <a:r>
              <a:rPr lang="en-US" dirty="0">
                <a:latin typeface="Consolas"/>
              </a:rPr>
              <a:t>this(...)</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Contoh 04 memakai kelas </a:t>
            </a:r>
            <a:r>
              <a:rPr lang="en-US" dirty="0">
                <a:latin typeface="Consolas"/>
              </a:rPr>
              <a:t>Laptop</a:t>
            </a:r>
            <a:r>
              <a:rPr lang="id-ID" dirty="0"/>
              <a:t>. Di Python, </a:t>
            </a:r>
            <a:r>
              <a:rPr lang="en-US" dirty="0">
                <a:latin typeface="Consolas"/>
              </a:rPr>
              <a:t>ram=8</a:t>
            </a:r>
            <a:r>
              <a:rPr lang="id-ID" dirty="0"/>
              <a:t> dan </a:t>
            </a:r>
            <a:r>
              <a:rPr lang="en-US" dirty="0">
                <a:latin typeface="Consolas"/>
              </a:rPr>
              <a:t>penyimpanan=512</a:t>
            </a:r>
            <a:r>
              <a:rPr lang="id-ID" dirty="0"/>
              <a:t> adalah nilai bawaan, jadi konstruktor ini bisa dipanggil dengan 1, 2, atau 3 argumen. Python juga punya argumen bernama: </a:t>
            </a:r>
            <a:r>
              <a:rPr lang="en-US" dirty="0">
                <a:latin typeface="Consolas"/>
              </a:rPr>
              <a:t>penyimpanan=256</a:t>
            </a:r>
            <a:r>
              <a:rPr lang="id-ID" dirty="0"/>
              <a:t> melompati </a:t>
            </a:r>
            <a:r>
              <a:rPr lang="en-US" dirty="0">
                <a:latin typeface="Consolas"/>
              </a:rPr>
              <a:t>ram</a:t>
            </a:r>
            <a:r>
              <a:rPr lang="id-ID" dirty="0"/>
              <a:t> dan hanya mengubah penyimpanan. Di Java, tiga konstruktor bernama sama hidup berdampingan karena daftar parameternya berbeda; Java memilihnya berdasarkan jumlah dan tipe argumen. Konstruktor lengkap mengisi ketiga </a:t>
            </a:r>
            <a:r>
              <a:rPr lang="id-ID" dirty="0" i="1"/>
              <a:t>field</a:t>
            </a:r>
            <a:r>
              <a:rPr lang="id-ID" dirty="0"/>
              <a:t>, sedangkan yang lain meneruskan ke sana lewat </a:t>
            </a:r>
            <a:r>
              <a:rPr lang="en-US" dirty="0">
                <a:latin typeface="Consolas"/>
              </a:rPr>
              <a:t>this(...)</a:t>
            </a:r>
            <a:r>
              <a:rPr lang="id-ID" dirty="0"/>
              <a:t>, yang harus ditulis sebagai pernyataan pertama. Python tidak mengenal </a:t>
            </a:r>
            <a:r>
              <a:rPr lang="id-ID" dirty="0" i="1"/>
              <a:t>overloading</a:t>
            </a:r>
            <a:r>
              <a:rPr lang="id-ID" dirty="0"/>
              <a:t>: </a:t>
            </a:r>
            <a:r>
              <a:rPr lang="en-US" dirty="0">
                <a:latin typeface="Consolas"/>
              </a:rPr>
              <a:t>def __init__</a:t>
            </a:r>
            <a:r>
              <a:rPr lang="id-ID" dirty="0"/>
              <a:t> kedua akan menimpa yang pertama.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Objek yang dicetak begitu saja hanya menampilkan teks aneh. Di bagian ini objek belajar memperkenalkan dirinya, dan kita belajar memberi nama </a:t>
            </a:r>
            <a:r>
              <a:rPr lang="id-ID" dirty="0" i="1"/>
              <a:t>method</a:t>
            </a:r>
            <a:r>
              <a:rPr lang="id-ID" dirty="0"/>
              <a:t> yang menjawab ya atau tidak.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Tanpa persiapan, mencetak objek menghasilkan teks seperti </a:t>
            </a:r>
            <a:r>
              <a:rPr lang="en-US" dirty="0">
                <a:latin typeface="Consolas"/>
              </a:rPr>
              <a:t>&lt;__main__.Menu object at 0x7f3a2c1b5e10&gt;</a:t>
            </a:r>
            <a:r>
              <a:rPr lang="id-ID" dirty="0"/>
              <a:t> di Python atau </a:t>
            </a:r>
            <a:r>
              <a:rPr lang="en-US" dirty="0">
                <a:latin typeface="Consolas"/>
              </a:rPr>
              <a:t>Menu@1b6d3586</a:t>
            </a:r>
            <a:r>
              <a:rPr lang="id-ID" dirty="0"/>
              <a:t> di Java. Teks itu benar, tetapi tidak berguna bagi manusia, seperti diperkenalkan dengan nomor loker, bukan dengan nama. Representasi teks adalah teks yang mewakili objek saat objek dicetak atau digabung dengan teks lain. Kita mengaturnya dengan </a:t>
            </a:r>
            <a:r>
              <a:rPr lang="en-US" dirty="0">
                <a:latin typeface="Consolas"/>
              </a:rPr>
              <a:t>__str__</a:t>
            </a:r>
            <a:r>
              <a:rPr lang="id-ID" dirty="0"/>
              <a:t> di Python dan </a:t>
            </a:r>
            <a:r>
              <a:rPr lang="en-US" dirty="0">
                <a:latin typeface="Consolas"/>
              </a:rPr>
              <a:t>toString()</a:t>
            </a:r>
            <a:r>
              <a:rPr lang="id-ID" dirty="0"/>
              <a:t> di Java. Di Java, </a:t>
            </a:r>
            <a:r>
              <a:rPr lang="en-US" dirty="0">
                <a:latin typeface="Consolas"/>
              </a:rPr>
              <a:t>@Override</a:t>
            </a:r>
            <a:r>
              <a:rPr lang="id-ID" dirty="0"/>
              <a:t> berarti kita menimpa versi bawaan, dan </a:t>
            </a:r>
            <a:r>
              <a:rPr lang="en-US" dirty="0">
                <a:latin typeface="Consolas"/>
              </a:rPr>
              <a:t>toString()</a:t>
            </a:r>
            <a:r>
              <a:rPr lang="id-ID" dirty="0"/>
              <a:t> wajib ditulis </a:t>
            </a:r>
            <a:r>
              <a:rPr lang="en-US" dirty="0">
                <a:latin typeface="Consolas"/>
              </a:rPr>
              <a:t>public</a:t>
            </a:r>
            <a:r>
              <a:rPr lang="id-ID" dirty="0"/>
              <a:t>. Detail tentang </a:t>
            </a:r>
            <a:r>
              <a:rPr lang="id-ID" dirty="0" i="1"/>
              <a:t>override</a:t>
            </a:r>
            <a:r>
              <a:rPr lang="id-ID" dirty="0"/>
              <a:t> dibahas di Pertemuan 07. Kode lengkapnya adalah contoh 05.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Kasir sering bertanya, "Stok kopi masih cukup untuk 2 gelas?" Jawabannya cukup ya atau tidak. </a:t>
            </a:r>
            <a:r>
              <a:rPr lang="id-ID" dirty="0" i="1"/>
              <a:t>Method</a:t>
            </a:r>
            <a:r>
              <a:rPr lang="id-ID" dirty="0"/>
              <a:t> yang menjawab pertanyaan seperti ini disebut </a:t>
            </a:r>
            <a:r>
              <a:rPr lang="id-ID" dirty="0" i="1"/>
              <a:t>method boolean</a:t>
            </a:r>
            <a:r>
              <a:rPr lang="id-ID" dirty="0"/>
              <a:t>: ia mengembalikan </a:t>
            </a:r>
            <a:r>
              <a:rPr lang="en-US" dirty="0">
                <a:latin typeface="Consolas"/>
              </a:rPr>
              <a:t>True</a:t>
            </a:r>
            <a:r>
              <a:rPr lang="id-ID" dirty="0"/>
              <a:t>/</a:t>
            </a:r>
            <a:r>
              <a:rPr lang="en-US" dirty="0">
                <a:latin typeface="Consolas"/>
              </a:rPr>
              <a:t>False</a:t>
            </a:r>
            <a:r>
              <a:rPr lang="id-ID" dirty="0"/>
              <a:t> di Python atau </a:t>
            </a:r>
            <a:r>
              <a:rPr lang="en-US" dirty="0">
                <a:latin typeface="Consolas"/>
              </a:rPr>
              <a:t>true</a:t>
            </a:r>
            <a:r>
              <a:rPr lang="id-ID" dirty="0"/>
              <a:t>/</a:t>
            </a:r>
            <a:r>
              <a:rPr lang="en-US" dirty="0">
                <a:latin typeface="Consolas"/>
              </a:rPr>
              <a:t>false</a:t>
            </a:r>
            <a:r>
              <a:rPr lang="id-ID" dirty="0"/>
              <a:t> di Java. Namanya sebaiknya dibaca seperti pertanyaan ya/tidak. Di Java ada kebiasaan memberi awalan </a:t>
            </a:r>
            <a:r>
              <a:rPr lang="en-US" dirty="0">
                <a:latin typeface="Consolas"/>
              </a:rPr>
              <a:t>is</a:t>
            </a:r>
            <a:r>
              <a:rPr lang="id-ID" dirty="0"/>
              <a:t>, seperti </a:t>
            </a:r>
            <a:r>
              <a:rPr lang="en-US" dirty="0">
                <a:latin typeface="Consolas"/>
              </a:rPr>
              <a:t>isEmpty()</a:t>
            </a:r>
            <a:r>
              <a:rPr lang="id-ID" dirty="0"/>
              <a:t> milik </a:t>
            </a:r>
            <a:r>
              <a:rPr lang="en-US" dirty="0">
                <a:latin typeface="Consolas"/>
              </a:rPr>
              <a:t>String</a:t>
            </a:r>
            <a:r>
              <a:rPr lang="id-ID" dirty="0"/>
              <a:t>, tetapi bentuk pertanyaan berbahasa Indonesia seperti </a:t>
            </a:r>
            <a:r>
              <a:rPr lang="en-US" dirty="0">
                <a:latin typeface="Consolas"/>
              </a:rPr>
              <a:t>stokCukup()</a:t>
            </a:r>
            <a:r>
              <a:rPr lang="id-ID" dirty="0"/>
              <a:t> juga lazim. Mengapa mengembalikan nilai lebih baik daripada mencetak "Bisa" atau "Tidak bisa"? Karena hasilnya bisa langsung dipakai dalam percabangan </a:t>
            </a:r>
            <a:r>
              <a:rPr lang="en-US" dirty="0">
                <a:latin typeface="Consolas"/>
              </a:rPr>
              <a:t>if</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janji kita dari Pertemuan 02. Bagian ini menjelaskan apa yang sebenarnya disimpan sebuah variabel, lalu akibatnya saat objek dikirim ke </a:t>
            </a:r>
            <a:r>
              <a:rPr lang="id-ID" dirty="0" i="1"/>
              <a:t>method</a:t>
            </a:r>
            <a:r>
              <a:rPr lang="id-ID" dirty="0"/>
              <a:t> atau dikembalikan dari </a:t>
            </a:r>
            <a:r>
              <a:rPr lang="id-ID" dirty="0" i="1"/>
              <a:t>method</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Perhatikan kontak di ponselmu. Kamu mungkin menyimpan nomor yang sama dengan dua nama: Budi dan Ketua Tingkat. Dua kontak, tetapi orangnya satu. Variabel bekerja persis seperti kontak itu. Variabel tidak berisi objek; ia hanya menyimpan petunjuk ke tempat objek berada, yang disebut referensi. Perintah </a:t>
            </a:r>
            <a:r>
              <a:rPr lang="en-US" dirty="0">
                <a:latin typeface="Consolas"/>
              </a:rPr>
              <a:t>ponsel_dipinjam = ponsel_budi</a:t>
            </a:r>
            <a:r>
              <a:rPr lang="id-ID" dirty="0"/>
              <a:t> hanya menyalin referensinya, bukan objeknya, sehingga tidak ada objek baru yang lahir. Keadaan dua variabel menunjuk objek yang sama disebut </a:t>
            </a:r>
            <a:r>
              <a:rPr lang="id-ID" dirty="0" i="1"/>
              <a:t>aliasing</a:t>
            </a:r>
            <a:r>
              <a:rPr lang="id-ID" dirty="0"/>
              <a:t>. Jika baterai diubah lewat satu nama, perubahannya terlihat juga lewat nama yang lain.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Siti meminjam ponsel Budi lewat variabel </a:t>
            </a:r>
            <a:r>
              <a:rPr lang="en-US" dirty="0">
                <a:latin typeface="Consolas"/>
              </a:rPr>
              <a:t>ponsel_dipinjam</a:t>
            </a:r>
            <a:r>
              <a:rPr lang="id-ID" dirty="0"/>
              <a:t>, lalu memakainya sebanyak 30%. Dilihat lewat </a:t>
            </a:r>
            <a:r>
              <a:rPr lang="en-US" dirty="0">
                <a:latin typeface="Consolas"/>
              </a:rPr>
              <a:t>ponsel_budi</a:t>
            </a:r>
            <a:r>
              <a:rPr lang="id-ID" dirty="0"/>
              <a:t>, baterainya juga tinggal 50% karena keduanya memang objek yang sama. Untuk bertanya apakah isinya sama, Python memakai </a:t>
            </a:r>
            <a:r>
              <a:rPr lang="en-US" dirty="0">
                <a:latin typeface="Consolas"/>
              </a:rPr>
              <a:t>==</a:t>
            </a:r>
            <a:r>
              <a:rPr lang="id-ID" dirty="0"/>
              <a:t> dan Java memakai </a:t>
            </a:r>
            <a:r>
              <a:rPr lang="en-US" dirty="0">
                <a:latin typeface="Consolas"/>
              </a:rPr>
              <a:t>.equals()</a:t>
            </a:r>
            <a:r>
              <a:rPr lang="id-ID" dirty="0"/>
              <a:t>; teks di Java wajib dibandingkan dengan </a:t>
            </a:r>
            <a:r>
              <a:rPr lang="en-US" dirty="0">
                <a:latin typeface="Consolas"/>
              </a:rPr>
              <a:t>.equals()</a:t>
            </a:r>
            <a:r>
              <a:rPr lang="id-ID" dirty="0"/>
              <a:t>. Nilai khusus </a:t>
            </a:r>
            <a:r>
              <a:rPr lang="en-US" dirty="0">
                <a:latin typeface="Consolas"/>
              </a:rPr>
              <a:t>None</a:t>
            </a:r>
            <a:r>
              <a:rPr lang="id-ID" dirty="0"/>
              <a:t> dan </a:t>
            </a:r>
            <a:r>
              <a:rPr lang="en-US" dirty="0">
                <a:latin typeface="Consolas"/>
              </a:rPr>
              <a:t>null</a:t>
            </a:r>
            <a:r>
              <a:rPr lang="id-ID" dirty="0"/>
              <a:t> berarti variabel tidak menunjuk objek apa pun. Memanggil </a:t>
            </a:r>
            <a:r>
              <a:rPr lang="id-ID" dirty="0" i="1"/>
              <a:t>method</a:t>
            </a:r>
            <a:r>
              <a:rPr lang="id-ID" dirty="0"/>
              <a:t> lewat variabel seperti itu menimbulkan </a:t>
            </a:r>
            <a:r>
              <a:rPr lang="id-ID" dirty="0" i="1"/>
              <a:t>error</a:t>
            </a:r>
            <a:r>
              <a:rPr lang="id-ID" dirty="0"/>
              <a:t>: </a:t>
            </a:r>
            <a:r>
              <a:rPr lang="en-US" dirty="0">
                <a:latin typeface="Consolas"/>
              </a:rPr>
              <a:t>AttributeError</a:t>
            </a:r>
            <a:r>
              <a:rPr lang="id-ID" dirty="0"/>
              <a:t> di Python dan </a:t>
            </a:r>
            <a:r>
              <a:rPr lang="en-US" dirty="0">
                <a:latin typeface="Consolas"/>
              </a:rPr>
              <a:t>NullPointerException</a:t>
            </a:r>
            <a:r>
              <a:rPr lang="id-ID" dirty="0"/>
              <a:t> di Java. Kode lengkapnya adalah contoh 06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 kamu meminjamkan ponsel ke teman, yang kamu serahkan adalah ponsel aslinya, bukan fotokopinya. Begitu juga saat objek dikirim ke </a:t>
            </a:r>
            <a:r>
              <a:rPr lang="id-ID" dirty="0" i="1"/>
              <a:t>method</a:t>
            </a:r>
            <a:r>
              <a:rPr lang="id-ID" dirty="0"/>
              <a:t>: yang dikirim adalah salinan referensinya, sehingga </a:t>
            </a:r>
            <a:r>
              <a:rPr lang="id-ID" dirty="0" i="1"/>
              <a:t>method</a:t>
            </a:r>
            <a:r>
              <a:rPr lang="id-ID" dirty="0"/>
              <a:t> memegang objek yang sama dengan pemanggil. Contoh nyatanya transfer dompet digital: </a:t>
            </a:r>
            <a:r>
              <a:rPr lang="en-US" dirty="0">
                <a:latin typeface="Consolas"/>
              </a:rPr>
              <a:t>dompet_budi.transfer(dompet_siti, 30000)</a:t>
            </a:r>
            <a:r>
              <a:rPr lang="id-ID" dirty="0"/>
              <a:t> menambah saldo objek milik Siti. Kemampuan ini berguna, tetapi bisa mengejutkan. </a:t>
            </a:r>
            <a:r>
              <a:rPr lang="id-ID" dirty="0" i="1"/>
              <a:t>Method</a:t>
            </a:r>
            <a:r>
              <a:rPr lang="id-ID" dirty="0"/>
              <a:t> yang diam-diam mengubah objek kiriman sering menjadi sumber </a:t>
            </a:r>
            <a:r>
              <a:rPr lang="id-ID" dirty="0" i="1"/>
              <a:t>bug</a:t>
            </a:r>
            <a:r>
              <a:rPr lang="id-ID" dirty="0"/>
              <a:t>, jadi beri nama yang jujur seperti </a:t>
            </a:r>
            <a:r>
              <a:rPr lang="en-US" dirty="0">
                <a:latin typeface="Consolas"/>
              </a:rPr>
              <a:t>transfer</a:t>
            </a:r>
            <a:r>
              <a:rPr lang="id-ID" dirty="0"/>
              <a:t>. Kode lengkapnya adalah contoh 07; di Java namanya memakai </a:t>
            </a:r>
            <a:r>
              <a:rPr lang="id-ID" dirty="0" i="1"/>
              <a:t>camelCase</a:t>
            </a:r>
            <a:r>
              <a:rPr lang="id-ID" dirty="0"/>
              <a:t>, misalnya </a:t>
            </a:r>
            <a:r>
              <a:rPr lang="en-US" dirty="0">
                <a:latin typeface="Consolas"/>
              </a:rPr>
              <a:t>tambahBonusDompet</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Kelas </a:t>
            </a:r>
            <a:r>
              <a:rPr lang="en-US" dirty="0">
                <a:latin typeface="Consolas"/>
              </a:rPr>
              <a:t>Durasi</a:t>
            </a:r>
            <a:r>
              <a:rPr lang="id-ID" dirty="0"/>
              <a:t> menyimpan jam dan menit. </a:t>
            </a:r>
            <a:r>
              <a:rPr lang="id-ID" dirty="0" i="1"/>
              <a:t>Method</a:t>
            </a:r>
            <a:r>
              <a:rPr lang="id-ID" dirty="0"/>
              <a:t> </a:t>
            </a:r>
            <a:r>
              <a:rPr lang="en-US" dirty="0">
                <a:latin typeface="Consolas"/>
              </a:rPr>
              <a:t>tambah(lain)</a:t>
            </a:r>
            <a:r>
              <a:rPr lang="id-ID" dirty="0"/>
              <a:t> menerima durasi lain sebagai parameter, lalu membuat dan mengembalikan objek </a:t>
            </a:r>
            <a:r>
              <a:rPr lang="en-US" dirty="0">
                <a:latin typeface="Consolas"/>
              </a:rPr>
              <a:t>Durasi</a:t>
            </a:r>
            <a:r>
              <a:rPr lang="id-ID" dirty="0"/>
              <a:t> baru berisi jumlah keduanya. Objek asal tetap aman dan tidak berubah tanpa sengaja. Konstruktor alternatif yang kita bahas tadi juga termasuk </a:t>
            </a:r>
            <a:r>
              <a:rPr lang="id-ID" dirty="0" i="1"/>
              <a:t>method</a:t>
            </a:r>
            <a:r>
              <a:rPr lang="id-ID" dirty="0"/>
              <a:t> yang mengembalikan objek baru. Bedanya, konstruktor alternatif adalah </a:t>
            </a:r>
            <a:r>
              <a:rPr lang="id-ID" dirty="0" i="1"/>
              <a:t>method</a:t>
            </a:r>
            <a:r>
              <a:rPr lang="id-ID" dirty="0"/>
              <a:t> milik kelas, sedangkan </a:t>
            </a:r>
            <a:r>
              <a:rPr lang="en-US" dirty="0">
                <a:latin typeface="Consolas"/>
              </a:rPr>
              <a:t>tambah</a:t>
            </a:r>
            <a:r>
              <a:rPr lang="id-ID" dirty="0"/>
              <a:t> adalah </a:t>
            </a:r>
            <a:r>
              <a:rPr lang="id-ID" dirty="0" i="1"/>
              <a:t>method</a:t>
            </a:r>
            <a:r>
              <a:rPr lang="id-ID" dirty="0"/>
              <a:t> milik objek. Di Java, tipe kembaliannya ditulis dengan nama kelas: </a:t>
            </a:r>
            <a:r>
              <a:rPr lang="en-US" dirty="0">
                <a:latin typeface="Consolas"/>
              </a:rPr>
              <a:t>Durasi tambah(Durasi lain)</a:t>
            </a:r>
            <a:r>
              <a:rPr lang="id-ID" dirty="0"/>
              <a:t>. Kode lengkapnya adalah contoh 08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semua konsep hari ini kita pakai untuk mengembangkan KedaiKita dari Pertemuan 02. Menu menjadi lebih lengkap, dan muncul kelas baru untuk pelanggan.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Kelas </a:t>
            </a:r>
            <a:r>
              <a:rPr lang="en-US" dirty="0">
                <a:latin typeface="Consolas"/>
              </a:rPr>
              <a:t>Menu</a:t>
            </a:r>
            <a:r>
              <a:rPr lang="id-ID" dirty="0"/>
              <a:t> kini punya lima atribut objek: kode, nama, harga, kategori, dan stok. Atribut </a:t>
            </a:r>
            <a:r>
              <a:rPr lang="en-US" dirty="0">
                <a:latin typeface="Consolas"/>
              </a:rPr>
              <a:t>jumlah_menu</a:t>
            </a:r>
            <a:r>
              <a:rPr lang="id-ID" dirty="0"/>
              <a:t> digarisbawahi karena ia atribut kelas yang mencatat banyaknya menu. Ada tiga </a:t>
            </a:r>
            <a:r>
              <a:rPr lang="id-ID" dirty="0" i="1"/>
              <a:t>method</a:t>
            </a:r>
            <a:r>
              <a:rPr lang="id-ID" dirty="0"/>
              <a:t>: </a:t>
            </a:r>
            <a:r>
              <a:rPr lang="en-US" dirty="0">
                <a:latin typeface="Consolas"/>
              </a:rPr>
              <a:t>hitung_total</a:t>
            </a:r>
            <a:r>
              <a:rPr lang="id-ID" dirty="0"/>
              <a:t>, </a:t>
            </a:r>
            <a:r>
              <a:rPr lang="en-US" dirty="0">
                <a:latin typeface="Consolas"/>
              </a:rPr>
              <a:t>harga_setelah_diskon</a:t>
            </a:r>
            <a:r>
              <a:rPr lang="id-ID" dirty="0"/>
              <a:t>, dan </a:t>
            </a:r>
            <a:r>
              <a:rPr lang="en-US" dirty="0">
                <a:latin typeface="Consolas"/>
              </a:rPr>
              <a:t>stok_cukup</a:t>
            </a:r>
            <a:r>
              <a:rPr lang="id-ID" dirty="0"/>
              <a:t>. Kelas baru </a:t>
            </a:r>
            <a:r>
              <a:rPr lang="en-US" dirty="0">
                <a:latin typeface="Consolas"/>
              </a:rPr>
              <a:t>Pelanggan</a:t>
            </a:r>
            <a:r>
              <a:rPr lang="id-ID" dirty="0"/>
              <a:t> menyimpan nama, nomor HP, dan poin belanja yang selalu mulai dari 0. </a:t>
            </a:r>
            <a:r>
              <a:rPr lang="en-US" dirty="0">
                <a:latin typeface="Consolas"/>
              </a:rPr>
              <a:t>Pelanggan</a:t>
            </a:r>
            <a:r>
              <a:rPr lang="id-ID" dirty="0"/>
              <a:t> belum berhubungan langsung dengan </a:t>
            </a:r>
            <a:r>
              <a:rPr lang="en-US" dirty="0">
                <a:latin typeface="Consolas"/>
              </a:rPr>
              <a:t>Menu</a:t>
            </a:r>
            <a:r>
              <a:rPr lang="id-ID" dirty="0"/>
              <a:t>; hubungan antarkelas baru kita bangun di Pertemuan 05. Notasi lengkap diagram kelas dibahas di Pertemuan 06.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memetakan setiap perubahan KedaiKita ke konsep yang baru kita pelajari. Perhatikan baris terakhir. Python boleh punya fungsi di luar kelas, jadi cukup menulis </a:t>
            </a:r>
            <a:r>
              <a:rPr lang="en-US" dirty="0">
                <a:latin typeface="Consolas"/>
              </a:rPr>
              <a:t>format_rupiah()</a:t>
            </a:r>
            <a:r>
              <a:rPr lang="id-ID" dirty="0"/>
              <a:t>. Java mewajibkan setiap </a:t>
            </a:r>
            <a:r>
              <a:rPr lang="id-ID" dirty="0" i="1"/>
              <a:t>method</a:t>
            </a:r>
            <a:r>
              <a:rPr lang="id-ID" dirty="0"/>
              <a:t> berada di dalam kelas, jadi kita membuat kelas utilitas </a:t>
            </a:r>
            <a:r>
              <a:rPr lang="en-US" dirty="0">
                <a:latin typeface="Consolas"/>
              </a:rPr>
              <a:t>Rupiah</a:t>
            </a:r>
            <a:r>
              <a:rPr lang="id-ID" dirty="0"/>
              <a:t>, yaitu kelas yang hanya berisi </a:t>
            </a:r>
            <a:r>
              <a:rPr lang="id-ID" dirty="0" i="1"/>
              <a:t>method</a:t>
            </a:r>
            <a:r>
              <a:rPr lang="id-ID" dirty="0"/>
              <a:t> milik kelas, seperti kotak perkakas yang bisa dipakai tanpa membuat objek. Satu lagi: di Java, Mie Goreng Jawa dibuat dengan konstruktor empat parameter yang meneruskan stok 0 lewat </a:t>
            </a:r>
            <a:r>
              <a:rPr lang="en-US" dirty="0">
                <a:latin typeface="Consolas"/>
              </a:rPr>
              <a:t>this(...)</a:t>
            </a:r>
            <a:r>
              <a:rPr lang="id-ID" dirty="0"/>
              <a:t>. Alasan lengkapnya ada di halaman Jembatan Python ↔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potongan kelas </a:t>
            </a:r>
            <a:r>
              <a:rPr lang="en-US" dirty="0">
                <a:latin typeface="Consolas"/>
              </a:rPr>
              <a:t>Menu</a:t>
            </a:r>
            <a:r>
              <a:rPr lang="id-ID" dirty="0"/>
              <a:t> di kedua bahasa. Atribut kelas </a:t>
            </a:r>
            <a:r>
              <a:rPr lang="en-US" dirty="0">
                <a:latin typeface="Consolas"/>
              </a:rPr>
              <a:t>jumlah_menu</a:t>
            </a:r>
            <a:r>
              <a:rPr lang="id-ID" dirty="0"/>
              <a:t> bertambah setiap kali konstruktor berjalan, jadi setelah empat menu dibuat nilainya 4. </a:t>
            </a:r>
            <a:r>
              <a:rPr lang="en-US" dirty="0">
                <a:latin typeface="Consolas"/>
              </a:rPr>
              <a:t>harga_setelah_diskon(10)</a:t>
            </a:r>
            <a:r>
              <a:rPr lang="id-ID" dirty="0"/>
              <a:t> menghitung potongan dengan bilangan bulat: 18000 kali 10 dibagi 100 sama dengan 1800, sehingga harga promo kopi menjadi 16200. Uang tidak pernah memakai bilangan desimal. </a:t>
            </a:r>
            <a:r>
              <a:rPr lang="en-US" dirty="0">
                <a:latin typeface="Consolas"/>
              </a:rPr>
              <a:t>stok_cukup(jumlah)</a:t>
            </a:r>
            <a:r>
              <a:rPr lang="id-ID" dirty="0"/>
              <a:t> mengembalikan </a:t>
            </a:r>
            <a:r>
              <a:rPr lang="id-ID" dirty="0" i="1"/>
              <a:t>boolean</a:t>
            </a:r>
            <a:r>
              <a:rPr lang="id-ID" dirty="0"/>
              <a:t> dan langsung dipakai di </a:t>
            </a:r>
            <a:r>
              <a:rPr lang="en-US" dirty="0">
                <a:latin typeface="Consolas"/>
              </a:rPr>
              <a:t>if</a:t>
            </a:r>
            <a:r>
              <a:rPr lang="id-ID" dirty="0"/>
              <a:t>. Mie Goreng Jawa stoknya 0, jadi jawabannya "Stok tidak cukup". </a:t>
            </a:r>
            <a:r>
              <a:rPr lang="id-ID" dirty="0" i="1"/>
              <a:t>Output</a:t>
            </a:r>
            <a:r>
              <a:rPr lang="id-ID" dirty="0"/>
              <a:t> program studi kasus ini sama persis untuk versi Python dan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sering muncul. Ajak kelas menebak dulu: mengapa anggapan di kiri salah? Untuk butir ketiga, ada percobaan menarik di halaman praktik: fungsi </a:t>
            </a:r>
            <a:r>
              <a:rPr lang="en-US" dirty="0">
                <a:latin typeface="Consolas"/>
              </a:rPr>
              <a:t>ganti_dompet()</a:t>
            </a:r>
            <a:r>
              <a:rPr lang="id-ID" dirty="0"/>
              <a:t> yang mengisi parameternya dengan objek baru sama sekali tidak mengubah saldo Siti. Tiga miskonsepsi lain, yaitu atribut kelas dianggap sama dengan atribut objek, mencetak objek dianggap otomatis menampilkan semua atribut, dan </a:t>
            </a:r>
            <a:r>
              <a:rPr lang="en-US" dirty="0">
                <a:latin typeface="Consolas"/>
              </a:rPr>
              <a:t>b = a</a:t>
            </a:r>
            <a:r>
              <a:rPr lang="id-ID" dirty="0"/>
              <a:t> dianggap menyalin objek, dibahas di bagian 11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Petunjuknya: ingat lagi analogi buku catatan dan papan pengumuman. Data mana yang menggambarkan seluruh kelas, bukan satu orang? Jawaban dan pembahasannya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Jumlah seluruh mahasiswa menggambarkan </a:t>
            </a:r>
            <a:r>
              <a:rPr lang="id-ID" dirty="0" b="1"/>
              <a:t>semua</a:t>
            </a:r>
            <a:r>
              <a:rPr lang="id-ID" dirty="0"/>
              <a:t> objek sekaligus, bukan milik satu mahasiswa tertentu, jadi cocok menjadi atribut kelas (Java: </a:t>
            </a:r>
            <a:r>
              <a:rPr lang="en-US" dirty="0">
                <a:latin typeface="Consolas"/>
              </a:rPr>
              <a:t>static</a:t>
            </a:r>
            <a:r>
              <a:rPr lang="id-ID" dirty="0"/>
              <a:t>). NIM, nama, dan IPK berbeda untuk setiap mahasiswa sehingga tetap menjadi atribut objek. Jika NIM dijadikan atribut kelas, semua mahasiswa akan berbagi satu NIM yang 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pemahaman referensi. Versi Java-nya sama artinya: </a:t>
            </a:r>
            <a:r>
              <a:rPr lang="en-US" dirty="0">
                <a:latin typeface="Consolas"/>
              </a:rPr>
              <a:t>Ponsel b = a;</a:t>
            </a:r>
            <a:r>
              <a:rPr lang="id-ID" dirty="0"/>
              <a:t>, lalu </a:t>
            </a:r>
            <a:r>
              <a:rPr lang="en-US" dirty="0">
                <a:latin typeface="Consolas"/>
              </a:rPr>
              <a:t>b.pakai(30);</a:t>
            </a:r>
            <a:r>
              <a:rPr lang="id-ID" dirty="0"/>
              <a:t>, lalu mencetak </a:t>
            </a:r>
            <a:r>
              <a:rPr lang="en-US" dirty="0">
                <a:latin typeface="Consolas"/>
              </a:rPr>
              <a:t>a.baterai</a:t>
            </a:r>
            <a:r>
              <a:rPr lang="id-ID" dirty="0"/>
              <a:t>. Sarankan mahasiswa menggambar dua label dan satu objek di kertas sebelum menjawab. Jawabannya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a:t>
            </a:r>
            <a:r>
              <a:rPr lang="en-US" dirty="0">
                <a:latin typeface="Consolas"/>
              </a:rPr>
              <a:t>b = a</a:t>
            </a:r>
            <a:r>
              <a:rPr lang="id-ID" dirty="0"/>
              <a:t> tidak membuat ponsel baru; </a:t>
            </a:r>
            <a:r>
              <a:rPr lang="en-US" dirty="0">
                <a:latin typeface="Consolas"/>
              </a:rPr>
              <a:t>a</a:t>
            </a:r>
            <a:r>
              <a:rPr lang="id-ID" dirty="0"/>
              <a:t> dan </a:t>
            </a:r>
            <a:r>
              <a:rPr lang="en-US" dirty="0">
                <a:latin typeface="Consolas"/>
              </a:rPr>
              <a:t>b</a:t>
            </a:r>
            <a:r>
              <a:rPr lang="id-ID" dirty="0"/>
              <a:t> menunjuk </a:t>
            </a:r>
            <a:r>
              <a:rPr lang="id-ID" dirty="0" b="1"/>
              <a:t>objek yang sama</a:t>
            </a:r>
            <a:r>
              <a:rPr lang="id-ID" dirty="0"/>
              <a:t> (</a:t>
            </a:r>
            <a:r>
              <a:rPr lang="id-ID" dirty="0" i="1"/>
              <a:t>aliasing</a:t>
            </a:r>
            <a:r>
              <a:rPr lang="id-ID" dirty="0"/>
              <a:t>). Memakai 30% lewat </a:t>
            </a:r>
            <a:r>
              <a:rPr lang="en-US" dirty="0">
                <a:latin typeface="Consolas"/>
              </a:rPr>
              <a:t>b</a:t>
            </a:r>
            <a:r>
              <a:rPr lang="id-ID" dirty="0"/>
              <a:t> mengurangi baterai objek itu, jadi dilihat lewat </a:t>
            </a:r>
            <a:r>
              <a:rPr lang="en-US" dirty="0">
                <a:latin typeface="Consolas"/>
              </a:rPr>
              <a:t>a</a:t>
            </a:r>
            <a:r>
              <a:rPr lang="id-ID" dirty="0"/>
              <a:t> pun hasilnya 50. Pilihan A adalah miskonsepsi "</a:t>
            </a:r>
            <a:r>
              <a:rPr lang="en-US" dirty="0">
                <a:latin typeface="Consolas"/>
              </a:rPr>
              <a:t>b = a</a:t>
            </a:r>
            <a:r>
              <a:rPr lang="id-ID" dirty="0"/>
              <a:t> membuat salinan", C adalah baterai yang dipakai, dan D muncul jika </a:t>
            </a:r>
            <a:r>
              <a:rPr lang="en-US" dirty="0">
                <a:latin typeface="Consolas"/>
              </a:rPr>
              <a:t>pakai()</a:t>
            </a:r>
            <a:r>
              <a:rPr lang="id-ID" dirty="0"/>
              <a:t> dikira menambah baterai.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Kalau ada yang masih terasa samar, baca lagi bagian yang sesuai di halaman konsep, lalu jalankan contohnya di halaman praktik. Masih ada satu celah di KedaiKita versi ini: siapa pun bisa menulis </a:t>
            </a:r>
            <a:r>
              <a:rPr lang="en-US" dirty="0">
                <a:latin typeface="Consolas"/>
              </a:rPr>
              <a:t>kopi.harga = -5000</a:t>
            </a:r>
            <a:r>
              <a:rPr lang="id-ID" dirty="0"/>
              <a:t> atau mengubah stok sesukanya, dan program diam saja. Di Pertemuan 04 tentang enkapsulasi, kita belajar cara melindungi data seperti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Pertemuan-03-Atribut-dan-Method di GitHub. Mulailah dari halaman praktik sesuai jalurmu, Python atau Java, lalu baca halaman Jembatan Python ↔ Java untuk melihat perbedaan kedua bahasa. Simpan semua percobaanmu di folder PBO-latihan-saya/pertemuan-03, bukan di folder materi, agar tidak tertimpa saat materi diperbarui. Sampai jumpa di Pertemuan 04.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03 · Atribut dan </a:t>
            </a:r>
            <a:r>
              <a:rPr lang="en-US" sz="1100" dirty="0" i="1">
                <a:solidFill>
                  <a:srgbClr val="9FB3C8"/>
                </a:solidFill>
              </a:rPr>
              <a:t>Method</a:t>
            </a:r>
            <a:r>
              <a:rPr lang="en-US" sz="1100" dirty="0">
                <a:solidFill>
                  <a:srgbClr val="9FB3C8"/>
                </a:solidFill>
              </a:rPr>
              <a:t> Lebih Dalam</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03 · Atribut dan </a:t>
            </a:r>
            <a:r>
              <a:rPr lang="en-US" sz="1100" dirty="0" i="1">
                <a:solidFill>
                  <a:srgbClr val="57606A"/>
                </a:solidFill>
              </a:rPr>
              <a:t>Method</a:t>
            </a:r>
            <a:r>
              <a:rPr lang="en-US" sz="1100" dirty="0">
                <a:solidFill>
                  <a:srgbClr val="57606A"/>
                </a:solidFill>
              </a:rPr>
              <a:t> Lebih Dalam</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03 · Atribut dan </a:t>
            </a:r>
            <a:r>
              <a:rPr lang="en-US" sz="1100" dirty="0" i="1">
                <a:solidFill>
                  <a:srgbClr val="9FB3C8"/>
                </a:solidFill>
              </a:rPr>
              <a:t>Method</a:t>
            </a:r>
            <a:r>
              <a:rPr lang="en-US" sz="1100" dirty="0">
                <a:solidFill>
                  <a:srgbClr val="9FB3C8"/>
                </a:solidFill>
              </a:rPr>
              <a:t> Lebih Dalam</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2.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1-2.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1-2.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03-Atribut-dan-Method/README.md" TargetMode="External"/><Relationship Id="rId5" Type="http://schemas.openxmlformats.org/officeDocument/2006/relationships/hyperlink" Target="https://github.com/antonprafanto/PBO2026/blob/master/Pertemuan-03-Atribut-dan-Method/python/README.md" TargetMode="External"/><Relationship Id="rId7" Type="http://schemas.openxmlformats.org/officeDocument/2006/relationships/hyperlink" Target="https://github.com/antonprafanto/PBO2026/blob/master/Pertemuan-03-Atribut-dan-Method/java/README.md" TargetMode="External"/><Relationship Id="rId9" Type="http://schemas.openxmlformats.org/officeDocument/2006/relationships/hyperlink" Target="https://github.com/antonprafanto/PBO2026/blob/master/Pertemuan-03-Atribut-dan-Method/jembatan-python-java.md" TargetMode="External"/><Relationship Id="rId11" Type="http://schemas.openxmlformats.org/officeDocument/2006/relationships/hyperlink" Target="https://github.com/antonprafanto/PBO2026/blob/master/Pertemuan-03-Atribut-dan-Method/latihan.md" TargetMode="External"/><Relationship Id="rId13" Type="http://schemas.openxmlformats.org/officeDocument/2006/relationships/hyperlink" Target="https://github.com/antonprafanto/PBO2026/blob/master/Pertemuan-03-Atribut-dan-Method/kuis.md" TargetMode="External"/><Relationship Id="rId15" Type="http://schemas.openxmlformats.org/officeDocument/2006/relationships/hyperlink" Target="https://github.com/antonprafanto/PBO2026/tree/master/Pertemuan-03-Atribut-dan-Method"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000" b="1" dirty="0">
                <a:solidFill>
                  <a:srgbClr val="FFFFFF"/>
                </a:solidFill>
              </a:rPr>
              <a:t>Atribut dan </a:t>
            </a:r>
            <a:r>
              <a:rPr lang="id-ID" altLang="en-US" sz="4000" b="1" i="1" dirty="0">
                <a:solidFill>
                  <a:srgbClr val="FFFFFF"/>
                </a:solidFill>
              </a:rPr>
              <a:t>Method</a:t>
            </a:r>
            <a:r>
              <a:rPr lang="id-ID" altLang="en-US" sz="4000" b="1" dirty="0">
                <a:solidFill>
                  <a:srgbClr val="FFFFFF"/>
                </a:solidFill>
              </a:rPr>
              <a:t> Lebih Dalam</a:t>
            </a:r>
            <a:endParaRPr lang="id-ID" sz="4000" dirty="0"/>
          </a:p>
        </p:txBody>
      </p:sp>
      <p:sp>
        <p:nvSpPr>
          <p:cNvPr id="4" name="Text 2"/>
          <p:cNvSpPr txBox="1"/>
          <p:nvPr/>
        </p:nvSpPr>
        <p:spPr>
          <a:xfrm>
            <a:off x="731520" y="2651760"/>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Data milik bersama, </a:t>
            </a:r>
            <a:r>
              <a:rPr lang="id-ID" altLang="en-US" sz="2200" i="1" dirty="0">
                <a:solidFill>
                  <a:srgbClr val="C9D7E8"/>
                </a:solidFill>
              </a:rPr>
              <a:t>method</a:t>
            </a:r>
            <a:r>
              <a:rPr lang="id-ID" altLang="en-US" sz="2200" dirty="0">
                <a:solidFill>
                  <a:srgbClr val="C9D7E8"/>
                </a:solidFill>
              </a:rPr>
              <a:t> tanpa objek, konstruktor luwes, dan apa yang sebenarnya disimpan variabel</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03</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Membedakan </a:t>
            </a:r>
            <a:r>
              <a:rPr lang="id-ID" altLang="en-US" sz="2000" b="1" dirty="0">
                <a:solidFill>
                  <a:srgbClr val="1F2328"/>
                </a:solidFill>
              </a:rPr>
              <a:t>atribut objek</a:t>
            </a:r>
            <a:r>
              <a:rPr lang="id-ID" altLang="en-US" sz="2000" dirty="0">
                <a:solidFill>
                  <a:srgbClr val="1F2328"/>
                </a:solidFill>
              </a:rPr>
              <a:t> dan </a:t>
            </a:r>
            <a:r>
              <a:rPr lang="id-ID" altLang="en-US" sz="2000" b="1" dirty="0">
                <a:solidFill>
                  <a:srgbClr val="1F2328"/>
                </a:solidFill>
              </a:rPr>
              <a:t>atribut kelas</a:t>
            </a:r>
            <a:r>
              <a:rPr lang="id-ID" altLang="en-US" sz="2000" dirty="0">
                <a:solidFill>
                  <a:srgbClr val="1F2328"/>
                </a:solidFill>
              </a:rPr>
              <a:t>, lalu menentukan data mana yang cocok menjadi milik bersama.</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Membedakan </a:t>
            </a:r>
            <a:r>
              <a:rPr lang="id-ID" altLang="en-US" sz="2000" i="1" dirty="0">
                <a:solidFill>
                  <a:srgbClr val="1F2328"/>
                </a:solidFill>
              </a:rPr>
              <a:t>method</a:t>
            </a:r>
            <a:r>
              <a:rPr lang="id-ID" altLang="en-US" sz="2000" dirty="0">
                <a:solidFill>
                  <a:srgbClr val="1F2328"/>
                </a:solidFill>
              </a:rPr>
              <a:t> objek dan </a:t>
            </a:r>
            <a:r>
              <a:rPr lang="id-ID" altLang="en-US" sz="2000" i="1" dirty="0">
                <a:solidFill>
                  <a:srgbClr val="1F2328"/>
                </a:solidFill>
              </a:rPr>
              <a:t>method</a:t>
            </a:r>
            <a:r>
              <a:rPr lang="id-ID" altLang="en-US" sz="2000" dirty="0">
                <a:solidFill>
                  <a:srgbClr val="1F2328"/>
                </a:solidFill>
              </a:rPr>
              <a:t> milik kelas (</a:t>
            </a:r>
            <a:r>
              <a:rPr lang="id-ID" altLang="en-US" sz="2000" i="1" dirty="0">
                <a:solidFill>
                  <a:srgbClr val="1F2328"/>
                </a:solidFill>
              </a:rPr>
              <a:t>static method</a:t>
            </a:r>
            <a:r>
              <a:rPr lang="id-ID" altLang="en-US" sz="2000" dirty="0">
                <a:solidFill>
                  <a:srgbClr val="1F2328"/>
                </a:solidFill>
              </a:rPr>
              <a:t>), termasuk kegunaan </a:t>
            </a:r>
            <a:r>
              <a:rPr lang="id-ID" altLang="en-US" sz="2000" b="1" dirty="0">
                <a:solidFill>
                  <a:srgbClr val="1F2328"/>
                </a:solidFill>
              </a:rPr>
              <a:t>konstruktor alternatif</a:t>
            </a:r>
            <a:r>
              <a:rPr lang="id-ID" altLang="en-US" sz="2000" dirty="0">
                <a:solidFill>
                  <a:srgbClr val="1F2328"/>
                </a:solidFill>
              </a:rPr>
              <a:t>.</a:t>
            </a:r>
            <a:endParaRPr lang="id-ID" sz="2000" dirty="0"/>
          </a:p>
        </p:txBody>
      </p:sp>
      <p:sp>
        <p:nvSpPr>
          <p:cNvPr id="14" name="Shape 11"/>
          <p:cNvSpPr/>
          <p:nvPr/>
        </p:nvSpPr>
        <p:spPr>
          <a:xfrm>
            <a:off x="548640" y="3361944"/>
            <a:ext cx="5432908" cy="1258824"/>
          </a:xfrm>
          <a:prstGeom prst="roundRect">
            <a:avLst>
              <a:gd name="adj" fmla="val 6332"/>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Membuat konstruktor yang luwes dengan </a:t>
            </a:r>
            <a:r>
              <a:rPr lang="id-ID" altLang="en-US" sz="2000" b="1" dirty="0">
                <a:solidFill>
                  <a:srgbClr val="1F2328"/>
                </a:solidFill>
              </a:rPr>
              <a:t>nilai bawaan</a:t>
            </a:r>
            <a:r>
              <a:rPr lang="id-ID" altLang="en-US" sz="2000" dirty="0">
                <a:solidFill>
                  <a:srgbClr val="1F2328"/>
                </a:solidFill>
              </a:rPr>
              <a:t> (Python) atau </a:t>
            </a:r>
            <a:r>
              <a:rPr lang="id-ID" altLang="en-US" sz="2000" b="1" i="1" dirty="0">
                <a:solidFill>
                  <a:srgbClr val="1F2328"/>
                </a:solidFill>
              </a:rPr>
              <a:t>overloading</a:t>
            </a:r>
            <a:r>
              <a:rPr lang="id-ID" altLang="en-US" sz="2000" dirty="0">
                <a:solidFill>
                  <a:srgbClr val="1F2328"/>
                </a:solidFill>
              </a:rPr>
              <a:t> (Java).</a:t>
            </a:r>
            <a:endParaRPr lang="id-ID" sz="2000" dirty="0"/>
          </a:p>
        </p:txBody>
      </p:sp>
      <p:sp>
        <p:nvSpPr>
          <p:cNvPr id="18" name="Shape 15"/>
          <p:cNvSpPr/>
          <p:nvPr/>
        </p:nvSpPr>
        <p:spPr>
          <a:xfrm>
            <a:off x="6210148" y="3361944"/>
            <a:ext cx="5432908" cy="1258824"/>
          </a:xfrm>
          <a:prstGeom prst="roundRect">
            <a:avLst>
              <a:gd name="adj" fmla="val 6332"/>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Membuat </a:t>
            </a:r>
            <a:r>
              <a:rPr lang="id-ID" altLang="en-US" sz="2000" b="1" dirty="0">
                <a:solidFill>
                  <a:srgbClr val="1F2328"/>
                </a:solidFill>
              </a:rPr>
              <a:t>representasi teks</a:t>
            </a:r>
            <a:r>
              <a:rPr lang="id-ID" altLang="en-US" sz="2000" dirty="0">
                <a:solidFill>
                  <a:srgbClr val="1F2328"/>
                </a:solidFill>
              </a:rPr>
              <a:t> sebuah objek dan </a:t>
            </a:r>
            <a:r>
              <a:rPr lang="id-ID" altLang="en-US" sz="2000" b="1" i="1" dirty="0">
                <a:solidFill>
                  <a:srgbClr val="1F2328"/>
                </a:solidFill>
              </a:rPr>
              <a:t>method boolean</a:t>
            </a:r>
            <a:r>
              <a:rPr lang="id-ID" altLang="en-US" sz="2000" dirty="0">
                <a:solidFill>
                  <a:srgbClr val="1F2328"/>
                </a:solidFill>
              </a:rPr>
              <a:t> dengan nama yang mudah dibaca.</a:t>
            </a:r>
            <a:endParaRPr lang="id-ID" sz="2000" dirty="0"/>
          </a:p>
        </p:txBody>
      </p:sp>
      <p:sp>
        <p:nvSpPr>
          <p:cNvPr id="22" name="Shape 19"/>
          <p:cNvSpPr/>
          <p:nvPr/>
        </p:nvSpPr>
        <p:spPr>
          <a:xfrm>
            <a:off x="548640" y="480364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968240"/>
            <a:ext cx="457200" cy="457200"/>
          </a:xfrm>
          <a:prstGeom prst="ellipse">
            <a:avLst/>
          </a:prstGeom>
          <a:solidFill>
            <a:srgbClr val="0969DA"/>
          </a:solidFill>
          <a:ln/>
        </p:spPr>
      </p:sp>
      <p:sp>
        <p:nvSpPr>
          <p:cNvPr id="24" name="Text 21"/>
          <p:cNvSpPr txBox="1"/>
          <p:nvPr/>
        </p:nvSpPr>
        <p:spPr>
          <a:xfrm>
            <a:off x="777240"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bahwa variabel menyimpan </a:t>
            </a:r>
            <a:r>
              <a:rPr lang="id-ID" altLang="en-US" sz="2000" b="1" dirty="0">
                <a:solidFill>
                  <a:srgbClr val="1F2328"/>
                </a:solidFill>
              </a:rPr>
              <a:t>referensi</a:t>
            </a:r>
            <a:r>
              <a:rPr lang="id-ID" altLang="en-US" sz="2000" dirty="0">
                <a:solidFill>
                  <a:srgbClr val="1F2328"/>
                </a:solidFill>
              </a:rPr>
              <a:t>, lalu memprediksi akibat </a:t>
            </a:r>
            <a:r>
              <a:rPr lang="id-ID" altLang="en-US" sz="2000" b="1" i="1" dirty="0">
                <a:solidFill>
                  <a:srgbClr val="1F2328"/>
                </a:solidFill>
              </a:rPr>
              <a:t>aliasing</a:t>
            </a:r>
            <a:r>
              <a:rPr lang="id-ID" altLang="en-US" sz="2000" dirty="0">
                <a:solidFill>
                  <a:srgbClr val="1F2328"/>
                </a:solidFill>
              </a:rPr>
              <a:t> dan nilai kosong (</a:t>
            </a:r>
            <a:r>
              <a:rPr lang="id-ID" altLang="en-US" sz="2000" dirty="0">
                <a:solidFill>
                  <a:srgbClr val="1F2328"/>
                </a:solidFill>
                <a:latin typeface="Consolas" pitchFamily="34" charset="0"/>
                <a:ea typeface="Consolas" pitchFamily="34" charset="-122"/>
                <a:cs typeface="Consolas" pitchFamily="34" charset="-120"/>
              </a:rPr>
              <a:t>None</a:t>
            </a:r>
            <a:r>
              <a:rPr lang="id-ID" altLang="en-US" sz="2000" dirty="0">
                <a:solidFill>
                  <a:srgbClr val="1F2328"/>
                </a:solidFill>
              </a:rPr>
              <a:t>/</a:t>
            </a:r>
            <a:r>
              <a:rPr lang="id-ID" altLang="en-US" sz="2000" dirty="0">
                <a:solidFill>
                  <a:srgbClr val="1F2328"/>
                </a:solidFill>
                <a:latin typeface="Consolas" pitchFamily="34" charset="0"/>
                <a:ea typeface="Consolas" pitchFamily="34" charset="-122"/>
                <a:cs typeface="Consolas" pitchFamily="34" charset="-120"/>
              </a:rPr>
              <a:t>null</a:t>
            </a:r>
            <a:r>
              <a:rPr lang="id-ID" altLang="en-US" sz="2000" dirty="0">
                <a:solidFill>
                  <a:srgbClr val="1F2328"/>
                </a:solidFill>
              </a:rPr>
              <a:t>).</a:t>
            </a:r>
            <a:endParaRPr lang="id-ID" sz="2000" dirty="0"/>
          </a:p>
        </p:txBody>
      </p:sp>
      <p:sp>
        <p:nvSpPr>
          <p:cNvPr id="26" name="Shape 23"/>
          <p:cNvSpPr/>
          <p:nvPr/>
        </p:nvSpPr>
        <p:spPr>
          <a:xfrm>
            <a:off x="6210148" y="4803648"/>
            <a:ext cx="5432908" cy="1258824"/>
          </a:xfrm>
          <a:prstGeom prst="roundRect">
            <a:avLst>
              <a:gd name="adj" fmla="val 6332"/>
            </a:avLst>
          </a:prstGeom>
          <a:solidFill>
            <a:srgbClr val="F6F8FA"/>
          </a:solidFill>
          <a:ln w="9525">
            <a:solidFill>
              <a:srgbClr val="D0D7DE"/>
            </a:solidFill>
            <a:prstDash val="solid"/>
          </a:ln>
        </p:spPr>
      </p:sp>
      <p:sp>
        <p:nvSpPr>
          <p:cNvPr id="27" name="Shape 24"/>
          <p:cNvSpPr/>
          <p:nvPr/>
        </p:nvSpPr>
        <p:spPr>
          <a:xfrm>
            <a:off x="6438748" y="4968240"/>
            <a:ext cx="457200" cy="457200"/>
          </a:xfrm>
          <a:prstGeom prst="ellipse">
            <a:avLst/>
          </a:prstGeom>
          <a:solidFill>
            <a:srgbClr val="0969DA"/>
          </a:solidFill>
          <a:ln/>
        </p:spPr>
      </p:sp>
      <p:sp>
        <p:nvSpPr>
          <p:cNvPr id="28" name="Text 25"/>
          <p:cNvSpPr txBox="1"/>
          <p:nvPr/>
        </p:nvSpPr>
        <p:spPr>
          <a:xfrm>
            <a:off x="6438748"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Memakai objek sebagai </a:t>
            </a:r>
            <a:r>
              <a:rPr lang="id-ID" altLang="en-US" sz="2000" b="1" dirty="0">
                <a:solidFill>
                  <a:srgbClr val="1F2328"/>
                </a:solidFill>
              </a:rPr>
              <a:t>parameter</a:t>
            </a:r>
            <a:r>
              <a:rPr lang="id-ID" altLang="en-US" sz="2000" dirty="0">
                <a:solidFill>
                  <a:srgbClr val="1F2328"/>
                </a:solidFill>
              </a:rPr>
              <a:t> dan sebagai </a:t>
            </a:r>
            <a:r>
              <a:rPr lang="id-ID" altLang="en-US" sz="2000" b="1" dirty="0">
                <a:solidFill>
                  <a:srgbClr val="1F2328"/>
                </a:solidFill>
              </a:rPr>
              <a:t>nilai kembalian</a:t>
            </a:r>
            <a:r>
              <a:rPr lang="id-ID" altLang="en-US" sz="2000" dirty="0">
                <a:solidFill>
                  <a:srgbClr val="1F2328"/>
                </a:solidFill>
              </a:rPr>
              <a:t> sebuah </a:t>
            </a:r>
            <a:r>
              <a:rPr lang="id-ID" altLang="en-US" sz="2000" i="1" dirty="0">
                <a:solidFill>
                  <a:srgbClr val="1F2328"/>
                </a:solidFill>
              </a:rPr>
              <a:t>method</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Kelas</a:t>
            </a:r>
            <a:r>
              <a:rPr lang="id-ID" altLang="en-US" sz="2400" dirty="0">
                <a:solidFill>
                  <a:srgbClr val="1F2328"/>
                </a:solidFill>
              </a:rPr>
              <a:t> adalah cetak biru, sedangkan </a:t>
            </a:r>
            <a:r>
              <a:rPr lang="id-ID" altLang="en-US" sz="2400" b="1" dirty="0">
                <a:solidFill>
                  <a:srgbClr val="1F2328"/>
                </a:solidFill>
              </a:rPr>
              <a:t>objek</a:t>
            </a:r>
            <a:r>
              <a:rPr lang="id-ID" altLang="en-US" sz="2400" dirty="0">
                <a:solidFill>
                  <a:srgbClr val="1F2328"/>
                </a:solidFill>
              </a:rPr>
              <a:t> adalah wujud nyatanya. Satu kelas bisa menghasilkan banyak objek.</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Konstruktor</a:t>
            </a:r>
            <a:r>
              <a:rPr lang="id-ID" altLang="en-US" sz="2400" dirty="0">
                <a:solidFill>
                  <a:srgbClr val="1F2328"/>
                </a:solidFill>
              </a:rPr>
              <a:t> berjalan otomatis saat objek dibuat dan mengisi nilai awal atributnya.</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Setiap objek menyimpan atributnya sendiri. Menaikkan harga es teh tidak mengubah harga kopi.</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Variabel hanyalah “label” yang menunjuk ke objek. Waktu itu baru disinggung; hari ini kita bahas tuntas.</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Atribut objek dan atribut kelas</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Method</a:t>
            </a:r>
            <a:r>
              <a:rPr lang="id-ID" altLang="en-US" sz="2200" dirty="0">
                <a:solidFill>
                  <a:srgbClr val="1F2328"/>
                </a:solidFill>
              </a:rPr>
              <a:t> milik kelas dan konstruktor yang luwes</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Objek yang bisa memperkenalkan diri</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Variabel menyimpan referensi</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Atribut Objek dan Atribut Kelas</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Data milik setiap objek dan data milik bersama.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Buku Catatan dan Papan Pengumuman</a:t>
            </a:r>
            <a:endParaRPr lang="id-ID" sz="3200" dirty="0"/>
          </a:p>
        </p:txBody>
      </p:sp>
      <p:sp>
        <p:nvSpPr>
          <p:cNvPr id="5" name="Shape 2"/>
          <p:cNvSpPr/>
          <p:nvPr/>
        </p:nvSpPr>
        <p:spPr>
          <a:xfrm>
            <a:off x="548640" y="1745681"/>
            <a:ext cx="5074920" cy="4000500"/>
          </a:xfrm>
          <a:prstGeom prst="roundRect">
            <a:avLst>
              <a:gd name="adj" fmla="val 836"/>
            </a:avLst>
          </a:prstGeom>
          <a:solidFill>
            <a:srgbClr val="FFF8C5"/>
          </a:solidFill>
          <a:ln w="9525">
            <a:solidFill>
              <a:srgbClr val="D4A72C"/>
            </a:solidFill>
            <a:prstDash val="solid"/>
          </a:ln>
        </p:spPr>
      </p:sp>
      <p:sp>
        <p:nvSpPr>
          <p:cNvPr id="6" name="Shape 3"/>
          <p:cNvSpPr/>
          <p:nvPr/>
        </p:nvSpPr>
        <p:spPr>
          <a:xfrm>
            <a:off x="822960" y="1974281"/>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2074865"/>
            <a:ext cx="256032" cy="256032"/>
          </a:xfrm>
          <a:prstGeom prst="rect">
            <a:avLst/>
          </a:prstGeom>
        </p:spPr>
      </p:pic>
      <p:sp>
        <p:nvSpPr>
          <p:cNvPr id="8" name="Text 4"/>
          <p:cNvSpPr txBox="1"/>
          <p:nvPr/>
        </p:nvSpPr>
        <p:spPr>
          <a:xfrm>
            <a:off x="1417320" y="2020001"/>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685227"/>
            <a:ext cx="137160" cy="137160"/>
          </a:xfrm>
          <a:prstGeom prst="roundRect">
            <a:avLst>
              <a:gd name="adj" fmla="val 166667"/>
            </a:avLst>
          </a:prstGeom>
          <a:solidFill>
            <a:srgbClr val="9A6700"/>
          </a:solidFill>
          <a:ln/>
        </p:spPr>
      </p:sp>
      <p:sp>
        <p:nvSpPr>
          <p:cNvPr id="10" name="Text 6"/>
          <p:cNvSpPr txBox="1"/>
          <p:nvPr/>
        </p:nvSpPr>
        <p:spPr>
          <a:xfrm>
            <a:off x="1252728" y="2614361"/>
            <a:ext cx="3867912" cy="882396"/>
          </a:xfrm>
          <a:prstGeom prst="rect">
            <a:avLst/>
          </a:prstGeom>
          <a:noFill/>
          <a:ln/>
        </p:spPr>
        <p:txBody>
          <a:bodyPr wrap="square" lIns="0" tIns="0" rIns="0" bIns="0" rtlCol="0" anchor="t"/>
          <a:lstStyle/>
          <a:p>
            <a:pPr indent="0" marL="0">
              <a:buNone/>
            </a:pPr>
            <a:r>
              <a:rPr lang="id-ID" altLang="en-US" sz="1800" dirty="0">
                <a:solidFill>
                  <a:srgbClr val="1F2328"/>
                </a:solidFill>
              </a:rPr>
              <a:t>Setiap mahasiswa membawa </a:t>
            </a:r>
            <a:r>
              <a:rPr lang="id-ID" altLang="en-US" sz="1800" b="1" dirty="0">
                <a:solidFill>
                  <a:srgbClr val="1F2328"/>
                </a:solidFill>
              </a:rPr>
              <a:t>buku catatan</a:t>
            </a:r>
            <a:r>
              <a:rPr lang="id-ID" altLang="en-US" sz="1800" dirty="0">
                <a:solidFill>
                  <a:srgbClr val="1F2328"/>
                </a:solidFill>
              </a:rPr>
              <a:t> sendiri. Ayu mencoret bukunya, buku Bima </a:t>
            </a:r>
            <a:r>
              <a:rPr lang="id-ID" altLang="en-US" sz="1800" b="1" dirty="0">
                <a:solidFill>
                  <a:srgbClr val="1F2328"/>
                </a:solidFill>
              </a:rPr>
              <a:t>tidak</a:t>
            </a:r>
            <a:r>
              <a:rPr lang="id-ID" altLang="en-US" sz="1800" dirty="0">
                <a:solidFill>
                  <a:srgbClr val="1F2328"/>
                </a:solidFill>
              </a:rPr>
              <a:t> ikut tercoret.</a:t>
            </a:r>
            <a:endParaRPr lang="id-ID" sz="1800" dirty="0"/>
          </a:p>
        </p:txBody>
      </p:sp>
      <p:sp>
        <p:nvSpPr>
          <p:cNvPr id="11" name="Shape 7"/>
          <p:cNvSpPr/>
          <p:nvPr/>
        </p:nvSpPr>
        <p:spPr>
          <a:xfrm>
            <a:off x="923544" y="3741359"/>
            <a:ext cx="137160" cy="137160"/>
          </a:xfrm>
          <a:prstGeom prst="roundRect">
            <a:avLst>
              <a:gd name="adj" fmla="val 166667"/>
            </a:avLst>
          </a:prstGeom>
          <a:solidFill>
            <a:srgbClr val="9A6700"/>
          </a:solidFill>
          <a:ln/>
        </p:spPr>
      </p:sp>
      <p:sp>
        <p:nvSpPr>
          <p:cNvPr id="12" name="Text 8"/>
          <p:cNvSpPr txBox="1"/>
          <p:nvPr/>
        </p:nvSpPr>
        <p:spPr>
          <a:xfrm>
            <a:off x="1252728" y="3670493"/>
            <a:ext cx="3867912" cy="882396"/>
          </a:xfrm>
          <a:prstGeom prst="rect">
            <a:avLst/>
          </a:prstGeom>
          <a:noFill/>
          <a:ln/>
        </p:spPr>
        <p:txBody>
          <a:bodyPr wrap="square" lIns="0" tIns="0" rIns="0" bIns="0" rtlCol="0" anchor="t"/>
          <a:lstStyle/>
          <a:p>
            <a:pPr indent="0" marL="0">
              <a:buNone/>
            </a:pPr>
            <a:r>
              <a:rPr lang="id-ID" altLang="en-US" sz="1800" b="1" dirty="0">
                <a:solidFill>
                  <a:srgbClr val="1F2328"/>
                </a:solidFill>
              </a:rPr>
              <a:t>Papan pengumuman</a:t>
            </a:r>
            <a:r>
              <a:rPr lang="id-ID" altLang="en-US" sz="1800" dirty="0">
                <a:solidFill>
                  <a:srgbClr val="1F2328"/>
                </a:solidFill>
              </a:rPr>
              <a:t> hanya ada </a:t>
            </a:r>
            <a:r>
              <a:rPr lang="id-ID" altLang="en-US" sz="1800" b="1" dirty="0">
                <a:solidFill>
                  <a:srgbClr val="1F2328"/>
                </a:solidFill>
              </a:rPr>
              <a:t>satu</a:t>
            </a:r>
            <a:r>
              <a:rPr lang="id-ID" altLang="en-US" sz="1800" dirty="0">
                <a:solidFill>
                  <a:srgbClr val="1F2328"/>
                </a:solidFill>
              </a:rPr>
              <a:t> dan dibaca semua orang. Diganti sekali, semua langsung membaca info baru.</a:t>
            </a:r>
            <a:endParaRPr lang="id-ID" sz="1800" dirty="0"/>
          </a:p>
        </p:txBody>
      </p:sp>
      <p:sp>
        <p:nvSpPr>
          <p:cNvPr id="13" name="Shape 9"/>
          <p:cNvSpPr/>
          <p:nvPr/>
        </p:nvSpPr>
        <p:spPr>
          <a:xfrm>
            <a:off x="923544" y="4797491"/>
            <a:ext cx="137160" cy="137160"/>
          </a:xfrm>
          <a:prstGeom prst="roundRect">
            <a:avLst>
              <a:gd name="adj" fmla="val 166667"/>
            </a:avLst>
          </a:prstGeom>
          <a:solidFill>
            <a:srgbClr val="9A6700"/>
          </a:solidFill>
          <a:ln/>
        </p:spPr>
      </p:sp>
      <p:sp>
        <p:nvSpPr>
          <p:cNvPr id="14" name="Text 10"/>
          <p:cNvSpPr txBox="1"/>
          <p:nvPr/>
        </p:nvSpPr>
        <p:spPr>
          <a:xfrm>
            <a:off x="1252728" y="4726625"/>
            <a:ext cx="3867912" cy="882396"/>
          </a:xfrm>
          <a:prstGeom prst="rect">
            <a:avLst/>
          </a:prstGeom>
          <a:noFill/>
          <a:ln/>
        </p:spPr>
        <p:txBody>
          <a:bodyPr wrap="square" lIns="0" tIns="0" rIns="0" bIns="0" rtlCol="0" anchor="t"/>
          <a:lstStyle/>
          <a:p>
            <a:pPr indent="0" marL="0">
              <a:buNone/>
            </a:pPr>
            <a:r>
              <a:rPr lang="id-ID" altLang="en-US" sz="1800" dirty="0">
                <a:solidFill>
                  <a:srgbClr val="1F2328"/>
                </a:solidFill>
              </a:rPr>
              <a:t>“Jumlah peserta: 40 orang” tidak cocok ditulis di buku masing-⁠masing karena menggambarkan </a:t>
            </a:r>
            <a:r>
              <a:rPr lang="id-ID" altLang="en-US" sz="1800" b="1" dirty="0">
                <a:solidFill>
                  <a:srgbClr val="1F2328"/>
                </a:solidFill>
              </a:rPr>
              <a:t>seluruh kelas</a:t>
            </a:r>
            <a:r>
              <a:rPr lang="id-ID" altLang="en-US" sz="1800" dirty="0">
                <a:solidFill>
                  <a:srgbClr val="1F2328"/>
                </a:solidFill>
              </a:rPr>
              <a:t>.</a:t>
            </a:r>
            <a:endParaRPr lang="id-ID"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1894271"/>
          <a:ext cx="5699455" cy="914400"/>
        </p:xfrm>
        <a:graphic>
          <a:graphicData uri="http://schemas.openxmlformats.org/drawingml/2006/table">
            <a:tbl>
              <a:tblPr/>
              <a:tblGrid>
                <a:gridCol w="2661595"/>
                <a:gridCol w="3037860"/>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Di ruang kuliah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Di PBO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Buku catatan tiap mahasiswa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Atribut objek</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nim</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nama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Papan pengumuman di depan kelas</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Atribut kelas</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kampus</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jumlah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Isi buku berbeda tiap orang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nilai untuk setiap objek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papan dibaca semua orang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nilai dipakai bersama semua objek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Atribut Kelas di Python dan Java</a:t>
            </a:r>
            <a:endParaRPr lang="id-ID" sz="3200" dirty="0"/>
          </a:p>
        </p:txBody>
      </p:sp>
      <p:sp>
        <p:nvSpPr>
          <p:cNvPr id="5" name="Text 2"/>
          <p:cNvSpPr txBox="1"/>
          <p:nvPr/>
        </p:nvSpPr>
        <p:spPr>
          <a:xfrm>
            <a:off x="548640" y="1963461"/>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Python menulis atribut kelas di badan kelas, di luar </a:t>
            </a:r>
            <a:r>
              <a:rPr lang="id-ID" altLang="en-US" sz="1800" dirty="0">
                <a:solidFill>
                  <a:srgbClr val="0A3069"/>
                </a:solidFill>
                <a:latin typeface="Consolas" pitchFamily="34" charset="0"/>
                <a:ea typeface="Consolas" pitchFamily="34" charset="-122"/>
                <a:cs typeface="Consolas" pitchFamily="34" charset="-120"/>
              </a:rPr>
              <a:t>__init__</a:t>
            </a:r>
            <a:r>
              <a:rPr lang="id-ID" altLang="en-US" sz="1800" dirty="0">
                <a:solidFill>
                  <a:srgbClr val="57606A"/>
                </a:solidFill>
              </a:rPr>
              <a:t>. Java menandainya dengan kata kunci </a:t>
            </a:r>
            <a:r>
              <a:rPr lang="id-ID" altLang="en-US" sz="1800" dirty="0">
                <a:solidFill>
                  <a:srgbClr val="0A3069"/>
                </a:solidFill>
                <a:latin typeface="Consolas" pitchFamily="34" charset="0"/>
                <a:ea typeface="Consolas" pitchFamily="34" charset="-122"/>
                <a:cs typeface="Consolas" pitchFamily="34" charset="-120"/>
              </a:rPr>
              <a:t>static</a:t>
            </a:r>
            <a:r>
              <a:rPr lang="id-ID" altLang="en-US" sz="1800" dirty="0">
                <a:solidFill>
                  <a:srgbClr val="57606A"/>
                </a:solidFill>
              </a:rPr>
              <a:t>.</a:t>
            </a:r>
            <a:endParaRPr lang="id-ID" sz="1800" dirty="0"/>
          </a:p>
        </p:txBody>
      </p:sp>
      <p:sp>
        <p:nvSpPr>
          <p:cNvPr id="6" name="Shape 3"/>
          <p:cNvSpPr/>
          <p:nvPr/>
        </p:nvSpPr>
        <p:spPr>
          <a:xfrm>
            <a:off x="548640" y="2397801"/>
            <a:ext cx="1051560" cy="329184"/>
          </a:xfrm>
          <a:prstGeom prst="roundRect">
            <a:avLst>
              <a:gd name="adj" fmla="val 138889"/>
            </a:avLst>
          </a:prstGeom>
          <a:solidFill>
            <a:srgbClr val="3572A5"/>
          </a:solidFill>
          <a:ln/>
        </p:spPr>
      </p:sp>
      <p:sp>
        <p:nvSpPr>
          <p:cNvPr id="7" name="Text 4"/>
          <p:cNvSpPr txBox="1"/>
          <p:nvPr/>
        </p:nvSpPr>
        <p:spPr>
          <a:xfrm>
            <a:off x="548640" y="23978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3978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python/contoh/contoh01_atribut_kelas.py</a:t>
            </a:r>
            <a:endParaRPr lang="id-ID" sz="1100" dirty="0"/>
          </a:p>
        </p:txBody>
      </p:sp>
      <p:sp>
        <p:nvSpPr>
          <p:cNvPr id="9" name="Shape 6"/>
          <p:cNvSpPr/>
          <p:nvPr/>
        </p:nvSpPr>
        <p:spPr>
          <a:xfrm>
            <a:off x="548640" y="2818425"/>
            <a:ext cx="5432908" cy="2563876"/>
          </a:xfrm>
          <a:prstGeom prst="roundRect">
            <a:avLst>
              <a:gd name="adj" fmla="val 1272"/>
            </a:avLst>
          </a:prstGeom>
          <a:solidFill>
            <a:srgbClr val="F6F8FA"/>
          </a:solidFill>
          <a:ln w="9525">
            <a:solidFill>
              <a:srgbClr val="D0D7DE"/>
            </a:solidFill>
            <a:prstDash val="solid"/>
          </a:ln>
        </p:spPr>
      </p:sp>
      <p:sp>
        <p:nvSpPr>
          <p:cNvPr id="10" name="Text 7"/>
          <p:cNvSpPr txBox="1"/>
          <p:nvPr/>
        </p:nvSpPr>
        <p:spPr>
          <a:xfrm>
            <a:off x="658368" y="2909865"/>
            <a:ext cx="5213452" cy="238099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Mahasiswa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kampus = </a:t>
            </a:r>
            <a:r>
              <a:rPr lang="en-US" altLang="en-US" sz="1100" dirty="0">
                <a:solidFill>
                  <a:srgbClr val="0A3069"/>
                </a:solidFill>
                <a:latin typeface="Consolas" pitchFamily="34" charset="0"/>
                <a:ea typeface="Consolas" pitchFamily="34" charset="-122"/>
                <a:cs typeface="Consolas" pitchFamily="34" charset="-120"/>
              </a:rPr>
              <a:t>"Unmul"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jumlah = </a:t>
            </a:r>
            <a:r>
              <a:rPr lang="en-US" altLang="en-US" sz="1100" dirty="0">
                <a:solidFill>
                  <a:srgbClr val="0550AE"/>
                </a:solidFill>
                <a:latin typeface="Consolas" pitchFamily="34" charset="0"/>
                <a:ea typeface="Consolas" pitchFamily="34" charset="-122"/>
                <a:cs typeface="Consolas" pitchFamily="34" charset="-120"/>
              </a:rPr>
              <a:t>0</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nim, nama):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.nim = nim</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.nama = nama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Mahasiswa.jumlah += </a:t>
            </a:r>
            <a:r>
              <a:rPr lang="en-US" altLang="en-US" sz="1100" dirty="0">
                <a:solidFill>
                  <a:srgbClr val="0550AE"/>
                </a:solidFill>
                <a:latin typeface="Consolas" pitchFamily="34" charset="0"/>
                <a:ea typeface="Consolas" pitchFamily="34" charset="-122"/>
                <a:cs typeface="Consolas" pitchFamily="34" charset="-120"/>
              </a:rPr>
              <a:t>1</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 dalam main()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ayu = Mahasiswa(</a:t>
            </a:r>
            <a:r>
              <a:rPr lang="en-US" altLang="en-US" sz="1100" dirty="0">
                <a:solidFill>
                  <a:srgbClr val="0A3069"/>
                </a:solidFill>
                <a:latin typeface="Consolas" pitchFamily="34" charset="0"/>
                <a:ea typeface="Consolas" pitchFamily="34" charset="-122"/>
                <a:cs typeface="Consolas" pitchFamily="34" charset="-120"/>
              </a:rPr>
              <a:t>"2409106001"</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"Ayu Lestari"</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bima = Mahasiswa(</a:t>
            </a:r>
            <a:r>
              <a:rPr lang="en-US" altLang="en-US" sz="1100" dirty="0">
                <a:solidFill>
                  <a:srgbClr val="0A3069"/>
                </a:solidFill>
                <a:latin typeface="Consolas" pitchFamily="34" charset="0"/>
                <a:ea typeface="Consolas" pitchFamily="34" charset="-122"/>
                <a:cs typeface="Consolas" pitchFamily="34" charset="-120"/>
              </a:rPr>
              <a:t>"2409106002"</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"Bima Saputra"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citra = Mahasiswa(</a:t>
            </a:r>
            <a:r>
              <a:rPr lang="en-US" altLang="en-US" sz="1100" dirty="0">
                <a:solidFill>
                  <a:srgbClr val="0A3069"/>
                </a:solidFill>
                <a:latin typeface="Consolas" pitchFamily="34" charset="0"/>
                <a:ea typeface="Consolas" pitchFamily="34" charset="-122"/>
                <a:cs typeface="Consolas" pitchFamily="34" charset="-120"/>
              </a:rPr>
              <a:t>"2409106003"</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"Citra Dewi"</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f"Jumlah mahasiswa: {</a:t>
            </a:r>
            <a:r>
              <a:rPr lang="en-US" altLang="en-US" sz="1100" dirty="0">
                <a:solidFill>
                  <a:srgbClr val="1F2328"/>
                </a:solidFill>
                <a:latin typeface="Consolas" pitchFamily="34" charset="0"/>
                <a:ea typeface="Consolas" pitchFamily="34" charset="-122"/>
                <a:cs typeface="Consolas" pitchFamily="34" charset="-120"/>
              </a:rPr>
              <a:t>Mahasiswa.jumlah</a:t>
            </a:r>
            <a:r>
              <a:rPr lang="en-US" altLang="en-US" sz="1100" dirty="0">
                <a:solidFill>
                  <a:srgbClr val="0A3069"/>
                </a:solidFill>
                <a:latin typeface="Consolas" pitchFamily="34" charset="0"/>
                <a:ea typeface="Consolas" pitchFamily="34" charset="-122"/>
                <a:cs typeface="Consolas" pitchFamily="34" charset="-120"/>
              </a:rPr>
              <a: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1" name="Shape 8"/>
          <p:cNvSpPr/>
          <p:nvPr/>
        </p:nvSpPr>
        <p:spPr>
          <a:xfrm>
            <a:off x="6210148" y="2397801"/>
            <a:ext cx="1051560" cy="329184"/>
          </a:xfrm>
          <a:prstGeom prst="roundRect">
            <a:avLst>
              <a:gd name="adj" fmla="val 138889"/>
            </a:avLst>
          </a:prstGeom>
          <a:solidFill>
            <a:srgbClr val="B07219"/>
          </a:solidFill>
          <a:ln/>
        </p:spPr>
      </p:sp>
      <p:sp>
        <p:nvSpPr>
          <p:cNvPr id="12" name="Text 9"/>
          <p:cNvSpPr txBox="1"/>
          <p:nvPr/>
        </p:nvSpPr>
        <p:spPr>
          <a:xfrm>
            <a:off x="6210148" y="23978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3978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java/contoh/Contoh01AtributKelas.java</a:t>
            </a:r>
            <a:endParaRPr lang="id-ID" sz="1100" dirty="0"/>
          </a:p>
        </p:txBody>
      </p:sp>
      <p:sp>
        <p:nvSpPr>
          <p:cNvPr id="14" name="Shape 11"/>
          <p:cNvSpPr/>
          <p:nvPr/>
        </p:nvSpPr>
        <p:spPr>
          <a:xfrm>
            <a:off x="6210148" y="2818425"/>
            <a:ext cx="5432908" cy="2563876"/>
          </a:xfrm>
          <a:prstGeom prst="roundRect">
            <a:avLst>
              <a:gd name="adj" fmla="val 1272"/>
            </a:avLst>
          </a:prstGeom>
          <a:solidFill>
            <a:srgbClr val="F6F8FA"/>
          </a:solidFill>
          <a:ln w="9525">
            <a:solidFill>
              <a:srgbClr val="D0D7DE"/>
            </a:solidFill>
            <a:prstDash val="solid"/>
          </a:ln>
        </p:spPr>
      </p:sp>
      <p:sp>
        <p:nvSpPr>
          <p:cNvPr id="15" name="Text 12"/>
          <p:cNvSpPr txBox="1"/>
          <p:nvPr/>
        </p:nvSpPr>
        <p:spPr>
          <a:xfrm>
            <a:off x="6319876" y="2909865"/>
            <a:ext cx="5213452" cy="238099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Mahasiswa</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String kampus = </a:t>
            </a:r>
            <a:r>
              <a:rPr lang="en-US" altLang="en-US" sz="1100" dirty="0">
                <a:solidFill>
                  <a:srgbClr val="0A3069"/>
                </a:solidFill>
                <a:latin typeface="Consolas" pitchFamily="34" charset="0"/>
                <a:ea typeface="Consolas" pitchFamily="34" charset="-122"/>
                <a:cs typeface="Consolas" pitchFamily="34" charset="-120"/>
              </a:rPr>
              <a:t>"Unmul"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jumlah = </a:t>
            </a:r>
            <a:r>
              <a:rPr lang="en-US" altLang="en-US" sz="1100" dirty="0">
                <a:solidFill>
                  <a:srgbClr val="0550AE"/>
                </a:solidFill>
                <a:latin typeface="Consolas" pitchFamily="34" charset="0"/>
                <a:ea typeface="Consolas" pitchFamily="34" charset="-122"/>
                <a:cs typeface="Consolas" pitchFamily="34" charset="-120"/>
              </a:rPr>
              <a:t>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String nim;</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String nama;</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Mahasiswa(String nim, String nama)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.nim = nim;</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.nama = nama;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Mahasiswa.jumlah += </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 dalam main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Mahasiswa ayu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Mahasiswa(</a:t>
            </a:r>
            <a:r>
              <a:rPr lang="en-US" altLang="en-US" sz="1100" dirty="0">
                <a:solidFill>
                  <a:srgbClr val="0A3069"/>
                </a:solidFill>
                <a:latin typeface="Consolas" pitchFamily="34" charset="0"/>
                <a:ea typeface="Consolas" pitchFamily="34" charset="-122"/>
                <a:cs typeface="Consolas" pitchFamily="34" charset="-120"/>
              </a:rPr>
              <a:t>"2409106001"</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"Ayu Lestari"</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Jebakan: Mengubah Atribut Kelas lewat Objek</a:t>
            </a:r>
            <a:endParaRPr lang="id-ID"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90979"/>
          <a:ext cx="11094415" cy="914400"/>
        </p:xfrm>
        <a:graphic>
          <a:graphicData uri="http://schemas.openxmlformats.org/drawingml/2006/table">
            <a:tbl>
              <a:tblPr/>
              <a:tblGrid>
                <a:gridCol w="3321938"/>
                <a:gridCol w="3864810"/>
                <a:gridCol w="3907667"/>
              </a:tblGrid>
              <a:tr h="864616">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Setelah </a:t>
                      </a:r>
                      <a:r>
                        <a:rPr lang="id-ID" altLang="en-US" sz="2200" b="1" dirty="0">
                          <a:solidFill>
                            <a:srgbClr val="FFFFFF"/>
                          </a:solidFill>
                          <a:latin typeface="Consolas" pitchFamily="34" charset="0"/>
                          <a:ea typeface="Consolas" pitchFamily="34" charset="-122"/>
                          <a:cs typeface="Consolas" pitchFamily="34" charset="-120"/>
                        </a:rPr>
                        <a:t>ayu.masuk()</a:t>
                      </a:r>
                      <a:r>
                        <a:rPr lang="id-ID" altLang="en-US" sz="2200" b="1" dirty="0">
                          <a:solidFill>
                            <a:srgbClr val="FFFFFF"/>
                          </a:solidFill>
                          <a:latin typeface="Calibri" pitchFamily="34" charset="0"/>
                          <a:ea typeface="Calibri" pitchFamily="34" charset="-122"/>
                          <a:cs typeface="Calibri" pitchFamily="34" charset="-120"/>
                        </a:rPr>
                        <a:t> dan </a:t>
                      </a:r>
                      <a:r>
                        <a:rPr lang="id-ID" altLang="en-US" sz="2200" b="1" dirty="0">
                          <a:solidFill>
                            <a:srgbClr val="FFFFFF"/>
                          </a:solidFill>
                          <a:latin typeface="Consolas" pitchFamily="34" charset="0"/>
                          <a:ea typeface="Consolas" pitchFamily="34" charset="-122"/>
                          <a:cs typeface="Consolas" pitchFamily="34" charset="-120"/>
                        </a:rPr>
                        <a:t>bima.masuk()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Python: </a:t>
                      </a:r>
                      <a:r>
                        <a:rPr lang="id-ID" altLang="en-US" sz="2200" b="1" dirty="0">
                          <a:solidFill>
                            <a:srgbClr val="FFFFFF"/>
                          </a:solidFill>
                          <a:latin typeface="Consolas" pitchFamily="34" charset="0"/>
                          <a:ea typeface="Consolas" pitchFamily="34" charset="-122"/>
                          <a:cs typeface="Consolas" pitchFamily="34" charset="-120"/>
                        </a:rPr>
                        <a:t>self.total += 1</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Java: </a:t>
                      </a:r>
                      <a:r>
                        <a:rPr lang="id-ID" altLang="en-US" sz="2200" b="1" dirty="0">
                          <a:solidFill>
                            <a:srgbClr val="FFFFFF"/>
                          </a:solidFill>
                          <a:latin typeface="Consolas" pitchFamily="34" charset="0"/>
                          <a:ea typeface="Consolas" pitchFamily="34" charset="-122"/>
                          <a:cs typeface="Consolas" pitchFamily="34" charset="-120"/>
                        </a:rPr>
                        <a:t>this.total += 1</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Total milik kelas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0</a:t>
                      </a:r>
                      <a:r>
                        <a:rPr lang="id-ID" altLang="en-US" sz="2200" dirty="0">
                          <a:solidFill>
                            <a:srgbClr val="1F2328"/>
                          </a:solidFill>
                          <a:latin typeface="Calibri" pitchFamily="34" charset="0"/>
                          <a:ea typeface="Calibri" pitchFamily="34" charset="-122"/>
                          <a:cs typeface="Calibri" pitchFamily="34" charset="-120"/>
                        </a:rPr>
                        <a:t> (tidak berubah!)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2</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ayu.total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1</a:t>
                      </a:r>
                      <a:r>
                        <a:rPr lang="id-ID" altLang="en-US" sz="2200" dirty="0">
                          <a:solidFill>
                            <a:srgbClr val="1F2328"/>
                          </a:solidFill>
                          <a:latin typeface="Calibri" pitchFamily="34" charset="0"/>
                          <a:ea typeface="Calibri" pitchFamily="34" charset="-122"/>
                          <a:cs typeface="Calibri" pitchFamily="34" charset="-120"/>
                        </a:rPr>
                        <a:t> (atribut objek baru milik </a:t>
                      </a:r>
                      <a:r>
                        <a:rPr lang="id-ID" altLang="en-US" sz="2200" dirty="0">
                          <a:solidFill>
                            <a:srgbClr val="0A3069"/>
                          </a:solidFill>
                          <a:latin typeface="Consolas" pitchFamily="34" charset="0"/>
                          <a:ea typeface="Consolas" pitchFamily="34" charset="-122"/>
                          <a:cs typeface="Consolas" pitchFamily="34" charset="-120"/>
                        </a:rPr>
                        <a:t>ayu</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2</a:t>
                      </a:r>
                      <a:r>
                        <a:rPr lang="id-ID" altLang="en-US" sz="2200" dirty="0">
                          <a:solidFill>
                            <a:srgbClr val="1F2328"/>
                          </a:solidFill>
                          <a:latin typeface="Calibri" pitchFamily="34" charset="0"/>
                          <a:ea typeface="Calibri" pitchFamily="34" charset="-122"/>
                          <a:cs typeface="Calibri" pitchFamily="34" charset="-120"/>
                        </a:rPr>
                        <a:t> (nilai bersama)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Kejutannya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nilai bersama </a:t>
                      </a:r>
                      <a:r>
                        <a:rPr lang="id-ID" altLang="en-US" sz="2200" b="1" dirty="0">
                          <a:solidFill>
                            <a:srgbClr val="1F2328"/>
                          </a:solidFill>
                          <a:latin typeface="Calibri" pitchFamily="34" charset="0"/>
                          <a:ea typeface="Calibri" pitchFamily="34" charset="-122"/>
                          <a:cs typeface="Calibri" pitchFamily="34" charset="-120"/>
                        </a:rPr>
                        <a:t>tidak</a:t>
                      </a:r>
                      <a:r>
                        <a:rPr lang="id-ID" altLang="en-US" sz="2200" dirty="0">
                          <a:solidFill>
                            <a:srgbClr val="1F2328"/>
                          </a:solidFill>
                          <a:latin typeface="Calibri" pitchFamily="34" charset="0"/>
                          <a:ea typeface="Calibri" pitchFamily="34" charset="-122"/>
                          <a:cs typeface="Calibri" pitchFamily="34" charset="-120"/>
                        </a:rPr>
                        <a:t> bertambah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terlihat seperti milik objek, padahal milik bersama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914595"/>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4987016"/>
            <a:ext cx="184343" cy="184343"/>
          </a:xfrm>
          <a:prstGeom prst="rect">
            <a:avLst/>
          </a:prstGeom>
        </p:spPr>
      </p:pic>
      <p:sp>
        <p:nvSpPr>
          <p:cNvPr id="8" name="Text 3"/>
          <p:cNvSpPr txBox="1"/>
          <p:nvPr/>
        </p:nvSpPr>
        <p:spPr>
          <a:xfrm>
            <a:off x="1005840" y="4896307"/>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Kebiasaan aman di kedua bahasa: </a:t>
            </a:r>
            <a:r>
              <a:rPr lang="id-ID" altLang="en-US" sz="1800" b="1" dirty="0">
                <a:solidFill>
                  <a:srgbClr val="57606A"/>
                </a:solidFill>
              </a:rPr>
              <a:t>ubah atribut kelas selalu lewat nama kelasnya</a:t>
            </a:r>
            <a:r>
              <a:rPr lang="id-ID" altLang="en-US" sz="1800" dirty="0">
                <a:solidFill>
                  <a:srgbClr val="57606A"/>
                </a:solidFill>
              </a:rPr>
              <a:t>, misalnya </a:t>
            </a:r>
            <a:r>
              <a:rPr lang="id-ID" altLang="en-US" sz="1800" dirty="0">
                <a:solidFill>
                  <a:srgbClr val="57606A"/>
                </a:solidFill>
                <a:latin typeface="Consolas" pitchFamily="34" charset="0"/>
                <a:ea typeface="Consolas" pitchFamily="34" charset="-122"/>
                <a:cs typeface="Consolas" pitchFamily="34" charset="-120"/>
              </a:rPr>
              <a:t>Pengunjung.total += 1</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200" b="1" i="1" dirty="0">
                <a:solidFill>
                  <a:srgbClr val="FFFFFF"/>
                </a:solidFill>
              </a:rPr>
              <a:t>Method</a:t>
            </a:r>
            <a:r>
              <a:rPr lang="id-ID" altLang="en-US" sz="3200" b="1" dirty="0">
                <a:solidFill>
                  <a:srgbClr val="FFFFFF"/>
                </a:solidFill>
              </a:rPr>
              <a:t> Milik Kelas dan</a:t>
            </a:r>
            <a:endParaRPr lang="id-ID" sz="3200" dirty="0"/>
          </a:p>
          <a:p>
            <a:pPr algn="l" indent="0" marL="0">
              <a:buNone/>
            </a:pPr>
            <a:r>
              <a:rPr lang="id-ID" altLang="en-US" sz="3200" b="1" dirty="0">
                <a:solidFill>
                  <a:srgbClr val="FFFFFF"/>
                </a:solidFill>
              </a:rPr>
              <a:t>Konstruktor yang Luwes</a:t>
            </a:r>
            <a:endParaRPr lang="id-ID" sz="3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i="1" dirty="0">
                <a:solidFill>
                  <a:srgbClr val="C9D7E8"/>
                </a:solidFill>
              </a:rPr>
              <a:t>Method</a:t>
            </a:r>
            <a:r>
              <a:rPr lang="id-ID" altLang="en-US" sz="2200" dirty="0">
                <a:solidFill>
                  <a:srgbClr val="C9D7E8"/>
                </a:solidFill>
              </a:rPr>
              <a:t> yang tidak butuh objek dan cara membuat objek dari data yang berbeda-⁠beda.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Method</a:t>
            </a:r>
            <a:r>
              <a:rPr lang="id-ID" altLang="en-US" sz="3200" b="1" dirty="0">
                <a:solidFill>
                  <a:srgbClr val="0A3069"/>
                </a:solidFill>
              </a:rPr>
              <a:t> Objek dan </a:t>
            </a:r>
            <a:r>
              <a:rPr lang="id-ID" altLang="en-US" sz="3200" b="1" i="1" dirty="0">
                <a:solidFill>
                  <a:srgbClr val="0A3069"/>
                </a:solidFill>
              </a:rPr>
              <a:t>Method</a:t>
            </a:r>
            <a:r>
              <a:rPr lang="id-ID" altLang="en-US" sz="3200" b="1" dirty="0">
                <a:solidFill>
                  <a:srgbClr val="0A3069"/>
                </a:solidFill>
              </a:rPr>
              <a:t> Milik Kelas</a:t>
            </a:r>
            <a:endParaRPr lang="id-ID"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11330"/>
          <a:ext cx="11094415" cy="914400"/>
        </p:xfrm>
        <a:graphic>
          <a:graphicData uri="http://schemas.openxmlformats.org/drawingml/2006/table">
            <a:tbl>
              <a:tblPr/>
              <a:tblGrid>
                <a:gridCol w="2560105"/>
                <a:gridCol w="4051861"/>
                <a:gridCol w="4482449"/>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Pembeda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i="1" dirty="0">
                          <a:solidFill>
                            <a:srgbClr val="FFFFFF"/>
                          </a:solidFill>
                          <a:latin typeface="Calibri" pitchFamily="34" charset="0"/>
                          <a:ea typeface="Calibri" pitchFamily="34" charset="-122"/>
                          <a:cs typeface="Calibri" pitchFamily="34" charset="-120"/>
                        </a:rPr>
                        <a:t>Method</a:t>
                      </a:r>
                      <a:r>
                        <a:rPr lang="id-ID" altLang="en-US" sz="2200" b="1" dirty="0">
                          <a:solidFill>
                            <a:srgbClr val="FFFFFF"/>
                          </a:solidFill>
                          <a:latin typeface="Calibri" pitchFamily="34" charset="0"/>
                          <a:ea typeface="Calibri" pitchFamily="34" charset="-122"/>
                          <a:cs typeface="Calibri" pitchFamily="34" charset="-120"/>
                        </a:rPr>
                        <a:t>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i="1" dirty="0">
                          <a:solidFill>
                            <a:srgbClr val="FFFFFF"/>
                          </a:solidFill>
                          <a:latin typeface="Calibri" pitchFamily="34" charset="0"/>
                          <a:ea typeface="Calibri" pitchFamily="34" charset="-122"/>
                          <a:cs typeface="Calibri" pitchFamily="34" charset="-120"/>
                        </a:rPr>
                        <a:t>Method</a:t>
                      </a:r>
                      <a:r>
                        <a:rPr lang="id-ID" altLang="en-US" sz="2200" b="1" dirty="0">
                          <a:solidFill>
                            <a:srgbClr val="FFFFFF"/>
                          </a:solidFill>
                          <a:latin typeface="Calibri" pitchFamily="34" charset="0"/>
                          <a:ea typeface="Calibri" pitchFamily="34" charset="-122"/>
                          <a:cs typeface="Calibri" pitchFamily="34" charset="-120"/>
                        </a:rPr>
                        <a:t> milik kelas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Cara memanggil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objek.method()</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NamaKelas.method()</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Butuh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Punya </a:t>
                      </a:r>
                      <a:r>
                        <a:rPr lang="id-ID" altLang="en-US" sz="2200" dirty="0">
                          <a:solidFill>
                            <a:srgbClr val="0A3069"/>
                          </a:solidFill>
                          <a:latin typeface="Consolas" pitchFamily="34" charset="0"/>
                          <a:ea typeface="Consolas" pitchFamily="34" charset="-122"/>
                          <a:cs typeface="Consolas" pitchFamily="34" charset="-120"/>
                        </a:rPr>
                        <a:t>self</a:t>
                      </a:r>
                      <a:r>
                        <a:rPr lang="id-ID" altLang="en-US" sz="2200" dirty="0">
                          <a:solidFill>
                            <a:srgbClr val="1F2328"/>
                          </a:solidFill>
                          <a:latin typeface="Calibri" pitchFamily="34" charset="0"/>
                          <a:ea typeface="Calibri" pitchFamily="34" charset="-122"/>
                          <a:cs typeface="Calibri" pitchFamily="34" charset="-120"/>
                        </a:rPr>
                        <a:t>/</a:t>
                      </a:r>
                      <a:r>
                        <a:rPr lang="id-ID" altLang="en-US" sz="2200" dirty="0">
                          <a:solidFill>
                            <a:srgbClr val="0A3069"/>
                          </a:solidFill>
                          <a:latin typeface="Consolas" pitchFamily="34" charset="0"/>
                          <a:ea typeface="Consolas" pitchFamily="34" charset="-122"/>
                          <a:cs typeface="Consolas" pitchFamily="34" charset="-120"/>
                        </a:rPr>
                        <a:t>this</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Contoh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kopi.hitung_total(2)</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Tanggal.kabisat(2024)</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Cocok untuk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perilaku yang memakai data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fungsi bantu, konversi, pembuat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441574"/>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13995"/>
            <a:ext cx="184343" cy="184343"/>
          </a:xfrm>
          <a:prstGeom prst="rect">
            <a:avLst/>
          </a:prstGeom>
        </p:spPr>
      </p:pic>
      <p:sp>
        <p:nvSpPr>
          <p:cNvPr id="8" name="Text 3"/>
          <p:cNvSpPr txBox="1"/>
          <p:nvPr/>
        </p:nvSpPr>
        <p:spPr>
          <a:xfrm>
            <a:off x="1005840" y="5423286"/>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Python: </a:t>
            </a:r>
            <a:r>
              <a:rPr lang="id-ID" altLang="en-US" sz="1800" dirty="0">
                <a:solidFill>
                  <a:srgbClr val="57606A"/>
                </a:solidFill>
                <a:latin typeface="Consolas" pitchFamily="34" charset="0"/>
                <a:ea typeface="Consolas" pitchFamily="34" charset="-122"/>
                <a:cs typeface="Consolas" pitchFamily="34" charset="-120"/>
              </a:rPr>
              <a:t>@staticmethod</a:t>
            </a:r>
            <a:r>
              <a:rPr lang="id-ID" altLang="en-US" sz="1800" dirty="0">
                <a:solidFill>
                  <a:srgbClr val="57606A"/>
                </a:solidFill>
              </a:rPr>
              <a:t> atau </a:t>
            </a:r>
            <a:r>
              <a:rPr lang="id-ID" altLang="en-US" sz="1800" dirty="0">
                <a:solidFill>
                  <a:srgbClr val="57606A"/>
                </a:solidFill>
                <a:latin typeface="Consolas" pitchFamily="34" charset="0"/>
                <a:ea typeface="Consolas" pitchFamily="34" charset="-122"/>
                <a:cs typeface="Consolas" pitchFamily="34" charset="-120"/>
              </a:rPr>
              <a:t>@classmethod</a:t>
            </a:r>
            <a:r>
              <a:rPr lang="id-ID" altLang="en-US" sz="1800" dirty="0">
                <a:solidFill>
                  <a:srgbClr val="57606A"/>
                </a:solidFill>
              </a:rPr>
              <a:t>. Java: </a:t>
            </a:r>
            <a:r>
              <a:rPr lang="id-ID" altLang="en-US" sz="1800" i="1" dirty="0">
                <a:solidFill>
                  <a:srgbClr val="57606A"/>
                </a:solidFill>
              </a:rPr>
              <a:t>method</a:t>
            </a:r>
            <a:r>
              <a:rPr lang="id-ID" altLang="en-US" sz="1800" dirty="0">
                <a:solidFill>
                  <a:srgbClr val="57606A"/>
                </a:solidFill>
              </a:rPr>
              <a:t> </a:t>
            </a:r>
            <a:r>
              <a:rPr lang="id-ID" altLang="en-US" sz="1800" dirty="0">
                <a:solidFill>
                  <a:srgbClr val="57606A"/>
                </a:solidFill>
                <a:latin typeface="Consolas" pitchFamily="34" charset="0"/>
                <a:ea typeface="Consolas" pitchFamily="34" charset="-122"/>
                <a:cs typeface="Consolas" pitchFamily="34" charset="-120"/>
              </a:rPr>
              <a:t>static</a:t>
            </a:r>
            <a:r>
              <a:rPr lang="id-ID" altLang="en-US" sz="1800" dirty="0">
                <a:solidFill>
                  <a:srgbClr val="57606A"/>
                </a:solidFill>
              </a:rPr>
              <a:t>. Nama lainnya: </a:t>
            </a:r>
            <a:r>
              <a:rPr lang="id-ID" altLang="en-US" sz="1800" i="1" dirty="0">
                <a:solidFill>
                  <a:srgbClr val="57606A"/>
                </a:solidFill>
              </a:rPr>
              <a:t>static method</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Method</a:t>
            </a:r>
            <a:r>
              <a:rPr lang="id-ID" altLang="en-US" sz="3200" b="1" dirty="0">
                <a:solidFill>
                  <a:srgbClr val="0A3069"/>
                </a:solidFill>
              </a:rPr>
              <a:t> Milik Kelas di Python dan Java</a:t>
            </a:r>
            <a:endParaRPr lang="id-ID" sz="3200" dirty="0"/>
          </a:p>
        </p:txBody>
      </p:sp>
      <p:sp>
        <p:nvSpPr>
          <p:cNvPr id="5" name="Text 2"/>
          <p:cNvSpPr txBox="1"/>
          <p:nvPr/>
        </p:nvSpPr>
        <p:spPr>
          <a:xfrm>
            <a:off x="548640" y="1758208"/>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kabisat()</a:t>
            </a:r>
            <a:r>
              <a:rPr lang="id-ID" altLang="en-US" sz="1800" dirty="0">
                <a:solidFill>
                  <a:srgbClr val="57606A"/>
                </a:solidFill>
              </a:rPr>
              <a:t> cukup butuh angka tahun. </a:t>
            </a:r>
            <a:r>
              <a:rPr lang="id-ID" altLang="en-US" sz="1800" dirty="0">
                <a:solidFill>
                  <a:srgbClr val="0A3069"/>
                </a:solidFill>
                <a:latin typeface="Consolas" pitchFamily="34" charset="0"/>
                <a:ea typeface="Consolas" pitchFamily="34" charset="-122"/>
                <a:cs typeface="Consolas" pitchFamily="34" charset="-120"/>
              </a:rPr>
              <a:t>dari_teks()</a:t>
            </a:r>
            <a:r>
              <a:rPr lang="id-ID" altLang="en-US" sz="1800" dirty="0">
                <a:solidFill>
                  <a:srgbClr val="57606A"/>
                </a:solidFill>
              </a:rPr>
              <a:t> adalah </a:t>
            </a:r>
            <a:r>
              <a:rPr lang="id-ID" altLang="en-US" sz="1800" b="1" dirty="0">
                <a:solidFill>
                  <a:srgbClr val="57606A"/>
                </a:solidFill>
              </a:rPr>
              <a:t>konstruktor alternatif</a:t>
            </a:r>
            <a:r>
              <a:rPr lang="id-ID" altLang="en-US" sz="1800" dirty="0">
                <a:solidFill>
                  <a:srgbClr val="57606A"/>
                </a:solidFill>
              </a:rPr>
              <a:t>: membuat objek </a:t>
            </a:r>
            <a:r>
              <a:rPr lang="id-ID" altLang="en-US" sz="1800" dirty="0">
                <a:solidFill>
                  <a:srgbClr val="0A3069"/>
                </a:solidFill>
                <a:latin typeface="Consolas" pitchFamily="34" charset="0"/>
                <a:ea typeface="Consolas" pitchFamily="34" charset="-122"/>
                <a:cs typeface="Consolas" pitchFamily="34" charset="-120"/>
              </a:rPr>
              <a:t>Tanggal</a:t>
            </a:r>
            <a:r>
              <a:rPr lang="id-ID" altLang="en-US" sz="1800" dirty="0">
                <a:solidFill>
                  <a:srgbClr val="57606A"/>
                </a:solidFill>
              </a:rPr>
              <a:t> dari teks.</a:t>
            </a:r>
            <a:endParaRPr lang="id-ID" sz="1800" dirty="0"/>
          </a:p>
        </p:txBody>
      </p:sp>
      <p:sp>
        <p:nvSpPr>
          <p:cNvPr id="6" name="Shape 3"/>
          <p:cNvSpPr/>
          <p:nvPr/>
        </p:nvSpPr>
        <p:spPr>
          <a:xfrm>
            <a:off x="548640" y="2471440"/>
            <a:ext cx="1051560" cy="329184"/>
          </a:xfrm>
          <a:prstGeom prst="roundRect">
            <a:avLst>
              <a:gd name="adj" fmla="val 138889"/>
            </a:avLst>
          </a:prstGeom>
          <a:solidFill>
            <a:srgbClr val="3572A5"/>
          </a:solidFill>
          <a:ln/>
        </p:spPr>
      </p:sp>
      <p:sp>
        <p:nvSpPr>
          <p:cNvPr id="7" name="Text 4"/>
          <p:cNvSpPr txBox="1"/>
          <p:nvPr/>
        </p:nvSpPr>
        <p:spPr>
          <a:xfrm>
            <a:off x="548640" y="24714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47144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python/contoh/contoh03_static_dan_class_method.py</a:t>
            </a:r>
            <a:endParaRPr lang="id-ID" sz="1100" dirty="0"/>
          </a:p>
        </p:txBody>
      </p:sp>
      <p:sp>
        <p:nvSpPr>
          <p:cNvPr id="9" name="Shape 6"/>
          <p:cNvSpPr/>
          <p:nvPr/>
        </p:nvSpPr>
        <p:spPr>
          <a:xfrm>
            <a:off x="548640" y="2892064"/>
            <a:ext cx="5432908" cy="2773680"/>
          </a:xfrm>
          <a:prstGeom prst="roundRect">
            <a:avLst>
              <a:gd name="adj" fmla="val 1087"/>
            </a:avLst>
          </a:prstGeom>
          <a:solidFill>
            <a:srgbClr val="F6F8FA"/>
          </a:solidFill>
          <a:ln w="9525">
            <a:solidFill>
              <a:srgbClr val="D0D7DE"/>
            </a:solidFill>
            <a:prstDash val="solid"/>
          </a:ln>
        </p:spPr>
      </p:sp>
      <p:sp>
        <p:nvSpPr>
          <p:cNvPr id="10" name="Text 7"/>
          <p:cNvSpPr txBox="1"/>
          <p:nvPr/>
        </p:nvSpPr>
        <p:spPr>
          <a:xfrm>
            <a:off x="658368" y="2983504"/>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Tanggal</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@staticmethod</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kabisat</a:t>
            </a:r>
            <a:r>
              <a:rPr lang="en-US" altLang="en-US" sz="1200" dirty="0">
                <a:solidFill>
                  <a:srgbClr val="1F2328"/>
                </a:solidFill>
                <a:latin typeface="Consolas" pitchFamily="34" charset="0"/>
                <a:ea typeface="Consolas" pitchFamily="34" charset="-122"/>
                <a:cs typeface="Consolas" pitchFamily="34" charset="-120"/>
              </a:rPr>
              <a:t>(tahun):</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@classmethod</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dari_teks</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cls</a:t>
            </a:r>
            <a:r>
              <a:rPr lang="en-US" altLang="en-US" sz="1200" dirty="0">
                <a:solidFill>
                  <a:srgbClr val="1F2328"/>
                </a:solidFill>
                <a:latin typeface="Consolas" pitchFamily="34" charset="0"/>
                <a:ea typeface="Consolas" pitchFamily="34" charset="-122"/>
                <a:cs typeface="Consolas" pitchFamily="34" charset="-120"/>
              </a:rPr>
              <a:t>, teks):</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hari, bulan, tahun = teks.split(</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cls</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(hari), </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(bulan), </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(tahun))</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 dalam main()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sumpah_pemuda = Tanggal.dari_teks(</a:t>
            </a:r>
            <a:r>
              <a:rPr lang="en-US" altLang="en-US" sz="1200" dirty="0">
                <a:solidFill>
                  <a:srgbClr val="0A3069"/>
                </a:solidFill>
                <a:latin typeface="Consolas" pitchFamily="34" charset="0"/>
                <a:ea typeface="Consolas" pitchFamily="34" charset="-122"/>
                <a:cs typeface="Consolas" pitchFamily="34" charset="-120"/>
              </a:rPr>
              <a:t>"28-10-1928"</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11" name="Shape 8"/>
          <p:cNvSpPr/>
          <p:nvPr/>
        </p:nvSpPr>
        <p:spPr>
          <a:xfrm>
            <a:off x="6210148" y="2471440"/>
            <a:ext cx="1051560" cy="329184"/>
          </a:xfrm>
          <a:prstGeom prst="roundRect">
            <a:avLst>
              <a:gd name="adj" fmla="val 138889"/>
            </a:avLst>
          </a:prstGeom>
          <a:solidFill>
            <a:srgbClr val="B07219"/>
          </a:solidFill>
          <a:ln/>
        </p:spPr>
      </p:sp>
      <p:sp>
        <p:nvSpPr>
          <p:cNvPr id="12" name="Text 9"/>
          <p:cNvSpPr txBox="1"/>
          <p:nvPr/>
        </p:nvSpPr>
        <p:spPr>
          <a:xfrm>
            <a:off x="6210148" y="24714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47144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java/contoh/Contoh03MethodStatic.java</a:t>
            </a:r>
            <a:endParaRPr lang="id-ID" sz="1100" dirty="0"/>
          </a:p>
        </p:txBody>
      </p:sp>
      <p:sp>
        <p:nvSpPr>
          <p:cNvPr id="14" name="Shape 11"/>
          <p:cNvSpPr/>
          <p:nvPr/>
        </p:nvSpPr>
        <p:spPr>
          <a:xfrm>
            <a:off x="6210148" y="2892064"/>
            <a:ext cx="5432908" cy="2773680"/>
          </a:xfrm>
          <a:prstGeom prst="roundRect">
            <a:avLst>
              <a:gd name="adj" fmla="val 1087"/>
            </a:avLst>
          </a:prstGeom>
          <a:solidFill>
            <a:srgbClr val="F6F8FA"/>
          </a:solidFill>
          <a:ln w="9525">
            <a:solidFill>
              <a:srgbClr val="D0D7DE"/>
            </a:solidFill>
            <a:prstDash val="solid"/>
          </a:ln>
        </p:spPr>
      </p:sp>
      <p:sp>
        <p:nvSpPr>
          <p:cNvPr id="15" name="Text 12"/>
          <p:cNvSpPr txBox="1"/>
          <p:nvPr/>
        </p:nvSpPr>
        <p:spPr>
          <a:xfrm>
            <a:off x="6319876" y="2983504"/>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Tanggal</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static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boolean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isKabisat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tahun)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static</a:t>
            </a:r>
            <a:r>
              <a:rPr lang="en-US" altLang="en-US" sz="1200" dirty="0">
                <a:solidFill>
                  <a:srgbClr val="1F2328"/>
                </a:solidFill>
                <a:latin typeface="Consolas" pitchFamily="34" charset="0"/>
                <a:ea typeface="Consolas" pitchFamily="34" charset="-122"/>
                <a:cs typeface="Consolas" pitchFamily="34" charset="-120"/>
              </a:rPr>
              <a:t> Tanggal </a:t>
            </a:r>
            <a:r>
              <a:rPr lang="en-US" altLang="en-US" sz="1200" dirty="0">
                <a:solidFill>
                  <a:srgbClr val="8250DF"/>
                </a:solidFill>
                <a:latin typeface="Consolas" pitchFamily="34" charset="0"/>
                <a:ea typeface="Consolas" pitchFamily="34" charset="-122"/>
                <a:cs typeface="Consolas" pitchFamily="34" charset="-120"/>
              </a:rPr>
              <a:t>dariTeks</a:t>
            </a:r>
            <a:r>
              <a:rPr lang="en-US" altLang="en-US" sz="1200" dirty="0">
                <a:solidFill>
                  <a:srgbClr val="1F2328"/>
                </a:solidFill>
                <a:latin typeface="Consolas" pitchFamily="34" charset="0"/>
                <a:ea typeface="Consolas" pitchFamily="34" charset="-122"/>
                <a:cs typeface="Consolas" pitchFamily="34" charset="-120"/>
              </a:rPr>
              <a:t>(String teks)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String[] bagian = teks.split(</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new</a:t>
            </a:r>
            <a:r>
              <a:rPr lang="en-US" altLang="en-US" sz="1200" dirty="0">
                <a:solidFill>
                  <a:srgbClr val="1F2328"/>
                </a:solidFill>
                <a:latin typeface="Consolas" pitchFamily="34" charset="0"/>
                <a:ea typeface="Consolas" pitchFamily="34" charset="-122"/>
                <a:cs typeface="Consolas" pitchFamily="34" charset="-120"/>
              </a:rPr>
              <a:t> Tanggal(hari, bulan, tahun);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 dalam main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Tanggal sumpahPemuda = Tanggal.dariTeks(</a:t>
            </a:r>
            <a:r>
              <a:rPr lang="en-US" altLang="en-US" sz="1200" dirty="0">
                <a:solidFill>
                  <a:srgbClr val="0A3069"/>
                </a:solidFill>
                <a:latin typeface="Consolas" pitchFamily="34" charset="0"/>
                <a:ea typeface="Consolas" pitchFamily="34" charset="-122"/>
                <a:cs typeface="Consolas" pitchFamily="34" charset="-120"/>
              </a:rPr>
              <a:t>"28-10-1928"</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Konstruktor atau Beberapa?</a:t>
            </a:r>
            <a:endParaRPr lang="id-ID" sz="3200" dirty="0"/>
          </a:p>
        </p:txBody>
      </p:sp>
      <p:pic>
        <p:nvPicPr>
          <p:cNvPr id="5" name="Image 1" descr="Nilai bawaan (default value): nilai yang otomatis dipakai parameter jika argumennya tidak dikirim.">    </p:cNvPr>
          <p:cNvPicPr>
            <a:picLocks noChangeAspect="1"/>
          </p:cNvPicPr>
          <p:nvPr/>
        </p:nvPicPr>
        <p:blipFill>
          <a:blip r:embed="rId2"/>
          <a:stretch>
            <a:fillRect/>
          </a:stretch>
        </p:blipFill>
        <p:spPr>
          <a:xfrm>
            <a:off x="548640" y="2175320"/>
            <a:ext cx="11094415" cy="2792601"/>
          </a:xfrm>
          <a:prstGeom prst="rect">
            <a:avLst/>
          </a:prstGeom>
        </p:spPr>
      </p:pic>
      <p:sp>
        <p:nvSpPr>
          <p:cNvPr id="6" name="Text 2"/>
          <p:cNvSpPr txBox="1"/>
          <p:nvPr/>
        </p:nvSpPr>
        <p:spPr>
          <a:xfrm>
            <a:off x="1005840" y="5077650"/>
            <a:ext cx="10180015" cy="427990"/>
          </a:xfrm>
          <a:prstGeom prst="rect">
            <a:avLst/>
          </a:prstGeom>
          <a:noFill/>
          <a:ln/>
        </p:spPr>
        <p:txBody>
          <a:bodyPr wrap="square" lIns="0" tIns="0" rIns="0" bIns="0" rtlCol="0" anchor="t"/>
          <a:lstStyle/>
          <a:p>
            <a:pPr algn="ctr" indent="0" marL="0">
              <a:buNone/>
            </a:pPr>
            <a:r>
              <a:rPr lang="id-ID" altLang="en-US" sz="1700" b="1" dirty="0">
                <a:solidFill>
                  <a:srgbClr val="57606A"/>
                </a:solidFill>
              </a:rPr>
              <a:t>Nilai bawaan</a:t>
            </a:r>
            <a:r>
              <a:rPr lang="id-ID" altLang="en-US" sz="1700" dirty="0">
                <a:solidFill>
                  <a:srgbClr val="57606A"/>
                </a:solidFill>
              </a:rPr>
              <a:t> (</a:t>
            </a:r>
            <a:r>
              <a:rPr lang="id-ID" altLang="en-US" sz="1700" i="1" dirty="0">
                <a:solidFill>
                  <a:srgbClr val="57606A"/>
                </a:solidFill>
              </a:rPr>
              <a:t>default value</a:t>
            </a:r>
            <a:r>
              <a:rPr lang="id-ID" altLang="en-US" sz="1700" dirty="0">
                <a:solidFill>
                  <a:srgbClr val="57606A"/>
                </a:solidFill>
              </a:rPr>
              <a:t>): nilai yang otomatis dipakai parameter jika argumennya tidak dikirim.</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Nilai Bawaan dan </a:t>
            </a:r>
            <a:r>
              <a:rPr lang="id-ID" altLang="en-US" sz="3200" b="1" i="1" dirty="0">
                <a:solidFill>
                  <a:srgbClr val="0A3069"/>
                </a:solidFill>
              </a:rPr>
              <a:t>Overloading</a:t>
            </a:r>
            <a:r>
              <a:rPr lang="id-ID" altLang="en-US" sz="3200" b="1" dirty="0">
                <a:solidFill>
                  <a:srgbClr val="0A3069"/>
                </a:solidFill>
              </a:rPr>
              <a:t> Konstruktor</a:t>
            </a:r>
            <a:endParaRPr lang="id-ID" sz="3200" dirty="0"/>
          </a:p>
        </p:txBody>
      </p:sp>
      <p:sp>
        <p:nvSpPr>
          <p:cNvPr id="5" name="Text 2"/>
          <p:cNvSpPr txBox="1"/>
          <p:nvPr/>
        </p:nvSpPr>
        <p:spPr>
          <a:xfrm>
            <a:off x="548640" y="1799814"/>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Python: satu konstruktor dengan nilai bawaan. Java: beberapa konstruktor yang meneruskan ke konstruktor lengkap.</a:t>
            </a:r>
            <a:endParaRPr lang="id-ID" sz="1800" dirty="0"/>
          </a:p>
        </p:txBody>
      </p:sp>
      <p:sp>
        <p:nvSpPr>
          <p:cNvPr id="6" name="Shape 3"/>
          <p:cNvSpPr/>
          <p:nvPr/>
        </p:nvSpPr>
        <p:spPr>
          <a:xfrm>
            <a:off x="548640" y="2234154"/>
            <a:ext cx="1051560" cy="329184"/>
          </a:xfrm>
          <a:prstGeom prst="roundRect">
            <a:avLst>
              <a:gd name="adj" fmla="val 138889"/>
            </a:avLst>
          </a:prstGeom>
          <a:solidFill>
            <a:srgbClr val="3572A5"/>
          </a:solidFill>
          <a:ln/>
        </p:spPr>
      </p:sp>
      <p:sp>
        <p:nvSpPr>
          <p:cNvPr id="7" name="Text 4"/>
          <p:cNvSpPr txBox="1"/>
          <p:nvPr/>
        </p:nvSpPr>
        <p:spPr>
          <a:xfrm>
            <a:off x="548640" y="223415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3415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python/contoh/contoh04_nilai_bawaan.py</a:t>
            </a:r>
            <a:endParaRPr lang="id-ID" sz="1100" dirty="0"/>
          </a:p>
        </p:txBody>
      </p:sp>
      <p:sp>
        <p:nvSpPr>
          <p:cNvPr id="9" name="Shape 6"/>
          <p:cNvSpPr/>
          <p:nvPr/>
        </p:nvSpPr>
        <p:spPr>
          <a:xfrm>
            <a:off x="548640" y="2654778"/>
            <a:ext cx="5432908" cy="2953512"/>
          </a:xfrm>
          <a:prstGeom prst="roundRect">
            <a:avLst>
              <a:gd name="adj" fmla="val 959"/>
            </a:avLst>
          </a:prstGeom>
          <a:solidFill>
            <a:srgbClr val="F6F8FA"/>
          </a:solidFill>
          <a:ln w="9525">
            <a:solidFill>
              <a:srgbClr val="D0D7DE"/>
            </a:solidFill>
            <a:prstDash val="solid"/>
          </a:ln>
        </p:spPr>
      </p:sp>
      <p:sp>
        <p:nvSpPr>
          <p:cNvPr id="10" name="Text 7"/>
          <p:cNvSpPr txBox="1"/>
          <p:nvPr/>
        </p:nvSpPr>
        <p:spPr>
          <a:xfrm>
            <a:off x="658368" y="2746218"/>
            <a:ext cx="5213452" cy="2770632"/>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Laptop</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__init__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merek, ram=</a:t>
            </a:r>
            <a:r>
              <a:rPr lang="en-US" altLang="en-US" sz="1200" dirty="0">
                <a:solidFill>
                  <a:srgbClr val="0550AE"/>
                </a:solidFill>
                <a:latin typeface="Consolas" pitchFamily="34" charset="0"/>
                <a:ea typeface="Consolas" pitchFamily="34" charset="-122"/>
                <a:cs typeface="Consolas" pitchFamily="34" charset="-120"/>
              </a:rPr>
              <a:t>8</a:t>
            </a:r>
            <a:r>
              <a:rPr lang="en-US" altLang="en-US" sz="1200" dirty="0">
                <a:solidFill>
                  <a:srgbClr val="1F2328"/>
                </a:solidFill>
                <a:latin typeface="Consolas" pitchFamily="34" charset="0"/>
                <a:ea typeface="Consolas" pitchFamily="34" charset="-122"/>
                <a:cs typeface="Consolas" pitchFamily="34" charset="-120"/>
              </a:rPr>
              <a:t>, penyimpanan=</a:t>
            </a:r>
            <a:r>
              <a:rPr lang="en-US" altLang="en-US" sz="1200" dirty="0">
                <a:solidFill>
                  <a:srgbClr val="0550AE"/>
                </a:solidFill>
                <a:latin typeface="Consolas" pitchFamily="34" charset="0"/>
                <a:ea typeface="Consolas" pitchFamily="34" charset="-122"/>
                <a:cs typeface="Consolas" pitchFamily="34" charset="-120"/>
              </a:rPr>
              <a:t>512</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.merek = merek</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.ram = ram</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.penyimpanan = penyimpanan</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 dalam main()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laptop_ayu = Laptop(</a:t>
            </a:r>
            <a:r>
              <a:rPr lang="en-US" altLang="en-US" sz="1200" dirty="0">
                <a:solidFill>
                  <a:srgbClr val="0A3069"/>
                </a:solidFill>
                <a:latin typeface="Consolas" pitchFamily="34" charset="0"/>
                <a:ea typeface="Consolas" pitchFamily="34" charset="-122"/>
                <a:cs typeface="Consolas" pitchFamily="34" charset="-120"/>
              </a:rPr>
              <a:t>"Asus"</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laptop_bima = Laptop(</a:t>
            </a:r>
            <a:r>
              <a:rPr lang="en-US" altLang="en-US" sz="1200" dirty="0">
                <a:solidFill>
                  <a:srgbClr val="0A3069"/>
                </a:solidFill>
                <a:latin typeface="Consolas" pitchFamily="34" charset="0"/>
                <a:ea typeface="Consolas" pitchFamily="34" charset="-122"/>
                <a:cs typeface="Consolas" pitchFamily="34" charset="-120"/>
              </a:rPr>
              <a:t>"Lenovo"</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16</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laptop_citra = Laptop(</a:t>
            </a:r>
            <a:r>
              <a:rPr lang="en-US" altLang="en-US" sz="1200" dirty="0">
                <a:solidFill>
                  <a:srgbClr val="0A3069"/>
                </a:solidFill>
                <a:latin typeface="Consolas" pitchFamily="34" charset="0"/>
                <a:ea typeface="Consolas" pitchFamily="34" charset="-122"/>
                <a:cs typeface="Consolas" pitchFamily="34" charset="-120"/>
              </a:rPr>
              <a:t>"Acer"</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16</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1024</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laptop_dimas = Laptop(</a:t>
            </a:r>
            <a:r>
              <a:rPr lang="en-US" altLang="en-US" sz="1200" dirty="0">
                <a:solidFill>
                  <a:srgbClr val="0A3069"/>
                </a:solidFill>
                <a:latin typeface="Consolas" pitchFamily="34" charset="0"/>
                <a:ea typeface="Consolas" pitchFamily="34" charset="-122"/>
                <a:cs typeface="Consolas" pitchFamily="34" charset="-120"/>
              </a:rPr>
              <a:t>"HP"</a:t>
            </a:r>
            <a:r>
              <a:rPr lang="en-US" altLang="en-US" sz="1200" dirty="0">
                <a:solidFill>
                  <a:srgbClr val="1F2328"/>
                </a:solidFill>
                <a:latin typeface="Consolas" pitchFamily="34" charset="0"/>
                <a:ea typeface="Consolas" pitchFamily="34" charset="-122"/>
                <a:cs typeface="Consolas" pitchFamily="34" charset="-120"/>
              </a:rPr>
              <a:t>, penyimpanan=</a:t>
            </a:r>
            <a:r>
              <a:rPr lang="en-US" altLang="en-US" sz="1200" dirty="0">
                <a:solidFill>
                  <a:srgbClr val="0550AE"/>
                </a:solidFill>
                <a:latin typeface="Consolas" pitchFamily="34" charset="0"/>
                <a:ea typeface="Consolas" pitchFamily="34" charset="-122"/>
                <a:cs typeface="Consolas" pitchFamily="34" charset="-120"/>
              </a:rPr>
              <a:t>256</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11" name="Shape 8"/>
          <p:cNvSpPr/>
          <p:nvPr/>
        </p:nvSpPr>
        <p:spPr>
          <a:xfrm>
            <a:off x="6210148" y="2234154"/>
            <a:ext cx="1051560" cy="329184"/>
          </a:xfrm>
          <a:prstGeom prst="roundRect">
            <a:avLst>
              <a:gd name="adj" fmla="val 138889"/>
            </a:avLst>
          </a:prstGeom>
          <a:solidFill>
            <a:srgbClr val="B07219"/>
          </a:solidFill>
          <a:ln/>
        </p:spPr>
      </p:sp>
      <p:sp>
        <p:nvSpPr>
          <p:cNvPr id="12" name="Text 9"/>
          <p:cNvSpPr txBox="1"/>
          <p:nvPr/>
        </p:nvSpPr>
        <p:spPr>
          <a:xfrm>
            <a:off x="6210148" y="223415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3415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java/contoh/Contoh04OverloadingKonstruktor.java</a:t>
            </a:r>
            <a:endParaRPr lang="id-ID" sz="1100" dirty="0"/>
          </a:p>
        </p:txBody>
      </p:sp>
      <p:sp>
        <p:nvSpPr>
          <p:cNvPr id="14" name="Shape 11"/>
          <p:cNvSpPr/>
          <p:nvPr/>
        </p:nvSpPr>
        <p:spPr>
          <a:xfrm>
            <a:off x="6210148" y="2654778"/>
            <a:ext cx="5432908" cy="2953512"/>
          </a:xfrm>
          <a:prstGeom prst="roundRect">
            <a:avLst>
              <a:gd name="adj" fmla="val 959"/>
            </a:avLst>
          </a:prstGeom>
          <a:solidFill>
            <a:srgbClr val="F6F8FA"/>
          </a:solidFill>
          <a:ln w="9525">
            <a:solidFill>
              <a:srgbClr val="D0D7DE"/>
            </a:solidFill>
            <a:prstDash val="solid"/>
          </a:ln>
        </p:spPr>
      </p:sp>
      <p:sp>
        <p:nvSpPr>
          <p:cNvPr id="15" name="Text 12"/>
          <p:cNvSpPr txBox="1"/>
          <p:nvPr/>
        </p:nvSpPr>
        <p:spPr>
          <a:xfrm>
            <a:off x="6319876" y="2746218"/>
            <a:ext cx="5213452" cy="2770632"/>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Laptop</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Laptop(String merek,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ram,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penyimpanan)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Laptop(String merek,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ram)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(merek, ram, </a:t>
            </a:r>
            <a:r>
              <a:rPr lang="en-US" altLang="en-US" sz="1200" dirty="0">
                <a:solidFill>
                  <a:srgbClr val="0550AE"/>
                </a:solidFill>
                <a:latin typeface="Consolas" pitchFamily="34" charset="0"/>
                <a:ea typeface="Consolas" pitchFamily="34" charset="-122"/>
                <a:cs typeface="Consolas" pitchFamily="34" charset="-120"/>
              </a:rPr>
              <a:t>512</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Laptop(String merek)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(merek, </a:t>
            </a:r>
            <a:r>
              <a:rPr lang="en-US" altLang="en-US" sz="1200" dirty="0">
                <a:solidFill>
                  <a:srgbClr val="0550AE"/>
                </a:solidFill>
                <a:latin typeface="Consolas" pitchFamily="34" charset="0"/>
                <a:ea typeface="Consolas" pitchFamily="34" charset="-122"/>
                <a:cs typeface="Consolas" pitchFamily="34" charset="-120"/>
              </a:rPr>
              <a:t>8</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512</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 dalam main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Laptop laptopAyu = </a:t>
            </a:r>
            <a:r>
              <a:rPr lang="en-US" altLang="en-US" sz="1200" dirty="0">
                <a:solidFill>
                  <a:srgbClr val="CF222E"/>
                </a:solidFill>
                <a:latin typeface="Consolas" pitchFamily="34" charset="0"/>
                <a:ea typeface="Consolas" pitchFamily="34" charset="-122"/>
                <a:cs typeface="Consolas" pitchFamily="34" charset="-120"/>
              </a:rPr>
              <a:t>new</a:t>
            </a:r>
            <a:r>
              <a:rPr lang="en-US" altLang="en-US" sz="1200" dirty="0">
                <a:solidFill>
                  <a:srgbClr val="1F2328"/>
                </a:solidFill>
                <a:latin typeface="Consolas" pitchFamily="34" charset="0"/>
                <a:ea typeface="Consolas" pitchFamily="34" charset="-122"/>
                <a:cs typeface="Consolas" pitchFamily="34" charset="-120"/>
              </a:rPr>
              <a:t> Laptop(</a:t>
            </a:r>
            <a:r>
              <a:rPr lang="en-US" altLang="en-US" sz="1200" dirty="0">
                <a:solidFill>
                  <a:srgbClr val="0A3069"/>
                </a:solidFill>
                <a:latin typeface="Consolas" pitchFamily="34" charset="0"/>
                <a:ea typeface="Consolas" pitchFamily="34" charset="-122"/>
                <a:cs typeface="Consolas" pitchFamily="34" charset="-120"/>
              </a:rPr>
              <a:t>"Asus"</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Laptop laptopBima = </a:t>
            </a:r>
            <a:r>
              <a:rPr lang="en-US" altLang="en-US" sz="1200" dirty="0">
                <a:solidFill>
                  <a:srgbClr val="CF222E"/>
                </a:solidFill>
                <a:latin typeface="Consolas" pitchFamily="34" charset="0"/>
                <a:ea typeface="Consolas" pitchFamily="34" charset="-122"/>
                <a:cs typeface="Consolas" pitchFamily="34" charset="-120"/>
              </a:rPr>
              <a:t>new</a:t>
            </a:r>
            <a:r>
              <a:rPr lang="en-US" altLang="en-US" sz="1200" dirty="0">
                <a:solidFill>
                  <a:srgbClr val="1F2328"/>
                </a:solidFill>
                <a:latin typeface="Consolas" pitchFamily="34" charset="0"/>
                <a:ea typeface="Consolas" pitchFamily="34" charset="-122"/>
                <a:cs typeface="Consolas" pitchFamily="34" charset="-120"/>
              </a:rPr>
              <a:t> Laptop(</a:t>
            </a:r>
            <a:r>
              <a:rPr lang="en-US" altLang="en-US" sz="1200" dirty="0">
                <a:solidFill>
                  <a:srgbClr val="0A3069"/>
                </a:solidFill>
                <a:latin typeface="Consolas" pitchFamily="34" charset="0"/>
                <a:ea typeface="Consolas" pitchFamily="34" charset="-122"/>
                <a:cs typeface="Consolas" pitchFamily="34" charset="-120"/>
              </a:rPr>
              <a:t>"Lenovo"</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16</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Objek yang Bisa Memperkenalkan Diri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Representasi teks dan </a:t>
            </a:r>
            <a:r>
              <a:rPr lang="id-ID" altLang="en-US" sz="2200" i="1" dirty="0">
                <a:solidFill>
                  <a:srgbClr val="C9D7E8"/>
                </a:solidFill>
              </a:rPr>
              <a:t>method</a:t>
            </a:r>
            <a:r>
              <a:rPr lang="id-ID" altLang="en-US" sz="2200" dirty="0">
                <a:solidFill>
                  <a:srgbClr val="C9D7E8"/>
                </a:solidFill>
              </a:rPr>
              <a:t> yang menjawab ya atau tidak.</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Representasi Teks: </a:t>
            </a:r>
            <a:r>
              <a:rPr lang="id-ID" altLang="en-US" sz="3200" b="1" dirty="0">
                <a:solidFill>
                  <a:srgbClr val="0A3069"/>
                </a:solidFill>
                <a:latin typeface="Consolas" pitchFamily="34" charset="0"/>
                <a:ea typeface="Consolas" pitchFamily="34" charset="-122"/>
                <a:cs typeface="Consolas" pitchFamily="34" charset="-120"/>
              </a:rPr>
              <a:t>__str__</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toString()</a:t>
            </a:r>
            <a:endParaRPr lang="id-ID" sz="3200" dirty="0"/>
          </a:p>
        </p:txBody>
      </p:sp>
      <p:sp>
        <p:nvSpPr>
          <p:cNvPr id="5" name="Text 2"/>
          <p:cNvSpPr txBox="1"/>
          <p:nvPr/>
        </p:nvSpPr>
        <p:spPr>
          <a:xfrm>
            <a:off x="548640" y="1862755"/>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Dipanggil </a:t>
            </a:r>
            <a:r>
              <a:rPr lang="id-ID" altLang="en-US" sz="1800" b="1" dirty="0">
                <a:solidFill>
                  <a:srgbClr val="57606A"/>
                </a:solidFill>
              </a:rPr>
              <a:t>otomatis</a:t>
            </a:r>
            <a:r>
              <a:rPr lang="id-ID" altLang="en-US" sz="1800" dirty="0">
                <a:solidFill>
                  <a:srgbClr val="57606A"/>
                </a:solidFill>
              </a:rPr>
              <a:t> saat objek dicetak. Tugasnya </a:t>
            </a:r>
            <a:r>
              <a:rPr lang="id-ID" altLang="en-US" sz="1800" b="1" dirty="0">
                <a:solidFill>
                  <a:srgbClr val="57606A"/>
                </a:solidFill>
              </a:rPr>
              <a:t>mengembalikan</a:t>
            </a:r>
            <a:r>
              <a:rPr lang="id-ID" altLang="en-US" sz="1800" dirty="0">
                <a:solidFill>
                  <a:srgbClr val="57606A"/>
                </a:solidFill>
              </a:rPr>
              <a:t> teks, bukan mencetaknya.</a:t>
            </a:r>
            <a:endParaRPr lang="id-ID" sz="1800" dirty="0"/>
          </a:p>
        </p:txBody>
      </p:sp>
      <p:sp>
        <p:nvSpPr>
          <p:cNvPr id="6" name="Shape 3"/>
          <p:cNvSpPr/>
          <p:nvPr/>
        </p:nvSpPr>
        <p:spPr>
          <a:xfrm>
            <a:off x="548640" y="2297095"/>
            <a:ext cx="1051560" cy="329184"/>
          </a:xfrm>
          <a:prstGeom prst="roundRect">
            <a:avLst>
              <a:gd name="adj" fmla="val 138889"/>
            </a:avLst>
          </a:prstGeom>
          <a:solidFill>
            <a:srgbClr val="3572A5"/>
          </a:solidFill>
          <a:ln/>
        </p:spPr>
      </p:sp>
      <p:sp>
        <p:nvSpPr>
          <p:cNvPr id="7" name="Text 4"/>
          <p:cNvSpPr txBox="1"/>
          <p:nvPr/>
        </p:nvSpPr>
        <p:spPr>
          <a:xfrm>
            <a:off x="548640" y="229709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9709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python/contoh/contoh05_str.py</a:t>
            </a:r>
            <a:endParaRPr lang="id-ID" sz="1100" dirty="0"/>
          </a:p>
        </p:txBody>
      </p:sp>
      <p:sp>
        <p:nvSpPr>
          <p:cNvPr id="9" name="Shape 6"/>
          <p:cNvSpPr/>
          <p:nvPr/>
        </p:nvSpPr>
        <p:spPr>
          <a:xfrm>
            <a:off x="548640" y="2717719"/>
            <a:ext cx="5432908" cy="1904492"/>
          </a:xfrm>
          <a:prstGeom prst="roundRect">
            <a:avLst>
              <a:gd name="adj" fmla="val 2305"/>
            </a:avLst>
          </a:prstGeom>
          <a:solidFill>
            <a:srgbClr val="F6F8FA"/>
          </a:solidFill>
          <a:ln w="9525">
            <a:solidFill>
              <a:srgbClr val="D0D7DE"/>
            </a:solidFill>
            <a:prstDash val="solid"/>
          </a:ln>
        </p:spPr>
      </p:sp>
      <p:sp>
        <p:nvSpPr>
          <p:cNvPr id="10" name="Text 7"/>
          <p:cNvSpPr txBox="1"/>
          <p:nvPr/>
        </p:nvSpPr>
        <p:spPr>
          <a:xfrm>
            <a:off x="658368" y="2809159"/>
            <a:ext cx="5213452" cy="1721612"/>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Motor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plat, merek, warna):</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__str__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f"{</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.plat</a:t>
            </a:r>
            <a:r>
              <a:rPr lang="en-US" altLang="en-US" sz="1100" dirty="0">
                <a:solidFill>
                  <a:srgbClr val="0A3069"/>
                </a:solidFill>
                <a:latin typeface="Consolas" pitchFamily="34" charset="0"/>
                <a:ea typeface="Consolas" pitchFamily="34" charset="-122"/>
                <a:cs typeface="Consolas" pitchFamily="34" charset="-120"/>
              </a:rPr>
              <a:t>} -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.merek</a:t>
            </a:r>
            <a:r>
              <a:rPr lang="en-US" altLang="en-US" sz="1100" dirty="0">
                <a:solidFill>
                  <a:srgbClr val="0A3069"/>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.warna</a:t>
            </a:r>
            <a:r>
              <a:rPr lang="en-US" altLang="en-US" sz="1100" dirty="0">
                <a:solidFill>
                  <a:srgbClr val="0A3069"/>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 dalam main()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motor_budi = Motor(</a:t>
            </a:r>
            <a:r>
              <a:rPr lang="en-US" altLang="en-US" sz="1100" dirty="0">
                <a:solidFill>
                  <a:srgbClr val="0A3069"/>
                </a:solidFill>
                <a:latin typeface="Consolas" pitchFamily="34" charset="0"/>
                <a:ea typeface="Consolas" pitchFamily="34" charset="-122"/>
                <a:cs typeface="Consolas" pitchFamily="34" charset="-120"/>
              </a:rPr>
              <a:t>"KT 1234 AB"</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"Honda Beat"</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"merah"</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(motor_budi)</a:t>
            </a:r>
            <a:endParaRPr lang="en-US" sz="1100" dirty="0"/>
          </a:p>
          <a:p>
            <a:pPr indent="0" marL="0">
              <a:buNone/>
            </a:pP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f"Motor Budi: {</a:t>
            </a:r>
            <a:r>
              <a:rPr lang="en-US" altLang="en-US" sz="1100" dirty="0">
                <a:solidFill>
                  <a:srgbClr val="1F2328"/>
                </a:solidFill>
                <a:latin typeface="Consolas" pitchFamily="34" charset="0"/>
                <a:ea typeface="Consolas" pitchFamily="34" charset="-122"/>
                <a:cs typeface="Consolas" pitchFamily="34" charset="-120"/>
              </a:rPr>
              <a:t>motor_budi</a:t>
            </a:r>
            <a:r>
              <a:rPr lang="en-US" altLang="en-US" sz="1100" dirty="0">
                <a:solidFill>
                  <a:srgbClr val="0A3069"/>
                </a:solidFill>
                <a:latin typeface="Consolas" pitchFamily="34" charset="0"/>
                <a:ea typeface="Consolas" pitchFamily="34" charset="-122"/>
                <a:cs typeface="Consolas" pitchFamily="34" charset="-120"/>
              </a:rPr>
              <a: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1" name="Shape 8"/>
          <p:cNvSpPr/>
          <p:nvPr/>
        </p:nvSpPr>
        <p:spPr>
          <a:xfrm>
            <a:off x="6210148" y="2297095"/>
            <a:ext cx="1051560" cy="329184"/>
          </a:xfrm>
          <a:prstGeom prst="roundRect">
            <a:avLst>
              <a:gd name="adj" fmla="val 138889"/>
            </a:avLst>
          </a:prstGeom>
          <a:solidFill>
            <a:srgbClr val="B07219"/>
          </a:solidFill>
          <a:ln/>
        </p:spPr>
      </p:sp>
      <p:sp>
        <p:nvSpPr>
          <p:cNvPr id="12" name="Text 9"/>
          <p:cNvSpPr txBox="1"/>
          <p:nvPr/>
        </p:nvSpPr>
        <p:spPr>
          <a:xfrm>
            <a:off x="6210148" y="229709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9709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java/contoh/Contoh05ToString.java</a:t>
            </a:r>
            <a:endParaRPr lang="id-ID" sz="1100" dirty="0"/>
          </a:p>
        </p:txBody>
      </p:sp>
      <p:sp>
        <p:nvSpPr>
          <p:cNvPr id="14" name="Shape 11"/>
          <p:cNvSpPr/>
          <p:nvPr/>
        </p:nvSpPr>
        <p:spPr>
          <a:xfrm>
            <a:off x="6210148" y="2717719"/>
            <a:ext cx="5432908" cy="1904492"/>
          </a:xfrm>
          <a:prstGeom prst="roundRect">
            <a:avLst>
              <a:gd name="adj" fmla="val 2305"/>
            </a:avLst>
          </a:prstGeom>
          <a:solidFill>
            <a:srgbClr val="F6F8FA"/>
          </a:solidFill>
          <a:ln w="9525">
            <a:solidFill>
              <a:srgbClr val="D0D7DE"/>
            </a:solidFill>
            <a:prstDash val="solid"/>
          </a:ln>
        </p:spPr>
      </p:sp>
      <p:sp>
        <p:nvSpPr>
          <p:cNvPr id="15" name="Text 12"/>
          <p:cNvSpPr txBox="1"/>
          <p:nvPr/>
        </p:nvSpPr>
        <p:spPr>
          <a:xfrm>
            <a:off x="6319876" y="2809159"/>
            <a:ext cx="5213452" cy="1721612"/>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Motor</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@Override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String </a:t>
            </a:r>
            <a:r>
              <a:rPr lang="en-US" altLang="en-US" sz="1100" dirty="0">
                <a:solidFill>
                  <a:srgbClr val="8250DF"/>
                </a:solidFill>
                <a:latin typeface="Consolas" pitchFamily="34" charset="0"/>
                <a:ea typeface="Consolas" pitchFamily="34" charset="-122"/>
                <a:cs typeface="Consolas" pitchFamily="34" charset="-120"/>
              </a:rPr>
              <a:t>toString</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plat + </a:t>
            </a:r>
            <a:r>
              <a:rPr lang="en-US" altLang="en-US" sz="1100" dirty="0">
                <a:solidFill>
                  <a:srgbClr val="0A3069"/>
                </a:solidFill>
                <a:latin typeface="Consolas" pitchFamily="34" charset="0"/>
                <a:ea typeface="Consolas" pitchFamily="34" charset="-122"/>
                <a:cs typeface="Consolas" pitchFamily="34" charset="-120"/>
              </a:rPr>
              <a:t>" - "</a:t>
            </a:r>
            <a:r>
              <a:rPr lang="en-US" altLang="en-US" sz="1100" dirty="0">
                <a:solidFill>
                  <a:srgbClr val="1F2328"/>
                </a:solidFill>
                <a:latin typeface="Consolas" pitchFamily="34" charset="0"/>
                <a:ea typeface="Consolas" pitchFamily="34" charset="-122"/>
                <a:cs typeface="Consolas" pitchFamily="34" charset="-120"/>
              </a:rPr>
              <a:t> + merek + </a:t>
            </a:r>
            <a:r>
              <a:rPr lang="en-US" altLang="en-US" sz="1100" dirty="0">
                <a:solidFill>
                  <a:srgbClr val="0A3069"/>
                </a:solidFill>
                <a:latin typeface="Consolas" pitchFamily="34" charset="0"/>
                <a:ea typeface="Consolas" pitchFamily="34" charset="-122"/>
                <a:cs typeface="Consolas" pitchFamily="34" charset="-120"/>
              </a:rPr>
              <a:t>" ("</a:t>
            </a:r>
            <a:r>
              <a:rPr lang="en-US" altLang="en-US" sz="1100" dirty="0">
                <a:solidFill>
                  <a:srgbClr val="1F2328"/>
                </a:solidFill>
                <a:latin typeface="Consolas" pitchFamily="34" charset="0"/>
                <a:ea typeface="Consolas" pitchFamily="34" charset="-122"/>
                <a:cs typeface="Consolas" pitchFamily="34" charset="-120"/>
              </a:rPr>
              <a:t> + warna + </a:t>
            </a:r>
            <a:r>
              <a:rPr lang="en-US" altLang="en-US" sz="1100" dirty="0">
                <a:solidFill>
                  <a:srgbClr val="0A3069"/>
                </a:solidFill>
                <a:latin typeface="Consolas" pitchFamily="34" charset="0"/>
                <a:ea typeface="Consolas" pitchFamily="34" charset="-122"/>
                <a:cs typeface="Consolas" pitchFamily="34" charset="-120"/>
              </a:rPr>
              <a: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 dalam main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System.out.println(motorBudi);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System.out.println(</a:t>
            </a:r>
            <a:r>
              <a:rPr lang="en-US" altLang="en-US" sz="1100" dirty="0">
                <a:solidFill>
                  <a:srgbClr val="0A3069"/>
                </a:solidFill>
                <a:latin typeface="Consolas" pitchFamily="34" charset="0"/>
                <a:ea typeface="Consolas" pitchFamily="34" charset="-122"/>
                <a:cs typeface="Consolas" pitchFamily="34" charset="-120"/>
              </a:rPr>
              <a:t>"Motor Budi: "</a:t>
            </a:r>
            <a:r>
              <a:rPr lang="en-US" altLang="en-US" sz="1100" dirty="0">
                <a:solidFill>
                  <a:srgbClr val="1F2328"/>
                </a:solidFill>
                <a:latin typeface="Consolas" pitchFamily="34" charset="0"/>
                <a:ea typeface="Consolas" pitchFamily="34" charset="-122"/>
                <a:cs typeface="Consolas" pitchFamily="34" charset="-120"/>
              </a:rPr>
              <a:t> + motorBudi);</a:t>
            </a:r>
            <a:endParaRPr lang="en-US" sz="1100" dirty="0"/>
          </a:p>
        </p:txBody>
      </p:sp>
      <p:sp>
        <p:nvSpPr>
          <p:cNvPr id="16" name="Shape 13"/>
          <p:cNvSpPr/>
          <p:nvPr/>
        </p:nvSpPr>
        <p:spPr>
          <a:xfrm>
            <a:off x="548640" y="4850811"/>
            <a:ext cx="11094415" cy="670560"/>
          </a:xfrm>
          <a:prstGeom prst="roundRect">
            <a:avLst>
              <a:gd name="adj" fmla="val 18595"/>
            </a:avLst>
          </a:prstGeom>
          <a:solidFill>
            <a:srgbClr val="0D1117"/>
          </a:solidFill>
          <a:ln/>
        </p:spPr>
      </p:sp>
      <p:sp>
        <p:nvSpPr>
          <p:cNvPr id="17" name="Shape 14"/>
          <p:cNvSpPr/>
          <p:nvPr/>
        </p:nvSpPr>
        <p:spPr>
          <a:xfrm>
            <a:off x="713232" y="4978827"/>
            <a:ext cx="960120" cy="292608"/>
          </a:xfrm>
          <a:prstGeom prst="roundRect">
            <a:avLst>
              <a:gd name="adj" fmla="val 156250"/>
            </a:avLst>
          </a:prstGeom>
          <a:solidFill>
            <a:srgbClr val="30363D"/>
          </a:solidFill>
          <a:ln/>
        </p:spPr>
      </p:sp>
      <p:sp>
        <p:nvSpPr>
          <p:cNvPr id="18" name="Text 15"/>
          <p:cNvSpPr txBox="1"/>
          <p:nvPr/>
        </p:nvSpPr>
        <p:spPr>
          <a:xfrm>
            <a:off x="713232" y="4978827"/>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19" name="Text 16"/>
          <p:cNvSpPr txBox="1"/>
          <p:nvPr/>
        </p:nvSpPr>
        <p:spPr>
          <a:xfrm>
            <a:off x="1828800" y="4978827"/>
            <a:ext cx="9631375" cy="451104"/>
          </a:xfrm>
          <a:prstGeom prst="rect">
            <a:avLst/>
          </a:prstGeom>
          <a:noFill/>
          <a:ln/>
        </p:spPr>
        <p:txBody>
          <a:bodyPr wrap="square" lIns="0" tIns="0" rIns="0" bIns="0" rtlCol="0" anchor="t"/>
          <a:lstStyle/>
          <a:p>
            <a:pPr indent="0" marL="0">
              <a:buNone/>
            </a:pPr>
            <a:r>
              <a:rPr lang="en-US" altLang="en-US" sz="1200" dirty="0">
                <a:solidFill>
                  <a:srgbClr val="E6EDF3"/>
                </a:solidFill>
                <a:latin typeface="Consolas" pitchFamily="34" charset="0"/>
                <a:ea typeface="Consolas" pitchFamily="34" charset="-122"/>
                <a:cs typeface="Consolas" pitchFamily="34" charset="-120"/>
              </a:rPr>
              <a:t>KT 1234 AB - Honda Beat (merah)</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Motor Budi: KT 1234 AB - Honda Beat (merah)</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Method</a:t>
            </a:r>
            <a:r>
              <a:rPr lang="id-ID" altLang="en-US" sz="3200" b="1" dirty="0">
                <a:solidFill>
                  <a:srgbClr val="0A3069"/>
                </a:solidFill>
              </a:rPr>
              <a:t> yang Menjawab Ya atau Tidak</a:t>
            </a:r>
            <a:endParaRPr lang="id-ID"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27840"/>
          <a:ext cx="11094415" cy="914400"/>
        </p:xfrm>
        <a:graphic>
          <a:graphicData uri="http://schemas.openxmlformats.org/drawingml/2006/table">
            <a:tbl>
              <a:tblPr/>
              <a:tblGrid>
                <a:gridCol w="5279350"/>
                <a:gridCol w="1965995"/>
                <a:gridCol w="3849070"/>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Nama yang baik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Dibaca sebagai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Nama yang kurang baik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stok_cukup(2)</a:t>
                      </a:r>
                      <a:r>
                        <a:rPr lang="id-ID" altLang="en-US" sz="2200" dirty="0">
                          <a:solidFill>
                            <a:srgbClr val="1F2328"/>
                          </a:solidFill>
                          <a:latin typeface="Calibri" pitchFamily="34" charset="0"/>
                          <a:ea typeface="Calibri" pitchFamily="34" charset="-122"/>
                          <a:cs typeface="Calibri" pitchFamily="34" charset="-120"/>
                        </a:rPr>
                        <a:t> / </a:t>
                      </a:r>
                      <a:r>
                        <a:rPr lang="id-ID" altLang="en-US" sz="2200" dirty="0">
                          <a:solidFill>
                            <a:srgbClr val="0A3069"/>
                          </a:solidFill>
                          <a:latin typeface="Consolas" pitchFamily="34" charset="0"/>
                          <a:ea typeface="Consolas" pitchFamily="34" charset="-122"/>
                          <a:cs typeface="Consolas" pitchFamily="34" charset="-120"/>
                        </a:rPr>
                        <a:t>stokCukup(2)</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“stoknya cukup untuk 2?”</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cek_stok(2)</a:t>
                      </a:r>
                      <a:r>
                        <a:rPr lang="id-ID" altLang="en-US" sz="2200" dirty="0">
                          <a:solidFill>
                            <a:srgbClr val="1F2328"/>
                          </a:solidFill>
                          <a:latin typeface="Calibri" pitchFamily="34" charset="0"/>
                          <a:ea typeface="Calibri" pitchFamily="34" charset="-122"/>
                          <a:cs typeface="Calibri" pitchFamily="34" charset="-120"/>
                        </a:rPr>
                        <a:t> (hasilnya apa?)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kabisat(2024)</a:t>
                      </a:r>
                      <a:r>
                        <a:rPr lang="id-ID" altLang="en-US" sz="2200" dirty="0">
                          <a:solidFill>
                            <a:srgbClr val="1F2328"/>
                          </a:solidFill>
                          <a:latin typeface="Calibri" pitchFamily="34" charset="0"/>
                          <a:ea typeface="Calibri" pitchFamily="34" charset="-122"/>
                          <a:cs typeface="Calibri" pitchFamily="34" charset="-120"/>
                        </a:rPr>
                        <a:t> / </a:t>
                      </a:r>
                      <a:r>
                        <a:rPr lang="id-ID" altLang="en-US" sz="2200" dirty="0">
                          <a:solidFill>
                            <a:srgbClr val="0A3069"/>
                          </a:solidFill>
                          <a:latin typeface="Consolas" pitchFamily="34" charset="0"/>
                          <a:ea typeface="Consolas" pitchFamily="34" charset="-122"/>
                          <a:cs typeface="Consolas" pitchFamily="34" charset="-120"/>
                        </a:rPr>
                        <a:t>isKabisat(2024)</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“2024 kabisat?”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tahun(2024)</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saldo_cukup(50000)</a:t>
                      </a:r>
                      <a:r>
                        <a:rPr lang="id-ID" altLang="en-US" sz="2200" dirty="0">
                          <a:solidFill>
                            <a:srgbClr val="1F2328"/>
                          </a:solidFill>
                          <a:latin typeface="Calibri" pitchFamily="34" charset="0"/>
                          <a:ea typeface="Calibri" pitchFamily="34" charset="-122"/>
                          <a:cs typeface="Calibri" pitchFamily="34" charset="-120"/>
                        </a:rPr>
                        <a:t> / </a:t>
                      </a:r>
                      <a:r>
                        <a:rPr lang="id-ID" altLang="en-US" sz="2200" dirty="0">
                          <a:solidFill>
                            <a:srgbClr val="0A3069"/>
                          </a:solidFill>
                          <a:latin typeface="Consolas" pitchFamily="34" charset="0"/>
                          <a:ea typeface="Consolas" pitchFamily="34" charset="-122"/>
                          <a:cs typeface="Consolas" pitchFamily="34" charset="-120"/>
                        </a:rPr>
                        <a:t>saldoCukup(50000)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“saldonya cukup?”</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proses_saldo(50000)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sudah_lunas()</a:t>
                      </a:r>
                      <a:r>
                        <a:rPr lang="id-ID" altLang="en-US" sz="2200" dirty="0">
                          <a:solidFill>
                            <a:srgbClr val="1F2328"/>
                          </a:solidFill>
                          <a:latin typeface="Calibri" pitchFamily="34" charset="0"/>
                          <a:ea typeface="Calibri" pitchFamily="34" charset="-122"/>
                          <a:cs typeface="Calibri" pitchFamily="34" charset="-120"/>
                        </a:rPr>
                        <a:t> / </a:t>
                      </a:r>
                      <a:r>
                        <a:rPr lang="id-ID" altLang="en-US" sz="2200" dirty="0">
                          <a:solidFill>
                            <a:srgbClr val="0A3069"/>
                          </a:solidFill>
                          <a:latin typeface="Consolas" pitchFamily="34" charset="0"/>
                          <a:ea typeface="Consolas" pitchFamily="34" charset="-122"/>
                          <a:cs typeface="Consolas" pitchFamily="34" charset="-120"/>
                        </a:rPr>
                        <a:t>sudahLunas()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“sudah lunas?”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status()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16072"/>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88493"/>
            <a:ext cx="184343" cy="184343"/>
          </a:xfrm>
          <a:prstGeom prst="rect">
            <a:avLst/>
          </a:prstGeom>
        </p:spPr>
      </p:pic>
      <p:sp>
        <p:nvSpPr>
          <p:cNvPr id="8" name="Text 3"/>
          <p:cNvSpPr txBox="1"/>
          <p:nvPr/>
        </p:nvSpPr>
        <p:spPr>
          <a:xfrm>
            <a:off x="1005840" y="5397784"/>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Tidak perlu menulis </a:t>
            </a:r>
            <a:r>
              <a:rPr lang="id-ID" altLang="en-US" sz="1800" dirty="0">
                <a:solidFill>
                  <a:srgbClr val="57606A"/>
                </a:solidFill>
                <a:latin typeface="Consolas" pitchFamily="34" charset="0"/>
                <a:ea typeface="Consolas" pitchFamily="34" charset="-122"/>
                <a:cs typeface="Consolas" pitchFamily="34" charset="-120"/>
              </a:rPr>
              <a:t>== True</a:t>
            </a:r>
            <a:r>
              <a:rPr lang="id-ID" altLang="en-US" sz="1800" dirty="0">
                <a:solidFill>
                  <a:srgbClr val="57606A"/>
                </a:solidFill>
              </a:rPr>
              <a:t>: cukup </a:t>
            </a:r>
            <a:r>
              <a:rPr lang="id-ID" altLang="en-US" sz="1800" dirty="0">
                <a:solidFill>
                  <a:srgbClr val="57606A"/>
                </a:solidFill>
                <a:latin typeface="Consolas" pitchFamily="34" charset="0"/>
                <a:ea typeface="Consolas" pitchFamily="34" charset="-122"/>
                <a:cs typeface="Consolas" pitchFamily="34" charset="-120"/>
              </a:rPr>
              <a:t>if menu.stok_cukup(2)</a:t>
            </a:r>
            <a:r>
              <a:rPr lang="id-ID" altLang="en-US" sz="1800" dirty="0">
                <a:solidFill>
                  <a:srgbClr val="57606A"/>
                </a:solidFill>
              </a:rPr>
              <a:t> (Python) atau </a:t>
            </a:r>
            <a:r>
              <a:rPr lang="id-ID" altLang="en-US" sz="1800" dirty="0">
                <a:solidFill>
                  <a:srgbClr val="57606A"/>
                </a:solidFill>
                <a:latin typeface="Consolas" pitchFamily="34" charset="0"/>
                <a:ea typeface="Consolas" pitchFamily="34" charset="-122"/>
                <a:cs typeface="Consolas" pitchFamily="34" charset="-120"/>
              </a:rPr>
              <a:t>if (menu.stokCukup(2))</a:t>
            </a:r>
            <a:r>
              <a:rPr lang="id-ID" altLang="en-US" sz="1800" dirty="0">
                <a:solidFill>
                  <a:srgbClr val="57606A"/>
                </a:solidFill>
              </a:rPr>
              <a:t> (Java).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Variabel Menyimpan Referensi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Janji dari Pertemuan 02: apa sebenarnya isi sebuah variabel?</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Dua Nama, Satu yang Ditunjuk</a:t>
            </a:r>
            <a:endParaRPr lang="id-ID" sz="3200" dirty="0"/>
          </a:p>
        </p:txBody>
      </p:sp>
      <p:pic>
        <p:nvPicPr>
          <p:cNvPr id="5" name="Image 1" descr="Referensi adalah penunjuk ke objek. ponsel_dipinjam = ponsel_budi hanya menyalin penunjuknya; keduanya menunjuk objek yang sama (aliasing).">    </p:cNvPr>
          <p:cNvPicPr>
            <a:picLocks noChangeAspect="1"/>
          </p:cNvPicPr>
          <p:nvPr/>
        </p:nvPicPr>
        <p:blipFill>
          <a:blip r:embed="rId2"/>
          <a:stretch>
            <a:fillRect/>
          </a:stretch>
        </p:blipFill>
        <p:spPr>
          <a:xfrm>
            <a:off x="548640" y="1417320"/>
            <a:ext cx="11094415" cy="3582053"/>
          </a:xfrm>
          <a:prstGeom prst="rect">
            <a:avLst/>
          </a:prstGeom>
        </p:spPr>
      </p:pic>
      <p:sp>
        <p:nvSpPr>
          <p:cNvPr id="6" name="Text 2"/>
          <p:cNvSpPr txBox="1"/>
          <p:nvPr/>
        </p:nvSpPr>
        <p:spPr>
          <a:xfrm>
            <a:off x="1005840" y="5109101"/>
            <a:ext cx="10180015" cy="663956"/>
          </a:xfrm>
          <a:prstGeom prst="rect">
            <a:avLst/>
          </a:prstGeom>
          <a:noFill/>
          <a:ln/>
        </p:spPr>
        <p:txBody>
          <a:bodyPr wrap="square" lIns="0" tIns="0" rIns="0" bIns="0" rtlCol="0" anchor="t"/>
          <a:lstStyle/>
          <a:p>
            <a:pPr algn="ctr" indent="0" marL="0">
              <a:buNone/>
            </a:pPr>
            <a:r>
              <a:rPr lang="id-ID" altLang="en-US" sz="1700" b="1" dirty="0">
                <a:solidFill>
                  <a:srgbClr val="57606A"/>
                </a:solidFill>
              </a:rPr>
              <a:t>Referensi</a:t>
            </a:r>
            <a:r>
              <a:rPr lang="id-ID" altLang="en-US" sz="1700" dirty="0">
                <a:solidFill>
                  <a:srgbClr val="57606A"/>
                </a:solidFill>
              </a:rPr>
              <a:t> adalah penunjuk ke objek. </a:t>
            </a:r>
            <a:r>
              <a:rPr lang="id-ID" altLang="en-US" sz="1700" dirty="0">
                <a:solidFill>
                  <a:srgbClr val="57606A"/>
                </a:solidFill>
                <a:latin typeface="Consolas" pitchFamily="34" charset="0"/>
                <a:ea typeface="Consolas" pitchFamily="34" charset="-122"/>
                <a:cs typeface="Consolas" pitchFamily="34" charset="-120"/>
              </a:rPr>
              <a:t>ponsel_dipinjam = ponsel_budi</a:t>
            </a:r>
            <a:r>
              <a:rPr lang="id-ID" altLang="en-US" sz="1700" dirty="0">
                <a:solidFill>
                  <a:srgbClr val="57606A"/>
                </a:solidFill>
              </a:rPr>
              <a:t> hanya menyalin penunjuknya; keduanya menunjuk objek yang sama (</a:t>
            </a:r>
            <a:r>
              <a:rPr lang="id-ID" altLang="en-US" sz="1700" b="1" i="1" dirty="0">
                <a:solidFill>
                  <a:srgbClr val="57606A"/>
                </a:solidFill>
              </a:rPr>
              <a:t>aliasing</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Aliasing</a:t>
            </a:r>
            <a:r>
              <a:rPr lang="id-ID" altLang="en-US" sz="3200" b="1" dirty="0">
                <a:solidFill>
                  <a:srgbClr val="0A3069"/>
                </a:solidFill>
              </a:rPr>
              <a:t> dan Variabel tanpa Objek</a:t>
            </a:r>
            <a:endParaRPr lang="id-ID" sz="3200" dirty="0"/>
          </a:p>
        </p:txBody>
      </p:sp>
      <p:sp>
        <p:nvSpPr>
          <p:cNvPr id="5" name="Text 2"/>
          <p:cNvSpPr txBox="1"/>
          <p:nvPr/>
        </p:nvSpPr>
        <p:spPr>
          <a:xfrm>
            <a:off x="548640" y="2101931"/>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Python memakai </a:t>
            </a:r>
            <a:r>
              <a:rPr lang="id-ID" altLang="en-US" sz="1800" dirty="0">
                <a:solidFill>
                  <a:srgbClr val="0A3069"/>
                </a:solidFill>
                <a:latin typeface="Consolas" pitchFamily="34" charset="0"/>
                <a:ea typeface="Consolas" pitchFamily="34" charset="-122"/>
                <a:cs typeface="Consolas" pitchFamily="34" charset="-120"/>
              </a:rPr>
              <a:t>is</a:t>
            </a:r>
            <a:r>
              <a:rPr lang="id-ID" altLang="en-US" sz="1800" dirty="0">
                <a:solidFill>
                  <a:srgbClr val="57606A"/>
                </a:solidFill>
              </a:rPr>
              <a:t>, Java memakai </a:t>
            </a:r>
            <a:r>
              <a:rPr lang="id-ID" altLang="en-US" sz="1800" dirty="0">
                <a:solidFill>
                  <a:srgbClr val="0A3069"/>
                </a:solidFill>
                <a:latin typeface="Consolas" pitchFamily="34" charset="0"/>
                <a:ea typeface="Consolas" pitchFamily="34" charset="-122"/>
                <a:cs typeface="Consolas" pitchFamily="34" charset="-120"/>
              </a:rPr>
              <a:t>==</a:t>
            </a:r>
            <a:r>
              <a:rPr lang="id-ID" altLang="en-US" sz="1800" dirty="0">
                <a:solidFill>
                  <a:srgbClr val="57606A"/>
                </a:solidFill>
              </a:rPr>
              <a:t> untuk bertanya: apakah kedua variabel menunjuk objek yang sama?</a:t>
            </a:r>
            <a:endParaRPr lang="id-ID" sz="1800" dirty="0"/>
          </a:p>
        </p:txBody>
      </p:sp>
      <p:sp>
        <p:nvSpPr>
          <p:cNvPr id="6" name="Shape 3"/>
          <p:cNvSpPr/>
          <p:nvPr/>
        </p:nvSpPr>
        <p:spPr>
          <a:xfrm>
            <a:off x="548640" y="2536271"/>
            <a:ext cx="1051560" cy="329184"/>
          </a:xfrm>
          <a:prstGeom prst="roundRect">
            <a:avLst>
              <a:gd name="adj" fmla="val 138889"/>
            </a:avLst>
          </a:prstGeom>
          <a:solidFill>
            <a:srgbClr val="3572A5"/>
          </a:solidFill>
          <a:ln/>
        </p:spPr>
      </p:sp>
      <p:sp>
        <p:nvSpPr>
          <p:cNvPr id="7" name="Text 4"/>
          <p:cNvSpPr txBox="1"/>
          <p:nvPr/>
        </p:nvSpPr>
        <p:spPr>
          <a:xfrm>
            <a:off x="548640" y="253627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53627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python/contoh/contoh06_referensi.py</a:t>
            </a:r>
            <a:endParaRPr lang="id-ID" sz="1100" dirty="0"/>
          </a:p>
        </p:txBody>
      </p:sp>
      <p:sp>
        <p:nvSpPr>
          <p:cNvPr id="9" name="Shape 6"/>
          <p:cNvSpPr/>
          <p:nvPr/>
        </p:nvSpPr>
        <p:spPr>
          <a:xfrm>
            <a:off x="548640" y="2956895"/>
            <a:ext cx="5432908" cy="2234184"/>
          </a:xfrm>
          <a:prstGeom prst="roundRect">
            <a:avLst>
              <a:gd name="adj" fmla="val 1675"/>
            </a:avLst>
          </a:prstGeom>
          <a:solidFill>
            <a:srgbClr val="F6F8FA"/>
          </a:solidFill>
          <a:ln w="9525">
            <a:solidFill>
              <a:srgbClr val="D0D7DE"/>
            </a:solidFill>
            <a:prstDash val="solid"/>
          </a:ln>
        </p:spPr>
      </p:sp>
      <p:sp>
        <p:nvSpPr>
          <p:cNvPr id="10" name="Text 7"/>
          <p:cNvSpPr txBox="1"/>
          <p:nvPr/>
        </p:nvSpPr>
        <p:spPr>
          <a:xfrm>
            <a:off x="658368" y="3048335"/>
            <a:ext cx="5213452" cy="2051304"/>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ponsel_budi = Ponsel(</a:t>
            </a:r>
            <a:r>
              <a:rPr lang="en-US" altLang="en-US" sz="1100" dirty="0">
                <a:solidFill>
                  <a:srgbClr val="0A3069"/>
                </a:solidFill>
                <a:latin typeface="Consolas" pitchFamily="34" charset="0"/>
                <a:ea typeface="Consolas" pitchFamily="34" charset="-122"/>
                <a:cs typeface="Consolas" pitchFamily="34" charset="-120"/>
              </a:rPr>
              <a:t>"Budi"</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80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ponsel_dipinjam = ponsel_budi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ponsel_dipinjam.pakai(</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ponsel_budi is ponsel_dipinjam:</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"Keduanya menunjuk objek yang SAMA"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ponsel_dimas = </a:t>
            </a:r>
            <a:r>
              <a:rPr lang="en-US" altLang="en-US" sz="1100" dirty="0">
                <a:solidFill>
                  <a:srgbClr val="CF222E"/>
                </a:solidFill>
                <a:latin typeface="Consolas" pitchFamily="34" charset="0"/>
                <a:ea typeface="Consolas" pitchFamily="34" charset="-122"/>
                <a:cs typeface="Consolas" pitchFamily="34" charset="-120"/>
              </a:rPr>
              <a:t>None</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ponsel_dimas is </a:t>
            </a:r>
            <a:r>
              <a:rPr lang="en-US" altLang="en-US" sz="1100" dirty="0">
                <a:solidFill>
                  <a:srgbClr val="CF222E"/>
                </a:solidFill>
                <a:latin typeface="Consolas" pitchFamily="34" charset="0"/>
                <a:ea typeface="Consolas" pitchFamily="34" charset="-122"/>
                <a:cs typeface="Consolas" pitchFamily="34" charset="-120"/>
              </a:rPr>
              <a:t>None</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"Dimas belum punya ponsel"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1" name="Shape 8"/>
          <p:cNvSpPr/>
          <p:nvPr/>
        </p:nvSpPr>
        <p:spPr>
          <a:xfrm>
            <a:off x="6210148" y="2536271"/>
            <a:ext cx="1051560" cy="329184"/>
          </a:xfrm>
          <a:prstGeom prst="roundRect">
            <a:avLst>
              <a:gd name="adj" fmla="val 138889"/>
            </a:avLst>
          </a:prstGeom>
          <a:solidFill>
            <a:srgbClr val="B07219"/>
          </a:solidFill>
          <a:ln/>
        </p:spPr>
      </p:sp>
      <p:sp>
        <p:nvSpPr>
          <p:cNvPr id="12" name="Text 9"/>
          <p:cNvSpPr txBox="1"/>
          <p:nvPr/>
        </p:nvSpPr>
        <p:spPr>
          <a:xfrm>
            <a:off x="6210148" y="253627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53627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java/contoh/Contoh06Referensi.java</a:t>
            </a:r>
            <a:endParaRPr lang="id-ID" sz="1100" dirty="0"/>
          </a:p>
        </p:txBody>
      </p:sp>
      <p:sp>
        <p:nvSpPr>
          <p:cNvPr id="14" name="Shape 11"/>
          <p:cNvSpPr/>
          <p:nvPr/>
        </p:nvSpPr>
        <p:spPr>
          <a:xfrm>
            <a:off x="6210148" y="2956895"/>
            <a:ext cx="5432908" cy="2234184"/>
          </a:xfrm>
          <a:prstGeom prst="roundRect">
            <a:avLst>
              <a:gd name="adj" fmla="val 1675"/>
            </a:avLst>
          </a:prstGeom>
          <a:solidFill>
            <a:srgbClr val="F6F8FA"/>
          </a:solidFill>
          <a:ln w="9525">
            <a:solidFill>
              <a:srgbClr val="D0D7DE"/>
            </a:solidFill>
            <a:prstDash val="solid"/>
          </a:ln>
        </p:spPr>
      </p:sp>
      <p:sp>
        <p:nvSpPr>
          <p:cNvPr id="15" name="Text 12"/>
          <p:cNvSpPr txBox="1"/>
          <p:nvPr/>
        </p:nvSpPr>
        <p:spPr>
          <a:xfrm>
            <a:off x="6319876" y="3048335"/>
            <a:ext cx="5213452" cy="2051304"/>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Ponsel ponselBudi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Ponsel(</a:t>
            </a:r>
            <a:r>
              <a:rPr lang="en-US" altLang="en-US" sz="1100" dirty="0">
                <a:solidFill>
                  <a:srgbClr val="0A3069"/>
                </a:solidFill>
                <a:latin typeface="Consolas" pitchFamily="34" charset="0"/>
                <a:ea typeface="Consolas" pitchFamily="34" charset="-122"/>
                <a:cs typeface="Consolas" pitchFamily="34" charset="-120"/>
              </a:rPr>
              <a:t>"Budi"</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80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Ponsel ponselDipinjam = ponselBudi;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ponselDipinjam.pakai(</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(ponselBudi == ponselDipinjam)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"Keduanya menunjuk objek yang SAMA"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Ponsel ponselDimas = </a:t>
            </a:r>
            <a:r>
              <a:rPr lang="en-US" altLang="en-US" sz="1100" dirty="0">
                <a:solidFill>
                  <a:srgbClr val="CF222E"/>
                </a:solidFill>
                <a:latin typeface="Consolas" pitchFamily="34" charset="0"/>
                <a:ea typeface="Consolas" pitchFamily="34" charset="-122"/>
                <a:cs typeface="Consolas" pitchFamily="34" charset="-120"/>
              </a:rPr>
              <a:t>null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(ponselDimas == </a:t>
            </a:r>
            <a:r>
              <a:rPr lang="en-US" altLang="en-US" sz="1100" dirty="0">
                <a:solidFill>
                  <a:srgbClr val="CF222E"/>
                </a:solidFill>
                <a:latin typeface="Consolas" pitchFamily="34" charset="0"/>
                <a:ea typeface="Consolas" pitchFamily="34" charset="-122"/>
                <a:cs typeface="Consolas" pitchFamily="34" charset="-120"/>
              </a:rPr>
              <a:t>null</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"Dimas belum punya ponsel"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Mengirim Angka atau Mengirim Objek?</a:t>
            </a:r>
            <a:endParaRPr lang="id-ID" sz="3200" dirty="0"/>
          </a:p>
        </p:txBody>
      </p:sp>
      <p:sp>
        <p:nvSpPr>
          <p:cNvPr id="5" name="Shape 2"/>
          <p:cNvSpPr/>
          <p:nvPr/>
        </p:nvSpPr>
        <p:spPr>
          <a:xfrm>
            <a:off x="548640" y="2051639"/>
            <a:ext cx="5364328" cy="3272028"/>
          </a:xfrm>
          <a:prstGeom prst="roundRect">
            <a:avLst>
              <a:gd name="adj" fmla="val 1093"/>
            </a:avLst>
          </a:prstGeom>
          <a:solidFill>
            <a:srgbClr val="FFFFFF"/>
          </a:solidFill>
          <a:ln w="12700">
            <a:solidFill>
              <a:srgbClr val="54AEFF"/>
            </a:solidFill>
            <a:prstDash val="solid"/>
          </a:ln>
        </p:spPr>
      </p:sp>
      <p:sp>
        <p:nvSpPr>
          <p:cNvPr id="6" name="Shape 3"/>
          <p:cNvSpPr/>
          <p:nvPr/>
        </p:nvSpPr>
        <p:spPr>
          <a:xfrm>
            <a:off x="548640" y="2051639"/>
            <a:ext cx="5364328" cy="658368"/>
          </a:xfrm>
          <a:prstGeom prst="roundRect">
            <a:avLst>
              <a:gd name="adj" fmla="val 27006"/>
            </a:avLst>
          </a:prstGeom>
          <a:solidFill>
            <a:srgbClr val="0969DA"/>
          </a:solidFill>
          <a:ln/>
        </p:spPr>
      </p:sp>
      <p:sp>
        <p:nvSpPr>
          <p:cNvPr id="7" name="Shape 4"/>
          <p:cNvSpPr/>
          <p:nvPr/>
        </p:nvSpPr>
        <p:spPr>
          <a:xfrm>
            <a:off x="548640" y="2380823"/>
            <a:ext cx="5364328" cy="329184"/>
          </a:xfrm>
          <a:prstGeom prst="rect">
            <a:avLst/>
          </a:prstGeom>
          <a:solidFill>
            <a:srgbClr val="0969DA"/>
          </a:solidFill>
          <a:ln/>
        </p:spPr>
      </p:sp>
      <p:sp>
        <p:nvSpPr>
          <p:cNvPr id="8" name="Text 5"/>
          <p:cNvSpPr txBox="1"/>
          <p:nvPr/>
        </p:nvSpPr>
        <p:spPr>
          <a:xfrm>
            <a:off x="822960" y="2051639"/>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Mengirim angka</a:t>
            </a:r>
            <a:endParaRPr lang="id-ID" sz="2200" dirty="0"/>
          </a:p>
        </p:txBody>
      </p:sp>
      <p:sp>
        <p:nvSpPr>
          <p:cNvPr id="9" name="Shape 6"/>
          <p:cNvSpPr/>
          <p:nvPr/>
        </p:nvSpPr>
        <p:spPr>
          <a:xfrm>
            <a:off x="877824" y="3047446"/>
            <a:ext cx="137160" cy="137160"/>
          </a:xfrm>
          <a:prstGeom prst="roundRect">
            <a:avLst>
              <a:gd name="adj" fmla="val 166667"/>
            </a:avLst>
          </a:prstGeom>
          <a:solidFill>
            <a:srgbClr val="0969DA"/>
          </a:solidFill>
          <a:ln/>
        </p:spPr>
      </p:sp>
      <p:sp>
        <p:nvSpPr>
          <p:cNvPr id="10" name="Text 7"/>
          <p:cNvSpPr txBox="1"/>
          <p:nvPr/>
        </p:nvSpPr>
        <p:spPr>
          <a:xfrm>
            <a:off x="1207008" y="2984327"/>
            <a:ext cx="4431640" cy="309118"/>
          </a:xfrm>
          <a:prstGeom prst="rect">
            <a:avLst/>
          </a:prstGeom>
          <a:noFill/>
          <a:ln/>
        </p:spPr>
        <p:txBody>
          <a:bodyPr wrap="square" lIns="0" tIns="0" rIns="0" bIns="0" rtlCol="0" anchor="t"/>
          <a:lstStyle/>
          <a:p>
            <a:pPr indent="0" marL="0">
              <a:buNone/>
            </a:pPr>
            <a:r>
              <a:rPr lang="id-ID" altLang="en-US" sz="1700" i="1" dirty="0">
                <a:solidFill>
                  <a:srgbClr val="1F2328"/>
                </a:solidFill>
              </a:rPr>
              <a:t>Method</a:t>
            </a:r>
            <a:r>
              <a:rPr lang="id-ID" altLang="en-US" sz="1700" dirty="0">
                <a:solidFill>
                  <a:srgbClr val="1F2328"/>
                </a:solidFill>
              </a:rPr>
              <a:t> menerima </a:t>
            </a:r>
            <a:r>
              <a:rPr lang="id-ID" altLang="en-US" sz="1700" b="1" dirty="0">
                <a:solidFill>
                  <a:srgbClr val="1F2328"/>
                </a:solidFill>
              </a:rPr>
              <a:t>salinan</a:t>
            </a:r>
            <a:r>
              <a:rPr lang="id-ID" altLang="en-US" sz="1700" dirty="0">
                <a:solidFill>
                  <a:srgbClr val="1F2328"/>
                </a:solidFill>
              </a:rPr>
              <a:t> nilainya.</a:t>
            </a:r>
            <a:endParaRPr lang="id-ID" sz="1700" dirty="0"/>
          </a:p>
        </p:txBody>
      </p:sp>
      <p:sp>
        <p:nvSpPr>
          <p:cNvPr id="11" name="Shape 8"/>
          <p:cNvSpPr/>
          <p:nvPr/>
        </p:nvSpPr>
        <p:spPr>
          <a:xfrm>
            <a:off x="877824" y="3530300"/>
            <a:ext cx="137160" cy="137160"/>
          </a:xfrm>
          <a:prstGeom prst="roundRect">
            <a:avLst>
              <a:gd name="adj" fmla="val 166667"/>
            </a:avLst>
          </a:prstGeom>
          <a:solidFill>
            <a:srgbClr val="0969DA"/>
          </a:solidFill>
          <a:ln/>
        </p:spPr>
      </p:sp>
      <p:sp>
        <p:nvSpPr>
          <p:cNvPr id="12" name="Text 9"/>
          <p:cNvSpPr txBox="1"/>
          <p:nvPr/>
        </p:nvSpPr>
        <p:spPr>
          <a:xfrm>
            <a:off x="1207008" y="3467181"/>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latin typeface="Consolas" pitchFamily="34" charset="0"/>
                <a:ea typeface="Consolas" pitchFamily="34" charset="-122"/>
                <a:cs typeface="Consolas" pitchFamily="34" charset="-120"/>
              </a:rPr>
              <a:t>tambah_bonus_angka(saldo_tunai)</a:t>
            </a:r>
            <a:r>
              <a:rPr lang="id-ID" altLang="en-US" sz="1700" dirty="0">
                <a:solidFill>
                  <a:srgbClr val="1F2328"/>
                </a:solidFill>
              </a:rPr>
              <a:t> menambah 5000 di dalam </a:t>
            </a:r>
            <a:r>
              <a:rPr lang="id-ID" altLang="en-US" sz="1700" i="1" dirty="0">
                <a:solidFill>
                  <a:srgbClr val="1F2328"/>
                </a:solidFill>
              </a:rPr>
              <a:t>method</a:t>
            </a:r>
            <a:r>
              <a:rPr lang="id-ID" altLang="en-US" sz="1700" dirty="0">
                <a:solidFill>
                  <a:srgbClr val="1F2328"/>
                </a:solidFill>
              </a:rPr>
              <a:t>.</a:t>
            </a:r>
            <a:endParaRPr lang="id-ID" sz="1700" dirty="0"/>
          </a:p>
        </p:txBody>
      </p:sp>
      <p:sp>
        <p:nvSpPr>
          <p:cNvPr id="13" name="Shape 10"/>
          <p:cNvSpPr/>
          <p:nvPr/>
        </p:nvSpPr>
        <p:spPr>
          <a:xfrm>
            <a:off x="877824" y="4276552"/>
            <a:ext cx="137160" cy="137160"/>
          </a:xfrm>
          <a:prstGeom prst="roundRect">
            <a:avLst>
              <a:gd name="adj" fmla="val 166667"/>
            </a:avLst>
          </a:prstGeom>
          <a:solidFill>
            <a:srgbClr val="0969DA"/>
          </a:solidFill>
          <a:ln/>
        </p:spPr>
      </p:sp>
      <p:sp>
        <p:nvSpPr>
          <p:cNvPr id="14" name="Text 11"/>
          <p:cNvSpPr txBox="1"/>
          <p:nvPr/>
        </p:nvSpPr>
        <p:spPr>
          <a:xfrm>
            <a:off x="1207008" y="4213433"/>
            <a:ext cx="4431640" cy="309118"/>
          </a:xfrm>
          <a:prstGeom prst="rect">
            <a:avLst/>
          </a:prstGeom>
          <a:noFill/>
          <a:ln/>
        </p:spPr>
        <p:txBody>
          <a:bodyPr wrap="square" lIns="0" tIns="0" rIns="0" bIns="0" rtlCol="0" anchor="t"/>
          <a:lstStyle/>
          <a:p>
            <a:pPr indent="0" marL="0">
              <a:buNone/>
            </a:pPr>
            <a:r>
              <a:rPr lang="id-ID" altLang="en-US" sz="1700" dirty="0">
                <a:solidFill>
                  <a:srgbClr val="1F2328"/>
                </a:solidFill>
                <a:latin typeface="Consolas" pitchFamily="34" charset="0"/>
                <a:ea typeface="Consolas" pitchFamily="34" charset="-122"/>
                <a:cs typeface="Consolas" pitchFamily="34" charset="-120"/>
              </a:rPr>
              <a:t>saldo_tunai</a:t>
            </a:r>
            <a:r>
              <a:rPr lang="id-ID" altLang="en-US" sz="1700" dirty="0">
                <a:solidFill>
                  <a:srgbClr val="1F2328"/>
                </a:solidFill>
              </a:rPr>
              <a:t> milik pemanggil </a:t>
            </a:r>
            <a:r>
              <a:rPr lang="id-ID" altLang="en-US" sz="1700" b="1" dirty="0">
                <a:solidFill>
                  <a:srgbClr val="1F2328"/>
                </a:solidFill>
              </a:rPr>
              <a:t>tetap</a:t>
            </a:r>
            <a:r>
              <a:rPr lang="id-ID" altLang="en-US" sz="1700" dirty="0">
                <a:solidFill>
                  <a:srgbClr val="1F2328"/>
                </a:solidFill>
              </a:rPr>
              <a:t> 10000.</a:t>
            </a:r>
            <a:endParaRPr lang="id-ID" sz="1700" dirty="0"/>
          </a:p>
        </p:txBody>
      </p:sp>
      <p:sp>
        <p:nvSpPr>
          <p:cNvPr id="15" name="Shape 12"/>
          <p:cNvSpPr/>
          <p:nvPr/>
        </p:nvSpPr>
        <p:spPr>
          <a:xfrm>
            <a:off x="6278728" y="2051639"/>
            <a:ext cx="5364328" cy="3272028"/>
          </a:xfrm>
          <a:prstGeom prst="roundRect">
            <a:avLst>
              <a:gd name="adj" fmla="val 1093"/>
            </a:avLst>
          </a:prstGeom>
          <a:solidFill>
            <a:srgbClr val="FFFFFF"/>
          </a:solidFill>
          <a:ln w="12700">
            <a:solidFill>
              <a:srgbClr val="4AC26B"/>
            </a:solidFill>
            <a:prstDash val="solid"/>
          </a:ln>
        </p:spPr>
      </p:sp>
      <p:sp>
        <p:nvSpPr>
          <p:cNvPr id="16" name="Shape 13"/>
          <p:cNvSpPr/>
          <p:nvPr/>
        </p:nvSpPr>
        <p:spPr>
          <a:xfrm>
            <a:off x="6278728" y="2051639"/>
            <a:ext cx="5364328" cy="658368"/>
          </a:xfrm>
          <a:prstGeom prst="roundRect">
            <a:avLst>
              <a:gd name="adj" fmla="val 27006"/>
            </a:avLst>
          </a:prstGeom>
          <a:solidFill>
            <a:srgbClr val="1A7F37"/>
          </a:solidFill>
          <a:ln/>
        </p:spPr>
      </p:sp>
      <p:sp>
        <p:nvSpPr>
          <p:cNvPr id="17" name="Shape 14"/>
          <p:cNvSpPr/>
          <p:nvPr/>
        </p:nvSpPr>
        <p:spPr>
          <a:xfrm>
            <a:off x="6278728" y="2380823"/>
            <a:ext cx="5364328" cy="329184"/>
          </a:xfrm>
          <a:prstGeom prst="rect">
            <a:avLst/>
          </a:prstGeom>
          <a:solidFill>
            <a:srgbClr val="1A7F37"/>
          </a:solidFill>
          <a:ln/>
        </p:spPr>
      </p:sp>
      <p:sp>
        <p:nvSpPr>
          <p:cNvPr id="18" name="Text 15"/>
          <p:cNvSpPr txBox="1"/>
          <p:nvPr/>
        </p:nvSpPr>
        <p:spPr>
          <a:xfrm>
            <a:off x="6553048" y="2051639"/>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Mengirim objek</a:t>
            </a:r>
            <a:endParaRPr lang="id-ID" sz="2200" dirty="0"/>
          </a:p>
        </p:txBody>
      </p:sp>
      <p:sp>
        <p:nvSpPr>
          <p:cNvPr id="19" name="Shape 16"/>
          <p:cNvSpPr/>
          <p:nvPr/>
        </p:nvSpPr>
        <p:spPr>
          <a:xfrm>
            <a:off x="6607912" y="3047446"/>
            <a:ext cx="137160" cy="137160"/>
          </a:xfrm>
          <a:prstGeom prst="roundRect">
            <a:avLst>
              <a:gd name="adj" fmla="val 166667"/>
            </a:avLst>
          </a:prstGeom>
          <a:solidFill>
            <a:srgbClr val="1A7F37"/>
          </a:solidFill>
          <a:ln/>
        </p:spPr>
      </p:sp>
      <p:sp>
        <p:nvSpPr>
          <p:cNvPr id="20" name="Text 17"/>
          <p:cNvSpPr txBox="1"/>
          <p:nvPr/>
        </p:nvSpPr>
        <p:spPr>
          <a:xfrm>
            <a:off x="6937096" y="2984327"/>
            <a:ext cx="4431640" cy="572516"/>
          </a:xfrm>
          <a:prstGeom prst="rect">
            <a:avLst/>
          </a:prstGeom>
          <a:noFill/>
          <a:ln/>
        </p:spPr>
        <p:txBody>
          <a:bodyPr wrap="square" lIns="0" tIns="0" rIns="0" bIns="0" rtlCol="0" anchor="t"/>
          <a:lstStyle/>
          <a:p>
            <a:pPr indent="0" marL="0">
              <a:buNone/>
            </a:pPr>
            <a:r>
              <a:rPr lang="id-ID" altLang="en-US" sz="1700" i="1" dirty="0">
                <a:solidFill>
                  <a:srgbClr val="1F2328"/>
                </a:solidFill>
              </a:rPr>
              <a:t>Method</a:t>
            </a:r>
            <a:r>
              <a:rPr lang="id-ID" altLang="en-US" sz="1700" dirty="0">
                <a:solidFill>
                  <a:srgbClr val="1F2328"/>
                </a:solidFill>
              </a:rPr>
              <a:t> menerima salinan </a:t>
            </a:r>
            <a:r>
              <a:rPr lang="id-ID" altLang="en-US" sz="1700" b="1" dirty="0">
                <a:solidFill>
                  <a:srgbClr val="1F2328"/>
                </a:solidFill>
              </a:rPr>
              <a:t>referensi</a:t>
            </a:r>
            <a:r>
              <a:rPr lang="id-ID" altLang="en-US" sz="1700" dirty="0">
                <a:solidFill>
                  <a:srgbClr val="1F2328"/>
                </a:solidFill>
              </a:rPr>
              <a:t>: objeknya sama.</a:t>
            </a:r>
            <a:endParaRPr lang="id-ID" sz="1700" dirty="0"/>
          </a:p>
        </p:txBody>
      </p:sp>
      <p:sp>
        <p:nvSpPr>
          <p:cNvPr id="21" name="Shape 18"/>
          <p:cNvSpPr/>
          <p:nvPr/>
        </p:nvSpPr>
        <p:spPr>
          <a:xfrm>
            <a:off x="6607912" y="3793698"/>
            <a:ext cx="137160" cy="137160"/>
          </a:xfrm>
          <a:prstGeom prst="roundRect">
            <a:avLst>
              <a:gd name="adj" fmla="val 166667"/>
            </a:avLst>
          </a:prstGeom>
          <a:solidFill>
            <a:srgbClr val="1A7F37"/>
          </a:solidFill>
          <a:ln/>
        </p:spPr>
      </p:sp>
      <p:sp>
        <p:nvSpPr>
          <p:cNvPr id="22" name="Text 19"/>
          <p:cNvSpPr txBox="1"/>
          <p:nvPr/>
        </p:nvSpPr>
        <p:spPr>
          <a:xfrm>
            <a:off x="6937096" y="3730579"/>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latin typeface="Consolas" pitchFamily="34" charset="0"/>
                <a:ea typeface="Consolas" pitchFamily="34" charset="-122"/>
                <a:cs typeface="Consolas" pitchFamily="34" charset="-120"/>
              </a:rPr>
              <a:t>tambah_bonus_dompet(dompet_siti)</a:t>
            </a:r>
            <a:r>
              <a:rPr lang="id-ID" altLang="en-US" sz="1700" dirty="0">
                <a:solidFill>
                  <a:srgbClr val="1F2328"/>
                </a:solidFill>
              </a:rPr>
              <a:t> menambah saldo objek itu.</a:t>
            </a:r>
            <a:endParaRPr lang="id-ID" sz="1700" dirty="0"/>
          </a:p>
        </p:txBody>
      </p:sp>
      <p:sp>
        <p:nvSpPr>
          <p:cNvPr id="23" name="Shape 20"/>
          <p:cNvSpPr/>
          <p:nvPr/>
        </p:nvSpPr>
        <p:spPr>
          <a:xfrm>
            <a:off x="6607912" y="4539950"/>
            <a:ext cx="137160" cy="137160"/>
          </a:xfrm>
          <a:prstGeom prst="roundRect">
            <a:avLst>
              <a:gd name="adj" fmla="val 166667"/>
            </a:avLst>
          </a:prstGeom>
          <a:solidFill>
            <a:srgbClr val="1A7F37"/>
          </a:solidFill>
          <a:ln/>
        </p:spPr>
      </p:sp>
      <p:sp>
        <p:nvSpPr>
          <p:cNvPr id="24" name="Text 21"/>
          <p:cNvSpPr txBox="1"/>
          <p:nvPr/>
        </p:nvSpPr>
        <p:spPr>
          <a:xfrm>
            <a:off x="6937096" y="4476831"/>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Saldo dompet Siti milik pemanggil </a:t>
            </a:r>
            <a:r>
              <a:rPr lang="id-ID" altLang="en-US" sz="1700" b="1" dirty="0">
                <a:solidFill>
                  <a:srgbClr val="1F2328"/>
                </a:solidFill>
              </a:rPr>
              <a:t>ikut</a:t>
            </a:r>
            <a:r>
              <a:rPr lang="id-ID" altLang="en-US" sz="1700" dirty="0">
                <a:solidFill>
                  <a:srgbClr val="1F2328"/>
                </a:solidFill>
              </a:rPr>
              <a:t> bertambah 5000.</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Objek sebagai Nilai Kembalian</a:t>
            </a:r>
            <a:endParaRPr lang="id-ID" sz="3200" dirty="0"/>
          </a:p>
        </p:txBody>
      </p:sp>
      <p:sp>
        <p:nvSpPr>
          <p:cNvPr id="5" name="Shape 2"/>
          <p:cNvSpPr/>
          <p:nvPr/>
        </p:nvSpPr>
        <p:spPr>
          <a:xfrm>
            <a:off x="603504" y="1677568"/>
            <a:ext cx="137160" cy="137160"/>
          </a:xfrm>
          <a:prstGeom prst="roundRect">
            <a:avLst>
              <a:gd name="adj" fmla="val 166667"/>
            </a:avLst>
          </a:prstGeom>
          <a:solidFill>
            <a:srgbClr val="0969DA"/>
          </a:solidFill>
          <a:ln/>
        </p:spPr>
      </p:sp>
      <p:sp>
        <p:nvSpPr>
          <p:cNvPr id="6" name="Text 3"/>
          <p:cNvSpPr txBox="1"/>
          <p:nvPr/>
        </p:nvSpPr>
        <p:spPr>
          <a:xfrm>
            <a:off x="932688" y="1591208"/>
            <a:ext cx="10710367" cy="665480"/>
          </a:xfrm>
          <a:prstGeom prst="rect">
            <a:avLst/>
          </a:prstGeom>
          <a:noFill/>
          <a:ln/>
        </p:spPr>
        <p:txBody>
          <a:bodyPr wrap="square" lIns="0" tIns="0" rIns="0" bIns="0" rtlCol="0" anchor="t"/>
          <a:lstStyle/>
          <a:p>
            <a:pPr indent="0" marL="0">
              <a:buNone/>
            </a:pPr>
            <a:r>
              <a:rPr lang="id-ID" altLang="en-US" sz="2000" dirty="0">
                <a:solidFill>
                  <a:srgbClr val="1F2328"/>
                </a:solidFill>
              </a:rPr>
              <a:t>Kalkulator menghitung </a:t>
            </a:r>
            <a:r>
              <a:rPr lang="id-ID" altLang="en-US" sz="2000" dirty="0">
                <a:solidFill>
                  <a:srgbClr val="1F2328"/>
                </a:solidFill>
                <a:latin typeface="Consolas" pitchFamily="34" charset="0"/>
                <a:ea typeface="Consolas" pitchFamily="34" charset="-122"/>
                <a:cs typeface="Consolas" pitchFamily="34" charset="-120"/>
              </a:rPr>
              <a:t>2 + 3</a:t>
            </a:r>
            <a:r>
              <a:rPr lang="id-ID" altLang="en-US" sz="2000" dirty="0">
                <a:solidFill>
                  <a:srgbClr val="1F2328"/>
                </a:solidFill>
              </a:rPr>
              <a:t> dan menghasilkan </a:t>
            </a:r>
            <a:r>
              <a:rPr lang="id-ID" altLang="en-US" sz="2000" dirty="0">
                <a:solidFill>
                  <a:srgbClr val="1F2328"/>
                </a:solidFill>
                <a:latin typeface="Consolas" pitchFamily="34" charset="0"/>
                <a:ea typeface="Consolas" pitchFamily="34" charset="-122"/>
                <a:cs typeface="Consolas" pitchFamily="34" charset="-120"/>
              </a:rPr>
              <a:t>5</a:t>
            </a:r>
            <a:r>
              <a:rPr lang="id-ID" altLang="en-US" sz="2000" dirty="0">
                <a:solidFill>
                  <a:srgbClr val="1F2328"/>
                </a:solidFill>
              </a:rPr>
              <a:t>. Angka </a:t>
            </a:r>
            <a:r>
              <a:rPr lang="id-ID" altLang="en-US" sz="2000" dirty="0">
                <a:solidFill>
                  <a:srgbClr val="1F2328"/>
                </a:solidFill>
                <a:latin typeface="Consolas" pitchFamily="34" charset="0"/>
                <a:ea typeface="Consolas" pitchFamily="34" charset="-122"/>
                <a:cs typeface="Consolas" pitchFamily="34" charset="-120"/>
              </a:rPr>
              <a:t>2</a:t>
            </a:r>
            <a:r>
              <a:rPr lang="id-ID" altLang="en-US" sz="2000" dirty="0">
                <a:solidFill>
                  <a:srgbClr val="1F2328"/>
                </a:solidFill>
              </a:rPr>
              <a:t> dan </a:t>
            </a:r>
            <a:r>
              <a:rPr lang="id-ID" altLang="en-US" sz="2000" dirty="0">
                <a:solidFill>
                  <a:srgbClr val="1F2328"/>
                </a:solidFill>
                <a:latin typeface="Consolas" pitchFamily="34" charset="0"/>
                <a:ea typeface="Consolas" pitchFamily="34" charset="-122"/>
                <a:cs typeface="Consolas" pitchFamily="34" charset="-120"/>
              </a:rPr>
              <a:t>3</a:t>
            </a:r>
            <a:r>
              <a:rPr lang="id-ID" altLang="en-US" sz="2000" dirty="0">
                <a:solidFill>
                  <a:srgbClr val="1F2328"/>
                </a:solidFill>
              </a:rPr>
              <a:t> tidak berubah; hasilnya angka </a:t>
            </a:r>
            <a:r>
              <a:rPr lang="id-ID" altLang="en-US" sz="2000" b="1" dirty="0">
                <a:solidFill>
                  <a:srgbClr val="1F2328"/>
                </a:solidFill>
              </a:rPr>
              <a:t>baru</a:t>
            </a:r>
            <a:r>
              <a:rPr lang="id-ID" altLang="en-US" sz="2000" dirty="0">
                <a:solidFill>
                  <a:srgbClr val="1F2328"/>
                </a:solidFill>
              </a:rPr>
              <a:t>.</a:t>
            </a:r>
            <a:endParaRPr lang="id-ID" sz="2000" dirty="0"/>
          </a:p>
        </p:txBody>
      </p:sp>
      <p:sp>
        <p:nvSpPr>
          <p:cNvPr id="7" name="Shape 4"/>
          <p:cNvSpPr/>
          <p:nvPr/>
        </p:nvSpPr>
        <p:spPr>
          <a:xfrm>
            <a:off x="603504" y="2571648"/>
            <a:ext cx="137160" cy="137160"/>
          </a:xfrm>
          <a:prstGeom prst="roundRect">
            <a:avLst>
              <a:gd name="adj" fmla="val 166667"/>
            </a:avLst>
          </a:prstGeom>
          <a:solidFill>
            <a:srgbClr val="0969DA"/>
          </a:solidFill>
          <a:ln/>
        </p:spPr>
      </p:sp>
      <p:sp>
        <p:nvSpPr>
          <p:cNvPr id="8" name="Text 5"/>
          <p:cNvSpPr txBox="1"/>
          <p:nvPr/>
        </p:nvSpPr>
        <p:spPr>
          <a:xfrm>
            <a:off x="932688" y="2485288"/>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latin typeface="Consolas" pitchFamily="34" charset="0"/>
                <a:ea typeface="Consolas" pitchFamily="34" charset="-122"/>
                <a:cs typeface="Consolas" pitchFamily="34" charset="-120"/>
              </a:rPr>
              <a:t>total = kuliah.tambah(praktikum)</a:t>
            </a:r>
            <a:r>
              <a:rPr lang="id-ID" altLang="en-US" sz="2000" dirty="0">
                <a:solidFill>
                  <a:srgbClr val="1F2328"/>
                </a:solidFill>
              </a:rPr>
              <a:t> mengembalikan objek </a:t>
            </a:r>
            <a:r>
              <a:rPr lang="id-ID" altLang="en-US" sz="2000" dirty="0">
                <a:solidFill>
                  <a:srgbClr val="1F2328"/>
                </a:solidFill>
                <a:latin typeface="Consolas" pitchFamily="34" charset="0"/>
                <a:ea typeface="Consolas" pitchFamily="34" charset="-122"/>
                <a:cs typeface="Consolas" pitchFamily="34" charset="-120"/>
              </a:rPr>
              <a:t>Durasi</a:t>
            </a:r>
            <a:r>
              <a:rPr lang="id-ID" altLang="en-US" sz="2000" dirty="0">
                <a:solidFill>
                  <a:srgbClr val="1F2328"/>
                </a:solidFill>
              </a:rPr>
              <a:t> </a:t>
            </a:r>
            <a:r>
              <a:rPr lang="id-ID" altLang="en-US" sz="2000" b="1" dirty="0">
                <a:solidFill>
                  <a:srgbClr val="1F2328"/>
                </a:solidFill>
              </a:rPr>
              <a:t>baru</a:t>
            </a:r>
            <a:r>
              <a:rPr lang="id-ID" altLang="en-US" sz="2000" dirty="0">
                <a:solidFill>
                  <a:srgbClr val="1F2328"/>
                </a:solidFill>
              </a:rPr>
              <a:t>: 4 jam 10 menit.</a:t>
            </a:r>
            <a:endParaRPr lang="id-ID" sz="2000" dirty="0"/>
          </a:p>
        </p:txBody>
      </p:sp>
      <p:sp>
        <p:nvSpPr>
          <p:cNvPr id="9" name="Shape 6"/>
          <p:cNvSpPr/>
          <p:nvPr/>
        </p:nvSpPr>
        <p:spPr>
          <a:xfrm>
            <a:off x="603504" y="3155848"/>
            <a:ext cx="137160" cy="137160"/>
          </a:xfrm>
          <a:prstGeom prst="roundRect">
            <a:avLst>
              <a:gd name="adj" fmla="val 166667"/>
            </a:avLst>
          </a:prstGeom>
          <a:solidFill>
            <a:srgbClr val="0969DA"/>
          </a:solidFill>
          <a:ln/>
        </p:spPr>
      </p:sp>
      <p:sp>
        <p:nvSpPr>
          <p:cNvPr id="10" name="Text 7"/>
          <p:cNvSpPr txBox="1"/>
          <p:nvPr/>
        </p:nvSpPr>
        <p:spPr>
          <a:xfrm>
            <a:off x="932688" y="3069488"/>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latin typeface="Consolas" pitchFamily="34" charset="0"/>
                <a:ea typeface="Consolas" pitchFamily="34" charset="-122"/>
                <a:cs typeface="Consolas" pitchFamily="34" charset="-120"/>
              </a:rPr>
              <a:t>kuliah</a:t>
            </a:r>
            <a:r>
              <a:rPr lang="id-ID" altLang="en-US" sz="2000" dirty="0">
                <a:solidFill>
                  <a:srgbClr val="1F2328"/>
                </a:solidFill>
              </a:rPr>
              <a:t> (2 jam 30 menit) dan </a:t>
            </a:r>
            <a:r>
              <a:rPr lang="id-ID" altLang="en-US" sz="2000" dirty="0">
                <a:solidFill>
                  <a:srgbClr val="1F2328"/>
                </a:solidFill>
                <a:latin typeface="Consolas" pitchFamily="34" charset="0"/>
                <a:ea typeface="Consolas" pitchFamily="34" charset="-122"/>
                <a:cs typeface="Consolas" pitchFamily="34" charset="-120"/>
              </a:rPr>
              <a:t>praktikum</a:t>
            </a:r>
            <a:r>
              <a:rPr lang="id-ID" altLang="en-US" sz="2000" dirty="0">
                <a:solidFill>
                  <a:srgbClr val="1F2328"/>
                </a:solidFill>
              </a:rPr>
              <a:t> (1 jam 40 menit) </a:t>
            </a:r>
            <a:r>
              <a:rPr lang="id-ID" altLang="en-US" sz="2000" b="1" dirty="0">
                <a:solidFill>
                  <a:srgbClr val="1F2328"/>
                </a:solidFill>
              </a:rPr>
              <a:t>tidak berubah</a:t>
            </a:r>
            <a:r>
              <a:rPr lang="id-ID" altLang="en-US" sz="2000" dirty="0">
                <a:solidFill>
                  <a:srgbClr val="1F2328"/>
                </a:solidFill>
              </a:rPr>
              <a:t>.</a:t>
            </a:r>
            <a:endParaRPr lang="id-ID" sz="2000" dirty="0"/>
          </a:p>
        </p:txBody>
      </p:sp>
      <p:sp>
        <p:nvSpPr>
          <p:cNvPr id="11" name="Shape 8"/>
          <p:cNvSpPr/>
          <p:nvPr/>
        </p:nvSpPr>
        <p:spPr>
          <a:xfrm>
            <a:off x="603504" y="3740048"/>
            <a:ext cx="137160" cy="137160"/>
          </a:xfrm>
          <a:prstGeom prst="roundRect">
            <a:avLst>
              <a:gd name="adj" fmla="val 166667"/>
            </a:avLst>
          </a:prstGeom>
          <a:solidFill>
            <a:srgbClr val="0969DA"/>
          </a:solidFill>
          <a:ln/>
        </p:spPr>
      </p:sp>
      <p:sp>
        <p:nvSpPr>
          <p:cNvPr id="12" name="Text 9"/>
          <p:cNvSpPr txBox="1"/>
          <p:nvPr/>
        </p:nvSpPr>
        <p:spPr>
          <a:xfrm>
            <a:off x="932688" y="3653688"/>
            <a:ext cx="10710367" cy="665480"/>
          </a:xfrm>
          <a:prstGeom prst="rect">
            <a:avLst/>
          </a:prstGeom>
          <a:noFill/>
          <a:ln/>
        </p:spPr>
        <p:txBody>
          <a:bodyPr wrap="square" lIns="0" tIns="0" rIns="0" bIns="0" rtlCol="0" anchor="t"/>
          <a:lstStyle/>
          <a:p>
            <a:pPr indent="0" marL="0">
              <a:buNone/>
            </a:pPr>
            <a:r>
              <a:rPr lang="id-ID" altLang="en-US" sz="2000" dirty="0">
                <a:solidFill>
                  <a:srgbClr val="1F2328"/>
                </a:solidFill>
              </a:rPr>
              <a:t>Hasilnya bisa langsung dipakai lagi secara berantai: </a:t>
            </a:r>
            <a:r>
              <a:rPr lang="id-ID" altLang="en-US" sz="2000" dirty="0">
                <a:solidFill>
                  <a:srgbClr val="1F2328"/>
                </a:solidFill>
                <a:latin typeface="Consolas" pitchFamily="34" charset="0"/>
                <a:ea typeface="Consolas" pitchFamily="34" charset="-122"/>
                <a:cs typeface="Consolas" pitchFamily="34" charset="-120"/>
              </a:rPr>
              <a:t>kuliah.tambah(istirahat).tambah(praktikum)</a:t>
            </a:r>
            <a:r>
              <a:rPr lang="id-ID" altLang="en-US" sz="2000" dirty="0">
                <a:solidFill>
                  <a:srgbClr val="1F2328"/>
                </a:solidFill>
              </a:rPr>
              <a:t>.</a:t>
            </a:r>
            <a:endParaRPr lang="id-ID" sz="2000" dirty="0"/>
          </a:p>
        </p:txBody>
      </p:sp>
      <p:sp>
        <p:nvSpPr>
          <p:cNvPr id="13" name="Shape 10"/>
          <p:cNvSpPr/>
          <p:nvPr/>
        </p:nvSpPr>
        <p:spPr>
          <a:xfrm>
            <a:off x="548640" y="4684928"/>
            <a:ext cx="11094415" cy="1274572"/>
          </a:xfrm>
          <a:prstGeom prst="roundRect">
            <a:avLst>
              <a:gd name="adj" fmla="val 6176"/>
            </a:avLst>
          </a:prstGeom>
          <a:solidFill>
            <a:srgbClr val="DAFBE1"/>
          </a:solidFill>
          <a:ln w="9525">
            <a:solidFill>
              <a:srgbClr val="4AC26B"/>
            </a:solidFill>
            <a:prstDash val="solid"/>
          </a:ln>
        </p:spPr>
      </p:sp>
      <p:sp>
        <p:nvSpPr>
          <p:cNvPr id="14" name="Shape 11"/>
          <p:cNvSpPr/>
          <p:nvPr/>
        </p:nvSpPr>
        <p:spPr>
          <a:xfrm>
            <a:off x="777240" y="4886096"/>
            <a:ext cx="457200" cy="457200"/>
          </a:xfrm>
          <a:prstGeom prst="ellipse">
            <a:avLst/>
          </a:prstGeom>
          <a:solidFill>
            <a:srgbClr val="1A7F37"/>
          </a:solidFill>
          <a:ln/>
        </p:spPr>
      </p:sp>
      <p:pic>
        <p:nvPicPr>
          <p:cNvPr id="15" name="Image 1" descr="preencoded.png">    </p:cNvPr>
          <p:cNvPicPr>
            <a:picLocks noChangeAspect="1"/>
          </p:cNvPicPr>
          <p:nvPr/>
        </p:nvPicPr>
        <p:blipFill>
          <a:blip r:embed="rId2"/>
          <a:stretch>
            <a:fillRect/>
          </a:stretch>
        </p:blipFill>
        <p:spPr>
          <a:xfrm>
            <a:off x="877824" y="4986680"/>
            <a:ext cx="256032" cy="256032"/>
          </a:xfrm>
          <a:prstGeom prst="rect">
            <a:avLst/>
          </a:prstGeom>
        </p:spPr>
      </p:pic>
      <p:sp>
        <p:nvSpPr>
          <p:cNvPr id="16" name="Text 12"/>
          <p:cNvSpPr txBox="1"/>
          <p:nvPr/>
        </p:nvSpPr>
        <p:spPr>
          <a:xfrm>
            <a:off x="1417320" y="4831232"/>
            <a:ext cx="2743200" cy="292608"/>
          </a:xfrm>
          <a:prstGeom prst="rect">
            <a:avLst/>
          </a:prstGeom>
          <a:noFill/>
          <a:ln/>
        </p:spPr>
        <p:txBody>
          <a:bodyPr wrap="square" lIns="0" tIns="0" rIns="0" bIns="0" rtlCol="0" anchor="t"/>
          <a:lstStyle/>
          <a:p>
            <a:pPr indent="0" marL="0">
              <a:buNone/>
            </a:pPr>
            <a:r>
              <a:rPr lang="id-ID" altLang="en-US" sz="1500" b="1" dirty="0">
                <a:solidFill>
                  <a:srgbClr val="1A7F37"/>
                </a:solidFill>
              </a:rPr>
              <a:t>Kiat</a:t>
            </a:r>
            <a:endParaRPr lang="id-ID" sz="1500" dirty="0"/>
          </a:p>
        </p:txBody>
      </p:sp>
      <p:sp>
        <p:nvSpPr>
          <p:cNvPr id="17" name="Text 13"/>
          <p:cNvSpPr txBox="1"/>
          <p:nvPr/>
        </p:nvSpPr>
        <p:spPr>
          <a:xfrm>
            <a:off x="1417320" y="5142128"/>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rPr>
              <a:t>Dua gaya sama-⁠sama sah: </a:t>
            </a:r>
            <a:r>
              <a:rPr lang="id-ID" altLang="en-US" sz="1900" i="1" dirty="0">
                <a:solidFill>
                  <a:srgbClr val="1F2328"/>
                </a:solidFill>
              </a:rPr>
              <a:t>method</a:t>
            </a:r>
            <a:r>
              <a:rPr lang="id-ID" altLang="en-US" sz="1900" dirty="0">
                <a:solidFill>
                  <a:srgbClr val="1F2328"/>
                </a:solidFill>
              </a:rPr>
              <a:t> yang </a:t>
            </a:r>
            <a:r>
              <a:rPr lang="id-ID" altLang="en-US" sz="1900" b="1" dirty="0">
                <a:solidFill>
                  <a:srgbClr val="1F2328"/>
                </a:solidFill>
              </a:rPr>
              <a:t>mengubah objeknya sendiri</a:t>
            </a:r>
            <a:r>
              <a:rPr lang="id-ID" altLang="en-US" sz="1900" dirty="0">
                <a:solidFill>
                  <a:srgbClr val="1F2328"/>
                </a:solidFill>
              </a:rPr>
              <a:t> atau yang </a:t>
            </a:r>
            <a:r>
              <a:rPr lang="id-ID" altLang="en-US" sz="1900" b="1" dirty="0">
                <a:solidFill>
                  <a:srgbClr val="1F2328"/>
                </a:solidFill>
              </a:rPr>
              <a:t>mengembalikan objek baru</a:t>
            </a:r>
            <a:r>
              <a:rPr lang="id-ID" altLang="en-US" sz="1900" dirty="0">
                <a:solidFill>
                  <a:srgbClr val="1F2328"/>
                </a:solidFill>
              </a:rPr>
              <a:t>. Pilih dengan sadar, lalu beri nama yang jujur.</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Menu yang lebih lengkap untuk kafe kecil di Jl. Pramuka, Samarinda.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KedaiKita Pertemuan 03</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Atribut yang digarisbawahi (jumlah_menu) adalah atribut kelas. Di Java, nama memakai camelCase, misalnya jumlahMenu.">    </p:cNvPr>
          <p:cNvPicPr>
            <a:picLocks noChangeAspect="1"/>
          </p:cNvPicPr>
          <p:nvPr/>
        </p:nvPicPr>
        <p:blipFill>
          <a:blip r:embed="rId2"/>
          <a:stretch>
            <a:fillRect/>
          </a:stretch>
        </p:blipFill>
        <p:spPr>
          <a:xfrm>
            <a:off x="2952474" y="1417320"/>
            <a:ext cx="6286747" cy="4045204"/>
          </a:xfrm>
          <a:prstGeom prst="rect">
            <a:avLst/>
          </a:prstGeom>
        </p:spPr>
      </p:pic>
      <p:sp>
        <p:nvSpPr>
          <p:cNvPr id="8" name="Text 4"/>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Atribut yang digarisbawahi (</a:t>
            </a:r>
            <a:r>
              <a:rPr lang="id-ID" altLang="en-US" sz="1700" dirty="0">
                <a:solidFill>
                  <a:srgbClr val="57606A"/>
                </a:solidFill>
                <a:latin typeface="Consolas" pitchFamily="34" charset="0"/>
                <a:ea typeface="Consolas" pitchFamily="34" charset="-122"/>
                <a:cs typeface="Consolas" pitchFamily="34" charset="-120"/>
              </a:rPr>
              <a:t>jumlah_menu</a:t>
            </a:r>
            <a:r>
              <a:rPr lang="id-ID" altLang="en-US" sz="1700" dirty="0">
                <a:solidFill>
                  <a:srgbClr val="57606A"/>
                </a:solidFill>
              </a:rPr>
              <a:t>) adalah atribut kelas. Di Java, nama memakai </a:t>
            </a:r>
            <a:r>
              <a:rPr lang="id-ID" altLang="en-US" sz="1700" i="1" dirty="0">
                <a:solidFill>
                  <a:srgbClr val="57606A"/>
                </a:solidFill>
              </a:rPr>
              <a:t>camelCase</a:t>
            </a:r>
            <a:r>
              <a:rPr lang="id-ID" altLang="en-US" sz="1700" dirty="0">
                <a:solidFill>
                  <a:srgbClr val="57606A"/>
                </a:solidFill>
              </a:rPr>
              <a:t>, misalnya </a:t>
            </a:r>
            <a:r>
              <a:rPr lang="id-ID" altLang="en-US" sz="1700" dirty="0">
                <a:solidFill>
                  <a:srgbClr val="57606A"/>
                </a:solidFill>
                <a:latin typeface="Consolas" pitchFamily="34" charset="0"/>
                <a:ea typeface="Consolas" pitchFamily="34" charset="-122"/>
                <a:cs typeface="Consolas" pitchFamily="34" charset="-120"/>
              </a:rPr>
              <a:t>jumlahMenu</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Apa yang Baru di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9595"/>
          <a:ext cx="11094415" cy="914400"/>
        </p:xfrm>
        <a:graphic>
          <a:graphicData uri="http://schemas.openxmlformats.org/drawingml/2006/table">
            <a:tbl>
              <a:tblPr/>
              <a:tblGrid>
                <a:gridCol w="7080041"/>
                <a:gridCol w="4014374"/>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Perubahan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Konsep yang dipakai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Stok boleh tidak disebut saat membuat menu (otomatis 0)</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nilai bawaan / </a:t>
                      </a:r>
                      <a:r>
                        <a:rPr lang="id-ID" altLang="en-US" sz="1800" i="1" dirty="0">
                          <a:solidFill>
                            <a:srgbClr val="1F2328"/>
                          </a:solidFill>
                          <a:latin typeface="Calibri" pitchFamily="34" charset="0"/>
                          <a:ea typeface="Calibri" pitchFamily="34" charset="-122"/>
                          <a:cs typeface="Calibri" pitchFamily="34" charset="-120"/>
                        </a:rPr>
                        <a:t>overloading</a:t>
                      </a:r>
                      <a:r>
                        <a:rPr lang="id-ID" altLang="en-US" sz="1800" dirty="0">
                          <a:solidFill>
                            <a:srgbClr val="1F2328"/>
                          </a:solidFill>
                          <a:latin typeface="Calibri" pitchFamily="34" charset="0"/>
                          <a:ea typeface="Calibri" pitchFamily="34" charset="-122"/>
                          <a:cs typeface="Calibri" pitchFamily="34" charset="-120"/>
                        </a:rPr>
                        <a:t> konstruktor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jumlah_menu</a:t>
                      </a:r>
                      <a:r>
                        <a:rPr lang="id-ID" altLang="en-US" sz="1800" dirty="0">
                          <a:solidFill>
                            <a:srgbClr val="1F2328"/>
                          </a:solidFill>
                          <a:latin typeface="Calibri" pitchFamily="34" charset="0"/>
                          <a:ea typeface="Calibri" pitchFamily="34" charset="-122"/>
                          <a:cs typeface="Calibri" pitchFamily="34" charset="-120"/>
                        </a:rPr>
                        <a:t> mencatat banyaknya menu yang sudah dibuat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atribut kelas sebagai penghitung</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Menu bisa langsung dicetak; </a:t>
                      </a:r>
                      <a:r>
                        <a:rPr lang="id-ID" altLang="en-US" sz="1800" dirty="0">
                          <a:solidFill>
                            <a:srgbClr val="0A3069"/>
                          </a:solidFill>
                          <a:latin typeface="Consolas" pitchFamily="34" charset="0"/>
                          <a:ea typeface="Consolas" pitchFamily="34" charset="-122"/>
                          <a:cs typeface="Consolas" pitchFamily="34" charset="-120"/>
                        </a:rPr>
                        <a:t>tampilkan_info()</a:t>
                      </a:r>
                      <a:r>
                        <a:rPr lang="id-ID" altLang="en-US" sz="1800" dirty="0">
                          <a:solidFill>
                            <a:srgbClr val="1F2328"/>
                          </a:solidFill>
                          <a:latin typeface="Calibri" pitchFamily="34" charset="0"/>
                          <a:ea typeface="Calibri" pitchFamily="34" charset="-122"/>
                          <a:cs typeface="Calibri" pitchFamily="34" charset="-120"/>
                        </a:rPr>
                        <a:t> tidak dipakai lagi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representasi teks</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harga_setelah_diskon(persen)</a:t>
                      </a:r>
                      <a:r>
                        <a:rPr lang="id-ID" altLang="en-US" sz="1800" dirty="0">
                          <a:solidFill>
                            <a:srgbClr val="1F2328"/>
                          </a:solidFill>
                          <a:latin typeface="Calibri" pitchFamily="34" charset="0"/>
                          <a:ea typeface="Calibri" pitchFamily="34" charset="-122"/>
                          <a:cs typeface="Calibri" pitchFamily="34" charset="-120"/>
                        </a:rPr>
                        <a:t> menghitung harga promo</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i="1" dirty="0">
                          <a:solidFill>
                            <a:srgbClr val="1F2328"/>
                          </a:solidFill>
                          <a:latin typeface="Calibri" pitchFamily="34" charset="0"/>
                          <a:ea typeface="Calibri" pitchFamily="34" charset="-122"/>
                          <a:cs typeface="Calibri" pitchFamily="34" charset="-120"/>
                        </a:rPr>
                        <a:t>method</a:t>
                      </a:r>
                      <a:r>
                        <a:rPr lang="id-ID" altLang="en-US" sz="1800" dirty="0">
                          <a:solidFill>
                            <a:srgbClr val="1F2328"/>
                          </a:solidFill>
                          <a:latin typeface="Calibri" pitchFamily="34" charset="0"/>
                          <a:ea typeface="Calibri" pitchFamily="34" charset="-122"/>
                          <a:cs typeface="Calibri" pitchFamily="34" charset="-120"/>
                        </a:rPr>
                        <a:t> yang mengembalikan nilai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61772">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stok_cukup(jumlah)</a:t>
                      </a:r>
                      <a:r>
                        <a:rPr lang="id-ID" altLang="en-US" sz="1800" dirty="0">
                          <a:solidFill>
                            <a:srgbClr val="1F2328"/>
                          </a:solidFill>
                          <a:latin typeface="Calibri" pitchFamily="34" charset="0"/>
                          <a:ea typeface="Calibri" pitchFamily="34" charset="-122"/>
                          <a:cs typeface="Calibri" pitchFamily="34" charset="-120"/>
                        </a:rPr>
                        <a:t> menjawab apakah stok mencukupi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i="1" dirty="0">
                          <a:solidFill>
                            <a:srgbClr val="1F2328"/>
                          </a:solidFill>
                          <a:latin typeface="Calibri" pitchFamily="34" charset="0"/>
                          <a:ea typeface="Calibri" pitchFamily="34" charset="-122"/>
                          <a:cs typeface="Calibri" pitchFamily="34" charset="-120"/>
                        </a:rPr>
                        <a:t>method boolean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Uang ditampilkan dengan titik ribuan: </a:t>
                      </a:r>
                      <a:r>
                        <a:rPr lang="id-ID" altLang="en-US" sz="1800" dirty="0">
                          <a:solidFill>
                            <a:srgbClr val="0A3069"/>
                          </a:solidFill>
                          <a:latin typeface="Consolas" pitchFamily="34" charset="0"/>
                          <a:ea typeface="Consolas" pitchFamily="34" charset="-122"/>
                          <a:cs typeface="Consolas" pitchFamily="34" charset="-120"/>
                        </a:rPr>
                        <a:t>Rp18.000</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fungsi bantu / </a:t>
                      </a:r>
                      <a:r>
                        <a:rPr lang="id-ID" altLang="en-US" sz="1800" i="1" dirty="0">
                          <a:solidFill>
                            <a:srgbClr val="1F2328"/>
                          </a:solidFill>
                          <a:latin typeface="Calibri" pitchFamily="34" charset="0"/>
                          <a:ea typeface="Calibri" pitchFamily="34" charset="-122"/>
                          <a:cs typeface="Calibri" pitchFamily="34" charset="-120"/>
                        </a:rPr>
                        <a:t>method</a:t>
                      </a:r>
                      <a:r>
                        <a:rPr lang="id-ID" altLang="en-US" sz="1800" dirty="0">
                          <a:solidFill>
                            <a:srgbClr val="1F2328"/>
                          </a:solidFill>
                          <a:latin typeface="Calibri" pitchFamily="34" charset="0"/>
                          <a:ea typeface="Calibri" pitchFamily="34" charset="-122"/>
                          <a:cs typeface="Calibri" pitchFamily="34" charset="-120"/>
                        </a:rPr>
                        <a:t> milik kelas</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8" name="Shape 4"/>
          <p:cNvSpPr/>
          <p:nvPr/>
        </p:nvSpPr>
        <p:spPr>
          <a:xfrm>
            <a:off x="548640" y="5178887"/>
            <a:ext cx="329184" cy="329184"/>
          </a:xfrm>
          <a:prstGeom prst="ellipse">
            <a:avLst/>
          </a:prstGeom>
          <a:solidFill>
            <a:srgbClr val="57606A"/>
          </a:solidFill>
          <a:ln/>
        </p:spPr>
      </p:sp>
      <p:pic>
        <p:nvPicPr>
          <p:cNvPr id="9" name="Image 1" descr="preencoded.png">    </p:cNvPr>
          <p:cNvPicPr>
            <a:picLocks noChangeAspect="1"/>
          </p:cNvPicPr>
          <p:nvPr/>
        </p:nvPicPr>
        <p:blipFill>
          <a:blip r:embed="rId2"/>
          <a:stretch>
            <a:fillRect/>
          </a:stretch>
        </p:blipFill>
        <p:spPr>
          <a:xfrm>
            <a:off x="621060" y="5251308"/>
            <a:ext cx="184343" cy="184343"/>
          </a:xfrm>
          <a:prstGeom prst="rect">
            <a:avLst/>
          </a:prstGeom>
        </p:spPr>
      </p:pic>
      <p:sp>
        <p:nvSpPr>
          <p:cNvPr id="10" name="Text 5"/>
          <p:cNvSpPr txBox="1"/>
          <p:nvPr/>
        </p:nvSpPr>
        <p:spPr>
          <a:xfrm>
            <a:off x="1005840" y="516059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Python memakai fungsi biasa </a:t>
            </a:r>
            <a:r>
              <a:rPr lang="id-ID" altLang="en-US" sz="1800" dirty="0">
                <a:solidFill>
                  <a:srgbClr val="57606A"/>
                </a:solidFill>
                <a:latin typeface="Consolas" pitchFamily="34" charset="0"/>
                <a:ea typeface="Consolas" pitchFamily="34" charset="-122"/>
                <a:cs typeface="Consolas" pitchFamily="34" charset="-120"/>
              </a:rPr>
              <a:t>format_rupiah()</a:t>
            </a:r>
            <a:r>
              <a:rPr lang="id-ID" altLang="en-US" sz="1800" dirty="0">
                <a:solidFill>
                  <a:srgbClr val="57606A"/>
                </a:solidFill>
              </a:rPr>
              <a:t>. Java tidak mengizinkan fungsi di luar kelas, jadi memakai kelas utilitas </a:t>
            </a:r>
            <a:r>
              <a:rPr lang="id-ID" altLang="en-US" sz="1800" dirty="0">
                <a:solidFill>
                  <a:srgbClr val="57606A"/>
                </a:solidFill>
                <a:latin typeface="Consolas" pitchFamily="34" charset="0"/>
                <a:ea typeface="Consolas" pitchFamily="34" charset="-122"/>
                <a:cs typeface="Consolas" pitchFamily="34" charset="-120"/>
              </a:rPr>
              <a:t>Rupiah.format()</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a:t>
            </a:r>
            <a:r>
              <a:rPr lang="id-ID" altLang="en-US" sz="3200" b="1" dirty="0">
                <a:solidFill>
                  <a:srgbClr val="0A3069"/>
                </a:solidFill>
                <a:latin typeface="Consolas" pitchFamily="34" charset="0"/>
                <a:ea typeface="Consolas" pitchFamily="34" charset="-122"/>
                <a:cs typeface="Consolas" pitchFamily="34" charset="-120"/>
              </a:rPr>
              <a:t>Menu</a:t>
            </a:r>
            <a:r>
              <a:rPr lang="id-ID" altLang="en-US" sz="3200" b="1" dirty="0">
                <a:solidFill>
                  <a:srgbClr val="0A3069"/>
                </a:solidFill>
              </a:rPr>
              <a:t> Versi Pertemuan 03</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837578"/>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Potongan kelas </a:t>
            </a:r>
            <a:r>
              <a:rPr lang="id-ID" altLang="en-US" sz="1800" dirty="0">
                <a:solidFill>
                  <a:srgbClr val="0A3069"/>
                </a:solidFill>
                <a:latin typeface="Consolas" pitchFamily="34" charset="0"/>
                <a:ea typeface="Consolas" pitchFamily="34" charset="-122"/>
                <a:cs typeface="Consolas" pitchFamily="34" charset="-120"/>
              </a:rPr>
              <a:t>Menu</a:t>
            </a:r>
            <a:r>
              <a:rPr lang="id-ID" altLang="en-US" sz="1800" dirty="0">
                <a:solidFill>
                  <a:srgbClr val="57606A"/>
                </a:solidFill>
              </a:rPr>
              <a:t>: atribut kelas sebagai penghitung, </a:t>
            </a:r>
            <a:r>
              <a:rPr lang="id-ID" altLang="en-US" sz="1800" i="1" dirty="0">
                <a:solidFill>
                  <a:srgbClr val="57606A"/>
                </a:solidFill>
              </a:rPr>
              <a:t>method</a:t>
            </a:r>
            <a:r>
              <a:rPr lang="id-ID" altLang="en-US" sz="1800" dirty="0">
                <a:solidFill>
                  <a:srgbClr val="57606A"/>
                </a:solidFill>
              </a:rPr>
              <a:t> yang mengembalikan nilai, dan </a:t>
            </a:r>
            <a:r>
              <a:rPr lang="id-ID" altLang="en-US" sz="1800" i="1" dirty="0">
                <a:solidFill>
                  <a:srgbClr val="57606A"/>
                </a:solidFill>
              </a:rPr>
              <a:t>method boolean</a:t>
            </a:r>
            <a:r>
              <a:rPr lang="id-ID" altLang="en-US" sz="1800" dirty="0">
                <a:solidFill>
                  <a:srgbClr val="57606A"/>
                </a:solidFill>
              </a:rPr>
              <a:t>.</a:t>
            </a:r>
            <a:endParaRPr lang="id-ID" sz="1800" dirty="0"/>
          </a:p>
        </p:txBody>
      </p:sp>
      <p:sp>
        <p:nvSpPr>
          <p:cNvPr id="8" name="Shape 5"/>
          <p:cNvSpPr/>
          <p:nvPr/>
        </p:nvSpPr>
        <p:spPr>
          <a:xfrm>
            <a:off x="548640" y="2271918"/>
            <a:ext cx="1051560" cy="329184"/>
          </a:xfrm>
          <a:prstGeom prst="roundRect">
            <a:avLst>
              <a:gd name="adj" fmla="val 138889"/>
            </a:avLst>
          </a:prstGeom>
          <a:solidFill>
            <a:srgbClr val="3572A5"/>
          </a:solidFill>
          <a:ln/>
        </p:spPr>
      </p:sp>
      <p:sp>
        <p:nvSpPr>
          <p:cNvPr id="9" name="Text 6"/>
          <p:cNvSpPr txBox="1"/>
          <p:nvPr/>
        </p:nvSpPr>
        <p:spPr>
          <a:xfrm>
            <a:off x="548640" y="227191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27191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python/studi-kasus/kedaikita.py</a:t>
            </a:r>
            <a:endParaRPr lang="id-ID" sz="1100" dirty="0"/>
          </a:p>
        </p:txBody>
      </p:sp>
      <p:sp>
        <p:nvSpPr>
          <p:cNvPr id="11" name="Shape 8"/>
          <p:cNvSpPr/>
          <p:nvPr/>
        </p:nvSpPr>
        <p:spPr>
          <a:xfrm>
            <a:off x="548640" y="2692542"/>
            <a:ext cx="5432908" cy="2863596"/>
          </a:xfrm>
          <a:prstGeom prst="roundRect">
            <a:avLst>
              <a:gd name="adj" fmla="val 1020"/>
            </a:avLst>
          </a:prstGeom>
          <a:solidFill>
            <a:srgbClr val="F6F8FA"/>
          </a:solidFill>
          <a:ln w="9525">
            <a:solidFill>
              <a:srgbClr val="D0D7DE"/>
            </a:solidFill>
            <a:prstDash val="solid"/>
          </a:ln>
        </p:spPr>
      </p:sp>
      <p:sp>
        <p:nvSpPr>
          <p:cNvPr id="12" name="Text 9"/>
          <p:cNvSpPr txBox="1"/>
          <p:nvPr/>
        </p:nvSpPr>
        <p:spPr>
          <a:xfrm>
            <a:off x="658368" y="2783982"/>
            <a:ext cx="5213452" cy="2680716"/>
          </a:xfrm>
          <a:prstGeom prst="rect">
            <a:avLst/>
          </a:prstGeom>
          <a:noFill/>
          <a:ln/>
        </p:spPr>
        <p:txBody>
          <a:bodyPr wrap="square" lIns="0" tIns="0" rIns="0" bIns="0" rtlCol="0" anchor="t"/>
          <a:lstStyle/>
          <a:p>
            <a:pPr indent="0" marL="0">
              <a:buNone/>
            </a:pPr>
            <a:r>
              <a:rPr lang="en-US" altLang="en-US" sz="1450" dirty="0">
                <a:solidFill>
                  <a:srgbClr val="CF222E"/>
                </a:solidFill>
                <a:latin typeface="Consolas" pitchFamily="34" charset="0"/>
                <a:ea typeface="Consolas" pitchFamily="34" charset="-122"/>
                <a:cs typeface="Consolas" pitchFamily="34" charset="-120"/>
              </a:rPr>
              <a:t>class</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953800"/>
                </a:solidFill>
                <a:latin typeface="Consolas" pitchFamily="34" charset="0"/>
                <a:ea typeface="Consolas" pitchFamily="34" charset="-122"/>
                <a:cs typeface="Consolas" pitchFamily="34" charset="-120"/>
              </a:rPr>
              <a:t>Menu</a:t>
            </a:r>
            <a:r>
              <a:rPr lang="en-US" altLang="en-US" sz="1450" dirty="0">
                <a:solidFill>
                  <a:srgbClr val="1F2328"/>
                </a:solidFill>
                <a:latin typeface="Consolas" pitchFamily="34" charset="0"/>
                <a:ea typeface="Consolas" pitchFamily="34" charset="-122"/>
                <a:cs typeface="Consolas" pitchFamily="34" charset="-120"/>
              </a:rPr>
              <a:t>:</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jumlah_menu = </a:t>
            </a:r>
            <a:r>
              <a:rPr lang="en-US" altLang="en-US" sz="1450" dirty="0">
                <a:solidFill>
                  <a:srgbClr val="0550AE"/>
                </a:solidFill>
                <a:latin typeface="Consolas" pitchFamily="34" charset="0"/>
                <a:ea typeface="Consolas" pitchFamily="34" charset="-122"/>
                <a:cs typeface="Consolas" pitchFamily="34" charset="-120"/>
              </a:rPr>
              <a:t>0</a:t>
            </a:r>
            <a:endParaRPr lang="en-US" sz="1450" dirty="0"/>
          </a:p>
          <a:p>
            <a:pPr indent="0" marL="0">
              <a:buNone/>
            </a:pPr>
            <a:r>
              <a:rPr lang="en-US" altLang="en-US" sz="1450" i="1" dirty="0">
                <a:solidFill>
                  <a:srgbClr val="6E7781"/>
                </a:solidFill>
                <a:latin typeface="Consolas" pitchFamily="34" charset="0"/>
                <a:ea typeface="Consolas" pitchFamily="34" charset="-122"/>
                <a:cs typeface="Consolas" pitchFamily="34" charset="-120"/>
              </a:rPr>
              <a:t>    # ... (dilewati)</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def</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harga_setelah_diskon</a:t>
            </a:r>
            <a:r>
              <a:rPr lang="en-US" altLang="en-US" sz="1450" dirty="0">
                <a:solidFill>
                  <a:srgbClr val="1F2328"/>
                </a:solidFill>
                <a:latin typeface="Consolas" pitchFamily="34" charset="0"/>
                <a:ea typeface="Consolas" pitchFamily="34" charset="-122"/>
                <a:cs typeface="Consolas" pitchFamily="34" charset="-120"/>
              </a:rPr>
              <a:t>(</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 persen):</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potongan = </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.harga * persen // </a:t>
            </a:r>
            <a:r>
              <a:rPr lang="en-US" altLang="en-US" sz="1450" dirty="0">
                <a:solidFill>
                  <a:srgbClr val="0550AE"/>
                </a:solidFill>
                <a:latin typeface="Consolas" pitchFamily="34" charset="0"/>
                <a:ea typeface="Consolas" pitchFamily="34" charset="-122"/>
                <a:cs typeface="Consolas" pitchFamily="34" charset="-120"/>
              </a:rPr>
              <a:t>100</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return</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.harga - potongan</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def</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stok_cukup</a:t>
            </a:r>
            <a:r>
              <a:rPr lang="en-US" altLang="en-US" sz="1450" dirty="0">
                <a:solidFill>
                  <a:srgbClr val="1F2328"/>
                </a:solidFill>
                <a:latin typeface="Consolas" pitchFamily="34" charset="0"/>
                <a:ea typeface="Consolas" pitchFamily="34" charset="-122"/>
                <a:cs typeface="Consolas" pitchFamily="34" charset="-120"/>
              </a:rPr>
              <a:t>(</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 jumlah):</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return</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.stok &gt;= jumlah</a:t>
            </a:r>
            <a:endParaRPr lang="en-US" sz="1450" dirty="0"/>
          </a:p>
        </p:txBody>
      </p:sp>
      <p:sp>
        <p:nvSpPr>
          <p:cNvPr id="13" name="Shape 10"/>
          <p:cNvSpPr/>
          <p:nvPr/>
        </p:nvSpPr>
        <p:spPr>
          <a:xfrm>
            <a:off x="6210148" y="2271918"/>
            <a:ext cx="1051560" cy="329184"/>
          </a:xfrm>
          <a:prstGeom prst="roundRect">
            <a:avLst>
              <a:gd name="adj" fmla="val 138889"/>
            </a:avLst>
          </a:prstGeom>
          <a:solidFill>
            <a:srgbClr val="B07219"/>
          </a:solidFill>
          <a:ln/>
        </p:spPr>
      </p:sp>
      <p:sp>
        <p:nvSpPr>
          <p:cNvPr id="14" name="Text 11"/>
          <p:cNvSpPr txBox="1"/>
          <p:nvPr/>
        </p:nvSpPr>
        <p:spPr>
          <a:xfrm>
            <a:off x="6210148" y="227191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27191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java/studi-kasus/KedaiKita.java</a:t>
            </a:r>
            <a:endParaRPr lang="id-ID" sz="1100" dirty="0"/>
          </a:p>
        </p:txBody>
      </p:sp>
      <p:sp>
        <p:nvSpPr>
          <p:cNvPr id="16" name="Shape 13"/>
          <p:cNvSpPr/>
          <p:nvPr/>
        </p:nvSpPr>
        <p:spPr>
          <a:xfrm>
            <a:off x="6210148" y="2692542"/>
            <a:ext cx="5432908" cy="2863596"/>
          </a:xfrm>
          <a:prstGeom prst="roundRect">
            <a:avLst>
              <a:gd name="adj" fmla="val 1020"/>
            </a:avLst>
          </a:prstGeom>
          <a:solidFill>
            <a:srgbClr val="F6F8FA"/>
          </a:solidFill>
          <a:ln w="9525">
            <a:solidFill>
              <a:srgbClr val="D0D7DE"/>
            </a:solidFill>
            <a:prstDash val="solid"/>
          </a:ln>
        </p:spPr>
      </p:sp>
      <p:sp>
        <p:nvSpPr>
          <p:cNvPr id="17" name="Text 14"/>
          <p:cNvSpPr txBox="1"/>
          <p:nvPr/>
        </p:nvSpPr>
        <p:spPr>
          <a:xfrm>
            <a:off x="6319876" y="2783982"/>
            <a:ext cx="5213452" cy="2680716"/>
          </a:xfrm>
          <a:prstGeom prst="rect">
            <a:avLst/>
          </a:prstGeom>
          <a:noFill/>
          <a:ln/>
        </p:spPr>
        <p:txBody>
          <a:bodyPr wrap="square" lIns="0" tIns="0" rIns="0" bIns="0" rtlCol="0" anchor="t"/>
          <a:lstStyle/>
          <a:p>
            <a:pPr indent="0" marL="0">
              <a:buNone/>
            </a:pPr>
            <a:r>
              <a:rPr lang="en-US" altLang="en-US" sz="1450" dirty="0">
                <a:solidFill>
                  <a:srgbClr val="CF222E"/>
                </a:solidFill>
                <a:latin typeface="Consolas" pitchFamily="34" charset="0"/>
                <a:ea typeface="Consolas" pitchFamily="34" charset="-122"/>
                <a:cs typeface="Consolas" pitchFamily="34" charset="-120"/>
              </a:rPr>
              <a:t>class</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953800"/>
                </a:solidFill>
                <a:latin typeface="Consolas" pitchFamily="34" charset="0"/>
                <a:ea typeface="Consolas" pitchFamily="34" charset="-122"/>
                <a:cs typeface="Consolas" pitchFamily="34" charset="-120"/>
              </a:rPr>
              <a:t>Menu</a:t>
            </a:r>
            <a:r>
              <a:rPr lang="en-US" altLang="en-US" sz="1450" dirty="0">
                <a:solidFill>
                  <a:srgbClr val="1F2328"/>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static</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int</a:t>
            </a:r>
            <a:r>
              <a:rPr lang="en-US" altLang="en-US" sz="1450" dirty="0">
                <a:solidFill>
                  <a:srgbClr val="1F2328"/>
                </a:solidFill>
                <a:latin typeface="Consolas" pitchFamily="34" charset="0"/>
                <a:ea typeface="Consolas" pitchFamily="34" charset="-122"/>
                <a:cs typeface="Consolas" pitchFamily="34" charset="-120"/>
              </a:rPr>
              <a:t> jumlahMenu = </a:t>
            </a:r>
            <a:r>
              <a:rPr lang="en-US" altLang="en-US" sz="1450" dirty="0">
                <a:solidFill>
                  <a:srgbClr val="0550AE"/>
                </a:solidFill>
                <a:latin typeface="Consolas" pitchFamily="34" charset="0"/>
                <a:ea typeface="Consolas" pitchFamily="34" charset="-122"/>
                <a:cs typeface="Consolas" pitchFamily="34" charset="-120"/>
              </a:rPr>
              <a:t>0</a:t>
            </a:r>
            <a:r>
              <a:rPr lang="en-US" altLang="en-US" sz="1450" dirty="0">
                <a:solidFill>
                  <a:srgbClr val="1F2328"/>
                </a:solidFill>
                <a:latin typeface="Consolas" pitchFamily="34" charset="0"/>
                <a:ea typeface="Consolas" pitchFamily="34" charset="-122"/>
                <a:cs typeface="Consolas" pitchFamily="34" charset="-120"/>
              </a:rPr>
              <a:t>;</a:t>
            </a:r>
            <a:endParaRPr lang="en-US" sz="1450" dirty="0"/>
          </a:p>
          <a:p>
            <a:pPr indent="0" marL="0">
              <a:buNone/>
            </a:pPr>
            <a:r>
              <a:rPr lang="en-US" altLang="en-US" sz="1450" i="1" dirty="0">
                <a:solidFill>
                  <a:srgbClr val="6E7781"/>
                </a:solidFill>
                <a:latin typeface="Consolas" pitchFamily="34" charset="0"/>
                <a:ea typeface="Consolas" pitchFamily="34" charset="-122"/>
                <a:cs typeface="Consolas" pitchFamily="34" charset="-120"/>
              </a:rPr>
              <a:t>    // ... (dilewati)</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int</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hargaSetelahDiskon</a:t>
            </a:r>
            <a:r>
              <a:rPr lang="en-US" altLang="en-US" sz="1450" dirty="0">
                <a:solidFill>
                  <a:srgbClr val="1F2328"/>
                </a:solidFill>
                <a:latin typeface="Consolas" pitchFamily="34" charset="0"/>
                <a:ea typeface="Consolas" pitchFamily="34" charset="-122"/>
                <a:cs typeface="Consolas" pitchFamily="34" charset="-120"/>
              </a:rPr>
              <a:t>(</a:t>
            </a:r>
            <a:r>
              <a:rPr lang="en-US" altLang="en-US" sz="1450" dirty="0">
                <a:solidFill>
                  <a:srgbClr val="CF222E"/>
                </a:solidFill>
                <a:latin typeface="Consolas" pitchFamily="34" charset="0"/>
                <a:ea typeface="Consolas" pitchFamily="34" charset="-122"/>
                <a:cs typeface="Consolas" pitchFamily="34" charset="-120"/>
              </a:rPr>
              <a:t>int</a:t>
            </a:r>
            <a:r>
              <a:rPr lang="en-US" altLang="en-US" sz="1450" dirty="0">
                <a:solidFill>
                  <a:srgbClr val="1F2328"/>
                </a:solidFill>
                <a:latin typeface="Consolas" pitchFamily="34" charset="0"/>
                <a:ea typeface="Consolas" pitchFamily="34" charset="-122"/>
                <a:cs typeface="Consolas" pitchFamily="34" charset="-120"/>
              </a:rPr>
              <a:t> persen)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int</a:t>
            </a:r>
            <a:r>
              <a:rPr lang="en-US" altLang="en-US" sz="1450" dirty="0">
                <a:solidFill>
                  <a:srgbClr val="1F2328"/>
                </a:solidFill>
                <a:latin typeface="Consolas" pitchFamily="34" charset="0"/>
                <a:ea typeface="Consolas" pitchFamily="34" charset="-122"/>
                <a:cs typeface="Consolas" pitchFamily="34" charset="-120"/>
              </a:rPr>
              <a:t> potongan = harga * persen / </a:t>
            </a:r>
            <a:r>
              <a:rPr lang="en-US" altLang="en-US" sz="1450" dirty="0">
                <a:solidFill>
                  <a:srgbClr val="0550AE"/>
                </a:solidFill>
                <a:latin typeface="Consolas" pitchFamily="34" charset="0"/>
                <a:ea typeface="Consolas" pitchFamily="34" charset="-122"/>
                <a:cs typeface="Consolas" pitchFamily="34" charset="-120"/>
              </a:rPr>
              <a:t>100</a:t>
            </a:r>
            <a:r>
              <a:rPr lang="en-US" altLang="en-US" sz="1450" dirty="0">
                <a:solidFill>
                  <a:srgbClr val="1F2328"/>
                </a:solidFill>
                <a:latin typeface="Consolas" pitchFamily="34" charset="0"/>
                <a:ea typeface="Consolas" pitchFamily="34" charset="-122"/>
                <a:cs typeface="Consolas" pitchFamily="34" charset="-120"/>
              </a:rPr>
              <a:t>;</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return</a:t>
            </a:r>
            <a:r>
              <a:rPr lang="en-US" altLang="en-US" sz="1450" dirty="0">
                <a:solidFill>
                  <a:srgbClr val="1F2328"/>
                </a:solidFill>
                <a:latin typeface="Consolas" pitchFamily="34" charset="0"/>
                <a:ea typeface="Consolas" pitchFamily="34" charset="-122"/>
                <a:cs typeface="Consolas" pitchFamily="34" charset="-120"/>
              </a:rPr>
              <a:t> harga - potongan;</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boolean</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stokCukup</a:t>
            </a:r>
            <a:r>
              <a:rPr lang="en-US" altLang="en-US" sz="1450" dirty="0">
                <a:solidFill>
                  <a:srgbClr val="1F2328"/>
                </a:solidFill>
                <a:latin typeface="Consolas" pitchFamily="34" charset="0"/>
                <a:ea typeface="Consolas" pitchFamily="34" charset="-122"/>
                <a:cs typeface="Consolas" pitchFamily="34" charset="-120"/>
              </a:rPr>
              <a:t>(</a:t>
            </a:r>
            <a:r>
              <a:rPr lang="en-US" altLang="en-US" sz="1450" dirty="0">
                <a:solidFill>
                  <a:srgbClr val="CF222E"/>
                </a:solidFill>
                <a:latin typeface="Consolas" pitchFamily="34" charset="0"/>
                <a:ea typeface="Consolas" pitchFamily="34" charset="-122"/>
                <a:cs typeface="Consolas" pitchFamily="34" charset="-120"/>
              </a:rPr>
              <a:t>int</a:t>
            </a:r>
            <a:r>
              <a:rPr lang="en-US" altLang="en-US" sz="1450" dirty="0">
                <a:solidFill>
                  <a:srgbClr val="1F2328"/>
                </a:solidFill>
                <a:latin typeface="Consolas" pitchFamily="34" charset="0"/>
                <a:ea typeface="Consolas" pitchFamily="34" charset="-122"/>
                <a:cs typeface="Consolas" pitchFamily="34" charset="-120"/>
              </a:rPr>
              <a:t> jumlah)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return</a:t>
            </a:r>
            <a:r>
              <a:rPr lang="en-US" altLang="en-US" sz="1450" dirty="0">
                <a:solidFill>
                  <a:srgbClr val="1F2328"/>
                </a:solidFill>
                <a:latin typeface="Consolas" pitchFamily="34" charset="0"/>
                <a:ea typeface="Consolas" pitchFamily="34" charset="-122"/>
                <a:cs typeface="Consolas" pitchFamily="34" charset="-120"/>
              </a:rPr>
              <a:t> stok &gt;= jumlah;</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a:t>
            </a:r>
            <a:endParaRPr lang="en-US" sz="14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595689"/>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668109"/>
            <a:ext cx="184343" cy="184343"/>
          </a:xfrm>
          <a:prstGeom prst="rect">
            <a:avLst/>
          </a:prstGeom>
        </p:spPr>
      </p:pic>
      <p:sp>
        <p:nvSpPr>
          <p:cNvPr id="7" name="Text 3"/>
          <p:cNvSpPr txBox="1"/>
          <p:nvPr/>
        </p:nvSpPr>
        <p:spPr>
          <a:xfrm>
            <a:off x="987552" y="1595689"/>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595689"/>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668109"/>
            <a:ext cx="184343" cy="184343"/>
          </a:xfrm>
          <a:prstGeom prst="rect">
            <a:avLst/>
          </a:prstGeom>
        </p:spPr>
      </p:pic>
      <p:sp>
        <p:nvSpPr>
          <p:cNvPr id="10" name="Text 5"/>
          <p:cNvSpPr txBox="1"/>
          <p:nvPr/>
        </p:nvSpPr>
        <p:spPr>
          <a:xfrm>
            <a:off x="5605272" y="1595689"/>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2098609"/>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28148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Static method</a:t>
            </a:r>
            <a:r>
              <a:rPr lang="id-ID" altLang="en-US" sz="1900" dirty="0">
                <a:solidFill>
                  <a:srgbClr val="1F2328"/>
                </a:solidFill>
              </a:rPr>
              <a:t> bisa membaca atribut objek seperti </a:t>
            </a:r>
            <a:r>
              <a:rPr lang="id-ID" altLang="en-US" sz="1900" dirty="0">
                <a:solidFill>
                  <a:srgbClr val="1F2328"/>
                </a:solidFill>
                <a:latin typeface="Consolas" pitchFamily="34" charset="0"/>
                <a:ea typeface="Consolas" pitchFamily="34" charset="-122"/>
                <a:cs typeface="Consolas" pitchFamily="34" charset="-120"/>
              </a:rPr>
              <a:t>nama</a:t>
            </a:r>
            <a:r>
              <a:rPr lang="id-ID" altLang="en-US" sz="1900" dirty="0">
                <a:solidFill>
                  <a:srgbClr val="1F2328"/>
                </a:solidFill>
              </a:rPr>
              <a:t> atau </a:t>
            </a:r>
            <a:r>
              <a:rPr lang="id-ID" altLang="en-US" sz="1900" dirty="0">
                <a:solidFill>
                  <a:srgbClr val="1F2328"/>
                </a:solidFill>
                <a:latin typeface="Consolas" pitchFamily="34" charset="0"/>
                <a:ea typeface="Consolas" pitchFamily="34" charset="-122"/>
                <a:cs typeface="Consolas" pitchFamily="34" charset="-120"/>
              </a:rPr>
              <a:t>harga</a:t>
            </a:r>
            <a:r>
              <a:rPr lang="id-ID" altLang="en-US" sz="1900" dirty="0">
                <a:solidFill>
                  <a:srgbClr val="1F2328"/>
                </a:solidFill>
              </a:rPr>
              <a:t>.”</a:t>
            </a:r>
            <a:endParaRPr lang="id-ID" sz="1900" dirty="0"/>
          </a:p>
        </p:txBody>
      </p:sp>
      <p:sp>
        <p:nvSpPr>
          <p:cNvPr id="13" name="Shape 8"/>
          <p:cNvSpPr/>
          <p:nvPr/>
        </p:nvSpPr>
        <p:spPr>
          <a:xfrm>
            <a:off x="5166360" y="2098609"/>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281489"/>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Tidak bisa secara langsung karena tidak punya </a:t>
            </a:r>
            <a:r>
              <a:rPr lang="id-ID" altLang="en-US" sz="1900" dirty="0">
                <a:solidFill>
                  <a:srgbClr val="1F2328"/>
                </a:solidFill>
                <a:latin typeface="Consolas" pitchFamily="34" charset="0"/>
                <a:ea typeface="Consolas" pitchFamily="34" charset="-122"/>
                <a:cs typeface="Consolas" pitchFamily="34" charset="-120"/>
              </a:rPr>
              <a:t>self</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this</a:t>
            </a:r>
            <a:r>
              <a:rPr lang="id-ID" altLang="en-US" sz="1900" dirty="0">
                <a:solidFill>
                  <a:srgbClr val="1F2328"/>
                </a:solidFill>
              </a:rPr>
              <a:t>. Jika butuh data objek, kirim objeknya sebagai parameter atau jadikan </a:t>
            </a:r>
            <a:r>
              <a:rPr lang="id-ID" altLang="en-US" sz="1900" i="1" dirty="0">
                <a:solidFill>
                  <a:srgbClr val="1F2328"/>
                </a:solidFill>
              </a:rPr>
              <a:t>method</a:t>
            </a:r>
            <a:r>
              <a:rPr lang="id-ID" altLang="en-US" sz="1900" dirty="0">
                <a:solidFill>
                  <a:srgbClr val="1F2328"/>
                </a:solidFill>
              </a:rPr>
              <a:t> objek biasa.</a:t>
            </a:r>
            <a:endParaRPr lang="id-ID" sz="1900" dirty="0"/>
          </a:p>
        </p:txBody>
      </p:sp>
      <p:sp>
        <p:nvSpPr>
          <p:cNvPr id="15" name="Shape 10"/>
          <p:cNvSpPr/>
          <p:nvPr/>
        </p:nvSpPr>
        <p:spPr>
          <a:xfrm>
            <a:off x="548640" y="3548695"/>
            <a:ext cx="4343400" cy="954532"/>
          </a:xfrm>
          <a:prstGeom prst="roundRect">
            <a:avLst>
              <a:gd name="adj" fmla="val 11012"/>
            </a:avLst>
          </a:prstGeom>
          <a:solidFill>
            <a:srgbClr val="FFEBE9"/>
          </a:solidFill>
          <a:ln w="9525">
            <a:solidFill>
              <a:srgbClr val="FF8182"/>
            </a:solidFill>
            <a:prstDash val="solid"/>
          </a:ln>
        </p:spPr>
      </p:sp>
      <p:sp>
        <p:nvSpPr>
          <p:cNvPr id="16" name="Text 11"/>
          <p:cNvSpPr txBox="1"/>
          <p:nvPr/>
        </p:nvSpPr>
        <p:spPr>
          <a:xfrm>
            <a:off x="777240" y="3731575"/>
            <a:ext cx="3886200" cy="680212"/>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None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null</a:t>
            </a:r>
            <a:r>
              <a:rPr lang="id-ID" altLang="en-US" sz="1900" dirty="0">
                <a:solidFill>
                  <a:srgbClr val="1F2328"/>
                </a:solidFill>
              </a:rPr>
              <a:t> adalah objek kosong yang tetap bisa dipakai.”</a:t>
            </a:r>
            <a:endParaRPr lang="id-ID" sz="1900" dirty="0"/>
          </a:p>
        </p:txBody>
      </p:sp>
      <p:sp>
        <p:nvSpPr>
          <p:cNvPr id="17" name="Shape 12"/>
          <p:cNvSpPr/>
          <p:nvPr/>
        </p:nvSpPr>
        <p:spPr>
          <a:xfrm>
            <a:off x="5166360" y="3548695"/>
            <a:ext cx="6476695" cy="954532"/>
          </a:xfrm>
          <a:prstGeom prst="roundRect">
            <a:avLst>
              <a:gd name="adj" fmla="val 11012"/>
            </a:avLst>
          </a:prstGeom>
          <a:solidFill>
            <a:srgbClr val="DAFBE1"/>
          </a:solidFill>
          <a:ln w="9525">
            <a:solidFill>
              <a:srgbClr val="4AC26B"/>
            </a:solidFill>
            <a:prstDash val="solid"/>
          </a:ln>
        </p:spPr>
      </p:sp>
      <p:sp>
        <p:nvSpPr>
          <p:cNvPr id="18" name="Text 13"/>
          <p:cNvSpPr txBox="1"/>
          <p:nvPr/>
        </p:nvSpPr>
        <p:spPr>
          <a:xfrm>
            <a:off x="5394960" y="3731575"/>
            <a:ext cx="6019495" cy="68021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None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null</a:t>
            </a:r>
            <a:r>
              <a:rPr lang="id-ID" altLang="en-US" sz="1900" dirty="0">
                <a:solidFill>
                  <a:srgbClr val="1F2328"/>
                </a:solidFill>
              </a:rPr>
              <a:t> berarti tidak ada objek. Memanggil </a:t>
            </a:r>
            <a:r>
              <a:rPr lang="id-ID" altLang="en-US" sz="1900" i="1" dirty="0">
                <a:solidFill>
                  <a:srgbClr val="1F2328"/>
                </a:solidFill>
              </a:rPr>
              <a:t>method</a:t>
            </a:r>
            <a:r>
              <a:rPr lang="id-ID" altLang="en-US" sz="1900" dirty="0">
                <a:solidFill>
                  <a:srgbClr val="1F2328"/>
                </a:solidFill>
              </a:rPr>
              <a:t> lewat variabel berisi </a:t>
            </a:r>
            <a:r>
              <a:rPr lang="id-ID" altLang="en-US" sz="1900" dirty="0">
                <a:solidFill>
                  <a:srgbClr val="1F2328"/>
                </a:solidFill>
                <a:latin typeface="Consolas" pitchFamily="34" charset="0"/>
                <a:ea typeface="Consolas" pitchFamily="34" charset="-122"/>
                <a:cs typeface="Consolas" pitchFamily="34" charset="-120"/>
              </a:rPr>
              <a:t>None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null</a:t>
            </a:r>
            <a:r>
              <a:rPr lang="id-ID" altLang="en-US" sz="1900" dirty="0">
                <a:solidFill>
                  <a:srgbClr val="1F2328"/>
                </a:solidFill>
              </a:rPr>
              <a:t> pasti menimbulkan </a:t>
            </a:r>
            <a:r>
              <a:rPr lang="id-ID" altLang="en-US" sz="1900" i="1" dirty="0">
                <a:solidFill>
                  <a:srgbClr val="1F2328"/>
                </a:solidFill>
              </a:rPr>
              <a:t>error</a:t>
            </a:r>
            <a:r>
              <a:rPr lang="id-ID" altLang="en-US" sz="1900" dirty="0">
                <a:solidFill>
                  <a:srgbClr val="1F2328"/>
                </a:solidFill>
              </a:rPr>
              <a:t>.</a:t>
            </a:r>
            <a:endParaRPr lang="id-ID" sz="1900" dirty="0"/>
          </a:p>
        </p:txBody>
      </p:sp>
      <p:sp>
        <p:nvSpPr>
          <p:cNvPr id="19" name="Shape 14"/>
          <p:cNvSpPr/>
          <p:nvPr/>
        </p:nvSpPr>
        <p:spPr>
          <a:xfrm>
            <a:off x="548640" y="4704395"/>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4887275"/>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Method</a:t>
            </a:r>
            <a:r>
              <a:rPr lang="id-ID" altLang="en-US" sz="1900" dirty="0">
                <a:solidFill>
                  <a:srgbClr val="1F2328"/>
                </a:solidFill>
              </a:rPr>
              <a:t> tidak bisa mengubah objek yang dikirim kepadanya.”</a:t>
            </a:r>
            <a:endParaRPr lang="id-ID" sz="1900" dirty="0"/>
          </a:p>
        </p:txBody>
      </p:sp>
      <p:sp>
        <p:nvSpPr>
          <p:cNvPr id="21" name="Shape 16"/>
          <p:cNvSpPr/>
          <p:nvPr/>
        </p:nvSpPr>
        <p:spPr>
          <a:xfrm>
            <a:off x="5166360" y="4704395"/>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4887275"/>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Bisa. </a:t>
            </a:r>
            <a:r>
              <a:rPr lang="id-ID" altLang="en-US" sz="1900" i="1" dirty="0">
                <a:solidFill>
                  <a:srgbClr val="1F2328"/>
                </a:solidFill>
              </a:rPr>
              <a:t>Method</a:t>
            </a:r>
            <a:r>
              <a:rPr lang="id-ID" altLang="en-US" sz="1900" dirty="0">
                <a:solidFill>
                  <a:srgbClr val="1F2328"/>
                </a:solidFill>
              </a:rPr>
              <a:t> menerima salinan referensi, jadi memegang objek yang sama dengan pemanggil. Yang tidak bisa: mengganti objek yang dipegang variabel pemanggil.</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956438"/>
            <a:ext cx="11094415" cy="1324864"/>
          </a:xfrm>
          <a:prstGeom prst="roundRect">
            <a:avLst>
              <a:gd name="adj" fmla="val 5716"/>
            </a:avLst>
          </a:prstGeom>
          <a:solidFill>
            <a:srgbClr val="FBEFFF"/>
          </a:solidFill>
          <a:ln w="9525">
            <a:solidFill>
              <a:srgbClr val="C297FF"/>
            </a:solidFill>
            <a:prstDash val="solid"/>
          </a:ln>
        </p:spPr>
      </p:sp>
      <p:sp>
        <p:nvSpPr>
          <p:cNvPr id="6" name="Shape 3"/>
          <p:cNvSpPr/>
          <p:nvPr/>
        </p:nvSpPr>
        <p:spPr>
          <a:xfrm>
            <a:off x="777240" y="2390270"/>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490854"/>
            <a:ext cx="256032" cy="256032"/>
          </a:xfrm>
          <a:prstGeom prst="rect">
            <a:avLst/>
          </a:prstGeom>
        </p:spPr>
      </p:pic>
      <p:sp>
        <p:nvSpPr>
          <p:cNvPr id="8" name="Text 4"/>
          <p:cNvSpPr txBox="1"/>
          <p:nvPr/>
        </p:nvSpPr>
        <p:spPr>
          <a:xfrm>
            <a:off x="1417320" y="2185038"/>
            <a:ext cx="9951415" cy="1050544"/>
          </a:xfrm>
          <a:prstGeom prst="rect">
            <a:avLst/>
          </a:prstGeom>
          <a:noFill/>
          <a:ln/>
        </p:spPr>
        <p:txBody>
          <a:bodyPr wrap="square" lIns="0" tIns="0" rIns="0" bIns="0" rtlCol="0" anchor="t"/>
          <a:lstStyle/>
          <a:p>
            <a:pPr indent="0" marL="0">
              <a:buNone/>
            </a:pPr>
            <a:r>
              <a:rPr lang="id-ID" altLang="en-US" sz="2800" dirty="0">
                <a:solidFill>
                  <a:srgbClr val="1F2328"/>
                </a:solidFill>
              </a:rPr>
              <a:t>Kelas </a:t>
            </a:r>
            <a:r>
              <a:rPr lang="id-ID" altLang="en-US" sz="2800" dirty="0">
                <a:solidFill>
                  <a:srgbClr val="0A3069"/>
                </a:solidFill>
                <a:latin typeface="Consolas" pitchFamily="34" charset="0"/>
                <a:ea typeface="Consolas" pitchFamily="34" charset="-122"/>
                <a:cs typeface="Consolas" pitchFamily="34" charset="-120"/>
              </a:rPr>
              <a:t>Mahasiswa</a:t>
            </a:r>
            <a:r>
              <a:rPr lang="id-ID" altLang="en-US" sz="2800" dirty="0">
                <a:solidFill>
                  <a:srgbClr val="1F2328"/>
                </a:solidFill>
              </a:rPr>
              <a:t> punya beberapa data. Manakah yang paling tepat dijadikan </a:t>
            </a:r>
            <a:r>
              <a:rPr lang="id-ID" altLang="en-US" sz="2800" b="1" dirty="0">
                <a:solidFill>
                  <a:srgbClr val="1F2328"/>
                </a:solidFill>
              </a:rPr>
              <a:t>atribut kelas</a:t>
            </a:r>
            <a:r>
              <a:rPr lang="id-ID" altLang="en-US" sz="2800" dirty="0">
                <a:solidFill>
                  <a:srgbClr val="1F2328"/>
                </a:solidFill>
              </a:rPr>
              <a:t> (milik bersama), bukan atribut objek?</a:t>
            </a:r>
            <a:endParaRPr lang="id-ID" sz="2800" dirty="0"/>
          </a:p>
        </p:txBody>
      </p:sp>
      <p:sp>
        <p:nvSpPr>
          <p:cNvPr id="9" name="Shape 5"/>
          <p:cNvSpPr/>
          <p:nvPr/>
        </p:nvSpPr>
        <p:spPr>
          <a:xfrm>
            <a:off x="548640" y="3464182"/>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630603"/>
            <a:ext cx="457200" cy="457200"/>
          </a:xfrm>
          <a:prstGeom prst="ellipse">
            <a:avLst/>
          </a:prstGeom>
          <a:solidFill>
            <a:srgbClr val="8250DF"/>
          </a:solidFill>
          <a:ln/>
        </p:spPr>
      </p:sp>
      <p:sp>
        <p:nvSpPr>
          <p:cNvPr id="11" name="Text 7"/>
          <p:cNvSpPr txBox="1"/>
          <p:nvPr/>
        </p:nvSpPr>
        <p:spPr>
          <a:xfrm>
            <a:off x="749808" y="36306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5739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NIM</a:t>
            </a:r>
            <a:endParaRPr lang="id-ID" sz="2400" dirty="0"/>
          </a:p>
        </p:txBody>
      </p:sp>
      <p:sp>
        <p:nvSpPr>
          <p:cNvPr id="13" name="Shape 9"/>
          <p:cNvSpPr/>
          <p:nvPr/>
        </p:nvSpPr>
        <p:spPr>
          <a:xfrm>
            <a:off x="6187288" y="3464182"/>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630603"/>
            <a:ext cx="457200" cy="457200"/>
          </a:xfrm>
          <a:prstGeom prst="ellipse">
            <a:avLst/>
          </a:prstGeom>
          <a:solidFill>
            <a:srgbClr val="8250DF"/>
          </a:solidFill>
          <a:ln/>
        </p:spPr>
      </p:sp>
      <p:sp>
        <p:nvSpPr>
          <p:cNvPr id="15" name="Text 11"/>
          <p:cNvSpPr txBox="1"/>
          <p:nvPr/>
        </p:nvSpPr>
        <p:spPr>
          <a:xfrm>
            <a:off x="6388456" y="36306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5739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Nama lengkap</a:t>
            </a:r>
            <a:endParaRPr lang="id-ID" sz="2400" dirty="0"/>
          </a:p>
        </p:txBody>
      </p:sp>
      <p:sp>
        <p:nvSpPr>
          <p:cNvPr id="17" name="Shape 13"/>
          <p:cNvSpPr/>
          <p:nvPr/>
        </p:nvSpPr>
        <p:spPr>
          <a:xfrm>
            <a:off x="548640" y="4437104"/>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4717520"/>
            <a:ext cx="457200" cy="457200"/>
          </a:xfrm>
          <a:prstGeom prst="ellipse">
            <a:avLst/>
          </a:prstGeom>
          <a:solidFill>
            <a:srgbClr val="8250DF"/>
          </a:solidFill>
          <a:ln/>
        </p:spPr>
      </p:sp>
      <p:sp>
        <p:nvSpPr>
          <p:cNvPr id="19" name="Text 15"/>
          <p:cNvSpPr txBox="1"/>
          <p:nvPr/>
        </p:nvSpPr>
        <p:spPr>
          <a:xfrm>
            <a:off x="749808" y="47175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546832"/>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Jumlah seluruh mahasiswa yang sudah terdaftar</a:t>
            </a:r>
            <a:endParaRPr lang="id-ID" sz="2400" dirty="0"/>
          </a:p>
        </p:txBody>
      </p:sp>
      <p:sp>
        <p:nvSpPr>
          <p:cNvPr id="21" name="Shape 17"/>
          <p:cNvSpPr/>
          <p:nvPr/>
        </p:nvSpPr>
        <p:spPr>
          <a:xfrm>
            <a:off x="6187288" y="4437104"/>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4717520"/>
            <a:ext cx="457200" cy="457200"/>
          </a:xfrm>
          <a:prstGeom prst="ellipse">
            <a:avLst/>
          </a:prstGeom>
          <a:solidFill>
            <a:srgbClr val="8250DF"/>
          </a:solidFill>
          <a:ln/>
        </p:spPr>
      </p:sp>
      <p:sp>
        <p:nvSpPr>
          <p:cNvPr id="23" name="Text 19"/>
          <p:cNvSpPr txBox="1"/>
          <p:nvPr/>
        </p:nvSpPr>
        <p:spPr>
          <a:xfrm>
            <a:off x="6388456" y="47175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546832"/>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IPK</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62723"/>
            <a:ext cx="11094415" cy="801116"/>
          </a:xfrm>
          <a:prstGeom prst="roundRect">
            <a:avLst>
              <a:gd name="adj" fmla="val 15634"/>
            </a:avLst>
          </a:prstGeom>
          <a:solidFill>
            <a:srgbClr val="F6F8FA"/>
          </a:solidFill>
          <a:ln w="9525">
            <a:solidFill>
              <a:srgbClr val="D0D7DE"/>
            </a:solidFill>
            <a:prstDash val="solid"/>
          </a:ln>
        </p:spPr>
      </p:sp>
      <p:sp>
        <p:nvSpPr>
          <p:cNvPr id="6" name="Text 3"/>
          <p:cNvSpPr txBox="1"/>
          <p:nvPr/>
        </p:nvSpPr>
        <p:spPr>
          <a:xfrm>
            <a:off x="822960" y="1599883"/>
            <a:ext cx="10545775" cy="526796"/>
          </a:xfrm>
          <a:prstGeom prst="rect">
            <a:avLst/>
          </a:prstGeom>
          <a:noFill/>
          <a:ln/>
        </p:spPr>
        <p:txBody>
          <a:bodyPr wrap="square" lIns="0" tIns="0" rIns="0" bIns="0" rtlCol="0" anchor="t"/>
          <a:lstStyle/>
          <a:p>
            <a:pPr indent="0" marL="0">
              <a:buNone/>
            </a:pPr>
            <a:r>
              <a:rPr lang="id-ID" altLang="en-US" sz="1700" dirty="0">
                <a:solidFill>
                  <a:srgbClr val="57606A"/>
                </a:solidFill>
              </a:rPr>
              <a:t>Kelas </a:t>
            </a:r>
            <a:r>
              <a:rPr lang="id-ID" altLang="en-US" sz="1700" dirty="0">
                <a:solidFill>
                  <a:srgbClr val="0A3069"/>
                </a:solidFill>
                <a:latin typeface="Consolas" pitchFamily="34" charset="0"/>
                <a:ea typeface="Consolas" pitchFamily="34" charset="-122"/>
                <a:cs typeface="Consolas" pitchFamily="34" charset="-120"/>
              </a:rPr>
              <a:t>Mahasiswa</a:t>
            </a:r>
            <a:r>
              <a:rPr lang="id-ID" altLang="en-US" sz="1700" dirty="0">
                <a:solidFill>
                  <a:srgbClr val="57606A"/>
                </a:solidFill>
              </a:rPr>
              <a:t> punya beberapa data. Manakah yang paling tepat dijadikan </a:t>
            </a:r>
            <a:r>
              <a:rPr lang="id-ID" altLang="en-US" sz="1700" b="1" dirty="0">
                <a:solidFill>
                  <a:srgbClr val="57606A"/>
                </a:solidFill>
              </a:rPr>
              <a:t>atribut kelas</a:t>
            </a:r>
            <a:r>
              <a:rPr lang="id-ID" altLang="en-US" sz="1700" dirty="0">
                <a:solidFill>
                  <a:srgbClr val="57606A"/>
                </a:solidFill>
              </a:rPr>
              <a:t> (milik bersama), bukan atribut objek?</a:t>
            </a:r>
            <a:endParaRPr lang="id-ID" sz="1700" dirty="0"/>
          </a:p>
        </p:txBody>
      </p:sp>
      <p:sp>
        <p:nvSpPr>
          <p:cNvPr id="7" name="Shape 4"/>
          <p:cNvSpPr/>
          <p:nvPr/>
        </p:nvSpPr>
        <p:spPr>
          <a:xfrm>
            <a:off x="548640" y="2446719"/>
            <a:ext cx="5455768" cy="625450"/>
          </a:xfrm>
          <a:prstGeom prst="roundRect">
            <a:avLst>
              <a:gd name="adj" fmla="val 25649"/>
            </a:avLst>
          </a:prstGeom>
          <a:solidFill>
            <a:srgbClr val="FFFFFF"/>
          </a:solidFill>
          <a:ln w="9525">
            <a:solidFill>
              <a:srgbClr val="D0D7DE"/>
            </a:solidFill>
            <a:prstDash val="solid"/>
          </a:ln>
        </p:spPr>
      </p:sp>
      <p:sp>
        <p:nvSpPr>
          <p:cNvPr id="8" name="Shape 5"/>
          <p:cNvSpPr/>
          <p:nvPr/>
        </p:nvSpPr>
        <p:spPr>
          <a:xfrm>
            <a:off x="749808" y="2542274"/>
            <a:ext cx="434340" cy="434340"/>
          </a:xfrm>
          <a:prstGeom prst="ellipse">
            <a:avLst/>
          </a:prstGeom>
          <a:solidFill>
            <a:srgbClr val="8C959F"/>
          </a:solidFill>
          <a:ln/>
        </p:spPr>
      </p:sp>
      <p:sp>
        <p:nvSpPr>
          <p:cNvPr id="9" name="Text 6"/>
          <p:cNvSpPr txBox="1"/>
          <p:nvPr/>
        </p:nvSpPr>
        <p:spPr>
          <a:xfrm>
            <a:off x="749808" y="254227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A</a:t>
            </a:r>
            <a:endParaRPr lang="id-ID" sz="1700" dirty="0"/>
          </a:p>
        </p:txBody>
      </p:sp>
      <p:sp>
        <p:nvSpPr>
          <p:cNvPr id="10" name="Text 7"/>
          <p:cNvSpPr txBox="1"/>
          <p:nvPr/>
        </p:nvSpPr>
        <p:spPr>
          <a:xfrm>
            <a:off x="1353312" y="2556447"/>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NIM</a:t>
            </a:r>
            <a:endParaRPr lang="id-ID" sz="1900" dirty="0"/>
          </a:p>
        </p:txBody>
      </p:sp>
      <p:sp>
        <p:nvSpPr>
          <p:cNvPr id="11" name="Shape 8"/>
          <p:cNvSpPr/>
          <p:nvPr/>
        </p:nvSpPr>
        <p:spPr>
          <a:xfrm>
            <a:off x="6187288" y="2446719"/>
            <a:ext cx="5455768" cy="625450"/>
          </a:xfrm>
          <a:prstGeom prst="roundRect">
            <a:avLst>
              <a:gd name="adj" fmla="val 25649"/>
            </a:avLst>
          </a:prstGeom>
          <a:solidFill>
            <a:srgbClr val="FFFFFF"/>
          </a:solidFill>
          <a:ln w="9525">
            <a:solidFill>
              <a:srgbClr val="D0D7DE"/>
            </a:solidFill>
            <a:prstDash val="solid"/>
          </a:ln>
        </p:spPr>
      </p:sp>
      <p:sp>
        <p:nvSpPr>
          <p:cNvPr id="12" name="Shape 9"/>
          <p:cNvSpPr/>
          <p:nvPr/>
        </p:nvSpPr>
        <p:spPr>
          <a:xfrm>
            <a:off x="6388456" y="2542274"/>
            <a:ext cx="434340" cy="434340"/>
          </a:xfrm>
          <a:prstGeom prst="ellipse">
            <a:avLst/>
          </a:prstGeom>
          <a:solidFill>
            <a:srgbClr val="8C959F"/>
          </a:solidFill>
          <a:ln/>
        </p:spPr>
      </p:sp>
      <p:sp>
        <p:nvSpPr>
          <p:cNvPr id="13" name="Text 10"/>
          <p:cNvSpPr txBox="1"/>
          <p:nvPr/>
        </p:nvSpPr>
        <p:spPr>
          <a:xfrm>
            <a:off x="6388456" y="254227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B</a:t>
            </a:r>
            <a:endParaRPr lang="id-ID" sz="1700" dirty="0"/>
          </a:p>
        </p:txBody>
      </p:sp>
      <p:sp>
        <p:nvSpPr>
          <p:cNvPr id="14" name="Text 11"/>
          <p:cNvSpPr txBox="1"/>
          <p:nvPr/>
        </p:nvSpPr>
        <p:spPr>
          <a:xfrm>
            <a:off x="6991960" y="2556447"/>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Nama lengkap</a:t>
            </a:r>
            <a:endParaRPr lang="id-ID" sz="1900" dirty="0"/>
          </a:p>
        </p:txBody>
      </p:sp>
      <p:sp>
        <p:nvSpPr>
          <p:cNvPr id="15" name="Shape 12"/>
          <p:cNvSpPr/>
          <p:nvPr/>
        </p:nvSpPr>
        <p:spPr>
          <a:xfrm>
            <a:off x="548640" y="3255049"/>
            <a:ext cx="5455768" cy="863092"/>
          </a:xfrm>
          <a:prstGeom prst="roundRect">
            <a:avLst>
              <a:gd name="adj" fmla="val 13469"/>
            </a:avLst>
          </a:prstGeom>
          <a:solidFill>
            <a:srgbClr val="DAFBE1"/>
          </a:solidFill>
          <a:ln w="22225">
            <a:solidFill>
              <a:srgbClr val="1A7F37"/>
            </a:solidFill>
            <a:prstDash val="solid"/>
          </a:ln>
        </p:spPr>
      </p:sp>
      <p:sp>
        <p:nvSpPr>
          <p:cNvPr id="16" name="Shape 13"/>
          <p:cNvSpPr/>
          <p:nvPr/>
        </p:nvSpPr>
        <p:spPr>
          <a:xfrm>
            <a:off x="749808" y="3469425"/>
            <a:ext cx="434340" cy="43434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45363" y="3564979"/>
            <a:ext cx="243230" cy="243230"/>
          </a:xfrm>
          <a:prstGeom prst="rect">
            <a:avLst/>
          </a:prstGeom>
        </p:spPr>
      </p:pic>
      <p:sp>
        <p:nvSpPr>
          <p:cNvPr id="18" name="Text 14"/>
          <p:cNvSpPr txBox="1"/>
          <p:nvPr/>
        </p:nvSpPr>
        <p:spPr>
          <a:xfrm>
            <a:off x="1353312" y="3364777"/>
            <a:ext cx="4541368" cy="643636"/>
          </a:xfrm>
          <a:prstGeom prst="rect">
            <a:avLst/>
          </a:prstGeom>
          <a:noFill/>
          <a:ln/>
        </p:spPr>
        <p:txBody>
          <a:bodyPr wrap="square" lIns="0" tIns="0" rIns="0" bIns="0" rtlCol="0" anchor="ctr"/>
          <a:lstStyle/>
          <a:p>
            <a:pPr indent="0" marL="0">
              <a:buNone/>
            </a:pPr>
            <a:r>
              <a:rPr lang="id-ID" altLang="en-US" sz="1900" dirty="0">
                <a:solidFill>
                  <a:srgbClr val="1F2328"/>
                </a:solidFill>
              </a:rPr>
              <a:t>Jumlah seluruh mahasiswa yang sudah terdaftar</a:t>
            </a:r>
            <a:endParaRPr lang="id-ID" sz="1900" dirty="0"/>
          </a:p>
        </p:txBody>
      </p:sp>
      <p:sp>
        <p:nvSpPr>
          <p:cNvPr id="19" name="Shape 15"/>
          <p:cNvSpPr/>
          <p:nvPr/>
        </p:nvSpPr>
        <p:spPr>
          <a:xfrm>
            <a:off x="6187288" y="3255049"/>
            <a:ext cx="5455768" cy="863092"/>
          </a:xfrm>
          <a:prstGeom prst="roundRect">
            <a:avLst>
              <a:gd name="adj" fmla="val 13469"/>
            </a:avLst>
          </a:prstGeom>
          <a:solidFill>
            <a:srgbClr val="FFFFFF"/>
          </a:solidFill>
          <a:ln w="9525">
            <a:solidFill>
              <a:srgbClr val="D0D7DE"/>
            </a:solidFill>
            <a:prstDash val="solid"/>
          </a:ln>
        </p:spPr>
      </p:sp>
      <p:sp>
        <p:nvSpPr>
          <p:cNvPr id="20" name="Shape 16"/>
          <p:cNvSpPr/>
          <p:nvPr/>
        </p:nvSpPr>
        <p:spPr>
          <a:xfrm>
            <a:off x="6388456" y="3469425"/>
            <a:ext cx="434340" cy="434340"/>
          </a:xfrm>
          <a:prstGeom prst="ellipse">
            <a:avLst/>
          </a:prstGeom>
          <a:solidFill>
            <a:srgbClr val="8C959F"/>
          </a:solidFill>
          <a:ln/>
        </p:spPr>
      </p:sp>
      <p:sp>
        <p:nvSpPr>
          <p:cNvPr id="21" name="Text 17"/>
          <p:cNvSpPr txBox="1"/>
          <p:nvPr/>
        </p:nvSpPr>
        <p:spPr>
          <a:xfrm>
            <a:off x="6388456" y="3469425"/>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D</a:t>
            </a:r>
            <a:endParaRPr lang="id-ID" sz="1700" dirty="0"/>
          </a:p>
        </p:txBody>
      </p:sp>
      <p:sp>
        <p:nvSpPr>
          <p:cNvPr id="22" name="Text 18"/>
          <p:cNvSpPr txBox="1"/>
          <p:nvPr/>
        </p:nvSpPr>
        <p:spPr>
          <a:xfrm>
            <a:off x="6991960" y="3364777"/>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IPK</a:t>
            </a:r>
            <a:endParaRPr lang="id-ID" sz="1900" dirty="0"/>
          </a:p>
        </p:txBody>
      </p:sp>
      <p:sp>
        <p:nvSpPr>
          <p:cNvPr id="23" name="Shape 19"/>
          <p:cNvSpPr/>
          <p:nvPr/>
        </p:nvSpPr>
        <p:spPr>
          <a:xfrm>
            <a:off x="548640" y="4319309"/>
            <a:ext cx="11094415" cy="1817624"/>
          </a:xfrm>
          <a:prstGeom prst="roundRect">
            <a:avLst>
              <a:gd name="adj" fmla="val 3037"/>
            </a:avLst>
          </a:prstGeom>
          <a:solidFill>
            <a:srgbClr val="FFF8C5"/>
          </a:solidFill>
          <a:ln w="9525">
            <a:solidFill>
              <a:srgbClr val="D4A72C"/>
            </a:solidFill>
            <a:prstDash val="solid"/>
          </a:ln>
        </p:spPr>
      </p:sp>
      <p:sp>
        <p:nvSpPr>
          <p:cNvPr id="24" name="Shape 20"/>
          <p:cNvSpPr/>
          <p:nvPr/>
        </p:nvSpPr>
        <p:spPr>
          <a:xfrm>
            <a:off x="777240" y="4502189"/>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602773"/>
            <a:ext cx="256032" cy="256032"/>
          </a:xfrm>
          <a:prstGeom prst="rect">
            <a:avLst/>
          </a:prstGeom>
        </p:spPr>
      </p:pic>
      <p:sp>
        <p:nvSpPr>
          <p:cNvPr id="26" name="Text 21"/>
          <p:cNvSpPr txBox="1"/>
          <p:nvPr/>
        </p:nvSpPr>
        <p:spPr>
          <a:xfrm>
            <a:off x="1417320" y="4456469"/>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794797"/>
            <a:ext cx="9951415" cy="1268984"/>
          </a:xfrm>
          <a:prstGeom prst="rect">
            <a:avLst/>
          </a:prstGeom>
          <a:noFill/>
          <a:ln/>
        </p:spPr>
        <p:txBody>
          <a:bodyPr wrap="square" lIns="0" tIns="0" rIns="0" bIns="0" rtlCol="0" anchor="t"/>
          <a:lstStyle/>
          <a:p>
            <a:pPr indent="0" marL="0">
              <a:buNone/>
            </a:pPr>
            <a:r>
              <a:rPr lang="id-ID" altLang="en-US" sz="1900" dirty="0">
                <a:solidFill>
                  <a:srgbClr val="1F2328"/>
                </a:solidFill>
              </a:rPr>
              <a:t>Jumlah seluruh mahasiswa menggambarkan </a:t>
            </a:r>
            <a:r>
              <a:rPr lang="id-ID" altLang="en-US" sz="1900" b="1" dirty="0">
                <a:solidFill>
                  <a:srgbClr val="1F2328"/>
                </a:solidFill>
              </a:rPr>
              <a:t>semua</a:t>
            </a:r>
            <a:r>
              <a:rPr lang="id-ID" altLang="en-US" sz="1900" dirty="0">
                <a:solidFill>
                  <a:srgbClr val="1F2328"/>
                </a:solidFill>
              </a:rPr>
              <a:t> objek sekaligus, bukan milik satu mahasiswa tertentu, jadi cocok menjadi atribut kelas (Java: </a:t>
            </a:r>
            <a:r>
              <a:rPr lang="id-ID" altLang="en-US" sz="1900" dirty="0">
                <a:solidFill>
                  <a:srgbClr val="0A3069"/>
                </a:solidFill>
                <a:latin typeface="Consolas" pitchFamily="34" charset="0"/>
                <a:ea typeface="Consolas" pitchFamily="34" charset="-122"/>
                <a:cs typeface="Consolas" pitchFamily="34" charset="-120"/>
              </a:rPr>
              <a:t>static</a:t>
            </a:r>
            <a:r>
              <a:rPr lang="id-ID" altLang="en-US" sz="1900" dirty="0">
                <a:solidFill>
                  <a:srgbClr val="1F2328"/>
                </a:solidFill>
              </a:rPr>
              <a:t>). NIM, nama, dan IPK berbeda untuk setiap mahasiswa sehingga tetap menjadi atribut objek. Jika NIM dijadikan atribut kelas, semua mahasiswa akan berbagi satu NIM yang sama.</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484230"/>
            <a:ext cx="11094415" cy="1200912"/>
          </a:xfrm>
          <a:prstGeom prst="roundRect">
            <a:avLst>
              <a:gd name="adj" fmla="val 6957"/>
            </a:avLst>
          </a:prstGeom>
          <a:solidFill>
            <a:srgbClr val="FBEFFF"/>
          </a:solidFill>
          <a:ln w="9525">
            <a:solidFill>
              <a:srgbClr val="C297FF"/>
            </a:solidFill>
            <a:prstDash val="solid"/>
          </a:ln>
        </p:spPr>
      </p:sp>
      <p:sp>
        <p:nvSpPr>
          <p:cNvPr id="6" name="Shape 3"/>
          <p:cNvSpPr/>
          <p:nvPr/>
        </p:nvSpPr>
        <p:spPr>
          <a:xfrm>
            <a:off x="777240" y="1856086"/>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1956670"/>
            <a:ext cx="256032" cy="256032"/>
          </a:xfrm>
          <a:prstGeom prst="rect">
            <a:avLst/>
          </a:prstGeom>
        </p:spPr>
      </p:pic>
      <p:sp>
        <p:nvSpPr>
          <p:cNvPr id="8" name="Text 4"/>
          <p:cNvSpPr txBox="1"/>
          <p:nvPr/>
        </p:nvSpPr>
        <p:spPr>
          <a:xfrm>
            <a:off x="1417320" y="1712830"/>
            <a:ext cx="9951415" cy="926592"/>
          </a:xfrm>
          <a:prstGeom prst="rect">
            <a:avLst/>
          </a:prstGeom>
          <a:noFill/>
          <a:ln/>
        </p:spPr>
        <p:txBody>
          <a:bodyPr wrap="square" lIns="0" tIns="0" rIns="0" bIns="0" rtlCol="0" anchor="t"/>
          <a:lstStyle/>
          <a:p>
            <a:pPr indent="0" marL="0">
              <a:buNone/>
            </a:pPr>
            <a:r>
              <a:rPr lang="id-ID" altLang="en-US" sz="2400" dirty="0">
                <a:solidFill>
                  <a:srgbClr val="1F2328"/>
                </a:solidFill>
              </a:rPr>
              <a:t>Kelas </a:t>
            </a:r>
            <a:r>
              <a:rPr lang="id-ID" altLang="en-US" sz="2400" dirty="0">
                <a:solidFill>
                  <a:srgbClr val="0A3069"/>
                </a:solidFill>
                <a:latin typeface="Consolas" pitchFamily="34" charset="0"/>
                <a:ea typeface="Consolas" pitchFamily="34" charset="-122"/>
                <a:cs typeface="Consolas" pitchFamily="34" charset="-120"/>
              </a:rPr>
              <a:t>Ponsel</a:t>
            </a:r>
            <a:r>
              <a:rPr lang="id-ID" altLang="en-US" sz="2400" dirty="0">
                <a:solidFill>
                  <a:srgbClr val="1F2328"/>
                </a:solidFill>
              </a:rPr>
              <a:t> punya atribut </a:t>
            </a:r>
            <a:r>
              <a:rPr lang="id-ID" altLang="en-US" sz="2400" dirty="0">
                <a:solidFill>
                  <a:srgbClr val="0A3069"/>
                </a:solidFill>
                <a:latin typeface="Consolas" pitchFamily="34" charset="0"/>
                <a:ea typeface="Consolas" pitchFamily="34" charset="-122"/>
                <a:cs typeface="Consolas" pitchFamily="34" charset="-120"/>
              </a:rPr>
              <a:t>baterai</a:t>
            </a:r>
            <a:r>
              <a:rPr lang="id-ID" altLang="en-US" sz="2400" dirty="0">
                <a:solidFill>
                  <a:srgbClr val="1F2328"/>
                </a:solidFill>
              </a:rPr>
              <a:t> dan </a:t>
            </a:r>
            <a:r>
              <a:rPr lang="id-ID" altLang="en-US" sz="2400" i="1" dirty="0">
                <a:solidFill>
                  <a:srgbClr val="1F2328"/>
                </a:solidFill>
              </a:rPr>
              <a:t>method</a:t>
            </a:r>
            <a:r>
              <a:rPr lang="id-ID" altLang="en-US" sz="2400" dirty="0">
                <a:solidFill>
                  <a:srgbClr val="1F2328"/>
                </a:solidFill>
              </a:rPr>
              <a:t> </a:t>
            </a:r>
            <a:r>
              <a:rPr lang="id-ID" altLang="en-US" sz="2400" dirty="0">
                <a:solidFill>
                  <a:srgbClr val="0A3069"/>
                </a:solidFill>
                <a:latin typeface="Consolas" pitchFamily="34" charset="0"/>
                <a:ea typeface="Consolas" pitchFamily="34" charset="-122"/>
                <a:cs typeface="Consolas" pitchFamily="34" charset="-120"/>
              </a:rPr>
              <a:t>pakai(persen)</a:t>
            </a:r>
            <a:r>
              <a:rPr lang="id-ID" altLang="en-US" sz="2400" dirty="0">
                <a:solidFill>
                  <a:srgbClr val="1F2328"/>
                </a:solidFill>
              </a:rPr>
              <a:t> yang mengurangi baterai sebanyak </a:t>
            </a:r>
            <a:r>
              <a:rPr lang="id-ID" altLang="en-US" sz="2400" dirty="0">
                <a:solidFill>
                  <a:srgbClr val="0A3069"/>
                </a:solidFill>
                <a:latin typeface="Consolas" pitchFamily="34" charset="0"/>
                <a:ea typeface="Consolas" pitchFamily="34" charset="-122"/>
                <a:cs typeface="Consolas" pitchFamily="34" charset="-120"/>
              </a:rPr>
              <a:t>persen</a:t>
            </a:r>
            <a:r>
              <a:rPr lang="id-ID" altLang="en-US" sz="2400" dirty="0">
                <a:solidFill>
                  <a:srgbClr val="1F2328"/>
                </a:solidFill>
              </a:rPr>
              <a:t>. Apa yang tercetak?</a:t>
            </a:r>
            <a:endParaRPr lang="id-ID" sz="2400" dirty="0"/>
          </a:p>
        </p:txBody>
      </p:sp>
      <p:sp>
        <p:nvSpPr>
          <p:cNvPr id="9" name="Shape 5"/>
          <p:cNvSpPr/>
          <p:nvPr/>
        </p:nvSpPr>
        <p:spPr>
          <a:xfrm>
            <a:off x="548640" y="2868022"/>
            <a:ext cx="11094415" cy="1293368"/>
          </a:xfrm>
          <a:prstGeom prst="roundRect">
            <a:avLst>
              <a:gd name="adj" fmla="val 4998"/>
            </a:avLst>
          </a:prstGeom>
          <a:solidFill>
            <a:srgbClr val="F6F8FA"/>
          </a:solidFill>
          <a:ln w="9525">
            <a:solidFill>
              <a:srgbClr val="D0D7DE"/>
            </a:solidFill>
            <a:prstDash val="solid"/>
          </a:ln>
        </p:spPr>
      </p:sp>
      <p:sp>
        <p:nvSpPr>
          <p:cNvPr id="10" name="Text 6"/>
          <p:cNvSpPr txBox="1"/>
          <p:nvPr/>
        </p:nvSpPr>
        <p:spPr>
          <a:xfrm>
            <a:off x="822960" y="3005182"/>
            <a:ext cx="10545775" cy="1110488"/>
          </a:xfrm>
          <a:prstGeom prst="rect">
            <a:avLst/>
          </a:prstGeom>
          <a:noFill/>
          <a:ln/>
        </p:spPr>
        <p:txBody>
          <a:bodyPr wrap="square" lIns="0" tIns="0" rIns="0" bIns="0" rtlCol="0" anchor="t"/>
          <a:lstStyle/>
          <a:p>
            <a:pPr indent="0" marL="0">
              <a:buNone/>
            </a:pPr>
            <a:r>
              <a:rPr lang="en-US" altLang="en-US" sz="1700" dirty="0">
                <a:solidFill>
                  <a:srgbClr val="1F2328"/>
                </a:solidFill>
                <a:latin typeface="Consolas" pitchFamily="34" charset="0"/>
                <a:ea typeface="Consolas" pitchFamily="34" charset="-122"/>
                <a:cs typeface="Consolas" pitchFamily="34" charset="-120"/>
              </a:rPr>
              <a:t>a = Ponsel(</a:t>
            </a:r>
            <a:r>
              <a:rPr lang="en-US" altLang="en-US" sz="1700" dirty="0">
                <a:solidFill>
                  <a:srgbClr val="0A3069"/>
                </a:solidFill>
                <a:latin typeface="Consolas" pitchFamily="34" charset="0"/>
                <a:ea typeface="Consolas" pitchFamily="34" charset="-122"/>
                <a:cs typeface="Consolas" pitchFamily="34" charset="-120"/>
              </a:rPr>
              <a:t>"Budi"</a:t>
            </a:r>
            <a:r>
              <a:rPr lang="en-US" altLang="en-US" sz="1700" dirty="0">
                <a:solidFill>
                  <a:srgbClr val="1F2328"/>
                </a:solidFill>
                <a:latin typeface="Consolas" pitchFamily="34" charset="0"/>
                <a:ea typeface="Consolas" pitchFamily="34" charset="-122"/>
                <a:cs typeface="Consolas" pitchFamily="34" charset="-120"/>
              </a:rPr>
              <a:t>, </a:t>
            </a:r>
            <a:r>
              <a:rPr lang="en-US" altLang="en-US" sz="1700" dirty="0">
                <a:solidFill>
                  <a:srgbClr val="0550AE"/>
                </a:solidFill>
                <a:latin typeface="Consolas" pitchFamily="34" charset="0"/>
                <a:ea typeface="Consolas" pitchFamily="34" charset="-122"/>
                <a:cs typeface="Consolas" pitchFamily="34" charset="-120"/>
              </a:rPr>
              <a:t>80</a:t>
            </a:r>
            <a:r>
              <a:rPr lang="en-US" altLang="en-US" sz="1700" dirty="0">
                <a:solidFill>
                  <a:srgbClr val="1F2328"/>
                </a:solidFill>
                <a:latin typeface="Consolas" pitchFamily="34" charset="0"/>
                <a:ea typeface="Consolas" pitchFamily="34" charset="-122"/>
                <a:cs typeface="Consolas" pitchFamily="34" charset="-120"/>
              </a:rPr>
              <a:t>)</a:t>
            </a:r>
            <a:endParaRPr lang="en-US" sz="1700" dirty="0"/>
          </a:p>
          <a:p>
            <a:pPr indent="0" marL="0">
              <a:buNone/>
            </a:pPr>
            <a:r>
              <a:rPr lang="en-US" altLang="en-US" sz="1700" dirty="0">
                <a:solidFill>
                  <a:srgbClr val="1F2328"/>
                </a:solidFill>
                <a:latin typeface="Consolas" pitchFamily="34" charset="0"/>
                <a:ea typeface="Consolas" pitchFamily="34" charset="-122"/>
                <a:cs typeface="Consolas" pitchFamily="34" charset="-120"/>
              </a:rPr>
              <a:t>b = a</a:t>
            </a:r>
            <a:endParaRPr lang="en-US" sz="1700" dirty="0"/>
          </a:p>
          <a:p>
            <a:pPr indent="0" marL="0">
              <a:buNone/>
            </a:pPr>
            <a:r>
              <a:rPr lang="en-US" altLang="en-US" sz="1700" dirty="0">
                <a:solidFill>
                  <a:srgbClr val="1F2328"/>
                </a:solidFill>
                <a:latin typeface="Consolas" pitchFamily="34" charset="0"/>
                <a:ea typeface="Consolas" pitchFamily="34" charset="-122"/>
                <a:cs typeface="Consolas" pitchFamily="34" charset="-120"/>
              </a:rPr>
              <a:t>b.pakai(</a:t>
            </a:r>
            <a:r>
              <a:rPr lang="en-US" altLang="en-US" sz="1700" dirty="0">
                <a:solidFill>
                  <a:srgbClr val="0550AE"/>
                </a:solidFill>
                <a:latin typeface="Consolas" pitchFamily="34" charset="0"/>
                <a:ea typeface="Consolas" pitchFamily="34" charset="-122"/>
                <a:cs typeface="Consolas" pitchFamily="34" charset="-120"/>
              </a:rPr>
              <a:t>30</a:t>
            </a:r>
            <a:r>
              <a:rPr lang="en-US" altLang="en-US" sz="1700" dirty="0">
                <a:solidFill>
                  <a:srgbClr val="1F2328"/>
                </a:solidFill>
                <a:latin typeface="Consolas" pitchFamily="34" charset="0"/>
                <a:ea typeface="Consolas" pitchFamily="34" charset="-122"/>
                <a:cs typeface="Consolas" pitchFamily="34" charset="-120"/>
              </a:rPr>
              <a:t>)</a:t>
            </a:r>
            <a:endParaRPr lang="en-US" sz="1700" dirty="0"/>
          </a:p>
          <a:p>
            <a:pPr indent="0" marL="0">
              <a:buNone/>
            </a:pPr>
            <a:r>
              <a:rPr lang="en-US" altLang="en-US" sz="1700" dirty="0">
                <a:solidFill>
                  <a:srgbClr val="0550AE"/>
                </a:solidFill>
                <a:latin typeface="Consolas" pitchFamily="34" charset="0"/>
                <a:ea typeface="Consolas" pitchFamily="34" charset="-122"/>
                <a:cs typeface="Consolas" pitchFamily="34" charset="-120"/>
              </a:rPr>
              <a:t>print</a:t>
            </a:r>
            <a:r>
              <a:rPr lang="en-US" altLang="en-US" sz="1700" dirty="0">
                <a:solidFill>
                  <a:srgbClr val="1F2328"/>
                </a:solidFill>
                <a:latin typeface="Consolas" pitchFamily="34" charset="0"/>
                <a:ea typeface="Consolas" pitchFamily="34" charset="-122"/>
                <a:cs typeface="Consolas" pitchFamily="34" charset="-120"/>
              </a:rPr>
              <a:t>(a.baterai)</a:t>
            </a:r>
            <a:endParaRPr lang="en-US" sz="1700" dirty="0"/>
          </a:p>
        </p:txBody>
      </p:sp>
      <p:sp>
        <p:nvSpPr>
          <p:cNvPr id="11" name="Shape 7"/>
          <p:cNvSpPr/>
          <p:nvPr/>
        </p:nvSpPr>
        <p:spPr>
          <a:xfrm>
            <a:off x="548640" y="4344270"/>
            <a:ext cx="5455768" cy="790042"/>
          </a:xfrm>
          <a:prstGeom prst="roundRect">
            <a:avLst>
              <a:gd name="adj" fmla="val 16075"/>
            </a:avLst>
          </a:prstGeom>
          <a:solidFill>
            <a:srgbClr val="FFFFFF"/>
          </a:solidFill>
          <a:ln w="9525">
            <a:solidFill>
              <a:srgbClr val="D0D7DE"/>
            </a:solidFill>
            <a:prstDash val="solid"/>
          </a:ln>
        </p:spPr>
      </p:sp>
      <p:sp>
        <p:nvSpPr>
          <p:cNvPr id="12" name="Shape 8"/>
          <p:cNvSpPr/>
          <p:nvPr/>
        </p:nvSpPr>
        <p:spPr>
          <a:xfrm>
            <a:off x="749808" y="4510690"/>
            <a:ext cx="457200" cy="457200"/>
          </a:xfrm>
          <a:prstGeom prst="ellipse">
            <a:avLst/>
          </a:prstGeom>
          <a:solidFill>
            <a:srgbClr val="8250DF"/>
          </a:solidFill>
          <a:ln/>
        </p:spPr>
      </p:sp>
      <p:sp>
        <p:nvSpPr>
          <p:cNvPr id="13" name="Text 9"/>
          <p:cNvSpPr txBox="1"/>
          <p:nvPr/>
        </p:nvSpPr>
        <p:spPr>
          <a:xfrm>
            <a:off x="749808" y="451069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4" name="Text 10"/>
          <p:cNvSpPr txBox="1"/>
          <p:nvPr/>
        </p:nvSpPr>
        <p:spPr>
          <a:xfrm>
            <a:off x="1353312" y="4453998"/>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80</a:t>
            </a:r>
            <a:endParaRPr lang="id-ID" sz="2400" dirty="0"/>
          </a:p>
        </p:txBody>
      </p:sp>
      <p:sp>
        <p:nvSpPr>
          <p:cNvPr id="15" name="Shape 11"/>
          <p:cNvSpPr/>
          <p:nvPr/>
        </p:nvSpPr>
        <p:spPr>
          <a:xfrm>
            <a:off x="6187288" y="4344270"/>
            <a:ext cx="5455768" cy="790042"/>
          </a:xfrm>
          <a:prstGeom prst="roundRect">
            <a:avLst>
              <a:gd name="adj" fmla="val 16075"/>
            </a:avLst>
          </a:prstGeom>
          <a:solidFill>
            <a:srgbClr val="FFFFFF"/>
          </a:solidFill>
          <a:ln w="9525">
            <a:solidFill>
              <a:srgbClr val="D0D7DE"/>
            </a:solidFill>
            <a:prstDash val="solid"/>
          </a:ln>
        </p:spPr>
      </p:sp>
      <p:sp>
        <p:nvSpPr>
          <p:cNvPr id="16" name="Shape 12"/>
          <p:cNvSpPr/>
          <p:nvPr/>
        </p:nvSpPr>
        <p:spPr>
          <a:xfrm>
            <a:off x="6388456" y="4510690"/>
            <a:ext cx="457200" cy="457200"/>
          </a:xfrm>
          <a:prstGeom prst="ellipse">
            <a:avLst/>
          </a:prstGeom>
          <a:solidFill>
            <a:srgbClr val="8250DF"/>
          </a:solidFill>
          <a:ln/>
        </p:spPr>
      </p:sp>
      <p:sp>
        <p:nvSpPr>
          <p:cNvPr id="17" name="Text 13"/>
          <p:cNvSpPr txBox="1"/>
          <p:nvPr/>
        </p:nvSpPr>
        <p:spPr>
          <a:xfrm>
            <a:off x="6388456" y="451069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8" name="Text 14"/>
          <p:cNvSpPr txBox="1"/>
          <p:nvPr/>
        </p:nvSpPr>
        <p:spPr>
          <a:xfrm>
            <a:off x="6991960" y="4453998"/>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50</a:t>
            </a:r>
            <a:endParaRPr lang="id-ID" sz="2400" dirty="0"/>
          </a:p>
        </p:txBody>
      </p:sp>
      <p:sp>
        <p:nvSpPr>
          <p:cNvPr id="19" name="Shape 15"/>
          <p:cNvSpPr/>
          <p:nvPr/>
        </p:nvSpPr>
        <p:spPr>
          <a:xfrm>
            <a:off x="548640" y="5317191"/>
            <a:ext cx="5455768" cy="790042"/>
          </a:xfrm>
          <a:prstGeom prst="roundRect">
            <a:avLst>
              <a:gd name="adj" fmla="val 16075"/>
            </a:avLst>
          </a:prstGeom>
          <a:solidFill>
            <a:srgbClr val="FFFFFF"/>
          </a:solidFill>
          <a:ln w="9525">
            <a:solidFill>
              <a:srgbClr val="D0D7DE"/>
            </a:solidFill>
            <a:prstDash val="solid"/>
          </a:ln>
        </p:spPr>
      </p:sp>
      <p:sp>
        <p:nvSpPr>
          <p:cNvPr id="20" name="Shape 16"/>
          <p:cNvSpPr/>
          <p:nvPr/>
        </p:nvSpPr>
        <p:spPr>
          <a:xfrm>
            <a:off x="749808" y="5483612"/>
            <a:ext cx="457200" cy="457200"/>
          </a:xfrm>
          <a:prstGeom prst="ellipse">
            <a:avLst/>
          </a:prstGeom>
          <a:solidFill>
            <a:srgbClr val="8250DF"/>
          </a:solidFill>
          <a:ln/>
        </p:spPr>
      </p:sp>
      <p:sp>
        <p:nvSpPr>
          <p:cNvPr id="21" name="Text 17"/>
          <p:cNvSpPr txBox="1"/>
          <p:nvPr/>
        </p:nvSpPr>
        <p:spPr>
          <a:xfrm>
            <a:off x="749808" y="548361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2" name="Text 18"/>
          <p:cNvSpPr txBox="1"/>
          <p:nvPr/>
        </p:nvSpPr>
        <p:spPr>
          <a:xfrm>
            <a:off x="1353312" y="5426919"/>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30</a:t>
            </a:r>
            <a:endParaRPr lang="id-ID" sz="2400" dirty="0"/>
          </a:p>
        </p:txBody>
      </p:sp>
      <p:sp>
        <p:nvSpPr>
          <p:cNvPr id="23" name="Shape 19"/>
          <p:cNvSpPr/>
          <p:nvPr/>
        </p:nvSpPr>
        <p:spPr>
          <a:xfrm>
            <a:off x="6187288" y="5317191"/>
            <a:ext cx="5455768" cy="790042"/>
          </a:xfrm>
          <a:prstGeom prst="roundRect">
            <a:avLst>
              <a:gd name="adj" fmla="val 16075"/>
            </a:avLst>
          </a:prstGeom>
          <a:solidFill>
            <a:srgbClr val="FFFFFF"/>
          </a:solidFill>
          <a:ln w="9525">
            <a:solidFill>
              <a:srgbClr val="D0D7DE"/>
            </a:solidFill>
            <a:prstDash val="solid"/>
          </a:ln>
        </p:spPr>
      </p:sp>
      <p:sp>
        <p:nvSpPr>
          <p:cNvPr id="24" name="Shape 20"/>
          <p:cNvSpPr/>
          <p:nvPr/>
        </p:nvSpPr>
        <p:spPr>
          <a:xfrm>
            <a:off x="6388456" y="5483612"/>
            <a:ext cx="457200" cy="457200"/>
          </a:xfrm>
          <a:prstGeom prst="ellipse">
            <a:avLst/>
          </a:prstGeom>
          <a:solidFill>
            <a:srgbClr val="8250DF"/>
          </a:solidFill>
          <a:ln/>
        </p:spPr>
      </p:sp>
      <p:sp>
        <p:nvSpPr>
          <p:cNvPr id="25" name="Text 21"/>
          <p:cNvSpPr txBox="1"/>
          <p:nvPr/>
        </p:nvSpPr>
        <p:spPr>
          <a:xfrm>
            <a:off x="6388456" y="548361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6" name="Text 22"/>
          <p:cNvSpPr txBox="1"/>
          <p:nvPr/>
        </p:nvSpPr>
        <p:spPr>
          <a:xfrm>
            <a:off x="6991960" y="5426919"/>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110</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9583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632996"/>
            <a:ext cx="10545775" cy="557784"/>
          </a:xfrm>
          <a:prstGeom prst="rect">
            <a:avLst/>
          </a:prstGeom>
          <a:noFill/>
          <a:ln/>
        </p:spPr>
        <p:txBody>
          <a:bodyPr wrap="square" lIns="0" tIns="0" rIns="0" bIns="0" rtlCol="0" anchor="t"/>
          <a:lstStyle/>
          <a:p>
            <a:pPr indent="0" marL="0">
              <a:buNone/>
            </a:pPr>
            <a:r>
              <a:rPr lang="id-ID" altLang="en-US" sz="1800" dirty="0">
                <a:solidFill>
                  <a:srgbClr val="57606A"/>
                </a:solidFill>
              </a:rPr>
              <a:t>Kelas </a:t>
            </a:r>
            <a:r>
              <a:rPr lang="id-ID" altLang="en-US" sz="1800" dirty="0">
                <a:solidFill>
                  <a:srgbClr val="0A3069"/>
                </a:solidFill>
                <a:latin typeface="Consolas" pitchFamily="34" charset="0"/>
                <a:ea typeface="Consolas" pitchFamily="34" charset="-122"/>
                <a:cs typeface="Consolas" pitchFamily="34" charset="-120"/>
              </a:rPr>
              <a:t>Ponsel</a:t>
            </a:r>
            <a:r>
              <a:rPr lang="id-ID" altLang="en-US" sz="1800" dirty="0">
                <a:solidFill>
                  <a:srgbClr val="57606A"/>
                </a:solidFill>
              </a:rPr>
              <a:t> punya atribut </a:t>
            </a:r>
            <a:r>
              <a:rPr lang="id-ID" altLang="en-US" sz="1800" dirty="0">
                <a:solidFill>
                  <a:srgbClr val="0A3069"/>
                </a:solidFill>
                <a:latin typeface="Consolas" pitchFamily="34" charset="0"/>
                <a:ea typeface="Consolas" pitchFamily="34" charset="-122"/>
                <a:cs typeface="Consolas" pitchFamily="34" charset="-120"/>
              </a:rPr>
              <a:t>baterai</a:t>
            </a:r>
            <a:r>
              <a:rPr lang="id-ID" altLang="en-US" sz="1800" dirty="0">
                <a:solidFill>
                  <a:srgbClr val="57606A"/>
                </a:solidFill>
              </a:rPr>
              <a:t> dan </a:t>
            </a:r>
            <a:r>
              <a:rPr lang="id-ID" altLang="en-US" sz="1800" i="1" dirty="0">
                <a:solidFill>
                  <a:srgbClr val="57606A"/>
                </a:solidFill>
              </a:rPr>
              <a:t>method</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pakai(persen)</a:t>
            </a:r>
            <a:r>
              <a:rPr lang="id-ID" altLang="en-US" sz="1800" dirty="0">
                <a:solidFill>
                  <a:srgbClr val="57606A"/>
                </a:solidFill>
              </a:rPr>
              <a:t> yang mengurangi baterai sebanyak </a:t>
            </a:r>
            <a:r>
              <a:rPr lang="id-ID" altLang="en-US" sz="1800" dirty="0">
                <a:solidFill>
                  <a:srgbClr val="0A3069"/>
                </a:solidFill>
                <a:latin typeface="Consolas" pitchFamily="34" charset="0"/>
                <a:ea typeface="Consolas" pitchFamily="34" charset="-122"/>
                <a:cs typeface="Consolas" pitchFamily="34" charset="-120"/>
              </a:rPr>
              <a:t>persen</a:t>
            </a:r>
            <a:r>
              <a:rPr lang="id-ID" altLang="en-US" sz="1800" dirty="0">
                <a:solidFill>
                  <a:srgbClr val="57606A"/>
                </a:solidFill>
              </a:rPr>
              <a:t>. Apa yang tercetak?</a:t>
            </a:r>
            <a:endParaRPr lang="id-ID" sz="1800" dirty="0"/>
          </a:p>
        </p:txBody>
      </p:sp>
      <p:sp>
        <p:nvSpPr>
          <p:cNvPr id="7" name="Shape 4"/>
          <p:cNvSpPr/>
          <p:nvPr/>
        </p:nvSpPr>
        <p:spPr>
          <a:xfrm>
            <a:off x="548640" y="251082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611404"/>
            <a:ext cx="457200" cy="457200"/>
          </a:xfrm>
          <a:prstGeom prst="ellipse">
            <a:avLst/>
          </a:prstGeom>
          <a:solidFill>
            <a:srgbClr val="8C959F"/>
          </a:solidFill>
          <a:ln/>
        </p:spPr>
      </p:sp>
      <p:sp>
        <p:nvSpPr>
          <p:cNvPr id="9" name="Text 6"/>
          <p:cNvSpPr txBox="1"/>
          <p:nvPr/>
        </p:nvSpPr>
        <p:spPr>
          <a:xfrm>
            <a:off x="749808"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62054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80</a:t>
            </a:r>
            <a:endParaRPr lang="id-ID" sz="2000" dirty="0"/>
          </a:p>
        </p:txBody>
      </p:sp>
      <p:sp>
        <p:nvSpPr>
          <p:cNvPr id="11" name="Shape 8"/>
          <p:cNvSpPr/>
          <p:nvPr/>
        </p:nvSpPr>
        <p:spPr>
          <a:xfrm>
            <a:off x="6187288" y="2510820"/>
            <a:ext cx="5455768" cy="658368"/>
          </a:xfrm>
          <a:prstGeom prst="roundRect">
            <a:avLst>
              <a:gd name="adj" fmla="val 23148"/>
            </a:avLst>
          </a:prstGeom>
          <a:solidFill>
            <a:srgbClr val="DAFBE1"/>
          </a:solidFill>
          <a:ln w="22225">
            <a:solidFill>
              <a:srgbClr val="1A7F37"/>
            </a:solidFill>
            <a:prstDash val="solid"/>
          </a:ln>
        </p:spPr>
      </p:sp>
      <p:sp>
        <p:nvSpPr>
          <p:cNvPr id="12" name="Shape 9"/>
          <p:cNvSpPr/>
          <p:nvPr/>
        </p:nvSpPr>
        <p:spPr>
          <a:xfrm>
            <a:off x="6388456" y="2611404"/>
            <a:ext cx="457200" cy="45720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89040" y="2711988"/>
            <a:ext cx="256032" cy="256032"/>
          </a:xfrm>
          <a:prstGeom prst="rect">
            <a:avLst/>
          </a:prstGeom>
        </p:spPr>
      </p:pic>
      <p:sp>
        <p:nvSpPr>
          <p:cNvPr id="14" name="Text 10"/>
          <p:cNvSpPr txBox="1"/>
          <p:nvPr/>
        </p:nvSpPr>
        <p:spPr>
          <a:xfrm>
            <a:off x="6991960" y="262054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50</a:t>
            </a:r>
            <a:endParaRPr lang="id-ID" sz="2000" dirty="0"/>
          </a:p>
        </p:txBody>
      </p:sp>
      <p:sp>
        <p:nvSpPr>
          <p:cNvPr id="15" name="Shape 11"/>
          <p:cNvSpPr/>
          <p:nvPr/>
        </p:nvSpPr>
        <p:spPr>
          <a:xfrm>
            <a:off x="548640" y="3352068"/>
            <a:ext cx="5455768" cy="658368"/>
          </a:xfrm>
          <a:prstGeom prst="roundRect">
            <a:avLst>
              <a:gd name="adj" fmla="val 23148"/>
            </a:avLst>
          </a:prstGeom>
          <a:solidFill>
            <a:srgbClr val="FFFFFF"/>
          </a:solidFill>
          <a:ln w="9525">
            <a:solidFill>
              <a:srgbClr val="D0D7DE"/>
            </a:solidFill>
            <a:prstDash val="solid"/>
          </a:ln>
        </p:spPr>
      </p:sp>
      <p:sp>
        <p:nvSpPr>
          <p:cNvPr id="16" name="Shape 12"/>
          <p:cNvSpPr/>
          <p:nvPr/>
        </p:nvSpPr>
        <p:spPr>
          <a:xfrm>
            <a:off x="749808" y="3452652"/>
            <a:ext cx="457200" cy="457200"/>
          </a:xfrm>
          <a:prstGeom prst="ellipse">
            <a:avLst/>
          </a:prstGeom>
          <a:solidFill>
            <a:srgbClr val="8C959F"/>
          </a:solidFill>
          <a:ln/>
        </p:spPr>
      </p:sp>
      <p:sp>
        <p:nvSpPr>
          <p:cNvPr id="17" name="Text 13"/>
          <p:cNvSpPr txBox="1"/>
          <p:nvPr/>
        </p:nvSpPr>
        <p:spPr>
          <a:xfrm>
            <a:off x="749808"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4"/>
          <p:cNvSpPr txBox="1"/>
          <p:nvPr/>
        </p:nvSpPr>
        <p:spPr>
          <a:xfrm>
            <a:off x="1353312" y="346179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30</a:t>
            </a:r>
            <a:endParaRPr lang="id-ID" sz="2000" dirty="0"/>
          </a:p>
        </p:txBody>
      </p:sp>
      <p:sp>
        <p:nvSpPr>
          <p:cNvPr id="19" name="Shape 15"/>
          <p:cNvSpPr/>
          <p:nvPr/>
        </p:nvSpPr>
        <p:spPr>
          <a:xfrm>
            <a:off x="6187288" y="3352068"/>
            <a:ext cx="5455768" cy="658368"/>
          </a:xfrm>
          <a:prstGeom prst="roundRect">
            <a:avLst>
              <a:gd name="adj" fmla="val 23148"/>
            </a:avLst>
          </a:prstGeom>
          <a:solidFill>
            <a:srgbClr val="FFFFFF"/>
          </a:solidFill>
          <a:ln w="9525">
            <a:solidFill>
              <a:srgbClr val="D0D7DE"/>
            </a:solidFill>
            <a:prstDash val="solid"/>
          </a:ln>
        </p:spPr>
      </p:sp>
      <p:sp>
        <p:nvSpPr>
          <p:cNvPr id="20" name="Shape 16"/>
          <p:cNvSpPr/>
          <p:nvPr/>
        </p:nvSpPr>
        <p:spPr>
          <a:xfrm>
            <a:off x="6388456" y="3452652"/>
            <a:ext cx="457200" cy="457200"/>
          </a:xfrm>
          <a:prstGeom prst="ellipse">
            <a:avLst/>
          </a:prstGeom>
          <a:solidFill>
            <a:srgbClr val="8C959F"/>
          </a:solidFill>
          <a:ln/>
        </p:spPr>
      </p:sp>
      <p:sp>
        <p:nvSpPr>
          <p:cNvPr id="21" name="Text 17"/>
          <p:cNvSpPr txBox="1"/>
          <p:nvPr/>
        </p:nvSpPr>
        <p:spPr>
          <a:xfrm>
            <a:off x="6388456"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46179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110</a:t>
            </a:r>
            <a:endParaRPr lang="id-ID" sz="2000" dirty="0"/>
          </a:p>
        </p:txBody>
      </p:sp>
      <p:sp>
        <p:nvSpPr>
          <p:cNvPr id="23" name="Shape 19"/>
          <p:cNvSpPr/>
          <p:nvPr/>
        </p:nvSpPr>
        <p:spPr>
          <a:xfrm>
            <a:off x="548640" y="4211604"/>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39448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95068"/>
            <a:ext cx="256032" cy="256032"/>
          </a:xfrm>
          <a:prstGeom prst="rect">
            <a:avLst/>
          </a:prstGeom>
        </p:spPr>
      </p:pic>
      <p:sp>
        <p:nvSpPr>
          <p:cNvPr id="26" name="Text 21"/>
          <p:cNvSpPr txBox="1"/>
          <p:nvPr/>
        </p:nvSpPr>
        <p:spPr>
          <a:xfrm>
            <a:off x="1417320" y="434876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687092"/>
            <a:ext cx="9951415" cy="1330960"/>
          </a:xfrm>
          <a:prstGeom prst="rect">
            <a:avLst/>
          </a:prstGeom>
          <a:noFill/>
          <a:ln/>
        </p:spPr>
        <p:txBody>
          <a:bodyPr wrap="square" lIns="0" tIns="0" rIns="0" bIns="0" rtlCol="0" anchor="t"/>
          <a:lstStyle/>
          <a:p>
            <a:pPr indent="0" marL="0">
              <a:buNone/>
            </a:pPr>
            <a:r>
              <a:rPr lang="id-ID" altLang="en-US" sz="2000" dirty="0">
                <a:solidFill>
                  <a:srgbClr val="0A3069"/>
                </a:solidFill>
                <a:latin typeface="Consolas" pitchFamily="34" charset="0"/>
                <a:ea typeface="Consolas" pitchFamily="34" charset="-122"/>
                <a:cs typeface="Consolas" pitchFamily="34" charset="-120"/>
              </a:rPr>
              <a:t>b = a</a:t>
            </a:r>
            <a:r>
              <a:rPr lang="id-ID" altLang="en-US" sz="2000" dirty="0">
                <a:solidFill>
                  <a:srgbClr val="1F2328"/>
                </a:solidFill>
              </a:rPr>
              <a:t> tidak membuat ponsel baru; </a:t>
            </a:r>
            <a:r>
              <a:rPr lang="id-ID" altLang="en-US" sz="2000" dirty="0">
                <a:solidFill>
                  <a:srgbClr val="0A3069"/>
                </a:solidFill>
                <a:latin typeface="Consolas" pitchFamily="34" charset="0"/>
                <a:ea typeface="Consolas" pitchFamily="34" charset="-122"/>
                <a:cs typeface="Consolas" pitchFamily="34" charset="-120"/>
              </a:rPr>
              <a:t>a</a:t>
            </a:r>
            <a:r>
              <a:rPr lang="id-ID" altLang="en-US" sz="2000" dirty="0">
                <a:solidFill>
                  <a:srgbClr val="1F2328"/>
                </a:solidFill>
              </a:rPr>
              <a:t> dan </a:t>
            </a:r>
            <a:r>
              <a:rPr lang="id-ID" altLang="en-US" sz="2000" dirty="0">
                <a:solidFill>
                  <a:srgbClr val="0A3069"/>
                </a:solidFill>
                <a:latin typeface="Consolas" pitchFamily="34" charset="0"/>
                <a:ea typeface="Consolas" pitchFamily="34" charset="-122"/>
                <a:cs typeface="Consolas" pitchFamily="34" charset="-120"/>
              </a:rPr>
              <a:t>b</a:t>
            </a:r>
            <a:r>
              <a:rPr lang="id-ID" altLang="en-US" sz="2000" dirty="0">
                <a:solidFill>
                  <a:srgbClr val="1F2328"/>
                </a:solidFill>
              </a:rPr>
              <a:t> menunjuk </a:t>
            </a:r>
            <a:r>
              <a:rPr lang="id-ID" altLang="en-US" sz="2000" b="1" dirty="0">
                <a:solidFill>
                  <a:srgbClr val="1F2328"/>
                </a:solidFill>
              </a:rPr>
              <a:t>objek yang sama</a:t>
            </a:r>
            <a:r>
              <a:rPr lang="id-ID" altLang="en-US" sz="2000" dirty="0">
                <a:solidFill>
                  <a:srgbClr val="1F2328"/>
                </a:solidFill>
              </a:rPr>
              <a:t> (</a:t>
            </a:r>
            <a:r>
              <a:rPr lang="id-ID" altLang="en-US" sz="2000" i="1" dirty="0">
                <a:solidFill>
                  <a:srgbClr val="1F2328"/>
                </a:solidFill>
              </a:rPr>
              <a:t>aliasing</a:t>
            </a:r>
            <a:r>
              <a:rPr lang="id-ID" altLang="en-US" sz="2000" dirty="0">
                <a:solidFill>
                  <a:srgbClr val="1F2328"/>
                </a:solidFill>
              </a:rPr>
              <a:t>). Memakai 30% lewat </a:t>
            </a:r>
            <a:r>
              <a:rPr lang="id-ID" altLang="en-US" sz="2000" dirty="0">
                <a:solidFill>
                  <a:srgbClr val="0A3069"/>
                </a:solidFill>
                <a:latin typeface="Consolas" pitchFamily="34" charset="0"/>
                <a:ea typeface="Consolas" pitchFamily="34" charset="-122"/>
                <a:cs typeface="Consolas" pitchFamily="34" charset="-120"/>
              </a:rPr>
              <a:t>b</a:t>
            </a:r>
            <a:r>
              <a:rPr lang="id-ID" altLang="en-US" sz="2000" dirty="0">
                <a:solidFill>
                  <a:srgbClr val="1F2328"/>
                </a:solidFill>
              </a:rPr>
              <a:t> mengurangi baterai objek itu, jadi dilihat lewat </a:t>
            </a:r>
            <a:r>
              <a:rPr lang="id-ID" altLang="en-US" sz="2000" dirty="0">
                <a:solidFill>
                  <a:srgbClr val="0A3069"/>
                </a:solidFill>
                <a:latin typeface="Consolas" pitchFamily="34" charset="0"/>
                <a:ea typeface="Consolas" pitchFamily="34" charset="-122"/>
                <a:cs typeface="Consolas" pitchFamily="34" charset="-120"/>
              </a:rPr>
              <a:t>a</a:t>
            </a:r>
            <a:r>
              <a:rPr lang="id-ID" altLang="en-US" sz="2000" dirty="0">
                <a:solidFill>
                  <a:srgbClr val="1F2328"/>
                </a:solidFill>
              </a:rPr>
              <a:t> pun hasilnya 50. Pilihan A adalah miskonsepsi “</a:t>
            </a:r>
            <a:r>
              <a:rPr lang="id-ID" altLang="en-US" sz="2000" dirty="0">
                <a:solidFill>
                  <a:srgbClr val="0A3069"/>
                </a:solidFill>
                <a:latin typeface="Consolas" pitchFamily="34" charset="0"/>
                <a:ea typeface="Consolas" pitchFamily="34" charset="-122"/>
                <a:cs typeface="Consolas" pitchFamily="34" charset="-120"/>
              </a:rPr>
              <a:t>b = a</a:t>
            </a:r>
            <a:r>
              <a:rPr lang="id-ID" altLang="en-US" sz="2000" dirty="0">
                <a:solidFill>
                  <a:srgbClr val="1F2328"/>
                </a:solidFill>
              </a:rPr>
              <a:t> membuat salinan”, C adalah baterai yang dipakai, dan D muncul jika </a:t>
            </a:r>
            <a:r>
              <a:rPr lang="id-ID" altLang="en-US" sz="2000" dirty="0">
                <a:solidFill>
                  <a:srgbClr val="0A3069"/>
                </a:solidFill>
                <a:latin typeface="Consolas" pitchFamily="34" charset="0"/>
                <a:ea typeface="Consolas" pitchFamily="34" charset="-122"/>
                <a:cs typeface="Consolas" pitchFamily="34" charset="-120"/>
              </a:rPr>
              <a:t>pakai()</a:t>
            </a:r>
            <a:r>
              <a:rPr lang="id-ID" altLang="en-US" sz="2000" dirty="0">
                <a:solidFill>
                  <a:srgbClr val="1F2328"/>
                </a:solidFill>
              </a:rPr>
              <a:t> dikira menambah baterai.</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400"/>
            <a:ext cx="279667" cy="279667"/>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0167" y="1531926"/>
            <a:ext cx="156613" cy="156613"/>
          </a:xfrm>
          <a:prstGeom prst="rect">
            <a:avLst/>
          </a:prstGeom>
        </p:spPr>
      </p:pic>
      <p:sp>
        <p:nvSpPr>
          <p:cNvPr id="7" name="Text 3"/>
          <p:cNvSpPr txBox="1"/>
          <p:nvPr/>
        </p:nvSpPr>
        <p:spPr>
          <a:xfrm>
            <a:off x="1051560" y="1463040"/>
            <a:ext cx="10591495" cy="634492"/>
          </a:xfrm>
          <a:prstGeom prst="rect">
            <a:avLst/>
          </a:prstGeom>
          <a:noFill/>
          <a:ln/>
        </p:spPr>
        <p:txBody>
          <a:bodyPr wrap="square" lIns="0" tIns="0" rIns="0" bIns="0" rtlCol="0" anchor="t"/>
          <a:lstStyle/>
          <a:p>
            <a:pPr indent="0" marL="0">
              <a:buNone/>
            </a:pPr>
            <a:r>
              <a:rPr lang="id-ID" altLang="en-US" sz="1900" b="1" dirty="0">
                <a:solidFill>
                  <a:srgbClr val="1F2328"/>
                </a:solidFill>
              </a:rPr>
              <a:t>Atribut objek</a:t>
            </a:r>
            <a:r>
              <a:rPr lang="id-ID" altLang="en-US" sz="1900" dirty="0">
                <a:solidFill>
                  <a:srgbClr val="1F2328"/>
                </a:solidFill>
              </a:rPr>
              <a:t> milik setiap objek; </a:t>
            </a:r>
            <a:r>
              <a:rPr lang="id-ID" altLang="en-US" sz="1900" b="1" dirty="0">
                <a:solidFill>
                  <a:srgbClr val="1F2328"/>
                </a:solidFill>
              </a:rPr>
              <a:t>atribut kelas</a:t>
            </a:r>
            <a:r>
              <a:rPr lang="id-ID" altLang="en-US" sz="1900" dirty="0">
                <a:solidFill>
                  <a:srgbClr val="1F2328"/>
                </a:solidFill>
              </a:rPr>
              <a:t> (Java: </a:t>
            </a:r>
            <a:r>
              <a:rPr lang="id-ID" altLang="en-US" sz="1900" dirty="0">
                <a:solidFill>
                  <a:srgbClr val="1F2328"/>
                </a:solidFill>
                <a:latin typeface="Consolas" pitchFamily="34" charset="0"/>
                <a:ea typeface="Consolas" pitchFamily="34" charset="-122"/>
                <a:cs typeface="Consolas" pitchFamily="34" charset="-120"/>
              </a:rPr>
              <a:t>static</a:t>
            </a:r>
            <a:r>
              <a:rPr lang="id-ID" altLang="en-US" sz="1900" dirty="0">
                <a:solidFill>
                  <a:srgbClr val="1F2328"/>
                </a:solidFill>
              </a:rPr>
              <a:t>) dipakai bersama dan diubah lewat nama kelas.</a:t>
            </a:r>
            <a:endParaRPr lang="id-ID" sz="1900" dirty="0"/>
          </a:p>
        </p:txBody>
      </p:sp>
      <p:sp>
        <p:nvSpPr>
          <p:cNvPr id="8" name="Shape 4"/>
          <p:cNvSpPr/>
          <p:nvPr/>
        </p:nvSpPr>
        <p:spPr>
          <a:xfrm>
            <a:off x="548640" y="2260340"/>
            <a:ext cx="279667" cy="279667"/>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0167" y="2321866"/>
            <a:ext cx="156613" cy="156613"/>
          </a:xfrm>
          <a:prstGeom prst="rect">
            <a:avLst/>
          </a:prstGeom>
        </p:spPr>
      </p:pic>
      <p:sp>
        <p:nvSpPr>
          <p:cNvPr id="10" name="Text 5"/>
          <p:cNvSpPr txBox="1"/>
          <p:nvPr/>
        </p:nvSpPr>
        <p:spPr>
          <a:xfrm>
            <a:off x="1051560" y="2252980"/>
            <a:ext cx="10591495" cy="634492"/>
          </a:xfrm>
          <a:prstGeom prst="rect">
            <a:avLst/>
          </a:prstGeom>
          <a:noFill/>
          <a:ln/>
        </p:spPr>
        <p:txBody>
          <a:bodyPr wrap="square" lIns="0" tIns="0" rIns="0" bIns="0" rtlCol="0" anchor="t"/>
          <a:lstStyle/>
          <a:p>
            <a:pPr indent="0" marL="0">
              <a:buNone/>
            </a:pPr>
            <a:r>
              <a:rPr lang="id-ID" altLang="en-US" sz="1900" i="1" dirty="0">
                <a:solidFill>
                  <a:srgbClr val="1F2328"/>
                </a:solidFill>
              </a:rPr>
              <a:t>Method</a:t>
            </a:r>
            <a:r>
              <a:rPr lang="id-ID" altLang="en-US" sz="1900" dirty="0">
                <a:solidFill>
                  <a:srgbClr val="1F2328"/>
                </a:solidFill>
              </a:rPr>
              <a:t> milik kelas dipanggil lewat nama kelas tanpa objek. </a:t>
            </a:r>
            <a:r>
              <a:rPr lang="id-ID" altLang="en-US" sz="1900" b="1" dirty="0">
                <a:solidFill>
                  <a:srgbClr val="1F2328"/>
                </a:solidFill>
              </a:rPr>
              <a:t>Konstruktor alternatif</a:t>
            </a:r>
            <a:r>
              <a:rPr lang="id-ID" altLang="en-US" sz="1900" dirty="0">
                <a:solidFill>
                  <a:srgbClr val="1F2328"/>
                </a:solidFill>
              </a:rPr>
              <a:t> membuat objek dari data lain.</a:t>
            </a:r>
            <a:endParaRPr lang="id-ID" sz="1900" dirty="0"/>
          </a:p>
        </p:txBody>
      </p:sp>
      <p:sp>
        <p:nvSpPr>
          <p:cNvPr id="11" name="Shape 6"/>
          <p:cNvSpPr/>
          <p:nvPr/>
        </p:nvSpPr>
        <p:spPr>
          <a:xfrm>
            <a:off x="548640" y="3050280"/>
            <a:ext cx="279667" cy="279667"/>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0167" y="3111806"/>
            <a:ext cx="156613" cy="156613"/>
          </a:xfrm>
          <a:prstGeom prst="rect">
            <a:avLst/>
          </a:prstGeom>
        </p:spPr>
      </p:pic>
      <p:sp>
        <p:nvSpPr>
          <p:cNvPr id="13" name="Text 7"/>
          <p:cNvSpPr txBox="1"/>
          <p:nvPr/>
        </p:nvSpPr>
        <p:spPr>
          <a:xfrm>
            <a:off x="1051560" y="3042920"/>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Konstruktor luwes: Python memakai </a:t>
            </a:r>
            <a:r>
              <a:rPr lang="id-ID" altLang="en-US" sz="1900" b="1" dirty="0">
                <a:solidFill>
                  <a:srgbClr val="1F2328"/>
                </a:solidFill>
              </a:rPr>
              <a:t>nilai bawaan</a:t>
            </a:r>
            <a:r>
              <a:rPr lang="id-ID" altLang="en-US" sz="1900" dirty="0">
                <a:solidFill>
                  <a:srgbClr val="1F2328"/>
                </a:solidFill>
              </a:rPr>
              <a:t>, Java memakai </a:t>
            </a:r>
            <a:r>
              <a:rPr lang="id-ID" altLang="en-US" sz="1900" b="1" i="1" dirty="0">
                <a:solidFill>
                  <a:srgbClr val="1F2328"/>
                </a:solidFill>
              </a:rPr>
              <a:t>overloading</a:t>
            </a:r>
            <a:r>
              <a:rPr lang="id-ID" altLang="en-US" sz="1900" dirty="0">
                <a:solidFill>
                  <a:srgbClr val="1F2328"/>
                </a:solidFill>
              </a:rPr>
              <a:t> dan </a:t>
            </a:r>
            <a:r>
              <a:rPr lang="id-ID" altLang="en-US" sz="1900" dirty="0">
                <a:solidFill>
                  <a:srgbClr val="1F2328"/>
                </a:solidFill>
                <a:latin typeface="Consolas" pitchFamily="34" charset="0"/>
                <a:ea typeface="Consolas" pitchFamily="34" charset="-122"/>
                <a:cs typeface="Consolas" pitchFamily="34" charset="-120"/>
              </a:rPr>
              <a:t>this(...)</a:t>
            </a:r>
            <a:r>
              <a:rPr lang="id-ID" altLang="en-US" sz="1900" dirty="0">
                <a:solidFill>
                  <a:srgbClr val="1F2328"/>
                </a:solidFill>
              </a:rPr>
              <a:t>.</a:t>
            </a:r>
            <a:endParaRPr lang="id-ID" sz="1900" dirty="0"/>
          </a:p>
        </p:txBody>
      </p:sp>
      <p:sp>
        <p:nvSpPr>
          <p:cNvPr id="14" name="Shape 8"/>
          <p:cNvSpPr/>
          <p:nvPr/>
        </p:nvSpPr>
        <p:spPr>
          <a:xfrm>
            <a:off x="548640" y="3545834"/>
            <a:ext cx="279667" cy="279667"/>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0167" y="3607360"/>
            <a:ext cx="156613" cy="156613"/>
          </a:xfrm>
          <a:prstGeom prst="rect">
            <a:avLst/>
          </a:prstGeom>
        </p:spPr>
      </p:pic>
      <p:sp>
        <p:nvSpPr>
          <p:cNvPr id="16" name="Text 9"/>
          <p:cNvSpPr txBox="1"/>
          <p:nvPr/>
        </p:nvSpPr>
        <p:spPr>
          <a:xfrm>
            <a:off x="1051560" y="3538474"/>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__str__</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toString()</a:t>
            </a:r>
            <a:r>
              <a:rPr lang="id-ID" altLang="en-US" sz="1900" dirty="0">
                <a:solidFill>
                  <a:srgbClr val="1F2328"/>
                </a:solidFill>
              </a:rPr>
              <a:t> </a:t>
            </a:r>
            <a:r>
              <a:rPr lang="id-ID" altLang="en-US" sz="1900" b="1" dirty="0">
                <a:solidFill>
                  <a:srgbClr val="1F2328"/>
                </a:solidFill>
              </a:rPr>
              <a:t>mengembalikan</a:t>
            </a:r>
            <a:r>
              <a:rPr lang="id-ID" altLang="en-US" sz="1900" dirty="0">
                <a:solidFill>
                  <a:srgbClr val="1F2328"/>
                </a:solidFill>
              </a:rPr>
              <a:t> teks yang mewakili objek dan dipanggil otomatis saat objek dicetak.</a:t>
            </a:r>
            <a:endParaRPr lang="id-ID" sz="1900" dirty="0"/>
          </a:p>
        </p:txBody>
      </p:sp>
      <p:sp>
        <p:nvSpPr>
          <p:cNvPr id="17" name="Shape 10"/>
          <p:cNvSpPr/>
          <p:nvPr/>
        </p:nvSpPr>
        <p:spPr>
          <a:xfrm>
            <a:off x="548640" y="4335774"/>
            <a:ext cx="279667" cy="279667"/>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0167" y="4397300"/>
            <a:ext cx="156613" cy="156613"/>
          </a:xfrm>
          <a:prstGeom prst="rect">
            <a:avLst/>
          </a:prstGeom>
        </p:spPr>
      </p:pic>
      <p:sp>
        <p:nvSpPr>
          <p:cNvPr id="19" name="Text 11"/>
          <p:cNvSpPr txBox="1"/>
          <p:nvPr/>
        </p:nvSpPr>
        <p:spPr>
          <a:xfrm>
            <a:off x="1051560" y="4328414"/>
            <a:ext cx="10591495" cy="340106"/>
          </a:xfrm>
          <a:prstGeom prst="rect">
            <a:avLst/>
          </a:prstGeom>
          <a:noFill/>
          <a:ln/>
        </p:spPr>
        <p:txBody>
          <a:bodyPr wrap="square" lIns="0" tIns="0" rIns="0" bIns="0" rtlCol="0" anchor="t"/>
          <a:lstStyle/>
          <a:p>
            <a:pPr indent="0" marL="0">
              <a:buNone/>
            </a:pPr>
            <a:r>
              <a:rPr lang="id-ID" altLang="en-US" sz="1900" b="1" i="1" dirty="0">
                <a:solidFill>
                  <a:srgbClr val="1F2328"/>
                </a:solidFill>
              </a:rPr>
              <a:t>Method boolean</a:t>
            </a:r>
            <a:r>
              <a:rPr lang="id-ID" altLang="en-US" sz="1900" dirty="0">
                <a:solidFill>
                  <a:srgbClr val="1F2328"/>
                </a:solidFill>
              </a:rPr>
              <a:t> dinamai seperti pertanyaan ya/tidak, misalnya </a:t>
            </a:r>
            <a:r>
              <a:rPr lang="id-ID" altLang="en-US" sz="1900" dirty="0">
                <a:solidFill>
                  <a:srgbClr val="1F2328"/>
                </a:solidFill>
                <a:latin typeface="Consolas" pitchFamily="34" charset="0"/>
                <a:ea typeface="Consolas" pitchFamily="34" charset="-122"/>
                <a:cs typeface="Consolas" pitchFamily="34" charset="-120"/>
              </a:rPr>
              <a:t>stok_cukup()</a:t>
            </a:r>
            <a:r>
              <a:rPr lang="id-ID" altLang="en-US" sz="1900" dirty="0">
                <a:solidFill>
                  <a:srgbClr val="1F2328"/>
                </a:solidFill>
              </a:rPr>
              <a:t> atau </a:t>
            </a:r>
            <a:r>
              <a:rPr lang="id-ID" altLang="en-US" sz="1900" dirty="0">
                <a:solidFill>
                  <a:srgbClr val="1F2328"/>
                </a:solidFill>
                <a:latin typeface="Consolas" pitchFamily="34" charset="0"/>
                <a:ea typeface="Consolas" pitchFamily="34" charset="-122"/>
                <a:cs typeface="Consolas" pitchFamily="34" charset="-120"/>
              </a:rPr>
              <a:t>isKabisat()</a:t>
            </a:r>
            <a:r>
              <a:rPr lang="id-ID" altLang="en-US" sz="1900" dirty="0">
                <a:solidFill>
                  <a:srgbClr val="1F2328"/>
                </a:solidFill>
              </a:rPr>
              <a:t>.</a:t>
            </a:r>
            <a:endParaRPr lang="id-ID" sz="1900" dirty="0"/>
          </a:p>
        </p:txBody>
      </p:sp>
      <p:sp>
        <p:nvSpPr>
          <p:cNvPr id="20" name="Shape 12"/>
          <p:cNvSpPr/>
          <p:nvPr/>
        </p:nvSpPr>
        <p:spPr>
          <a:xfrm>
            <a:off x="548640" y="4831328"/>
            <a:ext cx="279667" cy="279667"/>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0167" y="4892854"/>
            <a:ext cx="156613" cy="156613"/>
          </a:xfrm>
          <a:prstGeom prst="rect">
            <a:avLst/>
          </a:prstGeom>
        </p:spPr>
      </p:pic>
      <p:sp>
        <p:nvSpPr>
          <p:cNvPr id="22" name="Text 13"/>
          <p:cNvSpPr txBox="1"/>
          <p:nvPr/>
        </p:nvSpPr>
        <p:spPr>
          <a:xfrm>
            <a:off x="1051560" y="4823968"/>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Variabel menyimpan </a:t>
            </a:r>
            <a:r>
              <a:rPr lang="id-ID" altLang="en-US" sz="1900" b="1" dirty="0">
                <a:solidFill>
                  <a:srgbClr val="1F2328"/>
                </a:solidFill>
              </a:rPr>
              <a:t>referensi</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b = a</a:t>
            </a:r>
            <a:r>
              <a:rPr lang="id-ID" altLang="en-US" sz="1900" dirty="0">
                <a:solidFill>
                  <a:srgbClr val="1F2328"/>
                </a:solidFill>
              </a:rPr>
              <a:t> membuat </a:t>
            </a:r>
            <a:r>
              <a:rPr lang="id-ID" altLang="en-US" sz="1900" b="1" i="1" dirty="0">
                <a:solidFill>
                  <a:srgbClr val="1F2328"/>
                </a:solidFill>
              </a:rPr>
              <a:t>aliasing</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None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null</a:t>
            </a:r>
            <a:r>
              <a:rPr lang="id-ID" altLang="en-US" sz="1900" dirty="0">
                <a:solidFill>
                  <a:srgbClr val="1F2328"/>
                </a:solidFill>
              </a:rPr>
              <a:t> berarti tidak ada objek.</a:t>
            </a:r>
            <a:endParaRPr lang="id-ID" sz="1900" dirty="0"/>
          </a:p>
        </p:txBody>
      </p:sp>
      <p:sp>
        <p:nvSpPr>
          <p:cNvPr id="23" name="Shape 14"/>
          <p:cNvSpPr/>
          <p:nvPr/>
        </p:nvSpPr>
        <p:spPr>
          <a:xfrm>
            <a:off x="548640" y="5326882"/>
            <a:ext cx="279667" cy="279667"/>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0167" y="5388408"/>
            <a:ext cx="156613" cy="156613"/>
          </a:xfrm>
          <a:prstGeom prst="rect">
            <a:avLst/>
          </a:prstGeom>
        </p:spPr>
      </p:pic>
      <p:sp>
        <p:nvSpPr>
          <p:cNvPr id="25" name="Text 15"/>
          <p:cNvSpPr txBox="1"/>
          <p:nvPr/>
        </p:nvSpPr>
        <p:spPr>
          <a:xfrm>
            <a:off x="1051560" y="531952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Objek kiriman bisa diubah oleh </a:t>
            </a:r>
            <a:r>
              <a:rPr lang="id-ID" altLang="en-US" sz="1900" i="1" dirty="0">
                <a:solidFill>
                  <a:srgbClr val="1F2328"/>
                </a:solidFill>
              </a:rPr>
              <a:t>method</a:t>
            </a:r>
            <a:r>
              <a:rPr lang="id-ID" altLang="en-US" sz="1900" dirty="0">
                <a:solidFill>
                  <a:srgbClr val="1F2328"/>
                </a:solidFill>
              </a:rPr>
              <a:t>, sedangkan </a:t>
            </a:r>
            <a:r>
              <a:rPr lang="id-ID" altLang="en-US" sz="1900" i="1" dirty="0">
                <a:solidFill>
                  <a:srgbClr val="1F2328"/>
                </a:solidFill>
              </a:rPr>
              <a:t>method</a:t>
            </a:r>
            <a:r>
              <a:rPr lang="id-ID" altLang="en-US" sz="1900" dirty="0">
                <a:solidFill>
                  <a:srgbClr val="1F2328"/>
                </a:solidFill>
              </a:rPr>
              <a:t> bisa </a:t>
            </a:r>
            <a:r>
              <a:rPr lang="id-ID" altLang="en-US" sz="1900" b="1" dirty="0">
                <a:solidFill>
                  <a:srgbClr val="1F2328"/>
                </a:solidFill>
              </a:rPr>
              <a:t>mengembalikan objek baru</a:t>
            </a:r>
            <a:r>
              <a:rPr lang="id-ID" altLang="en-US" sz="1900" dirty="0">
                <a:solidFill>
                  <a:srgbClr val="1F2328"/>
                </a:solidFill>
              </a:rPr>
              <a:t> tanpa mengubah objek asal.</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01⁠—⁠08 dan studi kasus KedaiKita di jalur pilihanmu.</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Kerjakan latihan, lalu cek pemahamanmu dengan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github.com/antonprafanto/PBO2026/tree/master/Pertemuan-03-Atribut-dan-Method</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03: Atribut dan Method Lebih Dalam</dc:title>
  <dc:subject>Pemrograman Berorientasi Objek 2026</dc:subject>
  <dc:creator>PBO 2026 UNMUL</dc:creator>
  <cp:lastModifiedBy>PBO 2026 UNMUL</cp:lastModifiedBy>
  <cp:revision>1</cp:revision>
  <dcterms:created xsi:type="dcterms:W3CDTF">2026-10-15T02:18:32Z</dcterms:created>
  <dcterms:modified xsi:type="dcterms:W3CDTF">2026-10-15T02:18:32Z</dcterms:modified>
</cp:coreProperties>
</file>