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83073d43-4d3e-b9c5-2f49-06cf20264776}">
          <p14:sldIdLst>
            <p14:sldId id="256"/>
            <p14:sldId id="257"/>
            <p14:sldId id="258"/>
          </p14:sldIdLst>
        </p14:section>
        <p14:section name="Cakupan dan Bentuk UAS" id="{7033aa06-6e61-3506-12cb-a264d06ceb49}">
          <p14:sldIdLst>
            <p14:sldId id="259"/>
            <p14:sldId id="260"/>
            <p14:sldId id="261"/>
            <p14:sldId id="262"/>
          </p14:sldIdLst>
        </p14:section>
        <p14:section name="Strategi Belajar dan Mengerjakan" id="{80840d1d-ce2e-cc52-03a1-f3c738da2226}">
          <p14:sldIdLst>
            <p14:sldId id="263"/>
            <p14:sldId id="264"/>
            <p14:sldId id="265"/>
          </p14:sldIdLst>
        </p14:section>
        <p14:section name="Contoh Latihan Soal" id="{83406909-c8b0-9634-b34b-a6af2c68eca8}">
          <p14:sldIdLst>
            <p14:sldId id="266"/>
          </p14:sldIdLst>
        </p14:section>
        <p14:section name="Cek Pemahaman" id="{d1b38d7e-a6be-d6e4-e7ec-2be8c2170c2a}">
          <p14:sldIdLst>
            <p14:sldId id="267"/>
            <p14:sldId id="268"/>
            <p14:sldId id="269"/>
            <p14:sldId id="270"/>
            <p14:sldId id="271"/>
            <p14:sldId id="272"/>
            <p14:sldId id="273"/>
            <p14:sldId id="274"/>
          </p14:sldIdLst>
        </p14:section>
        <p14:section name="Presentasi Proyek Akhir" id="{b1b4ce92-2679-ac90-afbf-f1df6e93b268}">
          <p14:sldIdLst>
            <p14:sldId id="275"/>
            <p14:sldId id="276"/>
            <p14:sldId id="277"/>
          </p14:sldIdLst>
        </p14:section>
        <p14:section name="Penutup" id="{3a8466cb-7b1a-bc97-8fa6-c8f0bd2b1758}">
          <p14:sldIdLst>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Kita sampai di garis akhir semester. Pertemuan ini membantumu bersiap menghadapi UAS dan presentasi proyek akhir: cakupannya, peta konsep, strategi belajar, contoh latihan soal lengkap dengan pembahasan, dan panduan presentasi. Penting: repositori ini publik, dan semua soal di folder Pertemuan-16-UAS adalah latihan persiapan, bukan soal UAS yang sebenarnya. Bentuk ujian, jumlah soal, bobot, durasi, dan aturannya mengikuti pengumuman dosen.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enam kemampuan yang kita kejar menjelang UAS. Ingat, UAS menguji apakah kamu bisa memakai konsep-konsep PBO bersama-sama, bukan satu per satu. Fondasi yang sudah diuji di UTS, yaitu kelas, objek, enkapsulasi, relasi, UML, dan pewarisan, tetap dipakai di setiap soal. Di Pertemuan 15, semua konsep itu sudah kita gabungkan menjadi aplikasi kasir KedaiKita yang utuh: berlapis, menyimpan data ke </a:t>
            </a:r>
            <a:r>
              <a:rPr lang="id-ID" dirty="0" i="1"/>
              <a:t>file</a:t>
            </a:r>
            <a:r>
              <a:rPr lang="id-ID" dirty="0"/>
              <a:t>, dan punya </a:t>
            </a:r>
            <a:r>
              <a:rPr lang="id-ID" dirty="0" i="1"/>
              <a:t>unit test</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alur sesi kita. Kita mulai dari informasi dan kisi-kisi agar kamu tahu apa yang diuji, lalu rencana belajar tujuh hari dan </a:t>
            </a:r>
            <a:r>
              <a:rPr lang="id-ID" dirty="0" i="1"/>
              <a:t>tips</a:t>
            </a:r>
            <a:r>
              <a:rPr lang="id-ID" dirty="0"/>
              <a:t> mengerjakan soal. Setelah itu kita kerjakan tiga contoh soal pilihan ganda bersama dan membedah potongan solusi soal praktik. Terakhir, kita bahas jebakan yang sering muncul dan persiapan presentasi proyek akhir.</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Sebelum belajar, pastikan kamu tahu peta medannya: materi mana yang diuji, kemampuan apa yang diharapkan, dan bentuk soal seperti apa yang biasa dipakai. Ingat, semua soal di folder ini adalah latihan persiapan, dan format resminya selalu mengikuti pengumuman dosen.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Tabel ini meringkas kisi-kisi, yaitu peta kemampuan yang diuji. Kolom terakhir menunjukkan nomor soal di </a:t>
            </a:r>
            <a:r>
              <a:rPr lang="id-ID" dirty="0" i="1"/>
              <a:t>file</a:t>
            </a:r>
            <a:r>
              <a:rPr lang="id-ID" dirty="0"/>
              <a:t> latihan-soal.md yang melatih kemampuan itu: A untuk pilihan ganda, B untuk esai, dan C untuk praktik. Level kognitifnya berkisar dari C2, memahami, sampai C6, mencipta. Soal UAS jarang menanyakan fondasi secara langsung, tetapi hampir semua soal membutuhkannya. Misalnya, kamu tidak bisa menjawab soal polimorfisme kalau belum paham </a:t>
            </a:r>
            <a:r>
              <a:rPr lang="id-ID" dirty="0" i="1"/>
              <a:t>override</a:t>
            </a:r>
            <a:r>
              <a:rPr lang="id-ID" dirty="0"/>
              <a:t>.</a:t>
            </a:r>
            <a:endParaRPr lang="id-ID" dirty="0"/>
          </a:p>
          <a:p>
            <a:r>
              <a:rPr lang="id-ID" dirty="0"/>
              <a:t>Pertanyaan untuk kelas: topik mana yang menurutmu paling perlu diulang?</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bentuk ujian yang umum dipakai; format resminya mengikuti pengumuman dosen, termasuk soal buku terbuka atau tertutup dan boleh tidaknya memakai laptop, internet, atau AI. Kolom kanan menunjukkan susunan latihan soal di folder ini, yang bisa kamu pakai sebagai simulasi: Bagian A dan B dikerjakan tanpa membuka catatan dan tanpa menjalankan kode, sedangkan Bagian C dikerjakan di komputer. Untuk soal praktik, gunakan jalur pilihanmu, Python atau Java, kecuali dosen menentukan lain. Dalam skema penilaian yang disarankan, proyek akhir adalah komponen tersendiri, terpisah dari UAS.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Materi PBO saling menopang; baca peta ini dari kiri ke kanan. Fondasi Pertemuan 02 sampai 07 menopang polimorfisme, </a:t>
            </a:r>
            <a:r>
              <a:rPr lang="id-ID" dirty="0" i="1"/>
              <a:t>exception</a:t>
            </a:r>
            <a:r>
              <a:rPr lang="id-ID" dirty="0"/>
              <a:t>, dan koleksi. Polimorfisme membuka jalan ke abstraksi dan SOLID, lalu prinsip SOLID diwujudkan menjadi pola desain. Semuanya bertemu di proyek terintegrasi, lalu di UAS dan proyek akhir. Cara memakainya untuk belajar: kalau kamu kesulitan di satu kotak, mundurlah ke kotak yang menunjuk ke sana. Misalnya, bingung dengan </a:t>
            </a:r>
            <a:r>
              <a:rPr lang="id-ID" dirty="0" i="1"/>
              <a:t>Strategy</a:t>
            </a:r>
            <a:r>
              <a:rPr lang="id-ID" dirty="0"/>
              <a:t> di Pertemuan 14? Ulangi dulu OCP di Pertemuan 13 dan polimorfisme di Pertemuan 09.</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Tenang, persiapan bisa dibagi menjadi potongan kecil. Di bagian ini ada rencana belajar tujuh hari, teknik belajar yang terbukti membantu, dan </a:t>
            </a:r>
            <a:r>
              <a:rPr lang="id-ID" dirty="0" i="1"/>
              <a:t>tips</a:t>
            </a:r>
            <a:r>
              <a:rPr lang="id-ID" dirty="0"/>
              <a:t> mengerjakan setiap bentuk soal.</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Rencana ini membagi persiapan menjadi potongan kecil. Hari ketiga dan kedua sebelum ujian dipakai untuk simulasi: Bagian A dan B dengan </a:t>
            </a:r>
            <a:r>
              <a:rPr lang="id-ID" dirty="0" i="1"/>
              <a:t>timer</a:t>
            </a:r>
            <a:r>
              <a:rPr lang="id-ID" dirty="0"/>
              <a:t> lalu dicocokkan, kemudian Bagian C tanpa melihat solusi lalu dibandingkan dengan solusinya. Pakai juga empat teknik belajar ini. Pertama, tebak dulu, jalankan kemudian: selisih antara tebakan dan hasil nyata adalah bahan belajar paling berharga. Kedua, jelaskan ke orang lain; kalau tersendat, di situlah bagian yang belum kamu kuasai. Ketiga, tulis ulang dari nol, misalnya kelas </a:t>
            </a:r>
            <a:r>
              <a:rPr lang="en-US" dirty="0">
                <a:latin typeface="Consolas"/>
              </a:rPr>
              <a:t>Pembayaran</a:t>
            </a:r>
            <a:r>
              <a:rPr lang="id-ID" dirty="0"/>
              <a:t> dan kelas anaknya. Keempat, latih membaca kode bahasa satunya karena soal membaca kode sering menampilkan Python dan Java.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Untuk pilihan ganda membaca kode, baca kode dua kali: pertama untuk struktur, yaitu kelas apa mewarisi apa, kedua untuk alur. Telusuri dengan tabel kecil di kertas berisi nama variabel, objek yang ditunjuk, dan nilai atributnya. Pembeda pilihan biasanya ada pada satu baris: </a:t>
            </a:r>
            <a:r>
              <a:rPr lang="en-US" dirty="0">
                <a:latin typeface="Consolas"/>
              </a:rPr>
              <a:t>super</a:t>
            </a:r>
            <a:r>
              <a:rPr lang="id-ID" dirty="0"/>
              <a:t>, </a:t>
            </a:r>
            <a:r>
              <a:rPr lang="en-US" dirty="0">
                <a:latin typeface="Consolas"/>
              </a:rPr>
              <a:t>finally</a:t>
            </a:r>
            <a:r>
              <a:rPr lang="id-ID" dirty="0"/>
              <a:t>, urutan </a:t>
            </a:r>
            <a:r>
              <a:rPr lang="en-US" dirty="0">
                <a:latin typeface="Consolas"/>
              </a:rPr>
              <a:t>except</a:t>
            </a:r>
            <a:r>
              <a:rPr lang="id-ID" dirty="0"/>
              <a:t>, atau kunci pengurutan kedua. Untuk esai, satu contoh kode kecil sering lebih meyakinkan daripada satu paragraf panjang. Untuk praktik, tulis kelas data dulu, lalu aturan, lalu program utama. Baca pesan </a:t>
            </a:r>
            <a:r>
              <a:rPr lang="id-ID" dirty="0" i="1"/>
              <a:t>error</a:t>
            </a:r>
            <a:r>
              <a:rPr lang="id-ID" dirty="0"/>
              <a:t> Python dari bawah ke atas, dan pesan Java dari baris pertama.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Kita kerjakan bersama tiga soal pilihan ganda dari Bagian A latihan soal, lalu membedah potongan solusi Soal C1. Kerjakan dulu sendiri sebelum melihat jawabannya. Ingat, ini latihan persiapan, bukan soal UAS yang sebenarnya.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contoh soal membaca kode dari materi Pertemuan 12. Beri waktu sekitar satu menit. Sarankan mahasiswa menelusuri dengan tabel kecil: nama dan skor setiap peserta, lalu urutkan menurut kunci pertama dan kunci kedua. Jawaban dan pembahasannya ada di </a:t>
            </a:r>
            <a:r>
              <a:rPr lang="id-ID" dirty="0" i="1"/>
              <a:t>slide</a:t>
            </a:r>
            <a:r>
              <a:rPr lang="id-ID" dirty="0"/>
              <a:t> berikutnya. Di latihan soal, versi Java ditampilkan lengkap berdampingan dengan versi Python, dan keduanya bermakna sama.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C. Kunci </a:t>
            </a:r>
            <a:r>
              <a:rPr lang="en-US" dirty="0">
                <a:latin typeface="Consolas"/>
              </a:rPr>
              <a:t>(-p.skor, p.nama)</a:t>
            </a:r>
            <a:r>
              <a:rPr lang="id-ID" dirty="0"/>
              <a:t> berarti skor dari besar ke kecil; jika skor sama, nama A—Z. Ayu (92) di depan, lalu Citra dan Dimas (80) menurut nama, dan Bima (75) di belakang. A melupakan kriteria kedua, B adalah urutan skor naik, dan D urutan nama saja.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Soal ini menguji urutan penanganan </a:t>
            </a:r>
            <a:r>
              <a:rPr lang="id-ID" dirty="0" i="1"/>
              <a:t>exception</a:t>
            </a:r>
            <a:r>
              <a:rPr lang="id-ID" dirty="0"/>
              <a:t> dari Pertemuan 11, dan aturan yang sama dipakai di Soal C1. Tanyakan ke kelas: apa yang terjadi di Python jika urutannya terbalik? Jawabannya: tidak ada pesan </a:t>
            </a:r>
            <a:r>
              <a:rPr lang="id-ID" dirty="0" i="1"/>
              <a:t>error</a:t>
            </a:r>
            <a:r>
              <a:rPr lang="id-ID" dirty="0"/>
              <a:t> sama sekali, tetapi blok anak diam-diam tidak pernah dijalankan. Di Java, </a:t>
            </a:r>
            <a:r>
              <a:rPr lang="id-ID" dirty="0" i="1"/>
              <a:t>compiler</a:t>
            </a:r>
            <a:r>
              <a:rPr lang="id-ID" dirty="0"/>
              <a:t> langsung menolak dengan pesan bahwa </a:t>
            </a:r>
            <a:r>
              <a:rPr lang="id-ID" dirty="0" i="1"/>
              <a:t>exception</a:t>
            </a:r>
            <a:r>
              <a:rPr lang="id-ID" dirty="0"/>
              <a:t> itu sudah ditangkap. Jawaban lengkapnya ada di </a:t>
            </a:r>
            <a:r>
              <a:rPr lang="id-ID" dirty="0" i="1"/>
              <a:t>slide</a:t>
            </a:r>
            <a:r>
              <a:rPr lang="id-ID" dirty="0"/>
              <a:t> berikutnya.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A. Blok </a:t>
            </a:r>
            <a:r>
              <a:rPr lang="en-US" dirty="0">
                <a:latin typeface="Consolas"/>
              </a:rPr>
              <a:t>except</a:t>
            </a:r>
            <a:r>
              <a:rPr lang="id-ID" dirty="0"/>
              <a:t>/</a:t>
            </a:r>
            <a:r>
              <a:rPr lang="en-US" dirty="0">
                <a:latin typeface="Consolas"/>
              </a:rPr>
              <a:t>catch</a:t>
            </a:r>
            <a:r>
              <a:rPr lang="id-ID" dirty="0"/>
              <a:t> diperiksa dari atas, dan hanya blok </a:t>
            </a:r>
            <a:r>
              <a:rPr lang="id-ID" dirty="0" b="1"/>
              <a:t>pertama</a:t>
            </a:r>
            <a:r>
              <a:rPr lang="id-ID" dirty="0"/>
              <a:t> yang cocok yang dijalankan. </a:t>
            </a:r>
            <a:r>
              <a:rPr lang="en-US" dirty="0">
                <a:latin typeface="Consolas"/>
              </a:rPr>
              <a:t>StokTidakCukupError</a:t>
            </a:r>
            <a:r>
              <a:rPr lang="id-ID" dirty="0"/>
              <a:t> juga merupakan </a:t>
            </a:r>
            <a:r>
              <a:rPr lang="en-US" dirty="0">
                <a:latin typeface="Consolas"/>
              </a:rPr>
              <a:t>KedaiError</a:t>
            </a:r>
            <a:r>
              <a:rPr lang="id-ID" dirty="0"/>
              <a:t>, jadi blok induk yang ditulis lebih dulu menyerobot semuanya. Python diam saja, sedangkan Java menolaknya saat kompilasi. C justru terbalik: blok induk </a:t>
            </a:r>
            <a:r>
              <a:rPr lang="id-ID" dirty="0" b="1"/>
              <a:t>bisa</a:t>
            </a:r>
            <a:r>
              <a:rPr lang="id-ID" dirty="0"/>
              <a:t> menangkap </a:t>
            </a:r>
            <a:r>
              <a:rPr lang="id-ID" dirty="0" i="1"/>
              <a:t>exception</a:t>
            </a:r>
            <a:r>
              <a:rPr lang="id-ID" dirty="0"/>
              <a:t> anak.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Soal ini menguji pemilihan </a:t>
            </a:r>
            <a:r>
              <a:rPr lang="id-ID" dirty="0" i="1"/>
              <a:t>design pattern</a:t>
            </a:r>
            <a:r>
              <a:rPr lang="id-ID" dirty="0"/>
              <a:t> dari Pertemuan 14. Ajak mahasiswa mulai dari masalahnya, bukan dari nama polanya: aturan yang sering berganti biasanya mengarah ke </a:t>
            </a:r>
            <a:r>
              <a:rPr lang="id-ID" dirty="0" i="1"/>
              <a:t>Strategy</a:t>
            </a:r>
            <a:r>
              <a:rPr lang="id-ID" dirty="0"/>
              <a:t>. Perhatikan juga bahwa </a:t>
            </a:r>
            <a:r>
              <a:rPr lang="id-ID" dirty="0" i="1"/>
              <a:t>Factory</a:t>
            </a:r>
            <a:r>
              <a:rPr lang="id-ID" dirty="0"/>
              <a:t> bisa melengkapi </a:t>
            </a:r>
            <a:r>
              <a:rPr lang="id-ID" dirty="0" i="1"/>
              <a:t>Strategy</a:t>
            </a:r>
            <a:r>
              <a:rPr lang="id-ID" dirty="0"/>
              <a:t>, misalnya untuk membuat objek aturan dari pilihan teks, tetapi bukan jawaban atas kebutuhan menukar cara menghitung. Jawabannya ada di </a:t>
            </a:r>
            <a:r>
              <a:rPr lang="id-ID" dirty="0" i="1"/>
              <a:t>slide</a:t>
            </a:r>
            <a:r>
              <a:rPr lang="id-ID" dirty="0"/>
              <a:t> berikutnya.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A. Kebutuhannya adalah </a:t>
            </a:r>
            <a:r>
              <a:rPr lang="id-ID" dirty="0" b="1"/>
              <a:t>menukar aturan perhitungan</a:t>
            </a:r>
            <a:r>
              <a:rPr lang="id-ID" dirty="0"/>
              <a:t> saat program berjalan dan menambah aturan baru tanpa mengubah </a:t>
            </a:r>
            <a:r>
              <a:rPr lang="en-US" dirty="0">
                <a:latin typeface="Consolas"/>
              </a:rPr>
              <a:t>Perjalanan</a:t>
            </a:r>
            <a:r>
              <a:rPr lang="id-ID" dirty="0"/>
              <a:t>. Itulah </a:t>
            </a:r>
            <a:r>
              <a:rPr lang="id-ID" dirty="0" i="1"/>
              <a:t>Strategy</a:t>
            </a:r>
            <a:r>
              <a:rPr lang="id-ID" dirty="0"/>
              <a:t>: setiap aturan tarif menjadi satu kelas dengan </a:t>
            </a:r>
            <a:r>
              <a:rPr lang="id-ID" dirty="0" i="1"/>
              <a:t>interface</a:t>
            </a:r>
            <a:r>
              <a:rPr lang="id-ID" dirty="0"/>
              <a:t> yang sama. </a:t>
            </a:r>
            <a:r>
              <a:rPr lang="id-ID" dirty="0" i="1"/>
              <a:t>Singleton</a:t>
            </a:r>
            <a:r>
              <a:rPr lang="id-ID" dirty="0"/>
              <a:t> menjamin satu objek, </a:t>
            </a:r>
            <a:r>
              <a:rPr lang="id-ID" dirty="0" i="1"/>
              <a:t>Observer</a:t>
            </a:r>
            <a:r>
              <a:rPr lang="id-ID" dirty="0"/>
              <a:t> memberi tahu banyak pihak, dan </a:t>
            </a:r>
            <a:r>
              <a:rPr lang="id-ID" dirty="0" i="1"/>
              <a:t>Factory</a:t>
            </a:r>
            <a:r>
              <a:rPr lang="id-ID" dirty="0"/>
              <a:t> membantu membuat objek.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inti Soal C1, sistem pemesanan tiket BioskopKita. </a:t>
            </a:r>
            <a:r>
              <a:rPr lang="en-US" dirty="0">
                <a:latin typeface="Consolas"/>
              </a:rPr>
              <a:t>Tiket</a:t>
            </a:r>
            <a:r>
              <a:rPr lang="id-ID" dirty="0"/>
              <a:t> adalah kelas abstrak: Python memakai </a:t>
            </a:r>
            <a:r>
              <a:rPr lang="en-US" dirty="0">
                <a:latin typeface="Consolas"/>
              </a:rPr>
              <a:t>ABC</a:t>
            </a:r>
            <a:r>
              <a:rPr lang="id-ID" dirty="0"/>
              <a:t> dan </a:t>
            </a:r>
            <a:r>
              <a:rPr lang="en-US" dirty="0">
                <a:latin typeface="Consolas"/>
              </a:rPr>
              <a:t>@abstractmethod</a:t>
            </a:r>
            <a:r>
              <a:rPr lang="id-ID" dirty="0"/>
              <a:t>, sedangkan Java memakai kata kunci </a:t>
            </a:r>
            <a:r>
              <a:rPr lang="en-US" dirty="0">
                <a:latin typeface="Consolas"/>
              </a:rPr>
              <a:t>abstract</a:t>
            </a:r>
            <a:r>
              <a:rPr lang="id-ID" dirty="0"/>
              <a:t>. Setiap kelas anak wajib mengisi </a:t>
            </a:r>
            <a:r>
              <a:rPr lang="en-US" dirty="0">
                <a:latin typeface="Consolas"/>
              </a:rPr>
              <a:t>hitung_harga()</a:t>
            </a:r>
            <a:r>
              <a:rPr lang="id-ID" dirty="0"/>
              <a:t>, dan konstanta </a:t>
            </a:r>
            <a:r>
              <a:rPr lang="en-US" dirty="0">
                <a:latin typeface="Consolas"/>
              </a:rPr>
              <a:t>TAMBAHAN</a:t>
            </a:r>
            <a:r>
              <a:rPr lang="id-ID" dirty="0"/>
              <a:t> menggantikan angka ajaib 25000. Polimorfismenya terlihat di </a:t>
            </a:r>
            <a:r>
              <a:rPr lang="en-US" dirty="0">
                <a:latin typeface="Consolas"/>
              </a:rPr>
              <a:t>pendapatan()</a:t>
            </a:r>
            <a:r>
              <a:rPr lang="id-ID" dirty="0"/>
              <a:t> milik </a:t>
            </a:r>
            <a:r>
              <a:rPr lang="en-US" dirty="0">
                <a:latin typeface="Consolas"/>
              </a:rPr>
              <a:t>Jadwal</a:t>
            </a:r>
            <a:r>
              <a:rPr lang="id-ID" dirty="0"/>
              <a:t>: ia cukup menjumlahkan </a:t>
            </a:r>
            <a:r>
              <a:rPr lang="en-US" dirty="0">
                <a:latin typeface="Consolas"/>
              </a:rPr>
              <a:t>hitung_harga()</a:t>
            </a:r>
            <a:r>
              <a:rPr lang="id-ID" dirty="0"/>
              <a:t> setiap tiket tanpa memeriksa jenisnya. Kesalahan yang sering terjadi adalah menghitung harga dengan </a:t>
            </a:r>
            <a:r>
              <a:rPr lang="en-US" dirty="0">
                <a:latin typeface="Consolas"/>
              </a:rPr>
              <a:t>isinstance</a:t>
            </a:r>
            <a:r>
              <a:rPr lang="id-ID" dirty="0"/>
              <a:t> atau </a:t>
            </a:r>
            <a:r>
              <a:rPr lang="en-US" dirty="0">
                <a:latin typeface="Consolas"/>
              </a:rPr>
              <a:t>instanceof</a:t>
            </a:r>
            <a:r>
              <a:rPr lang="id-ID" dirty="0"/>
              <a:t> di </a:t>
            </a:r>
            <a:r>
              <a:rPr lang="en-US" dirty="0">
                <a:latin typeface="Consolas"/>
              </a:rPr>
              <a:t>Jadwal</a:t>
            </a:r>
            <a:r>
              <a:rPr lang="id-ID" dirty="0"/>
              <a:t>, yang menghapus manfaat polimorfisme. Pembahasan lengkapnya ada di pembahasan.md dan di halaman solusi Python atau Java.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Tabel jebakan favorit di halaman UAS berisi sembilan anggapan keliru; tiga ini paling sering menjebak di soal membaca kode. Enam lainnya: Python bisa </a:t>
            </a:r>
            <a:r>
              <a:rPr lang="id-ID" dirty="0" i="1"/>
              <a:t>overloading</a:t>
            </a:r>
            <a:r>
              <a:rPr lang="id-ID" dirty="0"/>
              <a:t> (tidak bisa, </a:t>
            </a:r>
            <a:r>
              <a:rPr lang="en-US" dirty="0">
                <a:latin typeface="Consolas"/>
              </a:rPr>
              <a:t>def</a:t>
            </a:r>
            <a:r>
              <a:rPr lang="id-ID" dirty="0"/>
              <a:t> kedua menimpa yang pertama), kelas abstrak tidak boleh punya konstruktor (boleh), </a:t>
            </a:r>
            <a:r>
              <a:rPr lang="id-ID" dirty="0" i="1"/>
              <a:t>checked exception</a:t>
            </a:r>
            <a:r>
              <a:rPr lang="id-ID" dirty="0"/>
              <a:t> ada di Python (hanya di Java), </a:t>
            </a:r>
            <a:r>
              <a:rPr lang="en-US" dirty="0">
                <a:latin typeface="Consolas"/>
              </a:rPr>
              <a:t>HashMap</a:t>
            </a:r>
            <a:r>
              <a:rPr lang="id-ID" dirty="0"/>
              <a:t> mencetak sesuai urutan masuk (tidak dijamin), semua prinsip SOLID pasti dilanggar oleh kode jelek (sebutkan yang benar-benar terlihat), dan </a:t>
            </a:r>
            <a:r>
              <a:rPr lang="id-ID" dirty="0" i="1"/>
              <a:t>Singleton</a:t>
            </a:r>
            <a:r>
              <a:rPr lang="id-ID" dirty="0"/>
              <a:t> selalu desain yang baik (pakai seperlunya).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Presentasi bukan sekadar pamer aplikasi. Penguji ingin melihat tiga hal: aplikasinya berjalan, desainnya masuk akal, dan kamu memahami kodemu sendiri. Kebutuhan minimum, jadwal, dan rubriknya ada di </a:t>
            </a:r>
            <a:r>
              <a:rPr lang="id-ID" dirty="0" i="1"/>
              <a:t>file</a:t>
            </a:r>
            <a:r>
              <a:rPr lang="id-ID" dirty="0"/>
              <a:t> proyek-akhir.md di Pertemuan 15.</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alur yang disarankan untuk slot 10 sampai 15 menit. Saat demo, siapkan data contoh, tunjukkan data tersimpan, tutup aplikasi, lalu buka lagi. Saat tur kode, siapkan daftar lompat berisi nama </a:t>
            </a:r>
            <a:r>
              <a:rPr lang="id-ID" dirty="0" i="1"/>
              <a:t>file</a:t>
            </a:r>
            <a:r>
              <a:rPr lang="id-ID" dirty="0"/>
              <a:t> dan baris yang akan dibuka; tabel peta kebutuhan di README proyekmu sangat membantu. Saat </a:t>
            </a:r>
            <a:r>
              <a:rPr lang="id-ID" dirty="0" i="1"/>
              <a:t>unit test</a:t>
            </a:r>
            <a:r>
              <a:rPr lang="id-ID" dirty="0"/>
              <a:t>, jelaskan satu </a:t>
            </a:r>
            <a:r>
              <a:rPr lang="id-ID" dirty="0" i="1"/>
              <a:t>test</a:t>
            </a:r>
            <a:r>
              <a:rPr lang="id-ID" dirty="0"/>
              <a:t>: apa yang diuji dan mengapa penting. Saat refleksi, jujur dan spesifik lebih dihargai daripada mengatakan semuanya lancar. Jika demo tiba-tiba </a:t>
            </a:r>
            <a:r>
              <a:rPr lang="id-ID" dirty="0" i="1"/>
              <a:t>error</a:t>
            </a:r>
            <a:r>
              <a:rPr lang="id-ID" dirty="0"/>
              <a:t>, jangan panik: baca pesan </a:t>
            </a:r>
            <a:r>
              <a:rPr lang="id-ID" dirty="0" i="1"/>
              <a:t>error</a:t>
            </a:r>
            <a:r>
              <a:rPr lang="id-ID" dirty="0"/>
              <a:t>-nya dengan suara keras dan jelaskan dugaan penyebabnya.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Daftar lengkap pertanyaan penguji beserta </a:t>
            </a:r>
            <a:r>
              <a:rPr lang="id-ID" dirty="0" i="1"/>
              <a:t>tips</a:t>
            </a:r>
            <a:r>
              <a:rPr lang="id-ID" dirty="0"/>
              <a:t> menjawabnya ada di bagian 8.3 halaman UAS; enam ini mewakili jenisnya. Contoh jawaban lemah untuk pertanyaan mengapa memakai </a:t>
            </a:r>
            <a:r>
              <a:rPr lang="id-ID" dirty="0" i="1"/>
              <a:t>Strategy</a:t>
            </a:r>
            <a:r>
              <a:rPr lang="id-ID" dirty="0"/>
              <a:t>: karena </a:t>
            </a:r>
            <a:r>
              <a:rPr lang="id-ID" dirty="0" i="1"/>
              <a:t>Strategy</a:t>
            </a:r>
            <a:r>
              <a:rPr lang="id-ID" dirty="0"/>
              <a:t> termasuk </a:t>
            </a:r>
            <a:r>
              <a:rPr lang="id-ID" dirty="0" i="1"/>
              <a:t>design pattern</a:t>
            </a:r>
            <a:r>
              <a:rPr lang="id-ID" dirty="0"/>
              <a:t> yang diajarkan. Jawaban kuat: aturan promo </a:t>
            </a:r>
            <a:r>
              <a:rPr lang="id-ID" dirty="0" i="1"/>
              <a:t>laundry</a:t>
            </a:r>
            <a:r>
              <a:rPr lang="id-ID" dirty="0"/>
              <a:t> sering berganti, jadi setiap promo menjadi kelas sendiri yang mengisi </a:t>
            </a:r>
            <a:r>
              <a:rPr lang="en-US" dirty="0">
                <a:latin typeface="Consolas"/>
              </a:rPr>
              <a:t>hitung_potongan()</a:t>
            </a:r>
            <a:r>
              <a:rPr lang="id-ID" dirty="0"/>
              <a:t>; promo baru cukup kelas baru tanpa mengubah </a:t>
            </a:r>
            <a:r>
              <a:rPr lang="en-US" dirty="0">
                <a:latin typeface="Consolas"/>
              </a:rPr>
              <a:t>PesananLaundry</a:t>
            </a:r>
            <a:r>
              <a:rPr lang="id-ID" dirty="0"/>
              <a:t>, dan kekurangannya jumlah kelas bertambah. Bantuan yang dicantumkan dengan jujur dan dipahami dengan baik jauh lebih aman daripada kode sempurna yang tidak bisa kamu jelaskan.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ringkasan sesi persiapan kita. Ringkasan super padat setiap pertemuan, tabel sintaks Python dan Java, dan </a:t>
            </a:r>
            <a:r>
              <a:rPr lang="id-ID" dirty="0" i="1"/>
              <a:t>checklist</a:t>
            </a:r>
            <a:r>
              <a:rPr lang="id-ID" dirty="0"/>
              <a:t> kesiapan ada di halaman UAS. Centang setiap butir </a:t>
            </a:r>
            <a:r>
              <a:rPr lang="id-ID" dirty="0" i="1"/>
              <a:t>checklist</a:t>
            </a:r>
            <a:r>
              <a:rPr lang="id-ID" dirty="0"/>
              <a:t> hanya jika kamu bisa melakukannya tanpa membuka catatan. Ingat, latihan ini dibuat untuk menemukan bagian yang belum kuat sebelum ujian, bukan untuk menghakimimu.</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Semua bahan ada di folder Pertemuan-16-UAS di GitHub. Simpan jawaban latihanmu di folder milikmu sendiri, misalnya PBO-latihan-saya/uas, bukan di folder materi. Sehari sebelum presentasi, </a:t>
            </a:r>
            <a:r>
              <a:rPr lang="id-ID" dirty="0" i="1"/>
              <a:t>clone</a:t>
            </a:r>
            <a:r>
              <a:rPr lang="id-ID" dirty="0"/>
              <a:t> ulang repositorimu ke folder baru dan jalankan aplikasi hanya dengan perintah yang tertulis di README. Terima kasih sudah belajar bersama sepanjang semester. Kamu sudah berpindah dari menulis kode yang jalan menjadi merancang kode yang mudah dipahami, diuji, dan dikembangkan. Semoga sukses UAS-nya, dan teruslah membangun sesuatu!</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7589520" cy="182880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697480" y="2377440"/>
            <a:ext cx="8778240" cy="96012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16 · UAS: Ujian Akhir Semester</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SI">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0A3069"/>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57606A"/>
                </a:solidFill>
              </a:rPr>
              <a:t>PBO 2026 · Pertemuan 16 · UAS: Ujian Akhir Semester</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LAP">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16 · UAS: Ujian Akhir Semester</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3-2.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2.png"/><Relationship Id="rId4" Type="http://schemas.openxmlformats.org/officeDocument/2006/relationships/image" Target="../media/image-13-2.png"/><Relationship Id="rId5" Type="http://schemas.openxmlformats.org/officeDocument/2006/relationships/image" Target="../media/image-13-2.png"/><Relationship Id="rId6" Type="http://schemas.openxmlformats.org/officeDocument/2006/relationships/image" Target="../media/image-13-2.png"/><Relationship Id="rId7" Type="http://schemas.openxmlformats.org/officeDocument/2006/relationships/image" Target="../media/image-13-2.png"/><Relationship Id="rId8" Type="http://schemas.openxmlformats.org/officeDocument/2006/relationships/slideLayout" Target="../slideLayouts/slideLayout4.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antonprafanto/PBO2026/blob/master/Pertemuan-16-UAS/README.md" TargetMode="External"/><Relationship Id="rId5" Type="http://schemas.openxmlformats.org/officeDocument/2006/relationships/hyperlink" Target="https://github.com/antonprafanto/PBO2026/blob/master/Pertemuan-16-UAS/python/README.md" TargetMode="External"/><Relationship Id="rId7" Type="http://schemas.openxmlformats.org/officeDocument/2006/relationships/hyperlink" Target="https://github.com/antonprafanto/PBO2026/blob/master/Pertemuan-16-UAS/java/README.md" TargetMode="External"/><Relationship Id="rId9" Type="http://schemas.openxmlformats.org/officeDocument/2006/relationships/hyperlink" Target="https://github.com/antonprafanto/PBO2026/blob/master/Pertemuan-16-UAS/latihan-soal.md" TargetMode="External"/><Relationship Id="rId11" Type="http://schemas.openxmlformats.org/officeDocument/2006/relationships/hyperlink" Target="https://github.com/antonprafanto/PBO2026/blob/master/Pertemuan-16-UAS/pembahasan.md" TargetMode="External"/><Relationship Id="rId13" Type="http://schemas.openxmlformats.org/officeDocument/2006/relationships/hyperlink" Target="https://github.com/antonprafanto/PBO2026/tree/master/Pertemuan-16-UAS" TargetMode="External"/><Relationship Id="rId1" Type="http://schemas.openxmlformats.org/officeDocument/2006/relationships/image" Target="../media/image-24-1.png"/><Relationship Id="rId2" Type="http://schemas.openxmlformats.org/officeDocument/2006/relationships/image" Target="../media/image-24-2.png"/><Relationship Id="rId4" Type="http://schemas.openxmlformats.org/officeDocument/2006/relationships/image" Target="../media/image-24-3.png"/><Relationship Id="rId6" Type="http://schemas.openxmlformats.org/officeDocument/2006/relationships/image" Target="../media/image-24-3.png"/><Relationship Id="rId8" Type="http://schemas.openxmlformats.org/officeDocument/2006/relationships/image" Target="../media/image-24-5.png"/><Relationship Id="rId10" Type="http://schemas.openxmlformats.org/officeDocument/2006/relationships/image" Target="../media/image-24-6.png"/><Relationship Id="rId12" Type="http://schemas.openxmlformats.org/officeDocument/2006/relationships/image" Target="../media/image-24-7.png"/><Relationship Id="rId14" Type="http://schemas.openxmlformats.org/officeDocument/2006/relationships/slideLayout" Target="../slideLayouts/slideLayout5.xml"/><Relationship Id="rId15"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7680960" cy="365760"/>
          </a:xfrm>
          <a:prstGeom prst="rect">
            <a:avLst/>
          </a:prstGeom>
          <a:noFill/>
          <a:ln/>
        </p:spPr>
        <p:txBody>
          <a:bodyPr wrap="square" lIns="0" tIns="0" rIns="0" bIns="0" rtlCol="0" anchor="t"/>
          <a:lstStyle/>
          <a:p>
            <a:pPr indent="0" marL="0">
              <a:buNone/>
            </a:pPr>
            <a:r>
              <a:rPr lang="id-ID" altLang="en-US" sz="1500" b="1" spc="200" kern="0" dirty="0">
                <a:solidFill>
                  <a:srgbClr val="54AEFF"/>
                </a:solidFill>
              </a:rPr>
              <a:t>PEMROGRAMAN BERORIENTASI OBJEK 2026</a:t>
            </a:r>
            <a:endParaRPr lang="id-ID" sz="1500" dirty="0"/>
          </a:p>
        </p:txBody>
      </p:sp>
      <p:sp>
        <p:nvSpPr>
          <p:cNvPr id="3" name="Text 0"/>
          <p:cNvSpPr/>
          <p:nvPr>
            <p:ph idx="100" type="title" hasCustomPrompt="1"/>
          </p:nvPr>
        </p:nvSpPr>
        <p:spPr>
          <a:xfrm>
            <a:off x="731520" y="1600200"/>
            <a:ext cx="7589520" cy="1828800"/>
          </a:xfrm>
          <a:prstGeom prst="rect">
            <a:avLst/>
          </a:prstGeom>
          <a:noFill/>
          <a:ln/>
        </p:spPr>
        <p:txBody>
          <a:bodyPr wrap="square" lIns="0" tIns="0" rIns="0" bIns="0" rtlCol="0" anchor="t"/>
          <a:lstStyle/>
          <a:p>
            <a:pPr algn="l" indent="0" marL="0">
              <a:buNone/>
            </a:pPr>
            <a:r>
              <a:rPr lang="id-ID" altLang="en-US" sz="4800" b="1" dirty="0">
                <a:solidFill>
                  <a:srgbClr val="FFFFFF"/>
                </a:solidFill>
              </a:rPr>
              <a:t>UAS: Ujian Akhir Semester</a:t>
            </a:r>
            <a:endParaRPr lang="id-ID" sz="4800" dirty="0"/>
          </a:p>
        </p:txBody>
      </p:sp>
      <p:sp>
        <p:nvSpPr>
          <p:cNvPr id="4" name="Text 2"/>
          <p:cNvSpPr txBox="1"/>
          <p:nvPr/>
        </p:nvSpPr>
        <p:spPr>
          <a:xfrm>
            <a:off x="731520" y="2663952"/>
            <a:ext cx="7589520" cy="1097280"/>
          </a:xfrm>
          <a:prstGeom prst="rect">
            <a:avLst/>
          </a:prstGeom>
          <a:noFill/>
          <a:ln/>
        </p:spPr>
        <p:txBody>
          <a:bodyPr wrap="square" lIns="0" tIns="0" rIns="0" bIns="0" rtlCol="0" anchor="t"/>
          <a:lstStyle/>
          <a:p>
            <a:pPr indent="0" marL="0">
              <a:buNone/>
            </a:pPr>
            <a:r>
              <a:rPr lang="id-ID" altLang="en-US" sz="2200" dirty="0">
                <a:solidFill>
                  <a:srgbClr val="C9D7E8"/>
                </a:solidFill>
              </a:rPr>
              <a:t>Persiapan UAS dan presentasi proyek akhir: cakupan, strategi, latihan soal, dan pembahasan</a:t>
            </a:r>
            <a:endParaRPr lang="id-ID" sz="2200" dirty="0"/>
          </a:p>
        </p:txBody>
      </p:sp>
      <p:sp>
        <p:nvSpPr>
          <p:cNvPr id="5" name="Text 3"/>
          <p:cNvSpPr txBox="1"/>
          <p:nvPr/>
        </p:nvSpPr>
        <p:spPr>
          <a:xfrm>
            <a:off x="731520" y="5349240"/>
            <a:ext cx="7589520" cy="731520"/>
          </a:xfrm>
          <a:prstGeom prst="rect">
            <a:avLst/>
          </a:prstGeom>
          <a:noFill/>
          <a:ln/>
        </p:spPr>
        <p:txBody>
          <a:bodyPr wrap="square" lIns="0" tIns="0" rIns="0" bIns="0" rtlCol="0" anchor="t"/>
          <a:lstStyle/>
          <a:p>
            <a:pPr indent="0" marL="0">
              <a:buNone/>
            </a:pPr>
            <a:r>
              <a:rPr lang="id-ID" altLang="en-US" sz="1500" dirty="0">
                <a:solidFill>
                  <a:srgbClr val="9FB3C8"/>
                </a:solidFill>
              </a:rPr>
              <a:t>Program Studi Informatika · Universitas Mulawarman</a:t>
            </a:r>
            <a:endParaRPr lang="id-ID" sz="1500" dirty="0"/>
          </a:p>
          <a:p>
            <a:pPr indent="0" marL="0">
              <a:buNone/>
            </a:pPr>
            <a:r>
              <a:rPr lang="id-ID" altLang="en-US" sz="1500" dirty="0">
                <a:solidFill>
                  <a:srgbClr val="9FB3C8"/>
                </a:solidFill>
              </a:rPr>
              <a:t>Jalur praktik: Python dan Java</a:t>
            </a:r>
            <a:endParaRPr lang="id-ID" sz="1500" dirty="0"/>
          </a:p>
        </p:txBody>
      </p:sp>
      <p:sp>
        <p:nvSpPr>
          <p:cNvPr id="6" name="Shape 4"/>
          <p:cNvSpPr/>
          <p:nvPr/>
        </p:nvSpPr>
        <p:spPr>
          <a:xfrm>
            <a:off x="8549640" y="1691640"/>
            <a:ext cx="3017520" cy="3017520"/>
          </a:xfrm>
          <a:prstGeom prst="ellipse">
            <a:avLst/>
          </a:prstGeom>
          <a:solidFill>
            <a:srgbClr val="0969DA"/>
          </a:solidFill>
          <a:ln/>
        </p:spPr>
      </p:sp>
      <p:sp>
        <p:nvSpPr>
          <p:cNvPr id="7" name="Shape 5"/>
          <p:cNvSpPr/>
          <p:nvPr/>
        </p:nvSpPr>
        <p:spPr>
          <a:xfrm>
            <a:off x="8385048" y="1527048"/>
            <a:ext cx="3346704" cy="3346704"/>
          </a:xfrm>
          <a:prstGeom prst="ellipse">
            <a:avLst/>
          </a:prstGeom>
          <a:ln w="19050">
            <a:solidFill>
              <a:srgbClr val="54AEFF"/>
            </a:solidFill>
            <a:prstDash val="solid"/>
          </a:ln>
        </p:spPr>
      </p:sp>
      <p:sp>
        <p:nvSpPr>
          <p:cNvPr id="8" name="Text 6"/>
          <p:cNvSpPr txBox="1"/>
          <p:nvPr/>
        </p:nvSpPr>
        <p:spPr>
          <a:xfrm>
            <a:off x="8549640" y="2258568"/>
            <a:ext cx="3017520" cy="365760"/>
          </a:xfrm>
          <a:prstGeom prst="rect">
            <a:avLst/>
          </a:prstGeom>
          <a:noFill/>
          <a:ln/>
        </p:spPr>
        <p:txBody>
          <a:bodyPr wrap="square" lIns="0" tIns="0" rIns="0" bIns="0" rtlCol="0" anchor="t"/>
          <a:lstStyle/>
          <a:p>
            <a:pPr algn="ctr" indent="0" marL="0">
              <a:buNone/>
            </a:pPr>
            <a:r>
              <a:rPr lang="id-ID" altLang="en-US" sz="1600" b="1" spc="300" kern="0" dirty="0">
                <a:solidFill>
                  <a:srgbClr val="DDF4FF"/>
                </a:solidFill>
              </a:rPr>
              <a:t>PERTEMUAN</a:t>
            </a:r>
            <a:endParaRPr lang="id-ID" sz="1600" dirty="0"/>
          </a:p>
        </p:txBody>
      </p:sp>
      <p:sp>
        <p:nvSpPr>
          <p:cNvPr id="9" name="Text 7"/>
          <p:cNvSpPr txBox="1"/>
          <p:nvPr/>
        </p:nvSpPr>
        <p:spPr>
          <a:xfrm>
            <a:off x="8549640" y="2560320"/>
            <a:ext cx="3017520" cy="1463040"/>
          </a:xfrm>
          <a:prstGeom prst="rect">
            <a:avLst/>
          </a:prstGeom>
          <a:noFill/>
          <a:ln/>
        </p:spPr>
        <p:txBody>
          <a:bodyPr wrap="square" lIns="0" tIns="0" rIns="0" bIns="0" rtlCol="0" anchor="ctr"/>
          <a:lstStyle/>
          <a:p>
            <a:pPr algn="ctr" indent="0" marL="0">
              <a:buNone/>
            </a:pPr>
            <a:r>
              <a:rPr lang="id-ID" altLang="en-US" sz="9600" b="1" dirty="0">
                <a:solidFill>
                  <a:srgbClr val="FFFFFF"/>
                </a:solidFill>
              </a:rPr>
              <a:t>16</a:t>
            </a:r>
            <a:endParaRPr lang="id-ID" sz="9600" dirty="0"/>
          </a:p>
        </p:txBody>
      </p:sp>
      <p:sp>
        <p:nvSpPr>
          <p:cNvPr id="10" name="Text 8"/>
          <p:cNvSpPr txBox="1"/>
          <p:nvPr/>
        </p:nvSpPr>
        <p:spPr>
          <a:xfrm>
            <a:off x="8549640" y="4069080"/>
            <a:ext cx="3017520" cy="365760"/>
          </a:xfrm>
          <a:prstGeom prst="rect">
            <a:avLst/>
          </a:prstGeom>
          <a:noFill/>
          <a:ln/>
        </p:spPr>
        <p:txBody>
          <a:bodyPr wrap="square" lIns="0" tIns="0" rIns="0" bIns="0" rtlCol="0" anchor="t"/>
          <a:lstStyle/>
          <a:p>
            <a:pPr algn="ctr" indent="0" marL="0">
              <a:buNone/>
            </a:pPr>
            <a:r>
              <a:rPr lang="id-ID" altLang="en-US" sz="1500" dirty="0">
                <a:solidFill>
                  <a:srgbClr val="DDF4FF"/>
                </a:solidFill>
              </a:rPr>
              <a:t>dari 16</a:t>
            </a:r>
            <a:endParaRPr lang="id-ID"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Tujuan Pembelajaran</a:t>
            </a:r>
            <a:endParaRPr lang="id-ID" sz="3200" dirty="0"/>
          </a:p>
        </p:txBody>
      </p:sp>
      <p:sp>
        <p:nvSpPr>
          <p:cNvPr id="5" name="Text 2"/>
          <p:cNvSpPr txBox="1"/>
          <p:nvPr/>
        </p:nvSpPr>
        <p:spPr>
          <a:xfrm>
            <a:off x="548640" y="1417320"/>
            <a:ext cx="11094415" cy="365760"/>
          </a:xfrm>
          <a:prstGeom prst="rect">
            <a:avLst/>
          </a:prstGeom>
          <a:noFill/>
          <a:ln/>
        </p:spPr>
        <p:txBody>
          <a:bodyPr wrap="square" lIns="0" tIns="0" rIns="0" bIns="0" rtlCol="0" anchor="t"/>
          <a:lstStyle/>
          <a:p>
            <a:pPr indent="0" marL="0">
              <a:buNone/>
            </a:pPr>
            <a:r>
              <a:rPr lang="id-ID" altLang="en-US" sz="1800" dirty="0">
                <a:solidFill>
                  <a:srgbClr val="57606A"/>
                </a:solidFill>
              </a:rPr>
              <a:t>Setelah pertemuan ini, kamu mampu:</a:t>
            </a:r>
            <a:endParaRPr lang="id-ID" sz="1800" dirty="0"/>
          </a:p>
        </p:txBody>
      </p:sp>
      <p:sp>
        <p:nvSpPr>
          <p:cNvPr id="6" name="Shape 3"/>
          <p:cNvSpPr/>
          <p:nvPr/>
        </p:nvSpPr>
        <p:spPr>
          <a:xfrm>
            <a:off x="548640" y="1920240"/>
            <a:ext cx="5432908" cy="1258824"/>
          </a:xfrm>
          <a:prstGeom prst="roundRect">
            <a:avLst>
              <a:gd name="adj" fmla="val 6332"/>
            </a:avLst>
          </a:prstGeom>
          <a:solidFill>
            <a:srgbClr val="F6F8FA"/>
          </a:solidFill>
          <a:ln w="9525">
            <a:solidFill>
              <a:srgbClr val="D0D7DE"/>
            </a:solidFill>
            <a:prstDash val="solid"/>
          </a:ln>
        </p:spPr>
      </p:sp>
      <p:sp>
        <p:nvSpPr>
          <p:cNvPr id="7" name="Shape 4"/>
          <p:cNvSpPr/>
          <p:nvPr/>
        </p:nvSpPr>
        <p:spPr>
          <a:xfrm>
            <a:off x="777240" y="2084832"/>
            <a:ext cx="457200" cy="457200"/>
          </a:xfrm>
          <a:prstGeom prst="ellipse">
            <a:avLst/>
          </a:prstGeom>
          <a:solidFill>
            <a:srgbClr val="0969DA"/>
          </a:solidFill>
          <a:ln/>
        </p:spPr>
      </p:sp>
      <p:sp>
        <p:nvSpPr>
          <p:cNvPr id="8" name="Text 5"/>
          <p:cNvSpPr txBox="1"/>
          <p:nvPr/>
        </p:nvSpPr>
        <p:spPr>
          <a:xfrm>
            <a:off x="777240"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1</a:t>
            </a:r>
            <a:endParaRPr lang="id-ID" sz="1800" dirty="0"/>
          </a:p>
        </p:txBody>
      </p:sp>
      <p:sp>
        <p:nvSpPr>
          <p:cNvPr id="9" name="Text 6"/>
          <p:cNvSpPr txBox="1"/>
          <p:nvPr/>
        </p:nvSpPr>
        <p:spPr>
          <a:xfrm>
            <a:off x="1417320" y="2084832"/>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Memetakan materi Pertemuan 09⁠—⁠15 beserta hubungannya dengan fondasi Pertemuan 02⁠—⁠07.</a:t>
            </a:r>
            <a:endParaRPr lang="id-ID" sz="2000" dirty="0"/>
          </a:p>
        </p:txBody>
      </p:sp>
      <p:sp>
        <p:nvSpPr>
          <p:cNvPr id="10" name="Shape 7"/>
          <p:cNvSpPr/>
          <p:nvPr/>
        </p:nvSpPr>
        <p:spPr>
          <a:xfrm>
            <a:off x="6210148" y="1920240"/>
            <a:ext cx="5432908" cy="1258824"/>
          </a:xfrm>
          <a:prstGeom prst="roundRect">
            <a:avLst>
              <a:gd name="adj" fmla="val 6332"/>
            </a:avLst>
          </a:prstGeom>
          <a:solidFill>
            <a:srgbClr val="F6F8FA"/>
          </a:solidFill>
          <a:ln w="9525">
            <a:solidFill>
              <a:srgbClr val="D0D7DE"/>
            </a:solidFill>
            <a:prstDash val="solid"/>
          </a:ln>
        </p:spPr>
      </p:sp>
      <p:sp>
        <p:nvSpPr>
          <p:cNvPr id="11" name="Shape 8"/>
          <p:cNvSpPr/>
          <p:nvPr/>
        </p:nvSpPr>
        <p:spPr>
          <a:xfrm>
            <a:off x="6438748" y="2084832"/>
            <a:ext cx="457200" cy="457200"/>
          </a:xfrm>
          <a:prstGeom prst="ellipse">
            <a:avLst/>
          </a:prstGeom>
          <a:solidFill>
            <a:srgbClr val="0969DA"/>
          </a:solidFill>
          <a:ln/>
        </p:spPr>
      </p:sp>
      <p:sp>
        <p:nvSpPr>
          <p:cNvPr id="12" name="Text 9"/>
          <p:cNvSpPr txBox="1"/>
          <p:nvPr/>
        </p:nvSpPr>
        <p:spPr>
          <a:xfrm>
            <a:off x="6438748"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2</a:t>
            </a:r>
            <a:endParaRPr lang="id-ID" sz="1800" dirty="0"/>
          </a:p>
        </p:txBody>
      </p:sp>
      <p:sp>
        <p:nvSpPr>
          <p:cNvPr id="13" name="Text 10"/>
          <p:cNvSpPr txBox="1"/>
          <p:nvPr/>
        </p:nvSpPr>
        <p:spPr>
          <a:xfrm>
            <a:off x="7078828" y="2084832"/>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Memprediksi </a:t>
            </a:r>
            <a:r>
              <a:rPr lang="id-ID" altLang="en-US" sz="2000" i="1" dirty="0">
                <a:solidFill>
                  <a:srgbClr val="1F2328"/>
                </a:solidFill>
              </a:rPr>
              <a:t>output</a:t>
            </a:r>
            <a:r>
              <a:rPr lang="id-ID" altLang="en-US" sz="2000" dirty="0">
                <a:solidFill>
                  <a:srgbClr val="1F2328"/>
                </a:solidFill>
              </a:rPr>
              <a:t> kode yang memakai polimorfisme, kelas abstrak, </a:t>
            </a:r>
            <a:r>
              <a:rPr lang="id-ID" altLang="en-US" sz="2000" i="1" dirty="0">
                <a:solidFill>
                  <a:srgbClr val="1F2328"/>
                </a:solidFill>
              </a:rPr>
              <a:t>exception</a:t>
            </a:r>
            <a:r>
              <a:rPr lang="id-ID" altLang="en-US" sz="2000" dirty="0">
                <a:solidFill>
                  <a:srgbClr val="1F2328"/>
                </a:solidFill>
              </a:rPr>
              <a:t>, dan koleksi, baik di Python maupun Java.</a:t>
            </a:r>
            <a:endParaRPr lang="id-ID" sz="2000" dirty="0"/>
          </a:p>
        </p:txBody>
      </p:sp>
      <p:sp>
        <p:nvSpPr>
          <p:cNvPr id="14" name="Shape 11"/>
          <p:cNvSpPr/>
          <p:nvPr/>
        </p:nvSpPr>
        <p:spPr>
          <a:xfrm>
            <a:off x="548640" y="3361944"/>
            <a:ext cx="5432908" cy="1258824"/>
          </a:xfrm>
          <a:prstGeom prst="roundRect">
            <a:avLst>
              <a:gd name="adj" fmla="val 6332"/>
            </a:avLst>
          </a:prstGeom>
          <a:solidFill>
            <a:srgbClr val="F6F8FA"/>
          </a:solidFill>
          <a:ln w="9525">
            <a:solidFill>
              <a:srgbClr val="D0D7DE"/>
            </a:solidFill>
            <a:prstDash val="solid"/>
          </a:ln>
        </p:spPr>
      </p:sp>
      <p:sp>
        <p:nvSpPr>
          <p:cNvPr id="15" name="Shape 12"/>
          <p:cNvSpPr/>
          <p:nvPr/>
        </p:nvSpPr>
        <p:spPr>
          <a:xfrm>
            <a:off x="777240" y="3526536"/>
            <a:ext cx="457200" cy="457200"/>
          </a:xfrm>
          <a:prstGeom prst="ellipse">
            <a:avLst/>
          </a:prstGeom>
          <a:solidFill>
            <a:srgbClr val="0969DA"/>
          </a:solidFill>
          <a:ln/>
        </p:spPr>
      </p:sp>
      <p:sp>
        <p:nvSpPr>
          <p:cNvPr id="16" name="Text 13"/>
          <p:cNvSpPr txBox="1"/>
          <p:nvPr/>
        </p:nvSpPr>
        <p:spPr>
          <a:xfrm>
            <a:off x="777240" y="352653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3</a:t>
            </a:r>
            <a:endParaRPr lang="id-ID" sz="1800" dirty="0"/>
          </a:p>
        </p:txBody>
      </p:sp>
      <p:sp>
        <p:nvSpPr>
          <p:cNvPr id="17" name="Text 14"/>
          <p:cNvSpPr txBox="1"/>
          <p:nvPr/>
        </p:nvSpPr>
        <p:spPr>
          <a:xfrm>
            <a:off x="1417320" y="3526536"/>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Menganalisis sebuah desain dengan prinsip SOLID lalu memilih </a:t>
            </a:r>
            <a:r>
              <a:rPr lang="id-ID" altLang="en-US" sz="2000" i="1" dirty="0">
                <a:solidFill>
                  <a:srgbClr val="1F2328"/>
                </a:solidFill>
              </a:rPr>
              <a:t>design pattern</a:t>
            </a:r>
            <a:r>
              <a:rPr lang="id-ID" altLang="en-US" sz="2000" dirty="0">
                <a:solidFill>
                  <a:srgbClr val="1F2328"/>
                </a:solidFill>
              </a:rPr>
              <a:t> yang tepat.</a:t>
            </a:r>
            <a:endParaRPr lang="id-ID" sz="2000" dirty="0"/>
          </a:p>
        </p:txBody>
      </p:sp>
      <p:sp>
        <p:nvSpPr>
          <p:cNvPr id="18" name="Shape 15"/>
          <p:cNvSpPr/>
          <p:nvPr/>
        </p:nvSpPr>
        <p:spPr>
          <a:xfrm>
            <a:off x="6210148" y="3361944"/>
            <a:ext cx="5432908" cy="1258824"/>
          </a:xfrm>
          <a:prstGeom prst="roundRect">
            <a:avLst>
              <a:gd name="adj" fmla="val 6332"/>
            </a:avLst>
          </a:prstGeom>
          <a:solidFill>
            <a:srgbClr val="F6F8FA"/>
          </a:solidFill>
          <a:ln w="9525">
            <a:solidFill>
              <a:srgbClr val="D0D7DE"/>
            </a:solidFill>
            <a:prstDash val="solid"/>
          </a:ln>
        </p:spPr>
      </p:sp>
      <p:sp>
        <p:nvSpPr>
          <p:cNvPr id="19" name="Shape 16"/>
          <p:cNvSpPr/>
          <p:nvPr/>
        </p:nvSpPr>
        <p:spPr>
          <a:xfrm>
            <a:off x="6438748" y="3526536"/>
            <a:ext cx="457200" cy="457200"/>
          </a:xfrm>
          <a:prstGeom prst="ellipse">
            <a:avLst/>
          </a:prstGeom>
          <a:solidFill>
            <a:srgbClr val="0969DA"/>
          </a:solidFill>
          <a:ln/>
        </p:spPr>
      </p:sp>
      <p:sp>
        <p:nvSpPr>
          <p:cNvPr id="20" name="Text 17"/>
          <p:cNvSpPr txBox="1"/>
          <p:nvPr/>
        </p:nvSpPr>
        <p:spPr>
          <a:xfrm>
            <a:off x="6438748" y="352653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4</a:t>
            </a:r>
            <a:endParaRPr lang="id-ID" sz="1800" dirty="0"/>
          </a:p>
        </p:txBody>
      </p:sp>
      <p:sp>
        <p:nvSpPr>
          <p:cNvPr id="21" name="Text 18"/>
          <p:cNvSpPr txBox="1"/>
          <p:nvPr/>
        </p:nvSpPr>
        <p:spPr>
          <a:xfrm>
            <a:off x="7078828" y="3526536"/>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Merancang dan membuat program PBO lengkap: kelas abstrak, polimorfisme, </a:t>
            </a:r>
            <a:r>
              <a:rPr lang="id-ID" altLang="en-US" sz="2000" i="1" dirty="0">
                <a:solidFill>
                  <a:srgbClr val="1F2328"/>
                </a:solidFill>
              </a:rPr>
              <a:t>exception</a:t>
            </a:r>
            <a:r>
              <a:rPr lang="id-ID" altLang="en-US" sz="2000" dirty="0">
                <a:solidFill>
                  <a:srgbClr val="1F2328"/>
                </a:solidFill>
              </a:rPr>
              <a:t> buatan sendiri, dan koleksi.</a:t>
            </a:r>
            <a:endParaRPr lang="id-ID" sz="2000" dirty="0"/>
          </a:p>
        </p:txBody>
      </p:sp>
      <p:sp>
        <p:nvSpPr>
          <p:cNvPr id="22" name="Shape 19"/>
          <p:cNvSpPr/>
          <p:nvPr/>
        </p:nvSpPr>
        <p:spPr>
          <a:xfrm>
            <a:off x="548640" y="4803648"/>
            <a:ext cx="5432908" cy="1258824"/>
          </a:xfrm>
          <a:prstGeom prst="roundRect">
            <a:avLst>
              <a:gd name="adj" fmla="val 6332"/>
            </a:avLst>
          </a:prstGeom>
          <a:solidFill>
            <a:srgbClr val="F6F8FA"/>
          </a:solidFill>
          <a:ln w="9525">
            <a:solidFill>
              <a:srgbClr val="D0D7DE"/>
            </a:solidFill>
            <a:prstDash val="solid"/>
          </a:ln>
        </p:spPr>
      </p:sp>
      <p:sp>
        <p:nvSpPr>
          <p:cNvPr id="23" name="Shape 20"/>
          <p:cNvSpPr/>
          <p:nvPr/>
        </p:nvSpPr>
        <p:spPr>
          <a:xfrm>
            <a:off x="777240" y="4968240"/>
            <a:ext cx="457200" cy="457200"/>
          </a:xfrm>
          <a:prstGeom prst="ellipse">
            <a:avLst/>
          </a:prstGeom>
          <a:solidFill>
            <a:srgbClr val="0969DA"/>
          </a:solidFill>
          <a:ln/>
        </p:spPr>
      </p:sp>
      <p:sp>
        <p:nvSpPr>
          <p:cNvPr id="24" name="Text 21"/>
          <p:cNvSpPr txBox="1"/>
          <p:nvPr/>
        </p:nvSpPr>
        <p:spPr>
          <a:xfrm>
            <a:off x="777240" y="496824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5</a:t>
            </a:r>
            <a:endParaRPr lang="id-ID" sz="1800" dirty="0"/>
          </a:p>
        </p:txBody>
      </p:sp>
      <p:sp>
        <p:nvSpPr>
          <p:cNvPr id="25" name="Text 22"/>
          <p:cNvSpPr txBox="1"/>
          <p:nvPr/>
        </p:nvSpPr>
        <p:spPr>
          <a:xfrm>
            <a:off x="1417320" y="4968240"/>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Melakukan </a:t>
            </a:r>
            <a:r>
              <a:rPr lang="id-ID" altLang="en-US" sz="2000" i="1" dirty="0">
                <a:solidFill>
                  <a:srgbClr val="1F2328"/>
                </a:solidFill>
              </a:rPr>
              <a:t>refactoring</a:t>
            </a:r>
            <a:r>
              <a:rPr lang="id-ID" altLang="en-US" sz="2000" dirty="0">
                <a:solidFill>
                  <a:srgbClr val="1F2328"/>
                </a:solidFill>
              </a:rPr>
              <a:t> pada kode yang berantakan tanpa mengubah perilakunya, lalu membuktikannya.</a:t>
            </a:r>
            <a:endParaRPr lang="id-ID" sz="2000" dirty="0"/>
          </a:p>
        </p:txBody>
      </p:sp>
      <p:sp>
        <p:nvSpPr>
          <p:cNvPr id="26" name="Shape 23"/>
          <p:cNvSpPr/>
          <p:nvPr/>
        </p:nvSpPr>
        <p:spPr>
          <a:xfrm>
            <a:off x="6210148" y="4803648"/>
            <a:ext cx="5432908" cy="1258824"/>
          </a:xfrm>
          <a:prstGeom prst="roundRect">
            <a:avLst>
              <a:gd name="adj" fmla="val 6332"/>
            </a:avLst>
          </a:prstGeom>
          <a:solidFill>
            <a:srgbClr val="F6F8FA"/>
          </a:solidFill>
          <a:ln w="9525">
            <a:solidFill>
              <a:srgbClr val="D0D7DE"/>
            </a:solidFill>
            <a:prstDash val="solid"/>
          </a:ln>
        </p:spPr>
      </p:sp>
      <p:sp>
        <p:nvSpPr>
          <p:cNvPr id="27" name="Shape 24"/>
          <p:cNvSpPr/>
          <p:nvPr/>
        </p:nvSpPr>
        <p:spPr>
          <a:xfrm>
            <a:off x="6438748" y="4968240"/>
            <a:ext cx="457200" cy="457200"/>
          </a:xfrm>
          <a:prstGeom prst="ellipse">
            <a:avLst/>
          </a:prstGeom>
          <a:solidFill>
            <a:srgbClr val="0969DA"/>
          </a:solidFill>
          <a:ln/>
        </p:spPr>
      </p:sp>
      <p:sp>
        <p:nvSpPr>
          <p:cNvPr id="28" name="Text 25"/>
          <p:cNvSpPr txBox="1"/>
          <p:nvPr/>
        </p:nvSpPr>
        <p:spPr>
          <a:xfrm>
            <a:off x="6438748" y="496824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6</a:t>
            </a:r>
            <a:endParaRPr lang="id-ID" sz="1800" dirty="0"/>
          </a:p>
        </p:txBody>
      </p:sp>
      <p:sp>
        <p:nvSpPr>
          <p:cNvPr id="29" name="Text 26"/>
          <p:cNvSpPr txBox="1"/>
          <p:nvPr/>
        </p:nvSpPr>
        <p:spPr>
          <a:xfrm>
            <a:off x="7078828" y="4968240"/>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Mempresentasikan proyek akhir secara runtut dan menjawab pertanyaan penguji dengan yakin.</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Agenda Hari Ini</a:t>
            </a:r>
            <a:endParaRPr lang="id-ID" sz="3200" dirty="0"/>
          </a:p>
        </p:txBody>
      </p:sp>
      <p:sp>
        <p:nvSpPr>
          <p:cNvPr id="5" name="Shape 2"/>
          <p:cNvSpPr/>
          <p:nvPr/>
        </p:nvSpPr>
        <p:spPr>
          <a:xfrm>
            <a:off x="548640" y="1709420"/>
            <a:ext cx="3515258" cy="1824736"/>
          </a:xfrm>
          <a:prstGeom prst="roundRect">
            <a:avLst>
              <a:gd name="adj" fmla="val 3013"/>
            </a:avLst>
          </a:prstGeom>
          <a:solidFill>
            <a:srgbClr val="F6F8FA"/>
          </a:solidFill>
          <a:ln w="9525">
            <a:solidFill>
              <a:srgbClr val="D0D7DE"/>
            </a:solidFill>
            <a:prstDash val="solid"/>
          </a:ln>
        </p:spPr>
      </p:sp>
      <p:sp>
        <p:nvSpPr>
          <p:cNvPr id="6" name="Shape 3"/>
          <p:cNvSpPr/>
          <p:nvPr/>
        </p:nvSpPr>
        <p:spPr>
          <a:xfrm>
            <a:off x="777240" y="1938020"/>
            <a:ext cx="512064" cy="512064"/>
          </a:xfrm>
          <a:prstGeom prst="ellipse">
            <a:avLst/>
          </a:prstGeom>
          <a:solidFill>
            <a:srgbClr val="0969DA"/>
          </a:solidFill>
          <a:ln/>
        </p:spPr>
      </p:sp>
      <p:sp>
        <p:nvSpPr>
          <p:cNvPr id="7" name="Text 4"/>
          <p:cNvSpPr txBox="1"/>
          <p:nvPr/>
        </p:nvSpPr>
        <p:spPr>
          <a:xfrm>
            <a:off x="777240"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1</a:t>
            </a:r>
            <a:endParaRPr lang="id-ID" sz="2000" dirty="0"/>
          </a:p>
        </p:txBody>
      </p:sp>
      <p:sp>
        <p:nvSpPr>
          <p:cNvPr id="8" name="Text 5"/>
          <p:cNvSpPr txBox="1"/>
          <p:nvPr/>
        </p:nvSpPr>
        <p:spPr>
          <a:xfrm>
            <a:off x="777240"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Cakupan, kisi-⁠kisi, dan bentuk UAS</a:t>
            </a:r>
            <a:endParaRPr lang="id-ID" sz="2200" dirty="0"/>
          </a:p>
        </p:txBody>
      </p:sp>
      <p:sp>
        <p:nvSpPr>
          <p:cNvPr id="9" name="Shape 6"/>
          <p:cNvSpPr/>
          <p:nvPr/>
        </p:nvSpPr>
        <p:spPr>
          <a:xfrm>
            <a:off x="4338218" y="1709420"/>
            <a:ext cx="3515258" cy="1824736"/>
          </a:xfrm>
          <a:prstGeom prst="roundRect">
            <a:avLst>
              <a:gd name="adj" fmla="val 3013"/>
            </a:avLst>
          </a:prstGeom>
          <a:solidFill>
            <a:srgbClr val="F6F8FA"/>
          </a:solidFill>
          <a:ln w="9525">
            <a:solidFill>
              <a:srgbClr val="D0D7DE"/>
            </a:solidFill>
            <a:prstDash val="solid"/>
          </a:ln>
        </p:spPr>
      </p:sp>
      <p:sp>
        <p:nvSpPr>
          <p:cNvPr id="10" name="Shape 7"/>
          <p:cNvSpPr/>
          <p:nvPr/>
        </p:nvSpPr>
        <p:spPr>
          <a:xfrm>
            <a:off x="4566818" y="1938020"/>
            <a:ext cx="512064" cy="512064"/>
          </a:xfrm>
          <a:prstGeom prst="ellipse">
            <a:avLst/>
          </a:prstGeom>
          <a:solidFill>
            <a:srgbClr val="0969DA"/>
          </a:solidFill>
          <a:ln/>
        </p:spPr>
      </p:sp>
      <p:sp>
        <p:nvSpPr>
          <p:cNvPr id="11" name="Text 8"/>
          <p:cNvSpPr txBox="1"/>
          <p:nvPr/>
        </p:nvSpPr>
        <p:spPr>
          <a:xfrm>
            <a:off x="4566818"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2</a:t>
            </a:r>
            <a:endParaRPr lang="id-ID" sz="2000" dirty="0"/>
          </a:p>
        </p:txBody>
      </p:sp>
      <p:sp>
        <p:nvSpPr>
          <p:cNvPr id="12" name="Text 9"/>
          <p:cNvSpPr txBox="1"/>
          <p:nvPr/>
        </p:nvSpPr>
        <p:spPr>
          <a:xfrm>
            <a:off x="4566818"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Peta konsep Pertemuan 02⁠—⁠15</a:t>
            </a:r>
            <a:endParaRPr lang="id-ID" sz="2200" dirty="0"/>
          </a:p>
        </p:txBody>
      </p:sp>
      <p:sp>
        <p:nvSpPr>
          <p:cNvPr id="13" name="Shape 10"/>
          <p:cNvSpPr/>
          <p:nvPr/>
        </p:nvSpPr>
        <p:spPr>
          <a:xfrm>
            <a:off x="8127797" y="1709420"/>
            <a:ext cx="3515258" cy="1824736"/>
          </a:xfrm>
          <a:prstGeom prst="roundRect">
            <a:avLst>
              <a:gd name="adj" fmla="val 3013"/>
            </a:avLst>
          </a:prstGeom>
          <a:solidFill>
            <a:srgbClr val="F6F8FA"/>
          </a:solidFill>
          <a:ln w="9525">
            <a:solidFill>
              <a:srgbClr val="D0D7DE"/>
            </a:solidFill>
            <a:prstDash val="solid"/>
          </a:ln>
        </p:spPr>
      </p:sp>
      <p:sp>
        <p:nvSpPr>
          <p:cNvPr id="14" name="Shape 11"/>
          <p:cNvSpPr/>
          <p:nvPr/>
        </p:nvSpPr>
        <p:spPr>
          <a:xfrm>
            <a:off x="8356397" y="1938020"/>
            <a:ext cx="512064" cy="512064"/>
          </a:xfrm>
          <a:prstGeom prst="ellipse">
            <a:avLst/>
          </a:prstGeom>
          <a:solidFill>
            <a:srgbClr val="0969DA"/>
          </a:solidFill>
          <a:ln/>
        </p:spPr>
      </p:sp>
      <p:sp>
        <p:nvSpPr>
          <p:cNvPr id="15" name="Text 12"/>
          <p:cNvSpPr txBox="1"/>
          <p:nvPr/>
        </p:nvSpPr>
        <p:spPr>
          <a:xfrm>
            <a:off x="8356397"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3</a:t>
            </a:r>
            <a:endParaRPr lang="id-ID" sz="2000" dirty="0"/>
          </a:p>
        </p:txBody>
      </p:sp>
      <p:sp>
        <p:nvSpPr>
          <p:cNvPr id="16" name="Text 13"/>
          <p:cNvSpPr txBox="1"/>
          <p:nvPr/>
        </p:nvSpPr>
        <p:spPr>
          <a:xfrm>
            <a:off x="8356397"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Strategi belajar dan mengerjakan soal</a:t>
            </a:r>
            <a:endParaRPr lang="id-ID" sz="2200" dirty="0"/>
          </a:p>
        </p:txBody>
      </p:sp>
      <p:sp>
        <p:nvSpPr>
          <p:cNvPr id="17" name="Shape 14"/>
          <p:cNvSpPr/>
          <p:nvPr/>
        </p:nvSpPr>
        <p:spPr>
          <a:xfrm>
            <a:off x="548640" y="3808476"/>
            <a:ext cx="3515258" cy="1824736"/>
          </a:xfrm>
          <a:prstGeom prst="roundRect">
            <a:avLst>
              <a:gd name="adj" fmla="val 3013"/>
            </a:avLst>
          </a:prstGeom>
          <a:solidFill>
            <a:srgbClr val="F6F8FA"/>
          </a:solidFill>
          <a:ln w="9525">
            <a:solidFill>
              <a:srgbClr val="D0D7DE"/>
            </a:solidFill>
            <a:prstDash val="solid"/>
          </a:ln>
        </p:spPr>
      </p:sp>
      <p:sp>
        <p:nvSpPr>
          <p:cNvPr id="18" name="Shape 15"/>
          <p:cNvSpPr/>
          <p:nvPr/>
        </p:nvSpPr>
        <p:spPr>
          <a:xfrm>
            <a:off x="777240" y="4037076"/>
            <a:ext cx="512064" cy="512064"/>
          </a:xfrm>
          <a:prstGeom prst="ellipse">
            <a:avLst/>
          </a:prstGeom>
          <a:solidFill>
            <a:srgbClr val="0969DA"/>
          </a:solidFill>
          <a:ln/>
        </p:spPr>
      </p:sp>
      <p:sp>
        <p:nvSpPr>
          <p:cNvPr id="19" name="Text 16"/>
          <p:cNvSpPr txBox="1"/>
          <p:nvPr/>
        </p:nvSpPr>
        <p:spPr>
          <a:xfrm>
            <a:off x="777240"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4</a:t>
            </a:r>
            <a:endParaRPr lang="id-ID" sz="2000" dirty="0"/>
          </a:p>
        </p:txBody>
      </p:sp>
      <p:sp>
        <p:nvSpPr>
          <p:cNvPr id="20" name="Text 17"/>
          <p:cNvSpPr txBox="1"/>
          <p:nvPr/>
        </p:nvSpPr>
        <p:spPr>
          <a:xfrm>
            <a:off x="777240"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Contoh latihan soal dan pembahasan</a:t>
            </a:r>
            <a:endParaRPr lang="id-ID" sz="2200" dirty="0"/>
          </a:p>
        </p:txBody>
      </p:sp>
      <p:sp>
        <p:nvSpPr>
          <p:cNvPr id="21" name="Shape 18"/>
          <p:cNvSpPr/>
          <p:nvPr/>
        </p:nvSpPr>
        <p:spPr>
          <a:xfrm>
            <a:off x="4338218" y="3808476"/>
            <a:ext cx="3515258" cy="1824736"/>
          </a:xfrm>
          <a:prstGeom prst="roundRect">
            <a:avLst>
              <a:gd name="adj" fmla="val 3013"/>
            </a:avLst>
          </a:prstGeom>
          <a:solidFill>
            <a:srgbClr val="F6F8FA"/>
          </a:solidFill>
          <a:ln w="9525">
            <a:solidFill>
              <a:srgbClr val="D0D7DE"/>
            </a:solidFill>
            <a:prstDash val="solid"/>
          </a:ln>
        </p:spPr>
      </p:sp>
      <p:sp>
        <p:nvSpPr>
          <p:cNvPr id="22" name="Shape 19"/>
          <p:cNvSpPr/>
          <p:nvPr/>
        </p:nvSpPr>
        <p:spPr>
          <a:xfrm>
            <a:off x="4566818" y="4037076"/>
            <a:ext cx="512064" cy="512064"/>
          </a:xfrm>
          <a:prstGeom prst="ellipse">
            <a:avLst/>
          </a:prstGeom>
          <a:solidFill>
            <a:srgbClr val="0969DA"/>
          </a:solidFill>
          <a:ln/>
        </p:spPr>
      </p:sp>
      <p:sp>
        <p:nvSpPr>
          <p:cNvPr id="23" name="Text 20"/>
          <p:cNvSpPr txBox="1"/>
          <p:nvPr/>
        </p:nvSpPr>
        <p:spPr>
          <a:xfrm>
            <a:off x="4566818"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5</a:t>
            </a:r>
            <a:endParaRPr lang="id-ID" sz="2000" dirty="0"/>
          </a:p>
        </p:txBody>
      </p:sp>
      <p:sp>
        <p:nvSpPr>
          <p:cNvPr id="24" name="Text 21"/>
          <p:cNvSpPr txBox="1"/>
          <p:nvPr/>
        </p:nvSpPr>
        <p:spPr>
          <a:xfrm>
            <a:off x="4566818"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Jebakan favorit soal ujian</a:t>
            </a:r>
            <a:endParaRPr lang="id-ID" sz="2200" dirty="0"/>
          </a:p>
        </p:txBody>
      </p:sp>
      <p:sp>
        <p:nvSpPr>
          <p:cNvPr id="25" name="Shape 22"/>
          <p:cNvSpPr/>
          <p:nvPr/>
        </p:nvSpPr>
        <p:spPr>
          <a:xfrm>
            <a:off x="8127797" y="3808476"/>
            <a:ext cx="3515258" cy="1824736"/>
          </a:xfrm>
          <a:prstGeom prst="roundRect">
            <a:avLst>
              <a:gd name="adj" fmla="val 3013"/>
            </a:avLst>
          </a:prstGeom>
          <a:solidFill>
            <a:srgbClr val="F6F8FA"/>
          </a:solidFill>
          <a:ln w="9525">
            <a:solidFill>
              <a:srgbClr val="D0D7DE"/>
            </a:solidFill>
            <a:prstDash val="solid"/>
          </a:ln>
        </p:spPr>
      </p:sp>
      <p:sp>
        <p:nvSpPr>
          <p:cNvPr id="26" name="Shape 23"/>
          <p:cNvSpPr/>
          <p:nvPr/>
        </p:nvSpPr>
        <p:spPr>
          <a:xfrm>
            <a:off x="8356397" y="4037076"/>
            <a:ext cx="512064" cy="512064"/>
          </a:xfrm>
          <a:prstGeom prst="ellipse">
            <a:avLst/>
          </a:prstGeom>
          <a:solidFill>
            <a:srgbClr val="0969DA"/>
          </a:solidFill>
          <a:ln/>
        </p:spPr>
      </p:sp>
      <p:sp>
        <p:nvSpPr>
          <p:cNvPr id="27" name="Text 24"/>
          <p:cNvSpPr txBox="1"/>
          <p:nvPr/>
        </p:nvSpPr>
        <p:spPr>
          <a:xfrm>
            <a:off x="8356397"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6</a:t>
            </a:r>
            <a:endParaRPr lang="id-ID" sz="2000" dirty="0"/>
          </a:p>
        </p:txBody>
      </p:sp>
      <p:sp>
        <p:nvSpPr>
          <p:cNvPr id="28" name="Text 25"/>
          <p:cNvSpPr txBox="1"/>
          <p:nvPr/>
        </p:nvSpPr>
        <p:spPr>
          <a:xfrm>
            <a:off x="8356397"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Presentasi proyek akhir</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1</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1</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Cakupan dan Bentuk UAS</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Cakupan utama Pertemuan 09⁠—⁠15, dengan fondasi Pertemuan 02⁠—⁠07 yang tetap dipakai.</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Cakupan Materi dan Kisi-⁠Kisi</a:t>
            </a:r>
            <a:endParaRPr lang="id-ID"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36252"/>
          <a:ext cx="11094415" cy="914400"/>
        </p:xfrm>
        <a:graphic>
          <a:graphicData uri="http://schemas.openxmlformats.org/drawingml/2006/table">
            <a:tbl>
              <a:tblPr/>
              <a:tblGrid>
                <a:gridCol w="1093233"/>
                <a:gridCol w="2381668"/>
                <a:gridCol w="5733701"/>
                <a:gridCol w="1885813"/>
              </a:tblGrid>
              <a:tr h="415290">
                <a:tc>
                  <a:txBody>
                    <a:bodyPr/>
                    <a:lstStyle/>
                    <a:p>
                      <a:pPr indent="0" marL="0">
                        <a:buNone/>
                      </a:pPr>
                      <a:r>
                        <a:rPr lang="id-ID" altLang="en-US" sz="1500" b="1" dirty="0">
                          <a:solidFill>
                            <a:srgbClr val="FFFFFF"/>
                          </a:solidFill>
                          <a:latin typeface="Calibri" pitchFamily="34" charset="0"/>
                          <a:ea typeface="Calibri" pitchFamily="34" charset="-122"/>
                          <a:cs typeface="Calibri" pitchFamily="34" charset="-120"/>
                        </a:rPr>
                        <a:t>Pertemuan</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500" b="1" dirty="0">
                          <a:solidFill>
                            <a:srgbClr val="FFFFFF"/>
                          </a:solidFill>
                          <a:latin typeface="Calibri" pitchFamily="34" charset="0"/>
                          <a:ea typeface="Calibri" pitchFamily="34" charset="-122"/>
                          <a:cs typeface="Calibri" pitchFamily="34" charset="-120"/>
                        </a:rPr>
                        <a:t>Topik</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500" b="1" dirty="0">
                          <a:solidFill>
                            <a:srgbClr val="FFFFFF"/>
                          </a:solidFill>
                          <a:latin typeface="Calibri" pitchFamily="34" charset="0"/>
                          <a:ea typeface="Calibri" pitchFamily="34" charset="-122"/>
                          <a:cs typeface="Calibri" pitchFamily="34" charset="-120"/>
                        </a:rPr>
                        <a:t>Contoh kemampuan yang diuji</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500" b="1" dirty="0">
                          <a:solidFill>
                            <a:srgbClr val="FFFFFF"/>
                          </a:solidFill>
                          <a:latin typeface="Calibri" pitchFamily="34" charset="0"/>
                          <a:ea typeface="Calibri" pitchFamily="34" charset="-122"/>
                          <a:cs typeface="Calibri" pitchFamily="34" charset="-120"/>
                        </a:rPr>
                        <a:t>Latihan</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415290">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09</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Polimorfisme</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memprediksi hasil </a:t>
                      </a:r>
                      <a:r>
                        <a:rPr lang="id-ID" altLang="en-US" sz="1500" i="1" dirty="0">
                          <a:solidFill>
                            <a:srgbClr val="1F2328"/>
                          </a:solidFill>
                          <a:latin typeface="Calibri" pitchFamily="34" charset="0"/>
                          <a:ea typeface="Calibri" pitchFamily="34" charset="-122"/>
                          <a:cs typeface="Calibri" pitchFamily="34" charset="-120"/>
                        </a:rPr>
                        <a:t>method</a:t>
                      </a:r>
                      <a:r>
                        <a:rPr lang="id-ID" altLang="en-US" sz="1500" dirty="0">
                          <a:solidFill>
                            <a:srgbClr val="1F2328"/>
                          </a:solidFill>
                          <a:latin typeface="Calibri" pitchFamily="34" charset="0"/>
                          <a:ea typeface="Calibri" pitchFamily="34" charset="-122"/>
                          <a:cs typeface="Calibri" pitchFamily="34" charset="-120"/>
                        </a:rPr>
                        <a:t> yang di-⁠</a:t>
                      </a:r>
                      <a:r>
                        <a:rPr lang="id-ID" altLang="en-US" sz="1500" i="1" dirty="0">
                          <a:solidFill>
                            <a:srgbClr val="1F2328"/>
                          </a:solidFill>
                          <a:latin typeface="Calibri" pitchFamily="34" charset="0"/>
                          <a:ea typeface="Calibri" pitchFamily="34" charset="-122"/>
                          <a:cs typeface="Calibri" pitchFamily="34" charset="-120"/>
                        </a:rPr>
                        <a:t>override</a:t>
                      </a:r>
                      <a:r>
                        <a:rPr lang="id-ID" altLang="en-US" sz="1500" dirty="0">
                          <a:solidFill>
                            <a:srgbClr val="1F2328"/>
                          </a:solidFill>
                          <a:latin typeface="Calibri" pitchFamily="34" charset="0"/>
                          <a:ea typeface="Calibri" pitchFamily="34" charset="-122"/>
                          <a:cs typeface="Calibri" pitchFamily="34" charset="-120"/>
                        </a:rPr>
                        <a:t>; </a:t>
                      </a:r>
                      <a:r>
                        <a:rPr lang="id-ID" altLang="en-US" sz="1500" i="1" dirty="0">
                          <a:solidFill>
                            <a:srgbClr val="1F2328"/>
                          </a:solidFill>
                          <a:latin typeface="Calibri" pitchFamily="34" charset="0"/>
                          <a:ea typeface="Calibri" pitchFamily="34" charset="-122"/>
                          <a:cs typeface="Calibri" pitchFamily="34" charset="-120"/>
                        </a:rPr>
                        <a:t>overloading</a:t>
                      </a:r>
                      <a:r>
                        <a:rPr lang="id-ID" altLang="en-US" sz="1500" dirty="0">
                          <a:solidFill>
                            <a:srgbClr val="1F2328"/>
                          </a:solidFill>
                          <a:latin typeface="Calibri" pitchFamily="34" charset="0"/>
                          <a:ea typeface="Calibri" pitchFamily="34" charset="-122"/>
                          <a:cs typeface="Calibri" pitchFamily="34" charset="-120"/>
                        </a:rPr>
                        <a:t> vs </a:t>
                      </a:r>
                      <a:r>
                        <a:rPr lang="id-ID" altLang="en-US" sz="1500" i="1" dirty="0">
                          <a:solidFill>
                            <a:srgbClr val="1F2328"/>
                          </a:solidFill>
                          <a:latin typeface="Calibri" pitchFamily="34" charset="0"/>
                          <a:ea typeface="Calibri" pitchFamily="34" charset="-122"/>
                          <a:cs typeface="Calibri" pitchFamily="34" charset="-120"/>
                        </a:rPr>
                        <a:t>overriding</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A1, A2</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5290">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500" i="1" dirty="0">
                          <a:solidFill>
                            <a:srgbClr val="1F2328"/>
                          </a:solidFill>
                          <a:latin typeface="Calibri" pitchFamily="34" charset="0"/>
                          <a:ea typeface="Calibri" pitchFamily="34" charset="-122"/>
                          <a:cs typeface="Calibri" pitchFamily="34" charset="-120"/>
                        </a:rPr>
                        <a:t>Abstract class</a:t>
                      </a:r>
                      <a:r>
                        <a:rPr lang="id-ID" altLang="en-US" sz="1500" dirty="0">
                          <a:solidFill>
                            <a:srgbClr val="1F2328"/>
                          </a:solidFill>
                          <a:latin typeface="Calibri" pitchFamily="34" charset="0"/>
                          <a:ea typeface="Calibri" pitchFamily="34" charset="-122"/>
                          <a:cs typeface="Calibri" pitchFamily="34" charset="-120"/>
                        </a:rPr>
                        <a:t> dan </a:t>
                      </a:r>
                      <a:r>
                        <a:rPr lang="id-ID" altLang="en-US" sz="1500" i="1" dirty="0">
                          <a:solidFill>
                            <a:srgbClr val="1F2328"/>
                          </a:solidFill>
                          <a:latin typeface="Calibri" pitchFamily="34" charset="0"/>
                          <a:ea typeface="Calibri" pitchFamily="34" charset="-122"/>
                          <a:cs typeface="Calibri" pitchFamily="34" charset="-120"/>
                        </a:rPr>
                        <a:t>interface</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aturan kelas abstrak; memilih kelas abstrak atau </a:t>
                      </a:r>
                      <a:r>
                        <a:rPr lang="id-ID" altLang="en-US" sz="1500" i="1" dirty="0">
                          <a:solidFill>
                            <a:srgbClr val="1F2328"/>
                          </a:solidFill>
                          <a:latin typeface="Calibri" pitchFamily="34" charset="0"/>
                          <a:ea typeface="Calibri" pitchFamily="34" charset="-122"/>
                          <a:cs typeface="Calibri" pitchFamily="34" charset="-120"/>
                        </a:rPr>
                        <a:t>interface</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A3, A4, B2</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5290">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500" i="1" dirty="0">
                          <a:solidFill>
                            <a:srgbClr val="1F2328"/>
                          </a:solidFill>
                          <a:latin typeface="Calibri" pitchFamily="34" charset="0"/>
                          <a:ea typeface="Calibri" pitchFamily="34" charset="-122"/>
                          <a:cs typeface="Calibri" pitchFamily="34" charset="-120"/>
                        </a:rPr>
                        <a:t>Exception handling</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alur </a:t>
                      </a:r>
                      <a:r>
                        <a:rPr lang="id-ID" altLang="en-US" sz="1500" dirty="0">
                          <a:solidFill>
                            <a:srgbClr val="0A3069"/>
                          </a:solidFill>
                          <a:latin typeface="Consolas" pitchFamily="34" charset="0"/>
                          <a:ea typeface="Consolas" pitchFamily="34" charset="-122"/>
                          <a:cs typeface="Consolas" pitchFamily="34" charset="-120"/>
                        </a:rPr>
                        <a:t>try</a:t>
                      </a:r>
                      <a:r>
                        <a:rPr lang="id-ID" altLang="en-US" sz="1500" dirty="0">
                          <a:solidFill>
                            <a:srgbClr val="1F2328"/>
                          </a:solidFill>
                          <a:latin typeface="Calibri" pitchFamily="34" charset="0"/>
                          <a:ea typeface="Calibri" pitchFamily="34" charset="-122"/>
                          <a:cs typeface="Calibri" pitchFamily="34" charset="-120"/>
                        </a:rPr>
                        <a:t>/</a:t>
                      </a:r>
                      <a:r>
                        <a:rPr lang="id-ID" altLang="en-US" sz="1500" dirty="0">
                          <a:solidFill>
                            <a:srgbClr val="0A3069"/>
                          </a:solidFill>
                          <a:latin typeface="Consolas" pitchFamily="34" charset="0"/>
                          <a:ea typeface="Consolas" pitchFamily="34" charset="-122"/>
                          <a:cs typeface="Consolas" pitchFamily="34" charset="-120"/>
                        </a:rPr>
                        <a:t>finally</a:t>
                      </a:r>
                      <a:r>
                        <a:rPr lang="id-ID" altLang="en-US" sz="1500" dirty="0">
                          <a:solidFill>
                            <a:srgbClr val="1F2328"/>
                          </a:solidFill>
                          <a:latin typeface="Calibri" pitchFamily="34" charset="0"/>
                          <a:ea typeface="Calibri" pitchFamily="34" charset="-122"/>
                          <a:cs typeface="Calibri" pitchFamily="34" charset="-120"/>
                        </a:rPr>
                        <a:t>; urutan </a:t>
                      </a:r>
                      <a:r>
                        <a:rPr lang="id-ID" altLang="en-US" sz="1500" dirty="0">
                          <a:solidFill>
                            <a:srgbClr val="0A3069"/>
                          </a:solidFill>
                          <a:latin typeface="Consolas" pitchFamily="34" charset="0"/>
                          <a:ea typeface="Consolas" pitchFamily="34" charset="-122"/>
                          <a:cs typeface="Consolas" pitchFamily="34" charset="-120"/>
                        </a:rPr>
                        <a:t>except</a:t>
                      </a:r>
                      <a:r>
                        <a:rPr lang="id-ID" altLang="en-US" sz="1500" dirty="0">
                          <a:solidFill>
                            <a:srgbClr val="1F2328"/>
                          </a:solidFill>
                          <a:latin typeface="Calibri" pitchFamily="34" charset="0"/>
                          <a:ea typeface="Calibri" pitchFamily="34" charset="-122"/>
                          <a:cs typeface="Calibri" pitchFamily="34" charset="-120"/>
                        </a:rPr>
                        <a:t>/</a:t>
                      </a:r>
                      <a:r>
                        <a:rPr lang="id-ID" altLang="en-US" sz="1500" dirty="0">
                          <a:solidFill>
                            <a:srgbClr val="0A3069"/>
                          </a:solidFill>
                          <a:latin typeface="Consolas" pitchFamily="34" charset="0"/>
                          <a:ea typeface="Consolas" pitchFamily="34" charset="-122"/>
                          <a:cs typeface="Consolas" pitchFamily="34" charset="-120"/>
                        </a:rPr>
                        <a:t>catch</a:t>
                      </a:r>
                      <a:r>
                        <a:rPr lang="id-ID" altLang="en-US" sz="1500" dirty="0">
                          <a:solidFill>
                            <a:srgbClr val="1F2328"/>
                          </a:solidFill>
                          <a:latin typeface="Calibri" pitchFamily="34" charset="0"/>
                          <a:ea typeface="Calibri" pitchFamily="34" charset="-122"/>
                          <a:cs typeface="Calibri" pitchFamily="34" charset="-120"/>
                        </a:rPr>
                        <a:t>; </a:t>
                      </a:r>
                      <a:r>
                        <a:rPr lang="id-ID" altLang="en-US" sz="1500" i="1" dirty="0">
                          <a:solidFill>
                            <a:srgbClr val="1F2328"/>
                          </a:solidFill>
                          <a:latin typeface="Calibri" pitchFamily="34" charset="0"/>
                          <a:ea typeface="Calibri" pitchFamily="34" charset="-122"/>
                          <a:cs typeface="Calibri" pitchFamily="34" charset="-120"/>
                        </a:rPr>
                        <a:t>checked</a:t>
                      </a:r>
                      <a:r>
                        <a:rPr lang="id-ID" altLang="en-US" sz="1500" dirty="0">
                          <a:solidFill>
                            <a:srgbClr val="1F2328"/>
                          </a:solidFill>
                          <a:latin typeface="Calibri" pitchFamily="34" charset="0"/>
                          <a:ea typeface="Calibri" pitchFamily="34" charset="-122"/>
                          <a:cs typeface="Calibri" pitchFamily="34" charset="-120"/>
                        </a:rPr>
                        <a:t> vs </a:t>
                      </a:r>
                      <a:r>
                        <a:rPr lang="id-ID" altLang="en-US" sz="1500" i="1" dirty="0">
                          <a:solidFill>
                            <a:srgbClr val="1F2328"/>
                          </a:solidFill>
                          <a:latin typeface="Calibri" pitchFamily="34" charset="0"/>
                          <a:ea typeface="Calibri" pitchFamily="34" charset="-122"/>
                          <a:cs typeface="Calibri" pitchFamily="34" charset="-120"/>
                        </a:rPr>
                        <a:t>unchecked</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A5⁠—⁠A7, B3, C1</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5290">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Koleksi dan </a:t>
                      </a:r>
                      <a:r>
                        <a:rPr lang="id-ID" altLang="en-US" sz="1500" i="1" dirty="0">
                          <a:solidFill>
                            <a:srgbClr val="1F2328"/>
                          </a:solidFill>
                          <a:latin typeface="Calibri" pitchFamily="34" charset="0"/>
                          <a:ea typeface="Calibri" pitchFamily="34" charset="-122"/>
                          <a:cs typeface="Calibri" pitchFamily="34" charset="-120"/>
                        </a:rPr>
                        <a:t>generics</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pengurutan dua kriteria; kesamaan objek; memilih koleksi</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A8⁠—⁠A10, C1</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5290">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13⁠—⁠14</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SOLID dan </a:t>
                      </a:r>
                      <a:r>
                        <a:rPr lang="id-ID" altLang="en-US" sz="1500" i="1" dirty="0">
                          <a:solidFill>
                            <a:srgbClr val="1F2328"/>
                          </a:solidFill>
                          <a:latin typeface="Calibri" pitchFamily="34" charset="0"/>
                          <a:ea typeface="Calibri" pitchFamily="34" charset="-122"/>
                          <a:cs typeface="Calibri" pitchFamily="34" charset="-120"/>
                        </a:rPr>
                        <a:t>design pattern</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menemukan pelanggaran SOLID; memilih pola desain; </a:t>
                      </a:r>
                      <a:r>
                        <a:rPr lang="id-ID" altLang="en-US" sz="1500" i="1" dirty="0">
                          <a:solidFill>
                            <a:srgbClr val="1F2328"/>
                          </a:solidFill>
                          <a:latin typeface="Calibri" pitchFamily="34" charset="0"/>
                          <a:ea typeface="Calibri" pitchFamily="34" charset="-122"/>
                          <a:cs typeface="Calibri" pitchFamily="34" charset="-120"/>
                        </a:rPr>
                        <a:t>refactoring</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A11⁠—⁠A14, B4, B5, C2</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5290">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15</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Proyek terintegrasi</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menempatkan aturan bisnis pada lapisan yang tepat</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A15</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4990170"/>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062591"/>
            <a:ext cx="184343" cy="184343"/>
          </a:xfrm>
          <a:prstGeom prst="rect">
            <a:avLst/>
          </a:prstGeom>
        </p:spPr>
      </p:pic>
      <p:sp>
        <p:nvSpPr>
          <p:cNvPr id="8" name="Text 3"/>
          <p:cNvSpPr txBox="1"/>
          <p:nvPr/>
        </p:nvSpPr>
        <p:spPr>
          <a:xfrm>
            <a:off x="1005840" y="4971882"/>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Fondasi Pertemuan 02⁠—⁠07 tetap dibutuhkan hampir di semua soal. Soal B1 menguji empat pilar PBO serta </a:t>
            </a:r>
            <a:r>
              <a:rPr lang="id-ID" altLang="en-US" sz="1800" i="1" dirty="0">
                <a:solidFill>
                  <a:srgbClr val="57606A"/>
                </a:solidFill>
              </a:rPr>
              <a:t>is-⁠a</a:t>
            </a:r>
            <a:r>
              <a:rPr lang="id-ID" altLang="en-US" sz="1800" dirty="0">
                <a:solidFill>
                  <a:srgbClr val="57606A"/>
                </a:solidFill>
              </a:rPr>
              <a:t> dan </a:t>
            </a:r>
            <a:r>
              <a:rPr lang="id-ID" altLang="en-US" sz="1800" i="1" dirty="0">
                <a:solidFill>
                  <a:srgbClr val="57606A"/>
                </a:solidFill>
              </a:rPr>
              <a:t>has-⁠a</a:t>
            </a:r>
            <a:r>
              <a:rPr lang="id-ID" altLang="en-US" sz="1800" dirty="0">
                <a:solidFill>
                  <a:srgbClr val="57606A"/>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Bentuk Ujian yang Umum dan Latihannya</a:t>
            </a:r>
            <a:endParaRPr lang="id-ID"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64949"/>
          <a:ext cx="11094415" cy="914400"/>
        </p:xfrm>
        <a:graphic>
          <a:graphicData uri="http://schemas.openxmlformats.org/drawingml/2006/table">
            <a:tbl>
              <a:tblPr/>
              <a:tblGrid>
                <a:gridCol w="2591408"/>
                <a:gridCol w="5746402"/>
                <a:gridCol w="2756605"/>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Bentuk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Yang biasanya diuji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Di latihan soal</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Teori: pilihan ganda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konsep dan membaca kode: menebak </a:t>
                      </a:r>
                      <a:r>
                        <a:rPr lang="id-ID" altLang="en-US" sz="2200" i="1" dirty="0">
                          <a:solidFill>
                            <a:srgbClr val="1F2328"/>
                          </a:solidFill>
                          <a:latin typeface="Calibri" pitchFamily="34" charset="0"/>
                          <a:ea typeface="Calibri" pitchFamily="34" charset="-122"/>
                          <a:cs typeface="Calibri" pitchFamily="34" charset="-120"/>
                        </a:rPr>
                        <a:t>output</a:t>
                      </a:r>
                      <a:r>
                        <a:rPr lang="id-ID" altLang="en-US" sz="2200" dirty="0">
                          <a:solidFill>
                            <a:srgbClr val="1F2328"/>
                          </a:solidFill>
                          <a:latin typeface="Calibri" pitchFamily="34" charset="0"/>
                          <a:ea typeface="Calibri" pitchFamily="34" charset="-122"/>
                          <a:cs typeface="Calibri" pitchFamily="34" charset="-120"/>
                        </a:rPr>
                        <a:t>, mencari letak kesalahan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Bagian A: 15 soal, saran 30 menit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Teori: esai / analisis desain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menjelaskan, membandingkan, menganalisis SOLID, memilih </a:t>
                      </a:r>
                      <a:r>
                        <a:rPr lang="id-ID" altLang="en-US" sz="2200" i="1" dirty="0">
                          <a:solidFill>
                            <a:srgbClr val="1F2328"/>
                          </a:solidFill>
                          <a:latin typeface="Calibri" pitchFamily="34" charset="0"/>
                          <a:ea typeface="Calibri" pitchFamily="34" charset="-122"/>
                          <a:cs typeface="Calibri" pitchFamily="34" charset="-120"/>
                        </a:rPr>
                        <a:t>design pattern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Bagian B: 5 soal, saran 60 menit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Praktik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membuat program PBO dari kebutuhan, atau </a:t>
                      </a:r>
                      <a:r>
                        <a:rPr lang="id-ID" altLang="en-US" sz="2200" i="1" dirty="0">
                          <a:solidFill>
                            <a:srgbClr val="1F2328"/>
                          </a:solidFill>
                          <a:latin typeface="Calibri" pitchFamily="34" charset="0"/>
                          <a:ea typeface="Calibri" pitchFamily="34" charset="-122"/>
                          <a:cs typeface="Calibri" pitchFamily="34" charset="-120"/>
                        </a:rPr>
                        <a:t>refactoring</a:t>
                      </a:r>
                      <a:r>
                        <a:rPr lang="id-ID" altLang="en-US" sz="2200" dirty="0">
                          <a:solidFill>
                            <a:srgbClr val="1F2328"/>
                          </a:solidFill>
                          <a:latin typeface="Calibri" pitchFamily="34" charset="0"/>
                          <a:ea typeface="Calibri" pitchFamily="34" charset="-122"/>
                          <a:cs typeface="Calibri" pitchFamily="34" charset="-120"/>
                        </a:rPr>
                        <a:t> kode yang ada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Bagian C: 2 soal, saran 150 menit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229433"/>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301854"/>
            <a:ext cx="184343" cy="184343"/>
          </a:xfrm>
          <a:prstGeom prst="rect">
            <a:avLst/>
          </a:prstGeom>
        </p:spPr>
      </p:pic>
      <p:sp>
        <p:nvSpPr>
          <p:cNvPr id="8" name="Text 3"/>
          <p:cNvSpPr txBox="1"/>
          <p:nvPr/>
        </p:nvSpPr>
        <p:spPr>
          <a:xfrm>
            <a:off x="1005840" y="5211145"/>
            <a:ext cx="10637215" cy="324612"/>
          </a:xfrm>
          <a:prstGeom prst="rect">
            <a:avLst/>
          </a:prstGeom>
          <a:noFill/>
          <a:ln/>
        </p:spPr>
        <p:txBody>
          <a:bodyPr wrap="square" lIns="0" tIns="0" rIns="0" bIns="0" rtlCol="0" anchor="t"/>
          <a:lstStyle/>
          <a:p>
            <a:pPr indent="0" marL="0">
              <a:buNone/>
            </a:pPr>
            <a:r>
              <a:rPr lang="id-ID" altLang="en-US" sz="1800" dirty="0">
                <a:solidFill>
                  <a:srgbClr val="57606A"/>
                </a:solidFill>
              </a:rPr>
              <a:t>Bentuk, jumlah soal, bobot, durasi, dan aturan ujian yang sesungguhnya mengikuti pengumuman dosen.</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Peta Konsep: dari Fondasi ke Proyek Akhir</a:t>
            </a:r>
            <a:endParaRPr lang="id-ID" sz="3200" dirty="0"/>
          </a:p>
        </p:txBody>
      </p:sp>
      <p:pic>
        <p:nvPicPr>
          <p:cNvPr id="5" name="Image 1" descr="Panah berarti “menjadi dasar bagi”. Kesulitan di satu kotak? Mundurlah ke kotak yang menunjuk ke sana.">    </p:cNvPr>
          <p:cNvPicPr>
            <a:picLocks noChangeAspect="1"/>
          </p:cNvPicPr>
          <p:nvPr/>
        </p:nvPicPr>
        <p:blipFill>
          <a:blip r:embed="rId2"/>
          <a:stretch>
            <a:fillRect/>
          </a:stretch>
        </p:blipFill>
        <p:spPr>
          <a:xfrm>
            <a:off x="548640" y="1882980"/>
            <a:ext cx="11094415" cy="3377283"/>
          </a:xfrm>
          <a:prstGeom prst="rect">
            <a:avLst/>
          </a:prstGeom>
        </p:spPr>
      </p:pic>
      <p:sp>
        <p:nvSpPr>
          <p:cNvPr id="6" name="Text 2"/>
          <p:cNvSpPr txBox="1"/>
          <p:nvPr/>
        </p:nvSpPr>
        <p:spPr>
          <a:xfrm>
            <a:off x="1005840" y="5369990"/>
            <a:ext cx="10180015" cy="427990"/>
          </a:xfrm>
          <a:prstGeom prst="rect">
            <a:avLst/>
          </a:prstGeom>
          <a:noFill/>
          <a:ln/>
        </p:spPr>
        <p:txBody>
          <a:bodyPr wrap="square" lIns="0" tIns="0" rIns="0" bIns="0" rtlCol="0" anchor="t"/>
          <a:lstStyle/>
          <a:p>
            <a:pPr algn="ctr" indent="0" marL="0">
              <a:buNone/>
            </a:pPr>
            <a:r>
              <a:rPr lang="id-ID" altLang="en-US" sz="1700" dirty="0">
                <a:solidFill>
                  <a:srgbClr val="57606A"/>
                </a:solidFill>
              </a:rPr>
              <a:t>Panah berarti “menjadi dasar bagi”. Kesulitan di satu kotak? Mundurlah ke kotak yang menunjuk ke sana.</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2</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2</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Strategi Belajar dan Mengerjakan</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Kamu tidak perlu belajar semuanya dalam satu malam.</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Rencana Belajar Tujuh Hari</a:t>
            </a:r>
            <a:endParaRPr lang="id-ID"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16877"/>
          <a:ext cx="11094415" cy="914400"/>
        </p:xfrm>
        <a:graphic>
          <a:graphicData uri="http://schemas.openxmlformats.org/drawingml/2006/table">
            <a:tbl>
              <a:tblPr/>
              <a:tblGrid>
                <a:gridCol w="1026714"/>
                <a:gridCol w="1513489"/>
                <a:gridCol w="8554212"/>
              </a:tblGrid>
              <a:tr h="492760">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Hari</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Fokus</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Kegiatan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49276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H-⁠7</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P09⁠—⁠P10</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baca ringkasan, jalankan ulang studi kasus P09 dan P10, tebak </a:t>
                      </a:r>
                      <a:r>
                        <a:rPr lang="id-ID" altLang="en-US" sz="2000" i="1" dirty="0">
                          <a:solidFill>
                            <a:srgbClr val="1F2328"/>
                          </a:solidFill>
                          <a:latin typeface="Calibri" pitchFamily="34" charset="0"/>
                          <a:ea typeface="Calibri" pitchFamily="34" charset="-122"/>
                          <a:cs typeface="Calibri" pitchFamily="34" charset="-120"/>
                        </a:rPr>
                        <a:t>output</a:t>
                      </a:r>
                      <a:r>
                        <a:rPr lang="id-ID" altLang="en-US" sz="2000" dirty="0">
                          <a:solidFill>
                            <a:srgbClr val="1F2328"/>
                          </a:solidFill>
                          <a:latin typeface="Calibri" pitchFamily="34" charset="0"/>
                          <a:ea typeface="Calibri" pitchFamily="34" charset="-122"/>
                          <a:cs typeface="Calibri" pitchFamily="34" charset="-120"/>
                        </a:rPr>
                        <a:t> dulu</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9276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H-⁠6</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P11</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ubah salinan contoh </a:t>
                      </a:r>
                      <a:r>
                        <a:rPr lang="id-ID" altLang="en-US" sz="2000" dirty="0">
                          <a:solidFill>
                            <a:srgbClr val="0A3069"/>
                          </a:solidFill>
                          <a:latin typeface="Consolas" pitchFamily="34" charset="0"/>
                          <a:ea typeface="Consolas" pitchFamily="34" charset="-122"/>
                          <a:cs typeface="Consolas" pitchFamily="34" charset="-120"/>
                        </a:rPr>
                        <a:t>try/except</a:t>
                      </a:r>
                      <a:r>
                        <a:rPr lang="id-ID" altLang="en-US" sz="2000" dirty="0">
                          <a:solidFill>
                            <a:srgbClr val="1F2328"/>
                          </a:solidFill>
                          <a:latin typeface="Calibri" pitchFamily="34" charset="0"/>
                          <a:ea typeface="Calibri" pitchFamily="34" charset="-122"/>
                          <a:cs typeface="Calibri" pitchFamily="34" charset="-120"/>
                        </a:rPr>
                        <a:t> P11, tebak alurnya; buat </a:t>
                      </a:r>
                      <a:r>
                        <a:rPr lang="id-ID" altLang="en-US" sz="2000" i="1" dirty="0">
                          <a:solidFill>
                            <a:srgbClr val="1F2328"/>
                          </a:solidFill>
                          <a:latin typeface="Calibri" pitchFamily="34" charset="0"/>
                          <a:ea typeface="Calibri" pitchFamily="34" charset="-122"/>
                          <a:cs typeface="Calibri" pitchFamily="34" charset="-120"/>
                        </a:rPr>
                        <a:t>exception</a:t>
                      </a:r>
                      <a:r>
                        <a:rPr lang="id-ID" altLang="en-US" sz="2000" dirty="0">
                          <a:solidFill>
                            <a:srgbClr val="1F2328"/>
                          </a:solidFill>
                          <a:latin typeface="Calibri" pitchFamily="34" charset="0"/>
                          <a:ea typeface="Calibri" pitchFamily="34" charset="-122"/>
                          <a:cs typeface="Calibri" pitchFamily="34" charset="-120"/>
                        </a:rPr>
                        <a:t> sendiri</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H-⁠5</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P12</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latih </a:t>
                      </a:r>
                      <a:r>
                        <a:rPr lang="id-ID" altLang="en-US" sz="2000" dirty="0">
                          <a:solidFill>
                            <a:srgbClr val="0A3069"/>
                          </a:solidFill>
                          <a:latin typeface="Consolas" pitchFamily="34" charset="0"/>
                          <a:ea typeface="Consolas" pitchFamily="34" charset="-122"/>
                          <a:cs typeface="Consolas" pitchFamily="34" charset="-120"/>
                        </a:rPr>
                        <a:t>sorted(key=...)</a:t>
                      </a:r>
                      <a:r>
                        <a:rPr lang="id-ID" altLang="en-US" sz="2000" dirty="0">
                          <a:solidFill>
                            <a:srgbClr val="1F2328"/>
                          </a:solidFill>
                          <a:latin typeface="Calibri" pitchFamily="34" charset="0"/>
                          <a:ea typeface="Calibri" pitchFamily="34" charset="-122"/>
                          <a:cs typeface="Calibri" pitchFamily="34" charset="-120"/>
                        </a:rPr>
                        <a:t>/</a:t>
                      </a:r>
                      <a:r>
                        <a:rPr lang="id-ID" altLang="en-US" sz="2000" dirty="0">
                          <a:solidFill>
                            <a:srgbClr val="0A3069"/>
                          </a:solidFill>
                          <a:latin typeface="Consolas" pitchFamily="34" charset="0"/>
                          <a:ea typeface="Consolas" pitchFamily="34" charset="-122"/>
                          <a:cs typeface="Consolas" pitchFamily="34" charset="-120"/>
                        </a:rPr>
                        <a:t>Comparator</a:t>
                      </a:r>
                      <a:r>
                        <a:rPr lang="id-ID" altLang="en-US" sz="2000" dirty="0">
                          <a:solidFill>
                            <a:srgbClr val="1F2328"/>
                          </a:solidFill>
                          <a:latin typeface="Calibri" pitchFamily="34" charset="0"/>
                          <a:ea typeface="Calibri" pitchFamily="34" charset="-122"/>
                          <a:cs typeface="Calibri" pitchFamily="34" charset="-120"/>
                        </a:rPr>
                        <a:t> dua kriteria; kapan memakai </a:t>
                      </a:r>
                      <a:r>
                        <a:rPr lang="id-ID" altLang="en-US" sz="2000" dirty="0">
                          <a:solidFill>
                            <a:srgbClr val="0A3069"/>
                          </a:solidFill>
                          <a:latin typeface="Consolas" pitchFamily="34" charset="0"/>
                          <a:ea typeface="Consolas" pitchFamily="34" charset="-122"/>
                          <a:cs typeface="Consolas" pitchFamily="34" charset="-120"/>
                        </a:rPr>
                        <a:t>dict</a:t>
                      </a:r>
                      <a:r>
                        <a:rPr lang="id-ID" altLang="en-US" sz="2000" dirty="0">
                          <a:solidFill>
                            <a:srgbClr val="1F2328"/>
                          </a:solidFill>
                          <a:latin typeface="Calibri" pitchFamily="34" charset="0"/>
                          <a:ea typeface="Calibri" pitchFamily="34" charset="-122"/>
                          <a:cs typeface="Calibri" pitchFamily="34" charset="-120"/>
                        </a:rPr>
                        <a:t>/</a:t>
                      </a:r>
                      <a:r>
                        <a:rPr lang="id-ID" altLang="en-US" sz="2000" dirty="0">
                          <a:solidFill>
                            <a:srgbClr val="0A3069"/>
                          </a:solidFill>
                          <a:latin typeface="Consolas" pitchFamily="34" charset="0"/>
                          <a:ea typeface="Consolas" pitchFamily="34" charset="-122"/>
                          <a:cs typeface="Consolas" pitchFamily="34" charset="-120"/>
                        </a:rPr>
                        <a:t>Map</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9276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H-⁠4</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P13⁠—⁠P14</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gambar ulang diagram KedaiKita sebelum dan sesudah </a:t>
                      </a:r>
                      <a:r>
                        <a:rPr lang="id-ID" altLang="en-US" sz="2000" i="1" dirty="0">
                          <a:solidFill>
                            <a:srgbClr val="1F2328"/>
                          </a:solidFill>
                          <a:latin typeface="Calibri" pitchFamily="34" charset="0"/>
                          <a:ea typeface="Calibri" pitchFamily="34" charset="-122"/>
                          <a:cs typeface="Calibri" pitchFamily="34" charset="-120"/>
                        </a:rPr>
                        <a:t>refactor</a:t>
                      </a:r>
                      <a:r>
                        <a:rPr lang="id-ID" altLang="en-US" sz="2000" dirty="0">
                          <a:solidFill>
                            <a:srgbClr val="1F2328"/>
                          </a:solidFill>
                          <a:latin typeface="Calibri" pitchFamily="34" charset="0"/>
                          <a:ea typeface="Calibri" pitchFamily="34" charset="-122"/>
                          <a:cs typeface="Calibri" pitchFamily="34" charset="-120"/>
                        </a:rPr>
                        <a:t> dari ingatan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H-⁠3, H-⁠2</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Simulasi</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Bagian A dan B dengan </a:t>
                      </a:r>
                      <a:r>
                        <a:rPr lang="id-ID" altLang="en-US" sz="2000" i="1" dirty="0">
                          <a:solidFill>
                            <a:srgbClr val="1F2328"/>
                          </a:solidFill>
                          <a:latin typeface="Calibri" pitchFamily="34" charset="0"/>
                          <a:ea typeface="Calibri" pitchFamily="34" charset="-122"/>
                          <a:cs typeface="Calibri" pitchFamily="34" charset="-120"/>
                        </a:rPr>
                        <a:t>timer</a:t>
                      </a:r>
                      <a:r>
                        <a:rPr lang="id-ID" altLang="en-US" sz="2000" dirty="0">
                          <a:solidFill>
                            <a:srgbClr val="1F2328"/>
                          </a:solidFill>
                          <a:latin typeface="Calibri" pitchFamily="34" charset="0"/>
                          <a:ea typeface="Calibri" pitchFamily="34" charset="-122"/>
                          <a:cs typeface="Calibri" pitchFamily="34" charset="-120"/>
                        </a:rPr>
                        <a:t>, lalu Bagian C </a:t>
                      </a:r>
                      <a:r>
                        <a:rPr lang="id-ID" altLang="en-US" sz="2000" b="1" dirty="0">
                          <a:solidFill>
                            <a:srgbClr val="1F2328"/>
                          </a:solidFill>
                          <a:latin typeface="Calibri" pitchFamily="34" charset="0"/>
                          <a:ea typeface="Calibri" pitchFamily="34" charset="-122"/>
                          <a:cs typeface="Calibri" pitchFamily="34" charset="-120"/>
                        </a:rPr>
                        <a:t>tanpa</a:t>
                      </a:r>
                      <a:r>
                        <a:rPr lang="id-ID" altLang="en-US" sz="2000" dirty="0">
                          <a:solidFill>
                            <a:srgbClr val="1F2328"/>
                          </a:solidFill>
                          <a:latin typeface="Calibri" pitchFamily="34" charset="0"/>
                          <a:ea typeface="Calibri" pitchFamily="34" charset="-122"/>
                          <a:cs typeface="Calibri" pitchFamily="34" charset="-120"/>
                        </a:rPr>
                        <a:t> melihat solusi</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9276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H-⁠1</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Pemantapan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ulangi soal yang salah, isi </a:t>
                      </a:r>
                      <a:r>
                        <a:rPr lang="id-ID" altLang="en-US" sz="2000" i="1" dirty="0">
                          <a:solidFill>
                            <a:srgbClr val="1F2328"/>
                          </a:solidFill>
                          <a:latin typeface="Calibri" pitchFamily="34" charset="0"/>
                          <a:ea typeface="Calibri" pitchFamily="34" charset="-122"/>
                          <a:cs typeface="Calibri" pitchFamily="34" charset="-120"/>
                        </a:rPr>
                        <a:t>checklist</a:t>
                      </a:r>
                      <a:r>
                        <a:rPr lang="id-ID" altLang="en-US" sz="2000" dirty="0">
                          <a:solidFill>
                            <a:srgbClr val="1F2328"/>
                          </a:solidFill>
                          <a:latin typeface="Calibri" pitchFamily="34" charset="0"/>
                          <a:ea typeface="Calibri" pitchFamily="34" charset="-122"/>
                          <a:cs typeface="Calibri" pitchFamily="34" charset="-120"/>
                        </a:rPr>
                        <a:t>, siapkan proyek akhir, </a:t>
                      </a:r>
                      <a:r>
                        <a:rPr lang="id-ID" altLang="en-US" sz="2000" b="1" dirty="0">
                          <a:solidFill>
                            <a:srgbClr val="1F2328"/>
                          </a:solidFill>
                          <a:latin typeface="Calibri" pitchFamily="34" charset="0"/>
                          <a:ea typeface="Calibri" pitchFamily="34" charset="-122"/>
                          <a:cs typeface="Calibri" pitchFamily="34" charset="-120"/>
                        </a:rPr>
                        <a:t>tidur cukup</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Tips</a:t>
            </a:r>
            <a:r>
              <a:rPr lang="id-ID" altLang="en-US" sz="3200" b="1" dirty="0">
                <a:solidFill>
                  <a:srgbClr val="0A3069"/>
                </a:solidFill>
              </a:rPr>
              <a:t> Mengerjakan Soal</a:t>
            </a:r>
            <a:endParaRPr lang="id-ID"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64949"/>
          <a:ext cx="11094415" cy="914400"/>
        </p:xfrm>
        <a:graphic>
          <a:graphicData uri="http://schemas.openxmlformats.org/drawingml/2006/table">
            <a:tbl>
              <a:tblPr/>
              <a:tblGrid>
                <a:gridCol w="3293222"/>
                <a:gridCol w="7801193"/>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Bentuk soal</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i="1" dirty="0">
                          <a:solidFill>
                            <a:srgbClr val="FFFFFF"/>
                          </a:solidFill>
                          <a:latin typeface="Calibri" pitchFamily="34" charset="0"/>
                          <a:ea typeface="Calibri" pitchFamily="34" charset="-122"/>
                          <a:cs typeface="Calibri" pitchFamily="34" charset="-120"/>
                        </a:rPr>
                        <a:t>Tips</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Pilihan ganda membaca kode</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baca dua kali (struktur, lalu alur); waspadai pilihan yang “hampir benar”</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Esai dan analisis desain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b="1" dirty="0">
                          <a:solidFill>
                            <a:srgbClr val="1F2328"/>
                          </a:solidFill>
                          <a:latin typeface="Calibri" pitchFamily="34" charset="0"/>
                          <a:ea typeface="Calibri" pitchFamily="34" charset="-122"/>
                          <a:cs typeface="Calibri" pitchFamily="34" charset="-120"/>
                        </a:rPr>
                        <a:t>definisi → contoh → alasan</a:t>
                      </a:r>
                      <a:r>
                        <a:rPr lang="id-ID" altLang="en-US" sz="2200" dirty="0">
                          <a:solidFill>
                            <a:srgbClr val="1F2328"/>
                          </a:solidFill>
                          <a:latin typeface="Calibri" pitchFamily="34" charset="0"/>
                          <a:ea typeface="Calibri" pitchFamily="34" charset="-122"/>
                          <a:cs typeface="Calibri" pitchFamily="34" charset="-120"/>
                        </a:rPr>
                        <a:t>; tunjuk bukti di kode; sebut kekurangan pola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Praktik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b="1" dirty="0">
                          <a:solidFill>
                            <a:srgbClr val="1F2328"/>
                          </a:solidFill>
                          <a:latin typeface="Calibri" pitchFamily="34" charset="0"/>
                          <a:ea typeface="Calibri" pitchFamily="34" charset="-122"/>
                          <a:cs typeface="Calibri" pitchFamily="34" charset="-120"/>
                        </a:rPr>
                        <a:t>rancang dulu</a:t>
                      </a:r>
                      <a:r>
                        <a:rPr lang="id-ID" altLang="en-US" sz="2200" dirty="0">
                          <a:solidFill>
                            <a:srgbClr val="1F2328"/>
                          </a:solidFill>
                          <a:latin typeface="Calibri" pitchFamily="34" charset="0"/>
                          <a:ea typeface="Calibri" pitchFamily="34" charset="-122"/>
                          <a:cs typeface="Calibri" pitchFamily="34" charset="-120"/>
                        </a:rPr>
                        <a:t> 5⁠—⁠10 menit, tulis bertahap, jalankan setiap selesai satu tahap</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229433"/>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301854"/>
            <a:ext cx="184343" cy="184343"/>
          </a:xfrm>
          <a:prstGeom prst="rect">
            <a:avLst/>
          </a:prstGeom>
        </p:spPr>
      </p:pic>
      <p:sp>
        <p:nvSpPr>
          <p:cNvPr id="8" name="Text 3"/>
          <p:cNvSpPr txBox="1"/>
          <p:nvPr/>
        </p:nvSpPr>
        <p:spPr>
          <a:xfrm>
            <a:off x="1005840" y="5211145"/>
            <a:ext cx="10637215" cy="324612"/>
          </a:xfrm>
          <a:prstGeom prst="rect">
            <a:avLst/>
          </a:prstGeom>
          <a:noFill/>
          <a:ln/>
        </p:spPr>
        <p:txBody>
          <a:bodyPr wrap="square" lIns="0" tIns="0" rIns="0" bIns="0" rtlCol="0" anchor="t"/>
          <a:lstStyle/>
          <a:p>
            <a:pPr indent="0" marL="0">
              <a:buNone/>
            </a:pPr>
            <a:r>
              <a:rPr lang="id-ID" altLang="en-US" sz="1800" dirty="0">
                <a:solidFill>
                  <a:srgbClr val="57606A"/>
                </a:solidFill>
              </a:rPr>
              <a:t>Simpan pekerjaanmu secara berkala dan sisakan 10 menit terakhir untuk merapikan nama dan komentar.</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3</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3</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Contoh Latihan Soal</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Tiga soal pilihan ganda dan potongan solusi soal praktik dari </a:t>
            </a:r>
            <a:r>
              <a:rPr lang="id-ID" altLang="en-US" sz="2200" dirty="0">
                <a:solidFill>
                  <a:srgbClr val="DDF4FF"/>
                </a:solidFill>
                <a:latin typeface="Consolas" pitchFamily="34" charset="0"/>
                <a:ea typeface="Consolas" pitchFamily="34" charset="-122"/>
                <a:cs typeface="Consolas" pitchFamily="34" charset="-120"/>
              </a:rPr>
              <a:t>latihan-soal.md</a:t>
            </a:r>
            <a:r>
              <a:rPr lang="id-ID" altLang="en-US" sz="2200" dirty="0">
                <a:solidFill>
                  <a:srgbClr val="C9D7E8"/>
                </a:solidFill>
              </a:rPr>
              <a:t>.</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567483"/>
            <a:ext cx="11094415" cy="983996"/>
          </a:xfrm>
          <a:prstGeom prst="roundRect">
            <a:avLst>
              <a:gd name="adj" fmla="val 10363"/>
            </a:avLst>
          </a:prstGeom>
          <a:solidFill>
            <a:srgbClr val="FBEFFF"/>
          </a:solidFill>
          <a:ln w="9525">
            <a:solidFill>
              <a:srgbClr val="C297FF"/>
            </a:solidFill>
            <a:prstDash val="solid"/>
          </a:ln>
        </p:spPr>
      </p:sp>
      <p:sp>
        <p:nvSpPr>
          <p:cNvPr id="6" name="Shape 3"/>
          <p:cNvSpPr/>
          <p:nvPr/>
        </p:nvSpPr>
        <p:spPr>
          <a:xfrm>
            <a:off x="777240" y="1830881"/>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1931465"/>
            <a:ext cx="256032" cy="256032"/>
          </a:xfrm>
          <a:prstGeom prst="rect">
            <a:avLst/>
          </a:prstGeom>
        </p:spPr>
      </p:pic>
      <p:sp>
        <p:nvSpPr>
          <p:cNvPr id="8" name="Text 4"/>
          <p:cNvSpPr txBox="1"/>
          <p:nvPr/>
        </p:nvSpPr>
        <p:spPr>
          <a:xfrm>
            <a:off x="1417320" y="1796083"/>
            <a:ext cx="9951415" cy="709676"/>
          </a:xfrm>
          <a:prstGeom prst="rect">
            <a:avLst/>
          </a:prstGeom>
          <a:noFill/>
          <a:ln/>
        </p:spPr>
        <p:txBody>
          <a:bodyPr wrap="square" lIns="0" tIns="0" rIns="0" bIns="0" rtlCol="0" anchor="t"/>
          <a:lstStyle/>
          <a:p>
            <a:pPr indent="0" marL="0">
              <a:buNone/>
            </a:pPr>
            <a:r>
              <a:rPr lang="id-ID" altLang="en-US" sz="1700" dirty="0">
                <a:solidFill>
                  <a:srgbClr val="1F2328"/>
                </a:solidFill>
              </a:rPr>
              <a:t>Soal A8. Perhatikan kode berikut (versi Java memakai </a:t>
            </a:r>
            <a:r>
              <a:rPr lang="id-ID" altLang="en-US" sz="1700" dirty="0">
                <a:solidFill>
                  <a:srgbClr val="0A3069"/>
                </a:solidFill>
                <a:latin typeface="Consolas" pitchFamily="34" charset="0"/>
                <a:ea typeface="Consolas" pitchFamily="34" charset="-122"/>
                <a:cs typeface="Consolas" pitchFamily="34" charset="-120"/>
              </a:rPr>
              <a:t>Comparator.comparing(...).reversed().thenComparing(...)</a:t>
            </a:r>
            <a:r>
              <a:rPr lang="id-ID" altLang="en-US" sz="1700" dirty="0">
                <a:solidFill>
                  <a:srgbClr val="1F2328"/>
                </a:solidFill>
              </a:rPr>
              <a:t>). </a:t>
            </a:r>
            <a:r>
              <a:rPr lang="id-ID" altLang="en-US" sz="1700" i="1" dirty="0">
                <a:solidFill>
                  <a:srgbClr val="1F2328"/>
                </a:solidFill>
              </a:rPr>
              <a:t>Output</a:t>
            </a:r>
            <a:r>
              <a:rPr lang="id-ID" altLang="en-US" sz="1700" dirty="0">
                <a:solidFill>
                  <a:srgbClr val="1F2328"/>
                </a:solidFill>
              </a:rPr>
              <a:t> program adalah ...</a:t>
            </a:r>
            <a:endParaRPr lang="id-ID" sz="1700" dirty="0"/>
          </a:p>
        </p:txBody>
      </p:sp>
      <p:sp>
        <p:nvSpPr>
          <p:cNvPr id="9" name="Shape 5"/>
          <p:cNvSpPr/>
          <p:nvPr/>
        </p:nvSpPr>
        <p:spPr>
          <a:xfrm>
            <a:off x="548640" y="2734359"/>
            <a:ext cx="11094415" cy="1772920"/>
          </a:xfrm>
          <a:prstGeom prst="roundRect">
            <a:avLst>
              <a:gd name="adj" fmla="val 2660"/>
            </a:avLst>
          </a:prstGeom>
          <a:solidFill>
            <a:srgbClr val="F6F8FA"/>
          </a:solidFill>
          <a:ln w="9525">
            <a:solidFill>
              <a:srgbClr val="D0D7DE"/>
            </a:solidFill>
            <a:prstDash val="solid"/>
          </a:ln>
        </p:spPr>
      </p:sp>
      <p:sp>
        <p:nvSpPr>
          <p:cNvPr id="10" name="Text 6"/>
          <p:cNvSpPr txBox="1"/>
          <p:nvPr/>
        </p:nvSpPr>
        <p:spPr>
          <a:xfrm>
            <a:off x="822960" y="2871519"/>
            <a:ext cx="10545775" cy="1590040"/>
          </a:xfrm>
          <a:prstGeom prst="rect">
            <a:avLst/>
          </a:prstGeom>
          <a:noFill/>
          <a:ln/>
        </p:spPr>
        <p:txBody>
          <a:bodyPr wrap="square" lIns="0" tIns="0" rIns="0" bIns="0" rtlCol="0" anchor="t"/>
          <a:lstStyle/>
          <a:p>
            <a:pPr indent="0" marL="0">
              <a:buNone/>
            </a:pPr>
            <a:r>
              <a:rPr lang="en-US" altLang="en-US" sz="1250" dirty="0">
                <a:solidFill>
                  <a:srgbClr val="CF222E"/>
                </a:solidFill>
                <a:latin typeface="Consolas" pitchFamily="34" charset="0"/>
                <a:ea typeface="Consolas" pitchFamily="34" charset="-122"/>
                <a:cs typeface="Consolas" pitchFamily="34" charset="-120"/>
              </a:rPr>
              <a:t>class</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953800"/>
                </a:solidFill>
                <a:latin typeface="Consolas" pitchFamily="34" charset="0"/>
                <a:ea typeface="Consolas" pitchFamily="34" charset="-122"/>
                <a:cs typeface="Consolas" pitchFamily="34" charset="-120"/>
              </a:rPr>
              <a:t>Peserta</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def</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8250DF"/>
                </a:solidFill>
                <a:latin typeface="Consolas" pitchFamily="34" charset="0"/>
                <a:ea typeface="Consolas" pitchFamily="34" charset="-122"/>
                <a:cs typeface="Consolas" pitchFamily="34" charset="-120"/>
              </a:rPr>
              <a:t>__init__</a:t>
            </a:r>
            <a:r>
              <a:rPr lang="en-US" altLang="en-US" sz="1250" dirty="0">
                <a:solidFill>
                  <a:srgbClr val="1F2328"/>
                </a:solidFill>
                <a:latin typeface="Consolas" pitchFamily="34" charset="0"/>
                <a:ea typeface="Consolas" pitchFamily="34" charset="-122"/>
                <a:cs typeface="Consolas" pitchFamily="34" charset="-120"/>
              </a:rPr>
              <a:t>(</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 nama, skor):</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.nama = nama</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.skor = skor</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daftar = [Peserta(</a:t>
            </a:r>
            <a:r>
              <a:rPr lang="en-US" altLang="en-US" sz="1250" dirty="0">
                <a:solidFill>
                  <a:srgbClr val="0A3069"/>
                </a:solidFill>
                <a:latin typeface="Consolas" pitchFamily="34" charset="0"/>
                <a:ea typeface="Consolas" pitchFamily="34" charset="-122"/>
                <a:cs typeface="Consolas" pitchFamily="34" charset="-120"/>
              </a:rPr>
              <a:t>"Dimas"</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80</a:t>
            </a:r>
            <a:r>
              <a:rPr lang="en-US" altLang="en-US" sz="1250" dirty="0">
                <a:solidFill>
                  <a:srgbClr val="1F2328"/>
                </a:solidFill>
                <a:latin typeface="Consolas" pitchFamily="34" charset="0"/>
                <a:ea typeface="Consolas" pitchFamily="34" charset="-122"/>
                <a:cs typeface="Consolas" pitchFamily="34" charset="-120"/>
              </a:rPr>
              <a:t>), Peserta(</a:t>
            </a:r>
            <a:r>
              <a:rPr lang="en-US" altLang="en-US" sz="1250" dirty="0">
                <a:solidFill>
                  <a:srgbClr val="0A3069"/>
                </a:solidFill>
                <a:latin typeface="Consolas" pitchFamily="34" charset="0"/>
                <a:ea typeface="Consolas" pitchFamily="34" charset="-122"/>
                <a:cs typeface="Consolas" pitchFamily="34" charset="-120"/>
              </a:rPr>
              <a:t>"Ayu"</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92</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Peserta(</a:t>
            </a:r>
            <a:r>
              <a:rPr lang="en-US" altLang="en-US" sz="1250" dirty="0">
                <a:solidFill>
                  <a:srgbClr val="0A3069"/>
                </a:solidFill>
                <a:latin typeface="Consolas" pitchFamily="34" charset="0"/>
                <a:ea typeface="Consolas" pitchFamily="34" charset="-122"/>
                <a:cs typeface="Consolas" pitchFamily="34" charset="-120"/>
              </a:rPr>
              <a:t>"Citra"</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80</a:t>
            </a:r>
            <a:r>
              <a:rPr lang="en-US" altLang="en-US" sz="1250" dirty="0">
                <a:solidFill>
                  <a:srgbClr val="1F2328"/>
                </a:solidFill>
                <a:latin typeface="Consolas" pitchFamily="34" charset="0"/>
                <a:ea typeface="Consolas" pitchFamily="34" charset="-122"/>
                <a:cs typeface="Consolas" pitchFamily="34" charset="-120"/>
              </a:rPr>
              <a:t>), Peserta(</a:t>
            </a:r>
            <a:r>
              <a:rPr lang="en-US" altLang="en-US" sz="1250" dirty="0">
                <a:solidFill>
                  <a:srgbClr val="0A3069"/>
                </a:solidFill>
                <a:latin typeface="Consolas" pitchFamily="34" charset="0"/>
                <a:ea typeface="Consolas" pitchFamily="34" charset="-122"/>
                <a:cs typeface="Consolas" pitchFamily="34" charset="-120"/>
              </a:rPr>
              <a:t>"Bima"</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75</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urut = </a:t>
            </a:r>
            <a:r>
              <a:rPr lang="en-US" altLang="en-US" sz="1250" dirty="0">
                <a:solidFill>
                  <a:srgbClr val="0550AE"/>
                </a:solidFill>
                <a:latin typeface="Consolas" pitchFamily="34" charset="0"/>
                <a:ea typeface="Consolas" pitchFamily="34" charset="-122"/>
                <a:cs typeface="Consolas" pitchFamily="34" charset="-120"/>
              </a:rPr>
              <a:t>sorted</a:t>
            </a:r>
            <a:r>
              <a:rPr lang="en-US" altLang="en-US" sz="1250" dirty="0">
                <a:solidFill>
                  <a:srgbClr val="1F2328"/>
                </a:solidFill>
                <a:latin typeface="Consolas" pitchFamily="34" charset="0"/>
                <a:ea typeface="Consolas" pitchFamily="34" charset="-122"/>
                <a:cs typeface="Consolas" pitchFamily="34" charset="-120"/>
              </a:rPr>
              <a:t>(daftar, key=</a:t>
            </a:r>
            <a:r>
              <a:rPr lang="en-US" altLang="en-US" sz="1250" dirty="0">
                <a:solidFill>
                  <a:srgbClr val="CF222E"/>
                </a:solidFill>
                <a:latin typeface="Consolas" pitchFamily="34" charset="0"/>
                <a:ea typeface="Consolas" pitchFamily="34" charset="-122"/>
                <a:cs typeface="Consolas" pitchFamily="34" charset="-120"/>
              </a:rPr>
              <a:t>lambda</a:t>
            </a:r>
            <a:r>
              <a:rPr lang="en-US" altLang="en-US" sz="1250" dirty="0">
                <a:solidFill>
                  <a:srgbClr val="1F2328"/>
                </a:solidFill>
                <a:latin typeface="Consolas" pitchFamily="34" charset="0"/>
                <a:ea typeface="Consolas" pitchFamily="34" charset="-122"/>
                <a:cs typeface="Consolas" pitchFamily="34" charset="-120"/>
              </a:rPr>
              <a:t> p: (-p.skor, p.nama))</a:t>
            </a:r>
            <a:endParaRPr lang="en-US" sz="1250" dirty="0"/>
          </a:p>
          <a:p>
            <a:pPr indent="0" marL="0">
              <a:buNone/>
            </a:pPr>
            <a:r>
              <a:rPr lang="en-US" altLang="en-US" sz="1250" dirty="0">
                <a:solidFill>
                  <a:srgbClr val="0550AE"/>
                </a:solidFill>
                <a:latin typeface="Consolas" pitchFamily="34" charset="0"/>
                <a:ea typeface="Consolas" pitchFamily="34" charset="-122"/>
                <a:cs typeface="Consolas" pitchFamily="34" charset="-120"/>
              </a:rPr>
              <a:t>print</a:t>
            </a:r>
            <a:r>
              <a:rPr lang="en-US" altLang="en-US" sz="1250" dirty="0">
                <a:solidFill>
                  <a:srgbClr val="1F2328"/>
                </a:solidFill>
                <a:latin typeface="Consolas" pitchFamily="34" charset="0"/>
                <a:ea typeface="Consolas" pitchFamily="34" charset="-122"/>
                <a:cs typeface="Consolas" pitchFamily="34" charset="-120"/>
              </a:rPr>
              <a:t>(</a:t>
            </a:r>
            <a:r>
              <a:rPr lang="en-US" altLang="en-US" sz="1250" dirty="0">
                <a:solidFill>
                  <a:srgbClr val="0A3069"/>
                </a:solidFill>
                <a:latin typeface="Consolas" pitchFamily="34" charset="0"/>
                <a:ea typeface="Consolas" pitchFamily="34" charset="-122"/>
                <a:cs typeface="Consolas" pitchFamily="34" charset="-120"/>
              </a:rPr>
              <a:t>", "</a:t>
            </a:r>
            <a:r>
              <a:rPr lang="en-US" altLang="en-US" sz="1250" dirty="0">
                <a:solidFill>
                  <a:srgbClr val="1F2328"/>
                </a:solidFill>
                <a:latin typeface="Consolas" pitchFamily="34" charset="0"/>
                <a:ea typeface="Consolas" pitchFamily="34" charset="-122"/>
                <a:cs typeface="Consolas" pitchFamily="34" charset="-120"/>
              </a:rPr>
              <a:t>.join(p.nama </a:t>
            </a:r>
            <a:r>
              <a:rPr lang="en-US" altLang="en-US" sz="1250" dirty="0">
                <a:solidFill>
                  <a:srgbClr val="CF222E"/>
                </a:solidFill>
                <a:latin typeface="Consolas" pitchFamily="34" charset="0"/>
                <a:ea typeface="Consolas" pitchFamily="34" charset="-122"/>
                <a:cs typeface="Consolas" pitchFamily="34" charset="-120"/>
              </a:rPr>
              <a:t>for</a:t>
            </a:r>
            <a:r>
              <a:rPr lang="en-US" altLang="en-US" sz="1250" dirty="0">
                <a:solidFill>
                  <a:srgbClr val="1F2328"/>
                </a:solidFill>
                <a:latin typeface="Consolas" pitchFamily="34" charset="0"/>
                <a:ea typeface="Consolas" pitchFamily="34" charset="-122"/>
                <a:cs typeface="Consolas" pitchFamily="34" charset="-120"/>
              </a:rPr>
              <a:t> p in urut))</a:t>
            </a:r>
            <a:endParaRPr lang="en-US" sz="1250" dirty="0"/>
          </a:p>
        </p:txBody>
      </p:sp>
      <p:sp>
        <p:nvSpPr>
          <p:cNvPr id="11" name="Shape 7"/>
          <p:cNvSpPr/>
          <p:nvPr/>
        </p:nvSpPr>
        <p:spPr>
          <a:xfrm>
            <a:off x="548640" y="4690159"/>
            <a:ext cx="5455768" cy="559613"/>
          </a:xfrm>
          <a:prstGeom prst="roundRect">
            <a:avLst>
              <a:gd name="adj" fmla="val 32039"/>
            </a:avLst>
          </a:prstGeom>
          <a:solidFill>
            <a:srgbClr val="FFFFFF"/>
          </a:solidFill>
          <a:ln w="9525">
            <a:solidFill>
              <a:srgbClr val="D0D7DE"/>
            </a:solidFill>
            <a:prstDash val="solid"/>
          </a:ln>
        </p:spPr>
      </p:sp>
      <p:sp>
        <p:nvSpPr>
          <p:cNvPr id="12" name="Shape 8"/>
          <p:cNvSpPr/>
          <p:nvPr/>
        </p:nvSpPr>
        <p:spPr>
          <a:xfrm>
            <a:off x="749808" y="4775655"/>
            <a:ext cx="388620" cy="388620"/>
          </a:xfrm>
          <a:prstGeom prst="ellipse">
            <a:avLst/>
          </a:prstGeom>
          <a:solidFill>
            <a:srgbClr val="8250DF"/>
          </a:solidFill>
          <a:ln/>
        </p:spPr>
      </p:sp>
      <p:sp>
        <p:nvSpPr>
          <p:cNvPr id="13" name="Text 9"/>
          <p:cNvSpPr txBox="1"/>
          <p:nvPr/>
        </p:nvSpPr>
        <p:spPr>
          <a:xfrm>
            <a:off x="749808" y="4775655"/>
            <a:ext cx="388620" cy="388620"/>
          </a:xfrm>
          <a:prstGeom prst="rect">
            <a:avLst/>
          </a:prstGeom>
          <a:noFill/>
          <a:ln/>
        </p:spPr>
        <p:txBody>
          <a:bodyPr wrap="square" lIns="0" tIns="0" rIns="0" bIns="0" rtlCol="0" anchor="ctr"/>
          <a:lstStyle/>
          <a:p>
            <a:pPr algn="ctr" indent="0" marL="0">
              <a:buNone/>
            </a:pPr>
            <a:r>
              <a:rPr lang="id-ID" altLang="en-US" sz="1500" b="1" dirty="0">
                <a:solidFill>
                  <a:srgbClr val="FFFFFF"/>
                </a:solidFill>
              </a:rPr>
              <a:t>A</a:t>
            </a:r>
            <a:endParaRPr lang="id-ID" sz="1500" dirty="0"/>
          </a:p>
        </p:txBody>
      </p:sp>
      <p:sp>
        <p:nvSpPr>
          <p:cNvPr id="14" name="Text 10"/>
          <p:cNvSpPr txBox="1"/>
          <p:nvPr/>
        </p:nvSpPr>
        <p:spPr>
          <a:xfrm>
            <a:off x="1353312" y="4799887"/>
            <a:ext cx="4541368" cy="340157"/>
          </a:xfrm>
          <a:prstGeom prst="rect">
            <a:avLst/>
          </a:prstGeom>
          <a:noFill/>
          <a:ln/>
        </p:spPr>
        <p:txBody>
          <a:bodyPr wrap="square" lIns="0" tIns="0" rIns="0" bIns="0" rtlCol="0" anchor="ctr"/>
          <a:lstStyle/>
          <a:p>
            <a:pPr indent="0" marL="0">
              <a:buNone/>
            </a:pPr>
            <a:r>
              <a:rPr lang="id-ID" altLang="en-US" sz="1700" dirty="0">
                <a:solidFill>
                  <a:srgbClr val="0A3069"/>
                </a:solidFill>
                <a:latin typeface="Consolas" pitchFamily="34" charset="0"/>
                <a:ea typeface="Consolas" pitchFamily="34" charset="-122"/>
                <a:cs typeface="Consolas" pitchFamily="34" charset="-120"/>
              </a:rPr>
              <a:t>Ayu, Dimas, Citra, Bima</a:t>
            </a:r>
            <a:endParaRPr lang="id-ID" sz="1700" dirty="0"/>
          </a:p>
        </p:txBody>
      </p:sp>
      <p:sp>
        <p:nvSpPr>
          <p:cNvPr id="15" name="Shape 11"/>
          <p:cNvSpPr/>
          <p:nvPr/>
        </p:nvSpPr>
        <p:spPr>
          <a:xfrm>
            <a:off x="6187288" y="4690159"/>
            <a:ext cx="5455768" cy="559613"/>
          </a:xfrm>
          <a:prstGeom prst="roundRect">
            <a:avLst>
              <a:gd name="adj" fmla="val 32039"/>
            </a:avLst>
          </a:prstGeom>
          <a:solidFill>
            <a:srgbClr val="FFFFFF"/>
          </a:solidFill>
          <a:ln w="9525">
            <a:solidFill>
              <a:srgbClr val="D0D7DE"/>
            </a:solidFill>
            <a:prstDash val="solid"/>
          </a:ln>
        </p:spPr>
      </p:sp>
      <p:sp>
        <p:nvSpPr>
          <p:cNvPr id="16" name="Shape 12"/>
          <p:cNvSpPr/>
          <p:nvPr/>
        </p:nvSpPr>
        <p:spPr>
          <a:xfrm>
            <a:off x="6388456" y="4775655"/>
            <a:ext cx="388620" cy="388620"/>
          </a:xfrm>
          <a:prstGeom prst="ellipse">
            <a:avLst/>
          </a:prstGeom>
          <a:solidFill>
            <a:srgbClr val="8250DF"/>
          </a:solidFill>
          <a:ln/>
        </p:spPr>
      </p:sp>
      <p:sp>
        <p:nvSpPr>
          <p:cNvPr id="17" name="Text 13"/>
          <p:cNvSpPr txBox="1"/>
          <p:nvPr/>
        </p:nvSpPr>
        <p:spPr>
          <a:xfrm>
            <a:off x="6388456" y="4775655"/>
            <a:ext cx="388620" cy="388620"/>
          </a:xfrm>
          <a:prstGeom prst="rect">
            <a:avLst/>
          </a:prstGeom>
          <a:noFill/>
          <a:ln/>
        </p:spPr>
        <p:txBody>
          <a:bodyPr wrap="square" lIns="0" tIns="0" rIns="0" bIns="0" rtlCol="0" anchor="ctr"/>
          <a:lstStyle/>
          <a:p>
            <a:pPr algn="ctr" indent="0" marL="0">
              <a:buNone/>
            </a:pPr>
            <a:r>
              <a:rPr lang="id-ID" altLang="en-US" sz="1500" b="1" dirty="0">
                <a:solidFill>
                  <a:srgbClr val="FFFFFF"/>
                </a:solidFill>
              </a:rPr>
              <a:t>B</a:t>
            </a:r>
            <a:endParaRPr lang="id-ID" sz="1500" dirty="0"/>
          </a:p>
        </p:txBody>
      </p:sp>
      <p:sp>
        <p:nvSpPr>
          <p:cNvPr id="18" name="Text 14"/>
          <p:cNvSpPr txBox="1"/>
          <p:nvPr/>
        </p:nvSpPr>
        <p:spPr>
          <a:xfrm>
            <a:off x="6991960" y="4799887"/>
            <a:ext cx="4541368" cy="340157"/>
          </a:xfrm>
          <a:prstGeom prst="rect">
            <a:avLst/>
          </a:prstGeom>
          <a:noFill/>
          <a:ln/>
        </p:spPr>
        <p:txBody>
          <a:bodyPr wrap="square" lIns="0" tIns="0" rIns="0" bIns="0" rtlCol="0" anchor="ctr"/>
          <a:lstStyle/>
          <a:p>
            <a:pPr indent="0" marL="0">
              <a:buNone/>
            </a:pPr>
            <a:r>
              <a:rPr lang="id-ID" altLang="en-US" sz="1700" dirty="0">
                <a:solidFill>
                  <a:srgbClr val="0A3069"/>
                </a:solidFill>
                <a:latin typeface="Consolas" pitchFamily="34" charset="0"/>
                <a:ea typeface="Consolas" pitchFamily="34" charset="-122"/>
                <a:cs typeface="Consolas" pitchFamily="34" charset="-120"/>
              </a:rPr>
              <a:t>Bima, Citra, Dimas, Ayu</a:t>
            </a:r>
            <a:endParaRPr lang="id-ID" sz="1700" dirty="0"/>
          </a:p>
        </p:txBody>
      </p:sp>
      <p:sp>
        <p:nvSpPr>
          <p:cNvPr id="19" name="Shape 15"/>
          <p:cNvSpPr/>
          <p:nvPr/>
        </p:nvSpPr>
        <p:spPr>
          <a:xfrm>
            <a:off x="548640" y="5432652"/>
            <a:ext cx="5455768" cy="559613"/>
          </a:xfrm>
          <a:prstGeom prst="roundRect">
            <a:avLst>
              <a:gd name="adj" fmla="val 32039"/>
            </a:avLst>
          </a:prstGeom>
          <a:solidFill>
            <a:srgbClr val="FFFFFF"/>
          </a:solidFill>
          <a:ln w="9525">
            <a:solidFill>
              <a:srgbClr val="D0D7DE"/>
            </a:solidFill>
            <a:prstDash val="solid"/>
          </a:ln>
        </p:spPr>
      </p:sp>
      <p:sp>
        <p:nvSpPr>
          <p:cNvPr id="20" name="Shape 16"/>
          <p:cNvSpPr/>
          <p:nvPr/>
        </p:nvSpPr>
        <p:spPr>
          <a:xfrm>
            <a:off x="749808" y="5518148"/>
            <a:ext cx="388620" cy="388620"/>
          </a:xfrm>
          <a:prstGeom prst="ellipse">
            <a:avLst/>
          </a:prstGeom>
          <a:solidFill>
            <a:srgbClr val="8250DF"/>
          </a:solidFill>
          <a:ln/>
        </p:spPr>
      </p:sp>
      <p:sp>
        <p:nvSpPr>
          <p:cNvPr id="21" name="Text 17"/>
          <p:cNvSpPr txBox="1"/>
          <p:nvPr/>
        </p:nvSpPr>
        <p:spPr>
          <a:xfrm>
            <a:off x="749808" y="5518148"/>
            <a:ext cx="388620" cy="388620"/>
          </a:xfrm>
          <a:prstGeom prst="rect">
            <a:avLst/>
          </a:prstGeom>
          <a:noFill/>
          <a:ln/>
        </p:spPr>
        <p:txBody>
          <a:bodyPr wrap="square" lIns="0" tIns="0" rIns="0" bIns="0" rtlCol="0" anchor="ctr"/>
          <a:lstStyle/>
          <a:p>
            <a:pPr algn="ctr" indent="0" marL="0">
              <a:buNone/>
            </a:pPr>
            <a:r>
              <a:rPr lang="id-ID" altLang="en-US" sz="1500" b="1" dirty="0">
                <a:solidFill>
                  <a:srgbClr val="FFFFFF"/>
                </a:solidFill>
              </a:rPr>
              <a:t>C</a:t>
            </a:r>
            <a:endParaRPr lang="id-ID" sz="1500" dirty="0"/>
          </a:p>
        </p:txBody>
      </p:sp>
      <p:sp>
        <p:nvSpPr>
          <p:cNvPr id="22" name="Text 18"/>
          <p:cNvSpPr txBox="1"/>
          <p:nvPr/>
        </p:nvSpPr>
        <p:spPr>
          <a:xfrm>
            <a:off x="1353312" y="5542380"/>
            <a:ext cx="4541368" cy="340157"/>
          </a:xfrm>
          <a:prstGeom prst="rect">
            <a:avLst/>
          </a:prstGeom>
          <a:noFill/>
          <a:ln/>
        </p:spPr>
        <p:txBody>
          <a:bodyPr wrap="square" lIns="0" tIns="0" rIns="0" bIns="0" rtlCol="0" anchor="ctr"/>
          <a:lstStyle/>
          <a:p>
            <a:pPr indent="0" marL="0">
              <a:buNone/>
            </a:pPr>
            <a:r>
              <a:rPr lang="id-ID" altLang="en-US" sz="1700" dirty="0">
                <a:solidFill>
                  <a:srgbClr val="0A3069"/>
                </a:solidFill>
                <a:latin typeface="Consolas" pitchFamily="34" charset="0"/>
                <a:ea typeface="Consolas" pitchFamily="34" charset="-122"/>
                <a:cs typeface="Consolas" pitchFamily="34" charset="-120"/>
              </a:rPr>
              <a:t>Ayu, Citra, Dimas, Bima</a:t>
            </a:r>
            <a:endParaRPr lang="id-ID" sz="1700" dirty="0"/>
          </a:p>
        </p:txBody>
      </p:sp>
      <p:sp>
        <p:nvSpPr>
          <p:cNvPr id="23" name="Shape 19"/>
          <p:cNvSpPr/>
          <p:nvPr/>
        </p:nvSpPr>
        <p:spPr>
          <a:xfrm>
            <a:off x="6187288" y="5432652"/>
            <a:ext cx="5455768" cy="559613"/>
          </a:xfrm>
          <a:prstGeom prst="roundRect">
            <a:avLst>
              <a:gd name="adj" fmla="val 32039"/>
            </a:avLst>
          </a:prstGeom>
          <a:solidFill>
            <a:srgbClr val="FFFFFF"/>
          </a:solidFill>
          <a:ln w="9525">
            <a:solidFill>
              <a:srgbClr val="D0D7DE"/>
            </a:solidFill>
            <a:prstDash val="solid"/>
          </a:ln>
        </p:spPr>
      </p:sp>
      <p:sp>
        <p:nvSpPr>
          <p:cNvPr id="24" name="Shape 20"/>
          <p:cNvSpPr/>
          <p:nvPr/>
        </p:nvSpPr>
        <p:spPr>
          <a:xfrm>
            <a:off x="6388456" y="5518148"/>
            <a:ext cx="388620" cy="388620"/>
          </a:xfrm>
          <a:prstGeom prst="ellipse">
            <a:avLst/>
          </a:prstGeom>
          <a:solidFill>
            <a:srgbClr val="8250DF"/>
          </a:solidFill>
          <a:ln/>
        </p:spPr>
      </p:sp>
      <p:sp>
        <p:nvSpPr>
          <p:cNvPr id="25" name="Text 21"/>
          <p:cNvSpPr txBox="1"/>
          <p:nvPr/>
        </p:nvSpPr>
        <p:spPr>
          <a:xfrm>
            <a:off x="6388456" y="5518148"/>
            <a:ext cx="388620" cy="388620"/>
          </a:xfrm>
          <a:prstGeom prst="rect">
            <a:avLst/>
          </a:prstGeom>
          <a:noFill/>
          <a:ln/>
        </p:spPr>
        <p:txBody>
          <a:bodyPr wrap="square" lIns="0" tIns="0" rIns="0" bIns="0" rtlCol="0" anchor="ctr"/>
          <a:lstStyle/>
          <a:p>
            <a:pPr algn="ctr" indent="0" marL="0">
              <a:buNone/>
            </a:pPr>
            <a:r>
              <a:rPr lang="id-ID" altLang="en-US" sz="1500" b="1" dirty="0">
                <a:solidFill>
                  <a:srgbClr val="FFFFFF"/>
                </a:solidFill>
              </a:rPr>
              <a:t>D</a:t>
            </a:r>
            <a:endParaRPr lang="id-ID" sz="1500" dirty="0"/>
          </a:p>
        </p:txBody>
      </p:sp>
      <p:sp>
        <p:nvSpPr>
          <p:cNvPr id="26" name="Text 22"/>
          <p:cNvSpPr txBox="1"/>
          <p:nvPr/>
        </p:nvSpPr>
        <p:spPr>
          <a:xfrm>
            <a:off x="6991960" y="5542380"/>
            <a:ext cx="4541368" cy="340157"/>
          </a:xfrm>
          <a:prstGeom prst="rect">
            <a:avLst/>
          </a:prstGeom>
          <a:noFill/>
          <a:ln/>
        </p:spPr>
        <p:txBody>
          <a:bodyPr wrap="square" lIns="0" tIns="0" rIns="0" bIns="0" rtlCol="0" anchor="ctr"/>
          <a:lstStyle/>
          <a:p>
            <a:pPr indent="0" marL="0">
              <a:buNone/>
            </a:pPr>
            <a:r>
              <a:rPr lang="id-ID" altLang="en-US" sz="1700" dirty="0">
                <a:solidFill>
                  <a:srgbClr val="0A3069"/>
                </a:solidFill>
                <a:latin typeface="Consolas" pitchFamily="34" charset="0"/>
                <a:ea typeface="Consolas" pitchFamily="34" charset="-122"/>
                <a:cs typeface="Consolas" pitchFamily="34" charset="-120"/>
              </a:rPr>
              <a:t>Ayu, Bima, Citra, Dimas</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625986"/>
            <a:ext cx="11094415" cy="832104"/>
          </a:xfrm>
          <a:prstGeom prst="roundRect">
            <a:avLst>
              <a:gd name="adj" fmla="val 14491"/>
            </a:avLst>
          </a:prstGeom>
          <a:solidFill>
            <a:srgbClr val="F6F8FA"/>
          </a:solidFill>
          <a:ln w="9525">
            <a:solidFill>
              <a:srgbClr val="D0D7DE"/>
            </a:solidFill>
            <a:prstDash val="solid"/>
          </a:ln>
        </p:spPr>
      </p:sp>
      <p:sp>
        <p:nvSpPr>
          <p:cNvPr id="6" name="Text 3"/>
          <p:cNvSpPr txBox="1"/>
          <p:nvPr/>
        </p:nvSpPr>
        <p:spPr>
          <a:xfrm>
            <a:off x="822960" y="1763146"/>
            <a:ext cx="10545775" cy="557784"/>
          </a:xfrm>
          <a:prstGeom prst="rect">
            <a:avLst/>
          </a:prstGeom>
          <a:noFill/>
          <a:ln/>
        </p:spPr>
        <p:txBody>
          <a:bodyPr wrap="square" lIns="0" tIns="0" rIns="0" bIns="0" rtlCol="0" anchor="t"/>
          <a:lstStyle/>
          <a:p>
            <a:pPr indent="0" marL="0">
              <a:buNone/>
            </a:pPr>
            <a:r>
              <a:rPr lang="id-ID" altLang="en-US" sz="1800" dirty="0">
                <a:solidFill>
                  <a:srgbClr val="57606A"/>
                </a:solidFill>
              </a:rPr>
              <a:t>Soal A8. Perhatikan kode berikut (versi Java memakai </a:t>
            </a:r>
            <a:r>
              <a:rPr lang="id-ID" altLang="en-US" sz="1800" dirty="0">
                <a:solidFill>
                  <a:srgbClr val="0A3069"/>
                </a:solidFill>
                <a:latin typeface="Consolas" pitchFamily="34" charset="0"/>
                <a:ea typeface="Consolas" pitchFamily="34" charset="-122"/>
                <a:cs typeface="Consolas" pitchFamily="34" charset="-120"/>
              </a:rPr>
              <a:t>Comparator.comparing(...).reversed().thenComparing(...)</a:t>
            </a:r>
            <a:r>
              <a:rPr lang="id-ID" altLang="en-US" sz="1800" dirty="0">
                <a:solidFill>
                  <a:srgbClr val="57606A"/>
                </a:solidFill>
              </a:rPr>
              <a:t>). </a:t>
            </a:r>
            <a:r>
              <a:rPr lang="id-ID" altLang="en-US" sz="1800" i="1" dirty="0">
                <a:solidFill>
                  <a:srgbClr val="57606A"/>
                </a:solidFill>
              </a:rPr>
              <a:t>Output</a:t>
            </a:r>
            <a:r>
              <a:rPr lang="id-ID" altLang="en-US" sz="1800" dirty="0">
                <a:solidFill>
                  <a:srgbClr val="57606A"/>
                </a:solidFill>
              </a:rPr>
              <a:t> program adalah ...</a:t>
            </a:r>
            <a:endParaRPr lang="id-ID" sz="1800" dirty="0"/>
          </a:p>
        </p:txBody>
      </p:sp>
      <p:sp>
        <p:nvSpPr>
          <p:cNvPr id="7" name="Shape 4"/>
          <p:cNvSpPr/>
          <p:nvPr/>
        </p:nvSpPr>
        <p:spPr>
          <a:xfrm>
            <a:off x="548640" y="2640970"/>
            <a:ext cx="5455768" cy="658368"/>
          </a:xfrm>
          <a:prstGeom prst="roundRect">
            <a:avLst>
              <a:gd name="adj" fmla="val 23148"/>
            </a:avLst>
          </a:prstGeom>
          <a:solidFill>
            <a:srgbClr val="FFFFFF"/>
          </a:solidFill>
          <a:ln w="9525">
            <a:solidFill>
              <a:srgbClr val="D0D7DE"/>
            </a:solidFill>
            <a:prstDash val="solid"/>
          </a:ln>
        </p:spPr>
      </p:sp>
      <p:sp>
        <p:nvSpPr>
          <p:cNvPr id="8" name="Shape 5"/>
          <p:cNvSpPr/>
          <p:nvPr/>
        </p:nvSpPr>
        <p:spPr>
          <a:xfrm>
            <a:off x="749808" y="2741554"/>
            <a:ext cx="457200" cy="457200"/>
          </a:xfrm>
          <a:prstGeom prst="ellipse">
            <a:avLst/>
          </a:prstGeom>
          <a:solidFill>
            <a:srgbClr val="8C959F"/>
          </a:solidFill>
          <a:ln/>
        </p:spPr>
      </p:sp>
      <p:sp>
        <p:nvSpPr>
          <p:cNvPr id="9" name="Text 6"/>
          <p:cNvSpPr txBox="1"/>
          <p:nvPr/>
        </p:nvSpPr>
        <p:spPr>
          <a:xfrm>
            <a:off x="749808" y="274155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0" name="Text 7"/>
          <p:cNvSpPr txBox="1"/>
          <p:nvPr/>
        </p:nvSpPr>
        <p:spPr>
          <a:xfrm>
            <a:off x="1353312" y="2750698"/>
            <a:ext cx="4541368" cy="438912"/>
          </a:xfrm>
          <a:prstGeom prst="rect">
            <a:avLst/>
          </a:prstGeom>
          <a:noFill/>
          <a:ln/>
        </p:spPr>
        <p:txBody>
          <a:bodyPr wrap="square" lIns="0" tIns="0" rIns="0" bIns="0" rtlCol="0" anchor="ctr"/>
          <a:lstStyle/>
          <a:p>
            <a:pPr indent="0" marL="0">
              <a:buNone/>
            </a:pPr>
            <a:r>
              <a:rPr lang="id-ID" altLang="en-US" sz="2000" dirty="0">
                <a:solidFill>
                  <a:srgbClr val="0A3069"/>
                </a:solidFill>
                <a:latin typeface="Consolas" pitchFamily="34" charset="0"/>
                <a:ea typeface="Consolas" pitchFamily="34" charset="-122"/>
                <a:cs typeface="Consolas" pitchFamily="34" charset="-120"/>
              </a:rPr>
              <a:t>Ayu, Dimas, Citra, Bima</a:t>
            </a:r>
            <a:endParaRPr lang="id-ID" sz="2000" dirty="0"/>
          </a:p>
        </p:txBody>
      </p:sp>
      <p:sp>
        <p:nvSpPr>
          <p:cNvPr id="11" name="Shape 8"/>
          <p:cNvSpPr/>
          <p:nvPr/>
        </p:nvSpPr>
        <p:spPr>
          <a:xfrm>
            <a:off x="6187288" y="2640970"/>
            <a:ext cx="5455768" cy="658368"/>
          </a:xfrm>
          <a:prstGeom prst="roundRect">
            <a:avLst>
              <a:gd name="adj" fmla="val 23148"/>
            </a:avLst>
          </a:prstGeom>
          <a:solidFill>
            <a:srgbClr val="FFFFFF"/>
          </a:solidFill>
          <a:ln w="9525">
            <a:solidFill>
              <a:srgbClr val="D0D7DE"/>
            </a:solidFill>
            <a:prstDash val="solid"/>
          </a:ln>
        </p:spPr>
      </p:sp>
      <p:sp>
        <p:nvSpPr>
          <p:cNvPr id="12" name="Shape 9"/>
          <p:cNvSpPr/>
          <p:nvPr/>
        </p:nvSpPr>
        <p:spPr>
          <a:xfrm>
            <a:off x="6388456" y="2741554"/>
            <a:ext cx="457200" cy="457200"/>
          </a:xfrm>
          <a:prstGeom prst="ellipse">
            <a:avLst/>
          </a:prstGeom>
          <a:solidFill>
            <a:srgbClr val="8C959F"/>
          </a:solidFill>
          <a:ln/>
        </p:spPr>
      </p:sp>
      <p:sp>
        <p:nvSpPr>
          <p:cNvPr id="13" name="Text 10"/>
          <p:cNvSpPr txBox="1"/>
          <p:nvPr/>
        </p:nvSpPr>
        <p:spPr>
          <a:xfrm>
            <a:off x="6388456" y="274155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4" name="Text 11"/>
          <p:cNvSpPr txBox="1"/>
          <p:nvPr/>
        </p:nvSpPr>
        <p:spPr>
          <a:xfrm>
            <a:off x="6991960" y="2750698"/>
            <a:ext cx="4541368" cy="438912"/>
          </a:xfrm>
          <a:prstGeom prst="rect">
            <a:avLst/>
          </a:prstGeom>
          <a:noFill/>
          <a:ln/>
        </p:spPr>
        <p:txBody>
          <a:bodyPr wrap="square" lIns="0" tIns="0" rIns="0" bIns="0" rtlCol="0" anchor="ctr"/>
          <a:lstStyle/>
          <a:p>
            <a:pPr indent="0" marL="0">
              <a:buNone/>
            </a:pPr>
            <a:r>
              <a:rPr lang="id-ID" altLang="en-US" sz="2000" dirty="0">
                <a:solidFill>
                  <a:srgbClr val="0A3069"/>
                </a:solidFill>
                <a:latin typeface="Consolas" pitchFamily="34" charset="0"/>
                <a:ea typeface="Consolas" pitchFamily="34" charset="-122"/>
                <a:cs typeface="Consolas" pitchFamily="34" charset="-120"/>
              </a:rPr>
              <a:t>Bima, Citra, Dimas, Ayu</a:t>
            </a:r>
            <a:endParaRPr lang="id-ID" sz="2000" dirty="0"/>
          </a:p>
        </p:txBody>
      </p:sp>
      <p:sp>
        <p:nvSpPr>
          <p:cNvPr id="15" name="Shape 12"/>
          <p:cNvSpPr/>
          <p:nvPr/>
        </p:nvSpPr>
        <p:spPr>
          <a:xfrm>
            <a:off x="548640" y="3482218"/>
            <a:ext cx="5455768" cy="658368"/>
          </a:xfrm>
          <a:prstGeom prst="roundRect">
            <a:avLst>
              <a:gd name="adj" fmla="val 23148"/>
            </a:avLst>
          </a:prstGeom>
          <a:solidFill>
            <a:srgbClr val="DAFBE1"/>
          </a:solidFill>
          <a:ln w="22225">
            <a:solidFill>
              <a:srgbClr val="1A7F37"/>
            </a:solidFill>
            <a:prstDash val="solid"/>
          </a:ln>
        </p:spPr>
      </p:sp>
      <p:sp>
        <p:nvSpPr>
          <p:cNvPr id="16" name="Shape 13"/>
          <p:cNvSpPr/>
          <p:nvPr/>
        </p:nvSpPr>
        <p:spPr>
          <a:xfrm>
            <a:off x="749808" y="3582802"/>
            <a:ext cx="457200" cy="457200"/>
          </a:xfrm>
          <a:prstGeom prst="ellipse">
            <a:avLst/>
          </a:prstGeom>
          <a:solidFill>
            <a:srgbClr val="1A7F37"/>
          </a:solidFill>
          <a:ln/>
        </p:spPr>
      </p:sp>
      <p:pic>
        <p:nvPicPr>
          <p:cNvPr id="17" name="Image 1" descr="preencoded.png">    </p:cNvPr>
          <p:cNvPicPr>
            <a:picLocks noChangeAspect="1"/>
          </p:cNvPicPr>
          <p:nvPr/>
        </p:nvPicPr>
        <p:blipFill>
          <a:blip r:embed="rId2"/>
          <a:stretch>
            <a:fillRect/>
          </a:stretch>
        </p:blipFill>
        <p:spPr>
          <a:xfrm>
            <a:off x="850392" y="3683386"/>
            <a:ext cx="256032" cy="256032"/>
          </a:xfrm>
          <a:prstGeom prst="rect">
            <a:avLst/>
          </a:prstGeom>
        </p:spPr>
      </p:pic>
      <p:sp>
        <p:nvSpPr>
          <p:cNvPr id="18" name="Text 14"/>
          <p:cNvSpPr txBox="1"/>
          <p:nvPr/>
        </p:nvSpPr>
        <p:spPr>
          <a:xfrm>
            <a:off x="1353312" y="3591946"/>
            <a:ext cx="4541368" cy="438912"/>
          </a:xfrm>
          <a:prstGeom prst="rect">
            <a:avLst/>
          </a:prstGeom>
          <a:noFill/>
          <a:ln/>
        </p:spPr>
        <p:txBody>
          <a:bodyPr wrap="square" lIns="0" tIns="0" rIns="0" bIns="0" rtlCol="0" anchor="ctr"/>
          <a:lstStyle/>
          <a:p>
            <a:pPr indent="0" marL="0">
              <a:buNone/>
            </a:pPr>
            <a:r>
              <a:rPr lang="id-ID" altLang="en-US" sz="2000" dirty="0">
                <a:solidFill>
                  <a:srgbClr val="0A3069"/>
                </a:solidFill>
                <a:latin typeface="Consolas" pitchFamily="34" charset="0"/>
                <a:ea typeface="Consolas" pitchFamily="34" charset="-122"/>
                <a:cs typeface="Consolas" pitchFamily="34" charset="-120"/>
              </a:rPr>
              <a:t>Ayu, Citra, Dimas, Bima</a:t>
            </a:r>
            <a:endParaRPr lang="id-ID" sz="2000" dirty="0"/>
          </a:p>
        </p:txBody>
      </p:sp>
      <p:sp>
        <p:nvSpPr>
          <p:cNvPr id="19" name="Shape 15"/>
          <p:cNvSpPr/>
          <p:nvPr/>
        </p:nvSpPr>
        <p:spPr>
          <a:xfrm>
            <a:off x="6187288" y="3482218"/>
            <a:ext cx="5455768" cy="658368"/>
          </a:xfrm>
          <a:prstGeom prst="roundRect">
            <a:avLst>
              <a:gd name="adj" fmla="val 23148"/>
            </a:avLst>
          </a:prstGeom>
          <a:solidFill>
            <a:srgbClr val="FFFFFF"/>
          </a:solidFill>
          <a:ln w="9525">
            <a:solidFill>
              <a:srgbClr val="D0D7DE"/>
            </a:solidFill>
            <a:prstDash val="solid"/>
          </a:ln>
        </p:spPr>
      </p:sp>
      <p:sp>
        <p:nvSpPr>
          <p:cNvPr id="20" name="Shape 16"/>
          <p:cNvSpPr/>
          <p:nvPr/>
        </p:nvSpPr>
        <p:spPr>
          <a:xfrm>
            <a:off x="6388456" y="3582802"/>
            <a:ext cx="457200" cy="457200"/>
          </a:xfrm>
          <a:prstGeom prst="ellipse">
            <a:avLst/>
          </a:prstGeom>
          <a:solidFill>
            <a:srgbClr val="8C959F"/>
          </a:solidFill>
          <a:ln/>
        </p:spPr>
      </p:sp>
      <p:sp>
        <p:nvSpPr>
          <p:cNvPr id="21" name="Text 17"/>
          <p:cNvSpPr txBox="1"/>
          <p:nvPr/>
        </p:nvSpPr>
        <p:spPr>
          <a:xfrm>
            <a:off x="6388456" y="358280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2" name="Text 18"/>
          <p:cNvSpPr txBox="1"/>
          <p:nvPr/>
        </p:nvSpPr>
        <p:spPr>
          <a:xfrm>
            <a:off x="6991960" y="3591946"/>
            <a:ext cx="4541368" cy="438912"/>
          </a:xfrm>
          <a:prstGeom prst="rect">
            <a:avLst/>
          </a:prstGeom>
          <a:noFill/>
          <a:ln/>
        </p:spPr>
        <p:txBody>
          <a:bodyPr wrap="square" lIns="0" tIns="0" rIns="0" bIns="0" rtlCol="0" anchor="ctr"/>
          <a:lstStyle/>
          <a:p>
            <a:pPr indent="0" marL="0">
              <a:buNone/>
            </a:pPr>
            <a:r>
              <a:rPr lang="id-ID" altLang="en-US" sz="2000" dirty="0">
                <a:solidFill>
                  <a:srgbClr val="0A3069"/>
                </a:solidFill>
                <a:latin typeface="Consolas" pitchFamily="34" charset="0"/>
                <a:ea typeface="Consolas" pitchFamily="34" charset="-122"/>
                <a:cs typeface="Consolas" pitchFamily="34" charset="-120"/>
              </a:rPr>
              <a:t>Ayu, Bima, Citra, Dimas</a:t>
            </a:r>
            <a:endParaRPr lang="id-ID" sz="2000" dirty="0"/>
          </a:p>
        </p:txBody>
      </p:sp>
      <p:sp>
        <p:nvSpPr>
          <p:cNvPr id="23" name="Shape 19"/>
          <p:cNvSpPr/>
          <p:nvPr/>
        </p:nvSpPr>
        <p:spPr>
          <a:xfrm>
            <a:off x="548640" y="4341754"/>
            <a:ext cx="11094415" cy="1569720"/>
          </a:xfrm>
          <a:prstGeom prst="roundRect">
            <a:avLst>
              <a:gd name="adj" fmla="val 4072"/>
            </a:avLst>
          </a:prstGeom>
          <a:solidFill>
            <a:srgbClr val="FFF8C5"/>
          </a:solidFill>
          <a:ln w="9525">
            <a:solidFill>
              <a:srgbClr val="D4A72C"/>
            </a:solidFill>
            <a:prstDash val="solid"/>
          </a:ln>
        </p:spPr>
      </p:sp>
      <p:sp>
        <p:nvSpPr>
          <p:cNvPr id="24" name="Shape 20"/>
          <p:cNvSpPr/>
          <p:nvPr/>
        </p:nvSpPr>
        <p:spPr>
          <a:xfrm>
            <a:off x="777240" y="4524634"/>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625218"/>
            <a:ext cx="256032" cy="256032"/>
          </a:xfrm>
          <a:prstGeom prst="rect">
            <a:avLst/>
          </a:prstGeom>
        </p:spPr>
      </p:pic>
      <p:sp>
        <p:nvSpPr>
          <p:cNvPr id="26" name="Text 21"/>
          <p:cNvSpPr txBox="1"/>
          <p:nvPr/>
        </p:nvSpPr>
        <p:spPr>
          <a:xfrm>
            <a:off x="1417320" y="4478914"/>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C</a:t>
            </a:r>
            <a:endParaRPr lang="id-ID" sz="1600" dirty="0"/>
          </a:p>
        </p:txBody>
      </p:sp>
      <p:sp>
        <p:nvSpPr>
          <p:cNvPr id="27" name="Text 22"/>
          <p:cNvSpPr txBox="1"/>
          <p:nvPr/>
        </p:nvSpPr>
        <p:spPr>
          <a:xfrm>
            <a:off x="1417320" y="4817242"/>
            <a:ext cx="9951415" cy="1021080"/>
          </a:xfrm>
          <a:prstGeom prst="rect">
            <a:avLst/>
          </a:prstGeom>
          <a:noFill/>
          <a:ln/>
        </p:spPr>
        <p:txBody>
          <a:bodyPr wrap="square" lIns="0" tIns="0" rIns="0" bIns="0" rtlCol="0" anchor="t"/>
          <a:lstStyle/>
          <a:p>
            <a:pPr indent="0" marL="0">
              <a:buNone/>
            </a:pPr>
            <a:r>
              <a:rPr lang="id-ID" altLang="en-US" sz="2000" dirty="0">
                <a:solidFill>
                  <a:srgbClr val="1F2328"/>
                </a:solidFill>
              </a:rPr>
              <a:t>Kunci </a:t>
            </a:r>
            <a:r>
              <a:rPr lang="id-ID" altLang="en-US" sz="2000" dirty="0">
                <a:solidFill>
                  <a:srgbClr val="0A3069"/>
                </a:solidFill>
                <a:latin typeface="Consolas" pitchFamily="34" charset="0"/>
                <a:ea typeface="Consolas" pitchFamily="34" charset="-122"/>
                <a:cs typeface="Consolas" pitchFamily="34" charset="-120"/>
              </a:rPr>
              <a:t>(-p.skor, p.nama)</a:t>
            </a:r>
            <a:r>
              <a:rPr lang="id-ID" altLang="en-US" sz="2000" dirty="0">
                <a:solidFill>
                  <a:srgbClr val="1F2328"/>
                </a:solidFill>
              </a:rPr>
              <a:t> berarti skor dari besar ke kecil; jika skor sama, nama A⁠—⁠Z. Ayu (92) di depan, lalu Citra dan Dimas (80) menurut nama, dan Bima (75) di belakang. A melupakan kriteria kedua, B adalah urutan skor naik, dan D urutan nama saja.</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444203"/>
            <a:ext cx="11094415" cy="1944624"/>
          </a:xfrm>
          <a:prstGeom prst="roundRect">
            <a:avLst>
              <a:gd name="adj" fmla="val 2653"/>
            </a:avLst>
          </a:prstGeom>
          <a:solidFill>
            <a:srgbClr val="FBEFFF"/>
          </a:solidFill>
          <a:ln w="9525">
            <a:solidFill>
              <a:srgbClr val="C297FF"/>
            </a:solidFill>
            <a:prstDash val="solid"/>
          </a:ln>
        </p:spPr>
      </p:sp>
      <p:sp>
        <p:nvSpPr>
          <p:cNvPr id="6" name="Shape 3"/>
          <p:cNvSpPr/>
          <p:nvPr/>
        </p:nvSpPr>
        <p:spPr>
          <a:xfrm>
            <a:off x="777240" y="2187915"/>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288499"/>
            <a:ext cx="256032" cy="256032"/>
          </a:xfrm>
          <a:prstGeom prst="rect">
            <a:avLst/>
          </a:prstGeom>
        </p:spPr>
      </p:pic>
      <p:sp>
        <p:nvSpPr>
          <p:cNvPr id="8" name="Text 4"/>
          <p:cNvSpPr txBox="1"/>
          <p:nvPr/>
        </p:nvSpPr>
        <p:spPr>
          <a:xfrm>
            <a:off x="1417320" y="1672803"/>
            <a:ext cx="9951415" cy="1670304"/>
          </a:xfrm>
          <a:prstGeom prst="rect">
            <a:avLst/>
          </a:prstGeom>
          <a:noFill/>
          <a:ln/>
        </p:spPr>
        <p:txBody>
          <a:bodyPr wrap="square" lIns="0" tIns="0" rIns="0" bIns="0" rtlCol="0" anchor="t"/>
          <a:lstStyle/>
          <a:p>
            <a:pPr indent="0" marL="0">
              <a:buNone/>
            </a:pPr>
            <a:r>
              <a:rPr lang="id-ID" altLang="en-US" sz="2400" dirty="0">
                <a:solidFill>
                  <a:srgbClr val="1F2328"/>
                </a:solidFill>
              </a:rPr>
              <a:t>Soal A6. </a:t>
            </a:r>
            <a:r>
              <a:rPr lang="id-ID" altLang="en-US" sz="2400" dirty="0">
                <a:solidFill>
                  <a:srgbClr val="0A3069"/>
                </a:solidFill>
                <a:latin typeface="Consolas" pitchFamily="34" charset="0"/>
                <a:ea typeface="Consolas" pitchFamily="34" charset="-122"/>
                <a:cs typeface="Consolas" pitchFamily="34" charset="-120"/>
              </a:rPr>
              <a:t>StokTidakCukupError</a:t>
            </a:r>
            <a:r>
              <a:rPr lang="id-ID" altLang="en-US" sz="2400" dirty="0">
                <a:solidFill>
                  <a:srgbClr val="1F2328"/>
                </a:solidFill>
              </a:rPr>
              <a:t> (Java: </a:t>
            </a:r>
            <a:r>
              <a:rPr lang="id-ID" altLang="en-US" sz="2400" dirty="0">
                <a:solidFill>
                  <a:srgbClr val="0A3069"/>
                </a:solidFill>
                <a:latin typeface="Consolas" pitchFamily="34" charset="0"/>
                <a:ea typeface="Consolas" pitchFamily="34" charset="-122"/>
                <a:cs typeface="Consolas" pitchFamily="34" charset="-120"/>
              </a:rPr>
              <a:t>StokTidakCukupException</a:t>
            </a:r>
            <a:r>
              <a:rPr lang="id-ID" altLang="en-US" sz="2400" dirty="0">
                <a:solidFill>
                  <a:srgbClr val="1F2328"/>
                </a:solidFill>
              </a:rPr>
              <a:t>) adalah kelas anak dari </a:t>
            </a:r>
            <a:r>
              <a:rPr lang="id-ID" altLang="en-US" sz="2400" dirty="0">
                <a:solidFill>
                  <a:srgbClr val="0A3069"/>
                </a:solidFill>
                <a:latin typeface="Consolas" pitchFamily="34" charset="0"/>
                <a:ea typeface="Consolas" pitchFamily="34" charset="-122"/>
                <a:cs typeface="Consolas" pitchFamily="34" charset="-120"/>
              </a:rPr>
              <a:t>KedaiError</a:t>
            </a:r>
            <a:r>
              <a:rPr lang="id-ID" altLang="en-US" sz="2400" dirty="0">
                <a:solidFill>
                  <a:srgbClr val="1F2328"/>
                </a:solidFill>
              </a:rPr>
              <a:t> (Java: </a:t>
            </a:r>
            <a:r>
              <a:rPr lang="id-ID" altLang="en-US" sz="2400" dirty="0">
                <a:solidFill>
                  <a:srgbClr val="0A3069"/>
                </a:solidFill>
                <a:latin typeface="Consolas" pitchFamily="34" charset="0"/>
                <a:ea typeface="Consolas" pitchFamily="34" charset="-122"/>
                <a:cs typeface="Consolas" pitchFamily="34" charset="-120"/>
              </a:rPr>
              <a:t>KedaiException</a:t>
            </a:r>
            <a:r>
              <a:rPr lang="id-ID" altLang="en-US" sz="2400" dirty="0">
                <a:solidFill>
                  <a:srgbClr val="1F2328"/>
                </a:solidFill>
              </a:rPr>
              <a:t>). Mengapa blok </a:t>
            </a:r>
            <a:r>
              <a:rPr lang="id-ID" altLang="en-US" sz="2400" dirty="0">
                <a:solidFill>
                  <a:srgbClr val="0A3069"/>
                </a:solidFill>
                <a:latin typeface="Consolas" pitchFamily="34" charset="0"/>
                <a:ea typeface="Consolas" pitchFamily="34" charset="-122"/>
                <a:cs typeface="Consolas" pitchFamily="34" charset="-120"/>
              </a:rPr>
              <a:t>except</a:t>
            </a:r>
            <a:r>
              <a:rPr lang="id-ID" altLang="en-US" sz="2400" dirty="0">
                <a:solidFill>
                  <a:srgbClr val="1F2328"/>
                </a:solidFill>
              </a:rPr>
              <a:t>/</a:t>
            </a:r>
            <a:r>
              <a:rPr lang="id-ID" altLang="en-US" sz="2400" dirty="0">
                <a:solidFill>
                  <a:srgbClr val="0A3069"/>
                </a:solidFill>
                <a:latin typeface="Consolas" pitchFamily="34" charset="0"/>
                <a:ea typeface="Consolas" pitchFamily="34" charset="-122"/>
                <a:cs typeface="Consolas" pitchFamily="34" charset="-120"/>
              </a:rPr>
              <a:t>catch</a:t>
            </a:r>
            <a:r>
              <a:rPr lang="id-ID" altLang="en-US" sz="2400" dirty="0">
                <a:solidFill>
                  <a:srgbClr val="1F2328"/>
                </a:solidFill>
              </a:rPr>
              <a:t> untuk kelas anak itu harus ditulis </a:t>
            </a:r>
            <a:r>
              <a:rPr lang="id-ID" altLang="en-US" sz="2400" b="1" dirty="0">
                <a:solidFill>
                  <a:srgbClr val="1F2328"/>
                </a:solidFill>
              </a:rPr>
              <a:t>sebelum</a:t>
            </a:r>
            <a:r>
              <a:rPr lang="id-ID" altLang="en-US" sz="2400" dirty="0">
                <a:solidFill>
                  <a:srgbClr val="1F2328"/>
                </a:solidFill>
              </a:rPr>
              <a:t> blok untuk induknya?</a:t>
            </a:r>
            <a:endParaRPr lang="id-ID" sz="2400" dirty="0"/>
          </a:p>
        </p:txBody>
      </p:sp>
      <p:sp>
        <p:nvSpPr>
          <p:cNvPr id="9" name="Shape 5"/>
          <p:cNvSpPr/>
          <p:nvPr/>
        </p:nvSpPr>
        <p:spPr>
          <a:xfrm>
            <a:off x="548640" y="3571707"/>
            <a:ext cx="5455768" cy="1203960"/>
          </a:xfrm>
          <a:prstGeom prst="roundRect">
            <a:avLst>
              <a:gd name="adj" fmla="val 6922"/>
            </a:avLst>
          </a:prstGeom>
          <a:solidFill>
            <a:srgbClr val="FFFFFF"/>
          </a:solidFill>
          <a:ln w="9525">
            <a:solidFill>
              <a:srgbClr val="D0D7DE"/>
            </a:solidFill>
            <a:prstDash val="solid"/>
          </a:ln>
        </p:spPr>
      </p:sp>
      <p:sp>
        <p:nvSpPr>
          <p:cNvPr id="10" name="Shape 6"/>
          <p:cNvSpPr/>
          <p:nvPr/>
        </p:nvSpPr>
        <p:spPr>
          <a:xfrm>
            <a:off x="749808" y="3945087"/>
            <a:ext cx="457200" cy="457200"/>
          </a:xfrm>
          <a:prstGeom prst="ellipse">
            <a:avLst/>
          </a:prstGeom>
          <a:solidFill>
            <a:srgbClr val="8250DF"/>
          </a:solidFill>
          <a:ln/>
        </p:spPr>
      </p:sp>
      <p:sp>
        <p:nvSpPr>
          <p:cNvPr id="11" name="Text 7"/>
          <p:cNvSpPr txBox="1"/>
          <p:nvPr/>
        </p:nvSpPr>
        <p:spPr>
          <a:xfrm>
            <a:off x="749808" y="3945087"/>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3681435"/>
            <a:ext cx="4541368" cy="984504"/>
          </a:xfrm>
          <a:prstGeom prst="rect">
            <a:avLst/>
          </a:prstGeom>
          <a:noFill/>
          <a:ln/>
        </p:spPr>
        <p:txBody>
          <a:bodyPr wrap="square" lIns="0" tIns="0" rIns="0" bIns="0" rtlCol="0" anchor="ctr"/>
          <a:lstStyle/>
          <a:p>
            <a:pPr indent="0" marL="0">
              <a:buNone/>
            </a:pPr>
            <a:r>
              <a:rPr lang="id-ID" altLang="en-US" sz="2000" dirty="0">
                <a:solidFill>
                  <a:srgbClr val="1F2328"/>
                </a:solidFill>
              </a:rPr>
              <a:t>Hanya blok </a:t>
            </a:r>
            <a:r>
              <a:rPr lang="id-ID" altLang="en-US" sz="2000" b="1" dirty="0">
                <a:solidFill>
                  <a:srgbClr val="1F2328"/>
                </a:solidFill>
              </a:rPr>
              <a:t>pertama</a:t>
            </a:r>
            <a:r>
              <a:rPr lang="id-ID" altLang="en-US" sz="2000" dirty="0">
                <a:solidFill>
                  <a:srgbClr val="1F2328"/>
                </a:solidFill>
              </a:rPr>
              <a:t> yang cocok yang dijalankan; jika induk lebih dulu, blok anak tak tercapai</a:t>
            </a:r>
            <a:endParaRPr lang="id-ID" sz="2000" dirty="0"/>
          </a:p>
        </p:txBody>
      </p:sp>
      <p:sp>
        <p:nvSpPr>
          <p:cNvPr id="13" name="Shape 9"/>
          <p:cNvSpPr/>
          <p:nvPr/>
        </p:nvSpPr>
        <p:spPr>
          <a:xfrm>
            <a:off x="6187288" y="3571707"/>
            <a:ext cx="5455768" cy="1203960"/>
          </a:xfrm>
          <a:prstGeom prst="roundRect">
            <a:avLst>
              <a:gd name="adj" fmla="val 6922"/>
            </a:avLst>
          </a:prstGeom>
          <a:solidFill>
            <a:srgbClr val="FFFFFF"/>
          </a:solidFill>
          <a:ln w="9525">
            <a:solidFill>
              <a:srgbClr val="D0D7DE"/>
            </a:solidFill>
            <a:prstDash val="solid"/>
          </a:ln>
        </p:spPr>
      </p:sp>
      <p:sp>
        <p:nvSpPr>
          <p:cNvPr id="14" name="Shape 10"/>
          <p:cNvSpPr/>
          <p:nvPr/>
        </p:nvSpPr>
        <p:spPr>
          <a:xfrm>
            <a:off x="6388456" y="3945087"/>
            <a:ext cx="457200" cy="457200"/>
          </a:xfrm>
          <a:prstGeom prst="ellipse">
            <a:avLst/>
          </a:prstGeom>
          <a:solidFill>
            <a:srgbClr val="8250DF"/>
          </a:solidFill>
          <a:ln/>
        </p:spPr>
      </p:sp>
      <p:sp>
        <p:nvSpPr>
          <p:cNvPr id="15" name="Text 11"/>
          <p:cNvSpPr txBox="1"/>
          <p:nvPr/>
        </p:nvSpPr>
        <p:spPr>
          <a:xfrm>
            <a:off x="6388456" y="3945087"/>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3681435"/>
            <a:ext cx="4541368" cy="984504"/>
          </a:xfrm>
          <a:prstGeom prst="rect">
            <a:avLst/>
          </a:prstGeom>
          <a:noFill/>
          <a:ln/>
        </p:spPr>
        <p:txBody>
          <a:bodyPr wrap="square" lIns="0" tIns="0" rIns="0" bIns="0" rtlCol="0" anchor="ctr"/>
          <a:lstStyle/>
          <a:p>
            <a:pPr indent="0" marL="0">
              <a:buNone/>
            </a:pPr>
            <a:r>
              <a:rPr lang="id-ID" altLang="en-US" sz="2000" dirty="0">
                <a:solidFill>
                  <a:srgbClr val="1F2328"/>
                </a:solidFill>
              </a:rPr>
              <a:t>Agar program berjalan lebih cepat karena </a:t>
            </a:r>
            <a:r>
              <a:rPr lang="id-ID" altLang="en-US" sz="2000" i="1" dirty="0">
                <a:solidFill>
                  <a:srgbClr val="1F2328"/>
                </a:solidFill>
              </a:rPr>
              <a:t>exception</a:t>
            </a:r>
            <a:r>
              <a:rPr lang="id-ID" altLang="en-US" sz="2000" dirty="0">
                <a:solidFill>
                  <a:srgbClr val="1F2328"/>
                </a:solidFill>
              </a:rPr>
              <a:t> kelas anak lebih ringan</a:t>
            </a:r>
            <a:endParaRPr lang="id-ID" sz="2000" dirty="0"/>
          </a:p>
        </p:txBody>
      </p:sp>
      <p:sp>
        <p:nvSpPr>
          <p:cNvPr id="17" name="Shape 13"/>
          <p:cNvSpPr/>
          <p:nvPr/>
        </p:nvSpPr>
        <p:spPr>
          <a:xfrm>
            <a:off x="548640" y="4958547"/>
            <a:ext cx="5455768" cy="1203960"/>
          </a:xfrm>
          <a:prstGeom prst="roundRect">
            <a:avLst>
              <a:gd name="adj" fmla="val 6922"/>
            </a:avLst>
          </a:prstGeom>
          <a:solidFill>
            <a:srgbClr val="FFFFFF"/>
          </a:solidFill>
          <a:ln w="9525">
            <a:solidFill>
              <a:srgbClr val="D0D7DE"/>
            </a:solidFill>
            <a:prstDash val="solid"/>
          </a:ln>
        </p:spPr>
      </p:sp>
      <p:sp>
        <p:nvSpPr>
          <p:cNvPr id="18" name="Shape 14"/>
          <p:cNvSpPr/>
          <p:nvPr/>
        </p:nvSpPr>
        <p:spPr>
          <a:xfrm>
            <a:off x="749808" y="5331927"/>
            <a:ext cx="457200" cy="457200"/>
          </a:xfrm>
          <a:prstGeom prst="ellipse">
            <a:avLst/>
          </a:prstGeom>
          <a:solidFill>
            <a:srgbClr val="8250DF"/>
          </a:solidFill>
          <a:ln/>
        </p:spPr>
      </p:sp>
      <p:sp>
        <p:nvSpPr>
          <p:cNvPr id="19" name="Text 15"/>
          <p:cNvSpPr txBox="1"/>
          <p:nvPr/>
        </p:nvSpPr>
        <p:spPr>
          <a:xfrm>
            <a:off x="749808" y="5331927"/>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5068275"/>
            <a:ext cx="4541368" cy="984504"/>
          </a:xfrm>
          <a:prstGeom prst="rect">
            <a:avLst/>
          </a:prstGeom>
          <a:noFill/>
          <a:ln/>
        </p:spPr>
        <p:txBody>
          <a:bodyPr wrap="square" lIns="0" tIns="0" rIns="0" bIns="0" rtlCol="0" anchor="ctr"/>
          <a:lstStyle/>
          <a:p>
            <a:pPr indent="0" marL="0">
              <a:buNone/>
            </a:pPr>
            <a:r>
              <a:rPr lang="id-ID" altLang="en-US" sz="2000" dirty="0">
                <a:solidFill>
                  <a:srgbClr val="1F2328"/>
                </a:solidFill>
              </a:rPr>
              <a:t>Karena </a:t>
            </a:r>
            <a:r>
              <a:rPr lang="id-ID" altLang="en-US" sz="2000" i="1" dirty="0">
                <a:solidFill>
                  <a:srgbClr val="1F2328"/>
                </a:solidFill>
              </a:rPr>
              <a:t>exception</a:t>
            </a:r>
            <a:r>
              <a:rPr lang="id-ID" altLang="en-US" sz="2000" dirty="0">
                <a:solidFill>
                  <a:srgbClr val="1F2328"/>
                </a:solidFill>
              </a:rPr>
              <a:t> kelas anak tidak bisa ditangkap oleh blok milik induknya</a:t>
            </a:r>
            <a:endParaRPr lang="id-ID" sz="2000" dirty="0"/>
          </a:p>
        </p:txBody>
      </p:sp>
      <p:sp>
        <p:nvSpPr>
          <p:cNvPr id="21" name="Shape 17"/>
          <p:cNvSpPr/>
          <p:nvPr/>
        </p:nvSpPr>
        <p:spPr>
          <a:xfrm>
            <a:off x="6187288" y="4958547"/>
            <a:ext cx="5455768" cy="1203960"/>
          </a:xfrm>
          <a:prstGeom prst="roundRect">
            <a:avLst>
              <a:gd name="adj" fmla="val 6922"/>
            </a:avLst>
          </a:prstGeom>
          <a:solidFill>
            <a:srgbClr val="FFFFFF"/>
          </a:solidFill>
          <a:ln w="9525">
            <a:solidFill>
              <a:srgbClr val="D0D7DE"/>
            </a:solidFill>
            <a:prstDash val="solid"/>
          </a:ln>
        </p:spPr>
      </p:sp>
      <p:sp>
        <p:nvSpPr>
          <p:cNvPr id="22" name="Shape 18"/>
          <p:cNvSpPr/>
          <p:nvPr/>
        </p:nvSpPr>
        <p:spPr>
          <a:xfrm>
            <a:off x="6388456" y="5331927"/>
            <a:ext cx="457200" cy="457200"/>
          </a:xfrm>
          <a:prstGeom prst="ellipse">
            <a:avLst/>
          </a:prstGeom>
          <a:solidFill>
            <a:srgbClr val="8250DF"/>
          </a:solidFill>
          <a:ln/>
        </p:spPr>
      </p:sp>
      <p:sp>
        <p:nvSpPr>
          <p:cNvPr id="23" name="Text 19"/>
          <p:cNvSpPr txBox="1"/>
          <p:nvPr/>
        </p:nvSpPr>
        <p:spPr>
          <a:xfrm>
            <a:off x="6388456" y="5331927"/>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5068275"/>
            <a:ext cx="4541368" cy="984504"/>
          </a:xfrm>
          <a:prstGeom prst="rect">
            <a:avLst/>
          </a:prstGeom>
          <a:noFill/>
          <a:ln/>
        </p:spPr>
        <p:txBody>
          <a:bodyPr wrap="square" lIns="0" tIns="0" rIns="0" bIns="0" rtlCol="0" anchor="ctr"/>
          <a:lstStyle/>
          <a:p>
            <a:pPr indent="0" marL="0">
              <a:buNone/>
            </a:pPr>
            <a:r>
              <a:rPr lang="id-ID" altLang="en-US" sz="2000" dirty="0">
                <a:solidFill>
                  <a:srgbClr val="1F2328"/>
                </a:solidFill>
              </a:rPr>
              <a:t>Karena Python dan Java mewajibkan blok </a:t>
            </a:r>
            <a:r>
              <a:rPr lang="id-ID" altLang="en-US" sz="2000" dirty="0">
                <a:solidFill>
                  <a:srgbClr val="0A3069"/>
                </a:solidFill>
                <a:latin typeface="Consolas" pitchFamily="34" charset="0"/>
                <a:ea typeface="Consolas" pitchFamily="34" charset="-122"/>
                <a:cs typeface="Consolas" pitchFamily="34" charset="-120"/>
              </a:rPr>
              <a:t>except</a:t>
            </a:r>
            <a:r>
              <a:rPr lang="id-ID" altLang="en-US" sz="2000" dirty="0">
                <a:solidFill>
                  <a:srgbClr val="1F2328"/>
                </a:solidFill>
              </a:rPr>
              <a:t>/</a:t>
            </a:r>
            <a:r>
              <a:rPr lang="id-ID" altLang="en-US" sz="2000" dirty="0">
                <a:solidFill>
                  <a:srgbClr val="0A3069"/>
                </a:solidFill>
                <a:latin typeface="Consolas" pitchFamily="34" charset="0"/>
                <a:ea typeface="Consolas" pitchFamily="34" charset="-122"/>
                <a:cs typeface="Consolas" pitchFamily="34" charset="-120"/>
              </a:rPr>
              <a:t>catch</a:t>
            </a:r>
            <a:r>
              <a:rPr lang="id-ID" altLang="en-US" sz="2000" dirty="0">
                <a:solidFill>
                  <a:srgbClr val="1F2328"/>
                </a:solidFill>
              </a:rPr>
              <a:t> diurutkan menurut abjad nama kelasnya</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441003"/>
            <a:ext cx="11094415" cy="739140"/>
          </a:xfrm>
          <a:prstGeom prst="roundRect">
            <a:avLst>
              <a:gd name="adj" fmla="val 18365"/>
            </a:avLst>
          </a:prstGeom>
          <a:solidFill>
            <a:srgbClr val="F6F8FA"/>
          </a:solidFill>
          <a:ln w="9525">
            <a:solidFill>
              <a:srgbClr val="D0D7DE"/>
            </a:solidFill>
            <a:prstDash val="solid"/>
          </a:ln>
        </p:spPr>
      </p:sp>
      <p:sp>
        <p:nvSpPr>
          <p:cNvPr id="6" name="Text 3"/>
          <p:cNvSpPr txBox="1"/>
          <p:nvPr/>
        </p:nvSpPr>
        <p:spPr>
          <a:xfrm>
            <a:off x="822960" y="1578163"/>
            <a:ext cx="10545775" cy="464820"/>
          </a:xfrm>
          <a:prstGeom prst="rect">
            <a:avLst/>
          </a:prstGeom>
          <a:noFill/>
          <a:ln/>
        </p:spPr>
        <p:txBody>
          <a:bodyPr wrap="square" lIns="0" tIns="0" rIns="0" bIns="0" rtlCol="0" anchor="t"/>
          <a:lstStyle/>
          <a:p>
            <a:pPr indent="0" marL="0">
              <a:buNone/>
            </a:pPr>
            <a:r>
              <a:rPr lang="id-ID" altLang="en-US" sz="1500" dirty="0">
                <a:solidFill>
                  <a:srgbClr val="57606A"/>
                </a:solidFill>
              </a:rPr>
              <a:t>Soal A6. </a:t>
            </a:r>
            <a:r>
              <a:rPr lang="id-ID" altLang="en-US" sz="1500" dirty="0">
                <a:solidFill>
                  <a:srgbClr val="0A3069"/>
                </a:solidFill>
                <a:latin typeface="Consolas" pitchFamily="34" charset="0"/>
                <a:ea typeface="Consolas" pitchFamily="34" charset="-122"/>
                <a:cs typeface="Consolas" pitchFamily="34" charset="-120"/>
              </a:rPr>
              <a:t>StokTidakCukupError</a:t>
            </a:r>
            <a:r>
              <a:rPr lang="id-ID" altLang="en-US" sz="1500" dirty="0">
                <a:solidFill>
                  <a:srgbClr val="57606A"/>
                </a:solidFill>
              </a:rPr>
              <a:t> (Java: </a:t>
            </a:r>
            <a:r>
              <a:rPr lang="id-ID" altLang="en-US" sz="1500" dirty="0">
                <a:solidFill>
                  <a:srgbClr val="0A3069"/>
                </a:solidFill>
                <a:latin typeface="Consolas" pitchFamily="34" charset="0"/>
                <a:ea typeface="Consolas" pitchFamily="34" charset="-122"/>
                <a:cs typeface="Consolas" pitchFamily="34" charset="-120"/>
              </a:rPr>
              <a:t>StokTidakCukupException</a:t>
            </a:r>
            <a:r>
              <a:rPr lang="id-ID" altLang="en-US" sz="1500" dirty="0">
                <a:solidFill>
                  <a:srgbClr val="57606A"/>
                </a:solidFill>
              </a:rPr>
              <a:t>) adalah kelas anak dari </a:t>
            </a:r>
            <a:r>
              <a:rPr lang="id-ID" altLang="en-US" sz="1500" dirty="0">
                <a:solidFill>
                  <a:srgbClr val="0A3069"/>
                </a:solidFill>
                <a:latin typeface="Consolas" pitchFamily="34" charset="0"/>
                <a:ea typeface="Consolas" pitchFamily="34" charset="-122"/>
                <a:cs typeface="Consolas" pitchFamily="34" charset="-120"/>
              </a:rPr>
              <a:t>KedaiError</a:t>
            </a:r>
            <a:r>
              <a:rPr lang="id-ID" altLang="en-US" sz="1500" dirty="0">
                <a:solidFill>
                  <a:srgbClr val="57606A"/>
                </a:solidFill>
              </a:rPr>
              <a:t> (Java: </a:t>
            </a:r>
            <a:r>
              <a:rPr lang="id-ID" altLang="en-US" sz="1500" dirty="0">
                <a:solidFill>
                  <a:srgbClr val="0A3069"/>
                </a:solidFill>
                <a:latin typeface="Consolas" pitchFamily="34" charset="0"/>
                <a:ea typeface="Consolas" pitchFamily="34" charset="-122"/>
                <a:cs typeface="Consolas" pitchFamily="34" charset="-120"/>
              </a:rPr>
              <a:t>KedaiException</a:t>
            </a:r>
            <a:r>
              <a:rPr lang="id-ID" altLang="en-US" sz="1500" dirty="0">
                <a:solidFill>
                  <a:srgbClr val="57606A"/>
                </a:solidFill>
              </a:rPr>
              <a:t>). Mengapa blok </a:t>
            </a:r>
            <a:r>
              <a:rPr lang="id-ID" altLang="en-US" sz="1500" dirty="0">
                <a:solidFill>
                  <a:srgbClr val="0A3069"/>
                </a:solidFill>
                <a:latin typeface="Consolas" pitchFamily="34" charset="0"/>
                <a:ea typeface="Consolas" pitchFamily="34" charset="-122"/>
                <a:cs typeface="Consolas" pitchFamily="34" charset="-120"/>
              </a:rPr>
              <a:t>except</a:t>
            </a:r>
            <a:r>
              <a:rPr lang="id-ID" altLang="en-US" sz="1500" dirty="0">
                <a:solidFill>
                  <a:srgbClr val="57606A"/>
                </a:solidFill>
              </a:rPr>
              <a:t>/</a:t>
            </a:r>
            <a:r>
              <a:rPr lang="id-ID" altLang="en-US" sz="1500" dirty="0">
                <a:solidFill>
                  <a:srgbClr val="0A3069"/>
                </a:solidFill>
                <a:latin typeface="Consolas" pitchFamily="34" charset="0"/>
                <a:ea typeface="Consolas" pitchFamily="34" charset="-122"/>
                <a:cs typeface="Consolas" pitchFamily="34" charset="-120"/>
              </a:rPr>
              <a:t>catch</a:t>
            </a:r>
            <a:r>
              <a:rPr lang="id-ID" altLang="en-US" sz="1500" dirty="0">
                <a:solidFill>
                  <a:srgbClr val="57606A"/>
                </a:solidFill>
              </a:rPr>
              <a:t> untuk kelas anak itu harus ditulis </a:t>
            </a:r>
            <a:r>
              <a:rPr lang="id-ID" altLang="en-US" sz="1500" b="1" dirty="0">
                <a:solidFill>
                  <a:srgbClr val="57606A"/>
                </a:solidFill>
              </a:rPr>
              <a:t>sebelum</a:t>
            </a:r>
            <a:r>
              <a:rPr lang="id-ID" altLang="en-US" sz="1500" dirty="0">
                <a:solidFill>
                  <a:srgbClr val="57606A"/>
                </a:solidFill>
              </a:rPr>
              <a:t> blok untuk induknya?</a:t>
            </a:r>
            <a:endParaRPr lang="id-ID" sz="1500" dirty="0"/>
          </a:p>
        </p:txBody>
      </p:sp>
      <p:sp>
        <p:nvSpPr>
          <p:cNvPr id="7" name="Shape 4"/>
          <p:cNvSpPr/>
          <p:nvPr/>
        </p:nvSpPr>
        <p:spPr>
          <a:xfrm>
            <a:off x="548640" y="2363023"/>
            <a:ext cx="5455768" cy="770128"/>
          </a:xfrm>
          <a:prstGeom prst="roundRect">
            <a:avLst>
              <a:gd name="adj" fmla="val 16917"/>
            </a:avLst>
          </a:prstGeom>
          <a:solidFill>
            <a:srgbClr val="DAFBE1"/>
          </a:solidFill>
          <a:ln w="22225">
            <a:solidFill>
              <a:srgbClr val="1A7F37"/>
            </a:solidFill>
            <a:prstDash val="solid"/>
          </a:ln>
        </p:spPr>
      </p:sp>
      <p:sp>
        <p:nvSpPr>
          <p:cNvPr id="8" name="Shape 5"/>
          <p:cNvSpPr/>
          <p:nvPr/>
        </p:nvSpPr>
        <p:spPr>
          <a:xfrm>
            <a:off x="749808" y="2565207"/>
            <a:ext cx="365760" cy="365760"/>
          </a:xfrm>
          <a:prstGeom prst="ellipse">
            <a:avLst/>
          </a:prstGeom>
          <a:solidFill>
            <a:srgbClr val="1A7F37"/>
          </a:solidFill>
          <a:ln/>
        </p:spPr>
      </p:sp>
      <p:pic>
        <p:nvPicPr>
          <p:cNvPr id="9" name="Image 1" descr="preencoded.png">    </p:cNvPr>
          <p:cNvPicPr>
            <a:picLocks noChangeAspect="1"/>
          </p:cNvPicPr>
          <p:nvPr/>
        </p:nvPicPr>
        <p:blipFill>
          <a:blip r:embed="rId2"/>
          <a:stretch>
            <a:fillRect/>
          </a:stretch>
        </p:blipFill>
        <p:spPr>
          <a:xfrm>
            <a:off x="830275" y="2645674"/>
            <a:ext cx="204826" cy="204826"/>
          </a:xfrm>
          <a:prstGeom prst="rect">
            <a:avLst/>
          </a:prstGeom>
        </p:spPr>
      </p:pic>
      <p:sp>
        <p:nvSpPr>
          <p:cNvPr id="10" name="Text 6"/>
          <p:cNvSpPr txBox="1"/>
          <p:nvPr/>
        </p:nvSpPr>
        <p:spPr>
          <a:xfrm>
            <a:off x="1353312" y="2472751"/>
            <a:ext cx="4541368" cy="550672"/>
          </a:xfrm>
          <a:prstGeom prst="rect">
            <a:avLst/>
          </a:prstGeom>
          <a:noFill/>
          <a:ln/>
        </p:spPr>
        <p:txBody>
          <a:bodyPr wrap="square" lIns="0" tIns="0" rIns="0" bIns="0" rtlCol="0" anchor="ctr"/>
          <a:lstStyle/>
          <a:p>
            <a:pPr indent="0" marL="0">
              <a:buNone/>
            </a:pPr>
            <a:r>
              <a:rPr lang="id-ID" altLang="en-US" sz="1600" dirty="0">
                <a:solidFill>
                  <a:srgbClr val="1F2328"/>
                </a:solidFill>
              </a:rPr>
              <a:t>Hanya blok </a:t>
            </a:r>
            <a:r>
              <a:rPr lang="id-ID" altLang="en-US" sz="1600" b="1" dirty="0">
                <a:solidFill>
                  <a:srgbClr val="1F2328"/>
                </a:solidFill>
              </a:rPr>
              <a:t>pertama</a:t>
            </a:r>
            <a:r>
              <a:rPr lang="id-ID" altLang="en-US" sz="1600" dirty="0">
                <a:solidFill>
                  <a:srgbClr val="1F2328"/>
                </a:solidFill>
              </a:rPr>
              <a:t> yang cocok yang dijalankan; jika induk lebih dulu, blok anak tak tercapai</a:t>
            </a:r>
            <a:endParaRPr lang="id-ID" sz="1600" dirty="0"/>
          </a:p>
        </p:txBody>
      </p:sp>
      <p:sp>
        <p:nvSpPr>
          <p:cNvPr id="11" name="Shape 7"/>
          <p:cNvSpPr/>
          <p:nvPr/>
        </p:nvSpPr>
        <p:spPr>
          <a:xfrm>
            <a:off x="6187288" y="2363023"/>
            <a:ext cx="5455768" cy="770128"/>
          </a:xfrm>
          <a:prstGeom prst="roundRect">
            <a:avLst>
              <a:gd name="adj" fmla="val 16917"/>
            </a:avLst>
          </a:prstGeom>
          <a:solidFill>
            <a:srgbClr val="FFFFFF"/>
          </a:solidFill>
          <a:ln w="9525">
            <a:solidFill>
              <a:srgbClr val="D0D7DE"/>
            </a:solidFill>
            <a:prstDash val="solid"/>
          </a:ln>
        </p:spPr>
      </p:sp>
      <p:sp>
        <p:nvSpPr>
          <p:cNvPr id="12" name="Shape 8"/>
          <p:cNvSpPr/>
          <p:nvPr/>
        </p:nvSpPr>
        <p:spPr>
          <a:xfrm>
            <a:off x="6388456" y="2565207"/>
            <a:ext cx="365760" cy="365760"/>
          </a:xfrm>
          <a:prstGeom prst="ellipse">
            <a:avLst/>
          </a:prstGeom>
          <a:solidFill>
            <a:srgbClr val="8C959F"/>
          </a:solidFill>
          <a:ln/>
        </p:spPr>
      </p:sp>
      <p:sp>
        <p:nvSpPr>
          <p:cNvPr id="13" name="Text 9"/>
          <p:cNvSpPr txBox="1"/>
          <p:nvPr/>
        </p:nvSpPr>
        <p:spPr>
          <a:xfrm>
            <a:off x="6388456" y="2565207"/>
            <a:ext cx="365760" cy="365760"/>
          </a:xfrm>
          <a:prstGeom prst="rect">
            <a:avLst/>
          </a:prstGeom>
          <a:noFill/>
          <a:ln/>
        </p:spPr>
        <p:txBody>
          <a:bodyPr wrap="square" lIns="0" tIns="0" rIns="0" bIns="0" rtlCol="0" anchor="ctr"/>
          <a:lstStyle/>
          <a:p>
            <a:pPr algn="ctr" indent="0" marL="0">
              <a:buNone/>
            </a:pPr>
            <a:r>
              <a:rPr lang="id-ID" altLang="en-US" sz="1400" b="1" dirty="0">
                <a:solidFill>
                  <a:srgbClr val="FFFFFF"/>
                </a:solidFill>
              </a:rPr>
              <a:t>B</a:t>
            </a:r>
            <a:endParaRPr lang="id-ID" sz="1400" dirty="0"/>
          </a:p>
        </p:txBody>
      </p:sp>
      <p:sp>
        <p:nvSpPr>
          <p:cNvPr id="14" name="Text 10"/>
          <p:cNvSpPr txBox="1"/>
          <p:nvPr/>
        </p:nvSpPr>
        <p:spPr>
          <a:xfrm>
            <a:off x="6991960" y="2472751"/>
            <a:ext cx="4541368" cy="550672"/>
          </a:xfrm>
          <a:prstGeom prst="rect">
            <a:avLst/>
          </a:prstGeom>
          <a:noFill/>
          <a:ln/>
        </p:spPr>
        <p:txBody>
          <a:bodyPr wrap="square" lIns="0" tIns="0" rIns="0" bIns="0" rtlCol="0" anchor="ctr"/>
          <a:lstStyle/>
          <a:p>
            <a:pPr indent="0" marL="0">
              <a:buNone/>
            </a:pPr>
            <a:r>
              <a:rPr lang="id-ID" altLang="en-US" sz="1600" dirty="0">
                <a:solidFill>
                  <a:srgbClr val="57606A"/>
                </a:solidFill>
              </a:rPr>
              <a:t>Agar program berjalan lebih cepat karena </a:t>
            </a:r>
            <a:r>
              <a:rPr lang="id-ID" altLang="en-US" sz="1600" i="1" dirty="0">
                <a:solidFill>
                  <a:srgbClr val="57606A"/>
                </a:solidFill>
              </a:rPr>
              <a:t>exception</a:t>
            </a:r>
            <a:r>
              <a:rPr lang="id-ID" altLang="en-US" sz="1600" dirty="0">
                <a:solidFill>
                  <a:srgbClr val="57606A"/>
                </a:solidFill>
              </a:rPr>
              <a:t> kelas anak lebih ringan</a:t>
            </a:r>
            <a:endParaRPr lang="id-ID" sz="1600" dirty="0"/>
          </a:p>
        </p:txBody>
      </p:sp>
      <p:sp>
        <p:nvSpPr>
          <p:cNvPr id="15" name="Shape 11"/>
          <p:cNvSpPr/>
          <p:nvPr/>
        </p:nvSpPr>
        <p:spPr>
          <a:xfrm>
            <a:off x="548640" y="3316031"/>
            <a:ext cx="5455768" cy="1018032"/>
          </a:xfrm>
          <a:prstGeom prst="roundRect">
            <a:avLst>
              <a:gd name="adj" fmla="val 9681"/>
            </a:avLst>
          </a:prstGeom>
          <a:solidFill>
            <a:srgbClr val="FFFFFF"/>
          </a:solidFill>
          <a:ln w="9525">
            <a:solidFill>
              <a:srgbClr val="D0D7DE"/>
            </a:solidFill>
            <a:prstDash val="solid"/>
          </a:ln>
        </p:spPr>
      </p:sp>
      <p:sp>
        <p:nvSpPr>
          <p:cNvPr id="16" name="Shape 12"/>
          <p:cNvSpPr/>
          <p:nvPr/>
        </p:nvSpPr>
        <p:spPr>
          <a:xfrm>
            <a:off x="749808" y="3642167"/>
            <a:ext cx="365760" cy="365760"/>
          </a:xfrm>
          <a:prstGeom prst="ellipse">
            <a:avLst/>
          </a:prstGeom>
          <a:solidFill>
            <a:srgbClr val="8C959F"/>
          </a:solidFill>
          <a:ln/>
        </p:spPr>
      </p:sp>
      <p:sp>
        <p:nvSpPr>
          <p:cNvPr id="17" name="Text 13"/>
          <p:cNvSpPr txBox="1"/>
          <p:nvPr/>
        </p:nvSpPr>
        <p:spPr>
          <a:xfrm>
            <a:off x="749808" y="3642167"/>
            <a:ext cx="365760" cy="365760"/>
          </a:xfrm>
          <a:prstGeom prst="rect">
            <a:avLst/>
          </a:prstGeom>
          <a:noFill/>
          <a:ln/>
        </p:spPr>
        <p:txBody>
          <a:bodyPr wrap="square" lIns="0" tIns="0" rIns="0" bIns="0" rtlCol="0" anchor="ctr"/>
          <a:lstStyle/>
          <a:p>
            <a:pPr algn="ctr" indent="0" marL="0">
              <a:buNone/>
            </a:pPr>
            <a:r>
              <a:rPr lang="id-ID" altLang="en-US" sz="1400" b="1" dirty="0">
                <a:solidFill>
                  <a:srgbClr val="FFFFFF"/>
                </a:solidFill>
              </a:rPr>
              <a:t>C</a:t>
            </a:r>
            <a:endParaRPr lang="id-ID" sz="1400" dirty="0"/>
          </a:p>
        </p:txBody>
      </p:sp>
      <p:sp>
        <p:nvSpPr>
          <p:cNvPr id="18" name="Text 14"/>
          <p:cNvSpPr txBox="1"/>
          <p:nvPr/>
        </p:nvSpPr>
        <p:spPr>
          <a:xfrm>
            <a:off x="1353312" y="3425759"/>
            <a:ext cx="4541368" cy="798576"/>
          </a:xfrm>
          <a:prstGeom prst="rect">
            <a:avLst/>
          </a:prstGeom>
          <a:noFill/>
          <a:ln/>
        </p:spPr>
        <p:txBody>
          <a:bodyPr wrap="square" lIns="0" tIns="0" rIns="0" bIns="0" rtlCol="0" anchor="ctr"/>
          <a:lstStyle/>
          <a:p>
            <a:pPr indent="0" marL="0">
              <a:buNone/>
            </a:pPr>
            <a:r>
              <a:rPr lang="id-ID" altLang="en-US" sz="1600" dirty="0">
                <a:solidFill>
                  <a:srgbClr val="57606A"/>
                </a:solidFill>
              </a:rPr>
              <a:t>Karena </a:t>
            </a:r>
            <a:r>
              <a:rPr lang="id-ID" altLang="en-US" sz="1600" i="1" dirty="0">
                <a:solidFill>
                  <a:srgbClr val="57606A"/>
                </a:solidFill>
              </a:rPr>
              <a:t>exception</a:t>
            </a:r>
            <a:r>
              <a:rPr lang="id-ID" altLang="en-US" sz="1600" dirty="0">
                <a:solidFill>
                  <a:srgbClr val="57606A"/>
                </a:solidFill>
              </a:rPr>
              <a:t> kelas anak tidak bisa ditangkap oleh blok milik induknya</a:t>
            </a:r>
            <a:endParaRPr lang="id-ID" sz="1600" dirty="0"/>
          </a:p>
        </p:txBody>
      </p:sp>
      <p:sp>
        <p:nvSpPr>
          <p:cNvPr id="19" name="Shape 15"/>
          <p:cNvSpPr/>
          <p:nvPr/>
        </p:nvSpPr>
        <p:spPr>
          <a:xfrm>
            <a:off x="6187288" y="3316031"/>
            <a:ext cx="5455768" cy="1018032"/>
          </a:xfrm>
          <a:prstGeom prst="roundRect">
            <a:avLst>
              <a:gd name="adj" fmla="val 9681"/>
            </a:avLst>
          </a:prstGeom>
          <a:solidFill>
            <a:srgbClr val="FFFFFF"/>
          </a:solidFill>
          <a:ln w="9525">
            <a:solidFill>
              <a:srgbClr val="D0D7DE"/>
            </a:solidFill>
            <a:prstDash val="solid"/>
          </a:ln>
        </p:spPr>
      </p:sp>
      <p:sp>
        <p:nvSpPr>
          <p:cNvPr id="20" name="Shape 16"/>
          <p:cNvSpPr/>
          <p:nvPr/>
        </p:nvSpPr>
        <p:spPr>
          <a:xfrm>
            <a:off x="6388456" y="3642167"/>
            <a:ext cx="365760" cy="365760"/>
          </a:xfrm>
          <a:prstGeom prst="ellipse">
            <a:avLst/>
          </a:prstGeom>
          <a:solidFill>
            <a:srgbClr val="8C959F"/>
          </a:solidFill>
          <a:ln/>
        </p:spPr>
      </p:sp>
      <p:sp>
        <p:nvSpPr>
          <p:cNvPr id="21" name="Text 17"/>
          <p:cNvSpPr txBox="1"/>
          <p:nvPr/>
        </p:nvSpPr>
        <p:spPr>
          <a:xfrm>
            <a:off x="6388456" y="3642167"/>
            <a:ext cx="365760" cy="365760"/>
          </a:xfrm>
          <a:prstGeom prst="rect">
            <a:avLst/>
          </a:prstGeom>
          <a:noFill/>
          <a:ln/>
        </p:spPr>
        <p:txBody>
          <a:bodyPr wrap="square" lIns="0" tIns="0" rIns="0" bIns="0" rtlCol="0" anchor="ctr"/>
          <a:lstStyle/>
          <a:p>
            <a:pPr algn="ctr" indent="0" marL="0">
              <a:buNone/>
            </a:pPr>
            <a:r>
              <a:rPr lang="id-ID" altLang="en-US" sz="1400" b="1" dirty="0">
                <a:solidFill>
                  <a:srgbClr val="FFFFFF"/>
                </a:solidFill>
              </a:rPr>
              <a:t>D</a:t>
            </a:r>
            <a:endParaRPr lang="id-ID" sz="1400" dirty="0"/>
          </a:p>
        </p:txBody>
      </p:sp>
      <p:sp>
        <p:nvSpPr>
          <p:cNvPr id="22" name="Text 18"/>
          <p:cNvSpPr txBox="1"/>
          <p:nvPr/>
        </p:nvSpPr>
        <p:spPr>
          <a:xfrm>
            <a:off x="6991960" y="3425759"/>
            <a:ext cx="4541368" cy="798576"/>
          </a:xfrm>
          <a:prstGeom prst="rect">
            <a:avLst/>
          </a:prstGeom>
          <a:noFill/>
          <a:ln/>
        </p:spPr>
        <p:txBody>
          <a:bodyPr wrap="square" lIns="0" tIns="0" rIns="0" bIns="0" rtlCol="0" anchor="ctr"/>
          <a:lstStyle/>
          <a:p>
            <a:pPr indent="0" marL="0">
              <a:buNone/>
            </a:pPr>
            <a:r>
              <a:rPr lang="id-ID" altLang="en-US" sz="1600" dirty="0">
                <a:solidFill>
                  <a:srgbClr val="57606A"/>
                </a:solidFill>
              </a:rPr>
              <a:t>Karena Python dan Java mewajibkan blok </a:t>
            </a:r>
            <a:r>
              <a:rPr lang="id-ID" altLang="en-US" sz="1600" dirty="0">
                <a:solidFill>
                  <a:srgbClr val="0A3069"/>
                </a:solidFill>
                <a:latin typeface="Consolas" pitchFamily="34" charset="0"/>
                <a:ea typeface="Consolas" pitchFamily="34" charset="-122"/>
                <a:cs typeface="Consolas" pitchFamily="34" charset="-120"/>
              </a:rPr>
              <a:t>except</a:t>
            </a:r>
            <a:r>
              <a:rPr lang="id-ID" altLang="en-US" sz="1600" dirty="0">
                <a:solidFill>
                  <a:srgbClr val="57606A"/>
                </a:solidFill>
              </a:rPr>
              <a:t>/</a:t>
            </a:r>
            <a:r>
              <a:rPr lang="id-ID" altLang="en-US" sz="1600" dirty="0">
                <a:solidFill>
                  <a:srgbClr val="0A3069"/>
                </a:solidFill>
                <a:latin typeface="Consolas" pitchFamily="34" charset="0"/>
                <a:ea typeface="Consolas" pitchFamily="34" charset="-122"/>
                <a:cs typeface="Consolas" pitchFamily="34" charset="-120"/>
              </a:rPr>
              <a:t>catch</a:t>
            </a:r>
            <a:r>
              <a:rPr lang="id-ID" altLang="en-US" sz="1600" dirty="0">
                <a:solidFill>
                  <a:srgbClr val="57606A"/>
                </a:solidFill>
              </a:rPr>
              <a:t> diurutkan menurut abjad nama kelasnya</a:t>
            </a:r>
            <a:endParaRPr lang="id-ID" sz="1600" dirty="0"/>
          </a:p>
        </p:txBody>
      </p:sp>
      <p:sp>
        <p:nvSpPr>
          <p:cNvPr id="23" name="Shape 19"/>
          <p:cNvSpPr/>
          <p:nvPr/>
        </p:nvSpPr>
        <p:spPr>
          <a:xfrm>
            <a:off x="548640" y="4535231"/>
            <a:ext cx="11094415" cy="1631696"/>
          </a:xfrm>
          <a:prstGeom prst="roundRect">
            <a:avLst>
              <a:gd name="adj" fmla="val 3769"/>
            </a:avLst>
          </a:prstGeom>
          <a:solidFill>
            <a:srgbClr val="FFF8C5"/>
          </a:solidFill>
          <a:ln w="9525">
            <a:solidFill>
              <a:srgbClr val="D4A72C"/>
            </a:solidFill>
            <a:prstDash val="solid"/>
          </a:ln>
        </p:spPr>
      </p:sp>
      <p:sp>
        <p:nvSpPr>
          <p:cNvPr id="24" name="Shape 20"/>
          <p:cNvSpPr/>
          <p:nvPr/>
        </p:nvSpPr>
        <p:spPr>
          <a:xfrm>
            <a:off x="777240" y="4718111"/>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818695"/>
            <a:ext cx="256032" cy="256032"/>
          </a:xfrm>
          <a:prstGeom prst="rect">
            <a:avLst/>
          </a:prstGeom>
        </p:spPr>
      </p:pic>
      <p:sp>
        <p:nvSpPr>
          <p:cNvPr id="26" name="Text 21"/>
          <p:cNvSpPr txBox="1"/>
          <p:nvPr/>
        </p:nvSpPr>
        <p:spPr>
          <a:xfrm>
            <a:off x="1417320" y="4672391"/>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A</a:t>
            </a:r>
            <a:endParaRPr lang="id-ID" sz="1600" dirty="0"/>
          </a:p>
        </p:txBody>
      </p:sp>
      <p:sp>
        <p:nvSpPr>
          <p:cNvPr id="27" name="Text 22"/>
          <p:cNvSpPr txBox="1"/>
          <p:nvPr/>
        </p:nvSpPr>
        <p:spPr>
          <a:xfrm>
            <a:off x="1417320" y="5010719"/>
            <a:ext cx="9951415" cy="1083056"/>
          </a:xfrm>
          <a:prstGeom prst="rect">
            <a:avLst/>
          </a:prstGeom>
          <a:noFill/>
          <a:ln/>
        </p:spPr>
        <p:txBody>
          <a:bodyPr wrap="square" lIns="0" tIns="0" rIns="0" bIns="0" rtlCol="0" anchor="t"/>
          <a:lstStyle/>
          <a:p>
            <a:pPr indent="0" marL="0">
              <a:buNone/>
            </a:pPr>
            <a:r>
              <a:rPr lang="id-ID" altLang="en-US" sz="1600" dirty="0">
                <a:solidFill>
                  <a:srgbClr val="1F2328"/>
                </a:solidFill>
              </a:rPr>
              <a:t>Blok </a:t>
            </a:r>
            <a:r>
              <a:rPr lang="id-ID" altLang="en-US" sz="1600" dirty="0">
                <a:solidFill>
                  <a:srgbClr val="0A3069"/>
                </a:solidFill>
                <a:latin typeface="Consolas" pitchFamily="34" charset="0"/>
                <a:ea typeface="Consolas" pitchFamily="34" charset="-122"/>
                <a:cs typeface="Consolas" pitchFamily="34" charset="-120"/>
              </a:rPr>
              <a:t>except</a:t>
            </a:r>
            <a:r>
              <a:rPr lang="id-ID" altLang="en-US" sz="1600" dirty="0">
                <a:solidFill>
                  <a:srgbClr val="1F2328"/>
                </a:solidFill>
              </a:rPr>
              <a:t>/</a:t>
            </a:r>
            <a:r>
              <a:rPr lang="id-ID" altLang="en-US" sz="1600" dirty="0">
                <a:solidFill>
                  <a:srgbClr val="0A3069"/>
                </a:solidFill>
                <a:latin typeface="Consolas" pitchFamily="34" charset="0"/>
                <a:ea typeface="Consolas" pitchFamily="34" charset="-122"/>
                <a:cs typeface="Consolas" pitchFamily="34" charset="-120"/>
              </a:rPr>
              <a:t>catch</a:t>
            </a:r>
            <a:r>
              <a:rPr lang="id-ID" altLang="en-US" sz="1600" dirty="0">
                <a:solidFill>
                  <a:srgbClr val="1F2328"/>
                </a:solidFill>
              </a:rPr>
              <a:t> diperiksa dari atas, dan hanya blok </a:t>
            </a:r>
            <a:r>
              <a:rPr lang="id-ID" altLang="en-US" sz="1600" b="1" dirty="0">
                <a:solidFill>
                  <a:srgbClr val="1F2328"/>
                </a:solidFill>
              </a:rPr>
              <a:t>pertama</a:t>
            </a:r>
            <a:r>
              <a:rPr lang="id-ID" altLang="en-US" sz="1600" dirty="0">
                <a:solidFill>
                  <a:srgbClr val="1F2328"/>
                </a:solidFill>
              </a:rPr>
              <a:t> yang cocok yang dijalankan. </a:t>
            </a:r>
            <a:r>
              <a:rPr lang="id-ID" altLang="en-US" sz="1600" dirty="0">
                <a:solidFill>
                  <a:srgbClr val="0A3069"/>
                </a:solidFill>
                <a:latin typeface="Consolas" pitchFamily="34" charset="0"/>
                <a:ea typeface="Consolas" pitchFamily="34" charset="-122"/>
                <a:cs typeface="Consolas" pitchFamily="34" charset="-120"/>
              </a:rPr>
              <a:t>StokTidakCukupError</a:t>
            </a:r>
            <a:r>
              <a:rPr lang="id-ID" altLang="en-US" sz="1600" dirty="0">
                <a:solidFill>
                  <a:srgbClr val="1F2328"/>
                </a:solidFill>
              </a:rPr>
              <a:t> juga merupakan </a:t>
            </a:r>
            <a:r>
              <a:rPr lang="id-ID" altLang="en-US" sz="1600" dirty="0">
                <a:solidFill>
                  <a:srgbClr val="0A3069"/>
                </a:solidFill>
                <a:latin typeface="Consolas" pitchFamily="34" charset="0"/>
                <a:ea typeface="Consolas" pitchFamily="34" charset="-122"/>
                <a:cs typeface="Consolas" pitchFamily="34" charset="-120"/>
              </a:rPr>
              <a:t>KedaiError</a:t>
            </a:r>
            <a:r>
              <a:rPr lang="id-ID" altLang="en-US" sz="1600" dirty="0">
                <a:solidFill>
                  <a:srgbClr val="1F2328"/>
                </a:solidFill>
              </a:rPr>
              <a:t>, jadi blok induk yang ditulis lebih dulu menyerobot semuanya. Python diam saja, sedangkan Java menolaknya saat kompilasi. C justru terbalik: blok induk </a:t>
            </a:r>
            <a:r>
              <a:rPr lang="id-ID" altLang="en-US" sz="1600" b="1" dirty="0">
                <a:solidFill>
                  <a:srgbClr val="1F2328"/>
                </a:solidFill>
              </a:rPr>
              <a:t>bisa</a:t>
            </a:r>
            <a:r>
              <a:rPr lang="id-ID" altLang="en-US" sz="1600" dirty="0">
                <a:solidFill>
                  <a:srgbClr val="1F2328"/>
                </a:solidFill>
              </a:rPr>
              <a:t> menangkap </a:t>
            </a:r>
            <a:r>
              <a:rPr lang="id-ID" altLang="en-US" sz="1600" i="1" dirty="0">
                <a:solidFill>
                  <a:srgbClr val="1F2328"/>
                </a:solidFill>
              </a:rPr>
              <a:t>exception</a:t>
            </a:r>
            <a:r>
              <a:rPr lang="id-ID" altLang="en-US" sz="1600" dirty="0">
                <a:solidFill>
                  <a:srgbClr val="1F2328"/>
                </a:solidFill>
              </a:rPr>
              <a:t> anak.</a:t>
            </a:r>
            <a:endParaRPr lang="id-ID"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687775"/>
            <a:ext cx="11094415" cy="2192528"/>
          </a:xfrm>
          <a:prstGeom prst="roundRect">
            <a:avLst>
              <a:gd name="adj" fmla="val 2087"/>
            </a:avLst>
          </a:prstGeom>
          <a:solidFill>
            <a:srgbClr val="FBEFFF"/>
          </a:solidFill>
          <a:ln w="9525">
            <a:solidFill>
              <a:srgbClr val="C297FF"/>
            </a:solidFill>
            <a:prstDash val="solid"/>
          </a:ln>
        </p:spPr>
      </p:sp>
      <p:sp>
        <p:nvSpPr>
          <p:cNvPr id="6" name="Shape 3"/>
          <p:cNvSpPr/>
          <p:nvPr/>
        </p:nvSpPr>
        <p:spPr>
          <a:xfrm>
            <a:off x="777240" y="2555439"/>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656023"/>
            <a:ext cx="256032" cy="256032"/>
          </a:xfrm>
          <a:prstGeom prst="rect">
            <a:avLst/>
          </a:prstGeom>
        </p:spPr>
      </p:pic>
      <p:sp>
        <p:nvSpPr>
          <p:cNvPr id="8" name="Text 4"/>
          <p:cNvSpPr txBox="1"/>
          <p:nvPr/>
        </p:nvSpPr>
        <p:spPr>
          <a:xfrm>
            <a:off x="1417320" y="1916375"/>
            <a:ext cx="9951415" cy="1918208"/>
          </a:xfrm>
          <a:prstGeom prst="rect">
            <a:avLst/>
          </a:prstGeom>
          <a:noFill/>
          <a:ln/>
        </p:spPr>
        <p:txBody>
          <a:bodyPr wrap="square" lIns="0" tIns="0" rIns="0" bIns="0" rtlCol="0" anchor="t"/>
          <a:lstStyle/>
          <a:p>
            <a:pPr indent="0" marL="0">
              <a:buNone/>
            </a:pPr>
            <a:r>
              <a:rPr lang="id-ID" altLang="en-US" sz="2800" dirty="0">
                <a:solidFill>
                  <a:srgbClr val="1F2328"/>
                </a:solidFill>
              </a:rPr>
              <a:t>Soal A14. Aplikasi ojek </a:t>
            </a:r>
            <a:r>
              <a:rPr lang="id-ID" altLang="en-US" sz="2800" i="1" dirty="0">
                <a:solidFill>
                  <a:srgbClr val="1F2328"/>
                </a:solidFill>
              </a:rPr>
              <a:t>online</a:t>
            </a:r>
            <a:r>
              <a:rPr lang="id-ID" altLang="en-US" sz="2800" dirty="0">
                <a:solidFill>
                  <a:srgbClr val="1F2328"/>
                </a:solidFill>
              </a:rPr>
              <a:t> punya aturan tarif normal, jam sibuk, dan promo. Aturan dipilih saat aplikasi berjalan, dan aturan baru sering ditambahkan tanpa boleh mengubah kelas </a:t>
            </a:r>
            <a:r>
              <a:rPr lang="id-ID" altLang="en-US" sz="2800" dirty="0">
                <a:solidFill>
                  <a:srgbClr val="0A3069"/>
                </a:solidFill>
                <a:latin typeface="Consolas" pitchFamily="34" charset="0"/>
                <a:ea typeface="Consolas" pitchFamily="34" charset="-122"/>
                <a:cs typeface="Consolas" pitchFamily="34" charset="-120"/>
              </a:rPr>
              <a:t>Perjalanan</a:t>
            </a:r>
            <a:r>
              <a:rPr lang="id-ID" altLang="en-US" sz="2800" dirty="0">
                <a:solidFill>
                  <a:srgbClr val="1F2328"/>
                </a:solidFill>
              </a:rPr>
              <a:t>. Pola yang paling cocok adalah ...</a:t>
            </a:r>
            <a:endParaRPr lang="id-ID" sz="2800" dirty="0"/>
          </a:p>
        </p:txBody>
      </p:sp>
      <p:sp>
        <p:nvSpPr>
          <p:cNvPr id="9" name="Shape 5"/>
          <p:cNvSpPr/>
          <p:nvPr/>
        </p:nvSpPr>
        <p:spPr>
          <a:xfrm>
            <a:off x="548640" y="4063183"/>
            <a:ext cx="5455768" cy="790042"/>
          </a:xfrm>
          <a:prstGeom prst="roundRect">
            <a:avLst>
              <a:gd name="adj" fmla="val 16075"/>
            </a:avLst>
          </a:prstGeom>
          <a:solidFill>
            <a:srgbClr val="FFFFFF"/>
          </a:solidFill>
          <a:ln w="9525">
            <a:solidFill>
              <a:srgbClr val="D0D7DE"/>
            </a:solidFill>
            <a:prstDash val="solid"/>
          </a:ln>
        </p:spPr>
      </p:sp>
      <p:sp>
        <p:nvSpPr>
          <p:cNvPr id="10" name="Shape 6"/>
          <p:cNvSpPr/>
          <p:nvPr/>
        </p:nvSpPr>
        <p:spPr>
          <a:xfrm>
            <a:off x="749808" y="4229604"/>
            <a:ext cx="457200" cy="457200"/>
          </a:xfrm>
          <a:prstGeom prst="ellipse">
            <a:avLst/>
          </a:prstGeom>
          <a:solidFill>
            <a:srgbClr val="8250DF"/>
          </a:solidFill>
          <a:ln/>
        </p:spPr>
      </p:sp>
      <p:sp>
        <p:nvSpPr>
          <p:cNvPr id="11" name="Text 7"/>
          <p:cNvSpPr txBox="1"/>
          <p:nvPr/>
        </p:nvSpPr>
        <p:spPr>
          <a:xfrm>
            <a:off x="749808" y="422960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4172911"/>
            <a:ext cx="4541368" cy="570586"/>
          </a:xfrm>
          <a:prstGeom prst="rect">
            <a:avLst/>
          </a:prstGeom>
          <a:noFill/>
          <a:ln/>
        </p:spPr>
        <p:txBody>
          <a:bodyPr wrap="square" lIns="0" tIns="0" rIns="0" bIns="0" rtlCol="0" anchor="ctr"/>
          <a:lstStyle/>
          <a:p>
            <a:pPr indent="0" marL="0">
              <a:buNone/>
            </a:pPr>
            <a:r>
              <a:rPr lang="id-ID" altLang="en-US" sz="2400" i="1" dirty="0">
                <a:solidFill>
                  <a:srgbClr val="1F2328"/>
                </a:solidFill>
              </a:rPr>
              <a:t>Strategy</a:t>
            </a:r>
            <a:endParaRPr lang="id-ID" sz="2400" dirty="0"/>
          </a:p>
        </p:txBody>
      </p:sp>
      <p:sp>
        <p:nvSpPr>
          <p:cNvPr id="13" name="Shape 9"/>
          <p:cNvSpPr/>
          <p:nvPr/>
        </p:nvSpPr>
        <p:spPr>
          <a:xfrm>
            <a:off x="6187288" y="4063183"/>
            <a:ext cx="5455768" cy="790042"/>
          </a:xfrm>
          <a:prstGeom prst="roundRect">
            <a:avLst>
              <a:gd name="adj" fmla="val 16075"/>
            </a:avLst>
          </a:prstGeom>
          <a:solidFill>
            <a:srgbClr val="FFFFFF"/>
          </a:solidFill>
          <a:ln w="9525">
            <a:solidFill>
              <a:srgbClr val="D0D7DE"/>
            </a:solidFill>
            <a:prstDash val="solid"/>
          </a:ln>
        </p:spPr>
      </p:sp>
      <p:sp>
        <p:nvSpPr>
          <p:cNvPr id="14" name="Shape 10"/>
          <p:cNvSpPr/>
          <p:nvPr/>
        </p:nvSpPr>
        <p:spPr>
          <a:xfrm>
            <a:off x="6388456" y="4229604"/>
            <a:ext cx="457200" cy="457200"/>
          </a:xfrm>
          <a:prstGeom prst="ellipse">
            <a:avLst/>
          </a:prstGeom>
          <a:solidFill>
            <a:srgbClr val="8250DF"/>
          </a:solidFill>
          <a:ln/>
        </p:spPr>
      </p:sp>
      <p:sp>
        <p:nvSpPr>
          <p:cNvPr id="15" name="Text 11"/>
          <p:cNvSpPr txBox="1"/>
          <p:nvPr/>
        </p:nvSpPr>
        <p:spPr>
          <a:xfrm>
            <a:off x="6388456" y="422960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4172911"/>
            <a:ext cx="4541368" cy="570586"/>
          </a:xfrm>
          <a:prstGeom prst="rect">
            <a:avLst/>
          </a:prstGeom>
          <a:noFill/>
          <a:ln/>
        </p:spPr>
        <p:txBody>
          <a:bodyPr wrap="square" lIns="0" tIns="0" rIns="0" bIns="0" rtlCol="0" anchor="ctr"/>
          <a:lstStyle/>
          <a:p>
            <a:pPr indent="0" marL="0">
              <a:buNone/>
            </a:pPr>
            <a:r>
              <a:rPr lang="id-ID" altLang="en-US" sz="2400" i="1" dirty="0">
                <a:solidFill>
                  <a:srgbClr val="1F2328"/>
                </a:solidFill>
              </a:rPr>
              <a:t>Singleton</a:t>
            </a:r>
            <a:endParaRPr lang="id-ID" sz="2400" dirty="0"/>
          </a:p>
        </p:txBody>
      </p:sp>
      <p:sp>
        <p:nvSpPr>
          <p:cNvPr id="17" name="Shape 13"/>
          <p:cNvSpPr/>
          <p:nvPr/>
        </p:nvSpPr>
        <p:spPr>
          <a:xfrm>
            <a:off x="548640" y="5036105"/>
            <a:ext cx="5455768" cy="790042"/>
          </a:xfrm>
          <a:prstGeom prst="roundRect">
            <a:avLst>
              <a:gd name="adj" fmla="val 16075"/>
            </a:avLst>
          </a:prstGeom>
          <a:solidFill>
            <a:srgbClr val="FFFFFF"/>
          </a:solidFill>
          <a:ln w="9525">
            <a:solidFill>
              <a:srgbClr val="D0D7DE"/>
            </a:solidFill>
            <a:prstDash val="solid"/>
          </a:ln>
        </p:spPr>
      </p:sp>
      <p:sp>
        <p:nvSpPr>
          <p:cNvPr id="18" name="Shape 14"/>
          <p:cNvSpPr/>
          <p:nvPr/>
        </p:nvSpPr>
        <p:spPr>
          <a:xfrm>
            <a:off x="749808" y="5202526"/>
            <a:ext cx="457200" cy="457200"/>
          </a:xfrm>
          <a:prstGeom prst="ellipse">
            <a:avLst/>
          </a:prstGeom>
          <a:solidFill>
            <a:srgbClr val="8250DF"/>
          </a:solidFill>
          <a:ln/>
        </p:spPr>
      </p:sp>
      <p:sp>
        <p:nvSpPr>
          <p:cNvPr id="19" name="Text 15"/>
          <p:cNvSpPr txBox="1"/>
          <p:nvPr/>
        </p:nvSpPr>
        <p:spPr>
          <a:xfrm>
            <a:off x="749808" y="520252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5145833"/>
            <a:ext cx="4541368" cy="570586"/>
          </a:xfrm>
          <a:prstGeom prst="rect">
            <a:avLst/>
          </a:prstGeom>
          <a:noFill/>
          <a:ln/>
        </p:spPr>
        <p:txBody>
          <a:bodyPr wrap="square" lIns="0" tIns="0" rIns="0" bIns="0" rtlCol="0" anchor="ctr"/>
          <a:lstStyle/>
          <a:p>
            <a:pPr indent="0" marL="0">
              <a:buNone/>
            </a:pPr>
            <a:r>
              <a:rPr lang="id-ID" altLang="en-US" sz="2400" i="1" dirty="0">
                <a:solidFill>
                  <a:srgbClr val="1F2328"/>
                </a:solidFill>
              </a:rPr>
              <a:t>Observer</a:t>
            </a:r>
            <a:endParaRPr lang="id-ID" sz="2400" dirty="0"/>
          </a:p>
        </p:txBody>
      </p:sp>
      <p:sp>
        <p:nvSpPr>
          <p:cNvPr id="21" name="Shape 17"/>
          <p:cNvSpPr/>
          <p:nvPr/>
        </p:nvSpPr>
        <p:spPr>
          <a:xfrm>
            <a:off x="6187288" y="5036105"/>
            <a:ext cx="5455768" cy="790042"/>
          </a:xfrm>
          <a:prstGeom prst="roundRect">
            <a:avLst>
              <a:gd name="adj" fmla="val 16075"/>
            </a:avLst>
          </a:prstGeom>
          <a:solidFill>
            <a:srgbClr val="FFFFFF"/>
          </a:solidFill>
          <a:ln w="9525">
            <a:solidFill>
              <a:srgbClr val="D0D7DE"/>
            </a:solidFill>
            <a:prstDash val="solid"/>
          </a:ln>
        </p:spPr>
      </p:sp>
      <p:sp>
        <p:nvSpPr>
          <p:cNvPr id="22" name="Shape 18"/>
          <p:cNvSpPr/>
          <p:nvPr/>
        </p:nvSpPr>
        <p:spPr>
          <a:xfrm>
            <a:off x="6388456" y="5202526"/>
            <a:ext cx="457200" cy="457200"/>
          </a:xfrm>
          <a:prstGeom prst="ellipse">
            <a:avLst/>
          </a:prstGeom>
          <a:solidFill>
            <a:srgbClr val="8250DF"/>
          </a:solidFill>
          <a:ln/>
        </p:spPr>
      </p:sp>
      <p:sp>
        <p:nvSpPr>
          <p:cNvPr id="23" name="Text 19"/>
          <p:cNvSpPr txBox="1"/>
          <p:nvPr/>
        </p:nvSpPr>
        <p:spPr>
          <a:xfrm>
            <a:off x="6388456" y="520252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5145833"/>
            <a:ext cx="4541368" cy="570586"/>
          </a:xfrm>
          <a:prstGeom prst="rect">
            <a:avLst/>
          </a:prstGeom>
          <a:noFill/>
          <a:ln/>
        </p:spPr>
        <p:txBody>
          <a:bodyPr wrap="square" lIns="0" tIns="0" rIns="0" bIns="0" rtlCol="0" anchor="ctr"/>
          <a:lstStyle/>
          <a:p>
            <a:pPr indent="0" marL="0">
              <a:buNone/>
            </a:pPr>
            <a:r>
              <a:rPr lang="id-ID" altLang="en-US" sz="2400" i="1" dirty="0">
                <a:solidFill>
                  <a:srgbClr val="1F2328"/>
                </a:solidFill>
              </a:rPr>
              <a:t>Factory</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562533"/>
            <a:ext cx="11094415" cy="801116"/>
          </a:xfrm>
          <a:prstGeom prst="roundRect">
            <a:avLst>
              <a:gd name="adj" fmla="val 15634"/>
            </a:avLst>
          </a:prstGeom>
          <a:solidFill>
            <a:srgbClr val="F6F8FA"/>
          </a:solidFill>
          <a:ln w="9525">
            <a:solidFill>
              <a:srgbClr val="D0D7DE"/>
            </a:solidFill>
            <a:prstDash val="solid"/>
          </a:ln>
        </p:spPr>
      </p:sp>
      <p:sp>
        <p:nvSpPr>
          <p:cNvPr id="6" name="Text 3"/>
          <p:cNvSpPr txBox="1"/>
          <p:nvPr/>
        </p:nvSpPr>
        <p:spPr>
          <a:xfrm>
            <a:off x="822960" y="1699693"/>
            <a:ext cx="10545775" cy="526796"/>
          </a:xfrm>
          <a:prstGeom prst="rect">
            <a:avLst/>
          </a:prstGeom>
          <a:noFill/>
          <a:ln/>
        </p:spPr>
        <p:txBody>
          <a:bodyPr wrap="square" lIns="0" tIns="0" rIns="0" bIns="0" rtlCol="0" anchor="t"/>
          <a:lstStyle/>
          <a:p>
            <a:pPr indent="0" marL="0">
              <a:buNone/>
            </a:pPr>
            <a:r>
              <a:rPr lang="id-ID" altLang="en-US" sz="1700" dirty="0">
                <a:solidFill>
                  <a:srgbClr val="57606A"/>
                </a:solidFill>
              </a:rPr>
              <a:t>Soal A14. Aplikasi ojek </a:t>
            </a:r>
            <a:r>
              <a:rPr lang="id-ID" altLang="en-US" sz="1700" i="1" dirty="0">
                <a:solidFill>
                  <a:srgbClr val="57606A"/>
                </a:solidFill>
              </a:rPr>
              <a:t>online</a:t>
            </a:r>
            <a:r>
              <a:rPr lang="id-ID" altLang="en-US" sz="1700" dirty="0">
                <a:solidFill>
                  <a:srgbClr val="57606A"/>
                </a:solidFill>
              </a:rPr>
              <a:t> punya aturan tarif normal, jam sibuk, dan promo. Aturan dipilih saat aplikasi berjalan, dan aturan baru sering ditambahkan tanpa boleh mengubah kelas </a:t>
            </a:r>
            <a:r>
              <a:rPr lang="id-ID" altLang="en-US" sz="1700" dirty="0">
                <a:solidFill>
                  <a:srgbClr val="0A3069"/>
                </a:solidFill>
                <a:latin typeface="Consolas" pitchFamily="34" charset="0"/>
                <a:ea typeface="Consolas" pitchFamily="34" charset="-122"/>
                <a:cs typeface="Consolas" pitchFamily="34" charset="-120"/>
              </a:rPr>
              <a:t>Perjalanan</a:t>
            </a:r>
            <a:r>
              <a:rPr lang="id-ID" altLang="en-US" sz="1700" dirty="0">
                <a:solidFill>
                  <a:srgbClr val="57606A"/>
                </a:solidFill>
              </a:rPr>
              <a:t>. Pola yang paling cocok adalah ...</a:t>
            </a:r>
            <a:endParaRPr lang="id-ID" sz="1700" dirty="0"/>
          </a:p>
        </p:txBody>
      </p:sp>
      <p:sp>
        <p:nvSpPr>
          <p:cNvPr id="7" name="Shape 4"/>
          <p:cNvSpPr/>
          <p:nvPr/>
        </p:nvSpPr>
        <p:spPr>
          <a:xfrm>
            <a:off x="548640" y="2546529"/>
            <a:ext cx="5455768" cy="625450"/>
          </a:xfrm>
          <a:prstGeom prst="roundRect">
            <a:avLst>
              <a:gd name="adj" fmla="val 25649"/>
            </a:avLst>
          </a:prstGeom>
          <a:solidFill>
            <a:srgbClr val="DAFBE1"/>
          </a:solidFill>
          <a:ln w="22225">
            <a:solidFill>
              <a:srgbClr val="1A7F37"/>
            </a:solidFill>
            <a:prstDash val="solid"/>
          </a:ln>
        </p:spPr>
      </p:sp>
      <p:sp>
        <p:nvSpPr>
          <p:cNvPr id="8" name="Shape 5"/>
          <p:cNvSpPr/>
          <p:nvPr/>
        </p:nvSpPr>
        <p:spPr>
          <a:xfrm>
            <a:off x="749808" y="2642084"/>
            <a:ext cx="434340" cy="434340"/>
          </a:xfrm>
          <a:prstGeom prst="ellipse">
            <a:avLst/>
          </a:prstGeom>
          <a:solidFill>
            <a:srgbClr val="1A7F37"/>
          </a:solidFill>
          <a:ln/>
        </p:spPr>
      </p:sp>
      <p:pic>
        <p:nvPicPr>
          <p:cNvPr id="9" name="Image 1" descr="preencoded.png">    </p:cNvPr>
          <p:cNvPicPr>
            <a:picLocks noChangeAspect="1"/>
          </p:cNvPicPr>
          <p:nvPr/>
        </p:nvPicPr>
        <p:blipFill>
          <a:blip r:embed="rId2"/>
          <a:stretch>
            <a:fillRect/>
          </a:stretch>
        </p:blipFill>
        <p:spPr>
          <a:xfrm>
            <a:off x="845363" y="2737638"/>
            <a:ext cx="243230" cy="243230"/>
          </a:xfrm>
          <a:prstGeom prst="rect">
            <a:avLst/>
          </a:prstGeom>
        </p:spPr>
      </p:pic>
      <p:sp>
        <p:nvSpPr>
          <p:cNvPr id="10" name="Text 6"/>
          <p:cNvSpPr txBox="1"/>
          <p:nvPr/>
        </p:nvSpPr>
        <p:spPr>
          <a:xfrm>
            <a:off x="1353312" y="2656257"/>
            <a:ext cx="4541368" cy="405994"/>
          </a:xfrm>
          <a:prstGeom prst="rect">
            <a:avLst/>
          </a:prstGeom>
          <a:noFill/>
          <a:ln/>
        </p:spPr>
        <p:txBody>
          <a:bodyPr wrap="square" lIns="0" tIns="0" rIns="0" bIns="0" rtlCol="0" anchor="ctr"/>
          <a:lstStyle/>
          <a:p>
            <a:pPr indent="0" marL="0">
              <a:buNone/>
            </a:pPr>
            <a:r>
              <a:rPr lang="id-ID" altLang="en-US" sz="1900" i="1" dirty="0">
                <a:solidFill>
                  <a:srgbClr val="1F2328"/>
                </a:solidFill>
              </a:rPr>
              <a:t>Strategy</a:t>
            </a:r>
            <a:endParaRPr lang="id-ID" sz="1900" dirty="0"/>
          </a:p>
        </p:txBody>
      </p:sp>
      <p:sp>
        <p:nvSpPr>
          <p:cNvPr id="11" name="Shape 7"/>
          <p:cNvSpPr/>
          <p:nvPr/>
        </p:nvSpPr>
        <p:spPr>
          <a:xfrm>
            <a:off x="6187288" y="2546529"/>
            <a:ext cx="5455768" cy="625450"/>
          </a:xfrm>
          <a:prstGeom prst="roundRect">
            <a:avLst>
              <a:gd name="adj" fmla="val 25649"/>
            </a:avLst>
          </a:prstGeom>
          <a:solidFill>
            <a:srgbClr val="FFFFFF"/>
          </a:solidFill>
          <a:ln w="9525">
            <a:solidFill>
              <a:srgbClr val="D0D7DE"/>
            </a:solidFill>
            <a:prstDash val="solid"/>
          </a:ln>
        </p:spPr>
      </p:sp>
      <p:sp>
        <p:nvSpPr>
          <p:cNvPr id="12" name="Shape 8"/>
          <p:cNvSpPr/>
          <p:nvPr/>
        </p:nvSpPr>
        <p:spPr>
          <a:xfrm>
            <a:off x="6388456" y="2642084"/>
            <a:ext cx="434340" cy="434340"/>
          </a:xfrm>
          <a:prstGeom prst="ellipse">
            <a:avLst/>
          </a:prstGeom>
          <a:solidFill>
            <a:srgbClr val="8C959F"/>
          </a:solidFill>
          <a:ln/>
        </p:spPr>
      </p:sp>
      <p:sp>
        <p:nvSpPr>
          <p:cNvPr id="13" name="Text 9"/>
          <p:cNvSpPr txBox="1"/>
          <p:nvPr/>
        </p:nvSpPr>
        <p:spPr>
          <a:xfrm>
            <a:off x="6388456" y="2642084"/>
            <a:ext cx="434340" cy="434340"/>
          </a:xfrm>
          <a:prstGeom prst="rect">
            <a:avLst/>
          </a:prstGeom>
          <a:noFill/>
          <a:ln/>
        </p:spPr>
        <p:txBody>
          <a:bodyPr wrap="square" lIns="0" tIns="0" rIns="0" bIns="0" rtlCol="0" anchor="ctr"/>
          <a:lstStyle/>
          <a:p>
            <a:pPr algn="ctr" indent="0" marL="0">
              <a:buNone/>
            </a:pPr>
            <a:r>
              <a:rPr lang="id-ID" altLang="en-US" sz="1700" b="1" dirty="0">
                <a:solidFill>
                  <a:srgbClr val="FFFFFF"/>
                </a:solidFill>
              </a:rPr>
              <a:t>B</a:t>
            </a:r>
            <a:endParaRPr lang="id-ID" sz="1700" dirty="0"/>
          </a:p>
        </p:txBody>
      </p:sp>
      <p:sp>
        <p:nvSpPr>
          <p:cNvPr id="14" name="Text 10"/>
          <p:cNvSpPr txBox="1"/>
          <p:nvPr/>
        </p:nvSpPr>
        <p:spPr>
          <a:xfrm>
            <a:off x="6991960" y="2656257"/>
            <a:ext cx="4541368" cy="405994"/>
          </a:xfrm>
          <a:prstGeom prst="rect">
            <a:avLst/>
          </a:prstGeom>
          <a:noFill/>
          <a:ln/>
        </p:spPr>
        <p:txBody>
          <a:bodyPr wrap="square" lIns="0" tIns="0" rIns="0" bIns="0" rtlCol="0" anchor="ctr"/>
          <a:lstStyle/>
          <a:p>
            <a:pPr indent="0" marL="0">
              <a:buNone/>
            </a:pPr>
            <a:r>
              <a:rPr lang="id-ID" altLang="en-US" sz="1900" i="1" dirty="0">
                <a:solidFill>
                  <a:srgbClr val="57606A"/>
                </a:solidFill>
              </a:rPr>
              <a:t>Singleton</a:t>
            </a:r>
            <a:endParaRPr lang="id-ID" sz="1900" dirty="0"/>
          </a:p>
        </p:txBody>
      </p:sp>
      <p:sp>
        <p:nvSpPr>
          <p:cNvPr id="15" name="Shape 11"/>
          <p:cNvSpPr/>
          <p:nvPr/>
        </p:nvSpPr>
        <p:spPr>
          <a:xfrm>
            <a:off x="548640" y="3354858"/>
            <a:ext cx="5455768" cy="625450"/>
          </a:xfrm>
          <a:prstGeom prst="roundRect">
            <a:avLst>
              <a:gd name="adj" fmla="val 25649"/>
            </a:avLst>
          </a:prstGeom>
          <a:solidFill>
            <a:srgbClr val="FFFFFF"/>
          </a:solidFill>
          <a:ln w="9525">
            <a:solidFill>
              <a:srgbClr val="D0D7DE"/>
            </a:solidFill>
            <a:prstDash val="solid"/>
          </a:ln>
        </p:spPr>
      </p:sp>
      <p:sp>
        <p:nvSpPr>
          <p:cNvPr id="16" name="Shape 12"/>
          <p:cNvSpPr/>
          <p:nvPr/>
        </p:nvSpPr>
        <p:spPr>
          <a:xfrm>
            <a:off x="749808" y="3450413"/>
            <a:ext cx="434340" cy="434340"/>
          </a:xfrm>
          <a:prstGeom prst="ellipse">
            <a:avLst/>
          </a:prstGeom>
          <a:solidFill>
            <a:srgbClr val="8C959F"/>
          </a:solidFill>
          <a:ln/>
        </p:spPr>
      </p:sp>
      <p:sp>
        <p:nvSpPr>
          <p:cNvPr id="17" name="Text 13"/>
          <p:cNvSpPr txBox="1"/>
          <p:nvPr/>
        </p:nvSpPr>
        <p:spPr>
          <a:xfrm>
            <a:off x="749808" y="3450413"/>
            <a:ext cx="434340" cy="434340"/>
          </a:xfrm>
          <a:prstGeom prst="rect">
            <a:avLst/>
          </a:prstGeom>
          <a:noFill/>
          <a:ln/>
        </p:spPr>
        <p:txBody>
          <a:bodyPr wrap="square" lIns="0" tIns="0" rIns="0" bIns="0" rtlCol="0" anchor="ctr"/>
          <a:lstStyle/>
          <a:p>
            <a:pPr algn="ctr" indent="0" marL="0">
              <a:buNone/>
            </a:pPr>
            <a:r>
              <a:rPr lang="id-ID" altLang="en-US" sz="1700" b="1" dirty="0">
                <a:solidFill>
                  <a:srgbClr val="FFFFFF"/>
                </a:solidFill>
              </a:rPr>
              <a:t>C</a:t>
            </a:r>
            <a:endParaRPr lang="id-ID" sz="1700" dirty="0"/>
          </a:p>
        </p:txBody>
      </p:sp>
      <p:sp>
        <p:nvSpPr>
          <p:cNvPr id="18" name="Text 14"/>
          <p:cNvSpPr txBox="1"/>
          <p:nvPr/>
        </p:nvSpPr>
        <p:spPr>
          <a:xfrm>
            <a:off x="1353312" y="3464586"/>
            <a:ext cx="4541368" cy="405994"/>
          </a:xfrm>
          <a:prstGeom prst="rect">
            <a:avLst/>
          </a:prstGeom>
          <a:noFill/>
          <a:ln/>
        </p:spPr>
        <p:txBody>
          <a:bodyPr wrap="square" lIns="0" tIns="0" rIns="0" bIns="0" rtlCol="0" anchor="ctr"/>
          <a:lstStyle/>
          <a:p>
            <a:pPr indent="0" marL="0">
              <a:buNone/>
            </a:pPr>
            <a:r>
              <a:rPr lang="id-ID" altLang="en-US" sz="1900" i="1" dirty="0">
                <a:solidFill>
                  <a:srgbClr val="57606A"/>
                </a:solidFill>
              </a:rPr>
              <a:t>Observer</a:t>
            </a:r>
            <a:endParaRPr lang="id-ID" sz="1900" dirty="0"/>
          </a:p>
        </p:txBody>
      </p:sp>
      <p:sp>
        <p:nvSpPr>
          <p:cNvPr id="19" name="Shape 15"/>
          <p:cNvSpPr/>
          <p:nvPr/>
        </p:nvSpPr>
        <p:spPr>
          <a:xfrm>
            <a:off x="6187288" y="3354858"/>
            <a:ext cx="5455768" cy="625450"/>
          </a:xfrm>
          <a:prstGeom prst="roundRect">
            <a:avLst>
              <a:gd name="adj" fmla="val 25649"/>
            </a:avLst>
          </a:prstGeom>
          <a:solidFill>
            <a:srgbClr val="FFFFFF"/>
          </a:solidFill>
          <a:ln w="9525">
            <a:solidFill>
              <a:srgbClr val="D0D7DE"/>
            </a:solidFill>
            <a:prstDash val="solid"/>
          </a:ln>
        </p:spPr>
      </p:sp>
      <p:sp>
        <p:nvSpPr>
          <p:cNvPr id="20" name="Shape 16"/>
          <p:cNvSpPr/>
          <p:nvPr/>
        </p:nvSpPr>
        <p:spPr>
          <a:xfrm>
            <a:off x="6388456" y="3450413"/>
            <a:ext cx="434340" cy="434340"/>
          </a:xfrm>
          <a:prstGeom prst="ellipse">
            <a:avLst/>
          </a:prstGeom>
          <a:solidFill>
            <a:srgbClr val="8C959F"/>
          </a:solidFill>
          <a:ln/>
        </p:spPr>
      </p:sp>
      <p:sp>
        <p:nvSpPr>
          <p:cNvPr id="21" name="Text 17"/>
          <p:cNvSpPr txBox="1"/>
          <p:nvPr/>
        </p:nvSpPr>
        <p:spPr>
          <a:xfrm>
            <a:off x="6388456" y="3450413"/>
            <a:ext cx="434340" cy="434340"/>
          </a:xfrm>
          <a:prstGeom prst="rect">
            <a:avLst/>
          </a:prstGeom>
          <a:noFill/>
          <a:ln/>
        </p:spPr>
        <p:txBody>
          <a:bodyPr wrap="square" lIns="0" tIns="0" rIns="0" bIns="0" rtlCol="0" anchor="ctr"/>
          <a:lstStyle/>
          <a:p>
            <a:pPr algn="ctr" indent="0" marL="0">
              <a:buNone/>
            </a:pPr>
            <a:r>
              <a:rPr lang="id-ID" altLang="en-US" sz="1700" b="1" dirty="0">
                <a:solidFill>
                  <a:srgbClr val="FFFFFF"/>
                </a:solidFill>
              </a:rPr>
              <a:t>D</a:t>
            </a:r>
            <a:endParaRPr lang="id-ID" sz="1700" dirty="0"/>
          </a:p>
        </p:txBody>
      </p:sp>
      <p:sp>
        <p:nvSpPr>
          <p:cNvPr id="22" name="Text 18"/>
          <p:cNvSpPr txBox="1"/>
          <p:nvPr/>
        </p:nvSpPr>
        <p:spPr>
          <a:xfrm>
            <a:off x="6991960" y="3464586"/>
            <a:ext cx="4541368" cy="405994"/>
          </a:xfrm>
          <a:prstGeom prst="rect">
            <a:avLst/>
          </a:prstGeom>
          <a:noFill/>
          <a:ln/>
        </p:spPr>
        <p:txBody>
          <a:bodyPr wrap="square" lIns="0" tIns="0" rIns="0" bIns="0" rtlCol="0" anchor="ctr"/>
          <a:lstStyle/>
          <a:p>
            <a:pPr indent="0" marL="0">
              <a:buNone/>
            </a:pPr>
            <a:r>
              <a:rPr lang="id-ID" altLang="en-US" sz="1900" i="1" dirty="0">
                <a:solidFill>
                  <a:srgbClr val="57606A"/>
                </a:solidFill>
              </a:rPr>
              <a:t>Factory</a:t>
            </a:r>
            <a:endParaRPr lang="id-ID" sz="1900" dirty="0"/>
          </a:p>
        </p:txBody>
      </p:sp>
      <p:sp>
        <p:nvSpPr>
          <p:cNvPr id="23" name="Shape 19"/>
          <p:cNvSpPr/>
          <p:nvPr/>
        </p:nvSpPr>
        <p:spPr>
          <a:xfrm>
            <a:off x="548640" y="4181476"/>
            <a:ext cx="11094415" cy="1817624"/>
          </a:xfrm>
          <a:prstGeom prst="roundRect">
            <a:avLst>
              <a:gd name="adj" fmla="val 3037"/>
            </a:avLst>
          </a:prstGeom>
          <a:solidFill>
            <a:srgbClr val="FFF8C5"/>
          </a:solidFill>
          <a:ln w="9525">
            <a:solidFill>
              <a:srgbClr val="D4A72C"/>
            </a:solidFill>
            <a:prstDash val="solid"/>
          </a:ln>
        </p:spPr>
      </p:sp>
      <p:sp>
        <p:nvSpPr>
          <p:cNvPr id="24" name="Shape 20"/>
          <p:cNvSpPr/>
          <p:nvPr/>
        </p:nvSpPr>
        <p:spPr>
          <a:xfrm>
            <a:off x="777240" y="4364356"/>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464940"/>
            <a:ext cx="256032" cy="256032"/>
          </a:xfrm>
          <a:prstGeom prst="rect">
            <a:avLst/>
          </a:prstGeom>
        </p:spPr>
      </p:pic>
      <p:sp>
        <p:nvSpPr>
          <p:cNvPr id="26" name="Text 21"/>
          <p:cNvSpPr txBox="1"/>
          <p:nvPr/>
        </p:nvSpPr>
        <p:spPr>
          <a:xfrm>
            <a:off x="1417320" y="4318636"/>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A</a:t>
            </a:r>
            <a:endParaRPr lang="id-ID" sz="1600" dirty="0"/>
          </a:p>
        </p:txBody>
      </p:sp>
      <p:sp>
        <p:nvSpPr>
          <p:cNvPr id="27" name="Text 22"/>
          <p:cNvSpPr txBox="1"/>
          <p:nvPr/>
        </p:nvSpPr>
        <p:spPr>
          <a:xfrm>
            <a:off x="1417320" y="4656964"/>
            <a:ext cx="9951415" cy="1268984"/>
          </a:xfrm>
          <a:prstGeom prst="rect">
            <a:avLst/>
          </a:prstGeom>
          <a:noFill/>
          <a:ln/>
        </p:spPr>
        <p:txBody>
          <a:bodyPr wrap="square" lIns="0" tIns="0" rIns="0" bIns="0" rtlCol="0" anchor="t"/>
          <a:lstStyle/>
          <a:p>
            <a:pPr indent="0" marL="0">
              <a:buNone/>
            </a:pPr>
            <a:r>
              <a:rPr lang="id-ID" altLang="en-US" sz="1900" dirty="0">
                <a:solidFill>
                  <a:srgbClr val="1F2328"/>
                </a:solidFill>
              </a:rPr>
              <a:t>Kebutuhannya adalah </a:t>
            </a:r>
            <a:r>
              <a:rPr lang="id-ID" altLang="en-US" sz="1900" b="1" dirty="0">
                <a:solidFill>
                  <a:srgbClr val="1F2328"/>
                </a:solidFill>
              </a:rPr>
              <a:t>menukar aturan perhitungan</a:t>
            </a:r>
            <a:r>
              <a:rPr lang="id-ID" altLang="en-US" sz="1900" dirty="0">
                <a:solidFill>
                  <a:srgbClr val="1F2328"/>
                </a:solidFill>
              </a:rPr>
              <a:t> saat program berjalan dan menambah aturan baru tanpa mengubah </a:t>
            </a:r>
            <a:r>
              <a:rPr lang="id-ID" altLang="en-US" sz="1900" dirty="0">
                <a:solidFill>
                  <a:srgbClr val="0A3069"/>
                </a:solidFill>
                <a:latin typeface="Consolas" pitchFamily="34" charset="0"/>
                <a:ea typeface="Consolas" pitchFamily="34" charset="-122"/>
                <a:cs typeface="Consolas" pitchFamily="34" charset="-120"/>
              </a:rPr>
              <a:t>Perjalanan</a:t>
            </a:r>
            <a:r>
              <a:rPr lang="id-ID" altLang="en-US" sz="1900" dirty="0">
                <a:solidFill>
                  <a:srgbClr val="1F2328"/>
                </a:solidFill>
              </a:rPr>
              <a:t>. Itulah </a:t>
            </a:r>
            <a:r>
              <a:rPr lang="id-ID" altLang="en-US" sz="1900" i="1" dirty="0">
                <a:solidFill>
                  <a:srgbClr val="1F2328"/>
                </a:solidFill>
              </a:rPr>
              <a:t>Strategy</a:t>
            </a:r>
            <a:r>
              <a:rPr lang="id-ID" altLang="en-US" sz="1900" dirty="0">
                <a:solidFill>
                  <a:srgbClr val="1F2328"/>
                </a:solidFill>
              </a:rPr>
              <a:t>: setiap aturan tarif menjadi satu kelas dengan </a:t>
            </a:r>
            <a:r>
              <a:rPr lang="id-ID" altLang="en-US" sz="1900" i="1" dirty="0">
                <a:solidFill>
                  <a:srgbClr val="1F2328"/>
                </a:solidFill>
              </a:rPr>
              <a:t>interface</a:t>
            </a:r>
            <a:r>
              <a:rPr lang="id-ID" altLang="en-US" sz="1900" dirty="0">
                <a:solidFill>
                  <a:srgbClr val="1F2328"/>
                </a:solidFill>
              </a:rPr>
              <a:t> yang sama. </a:t>
            </a:r>
            <a:r>
              <a:rPr lang="id-ID" altLang="en-US" sz="1900" i="1" dirty="0">
                <a:solidFill>
                  <a:srgbClr val="1F2328"/>
                </a:solidFill>
              </a:rPr>
              <a:t>Singleton</a:t>
            </a:r>
            <a:r>
              <a:rPr lang="id-ID" altLang="en-US" sz="1900" dirty="0">
                <a:solidFill>
                  <a:srgbClr val="1F2328"/>
                </a:solidFill>
              </a:rPr>
              <a:t> menjamin satu objek, </a:t>
            </a:r>
            <a:r>
              <a:rPr lang="id-ID" altLang="en-US" sz="1900" i="1" dirty="0">
                <a:solidFill>
                  <a:srgbClr val="1F2328"/>
                </a:solidFill>
              </a:rPr>
              <a:t>Observer</a:t>
            </a:r>
            <a:r>
              <a:rPr lang="id-ID" altLang="en-US" sz="1900" dirty="0">
                <a:solidFill>
                  <a:srgbClr val="1F2328"/>
                </a:solidFill>
              </a:rPr>
              <a:t> memberi tahu banyak pihak, dan </a:t>
            </a:r>
            <a:r>
              <a:rPr lang="id-ID" altLang="en-US" sz="1900" i="1" dirty="0">
                <a:solidFill>
                  <a:srgbClr val="1F2328"/>
                </a:solidFill>
              </a:rPr>
              <a:t>Factory</a:t>
            </a:r>
            <a:r>
              <a:rPr lang="id-ID" altLang="en-US" sz="1900" dirty="0">
                <a:solidFill>
                  <a:srgbClr val="1F2328"/>
                </a:solidFill>
              </a:rPr>
              <a:t> membantu membuat objek.</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Solusi Soal C1: Kelas Abstrak </a:t>
            </a:r>
            <a:r>
              <a:rPr lang="id-ID" altLang="en-US" sz="3200" b="1" dirty="0">
                <a:solidFill>
                  <a:srgbClr val="0A3069"/>
                </a:solidFill>
                <a:latin typeface="Consolas" pitchFamily="34" charset="0"/>
                <a:ea typeface="Consolas" pitchFamily="34" charset="-122"/>
                <a:cs typeface="Consolas" pitchFamily="34" charset="-120"/>
              </a:rPr>
              <a:t>Tiket</a:t>
            </a:r>
            <a:endParaRPr lang="id-ID" sz="3200" dirty="0"/>
          </a:p>
        </p:txBody>
      </p:sp>
      <p:sp>
        <p:nvSpPr>
          <p:cNvPr id="5" name="Text 2"/>
          <p:cNvSpPr txBox="1"/>
          <p:nvPr/>
        </p:nvSpPr>
        <p:spPr>
          <a:xfrm>
            <a:off x="548640" y="1787225"/>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Satu induk abstrak dengan tiga kelas anak. </a:t>
            </a:r>
            <a:r>
              <a:rPr lang="id-ID" altLang="en-US" sz="1800" dirty="0">
                <a:solidFill>
                  <a:srgbClr val="0A3069"/>
                </a:solidFill>
                <a:latin typeface="Consolas" pitchFamily="34" charset="0"/>
                <a:ea typeface="Consolas" pitchFamily="34" charset="-122"/>
                <a:cs typeface="Consolas" pitchFamily="34" charset="-120"/>
              </a:rPr>
              <a:t>TiketVIP</a:t>
            </a:r>
            <a:r>
              <a:rPr lang="id-ID" altLang="en-US" sz="1800" dirty="0">
                <a:solidFill>
                  <a:srgbClr val="57606A"/>
                </a:solidFill>
              </a:rPr>
              <a:t> menambahkan Rp25.000 ke harga dasar.</a:t>
            </a:r>
            <a:endParaRPr lang="id-ID" sz="1800" dirty="0"/>
          </a:p>
        </p:txBody>
      </p:sp>
      <p:sp>
        <p:nvSpPr>
          <p:cNvPr id="6" name="Shape 3"/>
          <p:cNvSpPr/>
          <p:nvPr/>
        </p:nvSpPr>
        <p:spPr>
          <a:xfrm>
            <a:off x="548640" y="2221565"/>
            <a:ext cx="1051560" cy="329184"/>
          </a:xfrm>
          <a:prstGeom prst="roundRect">
            <a:avLst>
              <a:gd name="adj" fmla="val 138889"/>
            </a:avLst>
          </a:prstGeom>
          <a:solidFill>
            <a:srgbClr val="3572A5"/>
          </a:solidFill>
          <a:ln/>
        </p:spPr>
      </p:sp>
      <p:sp>
        <p:nvSpPr>
          <p:cNvPr id="7" name="Text 4"/>
          <p:cNvSpPr txBox="1"/>
          <p:nvPr/>
        </p:nvSpPr>
        <p:spPr>
          <a:xfrm>
            <a:off x="548640" y="2221565"/>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221565"/>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python/solusi/soal_c1_tiket_bioskop.py</a:t>
            </a:r>
            <a:endParaRPr lang="id-ID" sz="1100" dirty="0"/>
          </a:p>
        </p:txBody>
      </p:sp>
      <p:sp>
        <p:nvSpPr>
          <p:cNvPr id="9" name="Shape 6"/>
          <p:cNvSpPr/>
          <p:nvPr/>
        </p:nvSpPr>
        <p:spPr>
          <a:xfrm>
            <a:off x="548640" y="2642189"/>
            <a:ext cx="5432908" cy="2983484"/>
          </a:xfrm>
          <a:prstGeom prst="roundRect">
            <a:avLst>
              <a:gd name="adj" fmla="val 939"/>
            </a:avLst>
          </a:prstGeom>
          <a:solidFill>
            <a:srgbClr val="F6F8FA"/>
          </a:solidFill>
          <a:ln w="9525">
            <a:solidFill>
              <a:srgbClr val="D0D7DE"/>
            </a:solidFill>
            <a:prstDash val="solid"/>
          </a:ln>
        </p:spPr>
      </p:sp>
      <p:sp>
        <p:nvSpPr>
          <p:cNvPr id="10" name="Text 7"/>
          <p:cNvSpPr txBox="1"/>
          <p:nvPr/>
        </p:nvSpPr>
        <p:spPr>
          <a:xfrm>
            <a:off x="658368" y="2733629"/>
            <a:ext cx="5213452" cy="2800604"/>
          </a:xfrm>
          <a:prstGeom prst="rect">
            <a:avLst/>
          </a:prstGeom>
          <a:noFill/>
          <a:ln/>
        </p:spPr>
        <p:txBody>
          <a:bodyPr wrap="square" lIns="0" tIns="0" rIns="0" bIns="0" rtlCol="0" anchor="t"/>
          <a:lstStyle/>
          <a:p>
            <a:pPr indent="0" marL="0">
              <a:buNone/>
            </a:pPr>
            <a:r>
              <a:rPr lang="en-US" altLang="en-US" sz="1300" dirty="0">
                <a:solidFill>
                  <a:srgbClr val="CF222E"/>
                </a:solidFill>
                <a:latin typeface="Consolas" pitchFamily="34" charset="0"/>
                <a:ea typeface="Consolas" pitchFamily="34" charset="-122"/>
                <a:cs typeface="Consolas" pitchFamily="34" charset="-120"/>
              </a:rPr>
              <a:t>class</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953800"/>
                </a:solidFill>
                <a:latin typeface="Consolas" pitchFamily="34" charset="0"/>
                <a:ea typeface="Consolas" pitchFamily="34" charset="-122"/>
                <a:cs typeface="Consolas" pitchFamily="34" charset="-120"/>
              </a:rPr>
              <a:t>Tiket</a:t>
            </a:r>
            <a:r>
              <a:rPr lang="en-US" altLang="en-US" sz="1300" dirty="0">
                <a:solidFill>
                  <a:srgbClr val="1F2328"/>
                </a:solidFill>
                <a:latin typeface="Consolas" pitchFamily="34" charset="0"/>
                <a:ea typeface="Consolas" pitchFamily="34" charset="-122"/>
                <a:cs typeface="Consolas" pitchFamily="34" charset="-120"/>
              </a:rPr>
              <a:t>(ABC):</a:t>
            </a:r>
            <a:endParaRPr lang="en-US" sz="1300" dirty="0"/>
          </a:p>
          <a:p>
            <a:pPr indent="0" marL="0">
              <a:buNone/>
            </a:pPr>
            <a:r>
              <a:rPr lang="en-US" altLang="en-US" sz="1300" i="1" dirty="0">
                <a:solidFill>
                  <a:srgbClr val="6E7781"/>
                </a:solidFill>
                <a:latin typeface="Consolas" pitchFamily="34" charset="0"/>
                <a:ea typeface="Consolas" pitchFamily="34" charset="-122"/>
                <a:cs typeface="Consolas" pitchFamily="34" charset="-120"/>
              </a:rPr>
              <a:t>    # ... (dilewati)</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8250DF"/>
                </a:solidFill>
                <a:latin typeface="Consolas" pitchFamily="34" charset="0"/>
                <a:ea typeface="Consolas" pitchFamily="34" charset="-122"/>
                <a:cs typeface="Consolas" pitchFamily="34" charset="-120"/>
              </a:rPr>
              <a:t>@abstractmethod</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def</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8250DF"/>
                </a:solidFill>
                <a:latin typeface="Consolas" pitchFamily="34" charset="0"/>
                <a:ea typeface="Consolas" pitchFamily="34" charset="-122"/>
                <a:cs typeface="Consolas" pitchFamily="34" charset="-120"/>
              </a:rPr>
              <a:t>hitung_harga</a:t>
            </a:r>
            <a:r>
              <a:rPr lang="en-US" altLang="en-US" sz="1300" dirty="0">
                <a:solidFill>
                  <a:srgbClr val="1F2328"/>
                </a:solidFill>
                <a:latin typeface="Consolas" pitchFamily="34" charset="0"/>
                <a:ea typeface="Consolas" pitchFamily="34" charset="-122"/>
                <a:cs typeface="Consolas" pitchFamily="34" charset="-120"/>
              </a:rPr>
              <a:t>(</a:t>
            </a:r>
            <a:r>
              <a:rPr lang="en-US" altLang="en-US" sz="1300" dirty="0">
                <a:solidFill>
                  <a:srgbClr val="0550AE"/>
                </a:solidFill>
                <a:latin typeface="Consolas" pitchFamily="34" charset="0"/>
                <a:ea typeface="Consolas" pitchFamily="34" charset="-122"/>
                <a:cs typeface="Consolas" pitchFamily="34" charset="-120"/>
              </a:rPr>
              <a:t>self</a:t>
            </a:r>
            <a:r>
              <a:rPr lang="en-US" altLang="en-US" sz="1300" dirty="0">
                <a:solidFill>
                  <a:srgbClr val="1F2328"/>
                </a:solidFill>
                <a:latin typeface="Consolas" pitchFamily="34" charset="0"/>
                <a:ea typeface="Consolas" pitchFamily="34" charset="-122"/>
                <a:cs typeface="Consolas" pitchFamily="34" charset="-120"/>
              </a:rPr>
              <a:t>) -&gt; </a:t>
            </a:r>
            <a:r>
              <a:rPr lang="en-US" altLang="en-US" sz="1300" dirty="0">
                <a:solidFill>
                  <a:srgbClr val="0550AE"/>
                </a:solidFill>
                <a:latin typeface="Consolas" pitchFamily="34" charset="0"/>
                <a:ea typeface="Consolas" pitchFamily="34" charset="-122"/>
                <a:cs typeface="Consolas" pitchFamily="34" charset="-120"/>
              </a:rPr>
              <a:t>int</a:t>
            </a:r>
            <a:r>
              <a:rPr lang="en-US" altLang="en-US" sz="1300" dirty="0">
                <a:solidFill>
                  <a:srgbClr val="1F2328"/>
                </a:solidFill>
                <a:latin typeface="Consolas" pitchFamily="34" charset="0"/>
                <a:ea typeface="Consolas" pitchFamily="34" charset="-122"/>
                <a:cs typeface="Consolas" pitchFamily="34" charset="-120"/>
              </a:rPr>
              <a:t>:</a:t>
            </a:r>
            <a:endParaRPr lang="en-US" sz="1300" dirty="0"/>
          </a:p>
          <a:p>
            <a:pPr indent="0" marL="0">
              <a:buNone/>
            </a:pPr>
            <a:r>
              <a:rPr lang="en-US" altLang="en-US" sz="1300" i="1" dirty="0">
                <a:solidFill>
                  <a:srgbClr val="6E7781"/>
                </a:solidFill>
                <a:latin typeface="Consolas" pitchFamily="34" charset="0"/>
                <a:ea typeface="Consolas" pitchFamily="34" charset="-122"/>
                <a:cs typeface="Consolas" pitchFamily="34" charset="-120"/>
              </a:rPr>
              <a:t>        # ... (dilewati)</a:t>
            </a:r>
            <a:endParaRPr lang="en-US" sz="1300" dirty="0"/>
          </a:p>
          <a:p>
            <a:pPr indent="0" marL="0">
              <a:buNone/>
            </a:pPr>
            <a:r>
              <a:rPr lang="en-US" altLang="en-US" sz="1300" i="1" dirty="0">
                <a:solidFill>
                  <a:srgbClr val="6E7781"/>
                </a:solidFill>
                <a:latin typeface="Consolas" pitchFamily="34" charset="0"/>
                <a:ea typeface="Consolas" pitchFamily="34" charset="-122"/>
                <a:cs typeface="Consolas" pitchFamily="34" charset="-120"/>
              </a:rPr>
              <a:t># ... (dilewati)</a:t>
            </a:r>
            <a:endParaRPr lang="en-US" sz="1300" dirty="0"/>
          </a:p>
          <a:p>
            <a:pPr indent="0" marL="0">
              <a:buNone/>
            </a:pPr>
            <a:r>
              <a:rPr lang="en-US" altLang="en-US" sz="1300" dirty="0">
                <a:solidFill>
                  <a:srgbClr val="CF222E"/>
                </a:solidFill>
                <a:latin typeface="Consolas" pitchFamily="34" charset="0"/>
                <a:ea typeface="Consolas" pitchFamily="34" charset="-122"/>
                <a:cs typeface="Consolas" pitchFamily="34" charset="-120"/>
              </a:rPr>
              <a:t>class</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953800"/>
                </a:solidFill>
                <a:latin typeface="Consolas" pitchFamily="34" charset="0"/>
                <a:ea typeface="Consolas" pitchFamily="34" charset="-122"/>
                <a:cs typeface="Consolas" pitchFamily="34" charset="-120"/>
              </a:rPr>
              <a:t>TiketVIP</a:t>
            </a:r>
            <a:r>
              <a:rPr lang="en-US" altLang="en-US" sz="1300" dirty="0">
                <a:solidFill>
                  <a:srgbClr val="1F2328"/>
                </a:solidFill>
                <a:latin typeface="Consolas" pitchFamily="34" charset="0"/>
                <a:ea typeface="Consolas" pitchFamily="34" charset="-122"/>
                <a:cs typeface="Consolas" pitchFamily="34" charset="-120"/>
              </a:rPr>
              <a:t>(Tiket):</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TAMBAHAN = </a:t>
            </a:r>
            <a:r>
              <a:rPr lang="en-US" altLang="en-US" sz="1300" dirty="0">
                <a:solidFill>
                  <a:srgbClr val="0550AE"/>
                </a:solidFill>
                <a:latin typeface="Consolas" pitchFamily="34" charset="0"/>
                <a:ea typeface="Consolas" pitchFamily="34" charset="-122"/>
                <a:cs typeface="Consolas" pitchFamily="34" charset="-120"/>
              </a:rPr>
              <a:t>25000</a:t>
            </a:r>
            <a:endParaRPr lang="en-US" sz="1300" dirty="0"/>
          </a:p>
          <a:p>
            <a:pPr indent="0" marL="0">
              <a:buNone/>
            </a:pPr>
            <a:r>
              <a:rPr lang="en-US" altLang="en-US" sz="1300" i="1" dirty="0">
                <a:solidFill>
                  <a:srgbClr val="6E7781"/>
                </a:solidFill>
                <a:latin typeface="Consolas" pitchFamily="34" charset="0"/>
                <a:ea typeface="Consolas" pitchFamily="34" charset="-122"/>
                <a:cs typeface="Consolas" pitchFamily="34" charset="-120"/>
              </a:rPr>
              <a:t>    # ... (dilewati)</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def</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8250DF"/>
                </a:solidFill>
                <a:latin typeface="Consolas" pitchFamily="34" charset="0"/>
                <a:ea typeface="Consolas" pitchFamily="34" charset="-122"/>
                <a:cs typeface="Consolas" pitchFamily="34" charset="-120"/>
              </a:rPr>
              <a:t>hitung_harga</a:t>
            </a:r>
            <a:r>
              <a:rPr lang="en-US" altLang="en-US" sz="1300" dirty="0">
                <a:solidFill>
                  <a:srgbClr val="1F2328"/>
                </a:solidFill>
                <a:latin typeface="Consolas" pitchFamily="34" charset="0"/>
                <a:ea typeface="Consolas" pitchFamily="34" charset="-122"/>
                <a:cs typeface="Consolas" pitchFamily="34" charset="-120"/>
              </a:rPr>
              <a:t>(</a:t>
            </a:r>
            <a:r>
              <a:rPr lang="en-US" altLang="en-US" sz="1300" dirty="0">
                <a:solidFill>
                  <a:srgbClr val="0550AE"/>
                </a:solidFill>
                <a:latin typeface="Consolas" pitchFamily="34" charset="0"/>
                <a:ea typeface="Consolas" pitchFamily="34" charset="-122"/>
                <a:cs typeface="Consolas" pitchFamily="34" charset="-120"/>
              </a:rPr>
              <a:t>self</a:t>
            </a:r>
            <a:r>
              <a:rPr lang="en-US" altLang="en-US" sz="1300" dirty="0">
                <a:solidFill>
                  <a:srgbClr val="1F2328"/>
                </a:solidFill>
                <a:latin typeface="Consolas" pitchFamily="34" charset="0"/>
                <a:ea typeface="Consolas" pitchFamily="34" charset="-122"/>
                <a:cs typeface="Consolas" pitchFamily="34" charset="-120"/>
              </a:rPr>
              <a:t>) -&gt; </a:t>
            </a:r>
            <a:r>
              <a:rPr lang="en-US" altLang="en-US" sz="1300" dirty="0">
                <a:solidFill>
                  <a:srgbClr val="0550AE"/>
                </a:solidFill>
                <a:latin typeface="Consolas" pitchFamily="34" charset="0"/>
                <a:ea typeface="Consolas" pitchFamily="34" charset="-122"/>
                <a:cs typeface="Consolas" pitchFamily="34" charset="-120"/>
              </a:rPr>
              <a:t>int</a:t>
            </a:r>
            <a:r>
              <a:rPr lang="en-US" altLang="en-US" sz="1300" dirty="0">
                <a:solidFill>
                  <a:srgbClr val="1F2328"/>
                </a:solidFill>
                <a:latin typeface="Consolas" pitchFamily="34" charset="0"/>
                <a:ea typeface="Consolas" pitchFamily="34" charset="-122"/>
                <a:cs typeface="Consolas" pitchFamily="34" charset="-120"/>
              </a:rPr>
              <a:t>:</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return</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0550AE"/>
                </a:solidFill>
                <a:latin typeface="Consolas" pitchFamily="34" charset="0"/>
                <a:ea typeface="Consolas" pitchFamily="34" charset="-122"/>
                <a:cs typeface="Consolas" pitchFamily="34" charset="-120"/>
              </a:rPr>
              <a:t>self</a:t>
            </a:r>
            <a:r>
              <a:rPr lang="en-US" altLang="en-US" sz="1300" dirty="0">
                <a:solidFill>
                  <a:srgbClr val="1F2328"/>
                </a:solidFill>
                <a:latin typeface="Consolas" pitchFamily="34" charset="0"/>
                <a:ea typeface="Consolas" pitchFamily="34" charset="-122"/>
                <a:cs typeface="Consolas" pitchFamily="34" charset="-120"/>
              </a:rPr>
              <a:t>.harga_dasar + TiketVIP.TAMBAHAN</a:t>
            </a:r>
            <a:endParaRPr lang="en-US" sz="1300" dirty="0"/>
          </a:p>
        </p:txBody>
      </p:sp>
      <p:sp>
        <p:nvSpPr>
          <p:cNvPr id="11" name="Shape 8"/>
          <p:cNvSpPr/>
          <p:nvPr/>
        </p:nvSpPr>
        <p:spPr>
          <a:xfrm>
            <a:off x="6210148" y="2221565"/>
            <a:ext cx="1051560" cy="329184"/>
          </a:xfrm>
          <a:prstGeom prst="roundRect">
            <a:avLst>
              <a:gd name="adj" fmla="val 138889"/>
            </a:avLst>
          </a:prstGeom>
          <a:solidFill>
            <a:srgbClr val="B07219"/>
          </a:solidFill>
          <a:ln/>
        </p:spPr>
      </p:sp>
      <p:sp>
        <p:nvSpPr>
          <p:cNvPr id="12" name="Text 9"/>
          <p:cNvSpPr txBox="1"/>
          <p:nvPr/>
        </p:nvSpPr>
        <p:spPr>
          <a:xfrm>
            <a:off x="6210148" y="2221565"/>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221565"/>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java/solusi/SoalC1TiketBioskop.java</a:t>
            </a:r>
            <a:endParaRPr lang="id-ID" sz="1100" dirty="0"/>
          </a:p>
        </p:txBody>
      </p:sp>
      <p:sp>
        <p:nvSpPr>
          <p:cNvPr id="14" name="Shape 11"/>
          <p:cNvSpPr/>
          <p:nvPr/>
        </p:nvSpPr>
        <p:spPr>
          <a:xfrm>
            <a:off x="6210148" y="2642189"/>
            <a:ext cx="5432908" cy="2983484"/>
          </a:xfrm>
          <a:prstGeom prst="roundRect">
            <a:avLst>
              <a:gd name="adj" fmla="val 939"/>
            </a:avLst>
          </a:prstGeom>
          <a:solidFill>
            <a:srgbClr val="F6F8FA"/>
          </a:solidFill>
          <a:ln w="9525">
            <a:solidFill>
              <a:srgbClr val="D0D7DE"/>
            </a:solidFill>
            <a:prstDash val="solid"/>
          </a:ln>
        </p:spPr>
      </p:sp>
      <p:sp>
        <p:nvSpPr>
          <p:cNvPr id="15" name="Text 12"/>
          <p:cNvSpPr txBox="1"/>
          <p:nvPr/>
        </p:nvSpPr>
        <p:spPr>
          <a:xfrm>
            <a:off x="6319876" y="2733629"/>
            <a:ext cx="5213452" cy="2800604"/>
          </a:xfrm>
          <a:prstGeom prst="rect">
            <a:avLst/>
          </a:prstGeom>
          <a:noFill/>
          <a:ln/>
        </p:spPr>
        <p:txBody>
          <a:bodyPr wrap="square" lIns="0" tIns="0" rIns="0" bIns="0" rtlCol="0" anchor="t"/>
          <a:lstStyle/>
          <a:p>
            <a:pPr indent="0" marL="0">
              <a:buNone/>
            </a:pPr>
            <a:r>
              <a:rPr lang="en-US" altLang="en-US" sz="1300" dirty="0">
                <a:solidFill>
                  <a:srgbClr val="CF222E"/>
                </a:solidFill>
                <a:latin typeface="Consolas" pitchFamily="34" charset="0"/>
                <a:ea typeface="Consolas" pitchFamily="34" charset="-122"/>
                <a:cs typeface="Consolas" pitchFamily="34" charset="-120"/>
              </a:rPr>
              <a:t>abstract</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class</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953800"/>
                </a:solidFill>
                <a:latin typeface="Consolas" pitchFamily="34" charset="0"/>
                <a:ea typeface="Consolas" pitchFamily="34" charset="-122"/>
                <a:cs typeface="Consolas" pitchFamily="34" charset="-120"/>
              </a:rPr>
              <a:t>Tiket</a:t>
            </a:r>
            <a:r>
              <a:rPr lang="en-US" altLang="en-US" sz="1300" dirty="0">
                <a:solidFill>
                  <a:srgbClr val="1F2328"/>
                </a:solidFill>
                <a:latin typeface="Consolas" pitchFamily="34" charset="0"/>
                <a:ea typeface="Consolas" pitchFamily="34" charset="-122"/>
                <a:cs typeface="Consolas" pitchFamily="34" charset="-120"/>
              </a:rPr>
              <a:t> {</a:t>
            </a:r>
            <a:endParaRPr lang="en-US" sz="1300" dirty="0"/>
          </a:p>
          <a:p>
            <a:pPr indent="0" marL="0">
              <a:buNone/>
            </a:pPr>
            <a:r>
              <a:rPr lang="en-US" altLang="en-US" sz="1300" i="1" dirty="0">
                <a:solidFill>
                  <a:srgbClr val="6E7781"/>
                </a:solidFill>
                <a:latin typeface="Consolas" pitchFamily="34" charset="0"/>
                <a:ea typeface="Consolas" pitchFamily="34" charset="-122"/>
                <a:cs typeface="Consolas" pitchFamily="34" charset="-120"/>
              </a:rPr>
              <a:t>    // ... (dilewati)</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public</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abstract</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int</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8250DF"/>
                </a:solidFill>
                <a:latin typeface="Consolas" pitchFamily="34" charset="0"/>
                <a:ea typeface="Consolas" pitchFamily="34" charset="-122"/>
                <a:cs typeface="Consolas" pitchFamily="34" charset="-120"/>
              </a:rPr>
              <a:t>hitungHarga</a:t>
            </a:r>
            <a:r>
              <a:rPr lang="en-US" altLang="en-US" sz="1300" dirty="0">
                <a:solidFill>
                  <a:srgbClr val="1F2328"/>
                </a:solidFill>
                <a:latin typeface="Consolas" pitchFamily="34" charset="0"/>
                <a:ea typeface="Consolas" pitchFamily="34" charset="-122"/>
                <a:cs typeface="Consolas" pitchFamily="34" charset="-120"/>
              </a:rPr>
              <a:t>();</a:t>
            </a:r>
            <a:endParaRPr lang="en-US" sz="1300" dirty="0"/>
          </a:p>
          <a:p>
            <a:pPr indent="0" marL="0">
              <a:buNone/>
            </a:pPr>
            <a:r>
              <a:rPr lang="en-US" altLang="en-US" sz="1300" i="1" dirty="0">
                <a:solidFill>
                  <a:srgbClr val="6E7781"/>
                </a:solidFill>
                <a:latin typeface="Consolas" pitchFamily="34" charset="0"/>
                <a:ea typeface="Consolas" pitchFamily="34" charset="-122"/>
                <a:cs typeface="Consolas" pitchFamily="34" charset="-120"/>
              </a:rPr>
              <a:t>    // ... (dilewati)</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a:t>
            </a:r>
            <a:endParaRPr lang="en-US" sz="1300" dirty="0"/>
          </a:p>
          <a:p>
            <a:pPr indent="0" marL="0">
              <a:buNone/>
            </a:pPr>
            <a:r>
              <a:rPr lang="en-US" altLang="en-US" sz="1300" i="1" dirty="0">
                <a:solidFill>
                  <a:srgbClr val="6E7781"/>
                </a:solidFill>
                <a:latin typeface="Consolas" pitchFamily="34" charset="0"/>
                <a:ea typeface="Consolas" pitchFamily="34" charset="-122"/>
                <a:cs typeface="Consolas" pitchFamily="34" charset="-120"/>
              </a:rPr>
              <a:t>// ... (dilewati)</a:t>
            </a:r>
            <a:endParaRPr lang="en-US" sz="1300" dirty="0"/>
          </a:p>
          <a:p>
            <a:pPr indent="0" marL="0">
              <a:buNone/>
            </a:pPr>
            <a:r>
              <a:rPr lang="en-US" altLang="en-US" sz="1300" dirty="0">
                <a:solidFill>
                  <a:srgbClr val="CF222E"/>
                </a:solidFill>
                <a:latin typeface="Consolas" pitchFamily="34" charset="0"/>
                <a:ea typeface="Consolas" pitchFamily="34" charset="-122"/>
                <a:cs typeface="Consolas" pitchFamily="34" charset="-120"/>
              </a:rPr>
              <a:t>class</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953800"/>
                </a:solidFill>
                <a:latin typeface="Consolas" pitchFamily="34" charset="0"/>
                <a:ea typeface="Consolas" pitchFamily="34" charset="-122"/>
                <a:cs typeface="Consolas" pitchFamily="34" charset="-120"/>
              </a:rPr>
              <a:t>TiketVIP</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extends</a:t>
            </a:r>
            <a:r>
              <a:rPr lang="en-US" altLang="en-US" sz="1300" dirty="0">
                <a:solidFill>
                  <a:srgbClr val="1F2328"/>
                </a:solidFill>
                <a:latin typeface="Consolas" pitchFamily="34" charset="0"/>
                <a:ea typeface="Consolas" pitchFamily="34" charset="-122"/>
                <a:cs typeface="Consolas" pitchFamily="34" charset="-120"/>
              </a:rPr>
              <a:t> Tiket {</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static</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final</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int</a:t>
            </a:r>
            <a:r>
              <a:rPr lang="en-US" altLang="en-US" sz="1300" dirty="0">
                <a:solidFill>
                  <a:srgbClr val="1F2328"/>
                </a:solidFill>
                <a:latin typeface="Consolas" pitchFamily="34" charset="0"/>
                <a:ea typeface="Consolas" pitchFamily="34" charset="-122"/>
                <a:cs typeface="Consolas" pitchFamily="34" charset="-120"/>
              </a:rPr>
              <a:t> TAMBAHAN = </a:t>
            </a:r>
            <a:r>
              <a:rPr lang="en-US" altLang="en-US" sz="1300" dirty="0">
                <a:solidFill>
                  <a:srgbClr val="0550AE"/>
                </a:solidFill>
                <a:latin typeface="Consolas" pitchFamily="34" charset="0"/>
                <a:ea typeface="Consolas" pitchFamily="34" charset="-122"/>
                <a:cs typeface="Consolas" pitchFamily="34" charset="-120"/>
              </a:rPr>
              <a:t>25000</a:t>
            </a:r>
            <a:r>
              <a:rPr lang="en-US" altLang="en-US" sz="1300" dirty="0">
                <a:solidFill>
                  <a:srgbClr val="1F2328"/>
                </a:solidFill>
                <a:latin typeface="Consolas" pitchFamily="34" charset="0"/>
                <a:ea typeface="Consolas" pitchFamily="34" charset="-122"/>
                <a:cs typeface="Consolas" pitchFamily="34" charset="-120"/>
              </a:rPr>
              <a:t>;</a:t>
            </a:r>
            <a:endParaRPr lang="en-US" sz="1300" dirty="0"/>
          </a:p>
          <a:p>
            <a:pPr indent="0" marL="0">
              <a:buNone/>
            </a:pPr>
            <a:r>
              <a:rPr lang="en-US" altLang="en-US" sz="1300" i="1" dirty="0">
                <a:solidFill>
                  <a:srgbClr val="6E7781"/>
                </a:solidFill>
                <a:latin typeface="Consolas" pitchFamily="34" charset="0"/>
                <a:ea typeface="Consolas" pitchFamily="34" charset="-122"/>
                <a:cs typeface="Consolas" pitchFamily="34" charset="-120"/>
              </a:rPr>
              <a:t>    // ... (dilewati)</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8250DF"/>
                </a:solidFill>
                <a:latin typeface="Consolas" pitchFamily="34" charset="0"/>
                <a:ea typeface="Consolas" pitchFamily="34" charset="-122"/>
                <a:cs typeface="Consolas" pitchFamily="34" charset="-120"/>
              </a:rPr>
              <a:t>@Override</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public</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int</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8250DF"/>
                </a:solidFill>
                <a:latin typeface="Consolas" pitchFamily="34" charset="0"/>
                <a:ea typeface="Consolas" pitchFamily="34" charset="-122"/>
                <a:cs typeface="Consolas" pitchFamily="34" charset="-120"/>
              </a:rPr>
              <a:t>hitungHarga</a:t>
            </a:r>
            <a:r>
              <a:rPr lang="en-US" altLang="en-US" sz="1300" dirty="0">
                <a:solidFill>
                  <a:srgbClr val="1F2328"/>
                </a:solidFill>
                <a:latin typeface="Consolas" pitchFamily="34" charset="0"/>
                <a:ea typeface="Consolas" pitchFamily="34" charset="-122"/>
                <a:cs typeface="Consolas" pitchFamily="34" charset="-120"/>
              </a:rPr>
              <a:t>() {</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return</a:t>
            </a:r>
            <a:r>
              <a:rPr lang="en-US" altLang="en-US" sz="1300" dirty="0">
                <a:solidFill>
                  <a:srgbClr val="1F2328"/>
                </a:solidFill>
                <a:latin typeface="Consolas" pitchFamily="34" charset="0"/>
                <a:ea typeface="Consolas" pitchFamily="34" charset="-122"/>
                <a:cs typeface="Consolas" pitchFamily="34" charset="-120"/>
              </a:rPr>
              <a:t> getHargaDasar() + TAMBAHAN;</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F222E"/>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Miskonsepsi yang Sering Terjadi</a:t>
            </a:r>
            <a:endParaRPr lang="id-ID" sz="3200" dirty="0"/>
          </a:p>
        </p:txBody>
      </p:sp>
      <p:sp>
        <p:nvSpPr>
          <p:cNvPr id="5" name="Shape 2"/>
          <p:cNvSpPr/>
          <p:nvPr/>
        </p:nvSpPr>
        <p:spPr>
          <a:xfrm>
            <a:off x="548640" y="1439509"/>
            <a:ext cx="329184" cy="329184"/>
          </a:xfrm>
          <a:prstGeom prst="ellipse">
            <a:avLst/>
          </a:prstGeom>
          <a:solidFill>
            <a:srgbClr val="CF222E"/>
          </a:solidFill>
          <a:ln/>
        </p:spPr>
      </p:sp>
      <p:pic>
        <p:nvPicPr>
          <p:cNvPr id="6" name="Image 1" descr="preencoded.png">    </p:cNvPr>
          <p:cNvPicPr>
            <a:picLocks noChangeAspect="1"/>
          </p:cNvPicPr>
          <p:nvPr/>
        </p:nvPicPr>
        <p:blipFill>
          <a:blip r:embed="rId2"/>
          <a:stretch>
            <a:fillRect/>
          </a:stretch>
        </p:blipFill>
        <p:spPr>
          <a:xfrm>
            <a:off x="621060" y="1511930"/>
            <a:ext cx="184343" cy="184343"/>
          </a:xfrm>
          <a:prstGeom prst="rect">
            <a:avLst/>
          </a:prstGeom>
        </p:spPr>
      </p:pic>
      <p:sp>
        <p:nvSpPr>
          <p:cNvPr id="7" name="Text 3"/>
          <p:cNvSpPr txBox="1"/>
          <p:nvPr/>
        </p:nvSpPr>
        <p:spPr>
          <a:xfrm>
            <a:off x="987552" y="1439509"/>
            <a:ext cx="3886200" cy="329184"/>
          </a:xfrm>
          <a:prstGeom prst="rect">
            <a:avLst/>
          </a:prstGeom>
          <a:noFill/>
          <a:ln/>
        </p:spPr>
        <p:txBody>
          <a:bodyPr wrap="square" lIns="0" tIns="0" rIns="0" bIns="0" rtlCol="0" anchor="ctr"/>
          <a:lstStyle/>
          <a:p>
            <a:pPr indent="0" marL="0">
              <a:buNone/>
            </a:pPr>
            <a:r>
              <a:rPr lang="id-ID" altLang="en-US" sz="1600" b="1" dirty="0">
                <a:solidFill>
                  <a:srgbClr val="CF222E"/>
                </a:solidFill>
              </a:rPr>
              <a:t>Anggapan keliru</a:t>
            </a:r>
            <a:endParaRPr lang="id-ID" sz="1600" dirty="0"/>
          </a:p>
        </p:txBody>
      </p:sp>
      <p:sp>
        <p:nvSpPr>
          <p:cNvPr id="8" name="Shape 4"/>
          <p:cNvSpPr/>
          <p:nvPr/>
        </p:nvSpPr>
        <p:spPr>
          <a:xfrm>
            <a:off x="5166360" y="1439509"/>
            <a:ext cx="329184" cy="329184"/>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5238780" y="1511930"/>
            <a:ext cx="184343" cy="184343"/>
          </a:xfrm>
          <a:prstGeom prst="rect">
            <a:avLst/>
          </a:prstGeom>
        </p:spPr>
      </p:pic>
      <p:sp>
        <p:nvSpPr>
          <p:cNvPr id="10" name="Text 5"/>
          <p:cNvSpPr txBox="1"/>
          <p:nvPr/>
        </p:nvSpPr>
        <p:spPr>
          <a:xfrm>
            <a:off x="5605272" y="1439509"/>
            <a:ext cx="6019495" cy="329184"/>
          </a:xfrm>
          <a:prstGeom prst="rect">
            <a:avLst/>
          </a:prstGeom>
          <a:noFill/>
          <a:ln/>
        </p:spPr>
        <p:txBody>
          <a:bodyPr wrap="square" lIns="0" tIns="0" rIns="0" bIns="0" rtlCol="0" anchor="ctr"/>
          <a:lstStyle/>
          <a:p>
            <a:pPr indent="0" marL="0">
              <a:buNone/>
            </a:pPr>
            <a:r>
              <a:rPr lang="id-ID" altLang="en-US" sz="1600" b="1" dirty="0">
                <a:solidFill>
                  <a:srgbClr val="1A7F37"/>
                </a:solidFill>
              </a:rPr>
              <a:t>Yang benar</a:t>
            </a:r>
            <a:endParaRPr lang="id-ID" sz="1600" dirty="0"/>
          </a:p>
        </p:txBody>
      </p:sp>
      <p:sp>
        <p:nvSpPr>
          <p:cNvPr id="11" name="Shape 6"/>
          <p:cNvSpPr/>
          <p:nvPr/>
        </p:nvSpPr>
        <p:spPr>
          <a:xfrm>
            <a:off x="548640" y="1942429"/>
            <a:ext cx="4343400" cy="1388364"/>
          </a:xfrm>
          <a:prstGeom prst="roundRect">
            <a:avLst>
              <a:gd name="adj" fmla="val 5205"/>
            </a:avLst>
          </a:prstGeom>
          <a:solidFill>
            <a:srgbClr val="FFEBE9"/>
          </a:solidFill>
          <a:ln w="9525">
            <a:solidFill>
              <a:srgbClr val="FF8182"/>
            </a:solidFill>
            <a:prstDash val="solid"/>
          </a:ln>
        </p:spPr>
      </p:sp>
      <p:sp>
        <p:nvSpPr>
          <p:cNvPr id="12" name="Text 7"/>
          <p:cNvSpPr txBox="1"/>
          <p:nvPr/>
        </p:nvSpPr>
        <p:spPr>
          <a:xfrm>
            <a:off x="777240" y="2125309"/>
            <a:ext cx="3886200" cy="1114044"/>
          </a:xfrm>
          <a:prstGeom prst="rect">
            <a:avLst/>
          </a:prstGeom>
          <a:noFill/>
          <a:ln/>
        </p:spPr>
        <p:txBody>
          <a:bodyPr wrap="square" lIns="0" tIns="0" rIns="0" bIns="0" rtlCol="0" anchor="t"/>
          <a:lstStyle/>
          <a:p>
            <a:pPr indent="0" marL="0">
              <a:buNone/>
            </a:pPr>
            <a:r>
              <a:rPr lang="id-ID" altLang="en-US" sz="2200" dirty="0">
                <a:solidFill>
                  <a:srgbClr val="1F2328"/>
                </a:solidFill>
              </a:rPr>
              <a:t>“Tipe variabelnya induk, jadi yang jalan </a:t>
            </a:r>
            <a:r>
              <a:rPr lang="id-ID" altLang="en-US" sz="2200" i="1" dirty="0">
                <a:solidFill>
                  <a:srgbClr val="1F2328"/>
                </a:solidFill>
              </a:rPr>
              <a:t>method</a:t>
            </a:r>
            <a:r>
              <a:rPr lang="id-ID" altLang="en-US" sz="2200" dirty="0">
                <a:solidFill>
                  <a:srgbClr val="1F2328"/>
                </a:solidFill>
              </a:rPr>
              <a:t> induk.”</a:t>
            </a:r>
            <a:endParaRPr lang="id-ID" sz="2200" dirty="0"/>
          </a:p>
        </p:txBody>
      </p:sp>
      <p:sp>
        <p:nvSpPr>
          <p:cNvPr id="13" name="Shape 8"/>
          <p:cNvSpPr/>
          <p:nvPr/>
        </p:nvSpPr>
        <p:spPr>
          <a:xfrm>
            <a:off x="5166360" y="1942429"/>
            <a:ext cx="6476695" cy="1388364"/>
          </a:xfrm>
          <a:prstGeom prst="roundRect">
            <a:avLst>
              <a:gd name="adj" fmla="val 5205"/>
            </a:avLst>
          </a:prstGeom>
          <a:solidFill>
            <a:srgbClr val="DAFBE1"/>
          </a:solidFill>
          <a:ln w="9525">
            <a:solidFill>
              <a:srgbClr val="4AC26B"/>
            </a:solidFill>
            <a:prstDash val="solid"/>
          </a:ln>
        </p:spPr>
      </p:sp>
      <p:sp>
        <p:nvSpPr>
          <p:cNvPr id="14" name="Text 9"/>
          <p:cNvSpPr txBox="1"/>
          <p:nvPr/>
        </p:nvSpPr>
        <p:spPr>
          <a:xfrm>
            <a:off x="5394960" y="2125309"/>
            <a:ext cx="6019495" cy="1114044"/>
          </a:xfrm>
          <a:prstGeom prst="rect">
            <a:avLst/>
          </a:prstGeom>
          <a:noFill/>
          <a:ln/>
        </p:spPr>
        <p:txBody>
          <a:bodyPr wrap="square" lIns="0" tIns="0" rIns="0" bIns="0" rtlCol="0" anchor="t"/>
          <a:lstStyle/>
          <a:p>
            <a:pPr indent="0" marL="0">
              <a:buNone/>
            </a:pPr>
            <a:r>
              <a:rPr lang="id-ID" altLang="en-US" sz="2200" dirty="0">
                <a:solidFill>
                  <a:srgbClr val="1F2328"/>
                </a:solidFill>
              </a:rPr>
              <a:t>Yang jalan versi milik </a:t>
            </a:r>
            <a:r>
              <a:rPr lang="id-ID" altLang="en-US" sz="2200" b="1" dirty="0">
                <a:solidFill>
                  <a:srgbClr val="1F2328"/>
                </a:solidFill>
              </a:rPr>
              <a:t>objek sebenarnya</a:t>
            </a:r>
            <a:r>
              <a:rPr lang="id-ID" altLang="en-US" sz="2200" dirty="0">
                <a:solidFill>
                  <a:srgbClr val="1F2328"/>
                </a:solidFill>
              </a:rPr>
              <a:t> (</a:t>
            </a:r>
            <a:r>
              <a:rPr lang="id-ID" altLang="en-US" sz="2200" i="1" dirty="0">
                <a:solidFill>
                  <a:srgbClr val="1F2328"/>
                </a:solidFill>
              </a:rPr>
              <a:t>dynamic dispatch</a:t>
            </a:r>
            <a:r>
              <a:rPr lang="id-ID" altLang="en-US" sz="2200" dirty="0">
                <a:solidFill>
                  <a:srgbClr val="1F2328"/>
                </a:solidFill>
              </a:rPr>
              <a:t>), juga saat dipanggil dari dalam </a:t>
            </a:r>
            <a:r>
              <a:rPr lang="id-ID" altLang="en-US" sz="2200" i="1" dirty="0">
                <a:solidFill>
                  <a:srgbClr val="1F2328"/>
                </a:solidFill>
              </a:rPr>
              <a:t>method</a:t>
            </a:r>
            <a:r>
              <a:rPr lang="id-ID" altLang="en-US" sz="2200" dirty="0">
                <a:solidFill>
                  <a:srgbClr val="1F2328"/>
                </a:solidFill>
              </a:rPr>
              <a:t> induk.</a:t>
            </a:r>
            <a:endParaRPr lang="id-ID" sz="2200" dirty="0"/>
          </a:p>
        </p:txBody>
      </p:sp>
      <p:sp>
        <p:nvSpPr>
          <p:cNvPr id="15" name="Shape 10"/>
          <p:cNvSpPr/>
          <p:nvPr/>
        </p:nvSpPr>
        <p:spPr>
          <a:xfrm>
            <a:off x="548640" y="3531961"/>
            <a:ext cx="4343400" cy="1388364"/>
          </a:xfrm>
          <a:prstGeom prst="roundRect">
            <a:avLst>
              <a:gd name="adj" fmla="val 5205"/>
            </a:avLst>
          </a:prstGeom>
          <a:solidFill>
            <a:srgbClr val="FFEBE9"/>
          </a:solidFill>
          <a:ln w="9525">
            <a:solidFill>
              <a:srgbClr val="FF8182"/>
            </a:solidFill>
            <a:prstDash val="solid"/>
          </a:ln>
        </p:spPr>
      </p:sp>
      <p:sp>
        <p:nvSpPr>
          <p:cNvPr id="16" name="Text 11"/>
          <p:cNvSpPr txBox="1"/>
          <p:nvPr/>
        </p:nvSpPr>
        <p:spPr>
          <a:xfrm>
            <a:off x="777240" y="3714841"/>
            <a:ext cx="3886200" cy="1114044"/>
          </a:xfrm>
          <a:prstGeom prst="rect">
            <a:avLst/>
          </a:prstGeom>
          <a:noFill/>
          <a:ln/>
        </p:spPr>
        <p:txBody>
          <a:bodyPr wrap="square" lIns="0" tIns="0" rIns="0" bIns="0" rtlCol="0" anchor="t"/>
          <a:lstStyle/>
          <a:p>
            <a:pPr indent="0" marL="0">
              <a:buNone/>
            </a:pPr>
            <a:r>
              <a:rPr lang="id-ID" altLang="en-US" sz="2200" dirty="0">
                <a:solidFill>
                  <a:srgbClr val="1F2328"/>
                </a:solidFill>
              </a:rPr>
              <a:t>“</a:t>
            </a:r>
            <a:r>
              <a:rPr lang="id-ID" altLang="en-US" sz="2200" dirty="0">
                <a:solidFill>
                  <a:srgbClr val="1F2328"/>
                </a:solidFill>
                <a:latin typeface="Consolas" pitchFamily="34" charset="0"/>
                <a:ea typeface="Consolas" pitchFamily="34" charset="-122"/>
                <a:cs typeface="Consolas" pitchFamily="34" charset="-120"/>
              </a:rPr>
              <a:t>finally</a:t>
            </a:r>
            <a:r>
              <a:rPr lang="id-ID" altLang="en-US" sz="2200" dirty="0">
                <a:solidFill>
                  <a:srgbClr val="1F2328"/>
                </a:solidFill>
              </a:rPr>
              <a:t> tidak jalan kalau sudah </a:t>
            </a:r>
            <a:r>
              <a:rPr lang="id-ID" altLang="en-US" sz="2200" dirty="0">
                <a:solidFill>
                  <a:srgbClr val="1F2328"/>
                </a:solidFill>
                <a:latin typeface="Consolas" pitchFamily="34" charset="0"/>
                <a:ea typeface="Consolas" pitchFamily="34" charset="-122"/>
                <a:cs typeface="Consolas" pitchFamily="34" charset="-120"/>
              </a:rPr>
              <a:t>return</a:t>
            </a:r>
            <a:r>
              <a:rPr lang="id-ID" altLang="en-US" sz="2200" dirty="0">
                <a:solidFill>
                  <a:srgbClr val="1F2328"/>
                </a:solidFill>
              </a:rPr>
              <a:t>.”</a:t>
            </a:r>
            <a:endParaRPr lang="id-ID" sz="2200" dirty="0"/>
          </a:p>
        </p:txBody>
      </p:sp>
      <p:sp>
        <p:nvSpPr>
          <p:cNvPr id="17" name="Shape 12"/>
          <p:cNvSpPr/>
          <p:nvPr/>
        </p:nvSpPr>
        <p:spPr>
          <a:xfrm>
            <a:off x="5166360" y="3531961"/>
            <a:ext cx="6476695" cy="1388364"/>
          </a:xfrm>
          <a:prstGeom prst="roundRect">
            <a:avLst>
              <a:gd name="adj" fmla="val 5205"/>
            </a:avLst>
          </a:prstGeom>
          <a:solidFill>
            <a:srgbClr val="DAFBE1"/>
          </a:solidFill>
          <a:ln w="9525">
            <a:solidFill>
              <a:srgbClr val="4AC26B"/>
            </a:solidFill>
            <a:prstDash val="solid"/>
          </a:ln>
        </p:spPr>
      </p:sp>
      <p:sp>
        <p:nvSpPr>
          <p:cNvPr id="18" name="Text 13"/>
          <p:cNvSpPr txBox="1"/>
          <p:nvPr/>
        </p:nvSpPr>
        <p:spPr>
          <a:xfrm>
            <a:off x="5394960" y="3714841"/>
            <a:ext cx="6019495" cy="1114044"/>
          </a:xfrm>
          <a:prstGeom prst="rect">
            <a:avLst/>
          </a:prstGeom>
          <a:noFill/>
          <a:ln/>
        </p:spPr>
        <p:txBody>
          <a:bodyPr wrap="square" lIns="0" tIns="0" rIns="0" bIns="0" rtlCol="0" anchor="t"/>
          <a:lstStyle/>
          <a:p>
            <a:pPr indent="0" marL="0">
              <a:buNone/>
            </a:pPr>
            <a:r>
              <a:rPr lang="id-ID" altLang="en-US" sz="2200" dirty="0">
                <a:solidFill>
                  <a:srgbClr val="1F2328"/>
                </a:solidFill>
                <a:latin typeface="Consolas" pitchFamily="34" charset="0"/>
                <a:ea typeface="Consolas" pitchFamily="34" charset="-122"/>
                <a:cs typeface="Consolas" pitchFamily="34" charset="-120"/>
              </a:rPr>
              <a:t>finally</a:t>
            </a:r>
            <a:r>
              <a:rPr lang="id-ID" altLang="en-US" sz="2200" dirty="0">
                <a:solidFill>
                  <a:srgbClr val="1F2328"/>
                </a:solidFill>
              </a:rPr>
              <a:t> </a:t>
            </a:r>
            <a:r>
              <a:rPr lang="id-ID" altLang="en-US" sz="2200" b="1" dirty="0">
                <a:solidFill>
                  <a:srgbClr val="1F2328"/>
                </a:solidFill>
              </a:rPr>
              <a:t>tetap</a:t>
            </a:r>
            <a:r>
              <a:rPr lang="id-ID" altLang="en-US" sz="2200" dirty="0">
                <a:solidFill>
                  <a:srgbClr val="1F2328"/>
                </a:solidFill>
              </a:rPr>
              <a:t> jalan. Nilai kembaliannya ditahan dulu, </a:t>
            </a:r>
            <a:r>
              <a:rPr lang="id-ID" altLang="en-US" sz="2200" dirty="0">
                <a:solidFill>
                  <a:srgbClr val="1F2328"/>
                </a:solidFill>
                <a:latin typeface="Consolas" pitchFamily="34" charset="0"/>
                <a:ea typeface="Consolas" pitchFamily="34" charset="-122"/>
                <a:cs typeface="Consolas" pitchFamily="34" charset="-120"/>
              </a:rPr>
              <a:t>finally</a:t>
            </a:r>
            <a:r>
              <a:rPr lang="id-ID" altLang="en-US" sz="2200" dirty="0">
                <a:solidFill>
                  <a:srgbClr val="1F2328"/>
                </a:solidFill>
              </a:rPr>
              <a:t> dijalankan, baru nilai itu dikembalikan.</a:t>
            </a:r>
            <a:endParaRPr lang="id-ID" sz="2200" dirty="0"/>
          </a:p>
        </p:txBody>
      </p:sp>
      <p:sp>
        <p:nvSpPr>
          <p:cNvPr id="19" name="Shape 14"/>
          <p:cNvSpPr/>
          <p:nvPr/>
        </p:nvSpPr>
        <p:spPr>
          <a:xfrm>
            <a:off x="548640" y="5121493"/>
            <a:ext cx="4343400" cy="1047496"/>
          </a:xfrm>
          <a:prstGeom prst="roundRect">
            <a:avLst>
              <a:gd name="adj" fmla="val 9144"/>
            </a:avLst>
          </a:prstGeom>
          <a:solidFill>
            <a:srgbClr val="FFEBE9"/>
          </a:solidFill>
          <a:ln w="9525">
            <a:solidFill>
              <a:srgbClr val="FF8182"/>
            </a:solidFill>
            <a:prstDash val="solid"/>
          </a:ln>
        </p:spPr>
      </p:sp>
      <p:sp>
        <p:nvSpPr>
          <p:cNvPr id="20" name="Text 15"/>
          <p:cNvSpPr txBox="1"/>
          <p:nvPr/>
        </p:nvSpPr>
        <p:spPr>
          <a:xfrm>
            <a:off x="777240" y="5304373"/>
            <a:ext cx="3886200" cy="773176"/>
          </a:xfrm>
          <a:prstGeom prst="rect">
            <a:avLst/>
          </a:prstGeom>
          <a:noFill/>
          <a:ln/>
        </p:spPr>
        <p:txBody>
          <a:bodyPr wrap="square" lIns="0" tIns="0" rIns="0" bIns="0" rtlCol="0" anchor="t"/>
          <a:lstStyle/>
          <a:p>
            <a:pPr indent="0" marL="0">
              <a:buNone/>
            </a:pPr>
            <a:r>
              <a:rPr lang="id-ID" altLang="en-US" sz="2200" dirty="0">
                <a:solidFill>
                  <a:srgbClr val="1F2328"/>
                </a:solidFill>
              </a:rPr>
              <a:t>“Cukup meng-⁠</a:t>
            </a:r>
            <a:r>
              <a:rPr lang="id-ID" altLang="en-US" sz="2200" i="1" dirty="0">
                <a:solidFill>
                  <a:srgbClr val="1F2328"/>
                </a:solidFill>
              </a:rPr>
              <a:t>override</a:t>
            </a:r>
            <a:r>
              <a:rPr lang="id-ID" altLang="en-US" sz="2200" dirty="0">
                <a:solidFill>
                  <a:srgbClr val="1F2328"/>
                </a:solidFill>
              </a:rPr>
              <a:t> </a:t>
            </a:r>
            <a:r>
              <a:rPr lang="id-ID" altLang="en-US" sz="2200" dirty="0">
                <a:solidFill>
                  <a:srgbClr val="1F2328"/>
                </a:solidFill>
                <a:latin typeface="Consolas" pitchFamily="34" charset="0"/>
                <a:ea typeface="Consolas" pitchFamily="34" charset="-122"/>
                <a:cs typeface="Consolas" pitchFamily="34" charset="-120"/>
              </a:rPr>
              <a:t>equals</a:t>
            </a:r>
            <a:r>
              <a:rPr lang="id-ID" altLang="en-US" sz="2200" dirty="0">
                <a:solidFill>
                  <a:srgbClr val="1F2328"/>
                </a:solidFill>
              </a:rPr>
              <a:t> saja.”</a:t>
            </a:r>
            <a:endParaRPr lang="id-ID" sz="2200" dirty="0"/>
          </a:p>
        </p:txBody>
      </p:sp>
      <p:sp>
        <p:nvSpPr>
          <p:cNvPr id="21" name="Shape 16"/>
          <p:cNvSpPr/>
          <p:nvPr/>
        </p:nvSpPr>
        <p:spPr>
          <a:xfrm>
            <a:off x="5166360" y="5121493"/>
            <a:ext cx="6476695" cy="1047496"/>
          </a:xfrm>
          <a:prstGeom prst="roundRect">
            <a:avLst>
              <a:gd name="adj" fmla="val 9144"/>
            </a:avLst>
          </a:prstGeom>
          <a:solidFill>
            <a:srgbClr val="DAFBE1"/>
          </a:solidFill>
          <a:ln w="9525">
            <a:solidFill>
              <a:srgbClr val="4AC26B"/>
            </a:solidFill>
            <a:prstDash val="solid"/>
          </a:ln>
        </p:spPr>
      </p:sp>
      <p:sp>
        <p:nvSpPr>
          <p:cNvPr id="22" name="Text 17"/>
          <p:cNvSpPr txBox="1"/>
          <p:nvPr/>
        </p:nvSpPr>
        <p:spPr>
          <a:xfrm>
            <a:off x="5394960" y="5304373"/>
            <a:ext cx="6019495" cy="773176"/>
          </a:xfrm>
          <a:prstGeom prst="rect">
            <a:avLst/>
          </a:prstGeom>
          <a:noFill/>
          <a:ln/>
        </p:spPr>
        <p:txBody>
          <a:bodyPr wrap="square" lIns="0" tIns="0" rIns="0" bIns="0" rtlCol="0" anchor="t"/>
          <a:lstStyle/>
          <a:p>
            <a:pPr indent="0" marL="0">
              <a:buNone/>
            </a:pPr>
            <a:r>
              <a:rPr lang="id-ID" altLang="en-US" sz="2200" dirty="0">
                <a:solidFill>
                  <a:srgbClr val="1F2328"/>
                </a:solidFill>
                <a:latin typeface="Consolas" pitchFamily="34" charset="0"/>
                <a:ea typeface="Consolas" pitchFamily="34" charset="-122"/>
                <a:cs typeface="Consolas" pitchFamily="34" charset="-120"/>
              </a:rPr>
              <a:t>equals</a:t>
            </a:r>
            <a:r>
              <a:rPr lang="id-ID" altLang="en-US" sz="2200" dirty="0">
                <a:solidFill>
                  <a:srgbClr val="1F2328"/>
                </a:solidFill>
              </a:rPr>
              <a:t> dan </a:t>
            </a:r>
            <a:r>
              <a:rPr lang="id-ID" altLang="en-US" sz="2200" dirty="0">
                <a:solidFill>
                  <a:srgbClr val="1F2328"/>
                </a:solidFill>
                <a:latin typeface="Consolas" pitchFamily="34" charset="0"/>
                <a:ea typeface="Consolas" pitchFamily="34" charset="-122"/>
                <a:cs typeface="Consolas" pitchFamily="34" charset="-120"/>
              </a:rPr>
              <a:t>hashCode</a:t>
            </a:r>
            <a:r>
              <a:rPr lang="id-ID" altLang="en-US" sz="2200" dirty="0">
                <a:solidFill>
                  <a:srgbClr val="1F2328"/>
                </a:solidFill>
              </a:rPr>
              <a:t> (atau </a:t>
            </a:r>
            <a:r>
              <a:rPr lang="id-ID" altLang="en-US" sz="2200" dirty="0">
                <a:solidFill>
                  <a:srgbClr val="1F2328"/>
                </a:solidFill>
                <a:latin typeface="Consolas" pitchFamily="34" charset="0"/>
                <a:ea typeface="Consolas" pitchFamily="34" charset="-122"/>
                <a:cs typeface="Consolas" pitchFamily="34" charset="-120"/>
              </a:rPr>
              <a:t>__eq__</a:t>
            </a:r>
            <a:r>
              <a:rPr lang="id-ID" altLang="en-US" sz="2200" dirty="0">
                <a:solidFill>
                  <a:srgbClr val="1F2328"/>
                </a:solidFill>
              </a:rPr>
              <a:t> dan </a:t>
            </a:r>
            <a:r>
              <a:rPr lang="id-ID" altLang="en-US" sz="2200" dirty="0">
                <a:solidFill>
                  <a:srgbClr val="1F2328"/>
                </a:solidFill>
                <a:latin typeface="Consolas" pitchFamily="34" charset="0"/>
                <a:ea typeface="Consolas" pitchFamily="34" charset="-122"/>
                <a:cs typeface="Consolas" pitchFamily="34" charset="-120"/>
              </a:rPr>
              <a:t>__hash__</a:t>
            </a:r>
            <a:r>
              <a:rPr lang="id-ID" altLang="en-US" sz="2200" dirty="0">
                <a:solidFill>
                  <a:srgbClr val="1F2328"/>
                </a:solidFill>
              </a:rPr>
              <a:t>) harus selalu berpasangan.</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4</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4</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Presentasi Proyek Akhir</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Aplikasinya berjalan, desainnya masuk akal, dan kamu memahami kodemu sendiri.</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Alur Demo 10⁠—⁠15 Menit (Saran)</a:t>
            </a:r>
            <a:endParaRPr lang="id-ID"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80073"/>
          <a:ext cx="11094415" cy="914400"/>
        </p:xfrm>
        <a:graphic>
          <a:graphicData uri="http://schemas.openxmlformats.org/drawingml/2006/table">
            <a:tbl>
              <a:tblPr/>
              <a:tblGrid>
                <a:gridCol w="1007369"/>
                <a:gridCol w="1775191"/>
                <a:gridCol w="8311856"/>
              </a:tblGrid>
              <a:tr h="508254">
                <a:tc>
                  <a:txBody>
                    <a:bodyPr/>
                    <a:lstStyle/>
                    <a:p>
                      <a:pPr indent="0" marL="0">
                        <a:buNone/>
                      </a:pPr>
                      <a:r>
                        <a:rPr lang="id-ID" altLang="en-US" sz="2100" b="1" dirty="0">
                          <a:solidFill>
                            <a:srgbClr val="FFFFFF"/>
                          </a:solidFill>
                          <a:latin typeface="Calibri" pitchFamily="34" charset="0"/>
                          <a:ea typeface="Calibri" pitchFamily="34" charset="-122"/>
                          <a:cs typeface="Calibri" pitchFamily="34" charset="-120"/>
                        </a:rPr>
                        <a:t>Menit</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100" b="1" dirty="0">
                          <a:solidFill>
                            <a:srgbClr val="FFFFFF"/>
                          </a:solidFill>
                          <a:latin typeface="Calibri" pitchFamily="34" charset="0"/>
                          <a:ea typeface="Calibri" pitchFamily="34" charset="-122"/>
                          <a:cs typeface="Calibri" pitchFamily="34" charset="-120"/>
                        </a:rPr>
                        <a:t>Bagian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100" b="1" dirty="0">
                          <a:solidFill>
                            <a:srgbClr val="FFFFFF"/>
                          </a:solidFill>
                          <a:latin typeface="Calibri" pitchFamily="34" charset="0"/>
                          <a:ea typeface="Calibri" pitchFamily="34" charset="-122"/>
                          <a:cs typeface="Calibri" pitchFamily="34" charset="-120"/>
                        </a:rPr>
                        <a:t>Yang ditunjukkan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508254">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0⁠—⁠1</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Pembukaan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nama, tema, dan masalah yang diselesaikan aplikasimu (satu kalimat)</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08254">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1⁠—⁠3</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Rancangan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diagram kelas UML: pewarisan, kelas abstrak/</a:t>
                      </a:r>
                      <a:r>
                        <a:rPr lang="id-ID" altLang="en-US" sz="2100" i="1" dirty="0">
                          <a:solidFill>
                            <a:srgbClr val="1F2328"/>
                          </a:solidFill>
                          <a:latin typeface="Calibri" pitchFamily="34" charset="0"/>
                          <a:ea typeface="Calibri" pitchFamily="34" charset="-122"/>
                          <a:cs typeface="Calibri" pitchFamily="34" charset="-120"/>
                        </a:rPr>
                        <a:t>interface</a:t>
                      </a:r>
                      <a:r>
                        <a:rPr lang="id-ID" altLang="en-US" sz="2100" dirty="0">
                          <a:solidFill>
                            <a:srgbClr val="1F2328"/>
                          </a:solidFill>
                          <a:latin typeface="Calibri" pitchFamily="34" charset="0"/>
                          <a:ea typeface="Calibri" pitchFamily="34" charset="-122"/>
                          <a:cs typeface="Calibri" pitchFamily="34" charset="-120"/>
                        </a:rPr>
                        <a:t>, relasi</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508254">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3⁠—⁠8</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Demo aplikasi</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alur utama, lalu 1⁠—⁠2 skenario gagal yang ditangani dengan rapi</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08254">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8⁠—⁠11</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Tur kode</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bagian kode yang memenuhi setiap kebutuhan minimum</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508254">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11⁠—⁠13</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i="1" dirty="0">
                          <a:solidFill>
                            <a:srgbClr val="1F2328"/>
                          </a:solidFill>
                          <a:latin typeface="Calibri" pitchFamily="34" charset="0"/>
                          <a:ea typeface="Calibri" pitchFamily="34" charset="-122"/>
                          <a:cs typeface="Calibri" pitchFamily="34" charset="-120"/>
                        </a:rPr>
                        <a:t>Unit test</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jalankan semua </a:t>
                      </a:r>
                      <a:r>
                        <a:rPr lang="id-ID" altLang="en-US" sz="2100" i="1" dirty="0">
                          <a:solidFill>
                            <a:srgbClr val="1F2328"/>
                          </a:solidFill>
                          <a:latin typeface="Calibri" pitchFamily="34" charset="0"/>
                          <a:ea typeface="Calibri" pitchFamily="34" charset="-122"/>
                          <a:cs typeface="Calibri" pitchFamily="34" charset="-120"/>
                        </a:rPr>
                        <a:t>test</a:t>
                      </a:r>
                      <a:r>
                        <a:rPr lang="id-ID" altLang="en-US" sz="2100" dirty="0">
                          <a:solidFill>
                            <a:srgbClr val="1F2328"/>
                          </a:solidFill>
                          <a:latin typeface="Calibri" pitchFamily="34" charset="0"/>
                          <a:ea typeface="Calibri" pitchFamily="34" charset="-122"/>
                          <a:cs typeface="Calibri" pitchFamily="34" charset="-120"/>
                        </a:rPr>
                        <a:t> (minimal 5) di depan penguji</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08254">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13⁠—⁠15</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Refleksi</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kesulitan terbesar, keputusan desain, rencana pengembangan, bantuan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484739"/>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557159"/>
            <a:ext cx="184343" cy="184343"/>
          </a:xfrm>
          <a:prstGeom prst="rect">
            <a:avLst/>
          </a:prstGeom>
        </p:spPr>
      </p:pic>
      <p:sp>
        <p:nvSpPr>
          <p:cNvPr id="8" name="Text 3"/>
          <p:cNvSpPr txBox="1"/>
          <p:nvPr/>
        </p:nvSpPr>
        <p:spPr>
          <a:xfrm>
            <a:off x="1005840" y="5466451"/>
            <a:ext cx="10637215" cy="324612"/>
          </a:xfrm>
          <a:prstGeom prst="rect">
            <a:avLst/>
          </a:prstGeom>
          <a:noFill/>
          <a:ln/>
        </p:spPr>
        <p:txBody>
          <a:bodyPr wrap="square" lIns="0" tIns="0" rIns="0" bIns="0" rtlCol="0" anchor="t"/>
          <a:lstStyle/>
          <a:p>
            <a:pPr indent="0" marL="0">
              <a:buNone/>
            </a:pPr>
            <a:r>
              <a:rPr lang="id-ID" altLang="en-US" sz="1800" dirty="0">
                <a:solidFill>
                  <a:srgbClr val="57606A"/>
                </a:solidFill>
              </a:rPr>
              <a:t>Durasi, urutan, dan bobot presentasi yang pasti mengikuti ketentuan proyek akhir dan pengumuman dosen.</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Pertanyaan yang Sering Diajukan Penguji</a:t>
            </a:r>
            <a:endParaRPr lang="id-ID"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465326"/>
          <a:ext cx="11094415" cy="914400"/>
        </p:xfrm>
        <a:graphic>
          <a:graphicData uri="http://schemas.openxmlformats.org/drawingml/2006/table">
            <a:tbl>
              <a:tblPr/>
              <a:tblGrid>
                <a:gridCol w="7057698"/>
                <a:gridCol w="4036718"/>
              </a:tblGrid>
              <a:tr h="461772">
                <a:tc>
                  <a:txBody>
                    <a:bodyPr/>
                    <a:lstStyle/>
                    <a:p>
                      <a:pPr indent="0" marL="0">
                        <a:buNone/>
                      </a:pPr>
                      <a:r>
                        <a:rPr lang="id-ID" altLang="en-US" sz="1800" b="1" dirty="0">
                          <a:solidFill>
                            <a:srgbClr val="FFFFFF"/>
                          </a:solidFill>
                          <a:latin typeface="Calibri" pitchFamily="34" charset="0"/>
                          <a:ea typeface="Calibri" pitchFamily="34" charset="-122"/>
                          <a:cs typeface="Calibri" pitchFamily="34" charset="-120"/>
                        </a:rPr>
                        <a:t>Pertanyaan</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800" b="1" dirty="0">
                          <a:solidFill>
                            <a:srgbClr val="FFFFFF"/>
                          </a:solidFill>
                          <a:latin typeface="Calibri" pitchFamily="34" charset="0"/>
                          <a:ea typeface="Calibri" pitchFamily="34" charset="-122"/>
                          <a:cs typeface="Calibri" pitchFamily="34" charset="-120"/>
                        </a:rPr>
                        <a:t>Yang ingin diketahui</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461772">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“Kalau saya menambah jenis X baru, kelas mana yang berubah?”</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OCP dan polimorfisme</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61772">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“Mengapa memakai kelas abstrak, bukan </a:t>
                      </a:r>
                      <a:r>
                        <a:rPr lang="id-ID" altLang="en-US" sz="1800" i="1" dirty="0">
                          <a:solidFill>
                            <a:srgbClr val="1F2328"/>
                          </a:solidFill>
                          <a:latin typeface="Calibri" pitchFamily="34" charset="0"/>
                          <a:ea typeface="Calibri" pitchFamily="34" charset="-122"/>
                          <a:cs typeface="Calibri" pitchFamily="34" charset="-120"/>
                        </a:rPr>
                        <a:t>interface</a:t>
                      </a:r>
                      <a:r>
                        <a:rPr lang="id-ID" altLang="en-US" sz="1800" dirty="0">
                          <a:solidFill>
                            <a:srgbClr val="1F2328"/>
                          </a:solidFill>
                          <a:latin typeface="Calibri" pitchFamily="34" charset="0"/>
                          <a:ea typeface="Calibri" pitchFamily="34" charset="-122"/>
                          <a:cs typeface="Calibri" pitchFamily="34" charset="-120"/>
                        </a:rPr>
                        <a:t> (atau sebaliknya)?”</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kemampuan memilih abstraksi</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740664">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a:t>
                      </a:r>
                      <a:r>
                        <a:rPr lang="id-ID" altLang="en-US" sz="1800" i="1" dirty="0">
                          <a:solidFill>
                            <a:srgbClr val="1F2328"/>
                          </a:solidFill>
                          <a:latin typeface="Calibri" pitchFamily="34" charset="0"/>
                          <a:ea typeface="Calibri" pitchFamily="34" charset="-122"/>
                          <a:cs typeface="Calibri" pitchFamily="34" charset="-120"/>
                        </a:rPr>
                        <a:t>Exception</a:t>
                      </a:r>
                      <a:r>
                        <a:rPr lang="id-ID" altLang="en-US" sz="1800" dirty="0">
                          <a:solidFill>
                            <a:srgbClr val="1F2328"/>
                          </a:solidFill>
                          <a:latin typeface="Calibri" pitchFamily="34" charset="0"/>
                          <a:ea typeface="Calibri" pitchFamily="34" charset="-122"/>
                          <a:cs typeface="Calibri" pitchFamily="34" charset="-120"/>
                        </a:rPr>
                        <a:t> apa yang kamu buat sendiri? Mengapa tidak pakai yang bawaan?”</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paham manfaat </a:t>
                      </a:r>
                      <a:r>
                        <a:rPr lang="id-ID" altLang="en-US" sz="1800" i="1" dirty="0">
                          <a:solidFill>
                            <a:srgbClr val="1F2328"/>
                          </a:solidFill>
                          <a:latin typeface="Calibri" pitchFamily="34" charset="0"/>
                          <a:ea typeface="Calibri" pitchFamily="34" charset="-122"/>
                          <a:cs typeface="Calibri" pitchFamily="34" charset="-120"/>
                        </a:rPr>
                        <a:t>exception</a:t>
                      </a:r>
                      <a:r>
                        <a:rPr lang="id-ID" altLang="en-US" sz="1800" dirty="0">
                          <a:solidFill>
                            <a:srgbClr val="1F2328"/>
                          </a:solidFill>
                          <a:latin typeface="Calibri" pitchFamily="34" charset="0"/>
                          <a:ea typeface="Calibri" pitchFamily="34" charset="-122"/>
                          <a:cs typeface="Calibri" pitchFamily="34" charset="-120"/>
                        </a:rPr>
                        <a:t> khusus</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40664">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“Pola desain apa yang kamu pakai? Apa kekurangannya?”</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paham pola, bukan hanya menyebut nama</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61772">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“Jelaskan baris ini.” (penguji menunjuk kode acak)</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keaslian pekerjaan</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61772">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“Bantuan apa saja yang kamu pakai, termasuk AI?”</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integritas akademik</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502402"/>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574822"/>
            <a:ext cx="184343" cy="184343"/>
          </a:xfrm>
          <a:prstGeom prst="rect">
            <a:avLst/>
          </a:prstGeom>
        </p:spPr>
      </p:pic>
      <p:sp>
        <p:nvSpPr>
          <p:cNvPr id="8" name="Text 3"/>
          <p:cNvSpPr txBox="1"/>
          <p:nvPr/>
        </p:nvSpPr>
        <p:spPr>
          <a:xfrm>
            <a:off x="1005840" y="5484114"/>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Kamu harus bisa menjelaskan </a:t>
            </a:r>
            <a:r>
              <a:rPr lang="id-ID" altLang="en-US" sz="1800" b="1" dirty="0">
                <a:solidFill>
                  <a:srgbClr val="57606A"/>
                </a:solidFill>
              </a:rPr>
              <a:t>setiap baris</a:t>
            </a:r>
            <a:r>
              <a:rPr lang="id-ID" altLang="en-US" sz="1800" dirty="0">
                <a:solidFill>
                  <a:srgbClr val="57606A"/>
                </a:solidFill>
              </a:rPr>
              <a:t> kode proyekmu. Cantumkan semua bantuan yang kamu pakai di README.</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A7F37"/>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Ringkasan</a:t>
            </a:r>
            <a:endParaRPr lang="id-ID" sz="3200" dirty="0"/>
          </a:p>
        </p:txBody>
      </p:sp>
      <p:sp>
        <p:nvSpPr>
          <p:cNvPr id="5" name="Shape 2"/>
          <p:cNvSpPr/>
          <p:nvPr/>
        </p:nvSpPr>
        <p:spPr>
          <a:xfrm>
            <a:off x="548640" y="1478026"/>
            <a:ext cx="310896" cy="310896"/>
          </a:xfrm>
          <a:prstGeom prst="ellipse">
            <a:avLst/>
          </a:prstGeom>
          <a:solidFill>
            <a:srgbClr val="1A7F37"/>
          </a:solidFill>
          <a:ln/>
        </p:spPr>
      </p:sp>
      <p:pic>
        <p:nvPicPr>
          <p:cNvPr id="6" name="Image 1" descr="preencoded.png">    </p:cNvPr>
          <p:cNvPicPr>
            <a:picLocks noChangeAspect="1"/>
          </p:cNvPicPr>
          <p:nvPr/>
        </p:nvPicPr>
        <p:blipFill>
          <a:blip r:embed="rId2"/>
          <a:stretch>
            <a:fillRect/>
          </a:stretch>
        </p:blipFill>
        <p:spPr>
          <a:xfrm>
            <a:off x="617037" y="1546423"/>
            <a:ext cx="174102" cy="174102"/>
          </a:xfrm>
          <a:prstGeom prst="rect">
            <a:avLst/>
          </a:prstGeom>
        </p:spPr>
      </p:pic>
      <p:sp>
        <p:nvSpPr>
          <p:cNvPr id="7" name="Text 3"/>
          <p:cNvSpPr txBox="1"/>
          <p:nvPr/>
        </p:nvSpPr>
        <p:spPr>
          <a:xfrm>
            <a:off x="1051560" y="1463040"/>
            <a:ext cx="10591495" cy="727456"/>
          </a:xfrm>
          <a:prstGeom prst="rect">
            <a:avLst/>
          </a:prstGeom>
          <a:noFill/>
          <a:ln/>
        </p:spPr>
        <p:txBody>
          <a:bodyPr wrap="square" lIns="0" tIns="0" rIns="0" bIns="0" rtlCol="0" anchor="t"/>
          <a:lstStyle/>
          <a:p>
            <a:pPr indent="0" marL="0">
              <a:buNone/>
            </a:pPr>
            <a:r>
              <a:rPr lang="id-ID" altLang="en-US" sz="2200" dirty="0">
                <a:solidFill>
                  <a:srgbClr val="1F2328"/>
                </a:solidFill>
              </a:rPr>
              <a:t>Cakupan utama UAS adalah Pertemuan 09⁠—⁠15, dengan fondasi Pertemuan 02⁠—⁠07 yang tetap dipakai.</a:t>
            </a:r>
            <a:endParaRPr lang="id-ID" sz="2200" dirty="0"/>
          </a:p>
        </p:txBody>
      </p:sp>
      <p:sp>
        <p:nvSpPr>
          <p:cNvPr id="8" name="Shape 4"/>
          <p:cNvSpPr/>
          <p:nvPr/>
        </p:nvSpPr>
        <p:spPr>
          <a:xfrm>
            <a:off x="548640" y="2360930"/>
            <a:ext cx="310896" cy="310896"/>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617037" y="2429327"/>
            <a:ext cx="174102" cy="174102"/>
          </a:xfrm>
          <a:prstGeom prst="rect">
            <a:avLst/>
          </a:prstGeom>
        </p:spPr>
      </p:pic>
      <p:sp>
        <p:nvSpPr>
          <p:cNvPr id="10" name="Text 5"/>
          <p:cNvSpPr txBox="1"/>
          <p:nvPr/>
        </p:nvSpPr>
        <p:spPr>
          <a:xfrm>
            <a:off x="1051560" y="2345944"/>
            <a:ext cx="10591495" cy="727456"/>
          </a:xfrm>
          <a:prstGeom prst="rect">
            <a:avLst/>
          </a:prstGeom>
          <a:noFill/>
          <a:ln/>
        </p:spPr>
        <p:txBody>
          <a:bodyPr wrap="square" lIns="0" tIns="0" rIns="0" bIns="0" rtlCol="0" anchor="t"/>
          <a:lstStyle/>
          <a:p>
            <a:pPr indent="0" marL="0">
              <a:buNone/>
            </a:pPr>
            <a:r>
              <a:rPr lang="id-ID" altLang="en-US" sz="2200" dirty="0">
                <a:solidFill>
                  <a:srgbClr val="1F2328"/>
                </a:solidFill>
              </a:rPr>
              <a:t>Bentuk umum: pilihan ganda, esai atau analisis desain, dan praktik; format resmi dari dosen.</a:t>
            </a:r>
            <a:endParaRPr lang="id-ID" sz="2200" dirty="0"/>
          </a:p>
        </p:txBody>
      </p:sp>
      <p:sp>
        <p:nvSpPr>
          <p:cNvPr id="11" name="Shape 6"/>
          <p:cNvSpPr/>
          <p:nvPr/>
        </p:nvSpPr>
        <p:spPr>
          <a:xfrm>
            <a:off x="548640" y="3243834"/>
            <a:ext cx="310896" cy="310896"/>
          </a:xfrm>
          <a:prstGeom prst="ellipse">
            <a:avLst/>
          </a:prstGeom>
          <a:solidFill>
            <a:srgbClr val="1A7F37"/>
          </a:solidFill>
          <a:ln/>
        </p:spPr>
      </p:sp>
      <p:pic>
        <p:nvPicPr>
          <p:cNvPr id="12" name="Image 3" descr="preencoded.png">    </p:cNvPr>
          <p:cNvPicPr>
            <a:picLocks noChangeAspect="1"/>
          </p:cNvPicPr>
          <p:nvPr/>
        </p:nvPicPr>
        <p:blipFill>
          <a:blip r:embed="rId4"/>
          <a:stretch>
            <a:fillRect/>
          </a:stretch>
        </p:blipFill>
        <p:spPr>
          <a:xfrm>
            <a:off x="617037" y="3312231"/>
            <a:ext cx="174102" cy="174102"/>
          </a:xfrm>
          <a:prstGeom prst="rect">
            <a:avLst/>
          </a:prstGeom>
        </p:spPr>
      </p:pic>
      <p:sp>
        <p:nvSpPr>
          <p:cNvPr id="13" name="Text 7"/>
          <p:cNvSpPr txBox="1"/>
          <p:nvPr/>
        </p:nvSpPr>
        <p:spPr>
          <a:xfrm>
            <a:off x="1051560" y="3228848"/>
            <a:ext cx="10591495" cy="727456"/>
          </a:xfrm>
          <a:prstGeom prst="rect">
            <a:avLst/>
          </a:prstGeom>
          <a:noFill/>
          <a:ln/>
        </p:spPr>
        <p:txBody>
          <a:bodyPr wrap="square" lIns="0" tIns="0" rIns="0" bIns="0" rtlCol="0" anchor="t"/>
          <a:lstStyle/>
          <a:p>
            <a:pPr indent="0" marL="0">
              <a:buNone/>
            </a:pPr>
            <a:r>
              <a:rPr lang="id-ID" altLang="en-US" sz="2200" dirty="0">
                <a:solidFill>
                  <a:srgbClr val="1F2328"/>
                </a:solidFill>
              </a:rPr>
              <a:t>Belajar bertahap tujuh hari: tebak dulu, jalankan kemudian, dan simulasikan ujian dengan </a:t>
            </a:r>
            <a:r>
              <a:rPr lang="id-ID" altLang="en-US" sz="2200" i="1" dirty="0">
                <a:solidFill>
                  <a:srgbClr val="1F2328"/>
                </a:solidFill>
              </a:rPr>
              <a:t>timer</a:t>
            </a:r>
            <a:r>
              <a:rPr lang="id-ID" altLang="en-US" sz="2200" dirty="0">
                <a:solidFill>
                  <a:srgbClr val="1F2328"/>
                </a:solidFill>
              </a:rPr>
              <a:t>.</a:t>
            </a:r>
            <a:endParaRPr lang="id-ID" sz="2200" dirty="0"/>
          </a:p>
        </p:txBody>
      </p:sp>
      <p:sp>
        <p:nvSpPr>
          <p:cNvPr id="14" name="Shape 8"/>
          <p:cNvSpPr/>
          <p:nvPr/>
        </p:nvSpPr>
        <p:spPr>
          <a:xfrm>
            <a:off x="548640" y="4126738"/>
            <a:ext cx="310896" cy="310896"/>
          </a:xfrm>
          <a:prstGeom prst="ellipse">
            <a:avLst/>
          </a:prstGeom>
          <a:solidFill>
            <a:srgbClr val="1A7F37"/>
          </a:solidFill>
          <a:ln/>
        </p:spPr>
      </p:sp>
      <p:pic>
        <p:nvPicPr>
          <p:cNvPr id="15" name="Image 4" descr="preencoded.png">    </p:cNvPr>
          <p:cNvPicPr>
            <a:picLocks noChangeAspect="1"/>
          </p:cNvPicPr>
          <p:nvPr/>
        </p:nvPicPr>
        <p:blipFill>
          <a:blip r:embed="rId5"/>
          <a:stretch>
            <a:fillRect/>
          </a:stretch>
        </p:blipFill>
        <p:spPr>
          <a:xfrm>
            <a:off x="617037" y="4195135"/>
            <a:ext cx="174102" cy="174102"/>
          </a:xfrm>
          <a:prstGeom prst="rect">
            <a:avLst/>
          </a:prstGeom>
        </p:spPr>
      </p:pic>
      <p:sp>
        <p:nvSpPr>
          <p:cNvPr id="16" name="Text 9"/>
          <p:cNvSpPr txBox="1"/>
          <p:nvPr/>
        </p:nvSpPr>
        <p:spPr>
          <a:xfrm>
            <a:off x="1051560" y="4111752"/>
            <a:ext cx="10591495" cy="386588"/>
          </a:xfrm>
          <a:prstGeom prst="rect">
            <a:avLst/>
          </a:prstGeom>
          <a:noFill/>
          <a:ln/>
        </p:spPr>
        <p:txBody>
          <a:bodyPr wrap="square" lIns="0" tIns="0" rIns="0" bIns="0" rtlCol="0" anchor="t"/>
          <a:lstStyle/>
          <a:p>
            <a:pPr indent="0" marL="0">
              <a:buNone/>
            </a:pPr>
            <a:r>
              <a:rPr lang="id-ID" altLang="en-US" sz="2200" dirty="0">
                <a:solidFill>
                  <a:srgbClr val="1F2328"/>
                </a:solidFill>
              </a:rPr>
              <a:t>Pilihan ganda: baca kode dua kali. Esai: definisi → contoh → alasan. Praktik: rancang dulu.</a:t>
            </a:r>
            <a:endParaRPr lang="id-ID" sz="2200" dirty="0"/>
          </a:p>
        </p:txBody>
      </p:sp>
      <p:sp>
        <p:nvSpPr>
          <p:cNvPr id="17" name="Shape 10"/>
          <p:cNvSpPr/>
          <p:nvPr/>
        </p:nvSpPr>
        <p:spPr>
          <a:xfrm>
            <a:off x="548640" y="4668774"/>
            <a:ext cx="310896" cy="310896"/>
          </a:xfrm>
          <a:prstGeom prst="ellipse">
            <a:avLst/>
          </a:prstGeom>
          <a:solidFill>
            <a:srgbClr val="1A7F37"/>
          </a:solidFill>
          <a:ln/>
        </p:spPr>
      </p:sp>
      <p:pic>
        <p:nvPicPr>
          <p:cNvPr id="18" name="Image 5" descr="preencoded.png">    </p:cNvPr>
          <p:cNvPicPr>
            <a:picLocks noChangeAspect="1"/>
          </p:cNvPicPr>
          <p:nvPr/>
        </p:nvPicPr>
        <p:blipFill>
          <a:blip r:embed="rId6"/>
          <a:stretch>
            <a:fillRect/>
          </a:stretch>
        </p:blipFill>
        <p:spPr>
          <a:xfrm>
            <a:off x="617037" y="4737171"/>
            <a:ext cx="174102" cy="174102"/>
          </a:xfrm>
          <a:prstGeom prst="rect">
            <a:avLst/>
          </a:prstGeom>
        </p:spPr>
      </p:pic>
      <p:sp>
        <p:nvSpPr>
          <p:cNvPr id="19" name="Text 11"/>
          <p:cNvSpPr txBox="1"/>
          <p:nvPr/>
        </p:nvSpPr>
        <p:spPr>
          <a:xfrm>
            <a:off x="1051560" y="4653788"/>
            <a:ext cx="10591495" cy="727456"/>
          </a:xfrm>
          <a:prstGeom prst="rect">
            <a:avLst/>
          </a:prstGeom>
          <a:noFill/>
          <a:ln/>
        </p:spPr>
        <p:txBody>
          <a:bodyPr wrap="square" lIns="0" tIns="0" rIns="0" bIns="0" rtlCol="0" anchor="t"/>
          <a:lstStyle/>
          <a:p>
            <a:pPr indent="0" marL="0">
              <a:buNone/>
            </a:pPr>
            <a:r>
              <a:rPr lang="id-ID" altLang="en-US" sz="2200" dirty="0">
                <a:solidFill>
                  <a:srgbClr val="1F2328"/>
                </a:solidFill>
              </a:rPr>
              <a:t>Waspadai jebakan: </a:t>
            </a:r>
            <a:r>
              <a:rPr lang="id-ID" altLang="en-US" sz="2200" i="1" dirty="0">
                <a:solidFill>
                  <a:srgbClr val="1F2328"/>
                </a:solidFill>
              </a:rPr>
              <a:t>dynamic dispatch</a:t>
            </a:r>
            <a:r>
              <a:rPr lang="id-ID" altLang="en-US" sz="2200" dirty="0">
                <a:solidFill>
                  <a:srgbClr val="1F2328"/>
                </a:solidFill>
              </a:rPr>
              <a:t>, </a:t>
            </a:r>
            <a:r>
              <a:rPr lang="id-ID" altLang="en-US" sz="2200" dirty="0">
                <a:solidFill>
                  <a:srgbClr val="1F2328"/>
                </a:solidFill>
                <a:latin typeface="Consolas" pitchFamily="34" charset="0"/>
                <a:ea typeface="Consolas" pitchFamily="34" charset="-122"/>
                <a:cs typeface="Consolas" pitchFamily="34" charset="-120"/>
              </a:rPr>
              <a:t>finally</a:t>
            </a:r>
            <a:r>
              <a:rPr lang="id-ID" altLang="en-US" sz="2200" dirty="0">
                <a:solidFill>
                  <a:srgbClr val="1F2328"/>
                </a:solidFill>
              </a:rPr>
              <a:t>, urutan </a:t>
            </a:r>
            <a:r>
              <a:rPr lang="id-ID" altLang="en-US" sz="2200" dirty="0">
                <a:solidFill>
                  <a:srgbClr val="1F2328"/>
                </a:solidFill>
                <a:latin typeface="Consolas" pitchFamily="34" charset="0"/>
                <a:ea typeface="Consolas" pitchFamily="34" charset="-122"/>
                <a:cs typeface="Consolas" pitchFamily="34" charset="-120"/>
              </a:rPr>
              <a:t>except</a:t>
            </a:r>
            <a:r>
              <a:rPr lang="id-ID" altLang="en-US" sz="2200" dirty="0">
                <a:solidFill>
                  <a:srgbClr val="1F2328"/>
                </a:solidFill>
              </a:rPr>
              <a:t>, serta </a:t>
            </a:r>
            <a:r>
              <a:rPr lang="id-ID" altLang="en-US" sz="2200" dirty="0">
                <a:solidFill>
                  <a:srgbClr val="1F2328"/>
                </a:solidFill>
                <a:latin typeface="Consolas" pitchFamily="34" charset="0"/>
                <a:ea typeface="Consolas" pitchFamily="34" charset="-122"/>
                <a:cs typeface="Consolas" pitchFamily="34" charset="-120"/>
              </a:rPr>
              <a:t>equals</a:t>
            </a:r>
            <a:r>
              <a:rPr lang="id-ID" altLang="en-US" sz="2200" dirty="0">
                <a:solidFill>
                  <a:srgbClr val="1F2328"/>
                </a:solidFill>
              </a:rPr>
              <a:t> dan </a:t>
            </a:r>
            <a:r>
              <a:rPr lang="id-ID" altLang="en-US" sz="2200" dirty="0">
                <a:solidFill>
                  <a:srgbClr val="1F2328"/>
                </a:solidFill>
                <a:latin typeface="Consolas" pitchFamily="34" charset="0"/>
                <a:ea typeface="Consolas" pitchFamily="34" charset="-122"/>
                <a:cs typeface="Consolas" pitchFamily="34" charset="-120"/>
              </a:rPr>
              <a:t>hashCode</a:t>
            </a:r>
            <a:r>
              <a:rPr lang="id-ID" altLang="en-US" sz="2200" dirty="0">
                <a:solidFill>
                  <a:srgbClr val="1F2328"/>
                </a:solidFill>
              </a:rPr>
              <a:t>.</a:t>
            </a:r>
            <a:endParaRPr lang="id-ID" sz="2200" dirty="0"/>
          </a:p>
        </p:txBody>
      </p:sp>
      <p:sp>
        <p:nvSpPr>
          <p:cNvPr id="20" name="Shape 12"/>
          <p:cNvSpPr/>
          <p:nvPr/>
        </p:nvSpPr>
        <p:spPr>
          <a:xfrm>
            <a:off x="548640" y="5551678"/>
            <a:ext cx="310896" cy="310896"/>
          </a:xfrm>
          <a:prstGeom prst="ellipse">
            <a:avLst/>
          </a:prstGeom>
          <a:solidFill>
            <a:srgbClr val="1A7F37"/>
          </a:solidFill>
          <a:ln/>
        </p:spPr>
      </p:sp>
      <p:pic>
        <p:nvPicPr>
          <p:cNvPr id="21" name="Image 6" descr="preencoded.png">    </p:cNvPr>
          <p:cNvPicPr>
            <a:picLocks noChangeAspect="1"/>
          </p:cNvPicPr>
          <p:nvPr/>
        </p:nvPicPr>
        <p:blipFill>
          <a:blip r:embed="rId7"/>
          <a:stretch>
            <a:fillRect/>
          </a:stretch>
        </p:blipFill>
        <p:spPr>
          <a:xfrm>
            <a:off x="617037" y="5620075"/>
            <a:ext cx="174102" cy="174102"/>
          </a:xfrm>
          <a:prstGeom prst="rect">
            <a:avLst/>
          </a:prstGeom>
        </p:spPr>
      </p:pic>
      <p:sp>
        <p:nvSpPr>
          <p:cNvPr id="22" name="Text 13"/>
          <p:cNvSpPr txBox="1"/>
          <p:nvPr/>
        </p:nvSpPr>
        <p:spPr>
          <a:xfrm>
            <a:off x="1051560" y="5536692"/>
            <a:ext cx="10591495" cy="386588"/>
          </a:xfrm>
          <a:prstGeom prst="rect">
            <a:avLst/>
          </a:prstGeom>
          <a:noFill/>
          <a:ln/>
        </p:spPr>
        <p:txBody>
          <a:bodyPr wrap="square" lIns="0" tIns="0" rIns="0" bIns="0" rtlCol="0" anchor="t"/>
          <a:lstStyle/>
          <a:p>
            <a:pPr indent="0" marL="0">
              <a:buNone/>
            </a:pPr>
            <a:r>
              <a:rPr lang="id-ID" altLang="en-US" sz="2200" dirty="0">
                <a:solidFill>
                  <a:srgbClr val="1F2328"/>
                </a:solidFill>
              </a:rPr>
              <a:t>Presentasi: aplikasi berjalan, desain masuk akal, dan kamu memahami setiap baris kodemu.</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FFFFFF"/>
                </a:solidFill>
              </a:rPr>
              <a:t>Langkah Berikutnya</a:t>
            </a:r>
            <a:endParaRPr lang="id-ID" sz="3200" dirty="0"/>
          </a:p>
        </p:txBody>
      </p:sp>
      <p:sp>
        <p:nvSpPr>
          <p:cNvPr id="5" name="Shape 2"/>
          <p:cNvSpPr/>
          <p:nvPr/>
        </p:nvSpPr>
        <p:spPr>
          <a:xfrm>
            <a:off x="603504" y="1503680"/>
            <a:ext cx="137160" cy="137160"/>
          </a:xfrm>
          <a:prstGeom prst="roundRect">
            <a:avLst>
              <a:gd name="adj" fmla="val 166667"/>
            </a:avLst>
          </a:prstGeom>
          <a:solidFill>
            <a:srgbClr val="FB8F44"/>
          </a:solidFill>
          <a:ln/>
        </p:spPr>
      </p:sp>
      <p:sp>
        <p:nvSpPr>
          <p:cNvPr id="6" name="Text 3"/>
          <p:cNvSpPr txBox="1"/>
          <p:nvPr/>
        </p:nvSpPr>
        <p:spPr>
          <a:xfrm>
            <a:off x="932688" y="1417320"/>
            <a:ext cx="7114032" cy="665480"/>
          </a:xfrm>
          <a:prstGeom prst="rect">
            <a:avLst/>
          </a:prstGeom>
          <a:noFill/>
          <a:ln/>
        </p:spPr>
        <p:txBody>
          <a:bodyPr wrap="square" lIns="0" tIns="0" rIns="0" bIns="0" rtlCol="0" anchor="t"/>
          <a:lstStyle/>
          <a:p>
            <a:pPr indent="0" marL="0">
              <a:buNone/>
            </a:pPr>
            <a:r>
              <a:rPr lang="id-ID" altLang="en-US" sz="2000" dirty="0">
                <a:solidFill>
                  <a:srgbClr val="FFFFFF"/>
                </a:solidFill>
              </a:rPr>
              <a:t>Kerjakan </a:t>
            </a:r>
            <a:r>
              <a:rPr lang="id-ID" altLang="en-US" sz="2000" dirty="0">
                <a:solidFill>
                  <a:srgbClr val="DDF4FF"/>
                </a:solidFill>
                <a:latin typeface="Consolas" pitchFamily="34" charset="0"/>
                <a:ea typeface="Consolas" pitchFamily="34" charset="-122"/>
                <a:cs typeface="Consolas" pitchFamily="34" charset="-120"/>
              </a:rPr>
              <a:t>latihan-soal.md</a:t>
            </a:r>
            <a:r>
              <a:rPr lang="id-ID" altLang="en-US" sz="2000" dirty="0">
                <a:solidFill>
                  <a:srgbClr val="FFFFFF"/>
                </a:solidFill>
              </a:rPr>
              <a:t> sebagai simulasi, lalu cocokkan di </a:t>
            </a:r>
            <a:r>
              <a:rPr lang="id-ID" altLang="en-US" sz="2000" dirty="0">
                <a:solidFill>
                  <a:srgbClr val="DDF4FF"/>
                </a:solidFill>
                <a:latin typeface="Consolas" pitchFamily="34" charset="0"/>
                <a:ea typeface="Consolas" pitchFamily="34" charset="-122"/>
                <a:cs typeface="Consolas" pitchFamily="34" charset="-120"/>
              </a:rPr>
              <a:t>pembahasan.md</a:t>
            </a:r>
            <a:r>
              <a:rPr lang="id-ID" altLang="en-US" sz="2000" dirty="0">
                <a:solidFill>
                  <a:srgbClr val="FFFFFF"/>
                </a:solidFill>
              </a:rPr>
              <a:t>.</a:t>
            </a:r>
            <a:endParaRPr lang="id-ID" sz="2000" dirty="0"/>
          </a:p>
        </p:txBody>
      </p:sp>
      <p:sp>
        <p:nvSpPr>
          <p:cNvPr id="7" name="Shape 4"/>
          <p:cNvSpPr/>
          <p:nvPr/>
        </p:nvSpPr>
        <p:spPr>
          <a:xfrm>
            <a:off x="603504" y="2306320"/>
            <a:ext cx="137160" cy="137160"/>
          </a:xfrm>
          <a:prstGeom prst="roundRect">
            <a:avLst>
              <a:gd name="adj" fmla="val 166667"/>
            </a:avLst>
          </a:prstGeom>
          <a:solidFill>
            <a:srgbClr val="FB8F44"/>
          </a:solidFill>
          <a:ln/>
        </p:spPr>
      </p:sp>
      <p:sp>
        <p:nvSpPr>
          <p:cNvPr id="8" name="Text 5"/>
          <p:cNvSpPr txBox="1"/>
          <p:nvPr/>
        </p:nvSpPr>
        <p:spPr>
          <a:xfrm>
            <a:off x="932688" y="2219960"/>
            <a:ext cx="7114032" cy="665480"/>
          </a:xfrm>
          <a:prstGeom prst="rect">
            <a:avLst/>
          </a:prstGeom>
          <a:noFill/>
          <a:ln/>
        </p:spPr>
        <p:txBody>
          <a:bodyPr wrap="square" lIns="0" tIns="0" rIns="0" bIns="0" rtlCol="0" anchor="t"/>
          <a:lstStyle/>
          <a:p>
            <a:pPr indent="0" marL="0">
              <a:buNone/>
            </a:pPr>
            <a:r>
              <a:rPr lang="id-ID" altLang="en-US" sz="2000" dirty="0">
                <a:solidFill>
                  <a:srgbClr val="FFFFFF"/>
                </a:solidFill>
              </a:rPr>
              <a:t>Pelajari solusi praktik di jalurmu, lalu buktikan </a:t>
            </a:r>
            <a:r>
              <a:rPr lang="id-ID" altLang="en-US" sz="2000" i="1" dirty="0">
                <a:solidFill>
                  <a:srgbClr val="FFFFFF"/>
                </a:solidFill>
              </a:rPr>
              <a:t>refactor</a:t>
            </a:r>
            <a:r>
              <a:rPr lang="id-ID" altLang="en-US" sz="2000" dirty="0">
                <a:solidFill>
                  <a:srgbClr val="FFFFFF"/>
                </a:solidFill>
              </a:rPr>
              <a:t>-mu dengan </a:t>
            </a:r>
            <a:r>
              <a:rPr lang="id-ID" altLang="en-US" sz="2000" dirty="0">
                <a:solidFill>
                  <a:srgbClr val="DDF4FF"/>
                </a:solidFill>
                <a:latin typeface="Consolas" pitchFamily="34" charset="0"/>
                <a:ea typeface="Consolas" pitchFamily="34" charset="-122"/>
                <a:cs typeface="Consolas" pitchFamily="34" charset="-120"/>
              </a:rPr>
              <a:t>diff</a:t>
            </a:r>
            <a:r>
              <a:rPr lang="id-ID" altLang="en-US" sz="2000" dirty="0">
                <a:solidFill>
                  <a:srgbClr val="FFFFFF"/>
                </a:solidFill>
              </a:rPr>
              <a:t> atau </a:t>
            </a:r>
            <a:r>
              <a:rPr lang="id-ID" altLang="en-US" sz="2000" dirty="0">
                <a:solidFill>
                  <a:srgbClr val="DDF4FF"/>
                </a:solidFill>
                <a:latin typeface="Consolas" pitchFamily="34" charset="0"/>
                <a:ea typeface="Consolas" pitchFamily="34" charset="-122"/>
                <a:cs typeface="Consolas" pitchFamily="34" charset="-120"/>
              </a:rPr>
              <a:t>fc</a:t>
            </a:r>
            <a:r>
              <a:rPr lang="id-ID" altLang="en-US" sz="2000" dirty="0">
                <a:solidFill>
                  <a:srgbClr val="FFFFFF"/>
                </a:solidFill>
              </a:rPr>
              <a:t>.</a:t>
            </a:r>
            <a:endParaRPr lang="id-ID" sz="2000" dirty="0"/>
          </a:p>
        </p:txBody>
      </p:sp>
      <p:sp>
        <p:nvSpPr>
          <p:cNvPr id="9" name="Shape 6"/>
          <p:cNvSpPr/>
          <p:nvPr/>
        </p:nvSpPr>
        <p:spPr>
          <a:xfrm>
            <a:off x="603504" y="3108960"/>
            <a:ext cx="137160" cy="137160"/>
          </a:xfrm>
          <a:prstGeom prst="roundRect">
            <a:avLst>
              <a:gd name="adj" fmla="val 166667"/>
            </a:avLst>
          </a:prstGeom>
          <a:solidFill>
            <a:srgbClr val="FB8F44"/>
          </a:solidFill>
          <a:ln/>
        </p:spPr>
      </p:sp>
      <p:sp>
        <p:nvSpPr>
          <p:cNvPr id="10" name="Text 7"/>
          <p:cNvSpPr txBox="1"/>
          <p:nvPr/>
        </p:nvSpPr>
        <p:spPr>
          <a:xfrm>
            <a:off x="932688" y="3022600"/>
            <a:ext cx="7114032" cy="355600"/>
          </a:xfrm>
          <a:prstGeom prst="rect">
            <a:avLst/>
          </a:prstGeom>
          <a:noFill/>
          <a:ln/>
        </p:spPr>
        <p:txBody>
          <a:bodyPr wrap="square" lIns="0" tIns="0" rIns="0" bIns="0" rtlCol="0" anchor="t"/>
          <a:lstStyle/>
          <a:p>
            <a:pPr indent="0" marL="0">
              <a:buNone/>
            </a:pPr>
            <a:r>
              <a:rPr lang="id-ID" altLang="en-US" sz="2000" dirty="0">
                <a:solidFill>
                  <a:srgbClr val="FFFFFF"/>
                </a:solidFill>
              </a:rPr>
              <a:t>Siapkan presentasi proyek akhir dengan </a:t>
            </a:r>
            <a:r>
              <a:rPr lang="id-ID" altLang="en-US" sz="2000" i="1" dirty="0">
                <a:solidFill>
                  <a:srgbClr val="FFFFFF"/>
                </a:solidFill>
              </a:rPr>
              <a:t>checklist</a:t>
            </a:r>
            <a:r>
              <a:rPr lang="id-ID" altLang="en-US" sz="2000" dirty="0">
                <a:solidFill>
                  <a:srgbClr val="FFFFFF"/>
                </a:solidFill>
              </a:rPr>
              <a:t> di halaman UAS.</a:t>
            </a:r>
            <a:endParaRPr lang="id-ID" sz="2000" dirty="0"/>
          </a:p>
        </p:txBody>
      </p:sp>
      <p:sp>
        <p:nvSpPr>
          <p:cNvPr id="11" name="Text 8"/>
          <p:cNvSpPr txBox="1"/>
          <p:nvPr/>
        </p:nvSpPr>
        <p:spPr>
          <a:xfrm>
            <a:off x="548640" y="3652520"/>
            <a:ext cx="7498080" cy="365760"/>
          </a:xfrm>
          <a:prstGeom prst="rect">
            <a:avLst/>
          </a:prstGeom>
          <a:noFill/>
          <a:ln/>
        </p:spPr>
        <p:txBody>
          <a:bodyPr wrap="square" lIns="0" tIns="0" rIns="0" bIns="0" rtlCol="0" anchor="t"/>
          <a:lstStyle/>
          <a:p>
            <a:pPr indent="0" marL="0">
              <a:buNone/>
            </a:pPr>
            <a:r>
              <a:rPr lang="id-ID" altLang="en-US" sz="1700" b="1" dirty="0">
                <a:solidFill>
                  <a:srgbClr val="C9D7E8"/>
                </a:solidFill>
              </a:rPr>
              <a:t>Buka bahan pertemuan ini di GitHub:</a:t>
            </a:r>
            <a:endParaRPr lang="id-ID" sz="1700" dirty="0"/>
          </a:p>
        </p:txBody>
      </p:sp>
      <p:sp>
        <p:nvSpPr>
          <p:cNvPr id="12" name="Shape 9"/>
          <p:cNvSpPr/>
          <p:nvPr/>
        </p:nvSpPr>
        <p:spPr>
          <a:xfrm>
            <a:off x="548640" y="4109720"/>
            <a:ext cx="3666744" cy="457200"/>
          </a:xfrm>
          <a:prstGeom prst="roundRect">
            <a:avLst>
              <a:gd name="adj" fmla="val 100000"/>
            </a:avLst>
          </a:prstGeom>
          <a:solidFill>
            <a:srgbClr val="12407F"/>
          </a:solidFill>
          <a:ln w="12700">
            <a:solidFill>
              <a:srgbClr val="2F6FB5"/>
            </a:solidFill>
            <a:prstDash val="solid"/>
          </a:ln>
        </p:spPr>
      </p:sp>
      <p:pic>
        <p:nvPicPr>
          <p:cNvPr id="13" name="Image 1" descr="preencoded.png">    </p:cNvPr>
          <p:cNvPicPr>
            <a:picLocks noChangeAspect="1"/>
          </p:cNvPicPr>
          <p:nvPr/>
        </p:nvPicPr>
        <p:blipFill>
          <a:blip r:embed="rId2"/>
          <a:stretch>
            <a:fillRect/>
          </a:stretch>
        </p:blipFill>
        <p:spPr>
          <a:xfrm>
            <a:off x="694944" y="4210304"/>
            <a:ext cx="256032" cy="256032"/>
          </a:xfrm>
          <a:prstGeom prst="rect">
            <a:avLst/>
          </a:prstGeom>
        </p:spPr>
      </p:pic>
      <p:sp>
        <p:nvSpPr>
          <p:cNvPr id="14" name="Text 10"/>
          <p:cNvSpPr txBox="1"/>
          <p:nvPr/>
        </p:nvSpPr>
        <p:spPr>
          <a:xfrm>
            <a:off x="1051560" y="4109720"/>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3" invalidUrl="" action="" tgtFrame="" tooltip="README.md" history="1" highlightClick="0" endSnd="0">
                  <a:extLst>
                    <a:ext uri="{A12FA001-AC4F-418D-AE19-62706E023703}">
                      <ahyp:hlinkClr xmlns:ahyp="http://schemas.microsoft.com/office/drawing/2018/hyperlinkcolor" val="tx"/>
                    </a:ext>
                  </a:extLst>
                </a:hlinkClick>
              </a:rPr>
              <a:t>Informasi dan kisi-kisi</a:t>
            </a:r>
            <a:endParaRPr lang="id-ID" sz="1600" dirty="0"/>
          </a:p>
        </p:txBody>
      </p:sp>
      <p:sp>
        <p:nvSpPr>
          <p:cNvPr id="15" name="Shape 11"/>
          <p:cNvSpPr/>
          <p:nvPr/>
        </p:nvSpPr>
        <p:spPr>
          <a:xfrm>
            <a:off x="4379976" y="4109720"/>
            <a:ext cx="3666744" cy="457200"/>
          </a:xfrm>
          <a:prstGeom prst="roundRect">
            <a:avLst>
              <a:gd name="adj" fmla="val 100000"/>
            </a:avLst>
          </a:prstGeom>
          <a:solidFill>
            <a:srgbClr val="12407F"/>
          </a:solidFill>
          <a:ln w="12700">
            <a:solidFill>
              <a:srgbClr val="2F6FB5"/>
            </a:solidFill>
            <a:prstDash val="solid"/>
          </a:ln>
        </p:spPr>
      </p:sp>
      <p:pic>
        <p:nvPicPr>
          <p:cNvPr id="16" name="Image 2" descr="preencoded.png">    </p:cNvPr>
          <p:cNvPicPr>
            <a:picLocks noChangeAspect="1"/>
          </p:cNvPicPr>
          <p:nvPr/>
        </p:nvPicPr>
        <p:blipFill>
          <a:blip r:embed="rId4"/>
          <a:stretch>
            <a:fillRect/>
          </a:stretch>
        </p:blipFill>
        <p:spPr>
          <a:xfrm>
            <a:off x="4526280" y="4210304"/>
            <a:ext cx="256032" cy="256032"/>
          </a:xfrm>
          <a:prstGeom prst="rect">
            <a:avLst/>
          </a:prstGeom>
        </p:spPr>
      </p:pic>
      <p:sp>
        <p:nvSpPr>
          <p:cNvPr id="17" name="Text 12"/>
          <p:cNvSpPr txBox="1"/>
          <p:nvPr/>
        </p:nvSpPr>
        <p:spPr>
          <a:xfrm>
            <a:off x="4882896" y="4109720"/>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5" invalidUrl="" action="" tgtFrame="" tooltip="python/README.md" history="1" highlightClick="0" endSnd="0">
                  <a:extLst>
                    <a:ext uri="{A12FA001-AC4F-418D-AE19-62706E023703}">
                      <ahyp:hlinkClr xmlns:ahyp="http://schemas.microsoft.com/office/drawing/2018/hyperlinkcolor" val="tx"/>
                    </a:ext>
                  </a:extLst>
                </a:hlinkClick>
              </a:rPr>
              <a:t>Praktik Python</a:t>
            </a:r>
            <a:endParaRPr lang="id-ID" sz="1600" dirty="0"/>
          </a:p>
        </p:txBody>
      </p:sp>
      <p:sp>
        <p:nvSpPr>
          <p:cNvPr id="18" name="Shape 13"/>
          <p:cNvSpPr/>
          <p:nvPr/>
        </p:nvSpPr>
        <p:spPr>
          <a:xfrm>
            <a:off x="548640" y="4694936"/>
            <a:ext cx="3666744" cy="457200"/>
          </a:xfrm>
          <a:prstGeom prst="roundRect">
            <a:avLst>
              <a:gd name="adj" fmla="val 100000"/>
            </a:avLst>
          </a:prstGeom>
          <a:solidFill>
            <a:srgbClr val="12407F"/>
          </a:solidFill>
          <a:ln w="12700">
            <a:solidFill>
              <a:srgbClr val="2F6FB5"/>
            </a:solidFill>
            <a:prstDash val="solid"/>
          </a:ln>
        </p:spPr>
      </p:sp>
      <p:pic>
        <p:nvPicPr>
          <p:cNvPr id="19" name="Image 3" descr="preencoded.png">    </p:cNvPr>
          <p:cNvPicPr>
            <a:picLocks noChangeAspect="1"/>
          </p:cNvPicPr>
          <p:nvPr/>
        </p:nvPicPr>
        <p:blipFill>
          <a:blip r:embed="rId6"/>
          <a:stretch>
            <a:fillRect/>
          </a:stretch>
        </p:blipFill>
        <p:spPr>
          <a:xfrm>
            <a:off x="694944" y="4795520"/>
            <a:ext cx="256032" cy="256032"/>
          </a:xfrm>
          <a:prstGeom prst="rect">
            <a:avLst/>
          </a:prstGeom>
        </p:spPr>
      </p:pic>
      <p:sp>
        <p:nvSpPr>
          <p:cNvPr id="20" name="Text 14"/>
          <p:cNvSpPr txBox="1"/>
          <p:nvPr/>
        </p:nvSpPr>
        <p:spPr>
          <a:xfrm>
            <a:off x="1051560" y="4694936"/>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7" invalidUrl="" action="" tgtFrame="" tooltip="java/README.md" history="1" highlightClick="0" endSnd="0">
                  <a:extLst>
                    <a:ext uri="{A12FA001-AC4F-418D-AE19-62706E023703}">
                      <ahyp:hlinkClr xmlns:ahyp="http://schemas.microsoft.com/office/drawing/2018/hyperlinkcolor" val="tx"/>
                    </a:ext>
                  </a:extLst>
                </a:hlinkClick>
              </a:rPr>
              <a:t>Praktik Java</a:t>
            </a:r>
            <a:endParaRPr lang="id-ID" sz="1600" dirty="0"/>
          </a:p>
        </p:txBody>
      </p:sp>
      <p:sp>
        <p:nvSpPr>
          <p:cNvPr id="21" name="Shape 15"/>
          <p:cNvSpPr/>
          <p:nvPr/>
        </p:nvSpPr>
        <p:spPr>
          <a:xfrm>
            <a:off x="4379976" y="4694936"/>
            <a:ext cx="3666744" cy="457200"/>
          </a:xfrm>
          <a:prstGeom prst="roundRect">
            <a:avLst>
              <a:gd name="adj" fmla="val 100000"/>
            </a:avLst>
          </a:prstGeom>
          <a:solidFill>
            <a:srgbClr val="12407F"/>
          </a:solidFill>
          <a:ln w="12700">
            <a:solidFill>
              <a:srgbClr val="2F6FB5"/>
            </a:solidFill>
            <a:prstDash val="solid"/>
          </a:ln>
        </p:spPr>
      </p:sp>
      <p:pic>
        <p:nvPicPr>
          <p:cNvPr id="22" name="Image 4" descr="preencoded.png">    </p:cNvPr>
          <p:cNvPicPr>
            <a:picLocks noChangeAspect="1"/>
          </p:cNvPicPr>
          <p:nvPr/>
        </p:nvPicPr>
        <p:blipFill>
          <a:blip r:embed="rId8"/>
          <a:stretch>
            <a:fillRect/>
          </a:stretch>
        </p:blipFill>
        <p:spPr>
          <a:xfrm>
            <a:off x="4526280" y="4795520"/>
            <a:ext cx="256032" cy="256032"/>
          </a:xfrm>
          <a:prstGeom prst="rect">
            <a:avLst/>
          </a:prstGeom>
        </p:spPr>
      </p:pic>
      <p:sp>
        <p:nvSpPr>
          <p:cNvPr id="23" name="Text 16"/>
          <p:cNvSpPr txBox="1"/>
          <p:nvPr/>
        </p:nvSpPr>
        <p:spPr>
          <a:xfrm>
            <a:off x="4882896" y="4694936"/>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9" invalidUrl="" action="" tgtFrame="" tooltip="latihan-soal.md" history="1" highlightClick="0" endSnd="0">
                  <a:extLst>
                    <a:ext uri="{A12FA001-AC4F-418D-AE19-62706E023703}">
                      <ahyp:hlinkClr xmlns:ahyp="http://schemas.microsoft.com/office/drawing/2018/hyperlinkcolor" val="tx"/>
                    </a:ext>
                  </a:extLst>
                </a:hlinkClick>
              </a:rPr>
              <a:t>Latihan soal</a:t>
            </a:r>
            <a:endParaRPr lang="id-ID" sz="1600" dirty="0"/>
          </a:p>
        </p:txBody>
      </p:sp>
      <p:sp>
        <p:nvSpPr>
          <p:cNvPr id="24" name="Shape 17"/>
          <p:cNvSpPr/>
          <p:nvPr/>
        </p:nvSpPr>
        <p:spPr>
          <a:xfrm>
            <a:off x="548640" y="5280152"/>
            <a:ext cx="3666744" cy="457200"/>
          </a:xfrm>
          <a:prstGeom prst="roundRect">
            <a:avLst>
              <a:gd name="adj" fmla="val 100000"/>
            </a:avLst>
          </a:prstGeom>
          <a:solidFill>
            <a:srgbClr val="12407F"/>
          </a:solidFill>
          <a:ln w="12700">
            <a:solidFill>
              <a:srgbClr val="2F6FB5"/>
            </a:solidFill>
            <a:prstDash val="solid"/>
          </a:ln>
        </p:spPr>
      </p:sp>
      <p:pic>
        <p:nvPicPr>
          <p:cNvPr id="25" name="Image 5" descr="preencoded.png">    </p:cNvPr>
          <p:cNvPicPr>
            <a:picLocks noChangeAspect="1"/>
          </p:cNvPicPr>
          <p:nvPr/>
        </p:nvPicPr>
        <p:blipFill>
          <a:blip r:embed="rId10"/>
          <a:stretch>
            <a:fillRect/>
          </a:stretch>
        </p:blipFill>
        <p:spPr>
          <a:xfrm>
            <a:off x="694944" y="5380736"/>
            <a:ext cx="256032" cy="256032"/>
          </a:xfrm>
          <a:prstGeom prst="rect">
            <a:avLst/>
          </a:prstGeom>
        </p:spPr>
      </p:pic>
      <p:sp>
        <p:nvSpPr>
          <p:cNvPr id="26" name="Text 18"/>
          <p:cNvSpPr txBox="1"/>
          <p:nvPr/>
        </p:nvSpPr>
        <p:spPr>
          <a:xfrm>
            <a:off x="1051560" y="528015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1" invalidUrl="" action="" tgtFrame="" tooltip="pembahasan.md" history="1" highlightClick="0" endSnd="0">
                  <a:extLst>
                    <a:ext uri="{A12FA001-AC4F-418D-AE19-62706E023703}">
                      <ahyp:hlinkClr xmlns:ahyp="http://schemas.microsoft.com/office/drawing/2018/hyperlinkcolor" val="tx"/>
                    </a:ext>
                  </a:extLst>
                </a:hlinkClick>
              </a:rPr>
              <a:t>Pembahasan</a:t>
            </a:r>
            <a:endParaRPr lang="id-ID" sz="1600" dirty="0"/>
          </a:p>
        </p:txBody>
      </p:sp>
      <p:sp>
        <p:nvSpPr>
          <p:cNvPr id="27" name="Shape 19"/>
          <p:cNvSpPr/>
          <p:nvPr/>
        </p:nvSpPr>
        <p:spPr>
          <a:xfrm>
            <a:off x="8503920" y="1280160"/>
            <a:ext cx="2880360" cy="2880360"/>
          </a:xfrm>
          <a:prstGeom prst="roundRect">
            <a:avLst>
              <a:gd name="adj" fmla="val 1411"/>
            </a:avLst>
          </a:prstGeom>
          <a:solidFill>
            <a:srgbClr val="FFFFFF"/>
          </a:solidFill>
          <a:ln/>
        </p:spPr>
      </p:sp>
      <p:pic>
        <p:nvPicPr>
          <p:cNvPr id="28" name="Image 6" descr="Kode QR menuju folder pertemuan di GitHub">    </p:cNvPr>
          <p:cNvPicPr>
            <a:picLocks noChangeAspect="1"/>
          </p:cNvPicPr>
          <p:nvPr/>
        </p:nvPicPr>
        <p:blipFill>
          <a:blip r:embed="rId12"/>
          <a:stretch>
            <a:fillRect/>
          </a:stretch>
        </p:blipFill>
        <p:spPr>
          <a:xfrm>
            <a:off x="8641080" y="1417320"/>
            <a:ext cx="2606040" cy="2606040"/>
          </a:xfrm>
          <a:prstGeom prst="rect">
            <a:avLst/>
          </a:prstGeom>
        </p:spPr>
      </p:pic>
      <p:sp>
        <p:nvSpPr>
          <p:cNvPr id="29" name="Text 20"/>
          <p:cNvSpPr txBox="1"/>
          <p:nvPr/>
        </p:nvSpPr>
        <p:spPr>
          <a:xfrm>
            <a:off x="8458200" y="4297680"/>
            <a:ext cx="2971800" cy="640080"/>
          </a:xfrm>
          <a:prstGeom prst="rect">
            <a:avLst/>
          </a:prstGeom>
          <a:noFill/>
          <a:ln/>
        </p:spPr>
        <p:txBody>
          <a:bodyPr wrap="square" lIns="0" tIns="0" rIns="0" bIns="0" rtlCol="0" anchor="t"/>
          <a:lstStyle/>
          <a:p>
            <a:pPr algn="ctr" indent="0" marL="0">
              <a:buNone/>
            </a:pPr>
            <a:r>
              <a:rPr lang="id-ID" altLang="en-US" sz="1400" dirty="0">
                <a:solidFill>
                  <a:srgbClr val="C9D7E8"/>
                </a:solidFill>
              </a:rPr>
              <a:t>Pindai untuk membuka folder pertemuan ini di GitHub</a:t>
            </a:r>
            <a:endParaRPr lang="id-ID" sz="1400" dirty="0"/>
          </a:p>
        </p:txBody>
      </p:sp>
      <p:sp>
        <p:nvSpPr>
          <p:cNvPr id="30" name="Text 21"/>
          <p:cNvSpPr txBox="1"/>
          <p:nvPr/>
        </p:nvSpPr>
        <p:spPr>
          <a:xfrm>
            <a:off x="548640" y="5925312"/>
            <a:ext cx="11094415" cy="320040"/>
          </a:xfrm>
          <a:prstGeom prst="rect">
            <a:avLst/>
          </a:prstGeom>
          <a:noFill/>
          <a:ln/>
        </p:spPr>
        <p:txBody>
          <a:bodyPr wrap="square" lIns="0" tIns="0" rIns="0" bIns="0" rtlCol="0" anchor="ctr"/>
          <a:lstStyle/>
          <a:p>
            <a:pPr indent="0" marL="0">
              <a:buNone/>
            </a:pPr>
            <a:r>
              <a:rPr lang="en-US" altLang="en-US" sz="1300" u="sng" dirty="0">
                <a:solidFill>
                  <a:srgbClr val="54AEFF"/>
                </a:solidFill>
                <a:hlinkClick r:id="rId13" invalidUrl="" action="" tgtFrame="" tooltip="" history="1" highlightClick="0" endSnd="0">
                  <a:extLst>
                    <a:ext uri="{A12FA001-AC4F-418D-AE19-62706E023703}">
                      <ahyp:hlinkClr xmlns:ahyp="http://schemas.microsoft.com/office/drawing/2018/hyperlinkcolor" val="tx"/>
                    </a:ext>
                  </a:extLst>
                </a:hlinkClick>
              </a:rPr>
              <a:t>github.com/antonprafanto/PBO2026/tree/master/Pertemuan-16-UAS</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PBO 2026">
  <a:themeElements>
    <a:clrScheme name="PBO 2026">
      <a:dk1>
        <a:srgbClr val="1F2328"/>
      </a:dk1>
      <a:lt1>
        <a:srgbClr val="FFFFFF"/>
      </a:lt1>
      <a:dk2>
        <a:srgbClr val="0A3069"/>
      </a:dk2>
      <a:lt2>
        <a:srgbClr val="F6F8FA"/>
      </a:lt2>
      <a:accent1>
        <a:srgbClr val="0969DA"/>
      </a:accent1>
      <a:accent2>
        <a:srgbClr val="BC4C00"/>
      </a:accent2>
      <a:accent3>
        <a:srgbClr val="1A7F37"/>
      </a:accent3>
      <a:accent4>
        <a:srgbClr val="8250DF"/>
      </a:accent4>
      <a:accent5>
        <a:srgbClr val="CF222E"/>
      </a:accent5>
      <a:accent6>
        <a:srgbClr val="9A6700"/>
      </a:accent6>
      <a:hlink>
        <a:srgbClr val="0969DA"/>
      </a:hlink>
      <a:folHlink>
        <a:srgbClr val="8250DF"/>
      </a:folHlink>
    </a:clrScheme>
    <a:fontScheme name="PBO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Informatika Universitas Mulawarman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PBO 2026 Pertemuan 16: UAS: Ujian Akhir Semester</dc:title>
  <dc:subject>Pemrograman Berorientasi Objek 2026</dc:subject>
  <dc:creator>PBO 2026 UNMUL</dc:creator>
  <cp:lastModifiedBy>PBO 2026 UNMUL</cp:lastModifiedBy>
  <cp:revision>1</cp:revision>
  <dcterms:created xsi:type="dcterms:W3CDTF">2026-10-15T02:18:35Z</dcterms:created>
  <dcterms:modified xsi:type="dcterms:W3CDTF">2026-10-15T02:18:35Z</dcterms:modified>
</cp:coreProperties>
</file>