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8119762f-0415-510a-12dc-d2a3e59f8619}">
          <p14:sldIdLst>
            <p14:sldId id="256"/>
            <p14:sldId id="257"/>
            <p14:sldId id="258"/>
          </p14:sldIdLst>
        </p14:section>
        <p14:section name="Kasir KedaiKita yang Kacau" id="{cee2cb0d-218c-ebd7-7562-f12286c3446d}">
          <p14:sldIdLst>
            <p14:sldId id="259"/>
            <p14:sldId id="260"/>
            <p14:sldId id="261"/>
            <p14:sldId id="262"/>
          </p14:sldIdLst>
        </p14:section>
        <p14:section name="Dunia Penuh Objek" id="{61f0ac23-1278-8276-2b69-2c495ced8f71}">
          <p14:sldIdLst>
            <p14:sldId id="263"/>
            <p14:sldId id="264"/>
            <p14:sldId id="265"/>
            <p14:sldId id="266"/>
            <p14:sldId id="267"/>
          </p14:sldIdLst>
        </p14:section>
        <p14:section name="Empat Pilar dan Kapan Memakai PBO" id="{ab6bbf07-b18b-f1ac-7d30-432c33bca55c}">
          <p14:sldIdLst>
            <p14:sldId id="268"/>
            <p14:sldId id="269"/>
            <p14:sldId id="270"/>
          </p14:sldIdLst>
        </p14:section>
        <p14:section name="Dua Jalur dan Persiapan Alat" id="{33d17000-e939-f6a0-da54-ea892efa51bf}">
          <p14:sldIdLst>
            <p14:sldId id="271"/>
            <p14:sldId id="272"/>
            <p14:sldId id="273"/>
            <p14:sldId id="274"/>
            <p14:sldId id="275"/>
          </p14:sldIdLst>
        </p14:section>
        <p14:section name="Studi Kasus KedaiKita" id="{6ec70036-81e9-a6e4-0e42-990b1d91ccd1}">
          <p14:sldIdLst>
            <p14:sldId id="276"/>
            <p14:sldId id="277"/>
            <p14:sldId id="278"/>
            <p14:sldId id="279"/>
          </p14:sldIdLst>
        </p14:section>
        <p14:section name="Cek Pemahaman" id="{3d12e66f-a0be-17fc-208a-9b10ad3de1f1}">
          <p14:sldIdLst>
            <p14:sldId id="280"/>
            <p14:sldId id="281"/>
            <p14:sldId id="282"/>
            <p14:sldId id="283"/>
            <p14:sldId id="284"/>
          </p14:sldIdLst>
        </p14:section>
        <p14:section name="Penutup" id="{3dbc08fb-8705-6367-e01f-920d02397a71}">
          <p14:sldIdLst>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mata kuliah Pemrograman Berorientasi Objek (PBO). Hari ini kita belum menulis kelas. Kita berkenalan dengan sebuah cara pandang baru dalam menyusun program, melihat sendiri mengapa program yang makin besar membutuhkannya, lalu menyiapkan alat untuk praktik sepanjang semester. Semua materi, kode, latihan, dan kuis pertemuan ini ada di repositori GitHub mata kuliah, di folder Pertemuan-01-Pengenalan-PBO.</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Pertemuan pertama ini punya dua misi: memahami mengapa PBO dibutuhkan, dan menyiapkan alat untuk praktik sepanjang semester. Di akhir pertemuan, cek lagi satu per satu: sudahkah kamu bisa menjelaskannya dengan kata-katamu sendiri? Setiap pertemuan punya alur belajar yang sama: konsep, lalu praktik di halaman Python atau Java, kemudian halaman Jembatan Python ↔ Java, latihan, dan kuis.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sebuah kejadian kecil di kafe KedaiKita, lalu memakainya untuk memahami dua cara pandang dalam menyusun program. Setelah mengenal empat pilar PBO, kita menyiapkan alat praktik. Di bagian akhir, kita membandingkan dua versi program KedaiKita yang skenarionya sama, tetapi hasilnya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dengan cerita, bukan kode. Kejadian kecil di sebuah kafe dekat kampus ini menjadi benang merah sepanjang pertemuan, dan programnya benar-benar ada di folder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dekat kampus, di Jl. Pramuka No. 10, Samarinda, ada kafe kecil bernama KedaiKita. Pemiliknya menulis sendiri program kasir sederhana, dan berminggu-minggu program itu berjalan lancar. Suatu sore, setelah Budi memesan dua kopi susu dan satu es teh, pemilik kedai ingin daftar menu tampil urut abjad agar mudah dibaca pelanggan. Ia menambahkan satu perintah untuk mengurutkan daftar nama. Tiba-tiba es teh manis seharga Rp18.000, sedangkan nasi goreng hanya Rp8.000. Kalau kasir tidak sadar, kedai bisa rugi dan pelanggan bisa kesal. Sepanjang pertemuan ini kita menjawab dua pertanyaan: mengapa cara menyusun program seperti ini mudah rusak, dan bagaimana cara pandang berorientasi objek mencegahnya?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dua cara mengelola dapur kafe yang ramai. Cara pertama: satu buku resep raksasa berisi langkah dari atas ke bawah, semua bahan di satu meja besar, dan siapa pun boleh mengubah bahan apa saja. Cara kedua: kasir, barista, dan koki masing-masing punya meja, peralatan, dan tugasnya sendiri, lalu bekerja sama dengan saling memberi pesan, misalnya "Barista, tolong buatkan dua kopi susu!" Keduanya sama-sama bisa menyajikan pesanan; bedanya ada pada cara mengatur pekerjaan. Itulah paradigma: cara pandang dalam menyusun program, yaitu bagaimana masalah dipecah, di mana data disimpan, dan bagaimana bagian-bagian program bekerja sama. Banyak bahasa modern bersifat multiparadigma. Python bisa dipakai secara prosedural maupun berorientasi objek, sedangkan Java dirancang berorientasi objek sejak awal. Paradigma fungsional tidak kita bahas mendalam di mata kuliah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Program yang kamu tulis di mata kuliah pemrograman dasar kemungkinan besar bergaya prosedural: data disimpan di variabel, </a:t>
            </a:r>
            <a:r>
              <a:rPr lang="id-ID" dirty="0" i="1"/>
              <a:t>list</a:t>
            </a:r>
            <a:r>
              <a:rPr lang="id-ID" dirty="0"/>
              <a:t>, atau </a:t>
            </a:r>
            <a:r>
              <a:rPr lang="id-ID" dirty="0" i="1"/>
              <a:t>array</a:t>
            </a:r>
            <a:r>
              <a:rPr lang="id-ID" dirty="0"/>
              <a:t>, lalu fungsi-fungsi mengolahnya langkah demi langkah. Masalah baru terasa ketika program membesar: menunya ratusan, fiturnya puluhan, dan pemrogramnya lebih dari satu orang. Data yang tersebar dan bergantung pada indeks yang sama disebut data paralel, sedangkan data yang bisa dijangkau semua fungsi disebut data global. Misalnya, pemilik kedai ingin menambah kategori Makanan atau Minuman. Ia harus membuat daftar keempat, lalu memeriksa setiap fungsi yang memindahkan, menghapus, atau menampilkan data. Satu fungsi saja terlewat, data kembali tertukar. Pemrogram harus selalu ingat menjaga semuanya tetap sinkron, padahal manusia pasti suatu saat lupa.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kita beralih ke cara pandang kedua. Di bagian ini kita berkenalan dengan objek, pesan, kelas, atribut, dan </a:t>
            </a:r>
            <a:r>
              <a:rPr lang="id-ID" dirty="0" i="1"/>
              <a:t>method</a:t>
            </a:r>
            <a:r>
              <a:rPr lang="id-ID" dirty="0"/>
              <a:t>, cukup sebagai gambaran awal.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Coba lihat sekelilingmu: ponsel, motor, mahasiswa, dosen, secangkir kopi. Dunia nyata tidak tersusun dari daftar nama dan daftar harga yang terpisah. Setiap benda membawa datanya sendiri dan punya kemampuannya sendiri, dan PBO meniru cara pandang ini. Di kampus, objek dosen membawa nama dan NIP, serta bisa memberi nilai dan menyetujui KRS. Di KedaiKita, saat menu diurutkan, yang dipindah adalah objeknya, lengkap dengan seluruh isinya, sehingga harga tidak mungkin tertinggal. Mirip memindahkan tas ransel: buku, dompet, dan botol minum di dalamnya ikut pindah bersama tasnya.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 kamu memesan ojek </a:t>
            </a:r>
            <a:r>
              <a:rPr lang="id-ID" dirty="0" i="1"/>
              <a:t>online</a:t>
            </a:r>
            <a:r>
              <a:rPr lang="id-ID" dirty="0"/>
              <a:t> dari kampus, beberapa objek bekerja sama dengan saling mengirim pesan. Penumpang tidak perlu tahu cara aplikasi mencari pengemudi terdekat. Ia cukup mengirim pesan "pesan ojek", lalu aplikasi mengerjakan sisanya. Setiap objek mengurus datanya sendiri: aplikasi tahu daftar pengemudi yang aktif, pengemudi tahu posisinya, dan penumpang tahu tujuannya. Diagram ini dibaca dari atas ke bawah, mengikuti urutan pesannya. Latihan 7 mengajakmu menuliskan urutan pesan seperti ini untuk KedaiKita: siapa meminta apa kepada siapa, dari awal pesanan sampai struk dicetak.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Tabel ini merangkum perbedaan kedua paradigma. Perhatikan baris kedua: pada gaya prosedural, data satu menu tersebar di tiga daftar, sedangkan pada gaya objek, data itu terkumpul di dalam satu objek. Saat menu diurutkan, objeknya dipindah utuh sehingga harga tidak mungkin tertinggal. Baris terakhir juga penting: gaya prosedural tetap nyaman untuk program kecil, sedangkan manfaat PBO paling terasa pada program besar yang terus berkembang. Jadi, ini bukan soal benar atau salah, melainkan soal mana yang cocok untuk masalahnya.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Kelas adalah rancangan atau cetak biru yang menentukan data apa yang dimiliki dan apa yang bisa dilakukan oleh sekelompok objek sejenis. Objek adalah wujud nyata yang dibuat dari sebuah kelas, lengkap dengan nilai datanya sendiri. Atribut adalah data atau ciri milik objek, sedangkan </a:t>
            </a:r>
            <a:r>
              <a:rPr lang="id-ID" dirty="0" i="1"/>
              <a:t>method</a:t>
            </a:r>
            <a:r>
              <a:rPr lang="id-ID" dirty="0"/>
              <a:t> adalah perilaku atau aksinya. Trik sederhana saat membaca deskripsi masalah: kata benda menjadi calon kelas atau atribut, sedangkan kata kerja menjadi calon </a:t>
            </a:r>
            <a:r>
              <a:rPr lang="id-ID" dirty="0" i="1"/>
              <a:t>method</a:t>
            </a:r>
            <a:r>
              <a:rPr lang="id-ID" dirty="0"/>
              <a:t>. Ini baru perkenalan. Cara menulis kelas dan objek di Python dan Java kita pelajari tuntas di Pertemuan 02, lengkap dengan analogi cetakan kue.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PBO bertumpu pada empat konsep besar yang disebut empat pilar. Hari ini cukup kenali nama dan gambaran kasarnya. Setelah itu, kita menimbang kapan PBO bermanfaat dan kapan justru berlebihan.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Enkapsulasi: di mesin ATM, kamu tidak bisa membuka brankas atau mengubah angka saldomu sendiri; kamu hanya memakai menu resmi, dan mesin menolak penarikan yang melebihi saldo. Di KedaiKita, stok hanya boleh berubah lewat </a:t>
            </a:r>
            <a:r>
              <a:rPr lang="id-ID" dirty="0" i="1"/>
              <a:t>method</a:t>
            </a:r>
            <a:r>
              <a:rPr lang="id-ID" dirty="0"/>
              <a:t> seperti "kurangi stok" sehingga tidak bisa bernilai negatif. Pewarisan: makanan dan minuman sama-sama menu, tetapi makanan punya level pedas, sedangkan minuman bisa disajikan dingin atau panas. Polimorfisme: tombol "Bayar" memproses tunai, QRIS, atau kartu dengan caranya masing-masing. Abstraksi: untuk menyetir ke kampus, kamu cukup tahu setir, pedal gas, dan rem. Jangan khawatir jika keempat pilar ini masih terasa abstrak. Pilar-pilar ini baru benar-benar "klik" setelah kamu menulis kodenya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PBO bukan obat untuk semua penyakit. Untuk skrip kecil, misalnya menghitung rata-rata nilai satu kelas, membuat kelas hanya menambah baris tanpa manfaat berarti. PBO juga punya "harga": konsep yang harus dipahami lebih banyak, dan untuk program kecil kodenya bisa menjadi lebih panjang. Karena itu, kita mempelajarinya pelan-pelan, satu konsep per pertemuan. Ingat juga: PBO tidak menggantikan dasar-dasar prosedural seperti percabangan, perulangan, dan perhitungan, melainkan mengatur di mana dasar-dasar itu diletakkan. Prinsip "jangan berlebihan" kita bahas lagi di Pertemuan 13.</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Mata kuliah ini punya dua jalur praktik: Python dan Java. Konsepnya sama persis; yang berbeda hanya cara menuliskannya. Pilih satu jalur utama dan ikuti sampai akhir semester. Jalur lainnya boleh dipelajari lewat halaman Jembatan Python ↔ Java. Jika dosen pengampu menetapkan bahasa tertentu untuk tugas atau ujian, ikuti ketentuan dosen. Begitu memahami PBO di salah satunya, bahasa lain seperti C# atau Kotlin akan jauh lebih mudah dipelajari.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Buka terminal: di Windows, klik </a:t>
            </a:r>
            <a:r>
              <a:rPr lang="id-ID" dirty="0" b="1"/>
              <a:t>Start</a:t>
            </a:r>
            <a:r>
              <a:rPr lang="id-ID" dirty="0"/>
              <a:t>, ketik PowerShell, lalu tekan Enter; di macOS/Linux, buka aplikasi </a:t>
            </a:r>
            <a:r>
              <a:rPr lang="id-ID" dirty="0" b="1"/>
              <a:t>Terminal</a:t>
            </a:r>
            <a:r>
              <a:rPr lang="id-ID" dirty="0"/>
              <a:t>. Terminal di dalam VS Code juga bisa dipakai lewat </a:t>
            </a:r>
            <a:r>
              <a:rPr lang="id-ID" dirty="0" b="1"/>
              <a:t>Terminal → New Terminal</a:t>
            </a:r>
            <a:r>
              <a:rPr lang="id-ID" dirty="0"/>
              <a:t>. Untuk jalur Java, pastikan yang terpasang adalah JDK. JDK berisi </a:t>
            </a:r>
            <a:r>
              <a:rPr lang="id-ID" dirty="0" i="1"/>
              <a:t>compiler</a:t>
            </a:r>
            <a:r>
              <a:rPr lang="id-ID" dirty="0"/>
              <a:t> bernama </a:t>
            </a:r>
            <a:r>
              <a:rPr lang="en-US" dirty="0">
                <a:latin typeface="Consolas"/>
              </a:rPr>
              <a:t>javac</a:t>
            </a:r>
            <a:r>
              <a:rPr lang="id-ID" dirty="0"/>
              <a:t>, yaitu penerjemah yang mengubah kode Java menjadi </a:t>
            </a:r>
            <a:r>
              <a:rPr lang="id-ID" dirty="0" i="1"/>
              <a:t>bytecode</a:t>
            </a:r>
            <a:r>
              <a:rPr lang="id-ID" dirty="0"/>
              <a:t>; proses ini disebut kompilasi. </a:t>
            </a:r>
            <a:r>
              <a:rPr lang="id-ID" dirty="0" i="1"/>
              <a:t>Bytecode</a:t>
            </a:r>
            <a:r>
              <a:rPr lang="id-ID" dirty="0"/>
              <a:t> itulah yang dijalankan oleh JVM (</a:t>
            </a:r>
            <a:r>
              <a:rPr lang="id-ID" dirty="0" i="1"/>
              <a:t>Java Virtual Machine</a:t>
            </a:r>
            <a:r>
              <a:rPr lang="id-ID" dirty="0"/>
              <a:t>). Python bekerja sedikit berbeda: secara sederhana, </a:t>
            </a:r>
            <a:r>
              <a:rPr lang="id-ID" dirty="0" i="1"/>
              <a:t>interpreter</a:t>
            </a:r>
            <a:r>
              <a:rPr lang="id-ID" dirty="0"/>
              <a:t> Python membaca </a:t>
            </a:r>
            <a:r>
              <a:rPr lang="id-ID" dirty="0" i="1"/>
              <a:t>file</a:t>
            </a:r>
            <a:r>
              <a:rPr lang="id-ID" dirty="0"/>
              <a:t> kodemu, lalu langsung menjalankannya. Jika </a:t>
            </a:r>
            <a:r>
              <a:rPr lang="en-US" dirty="0">
                <a:latin typeface="Consolas"/>
              </a:rPr>
              <a:t>java -version</a:t>
            </a:r>
            <a:r>
              <a:rPr lang="id-ID" dirty="0"/>
              <a:t> berhasil tetapi </a:t>
            </a:r>
            <a:r>
              <a:rPr lang="en-US" dirty="0">
                <a:latin typeface="Consolas"/>
              </a:rPr>
              <a:t>javac -version</a:t>
            </a:r>
            <a:r>
              <a:rPr lang="id-ID" dirty="0"/>
              <a:t> tidak dikenali, kemungkinan yang terpasang bukan JDK atau pengaturan </a:t>
            </a:r>
            <a:r>
              <a:rPr lang="en-US" dirty="0">
                <a:latin typeface="Consolas"/>
              </a:rPr>
              <a:t>PATH</a:t>
            </a:r>
            <a:r>
              <a:rPr lang="id-ID" dirty="0"/>
              <a:t>-nya belum benar. Lihat halaman Mengatasi Masalah.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Pemula sering tertukar antara tiga tempat mengetik ini. Pertama, editor VS Code: tempat menulis program yang disimpan sebagai </a:t>
            </a:r>
            <a:r>
              <a:rPr lang="id-ID" dirty="0" i="1"/>
              <a:t>file</a:t>
            </a:r>
            <a:r>
              <a:rPr lang="id-ID" dirty="0"/>
              <a:t>, misalnya </a:t>
            </a:r>
            <a:r>
              <a:rPr lang="en-US" dirty="0">
                <a:latin typeface="Consolas"/>
              </a:rPr>
              <a:t>halo.py</a:t>
            </a:r>
            <a:r>
              <a:rPr lang="id-ID" dirty="0"/>
              <a:t> atau </a:t>
            </a:r>
            <a:r>
              <a:rPr lang="en-US" dirty="0">
                <a:latin typeface="Consolas"/>
              </a:rPr>
              <a:t>Halo.java</a:t>
            </a:r>
            <a:r>
              <a:rPr lang="id-ID" dirty="0"/>
              <a:t>. Kedua, terminal, dengan tanda seperti </a:t>
            </a:r>
            <a:r>
              <a:rPr lang="en-US" dirty="0">
                <a:latin typeface="Consolas"/>
              </a:rPr>
              <a:t>PS C:\...&gt;</a:t>
            </a:r>
            <a:r>
              <a:rPr lang="id-ID" dirty="0"/>
              <a:t> atau </a:t>
            </a:r>
            <a:r>
              <a:rPr lang="en-US" dirty="0">
                <a:latin typeface="Consolas"/>
              </a:rPr>
              <a:t>$</a:t>
            </a:r>
            <a:r>
              <a:rPr lang="id-ID" dirty="0"/>
              <a:t>: tempat memberi perintah, misalnya pindah folder dengan </a:t>
            </a:r>
            <a:r>
              <a:rPr lang="en-US" dirty="0">
                <a:latin typeface="Consolas"/>
              </a:rPr>
              <a:t>cd</a:t>
            </a:r>
            <a:r>
              <a:rPr lang="id-ID" dirty="0"/>
              <a:t> dan menjalankan program dengan </a:t>
            </a:r>
            <a:r>
              <a:rPr lang="en-US" dirty="0">
                <a:latin typeface="Consolas"/>
              </a:rPr>
              <a:t>python</a:t>
            </a:r>
            <a:r>
              <a:rPr lang="id-ID" dirty="0"/>
              <a:t>, </a:t>
            </a:r>
            <a:r>
              <a:rPr lang="en-US" dirty="0">
                <a:latin typeface="Consolas"/>
              </a:rPr>
              <a:t>javac</a:t>
            </a:r>
            <a:r>
              <a:rPr lang="id-ID" dirty="0"/>
              <a:t>, atau </a:t>
            </a:r>
            <a:r>
              <a:rPr lang="en-US" dirty="0">
                <a:latin typeface="Consolas"/>
              </a:rPr>
              <a:t>java</a:t>
            </a:r>
            <a:r>
              <a:rPr lang="id-ID" dirty="0"/>
              <a:t>. Ketiga, mode interaktif dengan tanda </a:t>
            </a:r>
            <a:r>
              <a:rPr lang="en-US" dirty="0">
                <a:latin typeface="Consolas"/>
              </a:rPr>
              <a:t>&gt;&gt;&gt;</a:t>
            </a:r>
            <a:r>
              <a:rPr lang="id-ID" dirty="0"/>
              <a:t> (Python) atau </a:t>
            </a:r>
            <a:r>
              <a:rPr lang="en-US" dirty="0">
                <a:latin typeface="Consolas"/>
              </a:rPr>
              <a:t>jshell&gt;</a:t>
            </a:r>
            <a:r>
              <a:rPr lang="id-ID" dirty="0"/>
              <a:t> (Java): tempat mencoba satu baris kode. Perintah terminal tidak bisa diketik setelah tanda </a:t>
            </a:r>
            <a:r>
              <a:rPr lang="en-US" dirty="0">
                <a:latin typeface="Consolas"/>
              </a:rPr>
              <a:t>&gt;&gt;&gt;</a:t>
            </a:r>
            <a:r>
              <a:rPr lang="id-ID" dirty="0"/>
              <a:t> atau </a:t>
            </a:r>
            <a:r>
              <a:rPr lang="en-US" dirty="0">
                <a:latin typeface="Consolas"/>
              </a:rPr>
              <a:t>jshell&gt;</a:t>
            </a:r>
            <a:r>
              <a:rPr lang="id-ID" dirty="0"/>
              <a:t>. Keluar dulu dengan </a:t>
            </a:r>
            <a:r>
              <a:rPr lang="en-US" dirty="0">
                <a:latin typeface="Consolas"/>
              </a:rPr>
              <a:t>exit()</a:t>
            </a:r>
            <a:r>
              <a:rPr lang="id-ID" dirty="0"/>
              <a:t> atau </a:t>
            </a:r>
            <a:r>
              <a:rPr lang="en-US" dirty="0">
                <a:latin typeface="Consolas"/>
              </a:rPr>
              <a:t>/exit</a:t>
            </a:r>
            <a:r>
              <a:rPr lang="id-ID" dirty="0"/>
              <a:t>, baru ketik perintahnya.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contoh 01 dari halaman praktik dalam dua bahasa. Di Python, perintah utama ditaruh di fungsi </a:t>
            </a:r>
            <a:r>
              <a:rPr lang="en-US" dirty="0">
                <a:latin typeface="Consolas"/>
              </a:rPr>
              <a:t>main()</a:t>
            </a:r>
            <a:r>
              <a:rPr lang="id-ID" dirty="0"/>
              <a:t>, dan dua baris paling bawah adalah pintu masuk program. Di Java, semua kode wajib berada di dalam kelas, dan Java mulai menjalankan program dari </a:t>
            </a:r>
            <a:r>
              <a:rPr lang="id-ID" dirty="0" i="1"/>
              <a:t>method</a:t>
            </a:r>
            <a:r>
              <a:rPr lang="id-ID" dirty="0"/>
              <a:t> </a:t>
            </a:r>
            <a:r>
              <a:rPr lang="en-US" dirty="0">
                <a:latin typeface="Consolas"/>
              </a:rPr>
              <a:t>main</a:t>
            </a:r>
            <a:r>
              <a:rPr lang="id-ID" dirty="0"/>
              <a:t>. Itulah sebabnya versi Java terlihat lebih ramai. Keduanya mencetak teks yang sama, berurutan dari atas ke bawah, ciri khas gaya prosedural. Cara menjalankannya: di VS Code, buka folder </a:t>
            </a:r>
            <a:r>
              <a:rPr lang="en-US" dirty="0">
                <a:latin typeface="Consolas"/>
              </a:rPr>
              <a:t>python</a:t>
            </a:r>
            <a:r>
              <a:rPr lang="id-ID" dirty="0"/>
              <a:t> atau </a:t>
            </a:r>
            <a:r>
              <a:rPr lang="en-US" dirty="0">
                <a:latin typeface="Consolas"/>
              </a:rPr>
              <a:t>java</a:t>
            </a:r>
            <a:r>
              <a:rPr lang="id-ID" dirty="0"/>
              <a:t> pertemuan ini, buka </a:t>
            </a:r>
            <a:r>
              <a:rPr lang="id-ID" dirty="0" i="1"/>
              <a:t>file</a:t>
            </a:r>
            <a:r>
              <a:rPr lang="id-ID" dirty="0"/>
              <a:t>-nya, lalu klik </a:t>
            </a:r>
            <a:r>
              <a:rPr lang="id-ID" dirty="0" b="1"/>
              <a:t>Run Python File</a:t>
            </a:r>
            <a:r>
              <a:rPr lang="id-ID" dirty="0"/>
              <a:t> (Python) atau </a:t>
            </a:r>
            <a:r>
              <a:rPr lang="id-ID" dirty="0" b="1"/>
              <a:t>Run</a:t>
            </a:r>
            <a:r>
              <a:rPr lang="id-ID" dirty="0"/>
              <a:t> pada tulisan </a:t>
            </a:r>
            <a:r>
              <a:rPr lang="id-ID" dirty="0" b="1"/>
              <a:t>Run | Debug</a:t>
            </a:r>
            <a:r>
              <a:rPr lang="id-ID" dirty="0"/>
              <a:t> di atas </a:t>
            </a:r>
            <a:r>
              <a:rPr lang="en-US" dirty="0">
                <a:latin typeface="Consolas"/>
              </a:rPr>
              <a:t>main</a:t>
            </a:r>
            <a:r>
              <a:rPr lang="id-ID" dirty="0"/>
              <a:t> (Java). Lewat terminal, masuk dulu ke folder </a:t>
            </a:r>
            <a:r>
              <a:rPr lang="en-US" dirty="0">
                <a:latin typeface="Consolas"/>
              </a:rPr>
              <a:t>contoh</a:t>
            </a:r>
            <a:r>
              <a:rPr lang="id-ID" dirty="0"/>
              <a:t>, lalu ketik perintah di atas. Untuk jalur Java, buka folder </a:t>
            </a:r>
            <a:r>
              <a:rPr lang="en-US" dirty="0">
                <a:latin typeface="Consolas"/>
              </a:rPr>
              <a:t>java</a:t>
            </a:r>
            <a:r>
              <a:rPr lang="id-ID" dirty="0"/>
              <a:t> milik satu pertemuan saja.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Anggap folder materi sebagai buku pegangan: dibaca dan dijalankan, tetapi tidak diubah. Semua kodemu sendiri, yaitu hasil ketik ulang, percobaan </a:t>
            </a:r>
            <a:r>
              <a:rPr lang="id-ID" dirty="0" b="1"/>
              <a:t>Coba sendiri</a:t>
            </a:r>
            <a:r>
              <a:rPr lang="id-ID" dirty="0"/>
              <a:t>, </a:t>
            </a:r>
            <a:r>
              <a:rPr lang="id-ID" dirty="0" i="1"/>
              <a:t>file</a:t>
            </a:r>
            <a:r>
              <a:rPr lang="id-ID" dirty="0"/>
              <a:t> coretan seperti </a:t>
            </a:r>
            <a:r>
              <a:rPr lang="en-US" dirty="0">
                <a:latin typeface="Consolas"/>
              </a:rPr>
              <a:t>coba.py</a:t>
            </a:r>
            <a:r>
              <a:rPr lang="id-ID" dirty="0"/>
              <a:t> atau </a:t>
            </a:r>
            <a:r>
              <a:rPr lang="en-US" dirty="0">
                <a:latin typeface="Consolas"/>
              </a:rPr>
              <a:t>Coba.java</a:t>
            </a:r>
            <a:r>
              <a:rPr lang="id-ID" dirty="0"/>
              <a:t>, dan jawaban latihan, disimpan di folder </a:t>
            </a:r>
            <a:r>
              <a:rPr lang="en-US" dirty="0">
                <a:latin typeface="Consolas"/>
              </a:rPr>
              <a:t>PBO-latihan-saya/pertemuan-01/</a:t>
            </a:r>
            <a:r>
              <a:rPr lang="id-ID" dirty="0"/>
              <a:t> di luar folder materi. Dengan begitu, materi asli tetap utuh, dan pembaruan materi tidak bentrok dengan pekerjaanmu. Polanya untuk setiap </a:t>
            </a:r>
            <a:r>
              <a:rPr lang="id-ID" dirty="0" b="1"/>
              <a:t>Coba sendiri</a:t>
            </a:r>
            <a:r>
              <a:rPr lang="id-ID" dirty="0"/>
              <a:t>: salin </a:t>
            </a:r>
            <a:r>
              <a:rPr lang="id-ID" dirty="0" i="1"/>
              <a:t>file</a:t>
            </a:r>
            <a:r>
              <a:rPr lang="id-ID" dirty="0"/>
              <a:t> contohnya ke folder itu, buka salinannya, ubah, simpan, jalankan, lalu bandingkan hasilnya dengan jawaban. Untuk jalur Java, setiap pertemuan punya subfolder sendiri karena nama kelas dari pertemuan yang berbeda bisa bentrok. Saran belajar: ketik ulang kodenya, jangan hanya menyalin.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Saatnya membuktikan cerita pembuka. Kita membandingkan dua program KedaiKita dengan skenario yang sama: menampilkan menu, memproses pesanan Budi, lalu mengurutkan menu sesuai abjad. KedaiKita akan tumbuh sedikit demi sedikit di setiap pertemuan, sampai menjadi aplikasi kasir utuh di akhir semester.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Baris pertama yang dilompati berisi daftar nama: Kopi Susu Gula Aren, Nasi Goreng Kampung, dan Es Teh Manis. Ketiga </a:t>
            </a:r>
            <a:r>
              <a:rPr lang="id-ID" dirty="0" i="1"/>
              <a:t>list</a:t>
            </a:r>
            <a:r>
              <a:rPr lang="id-ID" dirty="0"/>
              <a:t> ditulis di luar fungsi sehingga menjadi data global; di Java, wujudnya </a:t>
            </a:r>
            <a:r>
              <a:rPr lang="id-ID" dirty="0" i="1"/>
              <a:t>array</a:t>
            </a:r>
            <a:r>
              <a:rPr lang="id-ID" dirty="0"/>
              <a:t> </a:t>
            </a:r>
            <a:r>
              <a:rPr lang="en-US" dirty="0">
                <a:latin typeface="Consolas"/>
              </a:rPr>
              <a:t>static</a:t>
            </a:r>
            <a:r>
              <a:rPr lang="id-ID" dirty="0"/>
              <a:t>. Pesanan Budi ditulis dengan indeks: </a:t>
            </a:r>
            <a:r>
              <a:rPr lang="en-US" dirty="0">
                <a:latin typeface="Consolas"/>
              </a:rPr>
              <a:t>(0, 2)</a:t>
            </a:r>
            <a:r>
              <a:rPr lang="id-ID" dirty="0"/>
              <a:t> berarti menu di indeks 0 sebanyak 2 porsi. Totalnya Rp44.000, stok kopi berkurang dari 20 menjadi 18, dan stok es teh dari 30 menjadi 29. Lalu </a:t>
            </a:r>
            <a:r>
              <a:rPr lang="en-US" dirty="0">
                <a:latin typeface="Consolas"/>
              </a:rPr>
              <a:t>nama_menu.sort()</a:t>
            </a:r>
            <a:r>
              <a:rPr lang="id-ID" dirty="0"/>
              <a:t> atau </a:t>
            </a:r>
            <a:r>
              <a:rPr lang="en-US" dirty="0">
                <a:latin typeface="Consolas"/>
              </a:rPr>
              <a:t>Arrays.sort(namaMenu)</a:t>
            </a:r>
            <a:r>
              <a:rPr lang="id-ID" dirty="0"/>
              <a:t> hanya mengurutkan nama, sedangkan harga dan stok tidak tahu-menahu. Akibatnya, nama di indeks 0 kini berpasangan dengan harga dan stok milik kopi. Tidak ada pesan </a:t>
            </a:r>
            <a:r>
              <a:rPr lang="id-ID" dirty="0" i="1"/>
              <a:t>error</a:t>
            </a:r>
            <a:r>
              <a:rPr lang="id-ID" dirty="0"/>
              <a:t>; kesalahan logika seperti ini paling sulit dilacak.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Pada versi objek, setiap menu dibuat dari satu kelas </a:t>
            </a:r>
            <a:r>
              <a:rPr lang="en-US" dirty="0">
                <a:latin typeface="Consolas"/>
              </a:rPr>
              <a:t>Menu</a:t>
            </a:r>
            <a:r>
              <a:rPr lang="id-ID" dirty="0"/>
              <a:t> yang sederhana. Kotaknya dibaca dari atas: nama kelas, tiga atribut, yaitu nama, harga, dan stok, lalu satu </a:t>
            </a:r>
            <a:r>
              <a:rPr lang="id-ID" dirty="0" i="1"/>
              <a:t>method</a:t>
            </a:r>
            <a:r>
              <a:rPr lang="id-ID" dirty="0"/>
              <a:t>, yaitu </a:t>
            </a:r>
            <a:r>
              <a:rPr lang="en-US" dirty="0">
                <a:latin typeface="Consolas"/>
              </a:rPr>
              <a:t>kurangi_stok(jumlah)</a:t>
            </a:r>
            <a:r>
              <a:rPr lang="id-ID" dirty="0"/>
              <a:t>. Di Java, nama </a:t>
            </a:r>
            <a:r>
              <a:rPr lang="id-ID" dirty="0" i="1"/>
              <a:t>method</a:t>
            </a:r>
            <a:r>
              <a:rPr lang="id-ID" dirty="0"/>
              <a:t>-nya ditulis </a:t>
            </a:r>
            <a:r>
              <a:rPr lang="en-US" dirty="0">
                <a:latin typeface="Consolas"/>
              </a:rPr>
              <a:t>kurangiStok</a:t>
            </a:r>
            <a:r>
              <a:rPr lang="id-ID" dirty="0"/>
              <a:t>. Dari kelas ini kita membuat tiga objek: kopi, nasi goreng, dan es teh. Ketiganya disimpan dalam satu daftar. Jadi, bukan lagi tiga daftar terpisah, melainkan satu daftar berisi objek menu. Notasi kotak seperti ini kita pelajari lengkap di Pertemuan 06.</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intipan versi objek; cukup perhatikan idenya, tidak perlu memusingkan sintaksnya. </a:t>
            </a:r>
            <a:r>
              <a:rPr lang="en-US" dirty="0">
                <a:latin typeface="Consolas"/>
              </a:rPr>
              <a:t>Menu("Kopi Susu Gula Aren", 18000, 20)</a:t>
            </a:r>
            <a:r>
              <a:rPr lang="id-ID" dirty="0"/>
              <a:t> membuat satu objek menu. </a:t>
            </a:r>
            <a:r>
              <a:rPr lang="en-US" dirty="0">
                <a:latin typeface="Consolas"/>
              </a:rPr>
              <a:t>kopi.kurangi_stok(2)</a:t>
            </a:r>
            <a:r>
              <a:rPr lang="id-ID" dirty="0"/>
              <a:t> adalah mengirim pesan ke objek kopi: "kurangi stokmu 2". Objek kopi sendiri yang mengurus stoknya. Perintah pengurutan menyusun daftar berdasarkan nama setiap menu, dan yang berpindah adalah objeknya, utuh dengan harga dan stoknya. Di Java, daftarnya berupa </a:t>
            </a:r>
            <a:r>
              <a:rPr lang="en-US" dirty="0">
                <a:latin typeface="Consolas"/>
              </a:rPr>
              <a:t>ArrayList&lt;Menu&gt;</a:t>
            </a:r>
            <a:r>
              <a:rPr lang="id-ID" dirty="0"/>
              <a:t>, yaitu daftar berisi objek </a:t>
            </a:r>
            <a:r>
              <a:rPr lang="en-US" dirty="0">
                <a:latin typeface="Consolas"/>
              </a:rPr>
              <a:t>Menu</a:t>
            </a:r>
            <a:r>
              <a:rPr lang="id-ID" dirty="0"/>
              <a:t> yang ukurannya bisa bertambah. Bentuk </a:t>
            </a:r>
            <a:r>
              <a:rPr lang="id-ID" dirty="0" i="1"/>
              <a:t>lambda</a:t>
            </a:r>
            <a:r>
              <a:rPr lang="id-ID" dirty="0"/>
              <a:t> dibahas di Pertemuan 12. Program ini diakhiri kalimat "Aman!": masalahnya hilang bukan karena pemrogramnya lebih teliti, melainkan karena cara menyimpan datanya membuat kesalahan itu tidak mungkin terjadi.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sering muncul di awal belajar PBO. Ajak kelas menebak dulu: mengapa anggapan di kiri salah? Dua miskonsepsi lain dibahas di bagian 12 halaman konsep. Pertama, menganggap Python bukan bahasa berorientasi objek, padahal di Python semua nilai, bahkan angka dan teks, adalah objek. Kedua, merasa harus langsung menguasai keempat pilar di pertemuan pertama, padahal setiap pilar punya pertemuannya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Jawaban dan pembahasannya ada di </a:t>
            </a:r>
            <a:r>
              <a:rPr lang="id-ID" dirty="0" i="1"/>
              <a:t>slide</a:t>
            </a:r>
            <a:r>
              <a:rPr lang="id-ID" dirty="0"/>
              <a:t> berikutnya. Tekankan bahwa tidak adanya pesan </a:t>
            </a:r>
            <a:r>
              <a:rPr lang="id-ID" dirty="0" i="1"/>
              <a:t>error</a:t>
            </a:r>
            <a:r>
              <a:rPr lang="id-ID" dirty="0"/>
              <a:t> justru membuat kesalahan ini berbahaya.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D. Data satu menu tersebar di tiga daftar yang hanya direkatkan oleh indeks yang sama. Pengurutan hanya memindahkan isi daftar nama sehingga nama di indeks 0 berpasangan dengan harga milik menu lain. Bahasanya tidak salah hitung (A), harganya bilangan bulat (B), dan justru tidak ada pesan </a:t>
            </a:r>
            <a:r>
              <a:rPr lang="id-ID" dirty="0" i="1"/>
              <a:t>error</a:t>
            </a:r>
            <a:r>
              <a:rPr lang="id-ID" dirty="0"/>
              <a:t> sama sekali (C).</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empat pilar yang baru saja kita kenal. Pilihan C sengaja dibuat menggoda: kasir memang tidak perlu tahu detail cara kerja QRIS, jadi abstraksi ikut berperan. Namun, kata kuncinya adalah satu perintah yang dikerjakan dengan banyak cara. Pilar ini dibahas tuntas di Pertemuan 09.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D. Polimorfisme berarti "banyak bentuk": perintah yang sama ("bayar") ditanggapi dengan cara berbeda oleh objek yang berbeda. Enkapsulasi (A) tentang membungkus dan melindungi data; pewarisan (B) tentang mewarisi ciri kelas lama. Abstraksi (C) memang ikut berperan, tetapi inti situasinya adalah </a:t>
            </a:r>
            <a:r>
              <a:rPr lang="id-ID" dirty="0" b="1"/>
              <a:t>satu perintah dengan banyak cara</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hal-hal yang perlu kamu bawa pulang hari ini. Kalau ada yang masih terasa samar, baca lagi bagian yang sesuai di halaman konsep, lalu jalankan kedua program KedaiKita di halaman praktik. Ingat juga bahwa dalam praktik, paradigma sering dicampur. Pertemuan berikutnya kita mulai menulis kelas sendiri: kelas </a:t>
            </a:r>
            <a:r>
              <a:rPr lang="en-US" dirty="0">
                <a:latin typeface="Consolas"/>
              </a:rPr>
              <a:t>Menu</a:t>
            </a:r>
            <a:r>
              <a:rPr lang="id-ID" dirty="0"/>
              <a:t> pertama untuk KedaiKita, lengkap dengan nama, harga, dan cara menghitung total.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Pertemuan-01-Pengenalan-PBO di GitHub. Mulailah dari halaman praktik sesuai jalurmu, Python atau Java. Halaman itu juga memanaskan kembali dasar-dasar seperti variabel, percabangan, perulangan, </a:t>
            </a:r>
            <a:r>
              <a:rPr lang="id-ID" dirty="0" i="1"/>
              <a:t>list</a:t>
            </a:r>
            <a:r>
              <a:rPr lang="id-ID" dirty="0"/>
              <a:t> atau </a:t>
            </a:r>
            <a:r>
              <a:rPr lang="id-ID" dirty="0" i="1"/>
              <a:t>array</a:t>
            </a:r>
            <a:r>
              <a:rPr lang="id-ID" dirty="0"/>
              <a:t>, dan fungsi. Beberapa </a:t>
            </a:r>
            <a:r>
              <a:rPr lang="id-ID" dirty="0" i="1"/>
              <a:t>tips</a:t>
            </a:r>
            <a:r>
              <a:rPr lang="id-ID" dirty="0"/>
              <a:t> belajar: ketik ulang kodenya, jalankan lalu ubah, baca pesan </a:t>
            </a:r>
            <a:r>
              <a:rPr lang="id-ID" dirty="0" i="1"/>
              <a:t>error</a:t>
            </a:r>
            <a:r>
              <a:rPr lang="id-ID" dirty="0"/>
              <a:t> dengan tenang, dan jangan buru-buru membuka solusi. Jika ada kendala instalasi, buka halaman Mengatasi Masalah di folder 00-Persiapan. Sampai jumpa di Pertemuan 02.</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01 · Pengenalan PBO dan Persiapan Alat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01 · Pengenalan PBO dan Persiapan Alat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01 · Pengenalan PBO dan Persiapan Alat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25-1.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1.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5-3.png"/><Relationship Id="rId3" Type="http://schemas.openxmlformats.org/officeDocument/2006/relationships/image" Target="../media/image-12-1.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1.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5-3.png"/><Relationship Id="rId3" Type="http://schemas.openxmlformats.org/officeDocument/2006/relationships/image" Target="../media/image-12-1.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5-3.png"/><Relationship Id="rId3" Type="http://schemas.openxmlformats.org/officeDocument/2006/relationships/image" Target="../media/image-25-3.png"/><Relationship Id="rId4" Type="http://schemas.openxmlformats.org/officeDocument/2006/relationships/image" Target="../media/image-25-3.png"/><Relationship Id="rId5" Type="http://schemas.openxmlformats.org/officeDocument/2006/relationships/image" Target="../media/image-25-3.png"/><Relationship Id="rId6" Type="http://schemas.openxmlformats.org/officeDocument/2006/relationships/image" Target="../media/image-25-3.png"/><Relationship Id="rId7" Type="http://schemas.openxmlformats.org/officeDocument/2006/relationships/image" Target="../media/image-25-3.png"/><Relationship Id="rId8" Type="http://schemas.openxmlformats.org/officeDocument/2006/relationships/image" Target="../media/image-25-3.png"/><Relationship Id="rId9" Type="http://schemas.openxmlformats.org/officeDocument/2006/relationships/slideLayout" Target="../slideLayouts/slideLayout4.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antonprafanto/PBO2026/blob/master/Pertemuan-01-Pengenalan-PBO/README.md" TargetMode="External"/><Relationship Id="rId5" Type="http://schemas.openxmlformats.org/officeDocument/2006/relationships/hyperlink" Target="https://github.com/antonprafanto/PBO2026/blob/master/Pertemuan-01-Pengenalan-PBO/python/README.md" TargetMode="External"/><Relationship Id="rId7" Type="http://schemas.openxmlformats.org/officeDocument/2006/relationships/hyperlink" Target="https://github.com/antonprafanto/PBO2026/blob/master/Pertemuan-01-Pengenalan-PBO/java/README.md" TargetMode="External"/><Relationship Id="rId9" Type="http://schemas.openxmlformats.org/officeDocument/2006/relationships/hyperlink" Target="https://github.com/antonprafanto/PBO2026/blob/master/Pertemuan-01-Pengenalan-PBO/jembatan-python-java.md" TargetMode="External"/><Relationship Id="rId11" Type="http://schemas.openxmlformats.org/officeDocument/2006/relationships/hyperlink" Target="https://github.com/antonprafanto/PBO2026/blob/master/Pertemuan-01-Pengenalan-PBO/latihan.md" TargetMode="External"/><Relationship Id="rId13" Type="http://schemas.openxmlformats.org/officeDocument/2006/relationships/hyperlink" Target="https://github.com/antonprafanto/PBO2026/blob/master/Pertemuan-01-Pengenalan-PBO/kuis.md" TargetMode="External"/><Relationship Id="rId15" Type="http://schemas.openxmlformats.org/officeDocument/2006/relationships/hyperlink" Target="https://github.com/antonprafanto/PBO2026/tree/master/Pertemuan-01-Pengenalan-PBO" TargetMode="External"/><Relationship Id="rId1" Type="http://schemas.openxmlformats.org/officeDocument/2006/relationships/image" Target="../media/image-31-1.png"/><Relationship Id="rId2" Type="http://schemas.openxmlformats.org/officeDocument/2006/relationships/image" Target="../media/image-31-2.png"/><Relationship Id="rId4" Type="http://schemas.openxmlformats.org/officeDocument/2006/relationships/image" Target="../media/image-31-3.png"/><Relationship Id="rId6" Type="http://schemas.openxmlformats.org/officeDocument/2006/relationships/image" Target="../media/image-31-3.png"/><Relationship Id="rId8" Type="http://schemas.openxmlformats.org/officeDocument/2006/relationships/image" Target="../media/image-31-5.png"/><Relationship Id="rId10" Type="http://schemas.openxmlformats.org/officeDocument/2006/relationships/image" Target="../media/image-31-6.png"/><Relationship Id="rId12" Type="http://schemas.openxmlformats.org/officeDocument/2006/relationships/image" Target="../media/image-31-7.png"/><Relationship Id="rId14" Type="http://schemas.openxmlformats.org/officeDocument/2006/relationships/image" Target="../media/image-31-8.png"/><Relationship Id="rId16" Type="http://schemas.openxmlformats.org/officeDocument/2006/relationships/slideLayout" Target="../slideLayouts/slideLayout5.xml"/><Relationship Id="rId17"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400" b="1" dirty="0">
                <a:solidFill>
                  <a:srgbClr val="FFFFFF"/>
                </a:solidFill>
              </a:rPr>
              <a:t>Pengenalan PBO</a:t>
            </a:r>
            <a:endParaRPr lang="id-ID" sz="4400" dirty="0"/>
          </a:p>
          <a:p>
            <a:pPr algn="l" indent="0" marL="0">
              <a:buNone/>
            </a:pPr>
            <a:r>
              <a:rPr lang="id-ID" altLang="en-US" sz="4400" b="1" dirty="0">
                <a:solidFill>
                  <a:srgbClr val="FFFFFF"/>
                </a:solidFill>
              </a:rPr>
              <a:t>dan Persiapan Alat</a:t>
            </a:r>
            <a:endParaRPr lang="id-ID" sz="4400" dirty="0"/>
          </a:p>
        </p:txBody>
      </p:sp>
      <p:sp>
        <p:nvSpPr>
          <p:cNvPr id="4" name="Text 2"/>
          <p:cNvSpPr txBox="1"/>
          <p:nvPr/>
        </p:nvSpPr>
        <p:spPr>
          <a:xfrm>
            <a:off x="731520" y="328371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Cara pandang baru dalam menyusun program, alasan kita membutuhkannya, dan alat untuk praktik</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01</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12342"/>
          </a:xfrm>
          <a:prstGeom prst="roundRect">
            <a:avLst>
              <a:gd name="adj" fmla="val 6827"/>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arti </a:t>
            </a:r>
            <a:r>
              <a:rPr lang="id-ID" altLang="en-US" sz="1900" b="1" dirty="0">
                <a:solidFill>
                  <a:srgbClr val="1F2328"/>
                </a:solidFill>
              </a:rPr>
              <a:t>paradigma pemrograman</a:t>
            </a:r>
            <a:r>
              <a:rPr lang="id-ID" altLang="en-US" sz="1900" dirty="0">
                <a:solidFill>
                  <a:srgbClr val="1F2328"/>
                </a:solidFill>
              </a:rPr>
              <a:t> dan membedakan paradigma </a:t>
            </a:r>
            <a:r>
              <a:rPr lang="id-ID" altLang="en-US" sz="1900" b="1" dirty="0">
                <a:solidFill>
                  <a:srgbClr val="1F2328"/>
                </a:solidFill>
              </a:rPr>
              <a:t>prosedural</a:t>
            </a:r>
            <a:r>
              <a:rPr lang="id-ID" altLang="en-US" sz="1900" dirty="0">
                <a:solidFill>
                  <a:srgbClr val="1F2328"/>
                </a:solidFill>
              </a:rPr>
              <a:t> dengan </a:t>
            </a:r>
            <a:r>
              <a:rPr lang="id-ID" altLang="en-US" sz="1900" b="1" dirty="0">
                <a:solidFill>
                  <a:srgbClr val="1F2328"/>
                </a:solidFill>
              </a:rPr>
              <a:t>berorientasi objek</a:t>
            </a:r>
            <a:r>
              <a:rPr lang="id-ID" altLang="en-US" sz="1900" dirty="0">
                <a:solidFill>
                  <a:srgbClr val="1F2328"/>
                </a:solidFill>
              </a:rPr>
              <a:t>.</a:t>
            </a:r>
            <a:endParaRPr lang="id-ID" sz="1900" dirty="0"/>
          </a:p>
        </p:txBody>
      </p:sp>
      <p:sp>
        <p:nvSpPr>
          <p:cNvPr id="10" name="Shape 7"/>
          <p:cNvSpPr/>
          <p:nvPr/>
        </p:nvSpPr>
        <p:spPr>
          <a:xfrm>
            <a:off x="6210148" y="1920240"/>
            <a:ext cx="5432908" cy="1212342"/>
          </a:xfrm>
          <a:prstGeom prst="roundRect">
            <a:avLst>
              <a:gd name="adj" fmla="val 6827"/>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masalah program prosedural saat program membesar, dengan contoh data menu KedaiKita yang tertukar.</a:t>
            </a:r>
            <a:endParaRPr lang="id-ID" sz="1900" dirty="0"/>
          </a:p>
        </p:txBody>
      </p:sp>
      <p:sp>
        <p:nvSpPr>
          <p:cNvPr id="14" name="Shape 11"/>
          <p:cNvSpPr/>
          <p:nvPr/>
        </p:nvSpPr>
        <p:spPr>
          <a:xfrm>
            <a:off x="548640" y="3315462"/>
            <a:ext cx="5432908" cy="1212342"/>
          </a:xfrm>
          <a:prstGeom prst="roundRect">
            <a:avLst>
              <a:gd name="adj" fmla="val 6827"/>
            </a:avLst>
          </a:prstGeom>
          <a:solidFill>
            <a:srgbClr val="F6F8FA"/>
          </a:solidFill>
          <a:ln w="9525">
            <a:solidFill>
              <a:srgbClr val="D0D7DE"/>
            </a:solidFill>
            <a:prstDash val="solid"/>
          </a:ln>
        </p:spPr>
      </p:sp>
      <p:sp>
        <p:nvSpPr>
          <p:cNvPr id="15" name="Shape 12"/>
          <p:cNvSpPr/>
          <p:nvPr/>
        </p:nvSpPr>
        <p:spPr>
          <a:xfrm>
            <a:off x="777240" y="3480054"/>
            <a:ext cx="457200" cy="457200"/>
          </a:xfrm>
          <a:prstGeom prst="ellipse">
            <a:avLst/>
          </a:prstGeom>
          <a:solidFill>
            <a:srgbClr val="0969DA"/>
          </a:solidFill>
          <a:ln/>
        </p:spPr>
      </p:sp>
      <p:sp>
        <p:nvSpPr>
          <p:cNvPr id="16" name="Text 13"/>
          <p:cNvSpPr txBox="1"/>
          <p:nvPr/>
        </p:nvSpPr>
        <p:spPr>
          <a:xfrm>
            <a:off x="777240"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Memandang sistem sebagai kumpulan </a:t>
            </a:r>
            <a:r>
              <a:rPr lang="id-ID" altLang="en-US" sz="1900" b="1" dirty="0">
                <a:solidFill>
                  <a:srgbClr val="1F2328"/>
                </a:solidFill>
              </a:rPr>
              <a:t>objek</a:t>
            </a:r>
            <a:r>
              <a:rPr lang="id-ID" altLang="en-US" sz="1900" dirty="0">
                <a:solidFill>
                  <a:srgbClr val="1F2328"/>
                </a:solidFill>
              </a:rPr>
              <a:t> yang punya </a:t>
            </a:r>
            <a:r>
              <a:rPr lang="id-ID" altLang="en-US" sz="1900" b="1" dirty="0">
                <a:solidFill>
                  <a:srgbClr val="1F2328"/>
                </a:solidFill>
              </a:rPr>
              <a:t>atribut</a:t>
            </a:r>
            <a:r>
              <a:rPr lang="id-ID" altLang="en-US" sz="1900" dirty="0">
                <a:solidFill>
                  <a:srgbClr val="1F2328"/>
                </a:solidFill>
              </a:rPr>
              <a:t> dan </a:t>
            </a:r>
            <a:r>
              <a:rPr lang="id-ID" altLang="en-US" sz="1900" b="1" i="1" dirty="0">
                <a:solidFill>
                  <a:srgbClr val="1F2328"/>
                </a:solidFill>
              </a:rPr>
              <a:t>method</a:t>
            </a:r>
            <a:r>
              <a:rPr lang="id-ID" altLang="en-US" sz="1900" dirty="0">
                <a:solidFill>
                  <a:srgbClr val="1F2328"/>
                </a:solidFill>
              </a:rPr>
              <a:t>, serta saling mengirim pesan.</a:t>
            </a:r>
            <a:endParaRPr lang="id-ID" sz="1900" dirty="0"/>
          </a:p>
        </p:txBody>
      </p:sp>
      <p:sp>
        <p:nvSpPr>
          <p:cNvPr id="18" name="Shape 15"/>
          <p:cNvSpPr/>
          <p:nvPr/>
        </p:nvSpPr>
        <p:spPr>
          <a:xfrm>
            <a:off x="6210148" y="3315462"/>
            <a:ext cx="5432908" cy="1212342"/>
          </a:xfrm>
          <a:prstGeom prst="roundRect">
            <a:avLst>
              <a:gd name="adj" fmla="val 6827"/>
            </a:avLst>
          </a:prstGeom>
          <a:solidFill>
            <a:srgbClr val="F6F8FA"/>
          </a:solidFill>
          <a:ln w="9525">
            <a:solidFill>
              <a:srgbClr val="D0D7DE"/>
            </a:solidFill>
            <a:prstDash val="solid"/>
          </a:ln>
        </p:spPr>
      </p:sp>
      <p:sp>
        <p:nvSpPr>
          <p:cNvPr id="19" name="Shape 16"/>
          <p:cNvSpPr/>
          <p:nvPr/>
        </p:nvSpPr>
        <p:spPr>
          <a:xfrm>
            <a:off x="6438748" y="3480054"/>
            <a:ext cx="457200" cy="457200"/>
          </a:xfrm>
          <a:prstGeom prst="ellipse">
            <a:avLst/>
          </a:prstGeom>
          <a:solidFill>
            <a:srgbClr val="0969DA"/>
          </a:solidFill>
          <a:ln/>
        </p:spPr>
      </p:sp>
      <p:sp>
        <p:nvSpPr>
          <p:cNvPr id="20" name="Text 17"/>
          <p:cNvSpPr txBox="1"/>
          <p:nvPr/>
        </p:nvSpPr>
        <p:spPr>
          <a:xfrm>
            <a:off x="6438748"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Menyebutkan </a:t>
            </a:r>
            <a:r>
              <a:rPr lang="id-ID" altLang="en-US" sz="1900" b="1" dirty="0">
                <a:solidFill>
                  <a:srgbClr val="1F2328"/>
                </a:solidFill>
              </a:rPr>
              <a:t>empat pilar PBO</a:t>
            </a:r>
            <a:r>
              <a:rPr lang="id-ID" altLang="en-US" sz="1900" dirty="0">
                <a:solidFill>
                  <a:srgbClr val="1F2328"/>
                </a:solidFill>
              </a:rPr>
              <a:t> beserta analogi sederhananya.</a:t>
            </a:r>
            <a:endParaRPr lang="id-ID" sz="1900" dirty="0"/>
          </a:p>
        </p:txBody>
      </p:sp>
      <p:sp>
        <p:nvSpPr>
          <p:cNvPr id="22" name="Shape 19"/>
          <p:cNvSpPr/>
          <p:nvPr/>
        </p:nvSpPr>
        <p:spPr>
          <a:xfrm>
            <a:off x="548640" y="4710684"/>
            <a:ext cx="5432908" cy="1212342"/>
          </a:xfrm>
          <a:prstGeom prst="roundRect">
            <a:avLst>
              <a:gd name="adj" fmla="val 6827"/>
            </a:avLst>
          </a:prstGeom>
          <a:solidFill>
            <a:srgbClr val="F6F8FA"/>
          </a:solidFill>
          <a:ln w="9525">
            <a:solidFill>
              <a:srgbClr val="D0D7DE"/>
            </a:solidFill>
            <a:prstDash val="solid"/>
          </a:ln>
        </p:spPr>
      </p:sp>
      <p:sp>
        <p:nvSpPr>
          <p:cNvPr id="23" name="Shape 20"/>
          <p:cNvSpPr/>
          <p:nvPr/>
        </p:nvSpPr>
        <p:spPr>
          <a:xfrm>
            <a:off x="777240" y="4875276"/>
            <a:ext cx="457200" cy="457200"/>
          </a:xfrm>
          <a:prstGeom prst="ellipse">
            <a:avLst/>
          </a:prstGeom>
          <a:solidFill>
            <a:srgbClr val="0969DA"/>
          </a:solidFill>
          <a:ln/>
        </p:spPr>
      </p:sp>
      <p:sp>
        <p:nvSpPr>
          <p:cNvPr id="24" name="Text 21"/>
          <p:cNvSpPr txBox="1"/>
          <p:nvPr/>
        </p:nvSpPr>
        <p:spPr>
          <a:xfrm>
            <a:off x="777240"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Menimbang kelebihan PBO dan mengenali situasi ketika PBO kurang cocok.</a:t>
            </a:r>
            <a:endParaRPr lang="id-ID" sz="1900" dirty="0"/>
          </a:p>
        </p:txBody>
      </p:sp>
      <p:sp>
        <p:nvSpPr>
          <p:cNvPr id="26" name="Shape 23"/>
          <p:cNvSpPr/>
          <p:nvPr/>
        </p:nvSpPr>
        <p:spPr>
          <a:xfrm>
            <a:off x="6210148" y="4710684"/>
            <a:ext cx="5432908" cy="1212342"/>
          </a:xfrm>
          <a:prstGeom prst="roundRect">
            <a:avLst>
              <a:gd name="adj" fmla="val 6827"/>
            </a:avLst>
          </a:prstGeom>
          <a:solidFill>
            <a:srgbClr val="F6F8FA"/>
          </a:solidFill>
          <a:ln w="9525">
            <a:solidFill>
              <a:srgbClr val="D0D7DE"/>
            </a:solidFill>
            <a:prstDash val="solid"/>
          </a:ln>
        </p:spPr>
      </p:sp>
      <p:sp>
        <p:nvSpPr>
          <p:cNvPr id="27" name="Shape 24"/>
          <p:cNvSpPr/>
          <p:nvPr/>
        </p:nvSpPr>
        <p:spPr>
          <a:xfrm>
            <a:off x="6438748" y="4875276"/>
            <a:ext cx="457200" cy="457200"/>
          </a:xfrm>
          <a:prstGeom prst="ellipse">
            <a:avLst/>
          </a:prstGeom>
          <a:solidFill>
            <a:srgbClr val="0969DA"/>
          </a:solidFill>
          <a:ln/>
        </p:spPr>
      </p:sp>
      <p:sp>
        <p:nvSpPr>
          <p:cNvPr id="28" name="Text 25"/>
          <p:cNvSpPr txBox="1"/>
          <p:nvPr/>
        </p:nvSpPr>
        <p:spPr>
          <a:xfrm>
            <a:off x="6438748"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Memilih jalur praktik (Python atau Java), memeriksa alatnya, dan menjalankan program pertamamu.</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Kasir KedaiKita yang kacau</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Paradigma prosedural dan masalahnya</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Dunia penuh objek</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Empat pilar dan kapan memakai PBO</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Dua jalur dan persiapan alat</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Kasir KedaiKita yang Kacau</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Kejadian kecil yang membuka pintu ke PBO.</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Suatu Sore di KedaiKita</a:t>
            </a:r>
            <a:endParaRPr lang="id-ID" sz="3200" dirty="0"/>
          </a:p>
        </p:txBody>
      </p:sp>
      <p:sp>
        <p:nvSpPr>
          <p:cNvPr id="5" name="Shape 2"/>
          <p:cNvSpPr/>
          <p:nvPr/>
        </p:nvSpPr>
        <p:spPr>
          <a:xfrm>
            <a:off x="603504" y="1595450"/>
            <a:ext cx="137160" cy="137160"/>
          </a:xfrm>
          <a:prstGeom prst="roundRect">
            <a:avLst>
              <a:gd name="adj" fmla="val 166667"/>
            </a:avLst>
          </a:prstGeom>
          <a:solidFill>
            <a:srgbClr val="0969DA"/>
          </a:solidFill>
          <a:ln/>
        </p:spPr>
      </p:sp>
      <p:sp>
        <p:nvSpPr>
          <p:cNvPr id="6" name="Text 3"/>
          <p:cNvSpPr txBox="1"/>
          <p:nvPr/>
        </p:nvSpPr>
        <p:spPr>
          <a:xfrm>
            <a:off x="932688" y="1493596"/>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KedaiKita, kafe kecil di Jl. Pramuka No. 10, Samarinda, menyimpan data menu di </a:t>
            </a:r>
            <a:r>
              <a:rPr lang="id-ID" altLang="en-US" sz="2200" b="1" dirty="0">
                <a:solidFill>
                  <a:srgbClr val="1F2328"/>
                </a:solidFill>
              </a:rPr>
              <a:t>tiga daftar terpisah</a:t>
            </a:r>
            <a:r>
              <a:rPr lang="id-ID" altLang="en-US" sz="2200" dirty="0">
                <a:solidFill>
                  <a:srgbClr val="1F2328"/>
                </a:solidFill>
              </a:rPr>
              <a:t>: nama, harga, dan stok.</a:t>
            </a:r>
            <a:endParaRPr lang="id-ID" sz="2200" dirty="0"/>
          </a:p>
        </p:txBody>
      </p:sp>
      <p:sp>
        <p:nvSpPr>
          <p:cNvPr id="7" name="Shape 4"/>
          <p:cNvSpPr/>
          <p:nvPr/>
        </p:nvSpPr>
        <p:spPr>
          <a:xfrm>
            <a:off x="603504" y="2551506"/>
            <a:ext cx="137160" cy="137160"/>
          </a:xfrm>
          <a:prstGeom prst="roundRect">
            <a:avLst>
              <a:gd name="adj" fmla="val 166667"/>
            </a:avLst>
          </a:prstGeom>
          <a:solidFill>
            <a:srgbClr val="0969DA"/>
          </a:solidFill>
          <a:ln/>
        </p:spPr>
      </p:sp>
      <p:sp>
        <p:nvSpPr>
          <p:cNvPr id="8" name="Text 5"/>
          <p:cNvSpPr txBox="1"/>
          <p:nvPr/>
        </p:nvSpPr>
        <p:spPr>
          <a:xfrm>
            <a:off x="932688" y="2449652"/>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Menu pertama ada di urutan pertama pada ketiga daftar, menu kedua di urutan kedua, dan seterusnya.</a:t>
            </a:r>
            <a:endParaRPr lang="id-ID" sz="2200" dirty="0"/>
          </a:p>
        </p:txBody>
      </p:sp>
      <p:sp>
        <p:nvSpPr>
          <p:cNvPr id="9" name="Shape 6"/>
          <p:cNvSpPr/>
          <p:nvPr/>
        </p:nvSpPr>
        <p:spPr>
          <a:xfrm>
            <a:off x="603504" y="3507562"/>
            <a:ext cx="137160" cy="137160"/>
          </a:xfrm>
          <a:prstGeom prst="roundRect">
            <a:avLst>
              <a:gd name="adj" fmla="val 166667"/>
            </a:avLst>
          </a:prstGeom>
          <a:solidFill>
            <a:srgbClr val="0969DA"/>
          </a:solidFill>
          <a:ln/>
        </p:spPr>
      </p:sp>
      <p:sp>
        <p:nvSpPr>
          <p:cNvPr id="10" name="Text 7"/>
          <p:cNvSpPr txBox="1"/>
          <p:nvPr/>
        </p:nvSpPr>
        <p:spPr>
          <a:xfrm>
            <a:off x="932688" y="3405708"/>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Pemilik kedai ingin menu tampil </a:t>
            </a:r>
            <a:r>
              <a:rPr lang="id-ID" altLang="en-US" sz="2200" b="1" dirty="0">
                <a:solidFill>
                  <a:srgbClr val="1F2328"/>
                </a:solidFill>
              </a:rPr>
              <a:t>urut abjad</a:t>
            </a:r>
            <a:r>
              <a:rPr lang="id-ID" altLang="en-US" sz="2200" dirty="0">
                <a:solidFill>
                  <a:srgbClr val="1F2328"/>
                </a:solidFill>
              </a:rPr>
              <a:t>, lalu menambahkan satu perintah untuk mengurutkan </a:t>
            </a:r>
            <a:r>
              <a:rPr lang="id-ID" altLang="en-US" sz="2200" b="1" dirty="0">
                <a:solidFill>
                  <a:srgbClr val="1F2328"/>
                </a:solidFill>
              </a:rPr>
              <a:t>daftar nama</a:t>
            </a:r>
            <a:r>
              <a:rPr lang="id-ID" altLang="en-US" sz="2200" dirty="0">
                <a:solidFill>
                  <a:srgbClr val="1F2328"/>
                </a:solidFill>
              </a:rPr>
              <a:t>.</a:t>
            </a:r>
            <a:endParaRPr lang="id-ID" sz="2200" dirty="0"/>
          </a:p>
        </p:txBody>
      </p:sp>
      <p:sp>
        <p:nvSpPr>
          <p:cNvPr id="11" name="Shape 8"/>
          <p:cNvSpPr/>
          <p:nvPr/>
        </p:nvSpPr>
        <p:spPr>
          <a:xfrm>
            <a:off x="603504" y="4463618"/>
            <a:ext cx="137160" cy="137160"/>
          </a:xfrm>
          <a:prstGeom prst="roundRect">
            <a:avLst>
              <a:gd name="adj" fmla="val 166667"/>
            </a:avLst>
          </a:prstGeom>
          <a:solidFill>
            <a:srgbClr val="0969DA"/>
          </a:solidFill>
          <a:ln/>
        </p:spPr>
      </p:sp>
      <p:sp>
        <p:nvSpPr>
          <p:cNvPr id="12" name="Text 9"/>
          <p:cNvSpPr txBox="1"/>
          <p:nvPr/>
        </p:nvSpPr>
        <p:spPr>
          <a:xfrm>
            <a:off x="932688" y="4361764"/>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Hasilnya, Es Teh Manis menjadi </a:t>
            </a:r>
            <a:r>
              <a:rPr lang="id-ID" altLang="en-US" sz="2200" b="1" dirty="0">
                <a:solidFill>
                  <a:srgbClr val="1F2328"/>
                </a:solidFill>
              </a:rPr>
              <a:t>Rp18.000</a:t>
            </a:r>
            <a:r>
              <a:rPr lang="id-ID" altLang="en-US" sz="2200" dirty="0">
                <a:solidFill>
                  <a:srgbClr val="1F2328"/>
                </a:solidFill>
              </a:rPr>
              <a:t>, sedangkan Nasi Goreng Kampung hanya </a:t>
            </a:r>
            <a:r>
              <a:rPr lang="id-ID" altLang="en-US" sz="2200" b="1" dirty="0">
                <a:solidFill>
                  <a:srgbClr val="1F2328"/>
                </a:solidFill>
              </a:rPr>
              <a:t>Rp8.000</a:t>
            </a:r>
            <a:r>
              <a:rPr lang="id-ID" altLang="en-US" sz="2200" dirty="0">
                <a:solidFill>
                  <a:srgbClr val="1F2328"/>
                </a:solidFill>
              </a:rPr>
              <a:t>.</a:t>
            </a:r>
            <a:endParaRPr lang="id-ID" sz="2200" dirty="0"/>
          </a:p>
        </p:txBody>
      </p:sp>
      <p:sp>
        <p:nvSpPr>
          <p:cNvPr id="13" name="Shape 10"/>
          <p:cNvSpPr/>
          <p:nvPr/>
        </p:nvSpPr>
        <p:spPr>
          <a:xfrm>
            <a:off x="548640" y="5114112"/>
            <a:ext cx="11094415" cy="980186"/>
          </a:xfrm>
          <a:prstGeom prst="roundRect">
            <a:avLst>
              <a:gd name="adj" fmla="val 10443"/>
            </a:avLst>
          </a:prstGeom>
          <a:solidFill>
            <a:srgbClr val="FFF8C5"/>
          </a:solidFill>
          <a:ln w="9525">
            <a:solidFill>
              <a:srgbClr val="D4A72C"/>
            </a:solidFill>
            <a:prstDash val="solid"/>
          </a:ln>
        </p:spPr>
      </p:sp>
      <p:sp>
        <p:nvSpPr>
          <p:cNvPr id="14" name="Shape 11"/>
          <p:cNvSpPr/>
          <p:nvPr/>
        </p:nvSpPr>
        <p:spPr>
          <a:xfrm>
            <a:off x="777240" y="5315280"/>
            <a:ext cx="457200" cy="457200"/>
          </a:xfrm>
          <a:prstGeom prst="ellipse">
            <a:avLst/>
          </a:prstGeom>
          <a:solidFill>
            <a:srgbClr val="9A6700"/>
          </a:solidFill>
          <a:ln/>
        </p:spPr>
      </p:sp>
      <p:pic>
        <p:nvPicPr>
          <p:cNvPr id="15" name="Image 1" descr="preencoded.png">    </p:cNvPr>
          <p:cNvPicPr>
            <a:picLocks noChangeAspect="1"/>
          </p:cNvPicPr>
          <p:nvPr/>
        </p:nvPicPr>
        <p:blipFill>
          <a:blip r:embed="rId2"/>
          <a:stretch>
            <a:fillRect/>
          </a:stretch>
        </p:blipFill>
        <p:spPr>
          <a:xfrm>
            <a:off x="877824" y="5415864"/>
            <a:ext cx="256032" cy="256032"/>
          </a:xfrm>
          <a:prstGeom prst="rect">
            <a:avLst/>
          </a:prstGeom>
        </p:spPr>
      </p:pic>
      <p:sp>
        <p:nvSpPr>
          <p:cNvPr id="16" name="Text 12"/>
          <p:cNvSpPr txBox="1"/>
          <p:nvPr/>
        </p:nvSpPr>
        <p:spPr>
          <a:xfrm>
            <a:off x="1417320" y="5260416"/>
            <a:ext cx="2743200" cy="292608"/>
          </a:xfrm>
          <a:prstGeom prst="rect">
            <a:avLst/>
          </a:prstGeom>
          <a:noFill/>
          <a:ln/>
        </p:spPr>
        <p:txBody>
          <a:bodyPr wrap="square" lIns="0" tIns="0" rIns="0" bIns="0" rtlCol="0" anchor="t"/>
          <a:lstStyle/>
          <a:p>
            <a:pPr indent="0" marL="0">
              <a:buNone/>
            </a:pPr>
            <a:r>
              <a:rPr lang="id-ID" altLang="en-US" sz="1500" b="1" dirty="0">
                <a:solidFill>
                  <a:srgbClr val="9A6700"/>
                </a:solidFill>
              </a:rPr>
              <a:t>Perhatikan</a:t>
            </a:r>
            <a:endParaRPr lang="id-ID" sz="1500" dirty="0"/>
          </a:p>
        </p:txBody>
      </p:sp>
      <p:sp>
        <p:nvSpPr>
          <p:cNvPr id="17" name="Text 13"/>
          <p:cNvSpPr txBox="1"/>
          <p:nvPr/>
        </p:nvSpPr>
        <p:spPr>
          <a:xfrm>
            <a:off x="1417320" y="5571312"/>
            <a:ext cx="9951415" cy="431546"/>
          </a:xfrm>
          <a:prstGeom prst="rect">
            <a:avLst/>
          </a:prstGeom>
          <a:noFill/>
          <a:ln/>
        </p:spPr>
        <p:txBody>
          <a:bodyPr wrap="square" lIns="0" tIns="0" rIns="0" bIns="0" rtlCol="0" anchor="t"/>
          <a:lstStyle/>
          <a:p>
            <a:pPr indent="0" marL="0">
              <a:buNone/>
            </a:pPr>
            <a:r>
              <a:rPr lang="id-ID" altLang="en-US" sz="1900" dirty="0">
                <a:solidFill>
                  <a:srgbClr val="1F2328"/>
                </a:solidFill>
              </a:rPr>
              <a:t>Tidak ada pesan </a:t>
            </a:r>
            <a:r>
              <a:rPr lang="id-ID" altLang="en-US" sz="1900" i="1" dirty="0">
                <a:solidFill>
                  <a:srgbClr val="1F2328"/>
                </a:solidFill>
              </a:rPr>
              <a:t>error</a:t>
            </a:r>
            <a:r>
              <a:rPr lang="id-ID" altLang="en-US" sz="1900" dirty="0">
                <a:solidFill>
                  <a:srgbClr val="1F2328"/>
                </a:solidFill>
              </a:rPr>
              <a:t> sama sekali. Program berjalan “lancar”, tetapi datanya </a:t>
            </a:r>
            <a:r>
              <a:rPr lang="id-ID" altLang="en-US" sz="1900" b="1" dirty="0">
                <a:solidFill>
                  <a:srgbClr val="1F2328"/>
                </a:solidFill>
              </a:rPr>
              <a:t>tertukar</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Tiga Paradigma Pemrograman</a:t>
            </a:r>
            <a:endParaRPr lang="id-ID"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48471"/>
          <a:ext cx="11094415" cy="914400"/>
        </p:xfrm>
        <a:graphic>
          <a:graphicData uri="http://schemas.openxmlformats.org/drawingml/2006/table">
            <a:tbl>
              <a:tblPr/>
              <a:tblGrid>
                <a:gridCol w="2540027"/>
                <a:gridCol w="3958895"/>
                <a:gridCol w="3359590"/>
                <a:gridCol w="1235903"/>
              </a:tblGrid>
              <a:tr h="80264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Paradigma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Ide utama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Analogi dapur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Contoh bahasa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0264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Prosedural</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procedural</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Urutan langkah dan fungsi yang mengolah data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Satu buku resep, semua bahan di meja bersama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C, Pascal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111252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Berorientasi objek</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object-⁠oriented</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Kumpulan objek yang membawa data dan perilakunya sendiri, lalu bekerja sama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Tim petugas dengan meja dan tugas masing-⁠masing</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Java, C#, Python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112520">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Fungsional</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functional</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Rangkaian fungsi yang mengubah masukan menjadi keluaran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Jalur produksi: bahan masuk, diolah tahap demi tahap, hasil keluar</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Haskell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52567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98099"/>
            <a:ext cx="184343" cy="184343"/>
          </a:xfrm>
          <a:prstGeom prst="rect">
            <a:avLst/>
          </a:prstGeom>
        </p:spPr>
      </p:pic>
      <p:sp>
        <p:nvSpPr>
          <p:cNvPr id="8" name="Text 3"/>
          <p:cNvSpPr txBox="1"/>
          <p:nvPr/>
        </p:nvSpPr>
        <p:spPr>
          <a:xfrm>
            <a:off x="1005840" y="5507391"/>
            <a:ext cx="10637215" cy="603504"/>
          </a:xfrm>
          <a:prstGeom prst="rect">
            <a:avLst/>
          </a:prstGeom>
          <a:noFill/>
          <a:ln/>
        </p:spPr>
        <p:txBody>
          <a:bodyPr wrap="square" lIns="0" tIns="0" rIns="0" bIns="0" rtlCol="0" anchor="t"/>
          <a:lstStyle/>
          <a:p>
            <a:pPr indent="0" marL="0">
              <a:buNone/>
            </a:pPr>
            <a:r>
              <a:rPr lang="id-ID" altLang="en-US" sz="1800" b="1" dirty="0">
                <a:solidFill>
                  <a:srgbClr val="57606A"/>
                </a:solidFill>
              </a:rPr>
              <a:t>Paradigma pemrograman</a:t>
            </a:r>
            <a:r>
              <a:rPr lang="id-ID" altLang="en-US" sz="1800" dirty="0">
                <a:solidFill>
                  <a:srgbClr val="57606A"/>
                </a:solidFill>
              </a:rPr>
              <a:t>: cara pandang atau gaya dalam menyusun program, yaitu bagaimana masalah dipecah dan di mana data disimpan.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Masalah Gaya Prosedural saat Program Membesar</a:t>
            </a:r>
            <a:endParaRPr lang="id-ID" sz="3200" dirty="0"/>
          </a:p>
        </p:txBody>
      </p:sp>
      <p:sp>
        <p:nvSpPr>
          <p:cNvPr id="5" name="Shape 2"/>
          <p:cNvSpPr/>
          <p:nvPr/>
        </p:nvSpPr>
        <p:spPr>
          <a:xfrm>
            <a:off x="603504" y="1595450"/>
            <a:ext cx="137160" cy="137160"/>
          </a:xfrm>
          <a:prstGeom prst="roundRect">
            <a:avLst>
              <a:gd name="adj" fmla="val 166667"/>
            </a:avLst>
          </a:prstGeom>
          <a:solidFill>
            <a:srgbClr val="0969DA"/>
          </a:solidFill>
          <a:ln/>
        </p:spPr>
      </p:sp>
      <p:sp>
        <p:nvSpPr>
          <p:cNvPr id="6" name="Text 3"/>
          <p:cNvSpPr txBox="1"/>
          <p:nvPr/>
        </p:nvSpPr>
        <p:spPr>
          <a:xfrm>
            <a:off x="932688" y="1493596"/>
            <a:ext cx="10710367" cy="727456"/>
          </a:xfrm>
          <a:prstGeom prst="rect">
            <a:avLst/>
          </a:prstGeom>
          <a:noFill/>
          <a:ln/>
        </p:spPr>
        <p:txBody>
          <a:bodyPr wrap="square" lIns="0" tIns="0" rIns="0" bIns="0" rtlCol="0" anchor="t"/>
          <a:lstStyle/>
          <a:p>
            <a:pPr indent="0" marL="0">
              <a:buNone/>
            </a:pPr>
            <a:r>
              <a:rPr lang="id-ID" altLang="en-US" sz="2200" b="1" dirty="0">
                <a:solidFill>
                  <a:srgbClr val="1F2328"/>
                </a:solidFill>
              </a:rPr>
              <a:t>Data dan fungsi terpisah.</a:t>
            </a:r>
            <a:r>
              <a:rPr lang="id-ID" altLang="en-US" sz="2200" dirty="0">
                <a:solidFill>
                  <a:srgbClr val="1F2328"/>
                </a:solidFill>
              </a:rPr>
              <a:t> Data satu menu tersebar di tiga daftar, direkatkan hanya oleh </a:t>
            </a:r>
            <a:r>
              <a:rPr lang="id-ID" altLang="en-US" sz="2200" b="1" dirty="0">
                <a:solidFill>
                  <a:srgbClr val="1F2328"/>
                </a:solidFill>
              </a:rPr>
              <a:t>indeks</a:t>
            </a:r>
            <a:r>
              <a:rPr lang="id-ID" altLang="en-US" sz="2200" dirty="0">
                <a:solidFill>
                  <a:srgbClr val="1F2328"/>
                </a:solidFill>
              </a:rPr>
              <a:t> yang sama (</a:t>
            </a:r>
            <a:r>
              <a:rPr lang="id-ID" altLang="en-US" sz="2200" b="1" dirty="0">
                <a:solidFill>
                  <a:srgbClr val="1F2328"/>
                </a:solidFill>
              </a:rPr>
              <a:t>data paralel</a:t>
            </a:r>
            <a:r>
              <a:rPr lang="id-ID" altLang="en-US" sz="2200" dirty="0">
                <a:solidFill>
                  <a:srgbClr val="1F2328"/>
                </a:solidFill>
              </a:rPr>
              <a:t>).</a:t>
            </a:r>
            <a:endParaRPr lang="id-ID" sz="2200" dirty="0"/>
          </a:p>
        </p:txBody>
      </p:sp>
      <p:sp>
        <p:nvSpPr>
          <p:cNvPr id="7" name="Shape 4"/>
          <p:cNvSpPr/>
          <p:nvPr/>
        </p:nvSpPr>
        <p:spPr>
          <a:xfrm>
            <a:off x="603504" y="2551506"/>
            <a:ext cx="137160" cy="137160"/>
          </a:xfrm>
          <a:prstGeom prst="roundRect">
            <a:avLst>
              <a:gd name="adj" fmla="val 166667"/>
            </a:avLst>
          </a:prstGeom>
          <a:solidFill>
            <a:srgbClr val="0969DA"/>
          </a:solidFill>
          <a:ln/>
        </p:spPr>
      </p:sp>
      <p:sp>
        <p:nvSpPr>
          <p:cNvPr id="8" name="Text 5"/>
          <p:cNvSpPr txBox="1"/>
          <p:nvPr/>
        </p:nvSpPr>
        <p:spPr>
          <a:xfrm>
            <a:off x="932688" y="2449652"/>
            <a:ext cx="10710367" cy="727456"/>
          </a:xfrm>
          <a:prstGeom prst="rect">
            <a:avLst/>
          </a:prstGeom>
          <a:noFill/>
          <a:ln/>
        </p:spPr>
        <p:txBody>
          <a:bodyPr wrap="square" lIns="0" tIns="0" rIns="0" bIns="0" rtlCol="0" anchor="t"/>
          <a:lstStyle/>
          <a:p>
            <a:pPr indent="0" marL="0">
              <a:buNone/>
            </a:pPr>
            <a:r>
              <a:rPr lang="id-ID" altLang="en-US" sz="2200" b="1" dirty="0">
                <a:solidFill>
                  <a:srgbClr val="1F2328"/>
                </a:solidFill>
              </a:rPr>
              <a:t>Data global bisa diubah siapa saja.</a:t>
            </a:r>
            <a:r>
              <a:rPr lang="id-ID" altLang="en-US" sz="2200" dirty="0">
                <a:solidFill>
                  <a:srgbClr val="1F2328"/>
                </a:solidFill>
              </a:rPr>
              <a:t> Saat data rusak, semua fungsi harus diperiksa untuk mencari “pelakunya”.</a:t>
            </a:r>
            <a:endParaRPr lang="id-ID" sz="2200" dirty="0"/>
          </a:p>
        </p:txBody>
      </p:sp>
      <p:sp>
        <p:nvSpPr>
          <p:cNvPr id="9" name="Shape 6"/>
          <p:cNvSpPr/>
          <p:nvPr/>
        </p:nvSpPr>
        <p:spPr>
          <a:xfrm>
            <a:off x="603504" y="3507562"/>
            <a:ext cx="137160" cy="137160"/>
          </a:xfrm>
          <a:prstGeom prst="roundRect">
            <a:avLst>
              <a:gd name="adj" fmla="val 166667"/>
            </a:avLst>
          </a:prstGeom>
          <a:solidFill>
            <a:srgbClr val="0969DA"/>
          </a:solidFill>
          <a:ln/>
        </p:spPr>
      </p:sp>
      <p:sp>
        <p:nvSpPr>
          <p:cNvPr id="10" name="Text 7"/>
          <p:cNvSpPr txBox="1"/>
          <p:nvPr/>
        </p:nvSpPr>
        <p:spPr>
          <a:xfrm>
            <a:off x="932688" y="3405708"/>
            <a:ext cx="10710367" cy="727456"/>
          </a:xfrm>
          <a:prstGeom prst="rect">
            <a:avLst/>
          </a:prstGeom>
          <a:noFill/>
          <a:ln/>
        </p:spPr>
        <p:txBody>
          <a:bodyPr wrap="square" lIns="0" tIns="0" rIns="0" bIns="0" rtlCol="0" anchor="t"/>
          <a:lstStyle/>
          <a:p>
            <a:pPr indent="0" marL="0">
              <a:buNone/>
            </a:pPr>
            <a:r>
              <a:rPr lang="id-ID" altLang="en-US" sz="2200" b="1" dirty="0">
                <a:solidFill>
                  <a:srgbClr val="1F2328"/>
                </a:solidFill>
              </a:rPr>
              <a:t>Mudah rusak saat diubah.</a:t>
            </a:r>
            <a:r>
              <a:rPr lang="id-ID" altLang="en-US" sz="2200" dirty="0">
                <a:solidFill>
                  <a:srgbClr val="1F2328"/>
                </a:solidFill>
              </a:rPr>
              <a:t> Satu perintah yang kurang lengkap, atau satu fungsi yang terlewat, membuat data tertukar.</a:t>
            </a:r>
            <a:endParaRPr lang="id-ID" sz="2200" dirty="0"/>
          </a:p>
        </p:txBody>
      </p:sp>
      <p:sp>
        <p:nvSpPr>
          <p:cNvPr id="11" name="Shape 8"/>
          <p:cNvSpPr/>
          <p:nvPr/>
        </p:nvSpPr>
        <p:spPr>
          <a:xfrm>
            <a:off x="603504" y="4463618"/>
            <a:ext cx="137160" cy="137160"/>
          </a:xfrm>
          <a:prstGeom prst="roundRect">
            <a:avLst>
              <a:gd name="adj" fmla="val 166667"/>
            </a:avLst>
          </a:prstGeom>
          <a:solidFill>
            <a:srgbClr val="0969DA"/>
          </a:solidFill>
          <a:ln/>
        </p:spPr>
      </p:sp>
      <p:sp>
        <p:nvSpPr>
          <p:cNvPr id="12" name="Text 9"/>
          <p:cNvSpPr txBox="1"/>
          <p:nvPr/>
        </p:nvSpPr>
        <p:spPr>
          <a:xfrm>
            <a:off x="932688" y="4361764"/>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Untuk program kecil, gaya prosedural </a:t>
            </a:r>
            <a:r>
              <a:rPr lang="id-ID" altLang="en-US" sz="2200" b="1" dirty="0">
                <a:solidFill>
                  <a:srgbClr val="1F2328"/>
                </a:solidFill>
              </a:rPr>
              <a:t>baik-⁠baik saja</a:t>
            </a:r>
            <a:r>
              <a:rPr lang="id-ID" altLang="en-US" sz="2200" dirty="0">
                <a:solidFill>
                  <a:srgbClr val="1F2328"/>
                </a:solidFill>
              </a:rPr>
              <a:t>: mudah ditulis dan mudah dipahami.</a:t>
            </a:r>
            <a:endParaRPr lang="id-ID" sz="2200" dirty="0"/>
          </a:p>
        </p:txBody>
      </p:sp>
      <p:sp>
        <p:nvSpPr>
          <p:cNvPr id="13" name="Shape 10"/>
          <p:cNvSpPr/>
          <p:nvPr/>
        </p:nvSpPr>
        <p:spPr>
          <a:xfrm>
            <a:off x="548640" y="5114112"/>
            <a:ext cx="11094415" cy="980186"/>
          </a:xfrm>
          <a:prstGeom prst="roundRect">
            <a:avLst>
              <a:gd name="adj" fmla="val 10443"/>
            </a:avLst>
          </a:prstGeom>
          <a:solidFill>
            <a:srgbClr val="DDF4FF"/>
          </a:solidFill>
          <a:ln w="9525">
            <a:solidFill>
              <a:srgbClr val="54AEFF"/>
            </a:solidFill>
            <a:prstDash val="solid"/>
          </a:ln>
        </p:spPr>
      </p:sp>
      <p:sp>
        <p:nvSpPr>
          <p:cNvPr id="14" name="Shape 11"/>
          <p:cNvSpPr/>
          <p:nvPr/>
        </p:nvSpPr>
        <p:spPr>
          <a:xfrm>
            <a:off x="777240" y="5315280"/>
            <a:ext cx="457200" cy="457200"/>
          </a:xfrm>
          <a:prstGeom prst="ellipse">
            <a:avLst/>
          </a:prstGeom>
          <a:solidFill>
            <a:srgbClr val="0969DA"/>
          </a:solidFill>
          <a:ln/>
        </p:spPr>
      </p:sp>
      <p:pic>
        <p:nvPicPr>
          <p:cNvPr id="15" name="Image 1" descr="preencoded.png">    </p:cNvPr>
          <p:cNvPicPr>
            <a:picLocks noChangeAspect="1"/>
          </p:cNvPicPr>
          <p:nvPr/>
        </p:nvPicPr>
        <p:blipFill>
          <a:blip r:embed="rId2"/>
          <a:stretch>
            <a:fillRect/>
          </a:stretch>
        </p:blipFill>
        <p:spPr>
          <a:xfrm>
            <a:off x="877824" y="5415864"/>
            <a:ext cx="256032" cy="256032"/>
          </a:xfrm>
          <a:prstGeom prst="rect">
            <a:avLst/>
          </a:prstGeom>
        </p:spPr>
      </p:pic>
      <p:sp>
        <p:nvSpPr>
          <p:cNvPr id="16" name="Text 12"/>
          <p:cNvSpPr txBox="1"/>
          <p:nvPr/>
        </p:nvSpPr>
        <p:spPr>
          <a:xfrm>
            <a:off x="1417320" y="5260416"/>
            <a:ext cx="2743200" cy="292608"/>
          </a:xfrm>
          <a:prstGeom prst="rect">
            <a:avLst/>
          </a:prstGeom>
          <a:noFill/>
          <a:ln/>
        </p:spPr>
        <p:txBody>
          <a:bodyPr wrap="square" lIns="0" tIns="0" rIns="0" bIns="0" rtlCol="0" anchor="t"/>
          <a:lstStyle/>
          <a:p>
            <a:pPr indent="0" marL="0">
              <a:buNone/>
            </a:pPr>
            <a:r>
              <a:rPr lang="id-ID" altLang="en-US" sz="1500" b="1" dirty="0">
                <a:solidFill>
                  <a:srgbClr val="0969DA"/>
                </a:solidFill>
              </a:rPr>
              <a:t>Penting</a:t>
            </a:r>
            <a:endParaRPr lang="id-ID" sz="1500" dirty="0"/>
          </a:p>
        </p:txBody>
      </p:sp>
      <p:sp>
        <p:nvSpPr>
          <p:cNvPr id="17" name="Text 13"/>
          <p:cNvSpPr txBox="1"/>
          <p:nvPr/>
        </p:nvSpPr>
        <p:spPr>
          <a:xfrm>
            <a:off x="1417320" y="5571312"/>
            <a:ext cx="9951415" cy="431546"/>
          </a:xfrm>
          <a:prstGeom prst="rect">
            <a:avLst/>
          </a:prstGeom>
          <a:noFill/>
          <a:ln/>
        </p:spPr>
        <p:txBody>
          <a:bodyPr wrap="square" lIns="0" tIns="0" rIns="0" bIns="0" rtlCol="0" anchor="t"/>
          <a:lstStyle/>
          <a:p>
            <a:pPr indent="0" marL="0">
              <a:buNone/>
            </a:pPr>
            <a:r>
              <a:rPr lang="id-ID" altLang="en-US" sz="1900" dirty="0">
                <a:solidFill>
                  <a:srgbClr val="1F2328"/>
                </a:solidFill>
              </a:rPr>
              <a:t>Inti masalahnya: </a:t>
            </a:r>
            <a:r>
              <a:rPr lang="id-ID" altLang="en-US" sz="1900" b="1" dirty="0">
                <a:solidFill>
                  <a:srgbClr val="1F2328"/>
                </a:solidFill>
              </a:rPr>
              <a:t>data satu benda tercerai-⁠berai</a:t>
            </a:r>
            <a:r>
              <a:rPr lang="id-ID" altLang="en-US" sz="1900" dirty="0">
                <a:solidFill>
                  <a:srgbClr val="1F2328"/>
                </a:solidFill>
              </a:rPr>
              <a:t> dan </a:t>
            </a:r>
            <a:r>
              <a:rPr lang="id-ID" altLang="en-US" sz="1900" b="1" dirty="0">
                <a:solidFill>
                  <a:srgbClr val="1F2328"/>
                </a:solidFill>
              </a:rPr>
              <a:t>semua fungsi bebas mengubah semua data</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Dunia Penuh Objek</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Cara pandang yang menyatukan data dan perilaku.</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PBO: Program sebagai Kumpulan Objek</a:t>
            </a:r>
            <a:endParaRPr lang="id-ID" sz="3200" dirty="0"/>
          </a:p>
        </p:txBody>
      </p:sp>
      <p:sp>
        <p:nvSpPr>
          <p:cNvPr id="5" name="Text 2"/>
          <p:cNvSpPr txBox="1"/>
          <p:nvPr/>
        </p:nvSpPr>
        <p:spPr>
          <a:xfrm>
            <a:off x="548640" y="1462979"/>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Pemrograman Berorientasi Objek (PBO)</a:t>
            </a:r>
            <a:endParaRPr lang="id-ID" sz="3000" dirty="0"/>
          </a:p>
        </p:txBody>
      </p:sp>
      <p:sp>
        <p:nvSpPr>
          <p:cNvPr id="6" name="Shape 3"/>
          <p:cNvSpPr/>
          <p:nvPr/>
        </p:nvSpPr>
        <p:spPr>
          <a:xfrm>
            <a:off x="548640" y="2176211"/>
            <a:ext cx="11094415" cy="1664208"/>
          </a:xfrm>
          <a:prstGeom prst="roundRect">
            <a:avLst>
              <a:gd name="adj" fmla="val 3623"/>
            </a:avLst>
          </a:prstGeom>
          <a:solidFill>
            <a:srgbClr val="DDF4FF"/>
          </a:solidFill>
          <a:ln w="9525">
            <a:solidFill>
              <a:srgbClr val="54AEFF"/>
            </a:solidFill>
            <a:prstDash val="solid"/>
          </a:ln>
        </p:spPr>
      </p:sp>
      <p:sp>
        <p:nvSpPr>
          <p:cNvPr id="7" name="Shape 4"/>
          <p:cNvSpPr/>
          <p:nvPr/>
        </p:nvSpPr>
        <p:spPr>
          <a:xfrm>
            <a:off x="804672" y="2733995"/>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54696"/>
            <a:ext cx="307238" cy="307238"/>
          </a:xfrm>
          <a:prstGeom prst="rect">
            <a:avLst/>
          </a:prstGeom>
        </p:spPr>
      </p:pic>
      <p:sp>
        <p:nvSpPr>
          <p:cNvPr id="9" name="Text 5"/>
          <p:cNvSpPr txBox="1"/>
          <p:nvPr/>
        </p:nvSpPr>
        <p:spPr>
          <a:xfrm>
            <a:off x="1554480" y="2450531"/>
            <a:ext cx="9859975" cy="1298448"/>
          </a:xfrm>
          <a:prstGeom prst="rect">
            <a:avLst/>
          </a:prstGeom>
          <a:noFill/>
          <a:ln/>
        </p:spPr>
        <p:txBody>
          <a:bodyPr wrap="square" lIns="0" tIns="0" rIns="0" bIns="0" rtlCol="0" anchor="t"/>
          <a:lstStyle/>
          <a:p>
            <a:pPr indent="0" marL="0">
              <a:buNone/>
            </a:pPr>
            <a:r>
              <a:rPr lang="id-ID" altLang="en-US" sz="2400" dirty="0">
                <a:solidFill>
                  <a:srgbClr val="1F2328"/>
                </a:solidFill>
              </a:rPr>
              <a:t>Paradigma yang menyusun program sebagai kumpulan </a:t>
            </a:r>
            <a:r>
              <a:rPr lang="id-ID" altLang="en-US" sz="2400" b="1" dirty="0">
                <a:solidFill>
                  <a:srgbClr val="1F2328"/>
                </a:solidFill>
              </a:rPr>
              <a:t>objek</a:t>
            </a:r>
            <a:r>
              <a:rPr lang="id-ID" altLang="en-US" sz="2400" dirty="0">
                <a:solidFill>
                  <a:srgbClr val="1F2328"/>
                </a:solidFill>
              </a:rPr>
              <a:t>. Setiap objek menyatukan </a:t>
            </a:r>
            <a:r>
              <a:rPr lang="id-ID" altLang="en-US" sz="2400" b="1" dirty="0">
                <a:solidFill>
                  <a:srgbClr val="1F2328"/>
                </a:solidFill>
              </a:rPr>
              <a:t>data</a:t>
            </a:r>
            <a:r>
              <a:rPr lang="id-ID" altLang="en-US" sz="2400" dirty="0">
                <a:solidFill>
                  <a:srgbClr val="1F2328"/>
                </a:solidFill>
              </a:rPr>
              <a:t> (disebut </a:t>
            </a:r>
            <a:r>
              <a:rPr lang="id-ID" altLang="en-US" sz="2400" b="1" dirty="0">
                <a:solidFill>
                  <a:srgbClr val="1F2328"/>
                </a:solidFill>
              </a:rPr>
              <a:t>atribut</a:t>
            </a:r>
            <a:r>
              <a:rPr lang="id-ID" altLang="en-US" sz="2400" dirty="0">
                <a:solidFill>
                  <a:srgbClr val="1F2328"/>
                </a:solidFill>
              </a:rPr>
              <a:t>) dan </a:t>
            </a:r>
            <a:r>
              <a:rPr lang="id-ID" altLang="en-US" sz="2400" b="1" dirty="0">
                <a:solidFill>
                  <a:srgbClr val="1F2328"/>
                </a:solidFill>
              </a:rPr>
              <a:t>perilaku</a:t>
            </a:r>
            <a:r>
              <a:rPr lang="id-ID" altLang="en-US" sz="2400" dirty="0">
                <a:solidFill>
                  <a:srgbClr val="1F2328"/>
                </a:solidFill>
              </a:rPr>
              <a:t> (disebut </a:t>
            </a:r>
            <a:r>
              <a:rPr lang="id-ID" altLang="en-US" sz="2400" b="1" i="1" dirty="0">
                <a:solidFill>
                  <a:srgbClr val="1F2328"/>
                </a:solidFill>
              </a:rPr>
              <a:t>method</a:t>
            </a:r>
            <a:r>
              <a:rPr lang="id-ID" altLang="en-US" sz="2400" dirty="0">
                <a:solidFill>
                  <a:srgbClr val="1F2328"/>
                </a:solidFill>
              </a:rPr>
              <a:t>). Objek-⁠objek bekerja sama dengan </a:t>
            </a:r>
            <a:r>
              <a:rPr lang="id-ID" altLang="en-US" sz="2400" b="1" dirty="0">
                <a:solidFill>
                  <a:srgbClr val="1F2328"/>
                </a:solidFill>
              </a:rPr>
              <a:t>saling mengirim pesan</a:t>
            </a:r>
            <a:r>
              <a:rPr lang="id-ID" altLang="en-US" sz="2400" dirty="0">
                <a:solidFill>
                  <a:srgbClr val="1F2328"/>
                </a:solidFill>
              </a:rPr>
              <a:t>.</a:t>
            </a:r>
            <a:endParaRPr lang="id-ID" sz="2400" dirty="0"/>
          </a:p>
        </p:txBody>
      </p:sp>
      <p:sp>
        <p:nvSpPr>
          <p:cNvPr id="10" name="Shape 6"/>
          <p:cNvSpPr/>
          <p:nvPr/>
        </p:nvSpPr>
        <p:spPr>
          <a:xfrm>
            <a:off x="603504" y="4399473"/>
            <a:ext cx="137160" cy="137160"/>
          </a:xfrm>
          <a:prstGeom prst="roundRect">
            <a:avLst>
              <a:gd name="adj" fmla="val 166667"/>
            </a:avLst>
          </a:prstGeom>
          <a:solidFill>
            <a:srgbClr val="0969DA"/>
          </a:solidFill>
          <a:ln/>
        </p:spPr>
      </p:sp>
      <p:sp>
        <p:nvSpPr>
          <p:cNvPr id="11" name="Text 7"/>
          <p:cNvSpPr txBox="1"/>
          <p:nvPr/>
        </p:nvSpPr>
        <p:spPr>
          <a:xfrm>
            <a:off x="932688" y="4297619"/>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Dalam bahasa Inggris: </a:t>
            </a:r>
            <a:r>
              <a:rPr lang="id-ID" altLang="en-US" sz="2200" i="1" dirty="0">
                <a:solidFill>
                  <a:srgbClr val="1F2328"/>
                </a:solidFill>
              </a:rPr>
              <a:t>Object-⁠Oriented Programming</a:t>
            </a:r>
            <a:r>
              <a:rPr lang="id-ID" altLang="en-US" sz="2200" dirty="0">
                <a:solidFill>
                  <a:srgbClr val="1F2328"/>
                </a:solidFill>
              </a:rPr>
              <a:t> (OOP).</a:t>
            </a:r>
            <a:endParaRPr lang="id-ID" sz="2200" dirty="0"/>
          </a:p>
        </p:txBody>
      </p:sp>
      <p:sp>
        <p:nvSpPr>
          <p:cNvPr id="12" name="Shape 8"/>
          <p:cNvSpPr/>
          <p:nvPr/>
        </p:nvSpPr>
        <p:spPr>
          <a:xfrm>
            <a:off x="603504" y="4978085"/>
            <a:ext cx="137160" cy="137160"/>
          </a:xfrm>
          <a:prstGeom prst="roundRect">
            <a:avLst>
              <a:gd name="adj" fmla="val 166667"/>
            </a:avLst>
          </a:prstGeom>
          <a:solidFill>
            <a:srgbClr val="0969DA"/>
          </a:solidFill>
          <a:ln/>
        </p:spPr>
      </p:sp>
      <p:sp>
        <p:nvSpPr>
          <p:cNvPr id="13" name="Text 9"/>
          <p:cNvSpPr txBox="1"/>
          <p:nvPr/>
        </p:nvSpPr>
        <p:spPr>
          <a:xfrm>
            <a:off x="932688" y="4876231"/>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Di kampus, objek mahasiswa membawa nama, NIM, dan IPK, serta bisa mengisi KRS dan membayar UKT.</a:t>
            </a:r>
            <a:endParaRPr lang="id-ID" sz="2200" dirty="0"/>
          </a:p>
        </p:txBody>
      </p:sp>
      <p:sp>
        <p:nvSpPr>
          <p:cNvPr id="14" name="Shape 10"/>
          <p:cNvSpPr/>
          <p:nvPr/>
        </p:nvSpPr>
        <p:spPr>
          <a:xfrm>
            <a:off x="603504" y="5897565"/>
            <a:ext cx="137160" cy="137160"/>
          </a:xfrm>
          <a:prstGeom prst="roundRect">
            <a:avLst>
              <a:gd name="adj" fmla="val 166667"/>
            </a:avLst>
          </a:prstGeom>
          <a:solidFill>
            <a:srgbClr val="0969DA"/>
          </a:solidFill>
          <a:ln/>
        </p:spPr>
      </p:sp>
      <p:sp>
        <p:nvSpPr>
          <p:cNvPr id="15" name="Text 11"/>
          <p:cNvSpPr txBox="1"/>
          <p:nvPr/>
        </p:nvSpPr>
        <p:spPr>
          <a:xfrm>
            <a:off x="932688" y="5795711"/>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Di kafe, setiap menu adalah </a:t>
            </a:r>
            <a:r>
              <a:rPr lang="id-ID" altLang="en-US" sz="2200" b="1" dirty="0">
                <a:solidFill>
                  <a:srgbClr val="1F2328"/>
                </a:solidFill>
              </a:rPr>
              <a:t>satu objek</a:t>
            </a:r>
            <a:r>
              <a:rPr lang="id-ID" altLang="en-US" sz="2200" dirty="0">
                <a:solidFill>
                  <a:srgbClr val="1F2328"/>
                </a:solidFill>
              </a:rPr>
              <a:t> yang membawa nama, harga, dan stoknya sendiri.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Objek Saling Mengirim Pesan</a:t>
            </a:r>
            <a:endParaRPr lang="id-ID" sz="3200" dirty="0"/>
          </a:p>
        </p:txBody>
      </p:sp>
      <p:pic>
        <p:nvPicPr>
          <p:cNvPr id="5" name="Image 1" descr="Mengirim pesan ke objek berarti meminta objek itu melakukan sesuatu. Di dalam kode, wujudnya adalah pemanggilan method.">    </p:cNvPr>
          <p:cNvPicPr>
            <a:picLocks noChangeAspect="1"/>
          </p:cNvPicPr>
          <p:nvPr/>
        </p:nvPicPr>
        <p:blipFill>
          <a:blip r:embed="rId2"/>
          <a:stretch>
            <a:fillRect/>
          </a:stretch>
        </p:blipFill>
        <p:spPr>
          <a:xfrm>
            <a:off x="565192" y="1417320"/>
            <a:ext cx="11061312" cy="4045204"/>
          </a:xfrm>
          <a:prstGeom prst="rect">
            <a:avLst/>
          </a:prstGeom>
        </p:spPr>
      </p:pic>
      <p:sp>
        <p:nvSpPr>
          <p:cNvPr id="6" name="Text 2"/>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Mengirim pesan ke objek berarti meminta objek itu melakukan sesuatu. Di dalam kode, wujudnya adalah pemanggilan </a:t>
            </a:r>
            <a:r>
              <a:rPr lang="id-ID" altLang="en-US" sz="1700" b="1" i="1" dirty="0">
                <a:solidFill>
                  <a:srgbClr val="57606A"/>
                </a:solidFill>
              </a:rPr>
              <a:t>method</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Prosedural dan Berorientasi Objek: Apa Bedanya?</a:t>
            </a:r>
            <a:endParaRPr lang="id-ID"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33388"/>
          <a:ext cx="11094415" cy="914400"/>
        </p:xfrm>
        <a:graphic>
          <a:graphicData uri="http://schemas.openxmlformats.org/drawingml/2006/table">
            <a:tbl>
              <a:tblPr/>
              <a:tblGrid>
                <a:gridCol w="3281175"/>
                <a:gridCol w="4244534"/>
                <a:gridCol w="3568706"/>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Aspek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Prosedural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Berorientasi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Unit utama program</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fungsi (langkah-⁠langkah)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objek (data + perilaku)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Letak data satu benda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tersebar di beberapa variabel atau daftar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terkumpul di dalam satu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Siapa yang mengubah data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fungsi mana saja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terutama </a:t>
                      </a:r>
                      <a:r>
                        <a:rPr lang="id-ID" altLang="en-US" sz="2200" i="1" dirty="0">
                          <a:solidFill>
                            <a:srgbClr val="1F2328"/>
                          </a:solidFill>
                          <a:latin typeface="Calibri" pitchFamily="34" charset="0"/>
                          <a:ea typeface="Calibri" pitchFamily="34" charset="-122"/>
                          <a:cs typeface="Calibri" pitchFamily="34" charset="-120"/>
                        </a:rPr>
                        <a:t>method</a:t>
                      </a:r>
                      <a:r>
                        <a:rPr lang="id-ID" altLang="en-US" sz="2200" dirty="0">
                          <a:solidFill>
                            <a:srgbClr val="1F2328"/>
                          </a:solidFill>
                          <a:latin typeface="Calibri" pitchFamily="34" charset="0"/>
                          <a:ea typeface="Calibri" pitchFamily="34" charset="-122"/>
                          <a:cs typeface="Calibri" pitchFamily="34" charset="-120"/>
                        </a:rPr>
                        <a:t> milik objek itu sendiri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Cara bagian program bekerja sama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fungsi memanggil fungsi lain sambil mengoper data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objek mengirim pesan ke objek lain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Paling terasa manfaatnya untuk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program kecil dan skrip sekali pakai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program besar yang terus berkembang</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Satu Rancangan, Ribuan Ponsel</a:t>
            </a:r>
            <a:endParaRPr lang="id-ID" sz="3200" dirty="0"/>
          </a:p>
        </p:txBody>
      </p:sp>
      <p:sp>
        <p:nvSpPr>
          <p:cNvPr id="5" name="Shape 2"/>
          <p:cNvSpPr/>
          <p:nvPr/>
        </p:nvSpPr>
        <p:spPr>
          <a:xfrm>
            <a:off x="548640" y="1417320"/>
            <a:ext cx="5074920" cy="4782312"/>
          </a:xfrm>
          <a:prstGeom prst="roundRect">
            <a:avLst>
              <a:gd name="adj" fmla="val 585"/>
            </a:avLst>
          </a:prstGeom>
          <a:solidFill>
            <a:srgbClr val="FFF8C5"/>
          </a:solidFill>
          <a:ln w="9525">
            <a:solidFill>
              <a:srgbClr val="D4A72C"/>
            </a:solidFill>
            <a:prstDash val="solid"/>
          </a:ln>
        </p:spPr>
      </p:sp>
      <p:sp>
        <p:nvSpPr>
          <p:cNvPr id="6" name="Shape 3"/>
          <p:cNvSpPr/>
          <p:nvPr/>
        </p:nvSpPr>
        <p:spPr>
          <a:xfrm>
            <a:off x="822960" y="1645920"/>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1746504"/>
            <a:ext cx="256032" cy="256032"/>
          </a:xfrm>
          <a:prstGeom prst="rect">
            <a:avLst/>
          </a:prstGeom>
        </p:spPr>
      </p:pic>
      <p:sp>
        <p:nvSpPr>
          <p:cNvPr id="8" name="Text 4"/>
          <p:cNvSpPr txBox="1"/>
          <p:nvPr/>
        </p:nvSpPr>
        <p:spPr>
          <a:xfrm>
            <a:off x="1417320" y="1691640"/>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372360"/>
            <a:ext cx="137160" cy="137160"/>
          </a:xfrm>
          <a:prstGeom prst="roundRect">
            <a:avLst>
              <a:gd name="adj" fmla="val 166667"/>
            </a:avLst>
          </a:prstGeom>
          <a:solidFill>
            <a:srgbClr val="9A6700"/>
          </a:solidFill>
          <a:ln/>
        </p:spPr>
      </p:sp>
      <p:sp>
        <p:nvSpPr>
          <p:cNvPr id="10" name="Text 6"/>
          <p:cNvSpPr txBox="1"/>
          <p:nvPr/>
        </p:nvSpPr>
        <p:spPr>
          <a:xfrm>
            <a:off x="1252728" y="2286000"/>
            <a:ext cx="3867912" cy="1285240"/>
          </a:xfrm>
          <a:prstGeom prst="rect">
            <a:avLst/>
          </a:prstGeom>
          <a:noFill/>
          <a:ln/>
        </p:spPr>
        <p:txBody>
          <a:bodyPr wrap="square" lIns="0" tIns="0" rIns="0" bIns="0" rtlCol="0" anchor="t"/>
          <a:lstStyle/>
          <a:p>
            <a:pPr indent="0" marL="0">
              <a:buNone/>
            </a:pPr>
            <a:r>
              <a:rPr lang="id-ID" altLang="en-US" sz="2000" dirty="0">
                <a:solidFill>
                  <a:srgbClr val="1F2328"/>
                </a:solidFill>
              </a:rPr>
              <a:t>Insinyur membuat </a:t>
            </a:r>
            <a:r>
              <a:rPr lang="id-ID" altLang="en-US" sz="2000" b="1" dirty="0">
                <a:solidFill>
                  <a:srgbClr val="1F2328"/>
                </a:solidFill>
              </a:rPr>
              <a:t>satu rancangan</a:t>
            </a:r>
            <a:r>
              <a:rPr lang="id-ID" altLang="en-US" sz="2000" dirty="0">
                <a:solidFill>
                  <a:srgbClr val="1F2328"/>
                </a:solidFill>
              </a:rPr>
              <a:t> model ponsel: data yang dimiliki (warna, sisa baterai) dan kemampuannya.</a:t>
            </a:r>
            <a:endParaRPr lang="id-ID" sz="2000" dirty="0"/>
          </a:p>
        </p:txBody>
      </p:sp>
      <p:sp>
        <p:nvSpPr>
          <p:cNvPr id="11" name="Shape 7"/>
          <p:cNvSpPr/>
          <p:nvPr/>
        </p:nvSpPr>
        <p:spPr>
          <a:xfrm>
            <a:off x="923544" y="3831336"/>
            <a:ext cx="137160" cy="137160"/>
          </a:xfrm>
          <a:prstGeom prst="roundRect">
            <a:avLst>
              <a:gd name="adj" fmla="val 166667"/>
            </a:avLst>
          </a:prstGeom>
          <a:solidFill>
            <a:srgbClr val="9A6700"/>
          </a:solidFill>
          <a:ln/>
        </p:spPr>
      </p:sp>
      <p:sp>
        <p:nvSpPr>
          <p:cNvPr id="12" name="Text 8"/>
          <p:cNvSpPr txBox="1"/>
          <p:nvPr/>
        </p:nvSpPr>
        <p:spPr>
          <a:xfrm>
            <a:off x="1252728" y="3744976"/>
            <a:ext cx="3867912" cy="1285240"/>
          </a:xfrm>
          <a:prstGeom prst="rect">
            <a:avLst/>
          </a:prstGeom>
          <a:noFill/>
          <a:ln/>
        </p:spPr>
        <p:txBody>
          <a:bodyPr wrap="square" lIns="0" tIns="0" rIns="0" bIns="0" rtlCol="0" anchor="t"/>
          <a:lstStyle/>
          <a:p>
            <a:pPr indent="0" marL="0">
              <a:buNone/>
            </a:pPr>
            <a:r>
              <a:rPr lang="id-ID" altLang="en-US" sz="2000" dirty="0">
                <a:solidFill>
                  <a:srgbClr val="1F2328"/>
                </a:solidFill>
              </a:rPr>
              <a:t>Dari rancangan itu, pabrik memproduksi </a:t>
            </a:r>
            <a:r>
              <a:rPr lang="id-ID" altLang="en-US" sz="2000" b="1" dirty="0">
                <a:solidFill>
                  <a:srgbClr val="1F2328"/>
                </a:solidFill>
              </a:rPr>
              <a:t>ribuan ponsel</a:t>
            </a:r>
            <a:r>
              <a:rPr lang="id-ID" altLang="en-US" sz="2000" dirty="0">
                <a:solidFill>
                  <a:srgbClr val="1F2328"/>
                </a:solidFill>
              </a:rPr>
              <a:t> sungguhan dengan nilai data yang bisa berbeda.</a:t>
            </a:r>
            <a:endParaRPr lang="id-ID" sz="2000" dirty="0"/>
          </a:p>
        </p:txBody>
      </p:sp>
      <p:sp>
        <p:nvSpPr>
          <p:cNvPr id="13" name="Shape 9"/>
          <p:cNvSpPr/>
          <p:nvPr/>
        </p:nvSpPr>
        <p:spPr>
          <a:xfrm>
            <a:off x="923544" y="5290312"/>
            <a:ext cx="137160" cy="137160"/>
          </a:xfrm>
          <a:prstGeom prst="roundRect">
            <a:avLst>
              <a:gd name="adj" fmla="val 166667"/>
            </a:avLst>
          </a:prstGeom>
          <a:solidFill>
            <a:srgbClr val="9A6700"/>
          </a:solidFill>
          <a:ln/>
        </p:spPr>
      </p:sp>
      <p:sp>
        <p:nvSpPr>
          <p:cNvPr id="14" name="Text 10"/>
          <p:cNvSpPr txBox="1"/>
          <p:nvPr/>
        </p:nvSpPr>
        <p:spPr>
          <a:xfrm>
            <a:off x="1252728" y="5203952"/>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Ponsel Ayu berwarna hitam dengan sisa baterai 80%, sedangkan ponsel Bima biru dengan sisa baterai 35%.</a:t>
            </a:r>
            <a:endParaRPr lang="id-ID"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0" y="2266696"/>
          <a:ext cx="5699455" cy="914400"/>
        </p:xfrm>
        <a:graphic>
          <a:graphicData uri="http://schemas.openxmlformats.org/drawingml/2006/table">
            <a:tbl>
              <a:tblPr/>
              <a:tblGrid>
                <a:gridCol w="4138949"/>
                <a:gridCol w="1560506"/>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pabrik ponsel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Istilah PBO</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Rancangan model ponsel</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Kelas</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class</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Ponsel milik Ayu, ponsel milik Bima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Objek</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object</a:t>
                      </a:r>
                      <a:r>
                        <a:rPr lang="id-ID" altLang="en-US" sz="2000" dirty="0">
                          <a:solidFill>
                            <a:srgbClr val="1F2328"/>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9276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Warna, sisa baterai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b="1" dirty="0">
                          <a:solidFill>
                            <a:srgbClr val="1F2328"/>
                          </a:solidFill>
                          <a:latin typeface="Calibri" pitchFamily="34" charset="0"/>
                          <a:ea typeface="Calibri" pitchFamily="34" charset="-122"/>
                          <a:cs typeface="Calibri" pitchFamily="34" charset="-120"/>
                        </a:rPr>
                        <a:t>Atribut</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Menelepon, mengirim pesan, mengisi daya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b="1" i="1" dirty="0">
                          <a:solidFill>
                            <a:srgbClr val="1F2328"/>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Empat Pilar dan Kapan Memakai PBO</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Cukup kenali nama dan gambarannya; setiap pilar punya pertemuan khusus.</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Empat Pilar PBO Sekilas</a:t>
            </a:r>
            <a:endParaRPr lang="id-ID"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43243"/>
          <a:ext cx="11094415" cy="914400"/>
        </p:xfrm>
        <a:graphic>
          <a:graphicData uri="http://schemas.openxmlformats.org/drawingml/2006/table">
            <a:tbl>
              <a:tblPr/>
              <a:tblGrid>
                <a:gridCol w="1684023"/>
                <a:gridCol w="4441615"/>
                <a:gridCol w="3534828"/>
                <a:gridCol w="1433949"/>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Pilar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Inti dalam satu kalimat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Analogi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Pertemuan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b="1" dirty="0">
                          <a:solidFill>
                            <a:srgbClr val="1F2328"/>
                          </a:solidFill>
                          <a:latin typeface="Calibri" pitchFamily="34" charset="0"/>
                          <a:ea typeface="Calibri" pitchFamily="34" charset="-122"/>
                          <a:cs typeface="Calibri" pitchFamily="34" charset="-120"/>
                        </a:rPr>
                        <a:t>Enkapsulasi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Data dibungkus dan hanya diubah lewat pintu resmi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Mesin ATM</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04</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b="1" dirty="0">
                          <a:solidFill>
                            <a:srgbClr val="1F2328"/>
                          </a:solidFill>
                          <a:latin typeface="Calibri" pitchFamily="34" charset="0"/>
                          <a:ea typeface="Calibri" pitchFamily="34" charset="-122"/>
                          <a:cs typeface="Calibri" pitchFamily="34" charset="-120"/>
                        </a:rPr>
                        <a:t>Pewarisan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Kelas baru mewarisi ciri kelas yang sudah ada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Kendaraan bermotor → motor dan mobil</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07</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b="1" dirty="0">
                          <a:solidFill>
                            <a:srgbClr val="1F2328"/>
                          </a:solidFill>
                          <a:latin typeface="Calibri" pitchFamily="34" charset="0"/>
                          <a:ea typeface="Calibri" pitchFamily="34" charset="-122"/>
                          <a:cs typeface="Calibri" pitchFamily="34" charset="-120"/>
                        </a:rPr>
                        <a:t>Polimorfisme</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Satu perintah, cara kerjanya berbeda-⁠beda</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Tombol “Bayar”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09</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b="1" dirty="0">
                          <a:solidFill>
                            <a:srgbClr val="1F2328"/>
                          </a:solidFill>
                          <a:latin typeface="Calibri" pitchFamily="34" charset="0"/>
                          <a:ea typeface="Calibri" pitchFamily="34" charset="-122"/>
                          <a:cs typeface="Calibri" pitchFamily="34" charset="-120"/>
                        </a:rPr>
                        <a:t>Abstraksi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Tampilkan yang penting, sembunyikan yang rumit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Menyetir mobil</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3289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05318"/>
            <a:ext cx="184343" cy="184343"/>
          </a:xfrm>
          <a:prstGeom prst="rect">
            <a:avLst/>
          </a:prstGeom>
        </p:spPr>
      </p:pic>
      <p:sp>
        <p:nvSpPr>
          <p:cNvPr id="8" name="Text 3"/>
          <p:cNvSpPr txBox="1"/>
          <p:nvPr/>
        </p:nvSpPr>
        <p:spPr>
          <a:xfrm>
            <a:off x="1005840" y="551460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Sebagian buku hanya menyebut tiga pilar karena abstraksi dianggap dasar dari semuanya. Mata kuliah ini memakai empat pilar.</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Kapan PBO Bermanfaat dan Kapan Kurang Cocok</a:t>
            </a:r>
            <a:endParaRPr lang="id-ID" sz="3200" dirty="0"/>
          </a:p>
        </p:txBody>
      </p:sp>
      <p:sp>
        <p:nvSpPr>
          <p:cNvPr id="5" name="Shape 2"/>
          <p:cNvSpPr/>
          <p:nvPr/>
        </p:nvSpPr>
        <p:spPr>
          <a:xfrm>
            <a:off x="548640" y="1424788"/>
            <a:ext cx="5364328" cy="4764532"/>
          </a:xfrm>
          <a:prstGeom prst="roundRect">
            <a:avLst>
              <a:gd name="adj" fmla="val 516"/>
            </a:avLst>
          </a:prstGeom>
          <a:solidFill>
            <a:srgbClr val="FFFFFF"/>
          </a:solidFill>
          <a:ln w="12700">
            <a:solidFill>
              <a:srgbClr val="54AEFF"/>
            </a:solidFill>
            <a:prstDash val="solid"/>
          </a:ln>
        </p:spPr>
      </p:sp>
      <p:sp>
        <p:nvSpPr>
          <p:cNvPr id="6" name="Shape 3"/>
          <p:cNvSpPr/>
          <p:nvPr/>
        </p:nvSpPr>
        <p:spPr>
          <a:xfrm>
            <a:off x="548640" y="1424788"/>
            <a:ext cx="5364328" cy="658368"/>
          </a:xfrm>
          <a:prstGeom prst="roundRect">
            <a:avLst>
              <a:gd name="adj" fmla="val 27006"/>
            </a:avLst>
          </a:prstGeom>
          <a:solidFill>
            <a:srgbClr val="0969DA"/>
          </a:solidFill>
          <a:ln/>
        </p:spPr>
      </p:sp>
      <p:sp>
        <p:nvSpPr>
          <p:cNvPr id="7" name="Shape 4"/>
          <p:cNvSpPr/>
          <p:nvPr/>
        </p:nvSpPr>
        <p:spPr>
          <a:xfrm>
            <a:off x="548640" y="1753972"/>
            <a:ext cx="5364328" cy="329184"/>
          </a:xfrm>
          <a:prstGeom prst="rect">
            <a:avLst/>
          </a:prstGeom>
          <a:solidFill>
            <a:srgbClr val="0969DA"/>
          </a:solidFill>
          <a:ln/>
        </p:spPr>
      </p:sp>
      <p:sp>
        <p:nvSpPr>
          <p:cNvPr id="8" name="Text 5"/>
          <p:cNvSpPr txBox="1"/>
          <p:nvPr/>
        </p:nvSpPr>
        <p:spPr>
          <a:xfrm>
            <a:off x="822960" y="1424788"/>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Kelebihan PBO</a:t>
            </a:r>
            <a:endParaRPr lang="id-ID" sz="2200" dirty="0"/>
          </a:p>
        </p:txBody>
      </p:sp>
      <p:sp>
        <p:nvSpPr>
          <p:cNvPr id="9" name="Shape 6"/>
          <p:cNvSpPr/>
          <p:nvPr/>
        </p:nvSpPr>
        <p:spPr>
          <a:xfrm>
            <a:off x="877824" y="2420595"/>
            <a:ext cx="137160" cy="137160"/>
          </a:xfrm>
          <a:prstGeom prst="roundRect">
            <a:avLst>
              <a:gd name="adj" fmla="val 166667"/>
            </a:avLst>
          </a:prstGeom>
          <a:solidFill>
            <a:srgbClr val="0969DA"/>
          </a:solidFill>
          <a:ln/>
        </p:spPr>
      </p:sp>
      <p:sp>
        <p:nvSpPr>
          <p:cNvPr id="10" name="Text 7"/>
          <p:cNvSpPr txBox="1"/>
          <p:nvPr/>
        </p:nvSpPr>
        <p:spPr>
          <a:xfrm>
            <a:off x="1207008" y="2357476"/>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Data tidak tercerai-⁠berai: harga tidak lagi tertukar saat menu diurutkan.</a:t>
            </a:r>
            <a:endParaRPr lang="id-ID" sz="1700" dirty="0"/>
          </a:p>
        </p:txBody>
      </p:sp>
      <p:sp>
        <p:nvSpPr>
          <p:cNvPr id="11" name="Shape 8"/>
          <p:cNvSpPr/>
          <p:nvPr/>
        </p:nvSpPr>
        <p:spPr>
          <a:xfrm>
            <a:off x="877824" y="3166847"/>
            <a:ext cx="137160" cy="137160"/>
          </a:xfrm>
          <a:prstGeom prst="roundRect">
            <a:avLst>
              <a:gd name="adj" fmla="val 166667"/>
            </a:avLst>
          </a:prstGeom>
          <a:solidFill>
            <a:srgbClr val="0969DA"/>
          </a:solidFill>
          <a:ln/>
        </p:spPr>
      </p:sp>
      <p:sp>
        <p:nvSpPr>
          <p:cNvPr id="12" name="Text 9"/>
          <p:cNvSpPr txBox="1"/>
          <p:nvPr/>
        </p:nvSpPr>
        <p:spPr>
          <a:xfrm>
            <a:off x="1207008" y="3103728"/>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Lebih mudah dirawat: aturan stok cukup diubah di kelas menu.</a:t>
            </a:r>
            <a:endParaRPr lang="id-ID" sz="1700" dirty="0"/>
          </a:p>
        </p:txBody>
      </p:sp>
      <p:sp>
        <p:nvSpPr>
          <p:cNvPr id="13" name="Shape 10"/>
          <p:cNvSpPr/>
          <p:nvPr/>
        </p:nvSpPr>
        <p:spPr>
          <a:xfrm>
            <a:off x="877824" y="3913099"/>
            <a:ext cx="137160" cy="137160"/>
          </a:xfrm>
          <a:prstGeom prst="roundRect">
            <a:avLst>
              <a:gd name="adj" fmla="val 166667"/>
            </a:avLst>
          </a:prstGeom>
          <a:solidFill>
            <a:srgbClr val="0969DA"/>
          </a:solidFill>
          <a:ln/>
        </p:spPr>
      </p:sp>
      <p:sp>
        <p:nvSpPr>
          <p:cNvPr id="14" name="Text 11"/>
          <p:cNvSpPr txBox="1"/>
          <p:nvPr/>
        </p:nvSpPr>
        <p:spPr>
          <a:xfrm>
            <a:off x="1207008" y="3849980"/>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Bisa dipakai ulang (</a:t>
            </a:r>
            <a:r>
              <a:rPr lang="id-ID" altLang="en-US" sz="1700" i="1" dirty="0">
                <a:solidFill>
                  <a:srgbClr val="1F2328"/>
                </a:solidFill>
              </a:rPr>
              <a:t>reusable</a:t>
            </a:r>
            <a:r>
              <a:rPr lang="id-ID" altLang="en-US" sz="1700" dirty="0">
                <a:solidFill>
                  <a:srgbClr val="1F2328"/>
                </a:solidFill>
              </a:rPr>
              <a:t>), bahkan di program lain.</a:t>
            </a:r>
            <a:endParaRPr lang="id-ID" sz="1700" dirty="0"/>
          </a:p>
        </p:txBody>
      </p:sp>
      <p:sp>
        <p:nvSpPr>
          <p:cNvPr id="15" name="Shape 12"/>
          <p:cNvSpPr/>
          <p:nvPr/>
        </p:nvSpPr>
        <p:spPr>
          <a:xfrm>
            <a:off x="877824" y="4659351"/>
            <a:ext cx="137160" cy="137160"/>
          </a:xfrm>
          <a:prstGeom prst="roundRect">
            <a:avLst>
              <a:gd name="adj" fmla="val 166667"/>
            </a:avLst>
          </a:prstGeom>
          <a:solidFill>
            <a:srgbClr val="0969DA"/>
          </a:solidFill>
          <a:ln/>
        </p:spPr>
      </p:sp>
      <p:sp>
        <p:nvSpPr>
          <p:cNvPr id="16" name="Text 13"/>
          <p:cNvSpPr txBox="1"/>
          <p:nvPr/>
        </p:nvSpPr>
        <p:spPr>
          <a:xfrm>
            <a:off x="1207008" y="4596232"/>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Mudah dikerjakan bersama: satu orang mengurus pembayaran, yang lain laporan.</a:t>
            </a:r>
            <a:endParaRPr lang="id-ID" sz="1700" dirty="0"/>
          </a:p>
        </p:txBody>
      </p:sp>
      <p:sp>
        <p:nvSpPr>
          <p:cNvPr id="17" name="Shape 14"/>
          <p:cNvSpPr/>
          <p:nvPr/>
        </p:nvSpPr>
        <p:spPr>
          <a:xfrm>
            <a:off x="877824" y="5405603"/>
            <a:ext cx="137160" cy="137160"/>
          </a:xfrm>
          <a:prstGeom prst="roundRect">
            <a:avLst>
              <a:gd name="adj" fmla="val 166667"/>
            </a:avLst>
          </a:prstGeom>
          <a:solidFill>
            <a:srgbClr val="0969DA"/>
          </a:solidFill>
          <a:ln/>
        </p:spPr>
      </p:sp>
      <p:sp>
        <p:nvSpPr>
          <p:cNvPr id="18" name="Text 15"/>
          <p:cNvSpPr txBox="1"/>
          <p:nvPr/>
        </p:nvSpPr>
        <p:spPr>
          <a:xfrm>
            <a:off x="1207008" y="5342484"/>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Dekat dengan dunia nyata dan data lebih terlindungi (enkapsulasi).</a:t>
            </a:r>
            <a:endParaRPr lang="id-ID" sz="1700" dirty="0"/>
          </a:p>
        </p:txBody>
      </p:sp>
      <p:sp>
        <p:nvSpPr>
          <p:cNvPr id="19" name="Shape 16"/>
          <p:cNvSpPr/>
          <p:nvPr/>
        </p:nvSpPr>
        <p:spPr>
          <a:xfrm>
            <a:off x="6278728" y="1424788"/>
            <a:ext cx="5364328" cy="4764532"/>
          </a:xfrm>
          <a:prstGeom prst="roundRect">
            <a:avLst>
              <a:gd name="adj" fmla="val 516"/>
            </a:avLst>
          </a:prstGeom>
          <a:solidFill>
            <a:srgbClr val="FFFFFF"/>
          </a:solidFill>
          <a:ln w="12700">
            <a:solidFill>
              <a:srgbClr val="4AC26B"/>
            </a:solidFill>
            <a:prstDash val="solid"/>
          </a:ln>
        </p:spPr>
      </p:sp>
      <p:sp>
        <p:nvSpPr>
          <p:cNvPr id="20" name="Shape 17"/>
          <p:cNvSpPr/>
          <p:nvPr/>
        </p:nvSpPr>
        <p:spPr>
          <a:xfrm>
            <a:off x="6278728" y="1424788"/>
            <a:ext cx="5364328" cy="658368"/>
          </a:xfrm>
          <a:prstGeom prst="roundRect">
            <a:avLst>
              <a:gd name="adj" fmla="val 27006"/>
            </a:avLst>
          </a:prstGeom>
          <a:solidFill>
            <a:srgbClr val="1A7F37"/>
          </a:solidFill>
          <a:ln/>
        </p:spPr>
      </p:sp>
      <p:sp>
        <p:nvSpPr>
          <p:cNvPr id="21" name="Shape 18"/>
          <p:cNvSpPr/>
          <p:nvPr/>
        </p:nvSpPr>
        <p:spPr>
          <a:xfrm>
            <a:off x="6278728" y="1753972"/>
            <a:ext cx="5364328" cy="329184"/>
          </a:xfrm>
          <a:prstGeom prst="rect">
            <a:avLst/>
          </a:prstGeom>
          <a:solidFill>
            <a:srgbClr val="1A7F37"/>
          </a:solidFill>
          <a:ln/>
        </p:spPr>
      </p:sp>
      <p:sp>
        <p:nvSpPr>
          <p:cNvPr id="22" name="Text 19"/>
          <p:cNvSpPr txBox="1"/>
          <p:nvPr/>
        </p:nvSpPr>
        <p:spPr>
          <a:xfrm>
            <a:off x="6553048" y="1424788"/>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Kapan PBO kurang cocok</a:t>
            </a:r>
            <a:endParaRPr lang="id-ID" sz="2200" dirty="0"/>
          </a:p>
        </p:txBody>
      </p:sp>
      <p:sp>
        <p:nvSpPr>
          <p:cNvPr id="23" name="Shape 20"/>
          <p:cNvSpPr/>
          <p:nvPr/>
        </p:nvSpPr>
        <p:spPr>
          <a:xfrm>
            <a:off x="6607912" y="2420595"/>
            <a:ext cx="137160" cy="137160"/>
          </a:xfrm>
          <a:prstGeom prst="roundRect">
            <a:avLst>
              <a:gd name="adj" fmla="val 166667"/>
            </a:avLst>
          </a:prstGeom>
          <a:solidFill>
            <a:srgbClr val="1A7F37"/>
          </a:solidFill>
          <a:ln/>
        </p:spPr>
      </p:sp>
      <p:sp>
        <p:nvSpPr>
          <p:cNvPr id="24" name="Text 21"/>
          <p:cNvSpPr txBox="1"/>
          <p:nvPr/>
        </p:nvSpPr>
        <p:spPr>
          <a:xfrm>
            <a:off x="6937096" y="2357476"/>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Program sangat kecil atau skrip sekali pakai, misalnya mengganti nama 200 </a:t>
            </a:r>
            <a:r>
              <a:rPr lang="id-ID" altLang="en-US" sz="1700" i="1" dirty="0">
                <a:solidFill>
                  <a:srgbClr val="1F2328"/>
                </a:solidFill>
              </a:rPr>
              <a:t>file</a:t>
            </a:r>
            <a:r>
              <a:rPr lang="id-ID" altLang="en-US" sz="1700" dirty="0">
                <a:solidFill>
                  <a:srgbClr val="1F2328"/>
                </a:solidFill>
              </a:rPr>
              <a:t> foto.</a:t>
            </a:r>
            <a:endParaRPr lang="id-ID" sz="1700" dirty="0"/>
          </a:p>
        </p:txBody>
      </p:sp>
      <p:sp>
        <p:nvSpPr>
          <p:cNvPr id="25" name="Shape 22"/>
          <p:cNvSpPr/>
          <p:nvPr/>
        </p:nvSpPr>
        <p:spPr>
          <a:xfrm>
            <a:off x="6607912" y="3166847"/>
            <a:ext cx="137160" cy="137160"/>
          </a:xfrm>
          <a:prstGeom prst="roundRect">
            <a:avLst>
              <a:gd name="adj" fmla="val 166667"/>
            </a:avLst>
          </a:prstGeom>
          <a:solidFill>
            <a:srgbClr val="1A7F37"/>
          </a:solidFill>
          <a:ln/>
        </p:spPr>
      </p:sp>
      <p:sp>
        <p:nvSpPr>
          <p:cNvPr id="26" name="Text 23"/>
          <p:cNvSpPr txBox="1"/>
          <p:nvPr/>
        </p:nvSpPr>
        <p:spPr>
          <a:xfrm>
            <a:off x="6937096" y="3103728"/>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Pengolahan data berupa aliran langkah: membaca, menyaring, lalu menjumlahkan.</a:t>
            </a:r>
            <a:endParaRPr lang="id-ID" sz="1700" dirty="0"/>
          </a:p>
        </p:txBody>
      </p:sp>
      <p:sp>
        <p:nvSpPr>
          <p:cNvPr id="27" name="Shape 24"/>
          <p:cNvSpPr/>
          <p:nvPr/>
        </p:nvSpPr>
        <p:spPr>
          <a:xfrm>
            <a:off x="6607912" y="3913099"/>
            <a:ext cx="137160" cy="137160"/>
          </a:xfrm>
          <a:prstGeom prst="roundRect">
            <a:avLst>
              <a:gd name="adj" fmla="val 166667"/>
            </a:avLst>
          </a:prstGeom>
          <a:solidFill>
            <a:srgbClr val="1A7F37"/>
          </a:solidFill>
          <a:ln/>
        </p:spPr>
      </p:sp>
      <p:sp>
        <p:nvSpPr>
          <p:cNvPr id="28" name="Text 25"/>
          <p:cNvSpPr txBox="1"/>
          <p:nvPr/>
        </p:nvSpPr>
        <p:spPr>
          <a:xfrm>
            <a:off x="6937096" y="3849980"/>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Rancangan berlebihan (</a:t>
            </a:r>
            <a:r>
              <a:rPr lang="id-ID" altLang="en-US" sz="1700" i="1" dirty="0">
                <a:solidFill>
                  <a:srgbClr val="1F2328"/>
                </a:solidFill>
              </a:rPr>
              <a:t>over-⁠engineering</a:t>
            </a:r>
            <a:r>
              <a:rPr lang="id-ID" altLang="en-US" sz="1700" dirty="0">
                <a:solidFill>
                  <a:srgbClr val="1F2328"/>
                </a:solidFill>
              </a:rPr>
              <a:t>): terlalu banyak kelas untuk masalah sederhana.</a:t>
            </a:r>
            <a:endParaRPr lang="id-ID" sz="1700" dirty="0"/>
          </a:p>
        </p:txBody>
      </p:sp>
      <p:sp>
        <p:nvSpPr>
          <p:cNvPr id="29" name="Shape 26"/>
          <p:cNvSpPr/>
          <p:nvPr/>
        </p:nvSpPr>
        <p:spPr>
          <a:xfrm>
            <a:off x="6607912" y="4659351"/>
            <a:ext cx="137160" cy="137160"/>
          </a:xfrm>
          <a:prstGeom prst="roundRect">
            <a:avLst>
              <a:gd name="adj" fmla="val 166667"/>
            </a:avLst>
          </a:prstGeom>
          <a:solidFill>
            <a:srgbClr val="1A7F37"/>
          </a:solidFill>
          <a:ln/>
        </p:spPr>
      </p:sp>
      <p:sp>
        <p:nvSpPr>
          <p:cNvPr id="30" name="Text 27"/>
          <p:cNvSpPr txBox="1"/>
          <p:nvPr/>
        </p:nvSpPr>
        <p:spPr>
          <a:xfrm>
            <a:off x="6937096" y="4596232"/>
            <a:ext cx="4431640" cy="572516"/>
          </a:xfrm>
          <a:prstGeom prst="rect">
            <a:avLst/>
          </a:prstGeom>
          <a:noFill/>
          <a:ln/>
        </p:spPr>
        <p:txBody>
          <a:bodyPr wrap="square" lIns="0" tIns="0" rIns="0" bIns="0" rtlCol="0" anchor="t"/>
          <a:lstStyle/>
          <a:p>
            <a:pPr indent="0" marL="0">
              <a:buNone/>
            </a:pPr>
            <a:r>
              <a:rPr lang="id-ID" altLang="en-US" sz="1700" dirty="0">
                <a:solidFill>
                  <a:srgbClr val="1F2328"/>
                </a:solidFill>
              </a:rPr>
              <a:t>Dalam praktik, paradigma sering </a:t>
            </a:r>
            <a:r>
              <a:rPr lang="id-ID" altLang="en-US" sz="1700" b="1" dirty="0">
                <a:solidFill>
                  <a:srgbClr val="1F2328"/>
                </a:solidFill>
              </a:rPr>
              <a:t>dicampur</a:t>
            </a:r>
            <a:r>
              <a:rPr lang="id-ID" altLang="en-US" sz="1700" dirty="0">
                <a:solidFill>
                  <a:srgbClr val="1F2328"/>
                </a:solidFill>
              </a:rPr>
              <a:t>: di dalam </a:t>
            </a:r>
            <a:r>
              <a:rPr lang="id-ID" altLang="en-US" sz="1700" i="1" dirty="0">
                <a:solidFill>
                  <a:srgbClr val="1F2328"/>
                </a:solidFill>
              </a:rPr>
              <a:t>method</a:t>
            </a:r>
            <a:r>
              <a:rPr lang="id-ID" altLang="en-US" sz="1700" dirty="0">
                <a:solidFill>
                  <a:srgbClr val="1F2328"/>
                </a:solidFill>
              </a:rPr>
              <a:t> tetap ada langkah prosedural.</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Dua Jalur dan Persiapan Alat</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Konsep yang sama, dua cara menulis. Pilih satu jalur utama: Python atau Java.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Alat dan Cek Instalasi</a:t>
            </a:r>
            <a:endParaRPr lang="id-ID"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1811"/>
          <a:ext cx="11094415" cy="914400"/>
        </p:xfrm>
        <a:graphic>
          <a:graphicData uri="http://schemas.openxmlformats.org/drawingml/2006/table">
            <a:tbl>
              <a:tblPr/>
              <a:tblGrid>
                <a:gridCol w="1662500"/>
                <a:gridCol w="5810946"/>
                <a:gridCol w="3620968"/>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Kebutuhan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Jalur Python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Jalur Java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Bahasa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Python 3.10 atau lebih baru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JDK (</a:t>
                      </a:r>
                      <a:r>
                        <a:rPr lang="id-ID" altLang="en-US" sz="2200" i="1" dirty="0">
                          <a:solidFill>
                            <a:srgbClr val="1F2328"/>
                          </a:solidFill>
                          <a:latin typeface="Calibri" pitchFamily="34" charset="0"/>
                          <a:ea typeface="Calibri" pitchFamily="34" charset="-122"/>
                          <a:cs typeface="Calibri" pitchFamily="34" charset="-120"/>
                        </a:rPr>
                        <a:t>Java Development Kit</a:t>
                      </a:r>
                      <a:r>
                        <a:rPr lang="id-ID" altLang="en-US" sz="2200" dirty="0">
                          <a:solidFill>
                            <a:srgbClr val="1F2328"/>
                          </a:solidFill>
                          <a:latin typeface="Calibri" pitchFamily="34" charset="0"/>
                          <a:ea typeface="Calibri" pitchFamily="34" charset="-122"/>
                          <a:cs typeface="Calibri" pitchFamily="34" charset="-120"/>
                        </a:rPr>
                        <a:t>) 17 atau lebih baru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Editor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VS Code + ekstensi Python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VS Code + Extension Pack for Java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Cek di terminal</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python --version</a:t>
                      </a:r>
                      <a:r>
                        <a:rPr lang="id-ID" altLang="en-US" sz="2200" dirty="0">
                          <a:solidFill>
                            <a:srgbClr val="1F2328"/>
                          </a:solidFill>
                          <a:latin typeface="Calibri" pitchFamily="34" charset="0"/>
                          <a:ea typeface="Calibri" pitchFamily="34" charset="-122"/>
                          <a:cs typeface="Calibri" pitchFamily="34" charset="-120"/>
                        </a:rPr>
                        <a:t> (macOS/Linux: </a:t>
                      </a:r>
                      <a:r>
                        <a:rPr lang="id-ID" altLang="en-US" sz="2200" dirty="0">
                          <a:solidFill>
                            <a:srgbClr val="0A3069"/>
                          </a:solidFill>
                          <a:latin typeface="Consolas" pitchFamily="34" charset="0"/>
                          <a:ea typeface="Consolas" pitchFamily="34" charset="-122"/>
                          <a:cs typeface="Consolas" pitchFamily="34" charset="-120"/>
                        </a:rPr>
                        <a:t>python3 --version</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java -version</a:t>
                      </a:r>
                      <a:r>
                        <a:rPr lang="id-ID" altLang="en-US" sz="2200" dirty="0">
                          <a:solidFill>
                            <a:srgbClr val="1F2328"/>
                          </a:solidFill>
                          <a:latin typeface="Calibri" pitchFamily="34" charset="0"/>
                          <a:ea typeface="Calibri" pitchFamily="34" charset="-122"/>
                          <a:cs typeface="Calibri" pitchFamily="34" charset="-120"/>
                        </a:rPr>
                        <a:t> lalu </a:t>
                      </a:r>
                      <a:r>
                        <a:rPr lang="id-ID" altLang="en-US" sz="2200" dirty="0">
                          <a:solidFill>
                            <a:srgbClr val="0A3069"/>
                          </a:solidFill>
                          <a:latin typeface="Consolas" pitchFamily="34" charset="0"/>
                          <a:ea typeface="Consolas" pitchFamily="34" charset="-122"/>
                          <a:cs typeface="Consolas" pitchFamily="34" charset="-120"/>
                        </a:rPr>
                        <a:t>javac -version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Hasil yang benar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nomor versi, misalnya </a:t>
                      </a:r>
                      <a:r>
                        <a:rPr lang="id-ID" altLang="en-US" sz="2200" dirty="0">
                          <a:solidFill>
                            <a:srgbClr val="0A3069"/>
                          </a:solidFill>
                          <a:latin typeface="Consolas" pitchFamily="34" charset="0"/>
                          <a:ea typeface="Consolas" pitchFamily="34" charset="-122"/>
                          <a:cs typeface="Consolas" pitchFamily="34" charset="-120"/>
                        </a:rPr>
                        <a:t>Python 3.12.4</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nomor versi 17 atau lebih, misalnya 17, 21, atau 25</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730911"/>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803331"/>
            <a:ext cx="184343" cy="184343"/>
          </a:xfrm>
          <a:prstGeom prst="rect">
            <a:avLst/>
          </a:prstGeom>
        </p:spPr>
      </p:pic>
      <p:sp>
        <p:nvSpPr>
          <p:cNvPr id="8" name="Text 3"/>
          <p:cNvSpPr txBox="1"/>
          <p:nvPr/>
        </p:nvSpPr>
        <p:spPr>
          <a:xfrm>
            <a:off x="1005840" y="5712623"/>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Ketik perintahnya di </a:t>
            </a:r>
            <a:r>
              <a:rPr lang="id-ID" altLang="en-US" sz="1800" b="1" dirty="0">
                <a:solidFill>
                  <a:srgbClr val="57606A"/>
                </a:solidFill>
              </a:rPr>
              <a:t>terminal</a:t>
            </a:r>
            <a:r>
              <a:rPr lang="id-ID" altLang="en-US" sz="1800" dirty="0">
                <a:solidFill>
                  <a:srgbClr val="57606A"/>
                </a:solidFill>
              </a:rPr>
              <a:t>, bukan di dalam </a:t>
            </a:r>
            <a:r>
              <a:rPr lang="id-ID" altLang="en-US" sz="1800" i="1" dirty="0">
                <a:solidFill>
                  <a:srgbClr val="57606A"/>
                </a:solidFill>
              </a:rPr>
              <a:t>file</a:t>
            </a:r>
            <a:r>
              <a:rPr lang="id-ID" altLang="en-US" sz="1800" dirty="0">
                <a:solidFill>
                  <a:srgbClr val="57606A"/>
                </a:solidFill>
              </a:rPr>
              <a:t>. Panduan pemasangan lengkap ada di folder 00-⁠Persiapan.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Tiga Tempat Mengetik</a:t>
            </a:r>
            <a:endParaRPr lang="id-ID" sz="3200" dirty="0"/>
          </a:p>
        </p:txBody>
      </p:sp>
      <p:pic>
        <p:nvPicPr>
          <p:cNvPr id="5" name="Image 1" descr="Perintah seperti python --version diketik di terminal, bukan di editor dan bukan setelah tanda &gt;&gt;&gt; atau jshell&gt;.">    </p:cNvPr>
          <p:cNvPicPr>
            <a:picLocks noChangeAspect="1"/>
          </p:cNvPicPr>
          <p:nvPr/>
        </p:nvPicPr>
        <p:blipFill>
          <a:blip r:embed="rId2"/>
          <a:stretch>
            <a:fillRect/>
          </a:stretch>
        </p:blipFill>
        <p:spPr>
          <a:xfrm>
            <a:off x="548640" y="1417320"/>
            <a:ext cx="11094415" cy="3781056"/>
          </a:xfrm>
          <a:prstGeom prst="rect">
            <a:avLst/>
          </a:prstGeom>
        </p:spPr>
      </p:pic>
      <p:sp>
        <p:nvSpPr>
          <p:cNvPr id="6" name="Text 2"/>
          <p:cNvSpPr txBox="1"/>
          <p:nvPr/>
        </p:nvSpPr>
        <p:spPr>
          <a:xfrm>
            <a:off x="1005840" y="5308104"/>
            <a:ext cx="10180015" cy="663956"/>
          </a:xfrm>
          <a:prstGeom prst="rect">
            <a:avLst/>
          </a:prstGeom>
          <a:noFill/>
          <a:ln/>
        </p:spPr>
        <p:txBody>
          <a:bodyPr wrap="square" lIns="0" tIns="0" rIns="0" bIns="0" rtlCol="0" anchor="t"/>
          <a:lstStyle/>
          <a:p>
            <a:pPr algn="ctr" indent="0" marL="0">
              <a:buNone/>
            </a:pPr>
            <a:r>
              <a:rPr lang="id-ID" altLang="en-US" sz="1700" dirty="0">
                <a:solidFill>
                  <a:srgbClr val="57606A"/>
                </a:solidFill>
              </a:rPr>
              <a:t>Perintah seperti </a:t>
            </a:r>
            <a:r>
              <a:rPr lang="id-ID" altLang="en-US" sz="1700" dirty="0">
                <a:solidFill>
                  <a:srgbClr val="57606A"/>
                </a:solidFill>
                <a:latin typeface="Consolas" pitchFamily="34" charset="0"/>
                <a:ea typeface="Consolas" pitchFamily="34" charset="-122"/>
                <a:cs typeface="Consolas" pitchFamily="34" charset="-120"/>
              </a:rPr>
              <a:t>python --version</a:t>
            </a:r>
            <a:r>
              <a:rPr lang="id-ID" altLang="en-US" sz="1700" dirty="0">
                <a:solidFill>
                  <a:srgbClr val="57606A"/>
                </a:solidFill>
              </a:rPr>
              <a:t> diketik di </a:t>
            </a:r>
            <a:r>
              <a:rPr lang="id-ID" altLang="en-US" sz="1700" b="1" dirty="0">
                <a:solidFill>
                  <a:srgbClr val="57606A"/>
                </a:solidFill>
              </a:rPr>
              <a:t>terminal</a:t>
            </a:r>
            <a:r>
              <a:rPr lang="id-ID" altLang="en-US" sz="1700" dirty="0">
                <a:solidFill>
                  <a:srgbClr val="57606A"/>
                </a:solidFill>
              </a:rPr>
              <a:t>, bukan di editor dan bukan setelah tanda </a:t>
            </a:r>
            <a:r>
              <a:rPr lang="id-ID" altLang="en-US" sz="1700" dirty="0">
                <a:solidFill>
                  <a:srgbClr val="57606A"/>
                </a:solidFill>
                <a:latin typeface="Consolas" pitchFamily="34" charset="0"/>
                <a:ea typeface="Consolas" pitchFamily="34" charset="-122"/>
                <a:cs typeface="Consolas" pitchFamily="34" charset="-120"/>
              </a:rPr>
              <a:t>&gt;&gt;&gt;</a:t>
            </a:r>
            <a:r>
              <a:rPr lang="id-ID" altLang="en-US" sz="1700" dirty="0">
                <a:solidFill>
                  <a:srgbClr val="57606A"/>
                </a:solidFill>
              </a:rPr>
              <a:t> atau </a:t>
            </a:r>
            <a:r>
              <a:rPr lang="id-ID" altLang="en-US" sz="1700" dirty="0">
                <a:solidFill>
                  <a:srgbClr val="57606A"/>
                </a:solidFill>
                <a:latin typeface="Consolas" pitchFamily="34" charset="0"/>
                <a:ea typeface="Consolas" pitchFamily="34" charset="-122"/>
                <a:cs typeface="Consolas" pitchFamily="34" charset="-120"/>
              </a:rPr>
              <a:t>jshell&gt;</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Menjalankan Program Pertama</a:t>
            </a:r>
            <a:endParaRPr lang="id-ID" sz="3200" dirty="0"/>
          </a:p>
        </p:txBody>
      </p:sp>
      <p:sp>
        <p:nvSpPr>
          <p:cNvPr id="5" name="Text 2"/>
          <p:cNvSpPr txBox="1"/>
          <p:nvPr/>
        </p:nvSpPr>
        <p:spPr>
          <a:xfrm>
            <a:off x="548640" y="1739326"/>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Jalankan dengan tombol </a:t>
            </a:r>
            <a:r>
              <a:rPr lang="id-ID" altLang="en-US" sz="1800" b="1" dirty="0">
                <a:solidFill>
                  <a:srgbClr val="57606A"/>
                </a:solidFill>
              </a:rPr>
              <a:t>Run</a:t>
            </a:r>
            <a:r>
              <a:rPr lang="id-ID" altLang="en-US" sz="1800" dirty="0">
                <a:solidFill>
                  <a:srgbClr val="57606A"/>
                </a:solidFill>
              </a:rPr>
              <a:t> di VS Code, atau di terminal: </a:t>
            </a:r>
            <a:r>
              <a:rPr lang="id-ID" altLang="en-US" sz="1800" dirty="0">
                <a:solidFill>
                  <a:srgbClr val="0A3069"/>
                </a:solidFill>
                <a:latin typeface="Consolas" pitchFamily="34" charset="0"/>
                <a:ea typeface="Consolas" pitchFamily="34" charset="-122"/>
                <a:cs typeface="Consolas" pitchFamily="34" charset="-120"/>
              </a:rPr>
              <a:t>python contoh01_halo.py</a:t>
            </a:r>
            <a:r>
              <a:rPr lang="id-ID" altLang="en-US" sz="1800" dirty="0">
                <a:solidFill>
                  <a:srgbClr val="57606A"/>
                </a:solidFill>
              </a:rPr>
              <a:t> dan </a:t>
            </a:r>
            <a:r>
              <a:rPr lang="id-ID" altLang="en-US" sz="1800" dirty="0">
                <a:solidFill>
                  <a:srgbClr val="0A3069"/>
                </a:solidFill>
                <a:latin typeface="Consolas" pitchFamily="34" charset="0"/>
                <a:ea typeface="Consolas" pitchFamily="34" charset="-122"/>
                <a:cs typeface="Consolas" pitchFamily="34" charset="-120"/>
              </a:rPr>
              <a:t>java Contoh01Halo.java</a:t>
            </a:r>
            <a:r>
              <a:rPr lang="id-ID" altLang="en-US" sz="1800" dirty="0">
                <a:solidFill>
                  <a:srgbClr val="57606A"/>
                </a:solidFill>
              </a:rPr>
              <a:t>.</a:t>
            </a:r>
            <a:endParaRPr lang="id-ID" sz="1800" dirty="0"/>
          </a:p>
        </p:txBody>
      </p:sp>
      <p:sp>
        <p:nvSpPr>
          <p:cNvPr id="6" name="Shape 3"/>
          <p:cNvSpPr/>
          <p:nvPr/>
        </p:nvSpPr>
        <p:spPr>
          <a:xfrm>
            <a:off x="548640" y="2452558"/>
            <a:ext cx="1051560" cy="329184"/>
          </a:xfrm>
          <a:prstGeom prst="roundRect">
            <a:avLst>
              <a:gd name="adj" fmla="val 138889"/>
            </a:avLst>
          </a:prstGeom>
          <a:solidFill>
            <a:srgbClr val="3572A5"/>
          </a:solidFill>
          <a:ln/>
        </p:spPr>
      </p:sp>
      <p:sp>
        <p:nvSpPr>
          <p:cNvPr id="7" name="Text 4"/>
          <p:cNvSpPr txBox="1"/>
          <p:nvPr/>
        </p:nvSpPr>
        <p:spPr>
          <a:xfrm>
            <a:off x="548640" y="245255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45255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python/contoh/contoh01_halo.py</a:t>
            </a:r>
            <a:endParaRPr lang="id-ID" sz="1100" dirty="0"/>
          </a:p>
        </p:txBody>
      </p:sp>
      <p:sp>
        <p:nvSpPr>
          <p:cNvPr id="9" name="Shape 6"/>
          <p:cNvSpPr/>
          <p:nvPr/>
        </p:nvSpPr>
        <p:spPr>
          <a:xfrm>
            <a:off x="548640" y="2873182"/>
            <a:ext cx="5432908" cy="1694688"/>
          </a:xfrm>
          <a:prstGeom prst="roundRect">
            <a:avLst>
              <a:gd name="adj" fmla="val 2911"/>
            </a:avLst>
          </a:prstGeom>
          <a:solidFill>
            <a:srgbClr val="F6F8FA"/>
          </a:solidFill>
          <a:ln w="9525">
            <a:solidFill>
              <a:srgbClr val="D0D7DE"/>
            </a:solidFill>
            <a:prstDash val="solid"/>
          </a:ln>
        </p:spPr>
      </p:sp>
      <p:sp>
        <p:nvSpPr>
          <p:cNvPr id="10" name="Text 7"/>
          <p:cNvSpPr txBox="1"/>
          <p:nvPr/>
        </p:nvSpPr>
        <p:spPr>
          <a:xfrm>
            <a:off x="658368" y="2964622"/>
            <a:ext cx="5213452" cy="1511808"/>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main</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print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A3069"/>
                </a:solidFill>
                <a:latin typeface="Consolas" pitchFamily="34" charset="0"/>
                <a:ea typeface="Consolas" pitchFamily="34" charset="-122"/>
                <a:cs typeface="Consolas" pitchFamily="34" charset="-120"/>
              </a:rPr>
              <a:t>"=== PROGRAM PERTAMAKU ==="</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print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A3069"/>
                </a:solidFill>
                <a:latin typeface="Consolas" pitchFamily="34" charset="0"/>
                <a:ea typeface="Consolas" pitchFamily="34" charset="-122"/>
                <a:cs typeface="Consolas" pitchFamily="34" charset="-120"/>
              </a:rPr>
              <a:t>"Halo, Samarinda!"</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if</a:t>
            </a:r>
            <a:r>
              <a:rPr lang="en-US" altLang="en-US" sz="1200" dirty="0">
                <a:solidFill>
                  <a:srgbClr val="1F2328"/>
                </a:solidFill>
                <a:latin typeface="Consolas" pitchFamily="34" charset="0"/>
                <a:ea typeface="Consolas" pitchFamily="34" charset="-122"/>
                <a:cs typeface="Consolas" pitchFamily="34" charset="-120"/>
              </a:rPr>
              <a:t> __name__ == </a:t>
            </a:r>
            <a:r>
              <a:rPr lang="en-US" altLang="en-US" sz="1200" dirty="0">
                <a:solidFill>
                  <a:srgbClr val="0A3069"/>
                </a:solidFill>
                <a:latin typeface="Consolas" pitchFamily="34" charset="0"/>
                <a:ea typeface="Consolas" pitchFamily="34" charset="-122"/>
                <a:cs typeface="Consolas" pitchFamily="34" charset="-120"/>
              </a:rPr>
              <a:t>"__main__"</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main()</a:t>
            </a:r>
            <a:endParaRPr lang="en-US" sz="1200" dirty="0"/>
          </a:p>
        </p:txBody>
      </p:sp>
      <p:sp>
        <p:nvSpPr>
          <p:cNvPr id="11" name="Shape 8"/>
          <p:cNvSpPr/>
          <p:nvPr/>
        </p:nvSpPr>
        <p:spPr>
          <a:xfrm>
            <a:off x="6210148" y="2452558"/>
            <a:ext cx="1051560" cy="329184"/>
          </a:xfrm>
          <a:prstGeom prst="roundRect">
            <a:avLst>
              <a:gd name="adj" fmla="val 138889"/>
            </a:avLst>
          </a:prstGeom>
          <a:solidFill>
            <a:srgbClr val="B07219"/>
          </a:solidFill>
          <a:ln/>
        </p:spPr>
      </p:sp>
      <p:sp>
        <p:nvSpPr>
          <p:cNvPr id="12" name="Text 9"/>
          <p:cNvSpPr txBox="1"/>
          <p:nvPr/>
        </p:nvSpPr>
        <p:spPr>
          <a:xfrm>
            <a:off x="6210148" y="245255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45255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java/contoh/Contoh01Halo.java</a:t>
            </a:r>
            <a:endParaRPr lang="id-ID" sz="1100" dirty="0"/>
          </a:p>
        </p:txBody>
      </p:sp>
      <p:sp>
        <p:nvSpPr>
          <p:cNvPr id="14" name="Shape 11"/>
          <p:cNvSpPr/>
          <p:nvPr/>
        </p:nvSpPr>
        <p:spPr>
          <a:xfrm>
            <a:off x="6210148" y="2873182"/>
            <a:ext cx="5432908" cy="1694688"/>
          </a:xfrm>
          <a:prstGeom prst="roundRect">
            <a:avLst>
              <a:gd name="adj" fmla="val 2911"/>
            </a:avLst>
          </a:prstGeom>
          <a:solidFill>
            <a:srgbClr val="F6F8FA"/>
          </a:solidFill>
          <a:ln w="9525">
            <a:solidFill>
              <a:srgbClr val="D0D7DE"/>
            </a:solidFill>
            <a:prstDash val="solid"/>
          </a:ln>
        </p:spPr>
      </p:sp>
      <p:sp>
        <p:nvSpPr>
          <p:cNvPr id="15" name="Text 12"/>
          <p:cNvSpPr txBox="1"/>
          <p:nvPr/>
        </p:nvSpPr>
        <p:spPr>
          <a:xfrm>
            <a:off x="6319876" y="2964622"/>
            <a:ext cx="5213452" cy="1511808"/>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Contoh01Halo</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static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void</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main</a:t>
            </a:r>
            <a:r>
              <a:rPr lang="en-US" altLang="en-US" sz="1200" dirty="0">
                <a:solidFill>
                  <a:srgbClr val="1F2328"/>
                </a:solidFill>
                <a:latin typeface="Consolas" pitchFamily="34" charset="0"/>
                <a:ea typeface="Consolas" pitchFamily="34" charset="-122"/>
                <a:cs typeface="Consolas" pitchFamily="34" charset="-120"/>
              </a:rPr>
              <a:t>(String[] args)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System.out.println(</a:t>
            </a:r>
            <a:r>
              <a:rPr lang="en-US" altLang="en-US" sz="1200" dirty="0">
                <a:solidFill>
                  <a:srgbClr val="0A3069"/>
                </a:solidFill>
                <a:latin typeface="Consolas" pitchFamily="34" charset="0"/>
                <a:ea typeface="Consolas" pitchFamily="34" charset="-122"/>
                <a:cs typeface="Consolas" pitchFamily="34" charset="-120"/>
              </a:rPr>
              <a:t>"=== PROGRAM PERTAMAKU ==="</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System.out.println(</a:t>
            </a:r>
            <a:r>
              <a:rPr lang="en-US" altLang="en-US" sz="1200" dirty="0">
                <a:solidFill>
                  <a:srgbClr val="0A3069"/>
                </a:solidFill>
                <a:latin typeface="Consolas" pitchFamily="34" charset="0"/>
                <a:ea typeface="Consolas" pitchFamily="34" charset="-122"/>
                <a:cs typeface="Consolas" pitchFamily="34" charset="-120"/>
              </a:rPr>
              <a:t>"Halo, Samarinda!"</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16" name="Shape 13"/>
          <p:cNvSpPr/>
          <p:nvPr/>
        </p:nvSpPr>
        <p:spPr>
          <a:xfrm>
            <a:off x="548640" y="4796470"/>
            <a:ext cx="11094415" cy="895350"/>
          </a:xfrm>
          <a:prstGeom prst="roundRect">
            <a:avLst>
              <a:gd name="adj" fmla="val 10430"/>
            </a:avLst>
          </a:prstGeom>
          <a:solidFill>
            <a:srgbClr val="0D1117"/>
          </a:solidFill>
          <a:ln/>
        </p:spPr>
      </p:sp>
      <p:sp>
        <p:nvSpPr>
          <p:cNvPr id="17" name="Shape 14"/>
          <p:cNvSpPr/>
          <p:nvPr/>
        </p:nvSpPr>
        <p:spPr>
          <a:xfrm>
            <a:off x="713232" y="4924486"/>
            <a:ext cx="960120" cy="292608"/>
          </a:xfrm>
          <a:prstGeom prst="roundRect">
            <a:avLst>
              <a:gd name="adj" fmla="val 156250"/>
            </a:avLst>
          </a:prstGeom>
          <a:solidFill>
            <a:srgbClr val="30363D"/>
          </a:solidFill>
          <a:ln/>
        </p:spPr>
      </p:sp>
      <p:sp>
        <p:nvSpPr>
          <p:cNvPr id="18" name="Text 15"/>
          <p:cNvSpPr txBox="1"/>
          <p:nvPr/>
        </p:nvSpPr>
        <p:spPr>
          <a:xfrm>
            <a:off x="713232" y="4924486"/>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19" name="Text 16"/>
          <p:cNvSpPr txBox="1"/>
          <p:nvPr/>
        </p:nvSpPr>
        <p:spPr>
          <a:xfrm>
            <a:off x="1828800" y="4924486"/>
            <a:ext cx="9631375" cy="675894"/>
          </a:xfrm>
          <a:prstGeom prst="rect">
            <a:avLst/>
          </a:prstGeom>
          <a:noFill/>
          <a:ln/>
        </p:spPr>
        <p:txBody>
          <a:bodyPr wrap="square" lIns="0" tIns="0" rIns="0" bIns="0" rtlCol="0" anchor="t"/>
          <a:lstStyle/>
          <a:p>
            <a:pPr indent="0" marL="0">
              <a:buNone/>
            </a:pPr>
            <a:r>
              <a:rPr lang="en-US" altLang="en-US" sz="1300" dirty="0">
                <a:solidFill>
                  <a:srgbClr val="E6EDF3"/>
                </a:solidFill>
                <a:latin typeface="Consolas" pitchFamily="34" charset="0"/>
                <a:ea typeface="Consolas" pitchFamily="34" charset="-122"/>
                <a:cs typeface="Consolas" pitchFamily="34" charset="-120"/>
              </a:rPr>
              <a:t>=== PROGRAM PERTAMAKU ===</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Halo, Samarinda!</a:t>
            </a:r>
            <a:endParaRPr lang="en-US" sz="1300" dirty="0"/>
          </a:p>
          <a:p>
            <a:pPr indent="0" marL="0">
              <a:buNone/>
            </a:pPr>
            <a:r>
              <a:rPr lang="en-US" alt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Simpan Latihan di Folder Sendiri</a:t>
            </a:r>
            <a:endParaRPr lang="id-ID" sz="3200" dirty="0"/>
          </a:p>
        </p:txBody>
      </p:sp>
      <p:pic>
        <p:nvPicPr>
          <p:cNvPr id="5" name="Image 1" descr="Folder materi hanya dibaca. Salin file contoh ke PBO-latihan-saya/pertemuan-01/, lalu ubah dan jalankan di sana.">    </p:cNvPr>
          <p:cNvPicPr>
            <a:picLocks noChangeAspect="1"/>
          </p:cNvPicPr>
          <p:nvPr/>
        </p:nvPicPr>
        <p:blipFill>
          <a:blip r:embed="rId2"/>
          <a:stretch>
            <a:fillRect/>
          </a:stretch>
        </p:blipFill>
        <p:spPr>
          <a:xfrm>
            <a:off x="1806791" y="1417320"/>
            <a:ext cx="8578113" cy="4072636"/>
          </a:xfrm>
          <a:prstGeom prst="rect">
            <a:avLst/>
          </a:prstGeom>
        </p:spPr>
      </p:pic>
      <p:sp>
        <p:nvSpPr>
          <p:cNvPr id="6" name="Text 2"/>
          <p:cNvSpPr txBox="1"/>
          <p:nvPr/>
        </p:nvSpPr>
        <p:spPr>
          <a:xfrm>
            <a:off x="1005840" y="5599684"/>
            <a:ext cx="10180015" cy="663956"/>
          </a:xfrm>
          <a:prstGeom prst="rect">
            <a:avLst/>
          </a:prstGeom>
          <a:noFill/>
          <a:ln/>
        </p:spPr>
        <p:txBody>
          <a:bodyPr wrap="square" lIns="0" tIns="0" rIns="0" bIns="0" rtlCol="0" anchor="t"/>
          <a:lstStyle/>
          <a:p>
            <a:pPr algn="ctr" indent="0" marL="0">
              <a:buNone/>
            </a:pPr>
            <a:r>
              <a:rPr lang="id-ID" altLang="en-US" sz="1700" dirty="0">
                <a:solidFill>
                  <a:srgbClr val="57606A"/>
                </a:solidFill>
              </a:rPr>
              <a:t>Folder materi hanya dibaca. Salin </a:t>
            </a:r>
            <a:r>
              <a:rPr lang="id-ID" altLang="en-US" sz="1700" i="1" dirty="0">
                <a:solidFill>
                  <a:srgbClr val="57606A"/>
                </a:solidFill>
              </a:rPr>
              <a:t>file</a:t>
            </a:r>
            <a:r>
              <a:rPr lang="id-ID" altLang="en-US" sz="1700" dirty="0">
                <a:solidFill>
                  <a:srgbClr val="57606A"/>
                </a:solidFill>
              </a:rPr>
              <a:t> contoh ke </a:t>
            </a:r>
            <a:r>
              <a:rPr lang="id-ID" altLang="en-US" sz="1700" dirty="0">
                <a:solidFill>
                  <a:srgbClr val="57606A"/>
                </a:solidFill>
                <a:latin typeface="Consolas" pitchFamily="34" charset="0"/>
                <a:ea typeface="Consolas" pitchFamily="34" charset="-122"/>
                <a:cs typeface="Consolas" pitchFamily="34" charset="-120"/>
              </a:rPr>
              <a:t>PBO-latihan-saya/pertemuan-01/</a:t>
            </a:r>
            <a:r>
              <a:rPr lang="id-ID" altLang="en-US" sz="1700" dirty="0">
                <a:solidFill>
                  <a:srgbClr val="57606A"/>
                </a:solidFill>
              </a:rPr>
              <a:t>, lalu ubah dan jalankan di sana.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Dua program dengan skenario sama, berbeda cara menyimpan data.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Versi Prosedural: Hanya Nama yang Diurutkan</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636166"/>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Data menu ada di tiga </a:t>
            </a:r>
            <a:r>
              <a:rPr lang="id-ID" altLang="en-US" sz="1800" i="1" dirty="0">
                <a:solidFill>
                  <a:srgbClr val="57606A"/>
                </a:solidFill>
              </a:rPr>
              <a:t>list</a:t>
            </a:r>
            <a:r>
              <a:rPr lang="id-ID" altLang="en-US" sz="1800" dirty="0">
                <a:solidFill>
                  <a:srgbClr val="57606A"/>
                </a:solidFill>
              </a:rPr>
              <a:t>/</a:t>
            </a:r>
            <a:r>
              <a:rPr lang="id-ID" altLang="en-US" sz="1800" i="1" dirty="0">
                <a:solidFill>
                  <a:srgbClr val="57606A"/>
                </a:solidFill>
              </a:rPr>
              <a:t>array</a:t>
            </a:r>
            <a:r>
              <a:rPr lang="id-ID" altLang="en-US" sz="1800" dirty="0">
                <a:solidFill>
                  <a:srgbClr val="57606A"/>
                </a:solidFill>
              </a:rPr>
              <a:t> paralel. Yang diurutkan hanya daftar nama; harga dan stok tetap di tempatnya.</a:t>
            </a:r>
            <a:endParaRPr lang="id-ID" sz="1800" dirty="0"/>
          </a:p>
        </p:txBody>
      </p:sp>
      <p:sp>
        <p:nvSpPr>
          <p:cNvPr id="8" name="Shape 5"/>
          <p:cNvSpPr/>
          <p:nvPr/>
        </p:nvSpPr>
        <p:spPr>
          <a:xfrm>
            <a:off x="548640" y="2070506"/>
            <a:ext cx="1051560" cy="329184"/>
          </a:xfrm>
          <a:prstGeom prst="roundRect">
            <a:avLst>
              <a:gd name="adj" fmla="val 138889"/>
            </a:avLst>
          </a:prstGeom>
          <a:solidFill>
            <a:srgbClr val="3572A5"/>
          </a:solidFill>
          <a:ln/>
        </p:spPr>
      </p:sp>
      <p:sp>
        <p:nvSpPr>
          <p:cNvPr id="9" name="Text 6"/>
          <p:cNvSpPr txBox="1"/>
          <p:nvPr/>
        </p:nvSpPr>
        <p:spPr>
          <a:xfrm>
            <a:off x="548640" y="207050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07050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python/studi-kasus/kedaikita_prosedural.py</a:t>
            </a:r>
            <a:endParaRPr lang="id-ID" sz="1100" dirty="0"/>
          </a:p>
        </p:txBody>
      </p:sp>
      <p:sp>
        <p:nvSpPr>
          <p:cNvPr id="11" name="Shape 8"/>
          <p:cNvSpPr/>
          <p:nvPr/>
        </p:nvSpPr>
        <p:spPr>
          <a:xfrm>
            <a:off x="548640" y="2491130"/>
            <a:ext cx="5432908" cy="1904492"/>
          </a:xfrm>
          <a:prstGeom prst="roundRect">
            <a:avLst>
              <a:gd name="adj" fmla="val 2305"/>
            </a:avLst>
          </a:prstGeom>
          <a:solidFill>
            <a:srgbClr val="F6F8FA"/>
          </a:solidFill>
          <a:ln w="9525">
            <a:solidFill>
              <a:srgbClr val="D0D7DE"/>
            </a:solidFill>
            <a:prstDash val="solid"/>
          </a:ln>
        </p:spPr>
      </p:sp>
      <p:sp>
        <p:nvSpPr>
          <p:cNvPr id="12" name="Text 9"/>
          <p:cNvSpPr txBox="1"/>
          <p:nvPr/>
        </p:nvSpPr>
        <p:spPr>
          <a:xfrm>
            <a:off x="658368" y="2582570"/>
            <a:ext cx="5213452" cy="1721612"/>
          </a:xfrm>
          <a:prstGeom prst="rect">
            <a:avLst/>
          </a:prstGeom>
          <a:noFill/>
          <a:ln/>
        </p:spPr>
        <p:txBody>
          <a:bodyPr wrap="square" lIns="0" tIns="0" rIns="0" bIns="0" rtlCol="0" anchor="t"/>
          <a:lstStyle/>
          <a:p>
            <a:pPr indent="0" marL="0">
              <a:buNone/>
            </a:pPr>
            <a:r>
              <a:rPr lang="en-US" altLang="en-US" sz="1100" i="1" dirty="0">
                <a:solidFill>
                  <a:srgbClr val="6E7781"/>
                </a:solidFill>
                <a:latin typeface="Consolas" pitchFamily="34" charset="0"/>
                <a:ea typeface="Consolas" pitchFamily="34" charset="-122"/>
                <a:cs typeface="Consolas" pitchFamily="34" charset="-120"/>
              </a:rPr>
              <a:t># ... nama_menu berisi tiga nama menu</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harga_menu = [</a:t>
            </a:r>
            <a:r>
              <a:rPr lang="en-US" altLang="en-US" sz="1100" dirty="0">
                <a:solidFill>
                  <a:srgbClr val="0550AE"/>
                </a:solidFill>
                <a:latin typeface="Consolas" pitchFamily="34" charset="0"/>
                <a:ea typeface="Consolas" pitchFamily="34" charset="-122"/>
                <a:cs typeface="Consolas" pitchFamily="34" charset="-120"/>
              </a:rPr>
              <a:t>18000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25000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8000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stok_menu = [</a:t>
            </a:r>
            <a:r>
              <a:rPr lang="en-US" altLang="en-US" sz="1100" dirty="0">
                <a:solidFill>
                  <a:srgbClr val="0550AE"/>
                </a:solidFill>
                <a:latin typeface="Consolas" pitchFamily="34" charset="0"/>
                <a:ea typeface="Consolas" pitchFamily="34" charset="-122"/>
                <a:cs typeface="Consolas" pitchFamily="34" charset="-120"/>
              </a:rPr>
              <a:t>20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15</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pesanan_budi = [(</a:t>
            </a:r>
            <a:r>
              <a:rPr lang="en-US" altLang="en-US" sz="1100" dirty="0">
                <a:solidFill>
                  <a:srgbClr val="0550AE"/>
                </a:solidFill>
                <a:latin typeface="Consolas" pitchFamily="34" charset="0"/>
                <a:ea typeface="Consolas" pitchFamily="34" charset="-122"/>
                <a:cs typeface="Consolas" pitchFamily="34" charset="-120"/>
              </a:rPr>
              <a:t>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total = hitung_total(pesanan_budi)</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"Mengurutkan nama menu sesuai abjad..."</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nama_menu.sort()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tampilkan_menu()</a:t>
            </a:r>
            <a:endParaRPr lang="en-US" sz="1100" dirty="0"/>
          </a:p>
        </p:txBody>
      </p:sp>
      <p:sp>
        <p:nvSpPr>
          <p:cNvPr id="13" name="Shape 10"/>
          <p:cNvSpPr/>
          <p:nvPr/>
        </p:nvSpPr>
        <p:spPr>
          <a:xfrm>
            <a:off x="6210148" y="2070506"/>
            <a:ext cx="1051560" cy="329184"/>
          </a:xfrm>
          <a:prstGeom prst="roundRect">
            <a:avLst>
              <a:gd name="adj" fmla="val 138889"/>
            </a:avLst>
          </a:prstGeom>
          <a:solidFill>
            <a:srgbClr val="B07219"/>
          </a:solidFill>
          <a:ln/>
        </p:spPr>
      </p:sp>
      <p:sp>
        <p:nvSpPr>
          <p:cNvPr id="14" name="Text 11"/>
          <p:cNvSpPr txBox="1"/>
          <p:nvPr/>
        </p:nvSpPr>
        <p:spPr>
          <a:xfrm>
            <a:off x="6210148" y="207050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07050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java/studi-kasus/KedaiKitaProsedural.java</a:t>
            </a:r>
            <a:endParaRPr lang="id-ID" sz="1100" dirty="0"/>
          </a:p>
        </p:txBody>
      </p:sp>
      <p:sp>
        <p:nvSpPr>
          <p:cNvPr id="16" name="Shape 13"/>
          <p:cNvSpPr/>
          <p:nvPr/>
        </p:nvSpPr>
        <p:spPr>
          <a:xfrm>
            <a:off x="6210148" y="2491130"/>
            <a:ext cx="5432908" cy="1904492"/>
          </a:xfrm>
          <a:prstGeom prst="roundRect">
            <a:avLst>
              <a:gd name="adj" fmla="val 2305"/>
            </a:avLst>
          </a:prstGeom>
          <a:solidFill>
            <a:srgbClr val="F6F8FA"/>
          </a:solidFill>
          <a:ln w="9525">
            <a:solidFill>
              <a:srgbClr val="D0D7DE"/>
            </a:solidFill>
            <a:prstDash val="solid"/>
          </a:ln>
        </p:spPr>
      </p:sp>
      <p:sp>
        <p:nvSpPr>
          <p:cNvPr id="17" name="Text 14"/>
          <p:cNvSpPr txBox="1"/>
          <p:nvPr/>
        </p:nvSpPr>
        <p:spPr>
          <a:xfrm>
            <a:off x="6319876" y="2582570"/>
            <a:ext cx="5213452" cy="1721612"/>
          </a:xfrm>
          <a:prstGeom prst="rect">
            <a:avLst/>
          </a:prstGeom>
          <a:noFill/>
          <a:ln/>
        </p:spPr>
        <p:txBody>
          <a:bodyPr wrap="square" lIns="0" tIns="0" rIns="0" bIns="0" rtlCol="0" anchor="t"/>
          <a:lstStyle/>
          <a:p>
            <a:pPr indent="0" marL="0">
              <a:buNone/>
            </a:pPr>
            <a:r>
              <a:rPr lang="en-US" altLang="en-US" sz="1100" i="1" dirty="0">
                <a:solidFill>
                  <a:srgbClr val="6E7781"/>
                </a:solidFill>
                <a:latin typeface="Consolas" pitchFamily="34" charset="0"/>
                <a:ea typeface="Consolas" pitchFamily="34" charset="-122"/>
                <a:cs typeface="Consolas" pitchFamily="34" charset="-120"/>
              </a:rPr>
              <a:t>// ... namaMenu berisi tiga nama menu</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hargaMenu = {</a:t>
            </a:r>
            <a:r>
              <a:rPr lang="en-US" altLang="en-US" sz="1100" dirty="0">
                <a:solidFill>
                  <a:srgbClr val="0550AE"/>
                </a:solidFill>
                <a:latin typeface="Consolas" pitchFamily="34" charset="0"/>
                <a:ea typeface="Consolas" pitchFamily="34" charset="-122"/>
                <a:cs typeface="Consolas" pitchFamily="34" charset="-120"/>
              </a:rPr>
              <a:t>18000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25000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8000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static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stokMenu = {</a:t>
            </a:r>
            <a:r>
              <a:rPr lang="en-US" altLang="en-US" sz="1100" dirty="0">
                <a:solidFill>
                  <a:srgbClr val="0550AE"/>
                </a:solidFill>
                <a:latin typeface="Consolas" pitchFamily="34" charset="0"/>
                <a:ea typeface="Consolas" pitchFamily="34" charset="-122"/>
                <a:cs typeface="Consolas" pitchFamily="34" charset="-120"/>
              </a:rPr>
              <a:t>20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15</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pesananBudi = {{</a:t>
            </a:r>
            <a:r>
              <a:rPr lang="en-US" altLang="en-US" sz="1100" dirty="0">
                <a:solidFill>
                  <a:srgbClr val="0550AE"/>
                </a:solidFill>
                <a:latin typeface="Consolas" pitchFamily="34" charset="0"/>
                <a:ea typeface="Consolas" pitchFamily="34" charset="-122"/>
                <a:cs typeface="Consolas" pitchFamily="34" charset="-120"/>
              </a:rPr>
              <a:t>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total = hitungTotal(pesananBudi);</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System.out.println(</a:t>
            </a:r>
            <a:r>
              <a:rPr lang="en-US" altLang="en-US" sz="1100" dirty="0">
                <a:solidFill>
                  <a:srgbClr val="0A3069"/>
                </a:solidFill>
                <a:latin typeface="Consolas" pitchFamily="34" charset="0"/>
                <a:ea typeface="Consolas" pitchFamily="34" charset="-122"/>
                <a:cs typeface="Consolas" pitchFamily="34" charset="-120"/>
              </a:rPr>
              <a:t>"Mengurutkan nama menu sesuai abjad..."</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Arrays.sort(namaMenu);</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tampilkanMenu();</a:t>
            </a:r>
            <a:endParaRPr lang="en-US" sz="1100" dirty="0"/>
          </a:p>
        </p:txBody>
      </p:sp>
      <p:sp>
        <p:nvSpPr>
          <p:cNvPr id="18" name="Shape 15"/>
          <p:cNvSpPr/>
          <p:nvPr/>
        </p:nvSpPr>
        <p:spPr>
          <a:xfrm>
            <a:off x="548640" y="4624222"/>
            <a:ext cx="11094415" cy="1210056"/>
          </a:xfrm>
          <a:prstGeom prst="roundRect">
            <a:avLst>
              <a:gd name="adj" fmla="val 5710"/>
            </a:avLst>
          </a:prstGeom>
          <a:solidFill>
            <a:srgbClr val="0D1117"/>
          </a:solidFill>
          <a:ln/>
        </p:spPr>
      </p:sp>
      <p:sp>
        <p:nvSpPr>
          <p:cNvPr id="19" name="Shape 16"/>
          <p:cNvSpPr/>
          <p:nvPr/>
        </p:nvSpPr>
        <p:spPr>
          <a:xfrm>
            <a:off x="713232" y="4752238"/>
            <a:ext cx="960120" cy="292608"/>
          </a:xfrm>
          <a:prstGeom prst="roundRect">
            <a:avLst>
              <a:gd name="adj" fmla="val 156250"/>
            </a:avLst>
          </a:prstGeom>
          <a:solidFill>
            <a:srgbClr val="30363D"/>
          </a:solidFill>
          <a:ln/>
        </p:spPr>
      </p:sp>
      <p:sp>
        <p:nvSpPr>
          <p:cNvPr id="20" name="Text 17"/>
          <p:cNvSpPr txBox="1"/>
          <p:nvPr/>
        </p:nvSpPr>
        <p:spPr>
          <a:xfrm>
            <a:off x="713232" y="4752238"/>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21" name="Text 18"/>
          <p:cNvSpPr txBox="1"/>
          <p:nvPr/>
        </p:nvSpPr>
        <p:spPr>
          <a:xfrm>
            <a:off x="1828800" y="4752238"/>
            <a:ext cx="9631375" cy="990600"/>
          </a:xfrm>
          <a:prstGeom prst="rect">
            <a:avLst/>
          </a:prstGeom>
          <a:noFill/>
          <a:ln/>
        </p:spPr>
        <p:txBody>
          <a:bodyPr wrap="square" lIns="0" tIns="0" rIns="0" bIns="0" rtlCol="0" anchor="t"/>
          <a:lstStyle/>
          <a:p>
            <a:pPr indent="0" marL="0">
              <a:buNone/>
            </a:pPr>
            <a:r>
              <a:rPr lang="en-US" altLang="en-US" sz="1200" dirty="0">
                <a:solidFill>
                  <a:srgbClr val="E6EDF3"/>
                </a:solidFill>
                <a:latin typeface="Consolas" pitchFamily="34" charset="0"/>
                <a:ea typeface="Consolas" pitchFamily="34" charset="-122"/>
                <a:cs typeface="Consolas" pitchFamily="34" charset="-120"/>
              </a:rPr>
              <a:t>Mengurutkan nama menu sesuai abjad...</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 DAFTAR MENU KEDAIKITA ===</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1. Es Teh Manis - Rp18000 (stok 18)</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2. Kopi Susu Gula Aren - Rp25000 (stok 15)</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3. Nasi Goreng Kampung - Rp8000 (stok 29)</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Rancangan Kelas </a:t>
            </a:r>
            <a:r>
              <a:rPr lang="id-ID" altLang="en-US" sz="3200" b="1" dirty="0">
                <a:solidFill>
                  <a:srgbClr val="0A3069"/>
                </a:solidFill>
                <a:latin typeface="Consolas" pitchFamily="34" charset="0"/>
                <a:ea typeface="Consolas" pitchFamily="34" charset="-122"/>
                <a:cs typeface="Consolas" pitchFamily="34" charset="-120"/>
              </a:rPr>
              <a:t>Menu</a:t>
            </a:r>
            <a:r>
              <a:rPr lang="id-ID" altLang="en-US" sz="3200" b="1" dirty="0">
                <a:solidFill>
                  <a:srgbClr val="0A3069"/>
                </a:solidFill>
              </a:rPr>
              <a:t> pada Versi Objek</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Setiap menu menjadi satu objek yang membawa nama, harga, dan stoknya sendiri, serta bisa mengurangi stoknya.">    </p:cNvPr>
          <p:cNvPicPr>
            <a:picLocks noChangeAspect="1"/>
          </p:cNvPicPr>
          <p:nvPr/>
        </p:nvPicPr>
        <p:blipFill>
          <a:blip r:embed="rId2"/>
          <a:stretch>
            <a:fillRect/>
          </a:stretch>
        </p:blipFill>
        <p:spPr>
          <a:xfrm>
            <a:off x="4289908" y="1626362"/>
            <a:ext cx="3611880" cy="3627120"/>
          </a:xfrm>
          <a:prstGeom prst="rect">
            <a:avLst/>
          </a:prstGeom>
        </p:spPr>
      </p:pic>
      <p:sp>
        <p:nvSpPr>
          <p:cNvPr id="8" name="Text 4"/>
          <p:cNvSpPr txBox="1"/>
          <p:nvPr/>
        </p:nvSpPr>
        <p:spPr>
          <a:xfrm>
            <a:off x="1005840" y="5363210"/>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Setiap menu menjadi </a:t>
            </a:r>
            <a:r>
              <a:rPr lang="id-ID" altLang="en-US" sz="1700" b="1" dirty="0">
                <a:solidFill>
                  <a:srgbClr val="57606A"/>
                </a:solidFill>
              </a:rPr>
              <a:t>satu objek</a:t>
            </a:r>
            <a:r>
              <a:rPr lang="id-ID" altLang="en-US" sz="1700" dirty="0">
                <a:solidFill>
                  <a:srgbClr val="57606A"/>
                </a:solidFill>
              </a:rPr>
              <a:t> yang membawa nama, harga, dan stoknya sendiri, serta bisa mengurangi stoknya.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Versi Objek: Menu Pindah Utuh</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711696"/>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Tiga objek </a:t>
            </a:r>
            <a:r>
              <a:rPr lang="id-ID" altLang="en-US" sz="1800" dirty="0">
                <a:solidFill>
                  <a:srgbClr val="0A3069"/>
                </a:solidFill>
                <a:latin typeface="Consolas" pitchFamily="34" charset="0"/>
                <a:ea typeface="Consolas" pitchFamily="34" charset="-122"/>
                <a:cs typeface="Consolas" pitchFamily="34" charset="-120"/>
              </a:rPr>
              <a:t>Menu</a:t>
            </a:r>
            <a:r>
              <a:rPr lang="id-ID" altLang="en-US" sz="1800" dirty="0">
                <a:solidFill>
                  <a:srgbClr val="57606A"/>
                </a:solidFill>
              </a:rPr>
              <a:t> disimpan dalam satu daftar. Saat diurutkan, yang berpindah adalah </a:t>
            </a:r>
            <a:r>
              <a:rPr lang="id-ID" altLang="en-US" sz="1800" b="1" dirty="0">
                <a:solidFill>
                  <a:srgbClr val="57606A"/>
                </a:solidFill>
              </a:rPr>
              <a:t>objeknya</a:t>
            </a:r>
            <a:r>
              <a:rPr lang="id-ID" altLang="en-US" sz="1800" dirty="0">
                <a:solidFill>
                  <a:srgbClr val="57606A"/>
                </a:solidFill>
              </a:rPr>
              <a:t>.</a:t>
            </a:r>
            <a:endParaRPr lang="id-ID" sz="1800" dirty="0"/>
          </a:p>
        </p:txBody>
      </p:sp>
      <p:sp>
        <p:nvSpPr>
          <p:cNvPr id="8" name="Shape 5"/>
          <p:cNvSpPr/>
          <p:nvPr/>
        </p:nvSpPr>
        <p:spPr>
          <a:xfrm>
            <a:off x="548640" y="2146036"/>
            <a:ext cx="1051560" cy="329184"/>
          </a:xfrm>
          <a:prstGeom prst="roundRect">
            <a:avLst>
              <a:gd name="adj" fmla="val 138889"/>
            </a:avLst>
          </a:prstGeom>
          <a:solidFill>
            <a:srgbClr val="3572A5"/>
          </a:solidFill>
          <a:ln/>
        </p:spPr>
      </p:sp>
      <p:sp>
        <p:nvSpPr>
          <p:cNvPr id="9" name="Text 6"/>
          <p:cNvSpPr txBox="1"/>
          <p:nvPr/>
        </p:nvSpPr>
        <p:spPr>
          <a:xfrm>
            <a:off x="548640" y="214603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14603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python/studi-kasus/kedaikita_oop.py</a:t>
            </a:r>
            <a:endParaRPr lang="id-ID" sz="1100" dirty="0"/>
          </a:p>
        </p:txBody>
      </p:sp>
      <p:sp>
        <p:nvSpPr>
          <p:cNvPr id="11" name="Shape 8"/>
          <p:cNvSpPr/>
          <p:nvPr/>
        </p:nvSpPr>
        <p:spPr>
          <a:xfrm>
            <a:off x="548640" y="2566660"/>
            <a:ext cx="5432908" cy="1904492"/>
          </a:xfrm>
          <a:prstGeom prst="roundRect">
            <a:avLst>
              <a:gd name="adj" fmla="val 2305"/>
            </a:avLst>
          </a:prstGeom>
          <a:solidFill>
            <a:srgbClr val="F6F8FA"/>
          </a:solidFill>
          <a:ln w="9525">
            <a:solidFill>
              <a:srgbClr val="D0D7DE"/>
            </a:solidFill>
            <a:prstDash val="solid"/>
          </a:ln>
        </p:spPr>
      </p:sp>
      <p:sp>
        <p:nvSpPr>
          <p:cNvPr id="12" name="Text 9"/>
          <p:cNvSpPr txBox="1"/>
          <p:nvPr/>
        </p:nvSpPr>
        <p:spPr>
          <a:xfrm>
            <a:off x="658368" y="2658100"/>
            <a:ext cx="5213452" cy="1721612"/>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kopi = Menu(</a:t>
            </a:r>
            <a:r>
              <a:rPr lang="en-US" altLang="en-US" sz="1100" dirty="0">
                <a:solidFill>
                  <a:srgbClr val="0A3069"/>
                </a:solidFill>
                <a:latin typeface="Consolas" pitchFamily="34" charset="0"/>
                <a:ea typeface="Consolas" pitchFamily="34" charset="-122"/>
                <a:cs typeface="Consolas" pitchFamily="34" charset="-120"/>
              </a:rPr>
              <a:t>"Kopi Susu Gula Aren"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18000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nasi_goreng = Menu(</a:t>
            </a:r>
            <a:r>
              <a:rPr lang="en-US" altLang="en-US" sz="1100" dirty="0">
                <a:solidFill>
                  <a:srgbClr val="0A3069"/>
                </a:solidFill>
                <a:latin typeface="Consolas" pitchFamily="34" charset="0"/>
                <a:ea typeface="Consolas" pitchFamily="34" charset="-122"/>
                <a:cs typeface="Consolas" pitchFamily="34" charset="-120"/>
              </a:rPr>
              <a:t>"Nasi Goreng Kampung"</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25000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15</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es_teh = Menu(</a:t>
            </a:r>
            <a:r>
              <a:rPr lang="en-US" altLang="en-US" sz="1100" dirty="0">
                <a:solidFill>
                  <a:srgbClr val="0A3069"/>
                </a:solidFill>
                <a:latin typeface="Consolas" pitchFamily="34" charset="0"/>
                <a:ea typeface="Consolas" pitchFamily="34" charset="-122"/>
                <a:cs typeface="Consolas" pitchFamily="34" charset="-120"/>
              </a:rPr>
              <a:t>"Es Teh Manis"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8000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daftar_menu = [kopi, nasi_goreng, es_teh]</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kopi.kurangi_stok(</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es_teh.kurangi_stok(</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daftar_menu.sort(key=</a:t>
            </a:r>
            <a:r>
              <a:rPr lang="en-US" altLang="en-US" sz="1100" dirty="0">
                <a:solidFill>
                  <a:srgbClr val="CF222E"/>
                </a:solidFill>
                <a:latin typeface="Consolas" pitchFamily="34" charset="0"/>
                <a:ea typeface="Consolas" pitchFamily="34" charset="-122"/>
                <a:cs typeface="Consolas" pitchFamily="34" charset="-120"/>
              </a:rPr>
              <a:t>lambda</a:t>
            </a:r>
            <a:r>
              <a:rPr lang="en-US" altLang="en-US" sz="1100" dirty="0">
                <a:solidFill>
                  <a:srgbClr val="1F2328"/>
                </a:solidFill>
                <a:latin typeface="Consolas" pitchFamily="34" charset="0"/>
                <a:ea typeface="Consolas" pitchFamily="34" charset="-122"/>
                <a:cs typeface="Consolas" pitchFamily="34" charset="-120"/>
              </a:rPr>
              <a:t> menu: menu.nama)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tampilkan_menu(daftar_menu)</a:t>
            </a:r>
            <a:endParaRPr lang="en-US" sz="1100" dirty="0"/>
          </a:p>
        </p:txBody>
      </p:sp>
      <p:sp>
        <p:nvSpPr>
          <p:cNvPr id="13" name="Shape 10"/>
          <p:cNvSpPr/>
          <p:nvPr/>
        </p:nvSpPr>
        <p:spPr>
          <a:xfrm>
            <a:off x="6210148" y="2146036"/>
            <a:ext cx="1051560" cy="329184"/>
          </a:xfrm>
          <a:prstGeom prst="roundRect">
            <a:avLst>
              <a:gd name="adj" fmla="val 138889"/>
            </a:avLst>
          </a:prstGeom>
          <a:solidFill>
            <a:srgbClr val="B07219"/>
          </a:solidFill>
          <a:ln/>
        </p:spPr>
      </p:sp>
      <p:sp>
        <p:nvSpPr>
          <p:cNvPr id="14" name="Text 11"/>
          <p:cNvSpPr txBox="1"/>
          <p:nvPr/>
        </p:nvSpPr>
        <p:spPr>
          <a:xfrm>
            <a:off x="6210148" y="214603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14603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java/studi-kasus/KedaiKitaOop.java</a:t>
            </a:r>
            <a:endParaRPr lang="id-ID" sz="1100" dirty="0"/>
          </a:p>
        </p:txBody>
      </p:sp>
      <p:sp>
        <p:nvSpPr>
          <p:cNvPr id="16" name="Shape 13"/>
          <p:cNvSpPr/>
          <p:nvPr/>
        </p:nvSpPr>
        <p:spPr>
          <a:xfrm>
            <a:off x="6210148" y="2566660"/>
            <a:ext cx="5432908" cy="1904492"/>
          </a:xfrm>
          <a:prstGeom prst="roundRect">
            <a:avLst>
              <a:gd name="adj" fmla="val 2305"/>
            </a:avLst>
          </a:prstGeom>
          <a:solidFill>
            <a:srgbClr val="F6F8FA"/>
          </a:solidFill>
          <a:ln w="9525">
            <a:solidFill>
              <a:srgbClr val="D0D7DE"/>
            </a:solidFill>
            <a:prstDash val="solid"/>
          </a:ln>
        </p:spPr>
      </p:sp>
      <p:sp>
        <p:nvSpPr>
          <p:cNvPr id="17" name="Text 14"/>
          <p:cNvSpPr txBox="1"/>
          <p:nvPr/>
        </p:nvSpPr>
        <p:spPr>
          <a:xfrm>
            <a:off x="6319876" y="2658100"/>
            <a:ext cx="5213452" cy="1721612"/>
          </a:xfrm>
          <a:prstGeom prst="rect">
            <a:avLst/>
          </a:prstGeom>
          <a:noFill/>
          <a:ln/>
        </p:spPr>
        <p:txBody>
          <a:bodyPr wrap="square" lIns="0" tIns="0" rIns="0" bIns="0" rtlCol="0" anchor="t"/>
          <a:lstStyle/>
          <a:p>
            <a:pPr indent="0" marL="0">
              <a:buNone/>
            </a:pPr>
            <a:r>
              <a:rPr lang="en-US" altLang="en-US" sz="1100" dirty="0">
                <a:solidFill>
                  <a:srgbClr val="1F2328"/>
                </a:solidFill>
                <a:latin typeface="Consolas" pitchFamily="34" charset="0"/>
                <a:ea typeface="Consolas" pitchFamily="34" charset="-122"/>
                <a:cs typeface="Consolas" pitchFamily="34" charset="-120"/>
              </a:rPr>
              <a:t>Menu kopi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Menu(</a:t>
            </a:r>
            <a:r>
              <a:rPr lang="en-US" altLang="en-US" sz="1100" dirty="0">
                <a:solidFill>
                  <a:srgbClr val="0A3069"/>
                </a:solidFill>
                <a:latin typeface="Consolas" pitchFamily="34" charset="0"/>
                <a:ea typeface="Consolas" pitchFamily="34" charset="-122"/>
                <a:cs typeface="Consolas" pitchFamily="34" charset="-120"/>
              </a:rPr>
              <a:t>"Kopi Susu Gula Aren"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18000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Menu nasiGoreng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Menu(</a:t>
            </a:r>
            <a:r>
              <a:rPr lang="en-US" altLang="en-US" sz="1100" dirty="0">
                <a:solidFill>
                  <a:srgbClr val="0A3069"/>
                </a:solidFill>
                <a:latin typeface="Consolas" pitchFamily="34" charset="0"/>
                <a:ea typeface="Consolas" pitchFamily="34" charset="-122"/>
                <a:cs typeface="Consolas" pitchFamily="34" charset="-120"/>
              </a:rPr>
              <a:t>"Nasi Goreng Kampung"</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25000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15</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Menu esTeh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Menu(</a:t>
            </a:r>
            <a:r>
              <a:rPr lang="en-US" altLang="en-US" sz="1100" dirty="0">
                <a:solidFill>
                  <a:srgbClr val="0A3069"/>
                </a:solidFill>
                <a:latin typeface="Consolas" pitchFamily="34" charset="0"/>
                <a:ea typeface="Consolas" pitchFamily="34" charset="-122"/>
                <a:cs typeface="Consolas" pitchFamily="34" charset="-120"/>
              </a:rPr>
              <a:t>"Es Teh Manis"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8000</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30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ArrayList&lt;Menu&gt; daftarMenu = </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ArrayList&lt;&gt;();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daftarMenu diisi kopi, nasiGoreng, esTeh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kopi.kurangiStok(</a:t>
            </a:r>
            <a:r>
              <a:rPr lang="en-US" altLang="en-US" sz="1100" dirty="0">
                <a:solidFill>
                  <a:srgbClr val="0550AE"/>
                </a:solidFill>
                <a:latin typeface="Consolas" pitchFamily="34" charset="0"/>
                <a:ea typeface="Consolas" pitchFamily="34" charset="-122"/>
                <a:cs typeface="Consolas" pitchFamily="34" charset="-120"/>
              </a:rPr>
              <a:t>2</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esTeh.kurangiStok(</a:t>
            </a:r>
            <a:r>
              <a:rPr lang="en-US" altLang="en-US" sz="1100" dirty="0">
                <a:solidFill>
                  <a:srgbClr val="0550AE"/>
                </a:solidFill>
                <a:latin typeface="Consolas" pitchFamily="34" charset="0"/>
                <a:ea typeface="Consolas" pitchFamily="34" charset="-122"/>
                <a:cs typeface="Consolas" pitchFamily="34" charset="-120"/>
              </a:rPr>
              <a:t>1</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daftarMenu.sort((a, b) -&gt; a.nama.compareTo(b.nama));</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tampilkanMenu(daftarMenu);</a:t>
            </a:r>
            <a:endParaRPr lang="en-US" sz="1100" dirty="0"/>
          </a:p>
        </p:txBody>
      </p:sp>
      <p:sp>
        <p:nvSpPr>
          <p:cNvPr id="18" name="Shape 15"/>
          <p:cNvSpPr/>
          <p:nvPr/>
        </p:nvSpPr>
        <p:spPr>
          <a:xfrm>
            <a:off x="548640" y="4699752"/>
            <a:ext cx="11094415" cy="1030224"/>
          </a:xfrm>
          <a:prstGeom prst="roundRect">
            <a:avLst>
              <a:gd name="adj" fmla="val 7878"/>
            </a:avLst>
          </a:prstGeom>
          <a:solidFill>
            <a:srgbClr val="0D1117"/>
          </a:solidFill>
          <a:ln/>
        </p:spPr>
      </p:sp>
      <p:sp>
        <p:nvSpPr>
          <p:cNvPr id="19" name="Shape 16"/>
          <p:cNvSpPr/>
          <p:nvPr/>
        </p:nvSpPr>
        <p:spPr>
          <a:xfrm>
            <a:off x="713232" y="4827768"/>
            <a:ext cx="960120" cy="292608"/>
          </a:xfrm>
          <a:prstGeom prst="roundRect">
            <a:avLst>
              <a:gd name="adj" fmla="val 156250"/>
            </a:avLst>
          </a:prstGeom>
          <a:solidFill>
            <a:srgbClr val="30363D"/>
          </a:solidFill>
          <a:ln/>
        </p:spPr>
      </p:sp>
      <p:sp>
        <p:nvSpPr>
          <p:cNvPr id="20" name="Text 17"/>
          <p:cNvSpPr txBox="1"/>
          <p:nvPr/>
        </p:nvSpPr>
        <p:spPr>
          <a:xfrm>
            <a:off x="713232" y="4827768"/>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21" name="Text 18"/>
          <p:cNvSpPr txBox="1"/>
          <p:nvPr/>
        </p:nvSpPr>
        <p:spPr>
          <a:xfrm>
            <a:off x="1828800" y="4827768"/>
            <a:ext cx="9631375" cy="810768"/>
          </a:xfrm>
          <a:prstGeom prst="rect">
            <a:avLst/>
          </a:prstGeom>
          <a:noFill/>
          <a:ln/>
        </p:spPr>
        <p:txBody>
          <a:bodyPr wrap="square" lIns="0" tIns="0" rIns="0" bIns="0" rtlCol="0" anchor="t"/>
          <a:lstStyle/>
          <a:p>
            <a:pPr indent="0" marL="0">
              <a:buNone/>
            </a:pPr>
            <a:r>
              <a:rPr lang="en-US" altLang="en-US" sz="1200" dirty="0">
                <a:solidFill>
                  <a:srgbClr val="E6EDF3"/>
                </a:solidFill>
                <a:latin typeface="Consolas" pitchFamily="34" charset="0"/>
                <a:ea typeface="Consolas" pitchFamily="34" charset="-122"/>
                <a:cs typeface="Consolas" pitchFamily="34" charset="-120"/>
              </a:rPr>
              <a:t>=== DAFTAR MENU KEDAIKITA ===</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1. Es Teh Manis - Rp8000 (stok 29)</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2. Kopi Susu Gula Aren - Rp18000 (stok 18)</a:t>
            </a:r>
            <a:endParaRPr lang="en-US" sz="1200" dirty="0"/>
          </a:p>
          <a:p>
            <a:pPr indent="0" marL="0">
              <a:buNone/>
            </a:pPr>
            <a:r>
              <a:rPr lang="en-US" altLang="en-US" sz="1200" dirty="0">
                <a:solidFill>
                  <a:srgbClr val="E6EDF3"/>
                </a:solidFill>
                <a:latin typeface="Consolas" pitchFamily="34" charset="0"/>
                <a:ea typeface="Consolas" pitchFamily="34" charset="-122"/>
                <a:cs typeface="Consolas" pitchFamily="34" charset="-120"/>
              </a:rPr>
              <a:t>3. Nasi Goreng Kampung - Rp25000 (stok 15)</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530614"/>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603035"/>
            <a:ext cx="184343" cy="184343"/>
          </a:xfrm>
          <a:prstGeom prst="rect">
            <a:avLst/>
          </a:prstGeom>
        </p:spPr>
      </p:pic>
      <p:sp>
        <p:nvSpPr>
          <p:cNvPr id="7" name="Text 3"/>
          <p:cNvSpPr txBox="1"/>
          <p:nvPr/>
        </p:nvSpPr>
        <p:spPr>
          <a:xfrm>
            <a:off x="987552" y="1530614"/>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530614"/>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603035"/>
            <a:ext cx="184343" cy="184343"/>
          </a:xfrm>
          <a:prstGeom prst="rect">
            <a:avLst/>
          </a:prstGeom>
        </p:spPr>
      </p:pic>
      <p:sp>
        <p:nvSpPr>
          <p:cNvPr id="10" name="Text 5"/>
          <p:cNvSpPr txBox="1"/>
          <p:nvPr/>
        </p:nvSpPr>
        <p:spPr>
          <a:xfrm>
            <a:off x="5605272" y="1530614"/>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2033534"/>
            <a:ext cx="4343400" cy="1202436"/>
          </a:xfrm>
          <a:prstGeom prst="roundRect">
            <a:avLst>
              <a:gd name="adj" fmla="val 6940"/>
            </a:avLst>
          </a:prstGeom>
          <a:solidFill>
            <a:srgbClr val="FFEBE9"/>
          </a:solidFill>
          <a:ln w="9525">
            <a:solidFill>
              <a:srgbClr val="FF8182"/>
            </a:solidFill>
            <a:prstDash val="solid"/>
          </a:ln>
        </p:spPr>
      </p:sp>
      <p:sp>
        <p:nvSpPr>
          <p:cNvPr id="12" name="Text 7"/>
          <p:cNvSpPr txBox="1"/>
          <p:nvPr/>
        </p:nvSpPr>
        <p:spPr>
          <a:xfrm>
            <a:off x="777240" y="2216414"/>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“PBO itu sekadar menulis kata </a:t>
            </a:r>
            <a:r>
              <a:rPr lang="id-ID" altLang="en-US" sz="1800" dirty="0">
                <a:solidFill>
                  <a:srgbClr val="1F2328"/>
                </a:solidFill>
                <a:latin typeface="Consolas" pitchFamily="34" charset="0"/>
                <a:ea typeface="Consolas" pitchFamily="34" charset="-122"/>
                <a:cs typeface="Consolas" pitchFamily="34" charset="-120"/>
              </a:rPr>
              <a:t>class</a:t>
            </a:r>
            <a:r>
              <a:rPr lang="id-ID" altLang="en-US" sz="1800" dirty="0">
                <a:solidFill>
                  <a:srgbClr val="1F2328"/>
                </a:solidFill>
              </a:rPr>
              <a:t>.”</a:t>
            </a:r>
            <a:endParaRPr lang="id-ID" sz="1800" dirty="0"/>
          </a:p>
        </p:txBody>
      </p:sp>
      <p:sp>
        <p:nvSpPr>
          <p:cNvPr id="13" name="Shape 8"/>
          <p:cNvSpPr/>
          <p:nvPr/>
        </p:nvSpPr>
        <p:spPr>
          <a:xfrm>
            <a:off x="5166360" y="2033534"/>
            <a:ext cx="6476695" cy="1202436"/>
          </a:xfrm>
          <a:prstGeom prst="roundRect">
            <a:avLst>
              <a:gd name="adj" fmla="val 6940"/>
            </a:avLst>
          </a:prstGeom>
          <a:solidFill>
            <a:srgbClr val="DAFBE1"/>
          </a:solidFill>
          <a:ln w="9525">
            <a:solidFill>
              <a:srgbClr val="4AC26B"/>
            </a:solidFill>
            <a:prstDash val="solid"/>
          </a:ln>
        </p:spPr>
      </p:sp>
      <p:sp>
        <p:nvSpPr>
          <p:cNvPr id="14" name="Text 9"/>
          <p:cNvSpPr txBox="1"/>
          <p:nvPr/>
        </p:nvSpPr>
        <p:spPr>
          <a:xfrm>
            <a:off x="5394960" y="2216414"/>
            <a:ext cx="6019495" cy="928116"/>
          </a:xfrm>
          <a:prstGeom prst="rect">
            <a:avLst/>
          </a:prstGeom>
          <a:noFill/>
          <a:ln/>
        </p:spPr>
        <p:txBody>
          <a:bodyPr wrap="square" lIns="0" tIns="0" rIns="0" bIns="0" rtlCol="0" anchor="t"/>
          <a:lstStyle/>
          <a:p>
            <a:pPr indent="0" marL="0">
              <a:buNone/>
            </a:pPr>
            <a:r>
              <a:rPr lang="id-ID" altLang="en-US" sz="1800" dirty="0">
                <a:solidFill>
                  <a:srgbClr val="1F2328"/>
                </a:solidFill>
              </a:rPr>
              <a:t>PBO adalah </a:t>
            </a:r>
            <a:r>
              <a:rPr lang="id-ID" altLang="en-US" sz="1800" b="1" dirty="0">
                <a:solidFill>
                  <a:srgbClr val="1F2328"/>
                </a:solidFill>
              </a:rPr>
              <a:t>cara berpikir</a:t>
            </a:r>
            <a:r>
              <a:rPr lang="id-ID" altLang="en-US" sz="1800" dirty="0">
                <a:solidFill>
                  <a:srgbClr val="1F2328"/>
                </a:solidFill>
              </a:rPr>
              <a:t>: program dipandang sebagai objek yang membawa data dan perilakunya sendiri. Program Java hari ini pun memakai </a:t>
            </a:r>
            <a:r>
              <a:rPr lang="id-ID" altLang="en-US" sz="1800" dirty="0">
                <a:solidFill>
                  <a:srgbClr val="1F2328"/>
                </a:solidFill>
                <a:latin typeface="Consolas" pitchFamily="34" charset="0"/>
                <a:ea typeface="Consolas" pitchFamily="34" charset="-122"/>
                <a:cs typeface="Consolas" pitchFamily="34" charset="-120"/>
              </a:rPr>
              <a:t>class</a:t>
            </a:r>
            <a:r>
              <a:rPr lang="id-ID" altLang="en-US" sz="1800" dirty="0">
                <a:solidFill>
                  <a:srgbClr val="1F2328"/>
                </a:solidFill>
              </a:rPr>
              <a:t>, tetapi gayanya masih prosedural.</a:t>
            </a:r>
            <a:endParaRPr lang="id-ID" sz="1800" dirty="0"/>
          </a:p>
        </p:txBody>
      </p:sp>
      <p:sp>
        <p:nvSpPr>
          <p:cNvPr id="15" name="Shape 10"/>
          <p:cNvSpPr/>
          <p:nvPr/>
        </p:nvSpPr>
        <p:spPr>
          <a:xfrm>
            <a:off x="548640" y="3437138"/>
            <a:ext cx="4343400" cy="1202436"/>
          </a:xfrm>
          <a:prstGeom prst="roundRect">
            <a:avLst>
              <a:gd name="adj" fmla="val 6940"/>
            </a:avLst>
          </a:prstGeom>
          <a:solidFill>
            <a:srgbClr val="FFEBE9"/>
          </a:solidFill>
          <a:ln w="9525">
            <a:solidFill>
              <a:srgbClr val="FF8182"/>
            </a:solidFill>
            <a:prstDash val="solid"/>
          </a:ln>
        </p:spPr>
      </p:sp>
      <p:sp>
        <p:nvSpPr>
          <p:cNvPr id="16" name="Text 11"/>
          <p:cNvSpPr txBox="1"/>
          <p:nvPr/>
        </p:nvSpPr>
        <p:spPr>
          <a:xfrm>
            <a:off x="777240" y="3620018"/>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“Program prosedural itu salah dan kuno.”</a:t>
            </a:r>
            <a:endParaRPr lang="id-ID" sz="1800" dirty="0"/>
          </a:p>
        </p:txBody>
      </p:sp>
      <p:sp>
        <p:nvSpPr>
          <p:cNvPr id="17" name="Shape 12"/>
          <p:cNvSpPr/>
          <p:nvPr/>
        </p:nvSpPr>
        <p:spPr>
          <a:xfrm>
            <a:off x="5166360" y="3437138"/>
            <a:ext cx="6476695" cy="1202436"/>
          </a:xfrm>
          <a:prstGeom prst="roundRect">
            <a:avLst>
              <a:gd name="adj" fmla="val 6940"/>
            </a:avLst>
          </a:prstGeom>
          <a:solidFill>
            <a:srgbClr val="DAFBE1"/>
          </a:solidFill>
          <a:ln w="9525">
            <a:solidFill>
              <a:srgbClr val="4AC26B"/>
            </a:solidFill>
            <a:prstDash val="solid"/>
          </a:ln>
        </p:spPr>
      </p:sp>
      <p:sp>
        <p:nvSpPr>
          <p:cNvPr id="18" name="Text 13"/>
          <p:cNvSpPr txBox="1"/>
          <p:nvPr/>
        </p:nvSpPr>
        <p:spPr>
          <a:xfrm>
            <a:off x="5394960" y="3620018"/>
            <a:ext cx="6019495" cy="928116"/>
          </a:xfrm>
          <a:prstGeom prst="rect">
            <a:avLst/>
          </a:prstGeom>
          <a:noFill/>
          <a:ln/>
        </p:spPr>
        <p:txBody>
          <a:bodyPr wrap="square" lIns="0" tIns="0" rIns="0" bIns="0" rtlCol="0" anchor="t"/>
          <a:lstStyle/>
          <a:p>
            <a:pPr indent="0" marL="0">
              <a:buNone/>
            </a:pPr>
            <a:r>
              <a:rPr lang="id-ID" altLang="en-US" sz="1800" dirty="0">
                <a:solidFill>
                  <a:srgbClr val="1F2328"/>
                </a:solidFill>
              </a:rPr>
              <a:t>Untuk program kecil, gaya prosedural justru sering menjadi pilihan terbaik. Bahkan di dalam </a:t>
            </a:r>
            <a:r>
              <a:rPr lang="id-ID" altLang="en-US" sz="1800" i="1" dirty="0">
                <a:solidFill>
                  <a:srgbClr val="1F2328"/>
                </a:solidFill>
              </a:rPr>
              <a:t>method</a:t>
            </a:r>
            <a:r>
              <a:rPr lang="id-ID" altLang="en-US" sz="1800" dirty="0">
                <a:solidFill>
                  <a:srgbClr val="1F2328"/>
                </a:solidFill>
              </a:rPr>
              <a:t>, kita tetap menulis langkah-⁠langkah prosedural.</a:t>
            </a:r>
            <a:endParaRPr lang="id-ID" sz="1800" dirty="0"/>
          </a:p>
        </p:txBody>
      </p:sp>
      <p:sp>
        <p:nvSpPr>
          <p:cNvPr id="19" name="Shape 14"/>
          <p:cNvSpPr/>
          <p:nvPr/>
        </p:nvSpPr>
        <p:spPr>
          <a:xfrm>
            <a:off x="548640" y="4840742"/>
            <a:ext cx="4343400" cy="1202436"/>
          </a:xfrm>
          <a:prstGeom prst="roundRect">
            <a:avLst>
              <a:gd name="adj" fmla="val 6940"/>
            </a:avLst>
          </a:prstGeom>
          <a:solidFill>
            <a:srgbClr val="FFEBE9"/>
          </a:solidFill>
          <a:ln w="9525">
            <a:solidFill>
              <a:srgbClr val="FF8182"/>
            </a:solidFill>
            <a:prstDash val="solid"/>
          </a:ln>
        </p:spPr>
      </p:sp>
      <p:sp>
        <p:nvSpPr>
          <p:cNvPr id="20" name="Text 15"/>
          <p:cNvSpPr txBox="1"/>
          <p:nvPr/>
        </p:nvSpPr>
        <p:spPr>
          <a:xfrm>
            <a:off x="777240" y="5023622"/>
            <a:ext cx="3886200" cy="928116"/>
          </a:xfrm>
          <a:prstGeom prst="rect">
            <a:avLst/>
          </a:prstGeom>
          <a:noFill/>
          <a:ln/>
        </p:spPr>
        <p:txBody>
          <a:bodyPr wrap="square" lIns="0" tIns="0" rIns="0" bIns="0" rtlCol="0" anchor="t"/>
          <a:lstStyle/>
          <a:p>
            <a:pPr indent="0" marL="0">
              <a:buNone/>
            </a:pPr>
            <a:r>
              <a:rPr lang="id-ID" altLang="en-US" sz="1800" dirty="0">
                <a:solidFill>
                  <a:srgbClr val="1F2328"/>
                </a:solidFill>
              </a:rPr>
              <a:t>“Kalau program tidak menampilkan </a:t>
            </a:r>
            <a:r>
              <a:rPr lang="id-ID" altLang="en-US" sz="1800" i="1" dirty="0">
                <a:solidFill>
                  <a:srgbClr val="1F2328"/>
                </a:solidFill>
              </a:rPr>
              <a:t>error</a:t>
            </a:r>
            <a:r>
              <a:rPr lang="id-ID" altLang="en-US" sz="1800" dirty="0">
                <a:solidFill>
                  <a:srgbClr val="1F2328"/>
                </a:solidFill>
              </a:rPr>
              <a:t>, berarti hasilnya benar.”</a:t>
            </a:r>
            <a:endParaRPr lang="id-ID" sz="1800" dirty="0"/>
          </a:p>
        </p:txBody>
      </p:sp>
      <p:sp>
        <p:nvSpPr>
          <p:cNvPr id="21" name="Shape 16"/>
          <p:cNvSpPr/>
          <p:nvPr/>
        </p:nvSpPr>
        <p:spPr>
          <a:xfrm>
            <a:off x="5166360" y="4840742"/>
            <a:ext cx="6476695" cy="1202436"/>
          </a:xfrm>
          <a:prstGeom prst="roundRect">
            <a:avLst>
              <a:gd name="adj" fmla="val 6940"/>
            </a:avLst>
          </a:prstGeom>
          <a:solidFill>
            <a:srgbClr val="DAFBE1"/>
          </a:solidFill>
          <a:ln w="9525">
            <a:solidFill>
              <a:srgbClr val="4AC26B"/>
            </a:solidFill>
            <a:prstDash val="solid"/>
          </a:ln>
        </p:spPr>
      </p:sp>
      <p:sp>
        <p:nvSpPr>
          <p:cNvPr id="22" name="Text 17"/>
          <p:cNvSpPr txBox="1"/>
          <p:nvPr/>
        </p:nvSpPr>
        <p:spPr>
          <a:xfrm>
            <a:off x="5394960" y="5023622"/>
            <a:ext cx="6019495" cy="928116"/>
          </a:xfrm>
          <a:prstGeom prst="rect">
            <a:avLst/>
          </a:prstGeom>
          <a:noFill/>
          <a:ln/>
        </p:spPr>
        <p:txBody>
          <a:bodyPr wrap="square" lIns="0" tIns="0" rIns="0" bIns="0" rtlCol="0" anchor="t"/>
          <a:lstStyle/>
          <a:p>
            <a:pPr indent="0" marL="0">
              <a:buNone/>
            </a:pPr>
            <a:r>
              <a:rPr lang="id-ID" altLang="en-US" sz="1800" dirty="0">
                <a:solidFill>
                  <a:srgbClr val="1F2328"/>
                </a:solidFill>
              </a:rPr>
              <a:t>Belum tentu. KedaiKita versi prosedural berjalan tanpa </a:t>
            </a:r>
            <a:r>
              <a:rPr lang="id-ID" altLang="en-US" sz="1800" i="1" dirty="0">
                <a:solidFill>
                  <a:srgbClr val="1F2328"/>
                </a:solidFill>
              </a:rPr>
              <a:t>error</a:t>
            </a:r>
            <a:r>
              <a:rPr lang="id-ID" altLang="en-US" sz="1800" dirty="0">
                <a:solidFill>
                  <a:srgbClr val="1F2328"/>
                </a:solidFill>
              </a:rPr>
              <a:t>, tetapi harganya tertukar. Kesalahan logika seperti ini paling berbahaya karena terjadi diam-⁠diam.</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48323"/>
            <a:ext cx="11094415" cy="1324864"/>
          </a:xfrm>
          <a:prstGeom prst="roundRect">
            <a:avLst>
              <a:gd name="adj" fmla="val 5716"/>
            </a:avLst>
          </a:prstGeom>
          <a:solidFill>
            <a:srgbClr val="FBEFFF"/>
          </a:solidFill>
          <a:ln w="9525">
            <a:solidFill>
              <a:srgbClr val="C297FF"/>
            </a:solidFill>
            <a:prstDash val="solid"/>
          </a:ln>
        </p:spPr>
      </p:sp>
      <p:sp>
        <p:nvSpPr>
          <p:cNvPr id="6" name="Shape 3"/>
          <p:cNvSpPr/>
          <p:nvPr/>
        </p:nvSpPr>
        <p:spPr>
          <a:xfrm>
            <a:off x="777240" y="1982155"/>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082739"/>
            <a:ext cx="256032" cy="256032"/>
          </a:xfrm>
          <a:prstGeom prst="rect">
            <a:avLst/>
          </a:prstGeom>
        </p:spPr>
      </p:pic>
      <p:sp>
        <p:nvSpPr>
          <p:cNvPr id="8" name="Text 4"/>
          <p:cNvSpPr txBox="1"/>
          <p:nvPr/>
        </p:nvSpPr>
        <p:spPr>
          <a:xfrm>
            <a:off x="1417320" y="1776923"/>
            <a:ext cx="9951415" cy="1050544"/>
          </a:xfrm>
          <a:prstGeom prst="rect">
            <a:avLst/>
          </a:prstGeom>
          <a:noFill/>
          <a:ln/>
        </p:spPr>
        <p:txBody>
          <a:bodyPr wrap="square" lIns="0" tIns="0" rIns="0" bIns="0" rtlCol="0" anchor="t"/>
          <a:lstStyle/>
          <a:p>
            <a:pPr indent="0" marL="0">
              <a:buNone/>
            </a:pPr>
            <a:r>
              <a:rPr lang="id-ID" altLang="en-US" sz="2800" dirty="0">
                <a:solidFill>
                  <a:srgbClr val="1F2328"/>
                </a:solidFill>
              </a:rPr>
              <a:t>Pada KedaiKita versi prosedural, mengapa harga menu </a:t>
            </a:r>
            <a:r>
              <a:rPr lang="id-ID" altLang="en-US" sz="2800" b="1" dirty="0">
                <a:solidFill>
                  <a:srgbClr val="1F2328"/>
                </a:solidFill>
              </a:rPr>
              <a:t>tertukar</a:t>
            </a:r>
            <a:r>
              <a:rPr lang="id-ID" altLang="en-US" sz="2800" dirty="0">
                <a:solidFill>
                  <a:srgbClr val="1F2328"/>
                </a:solidFill>
              </a:rPr>
              <a:t> setelah daftar menu diurutkan?</a:t>
            </a:r>
            <a:endParaRPr lang="id-ID" sz="2800" dirty="0"/>
          </a:p>
        </p:txBody>
      </p:sp>
      <p:sp>
        <p:nvSpPr>
          <p:cNvPr id="9" name="Shape 5"/>
          <p:cNvSpPr/>
          <p:nvPr/>
        </p:nvSpPr>
        <p:spPr>
          <a:xfrm>
            <a:off x="548640" y="3056067"/>
            <a:ext cx="5455768" cy="1389888"/>
          </a:xfrm>
          <a:prstGeom prst="roundRect">
            <a:avLst>
              <a:gd name="adj" fmla="val 5194"/>
            </a:avLst>
          </a:prstGeom>
          <a:solidFill>
            <a:srgbClr val="FFFFFF"/>
          </a:solidFill>
          <a:ln w="9525">
            <a:solidFill>
              <a:srgbClr val="D0D7DE"/>
            </a:solidFill>
            <a:prstDash val="solid"/>
          </a:ln>
        </p:spPr>
      </p:sp>
      <p:sp>
        <p:nvSpPr>
          <p:cNvPr id="10" name="Shape 6"/>
          <p:cNvSpPr/>
          <p:nvPr/>
        </p:nvSpPr>
        <p:spPr>
          <a:xfrm>
            <a:off x="749808" y="3522411"/>
            <a:ext cx="457200" cy="457200"/>
          </a:xfrm>
          <a:prstGeom prst="ellipse">
            <a:avLst/>
          </a:prstGeom>
          <a:solidFill>
            <a:srgbClr val="8250DF"/>
          </a:solidFill>
          <a:ln/>
        </p:spPr>
      </p:sp>
      <p:sp>
        <p:nvSpPr>
          <p:cNvPr id="11" name="Text 7"/>
          <p:cNvSpPr txBox="1"/>
          <p:nvPr/>
        </p:nvSpPr>
        <p:spPr>
          <a:xfrm>
            <a:off x="749808" y="352241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165795"/>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Python dan Java keliru saat menghitung harga setelah daftar diurutkan</a:t>
            </a:r>
            <a:endParaRPr lang="id-ID" sz="2400" dirty="0"/>
          </a:p>
        </p:txBody>
      </p:sp>
      <p:sp>
        <p:nvSpPr>
          <p:cNvPr id="13" name="Shape 9"/>
          <p:cNvSpPr/>
          <p:nvPr/>
        </p:nvSpPr>
        <p:spPr>
          <a:xfrm>
            <a:off x="6187288" y="3056067"/>
            <a:ext cx="5455768" cy="1389888"/>
          </a:xfrm>
          <a:prstGeom prst="roundRect">
            <a:avLst>
              <a:gd name="adj" fmla="val 5194"/>
            </a:avLst>
          </a:prstGeom>
          <a:solidFill>
            <a:srgbClr val="FFFFFF"/>
          </a:solidFill>
          <a:ln w="9525">
            <a:solidFill>
              <a:srgbClr val="D0D7DE"/>
            </a:solidFill>
            <a:prstDash val="solid"/>
          </a:ln>
        </p:spPr>
      </p:sp>
      <p:sp>
        <p:nvSpPr>
          <p:cNvPr id="14" name="Shape 10"/>
          <p:cNvSpPr/>
          <p:nvPr/>
        </p:nvSpPr>
        <p:spPr>
          <a:xfrm>
            <a:off x="6388456" y="3522411"/>
            <a:ext cx="457200" cy="457200"/>
          </a:xfrm>
          <a:prstGeom prst="ellipse">
            <a:avLst/>
          </a:prstGeom>
          <a:solidFill>
            <a:srgbClr val="8250DF"/>
          </a:solidFill>
          <a:ln/>
        </p:spPr>
      </p:sp>
      <p:sp>
        <p:nvSpPr>
          <p:cNvPr id="15" name="Text 11"/>
          <p:cNvSpPr txBox="1"/>
          <p:nvPr/>
        </p:nvSpPr>
        <p:spPr>
          <a:xfrm>
            <a:off x="6388456" y="352241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165795"/>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Harga disimpan sebagai bilangan pecahan sehingga nilainya menjadi tidak tepat</a:t>
            </a:r>
            <a:endParaRPr lang="id-ID" sz="2400" dirty="0"/>
          </a:p>
        </p:txBody>
      </p:sp>
      <p:sp>
        <p:nvSpPr>
          <p:cNvPr id="17" name="Shape 13"/>
          <p:cNvSpPr/>
          <p:nvPr/>
        </p:nvSpPr>
        <p:spPr>
          <a:xfrm>
            <a:off x="548640" y="4628835"/>
            <a:ext cx="5455768" cy="1389888"/>
          </a:xfrm>
          <a:prstGeom prst="roundRect">
            <a:avLst>
              <a:gd name="adj" fmla="val 5194"/>
            </a:avLst>
          </a:prstGeom>
          <a:solidFill>
            <a:srgbClr val="FFFFFF"/>
          </a:solidFill>
          <a:ln w="9525">
            <a:solidFill>
              <a:srgbClr val="D0D7DE"/>
            </a:solidFill>
            <a:prstDash val="solid"/>
          </a:ln>
        </p:spPr>
      </p:sp>
      <p:sp>
        <p:nvSpPr>
          <p:cNvPr id="18" name="Shape 14"/>
          <p:cNvSpPr/>
          <p:nvPr/>
        </p:nvSpPr>
        <p:spPr>
          <a:xfrm>
            <a:off x="749808" y="5095179"/>
            <a:ext cx="457200" cy="457200"/>
          </a:xfrm>
          <a:prstGeom prst="ellipse">
            <a:avLst/>
          </a:prstGeom>
          <a:solidFill>
            <a:srgbClr val="8250DF"/>
          </a:solidFill>
          <a:ln/>
        </p:spPr>
      </p:sp>
      <p:sp>
        <p:nvSpPr>
          <p:cNvPr id="19" name="Text 15"/>
          <p:cNvSpPr txBox="1"/>
          <p:nvPr/>
        </p:nvSpPr>
        <p:spPr>
          <a:xfrm>
            <a:off x="749808" y="509517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738563"/>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Program menampilkan pesan </a:t>
            </a:r>
            <a:r>
              <a:rPr lang="id-ID" altLang="en-US" sz="2400" i="1" dirty="0">
                <a:solidFill>
                  <a:srgbClr val="1F2328"/>
                </a:solidFill>
              </a:rPr>
              <a:t>error</a:t>
            </a:r>
            <a:r>
              <a:rPr lang="id-ID" altLang="en-US" sz="2400" dirty="0">
                <a:solidFill>
                  <a:srgbClr val="1F2328"/>
                </a:solidFill>
              </a:rPr>
              <a:t>, lalu berhenti sebelum sempat menampilkan menu</a:t>
            </a:r>
            <a:endParaRPr lang="id-ID" sz="2400" dirty="0"/>
          </a:p>
        </p:txBody>
      </p:sp>
      <p:sp>
        <p:nvSpPr>
          <p:cNvPr id="21" name="Shape 17"/>
          <p:cNvSpPr/>
          <p:nvPr/>
        </p:nvSpPr>
        <p:spPr>
          <a:xfrm>
            <a:off x="6187288" y="4628835"/>
            <a:ext cx="5455768" cy="1389888"/>
          </a:xfrm>
          <a:prstGeom prst="roundRect">
            <a:avLst>
              <a:gd name="adj" fmla="val 5194"/>
            </a:avLst>
          </a:prstGeom>
          <a:solidFill>
            <a:srgbClr val="FFFFFF"/>
          </a:solidFill>
          <a:ln w="9525">
            <a:solidFill>
              <a:srgbClr val="D0D7DE"/>
            </a:solidFill>
            <a:prstDash val="solid"/>
          </a:ln>
        </p:spPr>
      </p:sp>
      <p:sp>
        <p:nvSpPr>
          <p:cNvPr id="22" name="Shape 18"/>
          <p:cNvSpPr/>
          <p:nvPr/>
        </p:nvSpPr>
        <p:spPr>
          <a:xfrm>
            <a:off x="6388456" y="5095179"/>
            <a:ext cx="457200" cy="457200"/>
          </a:xfrm>
          <a:prstGeom prst="ellipse">
            <a:avLst/>
          </a:prstGeom>
          <a:solidFill>
            <a:srgbClr val="8250DF"/>
          </a:solidFill>
          <a:ln/>
        </p:spPr>
      </p:sp>
      <p:sp>
        <p:nvSpPr>
          <p:cNvPr id="23" name="Text 19"/>
          <p:cNvSpPr txBox="1"/>
          <p:nvPr/>
        </p:nvSpPr>
        <p:spPr>
          <a:xfrm>
            <a:off x="6388456" y="509517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738563"/>
            <a:ext cx="4541368" cy="1170432"/>
          </a:xfrm>
          <a:prstGeom prst="rect">
            <a:avLst/>
          </a:prstGeom>
          <a:noFill/>
          <a:ln/>
        </p:spPr>
        <p:txBody>
          <a:bodyPr wrap="square" lIns="0" tIns="0" rIns="0" bIns="0" rtlCol="0" anchor="ctr"/>
          <a:lstStyle/>
          <a:p>
            <a:pPr indent="0" marL="0">
              <a:buNone/>
            </a:pPr>
            <a:r>
              <a:rPr lang="id-ID" altLang="en-US" sz="2400" dirty="0">
                <a:solidFill>
                  <a:srgbClr val="1F2328"/>
                </a:solidFill>
              </a:rPr>
              <a:t>Hanya daftar nama yang diurutkan, sedangkan daftar harga dan stok tetap di tempatnya</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32108"/>
            <a:ext cx="11094415" cy="522224"/>
          </a:xfrm>
          <a:prstGeom prst="roundRect">
            <a:avLst>
              <a:gd name="adj" fmla="val 36791"/>
            </a:avLst>
          </a:prstGeom>
          <a:solidFill>
            <a:srgbClr val="F6F8FA"/>
          </a:solidFill>
          <a:ln w="9525">
            <a:solidFill>
              <a:srgbClr val="D0D7DE"/>
            </a:solidFill>
            <a:prstDash val="solid"/>
          </a:ln>
        </p:spPr>
      </p:sp>
      <p:sp>
        <p:nvSpPr>
          <p:cNvPr id="6" name="Text 3"/>
          <p:cNvSpPr txBox="1"/>
          <p:nvPr/>
        </p:nvSpPr>
        <p:spPr>
          <a:xfrm>
            <a:off x="822960" y="1669268"/>
            <a:ext cx="10545775" cy="247904"/>
          </a:xfrm>
          <a:prstGeom prst="rect">
            <a:avLst/>
          </a:prstGeom>
          <a:noFill/>
          <a:ln/>
        </p:spPr>
        <p:txBody>
          <a:bodyPr wrap="square" lIns="0" tIns="0" rIns="0" bIns="0" rtlCol="0" anchor="t"/>
          <a:lstStyle/>
          <a:p>
            <a:pPr indent="0" marL="0">
              <a:buNone/>
            </a:pPr>
            <a:r>
              <a:rPr lang="id-ID" altLang="en-US" sz="1600" dirty="0">
                <a:solidFill>
                  <a:srgbClr val="57606A"/>
                </a:solidFill>
              </a:rPr>
              <a:t>Pada KedaiKita versi prosedural, mengapa harga menu </a:t>
            </a:r>
            <a:r>
              <a:rPr lang="id-ID" altLang="en-US" sz="1600" b="1" dirty="0">
                <a:solidFill>
                  <a:srgbClr val="57606A"/>
                </a:solidFill>
              </a:rPr>
              <a:t>tertukar</a:t>
            </a:r>
            <a:r>
              <a:rPr lang="id-ID" altLang="en-US" sz="1600" dirty="0">
                <a:solidFill>
                  <a:srgbClr val="57606A"/>
                </a:solidFill>
              </a:rPr>
              <a:t> setelah daftar menu diurutkan?</a:t>
            </a:r>
            <a:endParaRPr lang="id-ID" sz="1600" dirty="0"/>
          </a:p>
        </p:txBody>
      </p:sp>
      <p:sp>
        <p:nvSpPr>
          <p:cNvPr id="7" name="Shape 4"/>
          <p:cNvSpPr/>
          <p:nvPr/>
        </p:nvSpPr>
        <p:spPr>
          <a:xfrm>
            <a:off x="548640" y="2237212"/>
            <a:ext cx="5455768" cy="832104"/>
          </a:xfrm>
          <a:prstGeom prst="roundRect">
            <a:avLst>
              <a:gd name="adj" fmla="val 14491"/>
            </a:avLst>
          </a:prstGeom>
          <a:solidFill>
            <a:srgbClr val="FFFFFF"/>
          </a:solidFill>
          <a:ln w="9525">
            <a:solidFill>
              <a:srgbClr val="D0D7DE"/>
            </a:solidFill>
            <a:prstDash val="solid"/>
          </a:ln>
        </p:spPr>
      </p:sp>
      <p:sp>
        <p:nvSpPr>
          <p:cNvPr id="8" name="Shape 5"/>
          <p:cNvSpPr/>
          <p:nvPr/>
        </p:nvSpPr>
        <p:spPr>
          <a:xfrm>
            <a:off x="749808" y="2447524"/>
            <a:ext cx="411480" cy="411480"/>
          </a:xfrm>
          <a:prstGeom prst="ellipse">
            <a:avLst/>
          </a:prstGeom>
          <a:solidFill>
            <a:srgbClr val="8C959F"/>
          </a:solidFill>
          <a:ln/>
        </p:spPr>
      </p:sp>
      <p:sp>
        <p:nvSpPr>
          <p:cNvPr id="9" name="Text 6"/>
          <p:cNvSpPr txBox="1"/>
          <p:nvPr/>
        </p:nvSpPr>
        <p:spPr>
          <a:xfrm>
            <a:off x="749808" y="2447524"/>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A</a:t>
            </a:r>
            <a:endParaRPr lang="id-ID" sz="1600" dirty="0"/>
          </a:p>
        </p:txBody>
      </p:sp>
      <p:sp>
        <p:nvSpPr>
          <p:cNvPr id="10" name="Text 7"/>
          <p:cNvSpPr txBox="1"/>
          <p:nvPr/>
        </p:nvSpPr>
        <p:spPr>
          <a:xfrm>
            <a:off x="1353312" y="2346940"/>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Python dan Java keliru saat menghitung harga setelah daftar diurutkan</a:t>
            </a:r>
            <a:endParaRPr lang="id-ID" sz="1800" dirty="0"/>
          </a:p>
        </p:txBody>
      </p:sp>
      <p:sp>
        <p:nvSpPr>
          <p:cNvPr id="11" name="Shape 8"/>
          <p:cNvSpPr/>
          <p:nvPr/>
        </p:nvSpPr>
        <p:spPr>
          <a:xfrm>
            <a:off x="6187288" y="2237212"/>
            <a:ext cx="5455768" cy="832104"/>
          </a:xfrm>
          <a:prstGeom prst="roundRect">
            <a:avLst>
              <a:gd name="adj" fmla="val 14491"/>
            </a:avLst>
          </a:prstGeom>
          <a:solidFill>
            <a:srgbClr val="FFFFFF"/>
          </a:solidFill>
          <a:ln w="9525">
            <a:solidFill>
              <a:srgbClr val="D0D7DE"/>
            </a:solidFill>
            <a:prstDash val="solid"/>
          </a:ln>
        </p:spPr>
      </p:sp>
      <p:sp>
        <p:nvSpPr>
          <p:cNvPr id="12" name="Shape 9"/>
          <p:cNvSpPr/>
          <p:nvPr/>
        </p:nvSpPr>
        <p:spPr>
          <a:xfrm>
            <a:off x="6388456" y="2447524"/>
            <a:ext cx="411480" cy="411480"/>
          </a:xfrm>
          <a:prstGeom prst="ellipse">
            <a:avLst/>
          </a:prstGeom>
          <a:solidFill>
            <a:srgbClr val="8C959F"/>
          </a:solidFill>
          <a:ln/>
        </p:spPr>
      </p:sp>
      <p:sp>
        <p:nvSpPr>
          <p:cNvPr id="13" name="Text 10"/>
          <p:cNvSpPr txBox="1"/>
          <p:nvPr/>
        </p:nvSpPr>
        <p:spPr>
          <a:xfrm>
            <a:off x="6388456" y="2447524"/>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B</a:t>
            </a:r>
            <a:endParaRPr lang="id-ID" sz="1600" dirty="0"/>
          </a:p>
        </p:txBody>
      </p:sp>
      <p:sp>
        <p:nvSpPr>
          <p:cNvPr id="14" name="Text 11"/>
          <p:cNvSpPr txBox="1"/>
          <p:nvPr/>
        </p:nvSpPr>
        <p:spPr>
          <a:xfrm>
            <a:off x="6991960" y="2346940"/>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Harga disimpan sebagai bilangan pecahan sehingga nilainya menjadi tidak tepat</a:t>
            </a:r>
            <a:endParaRPr lang="id-ID" sz="1800" dirty="0"/>
          </a:p>
        </p:txBody>
      </p:sp>
      <p:sp>
        <p:nvSpPr>
          <p:cNvPr id="15" name="Shape 12"/>
          <p:cNvSpPr/>
          <p:nvPr/>
        </p:nvSpPr>
        <p:spPr>
          <a:xfrm>
            <a:off x="548640" y="3252196"/>
            <a:ext cx="5455768" cy="832104"/>
          </a:xfrm>
          <a:prstGeom prst="roundRect">
            <a:avLst>
              <a:gd name="adj" fmla="val 14491"/>
            </a:avLst>
          </a:prstGeom>
          <a:solidFill>
            <a:srgbClr val="FFFFFF"/>
          </a:solidFill>
          <a:ln w="9525">
            <a:solidFill>
              <a:srgbClr val="D0D7DE"/>
            </a:solidFill>
            <a:prstDash val="solid"/>
          </a:ln>
        </p:spPr>
      </p:sp>
      <p:sp>
        <p:nvSpPr>
          <p:cNvPr id="16" name="Shape 13"/>
          <p:cNvSpPr/>
          <p:nvPr/>
        </p:nvSpPr>
        <p:spPr>
          <a:xfrm>
            <a:off x="749808" y="3462508"/>
            <a:ext cx="411480" cy="411480"/>
          </a:xfrm>
          <a:prstGeom prst="ellipse">
            <a:avLst/>
          </a:prstGeom>
          <a:solidFill>
            <a:srgbClr val="8C959F"/>
          </a:solidFill>
          <a:ln/>
        </p:spPr>
      </p:sp>
      <p:sp>
        <p:nvSpPr>
          <p:cNvPr id="17" name="Text 14"/>
          <p:cNvSpPr txBox="1"/>
          <p:nvPr/>
        </p:nvSpPr>
        <p:spPr>
          <a:xfrm>
            <a:off x="749808" y="3462508"/>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C</a:t>
            </a:r>
            <a:endParaRPr lang="id-ID" sz="1600" dirty="0"/>
          </a:p>
        </p:txBody>
      </p:sp>
      <p:sp>
        <p:nvSpPr>
          <p:cNvPr id="18" name="Text 15"/>
          <p:cNvSpPr txBox="1"/>
          <p:nvPr/>
        </p:nvSpPr>
        <p:spPr>
          <a:xfrm>
            <a:off x="1353312" y="3361924"/>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Program menampilkan pesan </a:t>
            </a:r>
            <a:r>
              <a:rPr lang="id-ID" altLang="en-US" sz="1800" i="1" dirty="0">
                <a:solidFill>
                  <a:srgbClr val="57606A"/>
                </a:solidFill>
              </a:rPr>
              <a:t>error</a:t>
            </a:r>
            <a:r>
              <a:rPr lang="id-ID" altLang="en-US" sz="1800" dirty="0">
                <a:solidFill>
                  <a:srgbClr val="57606A"/>
                </a:solidFill>
              </a:rPr>
              <a:t>, lalu berhenti sebelum sempat menampilkan menu</a:t>
            </a:r>
            <a:endParaRPr lang="id-ID" sz="1800" dirty="0"/>
          </a:p>
        </p:txBody>
      </p:sp>
      <p:sp>
        <p:nvSpPr>
          <p:cNvPr id="19" name="Shape 16"/>
          <p:cNvSpPr/>
          <p:nvPr/>
        </p:nvSpPr>
        <p:spPr>
          <a:xfrm>
            <a:off x="6187288" y="3252196"/>
            <a:ext cx="5455768" cy="832104"/>
          </a:xfrm>
          <a:prstGeom prst="roundRect">
            <a:avLst>
              <a:gd name="adj" fmla="val 14491"/>
            </a:avLst>
          </a:prstGeom>
          <a:solidFill>
            <a:srgbClr val="DAFBE1"/>
          </a:solidFill>
          <a:ln w="22225">
            <a:solidFill>
              <a:srgbClr val="1A7F37"/>
            </a:solidFill>
            <a:prstDash val="solid"/>
          </a:ln>
        </p:spPr>
      </p:sp>
      <p:sp>
        <p:nvSpPr>
          <p:cNvPr id="20" name="Shape 17"/>
          <p:cNvSpPr/>
          <p:nvPr/>
        </p:nvSpPr>
        <p:spPr>
          <a:xfrm>
            <a:off x="6388456" y="3462508"/>
            <a:ext cx="411480" cy="411480"/>
          </a:xfrm>
          <a:prstGeom prst="ellipse">
            <a:avLst/>
          </a:prstGeom>
          <a:solidFill>
            <a:srgbClr val="1A7F37"/>
          </a:solidFill>
          <a:ln/>
        </p:spPr>
      </p:sp>
      <p:pic>
        <p:nvPicPr>
          <p:cNvPr id="21" name="Image 1" descr="preencoded.png">    </p:cNvPr>
          <p:cNvPicPr>
            <a:picLocks noChangeAspect="1"/>
          </p:cNvPicPr>
          <p:nvPr/>
        </p:nvPicPr>
        <p:blipFill>
          <a:blip r:embed="rId2"/>
          <a:stretch>
            <a:fillRect/>
          </a:stretch>
        </p:blipFill>
        <p:spPr>
          <a:xfrm>
            <a:off x="6478981" y="3553033"/>
            <a:ext cx="230429" cy="230429"/>
          </a:xfrm>
          <a:prstGeom prst="rect">
            <a:avLst/>
          </a:prstGeom>
        </p:spPr>
      </p:pic>
      <p:sp>
        <p:nvSpPr>
          <p:cNvPr id="22" name="Text 18"/>
          <p:cNvSpPr txBox="1"/>
          <p:nvPr/>
        </p:nvSpPr>
        <p:spPr>
          <a:xfrm>
            <a:off x="6991960" y="3361924"/>
            <a:ext cx="4541368" cy="612648"/>
          </a:xfrm>
          <a:prstGeom prst="rect">
            <a:avLst/>
          </a:prstGeom>
          <a:noFill/>
          <a:ln/>
        </p:spPr>
        <p:txBody>
          <a:bodyPr wrap="square" lIns="0" tIns="0" rIns="0" bIns="0" rtlCol="0" anchor="ctr"/>
          <a:lstStyle/>
          <a:p>
            <a:pPr indent="0" marL="0">
              <a:buNone/>
            </a:pPr>
            <a:r>
              <a:rPr lang="id-ID" altLang="en-US" sz="1800" dirty="0">
                <a:solidFill>
                  <a:srgbClr val="1F2328"/>
                </a:solidFill>
              </a:rPr>
              <a:t>Hanya daftar nama yang diurutkan, sedangkan daftar harga dan stok tetap di tempatnya</a:t>
            </a:r>
            <a:endParaRPr lang="id-ID" sz="1800" dirty="0"/>
          </a:p>
        </p:txBody>
      </p:sp>
      <p:sp>
        <p:nvSpPr>
          <p:cNvPr id="23" name="Shape 19"/>
          <p:cNvSpPr/>
          <p:nvPr/>
        </p:nvSpPr>
        <p:spPr>
          <a:xfrm>
            <a:off x="548640" y="4285468"/>
            <a:ext cx="11094415" cy="1755648"/>
          </a:xfrm>
          <a:prstGeom prst="roundRect">
            <a:avLst>
              <a:gd name="adj" fmla="val 3255"/>
            </a:avLst>
          </a:prstGeom>
          <a:solidFill>
            <a:srgbClr val="FFF8C5"/>
          </a:solidFill>
          <a:ln w="9525">
            <a:solidFill>
              <a:srgbClr val="D4A72C"/>
            </a:solidFill>
            <a:prstDash val="solid"/>
          </a:ln>
        </p:spPr>
      </p:sp>
      <p:sp>
        <p:nvSpPr>
          <p:cNvPr id="24" name="Shape 20"/>
          <p:cNvSpPr/>
          <p:nvPr/>
        </p:nvSpPr>
        <p:spPr>
          <a:xfrm>
            <a:off x="777240" y="4468348"/>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568932"/>
            <a:ext cx="256032" cy="256032"/>
          </a:xfrm>
          <a:prstGeom prst="rect">
            <a:avLst/>
          </a:prstGeom>
        </p:spPr>
      </p:pic>
      <p:sp>
        <p:nvSpPr>
          <p:cNvPr id="26" name="Text 21"/>
          <p:cNvSpPr txBox="1"/>
          <p:nvPr/>
        </p:nvSpPr>
        <p:spPr>
          <a:xfrm>
            <a:off x="1417320" y="4422628"/>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D</a:t>
            </a:r>
            <a:endParaRPr lang="id-ID" sz="1600" dirty="0"/>
          </a:p>
        </p:txBody>
      </p:sp>
      <p:sp>
        <p:nvSpPr>
          <p:cNvPr id="27" name="Text 22"/>
          <p:cNvSpPr txBox="1"/>
          <p:nvPr/>
        </p:nvSpPr>
        <p:spPr>
          <a:xfrm>
            <a:off x="1417320" y="4760956"/>
            <a:ext cx="9951415" cy="1207008"/>
          </a:xfrm>
          <a:prstGeom prst="rect">
            <a:avLst/>
          </a:prstGeom>
          <a:noFill/>
          <a:ln/>
        </p:spPr>
        <p:txBody>
          <a:bodyPr wrap="square" lIns="0" tIns="0" rIns="0" bIns="0" rtlCol="0" anchor="t"/>
          <a:lstStyle/>
          <a:p>
            <a:pPr indent="0" marL="0">
              <a:buNone/>
            </a:pPr>
            <a:r>
              <a:rPr lang="id-ID" altLang="en-US" sz="1800" dirty="0">
                <a:solidFill>
                  <a:srgbClr val="1F2328"/>
                </a:solidFill>
              </a:rPr>
              <a:t>Data satu menu tersebar di tiga daftar yang hanya direkatkan oleh indeks yang sama. Pengurutan hanya memindahkan isi daftar nama sehingga nama di indeks 0 berpasangan dengan harga milik menu lain. Bahasanya tidak salah hitung (A), harganya bilangan bulat (B), dan justru tidak ada pesan </a:t>
            </a:r>
            <a:r>
              <a:rPr lang="id-ID" altLang="en-US" sz="1800" i="1" dirty="0">
                <a:solidFill>
                  <a:srgbClr val="1F2328"/>
                </a:solidFill>
              </a:rPr>
              <a:t>error</a:t>
            </a:r>
            <a:r>
              <a:rPr lang="id-ID" altLang="en-US" sz="1800" dirty="0">
                <a:solidFill>
                  <a:srgbClr val="1F2328"/>
                </a:solidFill>
              </a:rPr>
              <a:t> sama sekali (C).</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69985"/>
            <a:ext cx="11094415" cy="1758696"/>
          </a:xfrm>
          <a:prstGeom prst="roundRect">
            <a:avLst>
              <a:gd name="adj" fmla="val 3244"/>
            </a:avLst>
          </a:prstGeom>
          <a:solidFill>
            <a:srgbClr val="FBEFFF"/>
          </a:solidFill>
          <a:ln w="9525">
            <a:solidFill>
              <a:srgbClr val="C297FF"/>
            </a:solidFill>
            <a:prstDash val="solid"/>
          </a:ln>
        </p:spPr>
      </p:sp>
      <p:sp>
        <p:nvSpPr>
          <p:cNvPr id="6" name="Shape 3"/>
          <p:cNvSpPr/>
          <p:nvPr/>
        </p:nvSpPr>
        <p:spPr>
          <a:xfrm>
            <a:off x="777240" y="2520733"/>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21317"/>
            <a:ext cx="256032" cy="256032"/>
          </a:xfrm>
          <a:prstGeom prst="rect">
            <a:avLst/>
          </a:prstGeom>
        </p:spPr>
      </p:pic>
      <p:sp>
        <p:nvSpPr>
          <p:cNvPr id="8" name="Text 4"/>
          <p:cNvSpPr txBox="1"/>
          <p:nvPr/>
        </p:nvSpPr>
        <p:spPr>
          <a:xfrm>
            <a:off x="1417320" y="2098585"/>
            <a:ext cx="9951415" cy="1484376"/>
          </a:xfrm>
          <a:prstGeom prst="rect">
            <a:avLst/>
          </a:prstGeom>
          <a:noFill/>
          <a:ln/>
        </p:spPr>
        <p:txBody>
          <a:bodyPr wrap="square" lIns="0" tIns="0" rIns="0" bIns="0" rtlCol="0" anchor="t"/>
          <a:lstStyle/>
          <a:p>
            <a:pPr indent="0" marL="0">
              <a:buNone/>
            </a:pPr>
            <a:r>
              <a:rPr lang="id-ID" altLang="en-US" sz="2800" dirty="0">
                <a:solidFill>
                  <a:srgbClr val="1F2328"/>
                </a:solidFill>
              </a:rPr>
              <a:t>Di mesin kasir, tombol “Bayar” bisa memproses pembayaran tunai, QRIS, atau kartu, dan masing-⁠masing bekerja dengan caranya sendiri. Pilar PBO yang </a:t>
            </a:r>
            <a:r>
              <a:rPr lang="id-ID" altLang="en-US" sz="2800" b="1" dirty="0">
                <a:solidFill>
                  <a:srgbClr val="1F2328"/>
                </a:solidFill>
              </a:rPr>
              <a:t>paling</a:t>
            </a:r>
            <a:r>
              <a:rPr lang="id-ID" altLang="en-US" sz="2800" dirty="0">
                <a:solidFill>
                  <a:srgbClr val="1F2328"/>
                </a:solidFill>
              </a:rPr>
              <a:t> menggambarkan situasi ini adalah ...</a:t>
            </a:r>
            <a:endParaRPr lang="id-ID" sz="2800" dirty="0"/>
          </a:p>
        </p:txBody>
      </p:sp>
      <p:sp>
        <p:nvSpPr>
          <p:cNvPr id="9" name="Shape 5"/>
          <p:cNvSpPr/>
          <p:nvPr/>
        </p:nvSpPr>
        <p:spPr>
          <a:xfrm>
            <a:off x="548640" y="3811561"/>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3977981"/>
            <a:ext cx="457200" cy="457200"/>
          </a:xfrm>
          <a:prstGeom prst="ellipse">
            <a:avLst/>
          </a:prstGeom>
          <a:solidFill>
            <a:srgbClr val="8250DF"/>
          </a:solidFill>
          <a:ln/>
        </p:spPr>
      </p:sp>
      <p:sp>
        <p:nvSpPr>
          <p:cNvPr id="11" name="Text 7"/>
          <p:cNvSpPr txBox="1"/>
          <p:nvPr/>
        </p:nvSpPr>
        <p:spPr>
          <a:xfrm>
            <a:off x="749808"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921289"/>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Enkapsulasi</a:t>
            </a:r>
            <a:endParaRPr lang="id-ID" sz="2400" dirty="0"/>
          </a:p>
        </p:txBody>
      </p:sp>
      <p:sp>
        <p:nvSpPr>
          <p:cNvPr id="13" name="Shape 9"/>
          <p:cNvSpPr/>
          <p:nvPr/>
        </p:nvSpPr>
        <p:spPr>
          <a:xfrm>
            <a:off x="6187288" y="3811561"/>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3977981"/>
            <a:ext cx="457200" cy="457200"/>
          </a:xfrm>
          <a:prstGeom prst="ellipse">
            <a:avLst/>
          </a:prstGeom>
          <a:solidFill>
            <a:srgbClr val="8250DF"/>
          </a:solidFill>
          <a:ln/>
        </p:spPr>
      </p:sp>
      <p:sp>
        <p:nvSpPr>
          <p:cNvPr id="15" name="Text 11"/>
          <p:cNvSpPr txBox="1"/>
          <p:nvPr/>
        </p:nvSpPr>
        <p:spPr>
          <a:xfrm>
            <a:off x="6388456"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921289"/>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Pewarisan</a:t>
            </a:r>
            <a:endParaRPr lang="id-ID" sz="2400" dirty="0"/>
          </a:p>
        </p:txBody>
      </p:sp>
      <p:sp>
        <p:nvSpPr>
          <p:cNvPr id="17" name="Shape 13"/>
          <p:cNvSpPr/>
          <p:nvPr/>
        </p:nvSpPr>
        <p:spPr>
          <a:xfrm>
            <a:off x="548640" y="4784482"/>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4950903"/>
            <a:ext cx="457200" cy="457200"/>
          </a:xfrm>
          <a:prstGeom prst="ellipse">
            <a:avLst/>
          </a:prstGeom>
          <a:solidFill>
            <a:srgbClr val="8250DF"/>
          </a:solidFill>
          <a:ln/>
        </p:spPr>
      </p:sp>
      <p:sp>
        <p:nvSpPr>
          <p:cNvPr id="19" name="Text 15"/>
          <p:cNvSpPr txBox="1"/>
          <p:nvPr/>
        </p:nvSpPr>
        <p:spPr>
          <a:xfrm>
            <a:off x="749808"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894210"/>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Abstraksi</a:t>
            </a:r>
            <a:endParaRPr lang="id-ID" sz="2400" dirty="0"/>
          </a:p>
        </p:txBody>
      </p:sp>
      <p:sp>
        <p:nvSpPr>
          <p:cNvPr id="21" name="Shape 17"/>
          <p:cNvSpPr/>
          <p:nvPr/>
        </p:nvSpPr>
        <p:spPr>
          <a:xfrm>
            <a:off x="6187288" y="4784482"/>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4950903"/>
            <a:ext cx="457200" cy="457200"/>
          </a:xfrm>
          <a:prstGeom prst="ellipse">
            <a:avLst/>
          </a:prstGeom>
          <a:solidFill>
            <a:srgbClr val="8250DF"/>
          </a:solidFill>
          <a:ln/>
        </p:spPr>
      </p:sp>
      <p:sp>
        <p:nvSpPr>
          <p:cNvPr id="23" name="Text 19"/>
          <p:cNvSpPr txBox="1"/>
          <p:nvPr/>
        </p:nvSpPr>
        <p:spPr>
          <a:xfrm>
            <a:off x="6388456"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894210"/>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Polimorfisme</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95836"/>
            <a:ext cx="11094415" cy="832104"/>
          </a:xfrm>
          <a:prstGeom prst="roundRect">
            <a:avLst>
              <a:gd name="adj" fmla="val 14491"/>
            </a:avLst>
          </a:prstGeom>
          <a:solidFill>
            <a:srgbClr val="F6F8FA"/>
          </a:solidFill>
          <a:ln w="9525">
            <a:solidFill>
              <a:srgbClr val="D0D7DE"/>
            </a:solidFill>
            <a:prstDash val="solid"/>
          </a:ln>
        </p:spPr>
      </p:sp>
      <p:sp>
        <p:nvSpPr>
          <p:cNvPr id="6" name="Text 3"/>
          <p:cNvSpPr txBox="1"/>
          <p:nvPr/>
        </p:nvSpPr>
        <p:spPr>
          <a:xfrm>
            <a:off x="822960" y="1632996"/>
            <a:ext cx="10545775" cy="557784"/>
          </a:xfrm>
          <a:prstGeom prst="rect">
            <a:avLst/>
          </a:prstGeom>
          <a:noFill/>
          <a:ln/>
        </p:spPr>
        <p:txBody>
          <a:bodyPr wrap="square" lIns="0" tIns="0" rIns="0" bIns="0" rtlCol="0" anchor="t"/>
          <a:lstStyle/>
          <a:p>
            <a:pPr indent="0" marL="0">
              <a:buNone/>
            </a:pPr>
            <a:r>
              <a:rPr lang="id-ID" altLang="en-US" sz="1800" dirty="0">
                <a:solidFill>
                  <a:srgbClr val="57606A"/>
                </a:solidFill>
              </a:rPr>
              <a:t>Di mesin kasir, tombol “Bayar” bisa memproses pembayaran tunai, QRIS, atau kartu, dan masing-⁠masing bekerja dengan caranya sendiri. Pilar PBO yang </a:t>
            </a:r>
            <a:r>
              <a:rPr lang="id-ID" altLang="en-US" sz="1800" b="1" dirty="0">
                <a:solidFill>
                  <a:srgbClr val="57606A"/>
                </a:solidFill>
              </a:rPr>
              <a:t>paling</a:t>
            </a:r>
            <a:r>
              <a:rPr lang="id-ID" altLang="en-US" sz="1800" dirty="0">
                <a:solidFill>
                  <a:srgbClr val="57606A"/>
                </a:solidFill>
              </a:rPr>
              <a:t> menggambarkan situasi ini adalah ...</a:t>
            </a:r>
            <a:endParaRPr lang="id-ID" sz="1800" dirty="0"/>
          </a:p>
        </p:txBody>
      </p:sp>
      <p:sp>
        <p:nvSpPr>
          <p:cNvPr id="7" name="Shape 4"/>
          <p:cNvSpPr/>
          <p:nvPr/>
        </p:nvSpPr>
        <p:spPr>
          <a:xfrm>
            <a:off x="548640" y="2510820"/>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611404"/>
            <a:ext cx="457200" cy="457200"/>
          </a:xfrm>
          <a:prstGeom prst="ellipse">
            <a:avLst/>
          </a:prstGeom>
          <a:solidFill>
            <a:srgbClr val="8C959F"/>
          </a:solidFill>
          <a:ln/>
        </p:spPr>
      </p:sp>
      <p:sp>
        <p:nvSpPr>
          <p:cNvPr id="9" name="Text 6"/>
          <p:cNvSpPr txBox="1"/>
          <p:nvPr/>
        </p:nvSpPr>
        <p:spPr>
          <a:xfrm>
            <a:off x="749808"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620548"/>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Enkapsulasi</a:t>
            </a:r>
            <a:endParaRPr lang="id-ID" sz="2000" dirty="0"/>
          </a:p>
        </p:txBody>
      </p:sp>
      <p:sp>
        <p:nvSpPr>
          <p:cNvPr id="11" name="Shape 8"/>
          <p:cNvSpPr/>
          <p:nvPr/>
        </p:nvSpPr>
        <p:spPr>
          <a:xfrm>
            <a:off x="6187288" y="2510820"/>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611404"/>
            <a:ext cx="457200" cy="457200"/>
          </a:xfrm>
          <a:prstGeom prst="ellipse">
            <a:avLst/>
          </a:prstGeom>
          <a:solidFill>
            <a:srgbClr val="8C959F"/>
          </a:solidFill>
          <a:ln/>
        </p:spPr>
      </p:sp>
      <p:sp>
        <p:nvSpPr>
          <p:cNvPr id="13" name="Text 10"/>
          <p:cNvSpPr txBox="1"/>
          <p:nvPr/>
        </p:nvSpPr>
        <p:spPr>
          <a:xfrm>
            <a:off x="6388456"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620548"/>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Pewarisan</a:t>
            </a:r>
            <a:endParaRPr lang="id-ID" sz="2000" dirty="0"/>
          </a:p>
        </p:txBody>
      </p:sp>
      <p:sp>
        <p:nvSpPr>
          <p:cNvPr id="15" name="Shape 12"/>
          <p:cNvSpPr/>
          <p:nvPr/>
        </p:nvSpPr>
        <p:spPr>
          <a:xfrm>
            <a:off x="548640" y="3352068"/>
            <a:ext cx="5455768" cy="658368"/>
          </a:xfrm>
          <a:prstGeom prst="roundRect">
            <a:avLst>
              <a:gd name="adj" fmla="val 23148"/>
            </a:avLst>
          </a:prstGeom>
          <a:solidFill>
            <a:srgbClr val="FFFFFF"/>
          </a:solidFill>
          <a:ln w="9525">
            <a:solidFill>
              <a:srgbClr val="D0D7DE"/>
            </a:solidFill>
            <a:prstDash val="solid"/>
          </a:ln>
        </p:spPr>
      </p:sp>
      <p:sp>
        <p:nvSpPr>
          <p:cNvPr id="16" name="Shape 13"/>
          <p:cNvSpPr/>
          <p:nvPr/>
        </p:nvSpPr>
        <p:spPr>
          <a:xfrm>
            <a:off x="749808" y="3452652"/>
            <a:ext cx="457200" cy="457200"/>
          </a:xfrm>
          <a:prstGeom prst="ellipse">
            <a:avLst/>
          </a:prstGeom>
          <a:solidFill>
            <a:srgbClr val="8C959F"/>
          </a:solidFill>
          <a:ln/>
        </p:spPr>
      </p:sp>
      <p:sp>
        <p:nvSpPr>
          <p:cNvPr id="17" name="Text 14"/>
          <p:cNvSpPr txBox="1"/>
          <p:nvPr/>
        </p:nvSpPr>
        <p:spPr>
          <a:xfrm>
            <a:off x="749808" y="34526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18" name="Text 15"/>
          <p:cNvSpPr txBox="1"/>
          <p:nvPr/>
        </p:nvSpPr>
        <p:spPr>
          <a:xfrm>
            <a:off x="1353312" y="3461796"/>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Abstraksi</a:t>
            </a:r>
            <a:endParaRPr lang="id-ID" sz="2000" dirty="0"/>
          </a:p>
        </p:txBody>
      </p:sp>
      <p:sp>
        <p:nvSpPr>
          <p:cNvPr id="19" name="Shape 16"/>
          <p:cNvSpPr/>
          <p:nvPr/>
        </p:nvSpPr>
        <p:spPr>
          <a:xfrm>
            <a:off x="6187288" y="3352068"/>
            <a:ext cx="5455768" cy="658368"/>
          </a:xfrm>
          <a:prstGeom prst="roundRect">
            <a:avLst>
              <a:gd name="adj" fmla="val 23148"/>
            </a:avLst>
          </a:prstGeom>
          <a:solidFill>
            <a:srgbClr val="DAFBE1"/>
          </a:solidFill>
          <a:ln w="22225">
            <a:solidFill>
              <a:srgbClr val="1A7F37"/>
            </a:solidFill>
            <a:prstDash val="solid"/>
          </a:ln>
        </p:spPr>
      </p:sp>
      <p:sp>
        <p:nvSpPr>
          <p:cNvPr id="20" name="Shape 17"/>
          <p:cNvSpPr/>
          <p:nvPr/>
        </p:nvSpPr>
        <p:spPr>
          <a:xfrm>
            <a:off x="6388456" y="3452652"/>
            <a:ext cx="457200" cy="457200"/>
          </a:xfrm>
          <a:prstGeom prst="ellipse">
            <a:avLst/>
          </a:prstGeom>
          <a:solidFill>
            <a:srgbClr val="1A7F37"/>
          </a:solidFill>
          <a:ln/>
        </p:spPr>
      </p:sp>
      <p:pic>
        <p:nvPicPr>
          <p:cNvPr id="21" name="Image 1" descr="preencoded.png">    </p:cNvPr>
          <p:cNvPicPr>
            <a:picLocks noChangeAspect="1"/>
          </p:cNvPicPr>
          <p:nvPr/>
        </p:nvPicPr>
        <p:blipFill>
          <a:blip r:embed="rId2"/>
          <a:stretch>
            <a:fillRect/>
          </a:stretch>
        </p:blipFill>
        <p:spPr>
          <a:xfrm>
            <a:off x="6489040" y="3553236"/>
            <a:ext cx="256032" cy="256032"/>
          </a:xfrm>
          <a:prstGeom prst="rect">
            <a:avLst/>
          </a:prstGeom>
        </p:spPr>
      </p:pic>
      <p:sp>
        <p:nvSpPr>
          <p:cNvPr id="22" name="Text 18"/>
          <p:cNvSpPr txBox="1"/>
          <p:nvPr/>
        </p:nvSpPr>
        <p:spPr>
          <a:xfrm>
            <a:off x="6991960" y="3461796"/>
            <a:ext cx="4541368" cy="438912"/>
          </a:xfrm>
          <a:prstGeom prst="rect">
            <a:avLst/>
          </a:prstGeom>
          <a:noFill/>
          <a:ln/>
        </p:spPr>
        <p:txBody>
          <a:bodyPr wrap="square" lIns="0" tIns="0" rIns="0" bIns="0" rtlCol="0" anchor="ctr"/>
          <a:lstStyle/>
          <a:p>
            <a:pPr indent="0" marL="0">
              <a:buNone/>
            </a:pPr>
            <a:r>
              <a:rPr lang="id-ID" altLang="en-US" sz="2000" dirty="0">
                <a:solidFill>
                  <a:srgbClr val="1F2328"/>
                </a:solidFill>
              </a:rPr>
              <a:t>Polimorfisme</a:t>
            </a:r>
            <a:endParaRPr lang="id-ID" sz="2000" dirty="0"/>
          </a:p>
        </p:txBody>
      </p:sp>
      <p:sp>
        <p:nvSpPr>
          <p:cNvPr id="23" name="Shape 19"/>
          <p:cNvSpPr/>
          <p:nvPr/>
        </p:nvSpPr>
        <p:spPr>
          <a:xfrm>
            <a:off x="548640" y="4211604"/>
            <a:ext cx="11094415" cy="1879600"/>
          </a:xfrm>
          <a:prstGeom prst="roundRect">
            <a:avLst>
              <a:gd name="adj" fmla="val 2840"/>
            </a:avLst>
          </a:prstGeom>
          <a:solidFill>
            <a:srgbClr val="FFF8C5"/>
          </a:solidFill>
          <a:ln w="9525">
            <a:solidFill>
              <a:srgbClr val="D4A72C"/>
            </a:solidFill>
            <a:prstDash val="solid"/>
          </a:ln>
        </p:spPr>
      </p:sp>
      <p:sp>
        <p:nvSpPr>
          <p:cNvPr id="24" name="Shape 20"/>
          <p:cNvSpPr/>
          <p:nvPr/>
        </p:nvSpPr>
        <p:spPr>
          <a:xfrm>
            <a:off x="777240" y="4394484"/>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95068"/>
            <a:ext cx="256032" cy="256032"/>
          </a:xfrm>
          <a:prstGeom prst="rect">
            <a:avLst/>
          </a:prstGeom>
        </p:spPr>
      </p:pic>
      <p:sp>
        <p:nvSpPr>
          <p:cNvPr id="26" name="Text 21"/>
          <p:cNvSpPr txBox="1"/>
          <p:nvPr/>
        </p:nvSpPr>
        <p:spPr>
          <a:xfrm>
            <a:off x="1417320" y="4348764"/>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D</a:t>
            </a:r>
            <a:endParaRPr lang="id-ID" sz="1600" dirty="0"/>
          </a:p>
        </p:txBody>
      </p:sp>
      <p:sp>
        <p:nvSpPr>
          <p:cNvPr id="27" name="Text 22"/>
          <p:cNvSpPr txBox="1"/>
          <p:nvPr/>
        </p:nvSpPr>
        <p:spPr>
          <a:xfrm>
            <a:off x="1417320" y="4687092"/>
            <a:ext cx="9951415" cy="1330960"/>
          </a:xfrm>
          <a:prstGeom prst="rect">
            <a:avLst/>
          </a:prstGeom>
          <a:noFill/>
          <a:ln/>
        </p:spPr>
        <p:txBody>
          <a:bodyPr wrap="square" lIns="0" tIns="0" rIns="0" bIns="0" rtlCol="0" anchor="t"/>
          <a:lstStyle/>
          <a:p>
            <a:pPr indent="0" marL="0">
              <a:buNone/>
            </a:pPr>
            <a:r>
              <a:rPr lang="id-ID" altLang="en-US" sz="2000" dirty="0">
                <a:solidFill>
                  <a:srgbClr val="1F2328"/>
                </a:solidFill>
              </a:rPr>
              <a:t>Polimorfisme berarti “banyak bentuk”: perintah yang sama (“bayar”) ditanggapi dengan cara berbeda oleh objek yang berbeda. Enkapsulasi (A) tentang membungkus dan melindungi data; pewarisan (B) tentang mewarisi ciri kelas lama. Abstraksi (C) memang ikut berperan, tetapi inti situasinya adalah </a:t>
            </a:r>
            <a:r>
              <a:rPr lang="id-ID" altLang="en-US" sz="2000" b="1" dirty="0">
                <a:solidFill>
                  <a:srgbClr val="1F2328"/>
                </a:solidFill>
              </a:rPr>
              <a:t>satu perintah dengan banyak cara</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400"/>
            <a:ext cx="279667" cy="279667"/>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0167" y="1531926"/>
            <a:ext cx="156613" cy="156613"/>
          </a:xfrm>
          <a:prstGeom prst="rect">
            <a:avLst/>
          </a:prstGeom>
        </p:spPr>
      </p:pic>
      <p:sp>
        <p:nvSpPr>
          <p:cNvPr id="7" name="Text 3"/>
          <p:cNvSpPr txBox="1"/>
          <p:nvPr/>
        </p:nvSpPr>
        <p:spPr>
          <a:xfrm>
            <a:off x="1051560" y="1463040"/>
            <a:ext cx="10591495" cy="634492"/>
          </a:xfrm>
          <a:prstGeom prst="rect">
            <a:avLst/>
          </a:prstGeom>
          <a:noFill/>
          <a:ln/>
        </p:spPr>
        <p:txBody>
          <a:bodyPr wrap="square" lIns="0" tIns="0" rIns="0" bIns="0" rtlCol="0" anchor="t"/>
          <a:lstStyle/>
          <a:p>
            <a:pPr indent="0" marL="0">
              <a:buNone/>
            </a:pPr>
            <a:r>
              <a:rPr lang="id-ID" altLang="en-US" sz="1900" b="1" dirty="0">
                <a:solidFill>
                  <a:srgbClr val="1F2328"/>
                </a:solidFill>
              </a:rPr>
              <a:t>Paradigma pemrograman</a:t>
            </a:r>
            <a:r>
              <a:rPr lang="id-ID" altLang="en-US" sz="1900" dirty="0">
                <a:solidFill>
                  <a:srgbClr val="1F2328"/>
                </a:solidFill>
              </a:rPr>
              <a:t> adalah cara pandang dalam menyusun program: prosedural, berorientasi objek, dan fungsional.</a:t>
            </a:r>
            <a:endParaRPr lang="id-ID" sz="1900" dirty="0"/>
          </a:p>
        </p:txBody>
      </p:sp>
      <p:sp>
        <p:nvSpPr>
          <p:cNvPr id="8" name="Shape 4"/>
          <p:cNvSpPr/>
          <p:nvPr/>
        </p:nvSpPr>
        <p:spPr>
          <a:xfrm>
            <a:off x="548640" y="2260340"/>
            <a:ext cx="279667" cy="279667"/>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0167" y="2321866"/>
            <a:ext cx="156613" cy="156613"/>
          </a:xfrm>
          <a:prstGeom prst="rect">
            <a:avLst/>
          </a:prstGeom>
        </p:spPr>
      </p:pic>
      <p:sp>
        <p:nvSpPr>
          <p:cNvPr id="10" name="Text 5"/>
          <p:cNvSpPr txBox="1"/>
          <p:nvPr/>
        </p:nvSpPr>
        <p:spPr>
          <a:xfrm>
            <a:off x="1051560" y="2252980"/>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Gaya </a:t>
            </a:r>
            <a:r>
              <a:rPr lang="id-ID" altLang="en-US" sz="1900" b="1" dirty="0">
                <a:solidFill>
                  <a:srgbClr val="1F2328"/>
                </a:solidFill>
              </a:rPr>
              <a:t>prosedural</a:t>
            </a:r>
            <a:r>
              <a:rPr lang="id-ID" altLang="en-US" sz="1900" dirty="0">
                <a:solidFill>
                  <a:srgbClr val="1F2328"/>
                </a:solidFill>
              </a:rPr>
              <a:t> memisahkan data dan fungsi. Pada program besar, data satu benda mudah tercerai-⁠berai.</a:t>
            </a:r>
            <a:endParaRPr lang="id-ID" sz="1900" dirty="0"/>
          </a:p>
        </p:txBody>
      </p:sp>
      <p:sp>
        <p:nvSpPr>
          <p:cNvPr id="11" name="Shape 6"/>
          <p:cNvSpPr/>
          <p:nvPr/>
        </p:nvSpPr>
        <p:spPr>
          <a:xfrm>
            <a:off x="548640" y="3050280"/>
            <a:ext cx="279667" cy="279667"/>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0167" y="3111806"/>
            <a:ext cx="156613" cy="156613"/>
          </a:xfrm>
          <a:prstGeom prst="rect">
            <a:avLst/>
          </a:prstGeom>
        </p:spPr>
      </p:pic>
      <p:sp>
        <p:nvSpPr>
          <p:cNvPr id="13" name="Text 7"/>
          <p:cNvSpPr txBox="1"/>
          <p:nvPr/>
        </p:nvSpPr>
        <p:spPr>
          <a:xfrm>
            <a:off x="1051560" y="3042920"/>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KedaiKita versi prosedural membuktikannya: data </a:t>
            </a:r>
            <a:r>
              <a:rPr lang="id-ID" altLang="en-US" sz="1900" b="1" dirty="0">
                <a:solidFill>
                  <a:srgbClr val="1F2328"/>
                </a:solidFill>
              </a:rPr>
              <a:t>tertukar</a:t>
            </a:r>
            <a:r>
              <a:rPr lang="id-ID" altLang="en-US" sz="1900" dirty="0">
                <a:solidFill>
                  <a:srgbClr val="1F2328"/>
                </a:solidFill>
              </a:rPr>
              <a:t> saat diurutkan, tanpa satu pun pesan </a:t>
            </a:r>
            <a:r>
              <a:rPr lang="id-ID" altLang="en-US" sz="1900" i="1" dirty="0">
                <a:solidFill>
                  <a:srgbClr val="1F2328"/>
                </a:solidFill>
              </a:rPr>
              <a:t>error</a:t>
            </a:r>
            <a:r>
              <a:rPr lang="id-ID" altLang="en-US" sz="1900" dirty="0">
                <a:solidFill>
                  <a:srgbClr val="1F2328"/>
                </a:solidFill>
              </a:rPr>
              <a:t>.</a:t>
            </a:r>
            <a:endParaRPr lang="id-ID" sz="1900" dirty="0"/>
          </a:p>
        </p:txBody>
      </p:sp>
      <p:sp>
        <p:nvSpPr>
          <p:cNvPr id="14" name="Shape 8"/>
          <p:cNvSpPr/>
          <p:nvPr/>
        </p:nvSpPr>
        <p:spPr>
          <a:xfrm>
            <a:off x="548640" y="3545834"/>
            <a:ext cx="279667" cy="279667"/>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0167" y="3607360"/>
            <a:ext cx="156613" cy="156613"/>
          </a:xfrm>
          <a:prstGeom prst="rect">
            <a:avLst/>
          </a:prstGeom>
        </p:spPr>
      </p:pic>
      <p:sp>
        <p:nvSpPr>
          <p:cNvPr id="16" name="Text 9"/>
          <p:cNvSpPr txBox="1"/>
          <p:nvPr/>
        </p:nvSpPr>
        <p:spPr>
          <a:xfrm>
            <a:off x="1051560" y="3538474"/>
            <a:ext cx="10591495" cy="340106"/>
          </a:xfrm>
          <a:prstGeom prst="rect">
            <a:avLst/>
          </a:prstGeom>
          <a:noFill/>
          <a:ln/>
        </p:spPr>
        <p:txBody>
          <a:bodyPr wrap="square" lIns="0" tIns="0" rIns="0" bIns="0" rtlCol="0" anchor="t"/>
          <a:lstStyle/>
          <a:p>
            <a:pPr indent="0" marL="0">
              <a:buNone/>
            </a:pPr>
            <a:r>
              <a:rPr lang="id-ID" altLang="en-US" sz="1900" b="1" dirty="0">
                <a:solidFill>
                  <a:srgbClr val="1F2328"/>
                </a:solidFill>
              </a:rPr>
              <a:t>PBO</a:t>
            </a:r>
            <a:r>
              <a:rPr lang="id-ID" altLang="en-US" sz="1900" dirty="0">
                <a:solidFill>
                  <a:srgbClr val="1F2328"/>
                </a:solidFill>
              </a:rPr>
              <a:t> menyusun program sebagai </a:t>
            </a:r>
            <a:r>
              <a:rPr lang="id-ID" altLang="en-US" sz="1900" b="1" dirty="0">
                <a:solidFill>
                  <a:srgbClr val="1F2328"/>
                </a:solidFill>
              </a:rPr>
              <a:t>objek</a:t>
            </a:r>
            <a:r>
              <a:rPr lang="id-ID" altLang="en-US" sz="1900" dirty="0">
                <a:solidFill>
                  <a:srgbClr val="1F2328"/>
                </a:solidFill>
              </a:rPr>
              <a:t> yang menyatukan </a:t>
            </a:r>
            <a:r>
              <a:rPr lang="id-ID" altLang="en-US" sz="1900" b="1" dirty="0">
                <a:solidFill>
                  <a:srgbClr val="1F2328"/>
                </a:solidFill>
              </a:rPr>
              <a:t>atribut</a:t>
            </a:r>
            <a:r>
              <a:rPr lang="id-ID" altLang="en-US" sz="1900" dirty="0">
                <a:solidFill>
                  <a:srgbClr val="1F2328"/>
                </a:solidFill>
              </a:rPr>
              <a:t> dan </a:t>
            </a:r>
            <a:r>
              <a:rPr lang="id-ID" altLang="en-US" sz="1900" b="1" i="1" dirty="0">
                <a:solidFill>
                  <a:srgbClr val="1F2328"/>
                </a:solidFill>
              </a:rPr>
              <a:t>method</a:t>
            </a:r>
            <a:r>
              <a:rPr lang="id-ID" altLang="en-US" sz="1900" dirty="0">
                <a:solidFill>
                  <a:srgbClr val="1F2328"/>
                </a:solidFill>
              </a:rPr>
              <a:t>, lalu saling </a:t>
            </a:r>
            <a:r>
              <a:rPr lang="id-ID" altLang="en-US" sz="1900" b="1" dirty="0">
                <a:solidFill>
                  <a:srgbClr val="1F2328"/>
                </a:solidFill>
              </a:rPr>
              <a:t>mengirim pesan</a:t>
            </a:r>
            <a:r>
              <a:rPr lang="id-ID" altLang="en-US" sz="1900" dirty="0">
                <a:solidFill>
                  <a:srgbClr val="1F2328"/>
                </a:solidFill>
              </a:rPr>
              <a:t>.</a:t>
            </a:r>
            <a:endParaRPr lang="id-ID" sz="1900" dirty="0"/>
          </a:p>
        </p:txBody>
      </p:sp>
      <p:sp>
        <p:nvSpPr>
          <p:cNvPr id="17" name="Shape 10"/>
          <p:cNvSpPr/>
          <p:nvPr/>
        </p:nvSpPr>
        <p:spPr>
          <a:xfrm>
            <a:off x="548640" y="4041388"/>
            <a:ext cx="279667" cy="279667"/>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0167" y="4102914"/>
            <a:ext cx="156613" cy="156613"/>
          </a:xfrm>
          <a:prstGeom prst="rect">
            <a:avLst/>
          </a:prstGeom>
        </p:spPr>
      </p:pic>
      <p:sp>
        <p:nvSpPr>
          <p:cNvPr id="19" name="Text 11"/>
          <p:cNvSpPr txBox="1"/>
          <p:nvPr/>
        </p:nvSpPr>
        <p:spPr>
          <a:xfrm>
            <a:off x="1051560" y="4034028"/>
            <a:ext cx="10591495" cy="340106"/>
          </a:xfrm>
          <a:prstGeom prst="rect">
            <a:avLst/>
          </a:prstGeom>
          <a:noFill/>
          <a:ln/>
        </p:spPr>
        <p:txBody>
          <a:bodyPr wrap="square" lIns="0" tIns="0" rIns="0" bIns="0" rtlCol="0" anchor="t"/>
          <a:lstStyle/>
          <a:p>
            <a:pPr indent="0" marL="0">
              <a:buNone/>
            </a:pPr>
            <a:r>
              <a:rPr lang="id-ID" altLang="en-US" sz="1900" b="1" dirty="0">
                <a:solidFill>
                  <a:srgbClr val="1F2328"/>
                </a:solidFill>
              </a:rPr>
              <a:t>Kelas</a:t>
            </a:r>
            <a:r>
              <a:rPr lang="id-ID" altLang="en-US" sz="1900" dirty="0">
                <a:solidFill>
                  <a:srgbClr val="1F2328"/>
                </a:solidFill>
              </a:rPr>
              <a:t> adalah rancangan, sedangkan </a:t>
            </a:r>
            <a:r>
              <a:rPr lang="id-ID" altLang="en-US" sz="1900" b="1" dirty="0">
                <a:solidFill>
                  <a:srgbClr val="1F2328"/>
                </a:solidFill>
              </a:rPr>
              <a:t>objek</a:t>
            </a:r>
            <a:r>
              <a:rPr lang="id-ID" altLang="en-US" sz="1900" dirty="0">
                <a:solidFill>
                  <a:srgbClr val="1F2328"/>
                </a:solidFill>
              </a:rPr>
              <a:t> adalah wujud nyatanya. Detailnya dibahas di Pertemuan 02.</a:t>
            </a:r>
            <a:endParaRPr lang="id-ID" sz="1900" dirty="0"/>
          </a:p>
        </p:txBody>
      </p:sp>
      <p:sp>
        <p:nvSpPr>
          <p:cNvPr id="20" name="Shape 12"/>
          <p:cNvSpPr/>
          <p:nvPr/>
        </p:nvSpPr>
        <p:spPr>
          <a:xfrm>
            <a:off x="548640" y="4536942"/>
            <a:ext cx="279667" cy="279667"/>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0167" y="4598468"/>
            <a:ext cx="156613" cy="156613"/>
          </a:xfrm>
          <a:prstGeom prst="rect">
            <a:avLst/>
          </a:prstGeom>
        </p:spPr>
      </p:pic>
      <p:sp>
        <p:nvSpPr>
          <p:cNvPr id="22" name="Text 13"/>
          <p:cNvSpPr txBox="1"/>
          <p:nvPr/>
        </p:nvSpPr>
        <p:spPr>
          <a:xfrm>
            <a:off x="1051560" y="4529582"/>
            <a:ext cx="10591495" cy="634492"/>
          </a:xfrm>
          <a:prstGeom prst="rect">
            <a:avLst/>
          </a:prstGeom>
          <a:noFill/>
          <a:ln/>
        </p:spPr>
        <p:txBody>
          <a:bodyPr wrap="square" lIns="0" tIns="0" rIns="0" bIns="0" rtlCol="0" anchor="t"/>
          <a:lstStyle/>
          <a:p>
            <a:pPr indent="0" marL="0">
              <a:buNone/>
            </a:pPr>
            <a:r>
              <a:rPr lang="id-ID" altLang="en-US" sz="1900" b="1" dirty="0">
                <a:solidFill>
                  <a:srgbClr val="1F2328"/>
                </a:solidFill>
              </a:rPr>
              <a:t>Empat pilar PBO</a:t>
            </a:r>
            <a:r>
              <a:rPr lang="id-ID" altLang="en-US" sz="1900" dirty="0">
                <a:solidFill>
                  <a:srgbClr val="1F2328"/>
                </a:solidFill>
              </a:rPr>
              <a:t>: enkapsulasi, pewarisan, polimorfisme, dan abstraksi, masing-⁠masing punya pertemuan sendiri.</a:t>
            </a:r>
            <a:endParaRPr lang="id-ID" sz="1900" dirty="0"/>
          </a:p>
        </p:txBody>
      </p:sp>
      <p:sp>
        <p:nvSpPr>
          <p:cNvPr id="23" name="Shape 14"/>
          <p:cNvSpPr/>
          <p:nvPr/>
        </p:nvSpPr>
        <p:spPr>
          <a:xfrm>
            <a:off x="548640" y="5326882"/>
            <a:ext cx="279667" cy="279667"/>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0167" y="5388408"/>
            <a:ext cx="156613" cy="156613"/>
          </a:xfrm>
          <a:prstGeom prst="rect">
            <a:avLst/>
          </a:prstGeom>
        </p:spPr>
      </p:pic>
      <p:sp>
        <p:nvSpPr>
          <p:cNvPr id="25" name="Text 15"/>
          <p:cNvSpPr txBox="1"/>
          <p:nvPr/>
        </p:nvSpPr>
        <p:spPr>
          <a:xfrm>
            <a:off x="1051560" y="5319522"/>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PBO unggul untuk program besar, tetapi bisa berlebihan untuk skrip kecil. Pilih satu jalur: </a:t>
            </a:r>
            <a:r>
              <a:rPr lang="id-ID" altLang="en-US" sz="1900" b="1" dirty="0">
                <a:solidFill>
                  <a:srgbClr val="1F2328"/>
                </a:solidFill>
              </a:rPr>
              <a:t>Python</a:t>
            </a:r>
            <a:r>
              <a:rPr lang="id-ID" altLang="en-US" sz="1900" dirty="0">
                <a:solidFill>
                  <a:srgbClr val="1F2328"/>
                </a:solidFill>
              </a:rPr>
              <a:t> atau </a:t>
            </a:r>
            <a:r>
              <a:rPr lang="id-ID" altLang="en-US" sz="1900" b="1" dirty="0">
                <a:solidFill>
                  <a:srgbClr val="1F2328"/>
                </a:solidFill>
              </a:rPr>
              <a:t>Java</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472692"/>
            <a:ext cx="137160" cy="137160"/>
          </a:xfrm>
          <a:prstGeom prst="roundRect">
            <a:avLst>
              <a:gd name="adj" fmla="val 166667"/>
            </a:avLst>
          </a:prstGeom>
          <a:solidFill>
            <a:srgbClr val="FB8F44"/>
          </a:solidFill>
          <a:ln/>
        </p:spPr>
      </p:sp>
      <p:sp>
        <p:nvSpPr>
          <p:cNvPr id="6" name="Text 3"/>
          <p:cNvSpPr txBox="1"/>
          <p:nvPr/>
        </p:nvSpPr>
        <p:spPr>
          <a:xfrm>
            <a:off x="932688" y="1417320"/>
            <a:ext cx="7114032" cy="541528"/>
          </a:xfrm>
          <a:prstGeom prst="rect">
            <a:avLst/>
          </a:prstGeom>
          <a:noFill/>
          <a:ln/>
        </p:spPr>
        <p:txBody>
          <a:bodyPr wrap="square" lIns="0" tIns="0" rIns="0" bIns="0" rtlCol="0" anchor="t"/>
          <a:lstStyle/>
          <a:p>
            <a:pPr indent="0" marL="0">
              <a:buNone/>
            </a:pPr>
            <a:r>
              <a:rPr lang="id-ID" altLang="en-US" sz="1600" dirty="0">
                <a:solidFill>
                  <a:srgbClr val="FFFFFF"/>
                </a:solidFill>
              </a:rPr>
              <a:t>Pilih jalurmu, cek alat di terminal, lalu jalankan contoh 01⁠—⁠06 dan kedua program KedaiKita.</a:t>
            </a:r>
            <a:endParaRPr lang="id-ID" sz="1600" dirty="0"/>
          </a:p>
        </p:txBody>
      </p:sp>
      <p:sp>
        <p:nvSpPr>
          <p:cNvPr id="7" name="Shape 4"/>
          <p:cNvSpPr/>
          <p:nvPr/>
        </p:nvSpPr>
        <p:spPr>
          <a:xfrm>
            <a:off x="603504" y="2151380"/>
            <a:ext cx="137160" cy="137160"/>
          </a:xfrm>
          <a:prstGeom prst="roundRect">
            <a:avLst>
              <a:gd name="adj" fmla="val 166667"/>
            </a:avLst>
          </a:prstGeom>
          <a:solidFill>
            <a:srgbClr val="FB8F44"/>
          </a:solidFill>
          <a:ln/>
        </p:spPr>
      </p:sp>
      <p:sp>
        <p:nvSpPr>
          <p:cNvPr id="8" name="Text 5"/>
          <p:cNvSpPr txBox="1"/>
          <p:nvPr/>
        </p:nvSpPr>
        <p:spPr>
          <a:xfrm>
            <a:off x="932688" y="2096008"/>
            <a:ext cx="7114032" cy="541528"/>
          </a:xfrm>
          <a:prstGeom prst="rect">
            <a:avLst/>
          </a:prstGeom>
          <a:noFill/>
          <a:ln/>
        </p:spPr>
        <p:txBody>
          <a:bodyPr wrap="square" lIns="0" tIns="0" rIns="0" bIns="0" rtlCol="0" anchor="t"/>
          <a:lstStyle/>
          <a:p>
            <a:pPr indent="0" marL="0">
              <a:buNone/>
            </a:pPr>
            <a:r>
              <a:rPr lang="id-ID" altLang="en-US" sz="1600" dirty="0">
                <a:solidFill>
                  <a:srgbClr val="FFFFFF"/>
                </a:solidFill>
              </a:rPr>
              <a:t>Kerjakan latihan, lalu cek pemahamanmu dengan kuis 10 soal (target minimal 8 benar).</a:t>
            </a:r>
            <a:endParaRPr lang="id-ID" sz="1600" dirty="0"/>
          </a:p>
        </p:txBody>
      </p:sp>
      <p:sp>
        <p:nvSpPr>
          <p:cNvPr id="9" name="Shape 6"/>
          <p:cNvSpPr/>
          <p:nvPr/>
        </p:nvSpPr>
        <p:spPr>
          <a:xfrm>
            <a:off x="603504" y="2830068"/>
            <a:ext cx="137160" cy="137160"/>
          </a:xfrm>
          <a:prstGeom prst="roundRect">
            <a:avLst>
              <a:gd name="adj" fmla="val 166667"/>
            </a:avLst>
          </a:prstGeom>
          <a:solidFill>
            <a:srgbClr val="FB8F44"/>
          </a:solidFill>
          <a:ln/>
        </p:spPr>
      </p:sp>
      <p:sp>
        <p:nvSpPr>
          <p:cNvPr id="10" name="Text 7"/>
          <p:cNvSpPr txBox="1"/>
          <p:nvPr/>
        </p:nvSpPr>
        <p:spPr>
          <a:xfrm>
            <a:off x="932688" y="2774696"/>
            <a:ext cx="7114032" cy="293624"/>
          </a:xfrm>
          <a:prstGeom prst="rect">
            <a:avLst/>
          </a:prstGeom>
          <a:noFill/>
          <a:ln/>
        </p:spPr>
        <p:txBody>
          <a:bodyPr wrap="square" lIns="0" tIns="0" rIns="0" bIns="0" rtlCol="0" anchor="t"/>
          <a:lstStyle/>
          <a:p>
            <a:pPr indent="0" marL="0">
              <a:buNone/>
            </a:pPr>
            <a:r>
              <a:rPr lang="id-ID" altLang="en-US" sz="1600" dirty="0">
                <a:solidFill>
                  <a:srgbClr val="FFFFFF"/>
                </a:solidFill>
              </a:rPr>
              <a:t>Simpan semua percobaanmu di folder </a:t>
            </a:r>
            <a:r>
              <a:rPr lang="id-ID" altLang="en-US" sz="1600" dirty="0">
                <a:solidFill>
                  <a:srgbClr val="DDF4FF"/>
                </a:solidFill>
                <a:latin typeface="Consolas" pitchFamily="34" charset="0"/>
                <a:ea typeface="Consolas" pitchFamily="34" charset="-122"/>
                <a:cs typeface="Consolas" pitchFamily="34" charset="-120"/>
              </a:rPr>
              <a:t>PBO-latihan-saya/pertemuan-01/</a:t>
            </a:r>
            <a:r>
              <a:rPr lang="id-ID" altLang="en-US" sz="1600" dirty="0">
                <a:solidFill>
                  <a:srgbClr val="FFFFFF"/>
                </a:solidFill>
              </a:rPr>
              <a:t>.</a:t>
            </a:r>
            <a:endParaRPr lang="id-ID" sz="1600" dirty="0"/>
          </a:p>
        </p:txBody>
      </p:sp>
      <p:sp>
        <p:nvSpPr>
          <p:cNvPr id="11" name="Text 8"/>
          <p:cNvSpPr txBox="1"/>
          <p:nvPr/>
        </p:nvSpPr>
        <p:spPr>
          <a:xfrm>
            <a:off x="548640" y="3342640"/>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3799840"/>
            <a:ext cx="3666744" cy="457200"/>
          </a:xfrm>
          <a:prstGeom prst="roundRect">
            <a:avLst>
              <a:gd name="adj" fmla="val 100000"/>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3900424"/>
            <a:ext cx="256032" cy="256032"/>
          </a:xfrm>
          <a:prstGeom prst="rect">
            <a:avLst/>
          </a:prstGeom>
        </p:spPr>
      </p:pic>
      <p:sp>
        <p:nvSpPr>
          <p:cNvPr id="14" name="Text 10"/>
          <p:cNvSpPr txBox="1"/>
          <p:nvPr/>
        </p:nvSpPr>
        <p:spPr>
          <a:xfrm>
            <a:off x="1051560" y="379984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5" name="Shape 11"/>
          <p:cNvSpPr/>
          <p:nvPr/>
        </p:nvSpPr>
        <p:spPr>
          <a:xfrm>
            <a:off x="4379976" y="3799840"/>
            <a:ext cx="3666744" cy="457200"/>
          </a:xfrm>
          <a:prstGeom prst="roundRect">
            <a:avLst>
              <a:gd name="adj" fmla="val 100000"/>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4526280" y="3900424"/>
            <a:ext cx="256032" cy="256032"/>
          </a:xfrm>
          <a:prstGeom prst="rect">
            <a:avLst/>
          </a:prstGeom>
        </p:spPr>
      </p:pic>
      <p:sp>
        <p:nvSpPr>
          <p:cNvPr id="17" name="Text 12"/>
          <p:cNvSpPr txBox="1"/>
          <p:nvPr/>
        </p:nvSpPr>
        <p:spPr>
          <a:xfrm>
            <a:off x="4882896" y="3799840"/>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8" name="Shape 13"/>
          <p:cNvSpPr/>
          <p:nvPr/>
        </p:nvSpPr>
        <p:spPr>
          <a:xfrm>
            <a:off x="548640" y="4385056"/>
            <a:ext cx="3666744" cy="457200"/>
          </a:xfrm>
          <a:prstGeom prst="roundRect">
            <a:avLst>
              <a:gd name="adj" fmla="val 100000"/>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694944" y="4485640"/>
            <a:ext cx="256032" cy="256032"/>
          </a:xfrm>
          <a:prstGeom prst="rect">
            <a:avLst/>
          </a:prstGeom>
        </p:spPr>
      </p:pic>
      <p:sp>
        <p:nvSpPr>
          <p:cNvPr id="20" name="Text 14"/>
          <p:cNvSpPr txBox="1"/>
          <p:nvPr/>
        </p:nvSpPr>
        <p:spPr>
          <a:xfrm>
            <a:off x="1051560" y="438505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21" name="Shape 15"/>
          <p:cNvSpPr/>
          <p:nvPr/>
        </p:nvSpPr>
        <p:spPr>
          <a:xfrm>
            <a:off x="4379976" y="4385056"/>
            <a:ext cx="3666744" cy="457200"/>
          </a:xfrm>
          <a:prstGeom prst="roundRect">
            <a:avLst>
              <a:gd name="adj" fmla="val 100000"/>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4526280" y="4485640"/>
            <a:ext cx="256032" cy="256032"/>
          </a:xfrm>
          <a:prstGeom prst="rect">
            <a:avLst/>
          </a:prstGeom>
        </p:spPr>
      </p:pic>
      <p:sp>
        <p:nvSpPr>
          <p:cNvPr id="23" name="Text 16"/>
          <p:cNvSpPr txBox="1"/>
          <p:nvPr/>
        </p:nvSpPr>
        <p:spPr>
          <a:xfrm>
            <a:off x="4882896" y="438505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4" name="Shape 17"/>
          <p:cNvSpPr/>
          <p:nvPr/>
        </p:nvSpPr>
        <p:spPr>
          <a:xfrm>
            <a:off x="548640" y="4970272"/>
            <a:ext cx="3666744" cy="457200"/>
          </a:xfrm>
          <a:prstGeom prst="roundRect">
            <a:avLst>
              <a:gd name="adj" fmla="val 100000"/>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694944" y="5070856"/>
            <a:ext cx="256032" cy="256032"/>
          </a:xfrm>
          <a:prstGeom prst="rect">
            <a:avLst/>
          </a:prstGeom>
        </p:spPr>
      </p:pic>
      <p:sp>
        <p:nvSpPr>
          <p:cNvPr id="26" name="Text 18"/>
          <p:cNvSpPr txBox="1"/>
          <p:nvPr/>
        </p:nvSpPr>
        <p:spPr>
          <a:xfrm>
            <a:off x="1051560" y="497027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7" name="Shape 19"/>
          <p:cNvSpPr/>
          <p:nvPr/>
        </p:nvSpPr>
        <p:spPr>
          <a:xfrm>
            <a:off x="4379976" y="4970272"/>
            <a:ext cx="3666744" cy="457200"/>
          </a:xfrm>
          <a:prstGeom prst="roundRect">
            <a:avLst>
              <a:gd name="adj" fmla="val 100000"/>
            </a:avLst>
          </a:prstGeom>
          <a:solidFill>
            <a:srgbClr val="12407F"/>
          </a:solidFill>
          <a:ln w="12700">
            <a:solidFill>
              <a:srgbClr val="2F6FB5"/>
            </a:solidFill>
            <a:prstDash val="solid"/>
          </a:ln>
        </p:spPr>
      </p:sp>
      <p:pic>
        <p:nvPicPr>
          <p:cNvPr id="28" name="Image 6" descr="preencoded.png">    </p:cNvPr>
          <p:cNvPicPr>
            <a:picLocks noChangeAspect="1"/>
          </p:cNvPicPr>
          <p:nvPr/>
        </p:nvPicPr>
        <p:blipFill>
          <a:blip r:embed="rId12"/>
          <a:stretch>
            <a:fillRect/>
          </a:stretch>
        </p:blipFill>
        <p:spPr>
          <a:xfrm>
            <a:off x="4526280" y="5070856"/>
            <a:ext cx="256032" cy="256032"/>
          </a:xfrm>
          <a:prstGeom prst="rect">
            <a:avLst/>
          </a:prstGeom>
        </p:spPr>
      </p:pic>
      <p:sp>
        <p:nvSpPr>
          <p:cNvPr id="29" name="Text 20"/>
          <p:cNvSpPr txBox="1"/>
          <p:nvPr/>
        </p:nvSpPr>
        <p:spPr>
          <a:xfrm>
            <a:off x="4882896" y="497027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30" name="Shape 21"/>
          <p:cNvSpPr/>
          <p:nvPr/>
        </p:nvSpPr>
        <p:spPr>
          <a:xfrm>
            <a:off x="8503920" y="1280160"/>
            <a:ext cx="2880360" cy="2880360"/>
          </a:xfrm>
          <a:prstGeom prst="roundRect">
            <a:avLst>
              <a:gd name="adj" fmla="val 1411"/>
            </a:avLst>
          </a:prstGeom>
          <a:solidFill>
            <a:srgbClr val="FFFFFF"/>
          </a:solidFill>
          <a:ln/>
        </p:spPr>
      </p:sp>
      <p:pic>
        <p:nvPicPr>
          <p:cNvPr id="31"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2" name="Text 22"/>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3" name="Text 23"/>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github.com/antonprafanto/PBO2026/tree/master/Pertemuan-01-Pengenalan-PBO</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01: Pengenalan PBO dan Persiapan Alat</dc:title>
  <dc:subject>Pemrograman Berorientasi Objek 2026</dc:subject>
  <dc:creator>PBO 2026 UNMUL</dc:creator>
  <cp:lastModifiedBy>PBO 2026 UNMUL</cp:lastModifiedBy>
  <cp:revision>1</cp:revision>
  <dcterms:created xsi:type="dcterms:W3CDTF">2026-10-15T02:18:32Z</dcterms:created>
  <dcterms:modified xsi:type="dcterms:W3CDTF">2026-10-15T02:18:32Z</dcterms:modified>
</cp:coreProperties>
</file>