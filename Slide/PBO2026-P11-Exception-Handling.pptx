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3df2ba9f-e6c7-2b59-36b5-a96e0cb25d5b}">
          <p14:sldIdLst>
            <p14:sldId id="256"/>
            <p14:sldId id="257"/>
            <p14:sldId id="258"/>
            <p14:sldId id="259"/>
          </p14:sldIdLst>
        </p14:section>
        <p14:section name="Exception: Peluit Wasit di dalam Program" id="{b4deb9f1-6a1c-0834-7534-2ed99246ce51}">
          <p14:sldIdLst>
            <p14:sldId id="260"/>
            <p14:sldId id="261"/>
            <p14:sldId id="262"/>
            <p14:sldId id="263"/>
            <p14:sldId id="264"/>
          </p14:sldIdLst>
        </p14:section>
        <p14:section name="Traceback dan Blok try" id="{2f36ec74-7e08-cde9-8050-79c9a75a5566}">
          <p14:sldIdLst>
            <p14:sldId id="265"/>
            <p14:sldId id="266"/>
            <p14:sldId id="267"/>
            <p14:sldId id="268"/>
            <p14:sldId id="269"/>
          </p14:sldIdLst>
        </p14:section>
        <p14:section name="Banyak Penangkap, Melempar, dan Chaining" id="{4e5114b6-efa1-a078-2996-f0edd5a28c21}">
          <p14:sldIdLst>
            <p14:sldId id="270"/>
            <p14:sldId id="271"/>
            <p14:sldId id="272"/>
            <p14:sldId id="273"/>
          </p14:sldIdLst>
        </p14:section>
        <p14:section name="Checked dan Unchecked (Khusus Java)" id="{8e552735-5db0-3737-8564-254ce630ddb3}">
          <p14:sldIdLst>
            <p14:sldId id="274"/>
            <p14:sldId id="275"/>
            <p14:sldId id="276"/>
          </p14:sldIdLst>
        </p14:section>
        <p14:section name="Studi Kasus KedaiKita" id="{e5e2deec-a817-0c85-4446-f4d250f7f421}">
          <p14:sldIdLst>
            <p14:sldId id="277"/>
            <p14:sldId id="278"/>
            <p14:sldId id="279"/>
            <p14:sldId id="280"/>
          </p14:sldIdLst>
        </p14:section>
        <p14:section name="Cek Pemahaman" id="{cf8d9949-b62a-7b41-0c85-54bf1aaaa151}">
          <p14:sldIdLst>
            <p14:sldId id="281"/>
            <p14:sldId id="282"/>
            <p14:sldId id="283"/>
            <p14:sldId id="284"/>
            <p14:sldId id="285"/>
          </p14:sldIdLst>
        </p14:section>
        <p14:section name="Penutup" id="{d74f6695-7d53-9e67-aa11-2c4ad3a2c209}">
          <p14:sldIdLst>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Selamat datang di Pertemuan 11. Program yang baik bukan program yang tidak pernah bertemu masalah, melainkan program yang tahu harus berbuat apa saat masalah datang. Hari ini kita belajar </a:t>
            </a:r>
            <a:r>
              <a:rPr lang="id-ID" dirty="0" i="1"/>
              <a:t>exception handling</a:t>
            </a:r>
            <a:r>
              <a:rPr lang="id-ID" dirty="0"/>
              <a:t>: melaporkan kesalahan dengan jelas, menangkapnya di tempat yang tepat, dan tetap membereskan semuanya. KedaiKita pun berhenti memakai </a:t>
            </a:r>
            <a:r>
              <a:rPr lang="en-US" dirty="0">
                <a:latin typeface="Consolas"/>
              </a:rPr>
              <a:t>None</a:t>
            </a:r>
            <a:r>
              <a:rPr lang="id-ID" dirty="0"/>
              <a:t>/</a:t>
            </a:r>
            <a:r>
              <a:rPr lang="en-US" dirty="0">
                <a:latin typeface="Consolas"/>
              </a:rPr>
              <a:t>null</a:t>
            </a:r>
            <a:r>
              <a:rPr lang="id-ID" dirty="0"/>
              <a:t> dan </a:t>
            </a:r>
            <a:r>
              <a:rPr lang="en-US" dirty="0">
                <a:latin typeface="Consolas"/>
              </a:rPr>
              <a:t>False</a:t>
            </a:r>
            <a:r>
              <a:rPr lang="id-ID" dirty="0"/>
              <a:t>/</a:t>
            </a:r>
            <a:r>
              <a:rPr lang="en-US" dirty="0">
                <a:latin typeface="Consolas"/>
              </a:rPr>
              <a:t>false</a:t>
            </a:r>
            <a:r>
              <a:rPr lang="id-ID" dirty="0"/>
              <a:t> sebagai tanda gagal. Semua materi, kode, latihan, dan kuis pertemuan ini ada di repositori GitHub mata kuliah, di folder Pertemuan-11-Exception-Handling.</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enam kemampuan yang kita kejar hari ini. Di akhir pertemuan, cek lagi satu per satu: sudahkah kamu bisa menjelaskannya dengan kata-katamu sendiri? Urutan belajarnya sama seperti biasa: konsep di </a:t>
            </a:r>
            <a:r>
              <a:rPr lang="id-ID" dirty="0" i="1"/>
              <a:t>slide</a:t>
            </a:r>
            <a:r>
              <a:rPr lang="id-ID" dirty="0"/>
              <a:t> ini, praktik di halaman Python atau Java, lalu halaman Jembatan Python ↔ Java, latihan, dan kuis. Perhatikan tujuan terakhir: </a:t>
            </a:r>
            <a:r>
              <a:rPr lang="id-ID" dirty="0" i="1"/>
              <a:t>checked exception</a:t>
            </a:r>
            <a:r>
              <a:rPr lang="id-ID" dirty="0"/>
              <a:t> hanya ada di Java, jadi bagian itu khusus untuk jalur Java, tetapi jalur Python tetap perlu tahu alasannya.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Ingat empat hal ini. Di Pertemuan 04 kita sudah melempar </a:t>
            </a:r>
            <a:r>
              <a:rPr lang="id-ID" dirty="0" i="1"/>
              <a:t>exception</a:t>
            </a:r>
            <a:r>
              <a:rPr lang="id-ID" dirty="0"/>
              <a:t> untuk menolak data, tetapi cara menangkapnya baru diintip sekilas. Di Pertemuan 05, pencarian menu yang gagal mengembalikan </a:t>
            </a:r>
            <a:r>
              <a:rPr lang="en-US" dirty="0">
                <a:latin typeface="Consolas"/>
              </a:rPr>
              <a:t>None</a:t>
            </a:r>
            <a:r>
              <a:rPr lang="id-ID" dirty="0"/>
              <a:t> atau </a:t>
            </a:r>
            <a:r>
              <a:rPr lang="en-US" dirty="0">
                <a:latin typeface="Consolas"/>
              </a:rPr>
              <a:t>null</a:t>
            </a:r>
            <a:r>
              <a:rPr lang="id-ID" dirty="0"/>
              <a:t>. Di Pertemuan 07 kita belajar pewarisan, dan hari ini pewarisan dipakai lagi karena setiap jenis </a:t>
            </a:r>
            <a:r>
              <a:rPr lang="id-ID" dirty="0" i="1"/>
              <a:t>exception</a:t>
            </a:r>
            <a:r>
              <a:rPr lang="id-ID" dirty="0"/>
              <a:t> adalah kelas. Di Pertemuan 10, pembayaran mengembalikan benar atau salah sehingga pemanggil harus rajin memeriksa: kalau gagal, coba metode lain. Hari ini semua tanda gagal itu kita ganti dengan cara yang lebih tegas.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alur kita hari ini. Kita mulai dari cerita kasir KedaiKita yang bertemu masalah, lalu berkenalan dengan </a:t>
            </a:r>
            <a:r>
              <a:rPr lang="id-ID" dirty="0" i="1"/>
              <a:t>exception</a:t>
            </a:r>
            <a:r>
              <a:rPr lang="id-ID" dirty="0"/>
              <a:t> dan cara membaca laporan kesalahannya. Setelah itu kita belajar menangkap, melempar, dan membungkus </a:t>
            </a:r>
            <a:r>
              <a:rPr lang="id-ID" dirty="0" i="1"/>
              <a:t>exception</a:t>
            </a:r>
            <a:r>
              <a:rPr lang="id-ID" dirty="0"/>
              <a:t>. Bagian keempat khusus Java, yaitu </a:t>
            </a:r>
            <a:r>
              <a:rPr lang="id-ID" dirty="0" i="1"/>
              <a:t>checked exception</a:t>
            </a:r>
            <a:r>
              <a:rPr lang="id-ID" dirty="0"/>
              <a:t>. Di akhir, KedaiKita mengganti semua tanda gagal lama dengan </a:t>
            </a:r>
            <a:r>
              <a:rPr lang="id-ID" dirty="0" i="1"/>
              <a:t>exception</a:t>
            </a:r>
            <a:r>
              <a:rPr lang="id-ID" dirty="0"/>
              <a:t> buatan sendiri.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Kita mulai dari cerita di kasir KedaiKita. Dari situ kita lihat mengapa cara lama menandai kegagalan belum cukup, lalu berkenalan dengan </a:t>
            </a:r>
            <a:r>
              <a:rPr lang="id-ID" dirty="0" i="1"/>
              <a:t>exception</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Sore hari di KedaiKita, antrean panjang. Budi memesan kode M99 yang tidak ada dan ingin 50 porsi Mie Goreng Jawa padahal stoknya tinggal 10, sedangkan saldo </a:t>
            </a:r>
            <a:r>
              <a:rPr lang="id-ID" dirty="0" i="1"/>
              <a:t>e-wallet</a:t>
            </a:r>
            <a:r>
              <a:rPr lang="id-ID" dirty="0"/>
              <a:t> Siti kurang. Sampai Pertemuan 10, program melaporkan kegagalan dengan nilai khusus. Cara ini punya tiga kelemahan: mudah lupa dicek sehingga program meledak di tempat lain dengan pesan yang menyesatkan, tidak menjelaskan alasan, dan kode utama tertimbun </a:t>
            </a:r>
            <a:r>
              <a:rPr lang="en-US" dirty="0">
                <a:latin typeface="Consolas"/>
              </a:rPr>
              <a:t>if</a:t>
            </a:r>
            <a:r>
              <a:rPr lang="id-ID" dirty="0"/>
              <a:t>. Bandingkan dengan wasit yang meniup peluit: tidak ada pemain yang bisa pura-pura tidak mendengar. Wasit yang hanya menulis catatan kecil di sakunya membiarkan pertandingan jalan terus. </a:t>
            </a:r>
            <a:r>
              <a:rPr lang="id-ID" dirty="0" i="1"/>
              <a:t>Exception</a:t>
            </a:r>
            <a:r>
              <a:rPr lang="id-ID" dirty="0"/>
              <a:t> adalah peluit wasit di dalam program.</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Tidak semua kesalahan sama. Kesalahan sintaks ketahuan sebelum program berjalan dan diperbaiki dengan membaca pesan dari </a:t>
            </a:r>
            <a:r>
              <a:rPr lang="id-ID" dirty="0" i="1"/>
              <a:t>interpreter</a:t>
            </a:r>
            <a:r>
              <a:rPr lang="id-ID" dirty="0"/>
              <a:t> atau </a:t>
            </a:r>
            <a:r>
              <a:rPr lang="id-ID" dirty="0" i="1"/>
              <a:t>compiler</a:t>
            </a:r>
            <a:r>
              <a:rPr lang="id-ID" dirty="0"/>
              <a:t>. Kesalahan saat berjalan, misalnya membagi dengan nol, mengubah teks "dua" menjadi angka, atau indeks di luar batas, membuat program berhenti mendadak kecuali ditangani. Inilah urusan </a:t>
            </a:r>
            <a:r>
              <a:rPr lang="id-ID" dirty="0" i="1"/>
              <a:t>exception handling</a:t>
            </a:r>
            <a:r>
              <a:rPr lang="id-ID" dirty="0"/>
              <a:t>. Kesalahan logika paling licik: program berjalan lancar, tetapi hasilnya salah. Kesalahan jenis ini hanya bisa ditemukan lewat pengujian, dan kita mencoba </a:t>
            </a:r>
            <a:r>
              <a:rPr lang="id-ID" dirty="0" i="1"/>
              <a:t>unit test</a:t>
            </a:r>
            <a:r>
              <a:rPr lang="id-ID" dirty="0"/>
              <a:t> di Pertemuan 15. Catatan: </a:t>
            </a:r>
            <a:r>
              <a:rPr lang="id-ID" dirty="0" i="1"/>
              <a:t>compiler</a:t>
            </a:r>
            <a:r>
              <a:rPr lang="id-ID" dirty="0"/>
              <a:t> Java memeriksa lebih banyak hal sebelum program berjalan, termasuk </a:t>
            </a:r>
            <a:r>
              <a:rPr lang="id-ID" dirty="0" i="1"/>
              <a:t>exception</a:t>
            </a:r>
            <a:r>
              <a:rPr lang="id-ID" dirty="0"/>
              <a:t> tertentu yang lupa ditangani, seperti yang akan kita lihat saat membahas </a:t>
            </a:r>
            <a:r>
              <a:rPr lang="id-ID" dirty="0" i="1"/>
              <a:t>checked exception</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definisi resminya. </a:t>
            </a:r>
            <a:r>
              <a:rPr lang="id-ID" dirty="0" i="1"/>
              <a:t>Exception</a:t>
            </a:r>
            <a:r>
              <a:rPr lang="id-ID" dirty="0"/>
              <a:t> adalah objek, bukan sekadar pesan. Saat masalah terjadi, objek itu dilempar: Python memakai kata </a:t>
            </a:r>
            <a:r>
              <a:rPr lang="en-US" dirty="0">
                <a:latin typeface="Consolas"/>
              </a:rPr>
              <a:t>raise</a:t>
            </a:r>
            <a:r>
              <a:rPr lang="id-ID" dirty="0"/>
              <a:t>, sedangkan Java memakai </a:t>
            </a:r>
            <a:r>
              <a:rPr lang="en-US" dirty="0">
                <a:latin typeface="Consolas"/>
              </a:rPr>
              <a:t>throw</a:t>
            </a:r>
            <a:r>
              <a:rPr lang="id-ID" dirty="0"/>
              <a:t>. Alur normal langsung berhenti, dan </a:t>
            </a:r>
            <a:r>
              <a:rPr lang="id-ID" dirty="0" i="1"/>
              <a:t>exception</a:t>
            </a:r>
            <a:r>
              <a:rPr lang="id-ID" dirty="0"/>
              <a:t> mencari penangkap yang mau menanganinya, yaitu blok </a:t>
            </a:r>
            <a:r>
              <a:rPr lang="en-US" dirty="0">
                <a:latin typeface="Consolas"/>
              </a:rPr>
              <a:t>except</a:t>
            </a:r>
            <a:r>
              <a:rPr lang="id-ID" dirty="0"/>
              <a:t> di Python atau </a:t>
            </a:r>
            <a:r>
              <a:rPr lang="en-US" dirty="0">
                <a:latin typeface="Consolas"/>
              </a:rPr>
              <a:t>catch</a:t>
            </a:r>
            <a:r>
              <a:rPr lang="id-ID" dirty="0"/>
              <a:t> di Java. Karena </a:t>
            </a:r>
            <a:r>
              <a:rPr lang="id-ID" dirty="0" i="1"/>
              <a:t>exception</a:t>
            </a:r>
            <a:r>
              <a:rPr lang="id-ID" dirty="0"/>
              <a:t> adalah objek, ia punya kelas yang menunjukkan jenis kesalahannya, punya pesan, dan boleh membawa data tambahan, misalnya jumlah stok yang tersedia. Itulah sebabnya topik ini ada di mata kuliah PBO.</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Ke mana </a:t>
            </a:r>
            <a:r>
              <a:rPr lang="id-ID" dirty="0" i="1"/>
              <a:t>exception</a:t>
            </a:r>
            <a:r>
              <a:rPr lang="id-ID" dirty="0"/>
              <a:t> mencari penangkap? Bayangkan dapur KedaiKita. Juru masak mendapati stok mie habis. Ia tidak berhak memutuskan sendiri, jadi ia melapor ke kasir. Kasir juga tidak berwenang mengganti pesanan, jadi ia melapor ke manajer, dan manajer memutuskan: tawarkan Nasi Goreng sebagai gantinya. </a:t>
            </a:r>
            <a:r>
              <a:rPr lang="id-ID" dirty="0" i="1"/>
              <a:t>Exception</a:t>
            </a:r>
            <a:r>
              <a:rPr lang="id-ID" dirty="0"/>
              <a:t> bergerak dengan cara yang sama. Ia lahir di sebuah </a:t>
            </a:r>
            <a:r>
              <a:rPr lang="id-ID" dirty="0" i="1"/>
              <a:t>method</a:t>
            </a:r>
            <a:r>
              <a:rPr lang="id-ID" dirty="0"/>
              <a:t>, lalu merambat (</a:t>
            </a:r>
            <a:r>
              <a:rPr lang="id-ID" dirty="0" i="1"/>
              <a:t>propagate</a:t>
            </a:r>
            <a:r>
              <a:rPr lang="id-ID" dirty="0"/>
              <a:t>) ke pemanggilnya, terus ke atas, sampai ada yang menangkap. Jika </a:t>
            </a:r>
            <a:r>
              <a:rPr lang="en-US" dirty="0">
                <a:latin typeface="Consolas"/>
              </a:rPr>
              <a:t>main</a:t>
            </a:r>
            <a:r>
              <a:rPr lang="id-ID" dirty="0"/>
              <a:t> pun tidak menangkapnya, program berhenti dan mencetak laporan kesalahan. Laporan itu kita bahas berikutnya.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Kita lihat dulu apa yang terjadi jika </a:t>
            </a:r>
            <a:r>
              <a:rPr lang="id-ID" dirty="0" i="1"/>
              <a:t>exception</a:t>
            </a:r>
            <a:r>
              <a:rPr lang="id-ID" dirty="0"/>
              <a:t> tidak ditangkap sama sekali: program berhenti dan mencetak laporan. Setelah itu kita belajar menangkapnya dengan blok </a:t>
            </a:r>
            <a:r>
              <a:rPr lang="en-US" dirty="0">
                <a:latin typeface="Consolas"/>
              </a:rPr>
              <a:t>try</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Program patungan ini membagi tagihan 120000 dengan jumlah orang 0, dan tidak ada yang menangkap </a:t>
            </a:r>
            <a:r>
              <a:rPr lang="id-ID" dirty="0" i="1"/>
              <a:t>exception</a:t>
            </a:r>
            <a:r>
              <a:rPr lang="id-ID" dirty="0"/>
              <a:t>-nya. Kedua laporan berisi hal yang sama: jenis, pesan, dan jejak panggilan. Bedanya arah membaca. Python menulis </a:t>
            </a:r>
            <a:r>
              <a:rPr lang="id-ID" dirty="0" i="1"/>
              <a:t>most recent call last</a:t>
            </a:r>
            <a:r>
              <a:rPr lang="id-ID" dirty="0"/>
              <a:t>, jadi baris paling bawah berisi jenis dan pesan, dan blok </a:t>
            </a:r>
            <a:r>
              <a:rPr lang="en-US" dirty="0">
                <a:latin typeface="Consolas"/>
              </a:rPr>
              <a:t>File</a:t>
            </a:r>
            <a:r>
              <a:rPr lang="id-ID" dirty="0"/>
              <a:t> tepat di atasnya adalah tempat </a:t>
            </a:r>
            <a:r>
              <a:rPr lang="id-ID" dirty="0" i="1"/>
              <a:t>exception</a:t>
            </a:r>
            <a:r>
              <a:rPr lang="id-ID" dirty="0"/>
              <a:t> lahir. Java kebalikannya: baris paling atas berisi jenis dan pesan, dan baris </a:t>
            </a:r>
            <a:r>
              <a:rPr lang="en-US" dirty="0">
                <a:latin typeface="Consolas"/>
              </a:rPr>
              <a:t>at</a:t>
            </a:r>
            <a:r>
              <a:rPr lang="id-ID" dirty="0"/>
              <a:t> pertama adalah tempat </a:t>
            </a:r>
            <a:r>
              <a:rPr lang="id-ID" dirty="0" i="1"/>
              <a:t>exception</a:t>
            </a:r>
            <a:r>
              <a:rPr lang="id-ID" dirty="0"/>
              <a:t> lahir. Kiatnya: mulai dari nomor 1, cari baris pertama yang menyebut </a:t>
            </a:r>
            <a:r>
              <a:rPr lang="id-ID" dirty="0" i="1"/>
              <a:t>file</a:t>
            </a:r>
            <a:r>
              <a:rPr lang="id-ID" dirty="0"/>
              <a:t> milikmu, lalu buka nomor barisnya. Perhatikan juga: baris sebelum </a:t>
            </a:r>
            <a:r>
              <a:rPr lang="id-ID" dirty="0" i="1"/>
              <a:t>exception</a:t>
            </a:r>
            <a:r>
              <a:rPr lang="id-ID" dirty="0"/>
              <a:t> tetap tercetak, tetapi baris sesudahnya tidak pernah dijalankan.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Struktur </a:t>
            </a:r>
            <a:r>
              <a:rPr lang="en-US" dirty="0">
                <a:latin typeface="Consolas"/>
              </a:rPr>
              <a:t>try</a:t>
            </a:r>
            <a:r>
              <a:rPr lang="id-ID" dirty="0"/>
              <a:t> di program persis seperti meminjam kunci lab. Blok </a:t>
            </a:r>
            <a:r>
              <a:rPr lang="en-US" dirty="0">
                <a:latin typeface="Consolas"/>
              </a:rPr>
              <a:t>try</a:t>
            </a:r>
            <a:r>
              <a:rPr lang="id-ID" dirty="0"/>
              <a:t> berisi kode yang mungkin gagal. Blok </a:t>
            </a:r>
            <a:r>
              <a:rPr lang="en-US" dirty="0">
                <a:latin typeface="Consolas"/>
              </a:rPr>
              <a:t>except</a:t>
            </a:r>
            <a:r>
              <a:rPr lang="id-ID" dirty="0"/>
              <a:t> di Python atau </a:t>
            </a:r>
            <a:r>
              <a:rPr lang="en-US" dirty="0">
                <a:latin typeface="Consolas"/>
              </a:rPr>
              <a:t>catch</a:t>
            </a:r>
            <a:r>
              <a:rPr lang="id-ID" dirty="0"/>
              <a:t> di Java berisi penanganannya, dan hanya dijalankan jika terjadi </a:t>
            </a:r>
            <a:r>
              <a:rPr lang="id-ID" dirty="0" i="1"/>
              <a:t>exception</a:t>
            </a:r>
            <a:r>
              <a:rPr lang="id-ID" dirty="0"/>
              <a:t> yang jenisnya cocok. Blok </a:t>
            </a:r>
            <a:r>
              <a:rPr lang="en-US" dirty="0">
                <a:latin typeface="Consolas"/>
              </a:rPr>
              <a:t>finally</a:t>
            </a:r>
            <a:r>
              <a:rPr lang="id-ID" dirty="0"/>
              <a:t> selalu dijalankan, berhasil maupun gagal, bahkan saat </a:t>
            </a:r>
            <a:r>
              <a:rPr lang="id-ID" dirty="0" i="1"/>
              <a:t>exception</a:t>
            </a:r>
            <a:r>
              <a:rPr lang="id-ID" dirty="0"/>
              <a:t> lanjut merambat ke pemanggil. Khusus Python, ada blok </a:t>
            </a:r>
            <a:r>
              <a:rPr lang="en-US" dirty="0">
                <a:latin typeface="Consolas"/>
              </a:rPr>
              <a:t>else</a:t>
            </a:r>
            <a:r>
              <a:rPr lang="id-ID" dirty="0"/>
              <a:t> yang hanya dijalankan jika blok </a:t>
            </a:r>
            <a:r>
              <a:rPr lang="en-US" dirty="0">
                <a:latin typeface="Consolas"/>
              </a:rPr>
              <a:t>try</a:t>
            </a:r>
            <a:r>
              <a:rPr lang="id-ID" dirty="0"/>
              <a:t> selesai tanpa </a:t>
            </a:r>
            <a:r>
              <a:rPr lang="id-ID" dirty="0" i="1"/>
              <a:t>exception</a:t>
            </a:r>
            <a:r>
              <a:rPr lang="id-ID" dirty="0"/>
              <a:t>. Java tidak punya </a:t>
            </a:r>
            <a:r>
              <a:rPr lang="en-US" dirty="0">
                <a:latin typeface="Consolas"/>
              </a:rPr>
              <a:t>else</a:t>
            </a:r>
            <a:r>
              <a:rPr lang="id-ID" dirty="0"/>
              <a:t>; kode yang hanya boleh berjalan jika semuanya berhasil cukup ditulis di akhir blok </a:t>
            </a:r>
            <a:r>
              <a:rPr lang="en-US" dirty="0">
                <a:latin typeface="Consolas"/>
              </a:rPr>
              <a:t>try</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contoh 01 di halaman praktik. Fungsi </a:t>
            </a:r>
            <a:r>
              <a:rPr lang="en-US" dirty="0">
                <a:latin typeface="Consolas"/>
              </a:rPr>
              <a:t>hitung_patungan</a:t>
            </a:r>
            <a:r>
              <a:rPr lang="id-ID" dirty="0"/>
              <a:t> dan </a:t>
            </a:r>
            <a:r>
              <a:rPr lang="id-ID" dirty="0" i="1"/>
              <a:t>method</a:t>
            </a:r>
            <a:r>
              <a:rPr lang="id-ID" dirty="0"/>
              <a:t> </a:t>
            </a:r>
            <a:r>
              <a:rPr lang="en-US" dirty="0">
                <a:latin typeface="Consolas"/>
              </a:rPr>
              <a:t>hitungPatungan</a:t>
            </a:r>
            <a:r>
              <a:rPr lang="id-ID" dirty="0"/>
              <a:t> tidak menangkap apa pun, jadi pembagian dengan nol merambat ke pemanggil. Di dalam blok </a:t>
            </a:r>
            <a:r>
              <a:rPr lang="en-US" dirty="0">
                <a:latin typeface="Consolas"/>
              </a:rPr>
              <a:t>try</a:t>
            </a:r>
            <a:r>
              <a:rPr lang="id-ID" dirty="0"/>
              <a:t>, baris pemanggilan melempar </a:t>
            </a:r>
            <a:r>
              <a:rPr lang="id-ID" dirty="0" i="1"/>
              <a:t>exception</a:t>
            </a:r>
            <a:r>
              <a:rPr lang="id-ID" dirty="0"/>
              <a:t> sehingga baris </a:t>
            </a:r>
            <a:r>
              <a:rPr lang="en-US" dirty="0">
                <a:latin typeface="Consolas"/>
              </a:rPr>
              <a:t>Hasil: Rp...</a:t>
            </a:r>
            <a:r>
              <a:rPr lang="id-ID" dirty="0"/>
              <a:t> dilewati. Penangkap </a:t>
            </a:r>
            <a:r>
              <a:rPr lang="en-US" dirty="0">
                <a:latin typeface="Consolas"/>
              </a:rPr>
              <a:t>ZeroDivisionError</a:t>
            </a:r>
            <a:r>
              <a:rPr lang="id-ID" dirty="0"/>
              <a:t> di Python atau </a:t>
            </a:r>
            <a:r>
              <a:rPr lang="en-US" dirty="0">
                <a:latin typeface="Consolas"/>
              </a:rPr>
              <a:t>ArithmeticException</a:t>
            </a:r>
            <a:r>
              <a:rPr lang="id-ID" dirty="0"/>
              <a:t> di Java lalu mencetak "Gagal: jumlah orang tidak boleh nol". Setelah itu program melanjutkan ke baris setelah seluruh struktur </a:t>
            </a:r>
            <a:r>
              <a:rPr lang="en-US" dirty="0">
                <a:latin typeface="Consolas"/>
              </a:rPr>
              <a:t>try</a:t>
            </a:r>
            <a:r>
              <a:rPr lang="id-ID" dirty="0"/>
              <a:t>, bukan kembali ke baris yang gagal, sehingga kalimat "Program tetap berjalan sampai baris terakhir" tercetak. Di Java, nama variabel </a:t>
            </a:r>
            <a:r>
              <a:rPr lang="en-US" dirty="0">
                <a:latin typeface="Consolas"/>
              </a:rPr>
              <a:t>e</a:t>
            </a:r>
            <a:r>
              <a:rPr lang="id-ID" dirty="0"/>
              <a:t> wajib ditulis walaupun tidak dipakai.</a:t>
            </a:r>
            <a:endParaRPr lang="id-ID" dirty="0"/>
          </a:p>
          <a:p>
            <a:r>
              <a:rPr lang="id-ID" dirty="0"/>
              <a:t>Pertanyaan untuk kelas: apa yang terjadi jika penangkapnya diganti </a:t>
            </a:r>
            <a:r>
              <a:rPr lang="en-US" dirty="0">
                <a:latin typeface="Consolas"/>
              </a:rPr>
              <a:t>ValueError</a:t>
            </a:r>
            <a:r>
              <a:rPr lang="id-ID" dirty="0"/>
              <a:t> (Java: </a:t>
            </a:r>
            <a:r>
              <a:rPr lang="en-US" dirty="0">
                <a:latin typeface="Consolas"/>
              </a:rPr>
              <a:t>IllegalArgumentException</a:t>
            </a:r>
            <a:r>
              <a:rPr lang="id-ID" dirty="0"/>
              <a:t>)? Jawabannya: </a:t>
            </a:r>
            <a:r>
              <a:rPr lang="id-ID" dirty="0" i="1"/>
              <a:t>exception</a:t>
            </a:r>
            <a:r>
              <a:rPr lang="id-ID" dirty="0"/>
              <a:t> lolos karena jenisnya tidak cocok.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contoh 05. Proyektor di ruang kelas harus selalu dimatikan setelah presentasi, apa pun yang terjadi. </a:t>
            </a:r>
            <a:r>
              <a:rPr lang="id-ID" dirty="0" i="1"/>
              <a:t>Method</a:t>
            </a:r>
            <a:r>
              <a:rPr lang="id-ID" dirty="0"/>
              <a:t> </a:t>
            </a:r>
            <a:r>
              <a:rPr lang="en-US" dirty="0">
                <a:latin typeface="Consolas"/>
              </a:rPr>
              <a:t>tampilkan()</a:t>
            </a:r>
            <a:r>
              <a:rPr lang="id-ID" dirty="0"/>
              <a:t> bisa gagal dengan dua cara: </a:t>
            </a:r>
            <a:r>
              <a:rPr lang="en-US" dirty="0">
                <a:latin typeface="Consolas"/>
              </a:rPr>
              <a:t>ValueError</a:t>
            </a:r>
            <a:r>
              <a:rPr lang="id-ID" dirty="0"/>
              <a:t> jika </a:t>
            </a:r>
            <a:r>
              <a:rPr lang="id-ID" dirty="0" i="1"/>
              <a:t>file</a:t>
            </a:r>
            <a:r>
              <a:rPr lang="id-ID" dirty="0"/>
              <a:t>-nya bukan PDF, atau </a:t>
            </a:r>
            <a:r>
              <a:rPr lang="en-US" dirty="0">
                <a:latin typeface="Consolas"/>
              </a:rPr>
              <a:t>RuntimeError</a:t>
            </a:r>
            <a:r>
              <a:rPr lang="id-ID" dirty="0"/>
              <a:t> jika lampunya putus. Pada presentasi kedua, </a:t>
            </a:r>
            <a:r>
              <a:rPr lang="id-ID" dirty="0" i="1"/>
              <a:t>file</a:t>
            </a:r>
            <a:r>
              <a:rPr lang="id-ID" dirty="0"/>
              <a:t>-nya </a:t>
            </a:r>
            <a:r>
              <a:rPr lang="en-US" dirty="0">
                <a:latin typeface="Consolas"/>
              </a:rPr>
              <a:t>.docx</a:t>
            </a:r>
            <a:r>
              <a:rPr lang="id-ID" dirty="0"/>
              <a:t>, jadi </a:t>
            </a:r>
            <a:r>
              <a:rPr lang="en-US" dirty="0">
                <a:latin typeface="Consolas"/>
              </a:rPr>
              <a:t>except</a:t>
            </a:r>
            <a:r>
              <a:rPr lang="id-ID" dirty="0"/>
              <a:t> mencetak pesan gagal, </a:t>
            </a:r>
            <a:r>
              <a:rPr lang="en-US" dirty="0">
                <a:latin typeface="Consolas"/>
              </a:rPr>
              <a:t>else</a:t>
            </a:r>
            <a:r>
              <a:rPr lang="id-ID" dirty="0"/>
              <a:t> dilewati, dan </a:t>
            </a:r>
            <a:r>
              <a:rPr lang="en-US" dirty="0">
                <a:latin typeface="Consolas"/>
              </a:rPr>
              <a:t>finally</a:t>
            </a:r>
            <a:r>
              <a:rPr lang="id-ID" dirty="0"/>
              <a:t> tetap mematikan proyektor. Pada presentasi pertama yang lancar, </a:t>
            </a:r>
            <a:r>
              <a:rPr lang="en-US" dirty="0">
                <a:latin typeface="Consolas"/>
              </a:rPr>
              <a:t>else</a:t>
            </a:r>
            <a:r>
              <a:rPr lang="id-ID" dirty="0"/>
              <a:t> mencetak ucapan terima kasih. Pada presentasi ketiga, </a:t>
            </a:r>
            <a:r>
              <a:rPr lang="en-US" dirty="0">
                <a:latin typeface="Consolas"/>
              </a:rPr>
              <a:t>RuntimeError</a:t>
            </a:r>
            <a:r>
              <a:rPr lang="id-ID" dirty="0"/>
              <a:t> tidak cocok dengan </a:t>
            </a:r>
            <a:r>
              <a:rPr lang="en-US" dirty="0">
                <a:latin typeface="Consolas"/>
              </a:rPr>
              <a:t>except ValueError</a:t>
            </a:r>
            <a:r>
              <a:rPr lang="id-ID" dirty="0"/>
              <a:t>, jadi </a:t>
            </a:r>
            <a:r>
              <a:rPr lang="id-ID" dirty="0" i="1"/>
              <a:t>exception</a:t>
            </a:r>
            <a:r>
              <a:rPr lang="id-ID" dirty="0"/>
              <a:t> merambat ke </a:t>
            </a:r>
            <a:r>
              <a:rPr lang="en-US" dirty="0">
                <a:latin typeface="Consolas"/>
              </a:rPr>
              <a:t>main</a:t>
            </a:r>
            <a:r>
              <a:rPr lang="id-ID" dirty="0"/>
              <a:t>, tetapi sebelum itu </a:t>
            </a:r>
            <a:r>
              <a:rPr lang="en-US" dirty="0">
                <a:latin typeface="Consolas"/>
              </a:rPr>
              <a:t>finally</a:t>
            </a:r>
            <a:r>
              <a:rPr lang="id-ID" dirty="0"/>
              <a:t> tetap mematikan proyektor. Versi Java memakai </a:t>
            </a:r>
            <a:r>
              <a:rPr lang="en-US" dirty="0">
                <a:latin typeface="Consolas"/>
              </a:rPr>
              <a:t>IllegalArgumentException</a:t>
            </a:r>
            <a:r>
              <a:rPr lang="id-ID" dirty="0"/>
              <a:t> dan </a:t>
            </a:r>
            <a:r>
              <a:rPr lang="en-US" dirty="0">
                <a:latin typeface="Consolas"/>
              </a:rPr>
              <a:t>IllegalStateException</a:t>
            </a:r>
            <a:r>
              <a:rPr lang="id-ID" dirty="0"/>
              <a:t>, lalu menulis ucapan terima kasih di akhir blok </a:t>
            </a:r>
            <a:r>
              <a:rPr lang="en-US" dirty="0">
                <a:latin typeface="Consolas"/>
              </a:rPr>
              <a:t>try</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Satu blok </a:t>
            </a:r>
            <a:r>
              <a:rPr lang="en-US" dirty="0">
                <a:latin typeface="Consolas"/>
              </a:rPr>
              <a:t>try</a:t>
            </a:r>
            <a:r>
              <a:rPr lang="id-ID" dirty="0"/>
              <a:t> boleh punya beberapa penangkap. Kita juga belajar melempar </a:t>
            </a:r>
            <a:r>
              <a:rPr lang="id-ID" dirty="0" i="1"/>
              <a:t>exception</a:t>
            </a:r>
            <a:r>
              <a:rPr lang="id-ID" dirty="0"/>
              <a:t> sendiri, meneruskannya ke pemanggil, dan membungkusnya tanpa membuang penyebab aslinya.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Bayangkan pos layanan di kampus: ada loket kehilangan barang, loket kartu mahasiswa, dan meja informasi umum. Jika meja informasi umum ditaruh paling depan dan melayani semua orang, loket khusus tidak pernah kebagian tamu. Penangkap juga begitu. Karena </a:t>
            </a:r>
            <a:r>
              <a:rPr lang="en-US" dirty="0">
                <a:latin typeface="Consolas"/>
              </a:rPr>
              <a:t>ZeroDivisionError</a:t>
            </a:r>
            <a:r>
              <a:rPr lang="id-ID" dirty="0"/>
              <a:t> dan </a:t>
            </a:r>
            <a:r>
              <a:rPr lang="en-US" dirty="0">
                <a:latin typeface="Consolas"/>
              </a:rPr>
              <a:t>ArithmeticException</a:t>
            </a:r>
            <a:r>
              <a:rPr lang="id-ID" dirty="0"/>
              <a:t> adalah turunan </a:t>
            </a:r>
            <a:r>
              <a:rPr lang="en-US" dirty="0">
                <a:latin typeface="Consolas"/>
              </a:rPr>
              <a:t>Exception</a:t>
            </a:r>
            <a:r>
              <a:rPr lang="id-ID" dirty="0"/>
              <a:t>, penangkap </a:t>
            </a:r>
            <a:r>
              <a:rPr lang="en-US" dirty="0">
                <a:latin typeface="Consolas"/>
              </a:rPr>
              <a:t>Exception</a:t>
            </a:r>
            <a:r>
              <a:rPr lang="id-ID" dirty="0"/>
              <a:t> cocok untuk keduanya. Jadi, yang spesifik ditulis di atas dan yang umum di bawah. Ingat juga: menangkap kelas induk berarti ikut menangkap semua turunannya. Jangan menangkap puncak pohon, yaitu </a:t>
            </a:r>
            <a:r>
              <a:rPr lang="en-US" dirty="0">
                <a:latin typeface="Consolas"/>
              </a:rPr>
              <a:t>BaseException</a:t>
            </a:r>
            <a:r>
              <a:rPr lang="id-ID" dirty="0"/>
              <a:t> di Python atau </a:t>
            </a:r>
            <a:r>
              <a:rPr lang="en-US" dirty="0">
                <a:latin typeface="Consolas"/>
              </a:rPr>
              <a:t>Throwable</a:t>
            </a:r>
            <a:r>
              <a:rPr lang="id-ID" dirty="0"/>
              <a:t> di Java, karena di sana ada kejadian yang bukan urusan programmu, misalnya Ctrl+C atau memori habis. Contoh lengkapnya adalah contoh 04 di halaman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Kita boleh melempar </a:t>
            </a:r>
            <a:r>
              <a:rPr lang="id-ID" dirty="0" i="1"/>
              <a:t>exception</a:t>
            </a:r>
            <a:r>
              <a:rPr lang="id-ID" dirty="0"/>
              <a:t> sendiri, seperti </a:t>
            </a:r>
            <a:r>
              <a:rPr lang="id-ID" dirty="0" i="1"/>
              <a:t>setter</a:t>
            </a:r>
            <a:r>
              <a:rPr lang="id-ID" dirty="0"/>
              <a:t> yang menolak harga negatif di Pertemuan 04. Prinsipnya validasi lebih awal: tolak data yang salah sebelum objek berubah. Kadang sebuah </a:t>
            </a:r>
            <a:r>
              <a:rPr lang="id-ID" dirty="0" i="1"/>
              <a:t>method</a:t>
            </a:r>
            <a:r>
              <a:rPr lang="id-ID" dirty="0"/>
              <a:t> ingin mencatat kesalahan, tetapi tidak berhak memutuskan penanganannya. Polanya: tangkap, catat, lalu lempar ulang </a:t>
            </a:r>
            <a:r>
              <a:rPr lang="id-ID" dirty="0" i="1"/>
              <a:t>exception</a:t>
            </a:r>
            <a:r>
              <a:rPr lang="id-ID" dirty="0"/>
              <a:t> yang sama dengan </a:t>
            </a:r>
            <a:r>
              <a:rPr lang="en-US" dirty="0">
                <a:latin typeface="Consolas"/>
              </a:rPr>
              <a:t>raise</a:t>
            </a:r>
            <a:r>
              <a:rPr lang="id-ID" dirty="0"/>
              <a:t> saja atau </a:t>
            </a:r>
            <a:r>
              <a:rPr lang="en-US" dirty="0">
                <a:latin typeface="Consolas"/>
              </a:rPr>
              <a:t>throw e;</a:t>
            </a:r>
            <a:r>
              <a:rPr lang="id-ID" dirty="0"/>
              <a:t>. Di contoh 06, jika pelemparan ulang itu dihilangkan, program berbohong: tertulis suhu AC diatur ke 10 derajat, padahal AC menolaknya. Itulah bahayanya menelan </a:t>
            </a:r>
            <a:r>
              <a:rPr lang="id-ID" dirty="0" i="1"/>
              <a:t>exception</a:t>
            </a:r>
            <a:r>
              <a:rPr lang="id-ID" dirty="0"/>
              <a:t> diam-diam. Terakhir, </a:t>
            </a:r>
            <a:r>
              <a:rPr lang="id-ID" dirty="0" i="1"/>
              <a:t>exception chaining</a:t>
            </a:r>
            <a:r>
              <a:rPr lang="id-ID" dirty="0"/>
              <a:t>: melempar </a:t>
            </a:r>
            <a:r>
              <a:rPr lang="id-ID" dirty="0" i="1"/>
              <a:t>exception</a:t>
            </a:r>
            <a:r>
              <a:rPr lang="id-ID" dirty="0"/>
              <a:t> baru sambil menyimpan </a:t>
            </a:r>
            <a:r>
              <a:rPr lang="id-ID" dirty="0" i="1"/>
              <a:t>exception</a:t>
            </a:r>
            <a:r>
              <a:rPr lang="id-ID" dirty="0"/>
              <a:t> lama sebagai penyebabnya, seperti surat rujukan puskesmas yang melampirkan diagnosis awal.</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contoh 07. </a:t>
            </a:r>
            <a:r>
              <a:rPr lang="id-ID" dirty="0" i="1"/>
              <a:t>Exception</a:t>
            </a:r>
            <a:r>
              <a:rPr lang="id-ID" dirty="0"/>
              <a:t> hanyalah kelas, jadi kita bisa membuat jenis baru lewat pewarisan. </a:t>
            </a:r>
            <a:r>
              <a:rPr lang="en-US" dirty="0">
                <a:latin typeface="Consolas"/>
              </a:rPr>
              <a:t>RekeningError</a:t>
            </a:r>
            <a:r>
              <a:rPr lang="id-ID" dirty="0"/>
              <a:t> mewarisi </a:t>
            </a:r>
            <a:r>
              <a:rPr lang="en-US" dirty="0">
                <a:latin typeface="Consolas"/>
              </a:rPr>
              <a:t>Exception</a:t>
            </a:r>
            <a:r>
              <a:rPr lang="id-ID" dirty="0"/>
              <a:t> dan menjadi induk dua anak: </a:t>
            </a:r>
            <a:r>
              <a:rPr lang="en-US" dirty="0">
                <a:latin typeface="Consolas"/>
              </a:rPr>
              <a:t>SaldoTidakCukupError</a:t>
            </a:r>
            <a:r>
              <a:rPr lang="id-ID" dirty="0"/>
              <a:t> dan </a:t>
            </a:r>
            <a:r>
              <a:rPr lang="en-US" dirty="0">
                <a:latin typeface="Consolas"/>
              </a:rPr>
              <a:t>TransferGagalError</a:t>
            </a:r>
            <a:r>
              <a:rPr lang="id-ID" dirty="0"/>
              <a:t>. Di Java, nama-namanya berakhiran </a:t>
            </a:r>
            <a:r>
              <a:rPr lang="en-US" dirty="0">
                <a:latin typeface="Consolas"/>
              </a:rPr>
              <a:t>Exception</a:t>
            </a:r>
            <a:r>
              <a:rPr lang="id-ID" dirty="0"/>
              <a:t>, dan karena tidak mewarisi </a:t>
            </a:r>
            <a:r>
              <a:rPr lang="en-US" dirty="0">
                <a:latin typeface="Consolas"/>
              </a:rPr>
              <a:t>RuntimeException</a:t>
            </a:r>
            <a:r>
              <a:rPr lang="id-ID" dirty="0"/>
              <a:t>, ketiganya termasuk </a:t>
            </a:r>
            <a:r>
              <a:rPr lang="id-ID" dirty="0" i="1"/>
              <a:t>checked exception</a:t>
            </a:r>
            <a:r>
              <a:rPr lang="id-ID" dirty="0"/>
              <a:t> sehingga </a:t>
            </a:r>
            <a:r>
              <a:rPr lang="en-US" dirty="0">
                <a:latin typeface="Consolas"/>
              </a:rPr>
              <a:t>transfer</a:t>
            </a:r>
            <a:r>
              <a:rPr lang="id-ID" dirty="0"/>
              <a:t> wajib menulis </a:t>
            </a:r>
            <a:r>
              <a:rPr lang="en-US" dirty="0">
                <a:latin typeface="Consolas"/>
              </a:rPr>
              <a:t>throws</a:t>
            </a:r>
            <a:r>
              <a:rPr lang="id-ID" dirty="0"/>
              <a:t>. Saat penarikan gagal, </a:t>
            </a:r>
            <a:r>
              <a:rPr lang="en-US" dirty="0">
                <a:latin typeface="Consolas"/>
              </a:rPr>
              <a:t>transfer</a:t>
            </a:r>
            <a:r>
              <a:rPr lang="id-ID" dirty="0"/>
              <a:t> membungkusnya menjadi transfer gagal sambil menyimpan penyebab aslinya: </a:t>
            </a:r>
            <a:r>
              <a:rPr lang="en-US" dirty="0">
                <a:latin typeface="Consolas"/>
              </a:rPr>
              <a:t>from e</a:t>
            </a:r>
            <a:r>
              <a:rPr lang="id-ID" dirty="0"/>
              <a:t> di Python, atau argumen kedua konstruktor di Java. Pemanggil yang menangkap </a:t>
            </a:r>
            <a:r>
              <a:rPr lang="en-US" dirty="0">
                <a:latin typeface="Consolas"/>
              </a:rPr>
              <a:t>RekeningError</a:t>
            </a:r>
            <a:r>
              <a:rPr lang="id-ID" dirty="0"/>
              <a:t> menerima pesan "Transfer Siti ke Budi gagal", dan penyebabnya tetap bisa dibaca: saldo tidak cukup. Jika </a:t>
            </a:r>
            <a:r>
              <a:rPr lang="id-ID" dirty="0" i="1"/>
              <a:t>exception</a:t>
            </a:r>
            <a:r>
              <a:rPr lang="id-ID" dirty="0"/>
              <a:t> bersambung ini lolos, laporannya memuat keduanya: Python menulis </a:t>
            </a:r>
            <a:r>
              <a:rPr lang="id-ID" dirty="0" i="1"/>
              <a:t>The above exception was the direct cause of the following exception</a:t>
            </a:r>
            <a:r>
              <a:rPr lang="id-ID" dirty="0"/>
              <a:t>, sedangkan Java menambahkan bagian </a:t>
            </a:r>
            <a:r>
              <a:rPr lang="en-US" dirty="0">
                <a:latin typeface="Consolas"/>
              </a:rPr>
              <a:t>Caused by:</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Bagian ini khusus jalur Java. Java punya aturan tambahan: sebagian </a:t>
            </a:r>
            <a:r>
              <a:rPr lang="id-ID" dirty="0" i="1"/>
              <a:t>exception</a:t>
            </a:r>
            <a:r>
              <a:rPr lang="id-ID" dirty="0"/>
              <a:t> wajib ditangani, dan </a:t>
            </a:r>
            <a:r>
              <a:rPr lang="id-ID" dirty="0" i="1"/>
              <a:t>compiler</a:t>
            </a:r>
            <a:r>
              <a:rPr lang="id-ID" dirty="0"/>
              <a:t> yang memeriksanya. Mahasiswa jalur Python tetap perlu tahu alasannya.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i="1"/>
              <a:t>Checked exception</a:t>
            </a:r>
            <a:r>
              <a:rPr lang="id-ID" dirty="0"/>
              <a:t> wajib ditangani: </a:t>
            </a:r>
            <a:r>
              <a:rPr lang="id-ID" dirty="0" i="1"/>
              <a:t>compiler</a:t>
            </a:r>
            <a:r>
              <a:rPr lang="id-ID" dirty="0"/>
              <a:t> Java menolak program yang tidak menangkapnya atau tidak mengumumkannya dengan klausa </a:t>
            </a:r>
            <a:r>
              <a:rPr lang="en-US" dirty="0">
                <a:latin typeface="Consolas"/>
              </a:rPr>
              <a:t>throws</a:t>
            </a:r>
            <a:r>
              <a:rPr lang="id-ID" dirty="0"/>
              <a:t>. Umumkan artinya menulis </a:t>
            </a:r>
            <a:r>
              <a:rPr lang="en-US" dirty="0">
                <a:latin typeface="Consolas"/>
              </a:rPr>
              <a:t>throws</a:t>
            </a:r>
            <a:r>
              <a:rPr lang="id-ID" dirty="0"/>
              <a:t> di kepala </a:t>
            </a:r>
            <a:r>
              <a:rPr lang="id-ID" dirty="0" i="1"/>
              <a:t>method</a:t>
            </a:r>
            <a:r>
              <a:rPr lang="id-ID" dirty="0"/>
              <a:t>, misalnya </a:t>
            </a:r>
            <a:r>
              <a:rPr lang="en-US" dirty="0">
                <a:latin typeface="Consolas"/>
              </a:rPr>
              <a:t>void tarik(int jumlah) throws SaldoTidakCukupException</a:t>
            </a:r>
            <a:r>
              <a:rPr lang="id-ID" dirty="0"/>
              <a:t>. Klausa itu adalah janji tertulis: </a:t>
            </a:r>
            <a:r>
              <a:rPr lang="id-ID" dirty="0" i="1"/>
              <a:t>method</a:t>
            </a:r>
            <a:r>
              <a:rPr lang="id-ID" dirty="0"/>
              <a:t> ini bisa melempar </a:t>
            </a:r>
            <a:r>
              <a:rPr lang="id-ID" dirty="0" i="1"/>
              <a:t>exception</a:t>
            </a:r>
            <a:r>
              <a:rPr lang="id-ID" dirty="0"/>
              <a:t> tersebut, dan pemanggilnya yang harus mengurus. </a:t>
            </a:r>
            <a:r>
              <a:rPr lang="id-ID" dirty="0" i="1"/>
              <a:t>Unchecked exception</a:t>
            </a:r>
            <a:r>
              <a:rPr lang="id-ID" dirty="0"/>
              <a:t> tidak wajib ditangani karena biasanya menandai kesalahan pemrograman yang cukup diperbaiki di kodenya. Pembagian ini memang sering diperdebatkan. Ada yang menganggapnya pengaman yang berguna, ada juga yang menganggapnya merepotkan. Python, Kotlin, dan C# memilih tidak memakainya. Di Python, kewajiban itu digantikan oleh kedisiplinan pemrogram.</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contoh 08, khusus Java. </a:t>
            </a:r>
            <a:r>
              <a:rPr lang="en-US" dirty="0">
                <a:latin typeface="Consolas"/>
              </a:rPr>
              <a:t>KelasPenuhException</a:t>
            </a:r>
            <a:r>
              <a:rPr lang="id-ID" dirty="0"/>
              <a:t> mewarisi </a:t>
            </a:r>
            <a:r>
              <a:rPr lang="en-US" dirty="0">
                <a:latin typeface="Consolas"/>
              </a:rPr>
              <a:t>Exception</a:t>
            </a:r>
            <a:r>
              <a:rPr lang="id-ID" dirty="0"/>
              <a:t>, bukan </a:t>
            </a:r>
            <a:r>
              <a:rPr lang="en-US" dirty="0">
                <a:latin typeface="Consolas"/>
              </a:rPr>
              <a:t>RuntimeException</a:t>
            </a:r>
            <a:r>
              <a:rPr lang="id-ID" dirty="0"/>
              <a:t>, jadi termasuk </a:t>
            </a:r>
            <a:r>
              <a:rPr lang="id-ID" dirty="0" i="1"/>
              <a:t>checked</a:t>
            </a:r>
            <a:r>
              <a:rPr lang="id-ID" dirty="0"/>
              <a:t>. Kelas kuliah yang penuh saat pengisian KRS adalah situasi wajar yang harus dipikirkan setiap pemanggil. Karena itu, </a:t>
            </a:r>
            <a:r>
              <a:rPr lang="id-ID" dirty="0" i="1"/>
              <a:t>method</a:t>
            </a:r>
            <a:r>
              <a:rPr lang="id-ID" dirty="0"/>
              <a:t> </a:t>
            </a:r>
            <a:r>
              <a:rPr lang="en-US" dirty="0">
                <a:latin typeface="Consolas"/>
              </a:rPr>
              <a:t>daftar</a:t>
            </a:r>
            <a:r>
              <a:rPr lang="id-ID" dirty="0"/>
              <a:t> wajib mengumumkannya dengan </a:t>
            </a:r>
            <a:r>
              <a:rPr lang="en-US" dirty="0">
                <a:latin typeface="Consolas"/>
              </a:rPr>
              <a:t>throws</a:t>
            </a:r>
            <a:r>
              <a:rPr lang="id-ID" dirty="0"/>
              <a:t>, dan setiap pemanggilnya wajib memilih: tangkap dengan </a:t>
            </a:r>
            <a:r>
              <a:rPr lang="en-US" dirty="0">
                <a:latin typeface="Consolas"/>
              </a:rPr>
              <a:t>try</a:t>
            </a:r>
            <a:r>
              <a:rPr lang="id-ID" dirty="0"/>
              <a:t>/</a:t>
            </a:r>
            <a:r>
              <a:rPr lang="en-US" dirty="0">
                <a:latin typeface="Consolas"/>
              </a:rPr>
              <a:t>catch</a:t>
            </a:r>
            <a:r>
              <a:rPr lang="id-ID" dirty="0"/>
              <a:t>, atau ikut mengumumkan dengan </a:t>
            </a:r>
            <a:r>
              <a:rPr lang="en-US" dirty="0">
                <a:latin typeface="Consolas"/>
              </a:rPr>
              <a:t>throws</a:t>
            </a:r>
            <a:r>
              <a:rPr lang="id-ID" dirty="0"/>
              <a:t>. Tanpa </a:t>
            </a:r>
            <a:r>
              <a:rPr lang="en-US" dirty="0">
                <a:latin typeface="Consolas"/>
              </a:rPr>
              <a:t>try</a:t>
            </a:r>
            <a:r>
              <a:rPr lang="id-ID" dirty="0"/>
              <a:t> di perulangan ini, program gagal dikompilasi dengan pesan </a:t>
            </a:r>
            <a:r>
              <a:rPr lang="en-US" dirty="0">
                <a:latin typeface="Consolas"/>
              </a:rPr>
              <a:t>unreported exception KelasPenuhException; must be caught or declared to be thrown</a:t>
            </a:r>
            <a:r>
              <a:rPr lang="id-ID" dirty="0"/>
              <a:t>. Hasilnya, Ayu dan Bima terdaftar di PBO-A, sedangkan Citra ditolak karena kapasitasnya hanya 2 orang, lalu diberi saran memilih kelas paralel lain. Sebaliknya, kapasitas 0 ditolak dengan </a:t>
            </a:r>
            <a:r>
              <a:rPr lang="en-US" dirty="0">
                <a:latin typeface="Consolas"/>
              </a:rPr>
              <a:t>IllegalArgumentException</a:t>
            </a:r>
            <a:r>
              <a:rPr lang="id-ID" dirty="0"/>
              <a:t> yang </a:t>
            </a:r>
            <a:r>
              <a:rPr lang="id-ID" dirty="0" i="1"/>
              <a:t>unchecked</a:t>
            </a:r>
            <a:r>
              <a:rPr lang="id-ID" dirty="0"/>
              <a:t>, tanpa </a:t>
            </a:r>
            <a:r>
              <a:rPr lang="en-US" dirty="0">
                <a:latin typeface="Consolas"/>
              </a:rPr>
              <a:t>throws</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Kini saatnya KedaiKita memakai semua yang kita pelajari. Hari ini KedaiKita mendapat </a:t>
            </a:r>
            <a:r>
              <a:rPr lang="id-ID" dirty="0" i="1"/>
              <a:t>exception</a:t>
            </a:r>
            <a:r>
              <a:rPr lang="id-ID" dirty="0"/>
              <a:t> buatan sendiri, dan tidak ada lagi </a:t>
            </a:r>
            <a:r>
              <a:rPr lang="en-US" dirty="0">
                <a:latin typeface="Consolas"/>
              </a:rPr>
              <a:t>None</a:t>
            </a:r>
            <a:r>
              <a:rPr lang="id-ID" dirty="0"/>
              <a:t>, </a:t>
            </a:r>
            <a:r>
              <a:rPr lang="en-US" dirty="0">
                <a:latin typeface="Consolas"/>
              </a:rPr>
              <a:t>null</a:t>
            </a:r>
            <a:r>
              <a:rPr lang="id-ID" dirty="0"/>
              <a:t>, </a:t>
            </a:r>
            <a:r>
              <a:rPr lang="en-US" dirty="0">
                <a:latin typeface="Consolas"/>
              </a:rPr>
              <a:t>False</a:t>
            </a:r>
            <a:r>
              <a:rPr lang="id-ID" dirty="0"/>
              <a:t>, atau </a:t>
            </a:r>
            <a:r>
              <a:rPr lang="en-US" dirty="0">
                <a:latin typeface="Consolas"/>
              </a:rPr>
              <a:t>false</a:t>
            </a:r>
            <a:r>
              <a:rPr lang="id-ID" dirty="0"/>
              <a:t> sebagai tanda gagal.</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Tabel ini merangkum perubahan dibanding Pertemuan 10. Kode menu yang tidak terdaftar kini melempar </a:t>
            </a:r>
            <a:r>
              <a:rPr lang="en-US" dirty="0">
                <a:latin typeface="Consolas"/>
              </a:rPr>
              <a:t>MenuTidakDitemukanError</a:t>
            </a:r>
            <a:r>
              <a:rPr lang="id-ID" dirty="0"/>
              <a:t>, bukan mengembalikan </a:t>
            </a:r>
            <a:r>
              <a:rPr lang="en-US" dirty="0">
                <a:latin typeface="Consolas"/>
              </a:rPr>
              <a:t>None</a:t>
            </a:r>
            <a:r>
              <a:rPr lang="id-ID" dirty="0"/>
              <a:t>. Stok yang kurang melempar </a:t>
            </a:r>
            <a:r>
              <a:rPr lang="en-US" dirty="0">
                <a:latin typeface="Consolas"/>
              </a:rPr>
              <a:t>StokTidakCukupError</a:t>
            </a:r>
            <a:r>
              <a:rPr lang="id-ID" dirty="0"/>
              <a:t> yang membawa jumlah tersedia sehingga penangkap bisa memberi saran. Pembayaran yang gagal melempar </a:t>
            </a:r>
            <a:r>
              <a:rPr lang="en-US" dirty="0">
                <a:latin typeface="Consolas"/>
              </a:rPr>
              <a:t>PembayaranGagalError</a:t>
            </a:r>
            <a:r>
              <a:rPr lang="id-ID" dirty="0"/>
              <a:t> yang membawa metode dan alasannya. Pesanan yang sudah LUNAS juga tidak boleh diubah atau dibayar lagi; kesalahan ini cukup memakai induknya, </a:t>
            </a:r>
            <a:r>
              <a:rPr lang="en-US" dirty="0">
                <a:latin typeface="Consolas"/>
              </a:rPr>
              <a:t>KedaiError</a:t>
            </a:r>
            <a:r>
              <a:rPr lang="id-ID" dirty="0"/>
              <a:t>. Di Java, semua </a:t>
            </a:r>
            <a:r>
              <a:rPr lang="id-ID" dirty="0" i="1"/>
              <a:t>exception</a:t>
            </a:r>
            <a:r>
              <a:rPr lang="id-ID" dirty="0"/>
              <a:t> ini berakhiran </a:t>
            </a:r>
            <a:r>
              <a:rPr lang="en-US" dirty="0">
                <a:latin typeface="Consolas"/>
              </a:rPr>
              <a:t>Exception</a:t>
            </a:r>
            <a:r>
              <a:rPr lang="id-ID" dirty="0"/>
              <a:t> dan sengaja dibuat </a:t>
            </a:r>
            <a:r>
              <a:rPr lang="id-ID" dirty="0" i="1"/>
              <a:t>checked</a:t>
            </a:r>
            <a:r>
              <a:rPr lang="id-ID" dirty="0"/>
              <a:t> karena menu tidak ada, stok habis, dan pembayaran gagal adalah kejadian wajar di kasir, bukan kesalahan pemrograman.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hierarki </a:t>
            </a:r>
            <a:r>
              <a:rPr lang="id-ID" dirty="0" i="1"/>
              <a:t>exception</a:t>
            </a:r>
            <a:r>
              <a:rPr lang="id-ID" dirty="0"/>
              <a:t> KedaiKita. Ketiga anaknya mewarisi </a:t>
            </a:r>
            <a:r>
              <a:rPr lang="en-US" dirty="0">
                <a:latin typeface="Consolas"/>
              </a:rPr>
              <a:t>KedaiError</a:t>
            </a:r>
            <a:r>
              <a:rPr lang="id-ID" dirty="0"/>
              <a:t>, dan </a:t>
            </a:r>
            <a:r>
              <a:rPr lang="en-US" dirty="0">
                <a:latin typeface="Consolas"/>
              </a:rPr>
              <a:t>KedaiError</a:t>
            </a:r>
            <a:r>
              <a:rPr lang="id-ID" dirty="0"/>
              <a:t> mewarisi </a:t>
            </a:r>
            <a:r>
              <a:rPr lang="en-US" dirty="0">
                <a:latin typeface="Consolas"/>
              </a:rPr>
              <a:t>Exception</a:t>
            </a:r>
            <a:r>
              <a:rPr lang="id-ID" dirty="0"/>
              <a:t>. Ada tiga manfaat </a:t>
            </a:r>
            <a:r>
              <a:rPr lang="id-ID" dirty="0" i="1"/>
              <a:t>exception</a:t>
            </a:r>
            <a:r>
              <a:rPr lang="id-ID" dirty="0"/>
              <a:t> buatan sendiri. Pertama, namanya bercerita: </a:t>
            </a:r>
            <a:r>
              <a:rPr lang="en-US" dirty="0">
                <a:latin typeface="Consolas"/>
              </a:rPr>
              <a:t>StokTidakCukupError</a:t>
            </a:r>
            <a:r>
              <a:rPr lang="id-ID" dirty="0"/>
              <a:t> jauh lebih jelas daripada </a:t>
            </a:r>
            <a:r>
              <a:rPr lang="en-US" dirty="0">
                <a:latin typeface="Consolas"/>
              </a:rPr>
              <a:t>ValueError</a:t>
            </a:r>
            <a:r>
              <a:rPr lang="id-ID" dirty="0"/>
              <a:t>. Kedua, bisa ditangkap per kelompok: menulis induknya sudah menangkap semua turunannya. Ketiga, membawa data tambahan, misalnya jumlah yang tersedia. Setiap konstruktor menyusun pesan lengkap lewat </a:t>
            </a:r>
            <a:r>
              <a:rPr lang="en-US" dirty="0">
                <a:latin typeface="Consolas"/>
              </a:rPr>
              <a:t>super().__init__(pesan)</a:t>
            </a:r>
            <a:r>
              <a:rPr lang="id-ID" dirty="0"/>
              <a:t> di Python atau </a:t>
            </a:r>
            <a:r>
              <a:rPr lang="en-US" dirty="0">
                <a:latin typeface="Consolas"/>
              </a:rPr>
              <a:t>super(pesan)</a:t>
            </a:r>
            <a:r>
              <a:rPr lang="id-ID" dirty="0"/>
              <a:t> di Java, lalu menyimpan datanya sebagai atribut. Di Java, data itu disimpan di </a:t>
            </a:r>
            <a:r>
              <a:rPr lang="id-ID" dirty="0" i="1"/>
              <a:t>field</a:t>
            </a:r>
            <a:r>
              <a:rPr lang="id-ID" dirty="0"/>
              <a:t> </a:t>
            </a:r>
            <a:r>
              <a:rPr lang="en-US" dirty="0">
                <a:latin typeface="Consolas"/>
              </a:rPr>
              <a:t>private</a:t>
            </a:r>
            <a:r>
              <a:rPr lang="id-ID" dirty="0"/>
              <a:t> dengan </a:t>
            </a:r>
            <a:r>
              <a:rPr lang="id-ID" dirty="0" i="1"/>
              <a:t>getter</a:t>
            </a:r>
            <a:r>
              <a:rPr lang="id-ID" dirty="0"/>
              <a:t>, misalnya </a:t>
            </a:r>
            <a:r>
              <a:rPr lang="en-US" dirty="0">
                <a:latin typeface="Consolas"/>
              </a:rPr>
              <a:t>getTersedia()</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bagian pertama </a:t>
            </a:r>
            <a:r>
              <a:rPr lang="en-US" dirty="0">
                <a:latin typeface="Consolas"/>
              </a:rPr>
              <a:t>main</a:t>
            </a:r>
            <a:r>
              <a:rPr lang="id-ID" dirty="0"/>
              <a:t> di studi kasus. Lima permintaan Budi diproses satu per satu: M01 dua porsi, M03 satu porsi, M99, M04 lima puluh porsi, dan M02 nol porsi. Dua penangkap spesifik ditulis di atas induknya. Jika urutannya terbalik, induk menangkap semuanya dan saran "pesan paling banyak 10 porsi" tidak pernah muncul; di Java, urutan terbalik bahkan tidak bisa dikompilasi. Penangkap </a:t>
            </a:r>
            <a:r>
              <a:rPr lang="en-US" dirty="0">
                <a:latin typeface="Consolas"/>
              </a:rPr>
              <a:t>ValueError</a:t>
            </a:r>
            <a:r>
              <a:rPr lang="id-ID" dirty="0"/>
              <a:t> atau </a:t>
            </a:r>
            <a:r>
              <a:rPr lang="en-US" dirty="0">
                <a:latin typeface="Consolas"/>
              </a:rPr>
              <a:t>IllegalArgumentException</a:t>
            </a:r>
            <a:r>
              <a:rPr lang="id-ID" dirty="0"/>
              <a:t> menangkap permintaan nol porsi. Python memakai </a:t>
            </a:r>
            <a:r>
              <a:rPr lang="en-US" dirty="0">
                <a:latin typeface="Consolas"/>
              </a:rPr>
              <a:t>else</a:t>
            </a:r>
            <a:r>
              <a:rPr lang="id-ID" dirty="0"/>
              <a:t> untuk mencetak </a:t>
            </a:r>
            <a:r>
              <a:rPr lang="en-US" dirty="0">
                <a:latin typeface="Consolas"/>
              </a:rPr>
              <a:t>[OK]</a:t>
            </a:r>
            <a:r>
              <a:rPr lang="id-ID" dirty="0"/>
              <a:t>, sedangkan Java menulisnya di akhir blok </a:t>
            </a:r>
            <a:r>
              <a:rPr lang="en-US" dirty="0">
                <a:latin typeface="Consolas"/>
              </a:rPr>
              <a:t>try</a:t>
            </a:r>
            <a:r>
              <a:rPr lang="id-ID" dirty="0"/>
              <a:t>. Hasilnya: dua item berhasil, tiga gagal dengan alasan masing-masing, dan stok Mie Goreng Jawa tetap 10. Pada pesanan Siti, pembayaran QRIS yang gagal merambat keluar dari </a:t>
            </a:r>
            <a:r>
              <a:rPr lang="en-US" dirty="0">
                <a:latin typeface="Consolas"/>
              </a:rPr>
              <a:t>bayar()</a:t>
            </a:r>
            <a:r>
              <a:rPr lang="id-ID" dirty="0"/>
              <a:t> sehingga status tetap BARU sampai kartu kredit berhasil.</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Tiga anggapan keliru ini sering muncul saat pertama kali belajar </a:t>
            </a:r>
            <a:r>
              <a:rPr lang="id-ID" dirty="0" i="1"/>
              <a:t>exception</a:t>
            </a:r>
            <a:r>
              <a:rPr lang="id-ID" dirty="0"/>
              <a:t>. Ajak kelas menebak dulu: mengapa anggapan di kiri salah? Tiga miskonsepsi lain dibahas di bagian 13 halaman konsep: makin banyak </a:t>
            </a:r>
            <a:r>
              <a:rPr lang="en-US" dirty="0">
                <a:latin typeface="Consolas"/>
              </a:rPr>
              <a:t>try</a:t>
            </a:r>
            <a:r>
              <a:rPr lang="id-ID" dirty="0"/>
              <a:t> dianggap makin aman, penangkap </a:t>
            </a:r>
            <a:r>
              <a:rPr lang="en-US" dirty="0">
                <a:latin typeface="Consolas"/>
              </a:rPr>
              <a:t>Exception</a:t>
            </a:r>
            <a:r>
              <a:rPr lang="id-ID" dirty="0"/>
              <a:t> dianggap sebaiknya ditaruh paling atas, dan Python dianggap juga mewajibkan </a:t>
            </a:r>
            <a:r>
              <a:rPr lang="id-ID" dirty="0" i="1"/>
              <a:t>exception</a:t>
            </a:r>
            <a:r>
              <a:rPr lang="id-ID" dirty="0"/>
              <a:t> ditangkap atau diumumkan.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Soal ini menguji cara membaca laporan kesalahan, persis seperti gambar arah baca tadi. Beri waktu sekitar 30 detik untuk berpikir, lalu minta mahasiswa mengangkat tangan sesuai pilihannya. Jawaban dan pembahasannya ada di </a:t>
            </a:r>
            <a:r>
              <a:rPr lang="id-ID" dirty="0" i="1"/>
              <a:t>slide</a:t>
            </a:r>
            <a:r>
              <a:rPr lang="id-ID" dirty="0"/>
              <a:t> berikutnya. Kuis lengkap berisi 10 soal ada di </a:t>
            </a:r>
            <a:r>
              <a:rPr lang="id-ID" dirty="0" i="1"/>
              <a:t>file</a:t>
            </a:r>
            <a:r>
              <a:rPr lang="id-ID" dirty="0"/>
              <a:t> kuis.md pada folder pertemuan ini.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B. Python menulis </a:t>
            </a:r>
            <a:r>
              <a:rPr lang="id-ID" dirty="0" i="1"/>
              <a:t>most recent call last</a:t>
            </a:r>
            <a:r>
              <a:rPr lang="id-ID" dirty="0"/>
              <a:t>, jadi tempat </a:t>
            </a:r>
            <a:r>
              <a:rPr lang="id-ID" dirty="0" i="1"/>
              <a:t>exception</a:t>
            </a:r>
            <a:r>
              <a:rPr lang="id-ID" dirty="0"/>
              <a:t> lahir ada di blok </a:t>
            </a:r>
            <a:r>
              <a:rPr lang="en-US" dirty="0">
                <a:latin typeface="Consolas"/>
              </a:rPr>
              <a:t>File</a:t>
            </a:r>
            <a:r>
              <a:rPr lang="id-ID" dirty="0"/>
              <a:t> paling bawah, tepat di atas baris </a:t>
            </a:r>
            <a:r>
              <a:rPr lang="en-US" dirty="0">
                <a:latin typeface="Consolas"/>
              </a:rPr>
              <a:t>JenisError: pesan</a:t>
            </a:r>
            <a:r>
              <a:rPr lang="id-ID" dirty="0"/>
              <a:t>. Java kebalikannya: baris </a:t>
            </a:r>
            <a:r>
              <a:rPr lang="en-US" dirty="0">
                <a:latin typeface="Consolas"/>
              </a:rPr>
              <a:t>at</a:t>
            </a:r>
            <a:r>
              <a:rPr lang="id-ID" dirty="0"/>
              <a:t> paling atas adalah tempat lahirnya, dan baris paling bawah adalah titik awal (</a:t>
            </a:r>
            <a:r>
              <a:rPr lang="en-US" dirty="0">
                <a:latin typeface="Consolas"/>
              </a:rPr>
              <a:t>main</a:t>
            </a:r>
            <a:r>
              <a:rPr lang="id-ID" dirty="0"/>
              <a:t>). Pilihan A tertukar; C dan D salah karena arah baca kedua bahasa berlawanan.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Soal ini merangkum praktik baik menangani </a:t>
            </a:r>
            <a:r>
              <a:rPr lang="id-ID" dirty="0" i="1"/>
              <a:t>exception</a:t>
            </a:r>
            <a:r>
              <a:rPr lang="id-ID" dirty="0"/>
              <a:t>. Selain yang ada di pilihan, praktik baik lainnya adalah menangkap sespesifik mungkin, menulis pesan yang jelas seperti "Stok Mie Goreng Jawa tidak cukup: diminta 50, tersedia 10", dan tidak memakai </a:t>
            </a:r>
            <a:r>
              <a:rPr lang="id-ID" dirty="0" i="1"/>
              <a:t>exception</a:t>
            </a:r>
            <a:r>
              <a:rPr lang="id-ID" dirty="0"/>
              <a:t> untuk alur yang normal. Daftar lengkapnya ada di bagian 11 halaman konsep. Jawabannya ada di </a:t>
            </a:r>
            <a:r>
              <a:rPr lang="id-ID" dirty="0" i="1"/>
              <a:t>slide</a:t>
            </a:r>
            <a:r>
              <a:rPr lang="id-ID" dirty="0"/>
              <a:t> berikutnya.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B. Penangkap kosong "menelan" </a:t>
            </a:r>
            <a:r>
              <a:rPr lang="id-ID" dirty="0" i="1"/>
              <a:t>exception</a:t>
            </a:r>
            <a:r>
              <a:rPr lang="id-ID" dirty="0"/>
              <a:t>. Program terlihat lancar, tetapi hasilnya bisa salah tanpa jejak, seperti program yang mencetak "Suhu diatur ke 10 derajat" padahal perintahnya ditolak. Pilihan A, C, dan D justru praktik baik: menangkap di tempat yang tepat, validasi lebih awal, dan bersih-bersih di </a:t>
            </a:r>
            <a:r>
              <a:rPr lang="en-US" dirty="0">
                <a:latin typeface="Consolas"/>
              </a:rPr>
              <a:t>finally</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tujuh hal yang perlu kamu bawa pulang hari ini. Satu lagi yang tidak boleh terlupa: </a:t>
            </a:r>
            <a:r>
              <a:rPr lang="id-ID" dirty="0" i="1"/>
              <a:t>exception</a:t>
            </a:r>
            <a:r>
              <a:rPr lang="id-ID" dirty="0"/>
              <a:t> tersusun dalam hierarki kelas, dan </a:t>
            </a:r>
            <a:r>
              <a:rPr lang="id-ID" dirty="0" i="1"/>
              <a:t>exception</a:t>
            </a:r>
            <a:r>
              <a:rPr lang="id-ID" dirty="0"/>
              <a:t> buatan sendiri dibuat lewat pewarisan serta boleh membawa data tambahan, seperti </a:t>
            </a:r>
            <a:r>
              <a:rPr lang="en-US" dirty="0">
                <a:latin typeface="Consolas"/>
              </a:rPr>
              <a:t>KedaiError</a:t>
            </a:r>
            <a:r>
              <a:rPr lang="id-ID" dirty="0"/>
              <a:t> dan turunannya. Kalau ada yang masih terasa samar, baca lagi bagian yang sesuai di halaman konsep, lalu jalankan contohnya di halaman praktik. Pertemuan berikutnya kita belajar koleksi dan </a:t>
            </a:r>
            <a:r>
              <a:rPr lang="id-ID" dirty="0" i="1"/>
              <a:t>generics</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Semua bahan pertemuan ini ada di folder Pertemuan-11-Exception-Handling di GitHub. Halaman praktik pertemuan ini penuh percobaan, yaitu kode yang sengaja dibuat gagal agar kamu bisa melihat pesan </a:t>
            </a:r>
            <a:r>
              <a:rPr lang="id-ID" dirty="0" i="1"/>
              <a:t>error</a:t>
            </a:r>
            <a:r>
              <a:rPr lang="id-ID" dirty="0"/>
              <a:t>-nya. Kerjakan semuanya di folder PBO-latihan-saya/pertemuan-11, bukan di folder materi, agar </a:t>
            </a:r>
            <a:r>
              <a:rPr lang="id-ID" dirty="0" i="1"/>
              <a:t>file</a:t>
            </a:r>
            <a:r>
              <a:rPr lang="id-ID" dirty="0"/>
              <a:t> asli tetap utuh. Sampai jumpa di Pertemuan 12.</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7589520" cy="182880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697480" y="2377440"/>
            <a:ext cx="8778240" cy="96012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11 · </a:t>
            </a:r>
            <a:r>
              <a:rPr lang="en-US" sz="1100" dirty="0" i="1">
                <a:solidFill>
                  <a:srgbClr val="9FB3C8"/>
                </a:solidFill>
              </a:rPr>
              <a:t>Exception Handling</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0A3069"/>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57606A"/>
                </a:solidFill>
              </a:rPr>
              <a:t>PBO 2026 · Pertemuan 11 · </a:t>
            </a:r>
            <a:r>
              <a:rPr lang="en-US" sz="1100" dirty="0" i="1">
                <a:solidFill>
                  <a:srgbClr val="57606A"/>
                </a:solidFill>
              </a:rPr>
              <a:t>Exception Handling</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LAP">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11 · </a:t>
            </a:r>
            <a:r>
              <a:rPr lang="en-US" sz="1100" dirty="0" i="1">
                <a:solidFill>
                  <a:srgbClr val="9FB3C8"/>
                </a:solidFill>
              </a:rPr>
              <a:t>Exception Handling</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16-2.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12-1.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12-1.png"/><Relationship Id="rId4" Type="http://schemas.openxmlformats.org/officeDocument/2006/relationships/slideLayout" Target="../slideLayouts/slideLayout4.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6-3.png"/><Relationship Id="rId4" Type="http://schemas.openxmlformats.org/officeDocument/2006/relationships/image" Target="../media/image-26-3.png"/><Relationship Id="rId5" Type="http://schemas.openxmlformats.org/officeDocument/2006/relationships/image" Target="../media/image-26-3.png"/><Relationship Id="rId6" Type="http://schemas.openxmlformats.org/officeDocument/2006/relationships/image" Target="../media/image-26-3.png"/><Relationship Id="rId7" Type="http://schemas.openxmlformats.org/officeDocument/2006/relationships/image" Target="../media/image-26-3.png"/><Relationship Id="rId8" Type="http://schemas.openxmlformats.org/officeDocument/2006/relationships/image" Target="../media/image-26-3.png"/><Relationship Id="rId9" Type="http://schemas.openxmlformats.org/officeDocument/2006/relationships/slideLayout" Target="../slideLayouts/slideLayout4.xml"/><Relationship Id="rId1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antonprafanto/PBO2026/blob/master/Pertemuan-11-Exception-Handling/README.md" TargetMode="External"/><Relationship Id="rId5" Type="http://schemas.openxmlformats.org/officeDocument/2006/relationships/hyperlink" Target="https://github.com/antonprafanto/PBO2026/blob/master/Pertemuan-11-Exception-Handling/python/README.md" TargetMode="External"/><Relationship Id="rId7" Type="http://schemas.openxmlformats.org/officeDocument/2006/relationships/hyperlink" Target="https://github.com/antonprafanto/PBO2026/blob/master/Pertemuan-11-Exception-Handling/java/README.md" TargetMode="External"/><Relationship Id="rId9" Type="http://schemas.openxmlformats.org/officeDocument/2006/relationships/hyperlink" Target="https://github.com/antonprafanto/PBO2026/blob/master/Pertemuan-11-Exception-Handling/jembatan-python-java.md" TargetMode="External"/><Relationship Id="rId11" Type="http://schemas.openxmlformats.org/officeDocument/2006/relationships/hyperlink" Target="https://github.com/antonprafanto/PBO2026/blob/master/Pertemuan-11-Exception-Handling/latihan.md" TargetMode="External"/><Relationship Id="rId13" Type="http://schemas.openxmlformats.org/officeDocument/2006/relationships/hyperlink" Target="https://github.com/antonprafanto/PBO2026/blob/master/Pertemuan-11-Exception-Handling/kuis.md" TargetMode="External"/><Relationship Id="rId15" Type="http://schemas.openxmlformats.org/officeDocument/2006/relationships/hyperlink" Target="https://github.com/antonprafanto/PBO2026/tree/master/Pertemuan-11-Exception-Handling" TargetMode="External"/><Relationship Id="rId1" Type="http://schemas.openxmlformats.org/officeDocument/2006/relationships/image" Target="../media/image-32-1.png"/><Relationship Id="rId2" Type="http://schemas.openxmlformats.org/officeDocument/2006/relationships/image" Target="../media/image-32-2.png"/><Relationship Id="rId4" Type="http://schemas.openxmlformats.org/officeDocument/2006/relationships/image" Target="../media/image-32-3.png"/><Relationship Id="rId6" Type="http://schemas.openxmlformats.org/officeDocument/2006/relationships/image" Target="../media/image-32-3.png"/><Relationship Id="rId8" Type="http://schemas.openxmlformats.org/officeDocument/2006/relationships/image" Target="../media/image-32-5.png"/><Relationship Id="rId10" Type="http://schemas.openxmlformats.org/officeDocument/2006/relationships/image" Target="../media/image-32-6.png"/><Relationship Id="rId12" Type="http://schemas.openxmlformats.org/officeDocument/2006/relationships/image" Target="../media/image-32-7.png"/><Relationship Id="rId14" Type="http://schemas.openxmlformats.org/officeDocument/2006/relationships/image" Target="../media/image-32-8.png"/><Relationship Id="rId16" Type="http://schemas.openxmlformats.org/officeDocument/2006/relationships/slideLayout" Target="../slideLayouts/slideLayout5.xml"/><Relationship Id="rId17"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7680960" cy="365760"/>
          </a:xfrm>
          <a:prstGeom prst="rect">
            <a:avLst/>
          </a:prstGeom>
          <a:noFill/>
          <a:ln/>
        </p:spPr>
        <p:txBody>
          <a:bodyPr wrap="square" lIns="0" tIns="0" rIns="0" bIns="0" rtlCol="0" anchor="t"/>
          <a:lstStyle/>
          <a:p>
            <a:pPr indent="0" marL="0">
              <a:buNone/>
            </a:pPr>
            <a:r>
              <a:rPr lang="id-ID" altLang="en-US" sz="1500" b="1" spc="200" kern="0" dirty="0">
                <a:solidFill>
                  <a:srgbClr val="54AEFF"/>
                </a:solidFill>
              </a:rPr>
              <a:t>PEMROGRAMAN BERORIENTASI OBJEK 2026</a:t>
            </a:r>
            <a:endParaRPr lang="id-ID" sz="1500" dirty="0"/>
          </a:p>
        </p:txBody>
      </p:sp>
      <p:sp>
        <p:nvSpPr>
          <p:cNvPr id="3" name="Text 0"/>
          <p:cNvSpPr/>
          <p:nvPr>
            <p:ph idx="100" type="title" hasCustomPrompt="1"/>
          </p:nvPr>
        </p:nvSpPr>
        <p:spPr>
          <a:xfrm>
            <a:off x="731520" y="1600200"/>
            <a:ext cx="7589520" cy="1828800"/>
          </a:xfrm>
          <a:prstGeom prst="rect">
            <a:avLst/>
          </a:prstGeom>
          <a:noFill/>
          <a:ln/>
        </p:spPr>
        <p:txBody>
          <a:bodyPr wrap="square" lIns="0" tIns="0" rIns="0" bIns="0" rtlCol="0" anchor="t"/>
          <a:lstStyle/>
          <a:p>
            <a:pPr algn="l" indent="0" marL="0">
              <a:buNone/>
            </a:pPr>
            <a:r>
              <a:rPr lang="id-ID" altLang="en-US" sz="4800" b="1" i="1" dirty="0">
                <a:solidFill>
                  <a:srgbClr val="FFFFFF"/>
                </a:solidFill>
              </a:rPr>
              <a:t>Exception Handling</a:t>
            </a:r>
            <a:endParaRPr lang="id-ID" sz="4800" dirty="0"/>
          </a:p>
        </p:txBody>
      </p:sp>
      <p:sp>
        <p:nvSpPr>
          <p:cNvPr id="4" name="Text 2"/>
          <p:cNvSpPr txBox="1"/>
          <p:nvPr/>
        </p:nvSpPr>
        <p:spPr>
          <a:xfrm>
            <a:off x="731520" y="2663952"/>
            <a:ext cx="7589520" cy="1097280"/>
          </a:xfrm>
          <a:prstGeom prst="rect">
            <a:avLst/>
          </a:prstGeom>
          <a:noFill/>
          <a:ln/>
        </p:spPr>
        <p:txBody>
          <a:bodyPr wrap="square" lIns="0" tIns="0" rIns="0" bIns="0" rtlCol="0" anchor="t"/>
          <a:lstStyle/>
          <a:p>
            <a:pPr indent="0" marL="0">
              <a:buNone/>
            </a:pPr>
            <a:r>
              <a:rPr lang="id-ID" altLang="en-US" sz="2200" dirty="0">
                <a:solidFill>
                  <a:srgbClr val="C9D7E8"/>
                </a:solidFill>
              </a:rPr>
              <a:t>Melaporkan kesalahan dengan jelas, menangkapnya di tempat yang tepat, dan tetap membereskan semuanya</a:t>
            </a:r>
            <a:endParaRPr lang="id-ID" sz="2200" dirty="0"/>
          </a:p>
        </p:txBody>
      </p:sp>
      <p:sp>
        <p:nvSpPr>
          <p:cNvPr id="5" name="Text 3"/>
          <p:cNvSpPr txBox="1"/>
          <p:nvPr/>
        </p:nvSpPr>
        <p:spPr>
          <a:xfrm>
            <a:off x="731520" y="5349240"/>
            <a:ext cx="7589520" cy="731520"/>
          </a:xfrm>
          <a:prstGeom prst="rect">
            <a:avLst/>
          </a:prstGeom>
          <a:noFill/>
          <a:ln/>
        </p:spPr>
        <p:txBody>
          <a:bodyPr wrap="square" lIns="0" tIns="0" rIns="0" bIns="0" rtlCol="0" anchor="t"/>
          <a:lstStyle/>
          <a:p>
            <a:pPr indent="0" marL="0">
              <a:buNone/>
            </a:pPr>
            <a:r>
              <a:rPr lang="id-ID" altLang="en-US" sz="1500" dirty="0">
                <a:solidFill>
                  <a:srgbClr val="9FB3C8"/>
                </a:solidFill>
              </a:rPr>
              <a:t>Program Studi Informatika · Universitas Mulawarman</a:t>
            </a:r>
            <a:endParaRPr lang="id-ID" sz="1500" dirty="0"/>
          </a:p>
          <a:p>
            <a:pPr indent="0" marL="0">
              <a:buNone/>
            </a:pPr>
            <a:r>
              <a:rPr lang="id-ID" altLang="en-US" sz="1500" dirty="0">
                <a:solidFill>
                  <a:srgbClr val="9FB3C8"/>
                </a:solidFill>
              </a:rPr>
              <a:t>Jalur praktik: Python dan Java</a:t>
            </a:r>
            <a:endParaRPr lang="id-ID" sz="1500" dirty="0"/>
          </a:p>
        </p:txBody>
      </p:sp>
      <p:sp>
        <p:nvSpPr>
          <p:cNvPr id="6" name="Shape 4"/>
          <p:cNvSpPr/>
          <p:nvPr/>
        </p:nvSpPr>
        <p:spPr>
          <a:xfrm>
            <a:off x="8549640" y="1691640"/>
            <a:ext cx="3017520" cy="3017520"/>
          </a:xfrm>
          <a:prstGeom prst="ellipse">
            <a:avLst/>
          </a:prstGeom>
          <a:solidFill>
            <a:srgbClr val="0969DA"/>
          </a:solidFill>
          <a:ln/>
        </p:spPr>
      </p:sp>
      <p:sp>
        <p:nvSpPr>
          <p:cNvPr id="7" name="Shape 5"/>
          <p:cNvSpPr/>
          <p:nvPr/>
        </p:nvSpPr>
        <p:spPr>
          <a:xfrm>
            <a:off x="8385048" y="1527048"/>
            <a:ext cx="3346704" cy="3346704"/>
          </a:xfrm>
          <a:prstGeom prst="ellipse">
            <a:avLst/>
          </a:prstGeom>
          <a:ln w="19050">
            <a:solidFill>
              <a:srgbClr val="54AEFF"/>
            </a:solidFill>
            <a:prstDash val="solid"/>
          </a:ln>
        </p:spPr>
      </p:sp>
      <p:sp>
        <p:nvSpPr>
          <p:cNvPr id="8" name="Text 6"/>
          <p:cNvSpPr txBox="1"/>
          <p:nvPr/>
        </p:nvSpPr>
        <p:spPr>
          <a:xfrm>
            <a:off x="8549640" y="2258568"/>
            <a:ext cx="3017520" cy="365760"/>
          </a:xfrm>
          <a:prstGeom prst="rect">
            <a:avLst/>
          </a:prstGeom>
          <a:noFill/>
          <a:ln/>
        </p:spPr>
        <p:txBody>
          <a:bodyPr wrap="square" lIns="0" tIns="0" rIns="0" bIns="0" rtlCol="0" anchor="t"/>
          <a:lstStyle/>
          <a:p>
            <a:pPr algn="ctr" indent="0" marL="0">
              <a:buNone/>
            </a:pPr>
            <a:r>
              <a:rPr lang="id-ID" altLang="en-US" sz="1600" b="1" spc="300" kern="0" dirty="0">
                <a:solidFill>
                  <a:srgbClr val="DDF4FF"/>
                </a:solidFill>
              </a:rPr>
              <a:t>PERTEMUAN</a:t>
            </a:r>
            <a:endParaRPr lang="id-ID" sz="1600" dirty="0"/>
          </a:p>
        </p:txBody>
      </p:sp>
      <p:sp>
        <p:nvSpPr>
          <p:cNvPr id="9" name="Text 7"/>
          <p:cNvSpPr txBox="1"/>
          <p:nvPr/>
        </p:nvSpPr>
        <p:spPr>
          <a:xfrm>
            <a:off x="8549640" y="2560320"/>
            <a:ext cx="3017520" cy="1463040"/>
          </a:xfrm>
          <a:prstGeom prst="rect">
            <a:avLst/>
          </a:prstGeom>
          <a:noFill/>
          <a:ln/>
        </p:spPr>
        <p:txBody>
          <a:bodyPr wrap="square" lIns="0" tIns="0" rIns="0" bIns="0" rtlCol="0" anchor="ctr"/>
          <a:lstStyle/>
          <a:p>
            <a:pPr algn="ctr" indent="0" marL="0">
              <a:buNone/>
            </a:pPr>
            <a:r>
              <a:rPr lang="id-ID" altLang="en-US" sz="9600" b="1" dirty="0">
                <a:solidFill>
                  <a:srgbClr val="FFFFFF"/>
                </a:solidFill>
              </a:rPr>
              <a:t>11</a:t>
            </a:r>
            <a:endParaRPr lang="id-ID" sz="9600" dirty="0"/>
          </a:p>
        </p:txBody>
      </p:sp>
      <p:sp>
        <p:nvSpPr>
          <p:cNvPr id="10" name="Text 8"/>
          <p:cNvSpPr txBox="1"/>
          <p:nvPr/>
        </p:nvSpPr>
        <p:spPr>
          <a:xfrm>
            <a:off x="8549640" y="4069080"/>
            <a:ext cx="3017520" cy="365760"/>
          </a:xfrm>
          <a:prstGeom prst="rect">
            <a:avLst/>
          </a:prstGeom>
          <a:noFill/>
          <a:ln/>
        </p:spPr>
        <p:txBody>
          <a:bodyPr wrap="square" lIns="0" tIns="0" rIns="0" bIns="0" rtlCol="0" anchor="t"/>
          <a:lstStyle/>
          <a:p>
            <a:pPr algn="ctr" indent="0" marL="0">
              <a:buNone/>
            </a:pPr>
            <a:r>
              <a:rPr lang="id-ID" altLang="en-US" sz="1500" dirty="0">
                <a:solidFill>
                  <a:srgbClr val="DDF4FF"/>
                </a:solidFill>
              </a:rPr>
              <a:t>dari 16</a:t>
            </a:r>
            <a:endParaRPr lang="id-ID"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Tujuan Pembelajaran</a:t>
            </a:r>
            <a:endParaRPr lang="id-ID" sz="3200" dirty="0"/>
          </a:p>
        </p:txBody>
      </p:sp>
      <p:sp>
        <p:nvSpPr>
          <p:cNvPr id="5" name="Text 2"/>
          <p:cNvSpPr txBox="1"/>
          <p:nvPr/>
        </p:nvSpPr>
        <p:spPr>
          <a:xfrm>
            <a:off x="548640" y="1417320"/>
            <a:ext cx="11094415" cy="365760"/>
          </a:xfrm>
          <a:prstGeom prst="rect">
            <a:avLst/>
          </a:prstGeom>
          <a:noFill/>
          <a:ln/>
        </p:spPr>
        <p:txBody>
          <a:bodyPr wrap="square" lIns="0" tIns="0" rIns="0" bIns="0" rtlCol="0" anchor="t"/>
          <a:lstStyle/>
          <a:p>
            <a:pPr indent="0" marL="0">
              <a:buNone/>
            </a:pPr>
            <a:r>
              <a:rPr lang="id-ID" altLang="en-US" sz="1800" dirty="0">
                <a:solidFill>
                  <a:srgbClr val="57606A"/>
                </a:solidFill>
              </a:rPr>
              <a:t>Setelah pertemuan ini, kamu mampu:</a:t>
            </a:r>
            <a:endParaRPr lang="id-ID" sz="1800" dirty="0"/>
          </a:p>
        </p:txBody>
      </p:sp>
      <p:sp>
        <p:nvSpPr>
          <p:cNvPr id="6" name="Shape 3"/>
          <p:cNvSpPr/>
          <p:nvPr/>
        </p:nvSpPr>
        <p:spPr>
          <a:xfrm>
            <a:off x="548640" y="1920240"/>
            <a:ext cx="5432908" cy="1212342"/>
          </a:xfrm>
          <a:prstGeom prst="roundRect">
            <a:avLst>
              <a:gd name="adj" fmla="val 6827"/>
            </a:avLst>
          </a:prstGeom>
          <a:solidFill>
            <a:srgbClr val="F6F8FA"/>
          </a:solidFill>
          <a:ln w="9525">
            <a:solidFill>
              <a:srgbClr val="D0D7DE"/>
            </a:solidFill>
            <a:prstDash val="solid"/>
          </a:ln>
        </p:spPr>
      </p:sp>
      <p:sp>
        <p:nvSpPr>
          <p:cNvPr id="7" name="Shape 4"/>
          <p:cNvSpPr/>
          <p:nvPr/>
        </p:nvSpPr>
        <p:spPr>
          <a:xfrm>
            <a:off x="777240" y="2084832"/>
            <a:ext cx="457200" cy="457200"/>
          </a:xfrm>
          <a:prstGeom prst="ellipse">
            <a:avLst/>
          </a:prstGeom>
          <a:solidFill>
            <a:srgbClr val="0969DA"/>
          </a:solidFill>
          <a:ln/>
        </p:spPr>
      </p:sp>
      <p:sp>
        <p:nvSpPr>
          <p:cNvPr id="8" name="Text 5"/>
          <p:cNvSpPr txBox="1"/>
          <p:nvPr/>
        </p:nvSpPr>
        <p:spPr>
          <a:xfrm>
            <a:off x="777240"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1</a:t>
            </a:r>
            <a:endParaRPr lang="id-ID" sz="1800" dirty="0"/>
          </a:p>
        </p:txBody>
      </p:sp>
      <p:sp>
        <p:nvSpPr>
          <p:cNvPr id="9" name="Text 6"/>
          <p:cNvSpPr txBox="1"/>
          <p:nvPr/>
        </p:nvSpPr>
        <p:spPr>
          <a:xfrm>
            <a:off x="1417320" y="2084832"/>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Membedakan tiga jenis kesalahan program: sintaks/kompilasi, </a:t>
            </a:r>
            <a:r>
              <a:rPr lang="id-ID" altLang="en-US" sz="1900" i="1" dirty="0">
                <a:solidFill>
                  <a:srgbClr val="1F2328"/>
                </a:solidFill>
              </a:rPr>
              <a:t>runtime</a:t>
            </a:r>
            <a:r>
              <a:rPr lang="id-ID" altLang="en-US" sz="1900" dirty="0">
                <a:solidFill>
                  <a:srgbClr val="1F2328"/>
                </a:solidFill>
              </a:rPr>
              <a:t>, dan logika.</a:t>
            </a:r>
            <a:endParaRPr lang="id-ID" sz="1900" dirty="0"/>
          </a:p>
        </p:txBody>
      </p:sp>
      <p:sp>
        <p:nvSpPr>
          <p:cNvPr id="10" name="Shape 7"/>
          <p:cNvSpPr/>
          <p:nvPr/>
        </p:nvSpPr>
        <p:spPr>
          <a:xfrm>
            <a:off x="6210148" y="1920240"/>
            <a:ext cx="5432908" cy="1212342"/>
          </a:xfrm>
          <a:prstGeom prst="roundRect">
            <a:avLst>
              <a:gd name="adj" fmla="val 6827"/>
            </a:avLst>
          </a:prstGeom>
          <a:solidFill>
            <a:srgbClr val="F6F8FA"/>
          </a:solidFill>
          <a:ln w="9525">
            <a:solidFill>
              <a:srgbClr val="D0D7DE"/>
            </a:solidFill>
            <a:prstDash val="solid"/>
          </a:ln>
        </p:spPr>
      </p:sp>
      <p:sp>
        <p:nvSpPr>
          <p:cNvPr id="11" name="Shape 8"/>
          <p:cNvSpPr/>
          <p:nvPr/>
        </p:nvSpPr>
        <p:spPr>
          <a:xfrm>
            <a:off x="6438748" y="2084832"/>
            <a:ext cx="457200" cy="457200"/>
          </a:xfrm>
          <a:prstGeom prst="ellipse">
            <a:avLst/>
          </a:prstGeom>
          <a:solidFill>
            <a:srgbClr val="0969DA"/>
          </a:solidFill>
          <a:ln/>
        </p:spPr>
      </p:sp>
      <p:sp>
        <p:nvSpPr>
          <p:cNvPr id="12" name="Text 9"/>
          <p:cNvSpPr txBox="1"/>
          <p:nvPr/>
        </p:nvSpPr>
        <p:spPr>
          <a:xfrm>
            <a:off x="6438748"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2</a:t>
            </a:r>
            <a:endParaRPr lang="id-ID" sz="1800" dirty="0"/>
          </a:p>
        </p:txBody>
      </p:sp>
      <p:sp>
        <p:nvSpPr>
          <p:cNvPr id="13" name="Text 10"/>
          <p:cNvSpPr txBox="1"/>
          <p:nvPr/>
        </p:nvSpPr>
        <p:spPr>
          <a:xfrm>
            <a:off x="7078828" y="2084832"/>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Membaca </a:t>
            </a:r>
            <a:r>
              <a:rPr lang="id-ID" altLang="en-US" sz="1900" i="1" dirty="0">
                <a:solidFill>
                  <a:srgbClr val="1F2328"/>
                </a:solidFill>
              </a:rPr>
              <a:t>traceback</a:t>
            </a:r>
            <a:r>
              <a:rPr lang="id-ID" altLang="en-US" sz="1900" dirty="0">
                <a:solidFill>
                  <a:srgbClr val="1F2328"/>
                </a:solidFill>
              </a:rPr>
              <a:t> (Python) dan </a:t>
            </a:r>
            <a:r>
              <a:rPr lang="id-ID" altLang="en-US" sz="1900" i="1" dirty="0">
                <a:solidFill>
                  <a:srgbClr val="1F2328"/>
                </a:solidFill>
              </a:rPr>
              <a:t>stack trace</a:t>
            </a:r>
            <a:r>
              <a:rPr lang="id-ID" altLang="en-US" sz="1900" dirty="0">
                <a:solidFill>
                  <a:srgbClr val="1F2328"/>
                </a:solidFill>
              </a:rPr>
              <a:t> (Java) untuk menemukan jenis, pesan, dan lokasi kesalahan.</a:t>
            </a:r>
            <a:endParaRPr lang="id-ID" sz="1900" dirty="0"/>
          </a:p>
        </p:txBody>
      </p:sp>
      <p:sp>
        <p:nvSpPr>
          <p:cNvPr id="14" name="Shape 11"/>
          <p:cNvSpPr/>
          <p:nvPr/>
        </p:nvSpPr>
        <p:spPr>
          <a:xfrm>
            <a:off x="548640" y="3315462"/>
            <a:ext cx="5432908" cy="1212342"/>
          </a:xfrm>
          <a:prstGeom prst="roundRect">
            <a:avLst>
              <a:gd name="adj" fmla="val 6827"/>
            </a:avLst>
          </a:prstGeom>
          <a:solidFill>
            <a:srgbClr val="F6F8FA"/>
          </a:solidFill>
          <a:ln w="9525">
            <a:solidFill>
              <a:srgbClr val="D0D7DE"/>
            </a:solidFill>
            <a:prstDash val="solid"/>
          </a:ln>
        </p:spPr>
      </p:sp>
      <p:sp>
        <p:nvSpPr>
          <p:cNvPr id="15" name="Shape 12"/>
          <p:cNvSpPr/>
          <p:nvPr/>
        </p:nvSpPr>
        <p:spPr>
          <a:xfrm>
            <a:off x="777240" y="3480054"/>
            <a:ext cx="457200" cy="457200"/>
          </a:xfrm>
          <a:prstGeom prst="ellipse">
            <a:avLst/>
          </a:prstGeom>
          <a:solidFill>
            <a:srgbClr val="0969DA"/>
          </a:solidFill>
          <a:ln/>
        </p:spPr>
      </p:sp>
      <p:sp>
        <p:nvSpPr>
          <p:cNvPr id="16" name="Text 13"/>
          <p:cNvSpPr txBox="1"/>
          <p:nvPr/>
        </p:nvSpPr>
        <p:spPr>
          <a:xfrm>
            <a:off x="777240" y="348005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3</a:t>
            </a:r>
            <a:endParaRPr lang="id-ID" sz="1800" dirty="0"/>
          </a:p>
        </p:txBody>
      </p:sp>
      <p:sp>
        <p:nvSpPr>
          <p:cNvPr id="17" name="Text 14"/>
          <p:cNvSpPr txBox="1"/>
          <p:nvPr/>
        </p:nvSpPr>
        <p:spPr>
          <a:xfrm>
            <a:off x="1417320" y="3480054"/>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Menangkap </a:t>
            </a:r>
            <a:r>
              <a:rPr lang="id-ID" altLang="en-US" sz="1900" i="1" dirty="0">
                <a:solidFill>
                  <a:srgbClr val="1F2328"/>
                </a:solidFill>
              </a:rPr>
              <a:t>exception</a:t>
            </a:r>
            <a:r>
              <a:rPr lang="id-ID" altLang="en-US" sz="1900" dirty="0">
                <a:solidFill>
                  <a:srgbClr val="1F2328"/>
                </a:solidFill>
              </a:rPr>
              <a:t> dengan </a:t>
            </a:r>
            <a:r>
              <a:rPr lang="id-ID" altLang="en-US" sz="1900" dirty="0">
                <a:solidFill>
                  <a:srgbClr val="1F2328"/>
                </a:solidFill>
                <a:latin typeface="Consolas" pitchFamily="34" charset="0"/>
                <a:ea typeface="Consolas" pitchFamily="34" charset="-122"/>
                <a:cs typeface="Consolas" pitchFamily="34" charset="-120"/>
              </a:rPr>
              <a:t>try</a:t>
            </a:r>
            <a:r>
              <a:rPr lang="id-ID" altLang="en-US" sz="1900" dirty="0">
                <a:solidFill>
                  <a:srgbClr val="1F2328"/>
                </a:solidFill>
              </a:rPr>
              <a:t>, beberapa penangkap dalam urutan yang benar, </a:t>
            </a:r>
            <a:r>
              <a:rPr lang="id-ID" altLang="en-US" sz="1900" dirty="0">
                <a:solidFill>
                  <a:srgbClr val="1F2328"/>
                </a:solidFill>
                <a:latin typeface="Consolas" pitchFamily="34" charset="0"/>
                <a:ea typeface="Consolas" pitchFamily="34" charset="-122"/>
                <a:cs typeface="Consolas" pitchFamily="34" charset="-120"/>
              </a:rPr>
              <a:t>else</a:t>
            </a:r>
            <a:r>
              <a:rPr lang="id-ID" altLang="en-US" sz="1900" dirty="0">
                <a:solidFill>
                  <a:srgbClr val="1F2328"/>
                </a:solidFill>
              </a:rPr>
              <a:t> (Python), dan </a:t>
            </a:r>
            <a:r>
              <a:rPr lang="id-ID" altLang="en-US" sz="1900" dirty="0">
                <a:solidFill>
                  <a:srgbClr val="1F2328"/>
                </a:solidFill>
                <a:latin typeface="Consolas" pitchFamily="34" charset="0"/>
                <a:ea typeface="Consolas" pitchFamily="34" charset="-122"/>
                <a:cs typeface="Consolas" pitchFamily="34" charset="-120"/>
              </a:rPr>
              <a:t>finally</a:t>
            </a:r>
            <a:r>
              <a:rPr lang="id-ID" altLang="en-US" sz="1900" dirty="0">
                <a:solidFill>
                  <a:srgbClr val="1F2328"/>
                </a:solidFill>
              </a:rPr>
              <a:t>.</a:t>
            </a:r>
            <a:endParaRPr lang="id-ID" sz="1900" dirty="0"/>
          </a:p>
        </p:txBody>
      </p:sp>
      <p:sp>
        <p:nvSpPr>
          <p:cNvPr id="18" name="Shape 15"/>
          <p:cNvSpPr/>
          <p:nvPr/>
        </p:nvSpPr>
        <p:spPr>
          <a:xfrm>
            <a:off x="6210148" y="3315462"/>
            <a:ext cx="5432908" cy="1212342"/>
          </a:xfrm>
          <a:prstGeom prst="roundRect">
            <a:avLst>
              <a:gd name="adj" fmla="val 6827"/>
            </a:avLst>
          </a:prstGeom>
          <a:solidFill>
            <a:srgbClr val="F6F8FA"/>
          </a:solidFill>
          <a:ln w="9525">
            <a:solidFill>
              <a:srgbClr val="D0D7DE"/>
            </a:solidFill>
            <a:prstDash val="solid"/>
          </a:ln>
        </p:spPr>
      </p:sp>
      <p:sp>
        <p:nvSpPr>
          <p:cNvPr id="19" name="Shape 16"/>
          <p:cNvSpPr/>
          <p:nvPr/>
        </p:nvSpPr>
        <p:spPr>
          <a:xfrm>
            <a:off x="6438748" y="3480054"/>
            <a:ext cx="457200" cy="457200"/>
          </a:xfrm>
          <a:prstGeom prst="ellipse">
            <a:avLst/>
          </a:prstGeom>
          <a:solidFill>
            <a:srgbClr val="0969DA"/>
          </a:solidFill>
          <a:ln/>
        </p:spPr>
      </p:sp>
      <p:sp>
        <p:nvSpPr>
          <p:cNvPr id="20" name="Text 17"/>
          <p:cNvSpPr txBox="1"/>
          <p:nvPr/>
        </p:nvSpPr>
        <p:spPr>
          <a:xfrm>
            <a:off x="6438748" y="348005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4</a:t>
            </a:r>
            <a:endParaRPr lang="id-ID" sz="1800" dirty="0"/>
          </a:p>
        </p:txBody>
      </p:sp>
      <p:sp>
        <p:nvSpPr>
          <p:cNvPr id="21" name="Text 18"/>
          <p:cNvSpPr txBox="1"/>
          <p:nvPr/>
        </p:nvSpPr>
        <p:spPr>
          <a:xfrm>
            <a:off x="7078828" y="3480054"/>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Melempar </a:t>
            </a:r>
            <a:r>
              <a:rPr lang="id-ID" altLang="en-US" sz="1900" i="1" dirty="0">
                <a:solidFill>
                  <a:srgbClr val="1F2328"/>
                </a:solidFill>
              </a:rPr>
              <a:t>exception</a:t>
            </a:r>
            <a:r>
              <a:rPr lang="id-ID" altLang="en-US" sz="1900" dirty="0">
                <a:solidFill>
                  <a:srgbClr val="1F2328"/>
                </a:solidFill>
              </a:rPr>
              <a:t> untuk validasi, melempar ulang, dan menyimpan penyebab aslinya (</a:t>
            </a:r>
            <a:r>
              <a:rPr lang="id-ID" altLang="en-US" sz="1900" i="1" dirty="0">
                <a:solidFill>
                  <a:srgbClr val="1F2328"/>
                </a:solidFill>
              </a:rPr>
              <a:t>exception chaining</a:t>
            </a:r>
            <a:r>
              <a:rPr lang="id-ID" altLang="en-US" sz="1900" dirty="0">
                <a:solidFill>
                  <a:srgbClr val="1F2328"/>
                </a:solidFill>
              </a:rPr>
              <a:t>).</a:t>
            </a:r>
            <a:endParaRPr lang="id-ID" sz="1900" dirty="0"/>
          </a:p>
        </p:txBody>
      </p:sp>
      <p:sp>
        <p:nvSpPr>
          <p:cNvPr id="22" name="Shape 19"/>
          <p:cNvSpPr/>
          <p:nvPr/>
        </p:nvSpPr>
        <p:spPr>
          <a:xfrm>
            <a:off x="548640" y="4710684"/>
            <a:ext cx="5432908" cy="1212342"/>
          </a:xfrm>
          <a:prstGeom prst="roundRect">
            <a:avLst>
              <a:gd name="adj" fmla="val 6827"/>
            </a:avLst>
          </a:prstGeom>
          <a:solidFill>
            <a:srgbClr val="F6F8FA"/>
          </a:solidFill>
          <a:ln w="9525">
            <a:solidFill>
              <a:srgbClr val="D0D7DE"/>
            </a:solidFill>
            <a:prstDash val="solid"/>
          </a:ln>
        </p:spPr>
      </p:sp>
      <p:sp>
        <p:nvSpPr>
          <p:cNvPr id="23" name="Shape 20"/>
          <p:cNvSpPr/>
          <p:nvPr/>
        </p:nvSpPr>
        <p:spPr>
          <a:xfrm>
            <a:off x="777240" y="4875276"/>
            <a:ext cx="457200" cy="457200"/>
          </a:xfrm>
          <a:prstGeom prst="ellipse">
            <a:avLst/>
          </a:prstGeom>
          <a:solidFill>
            <a:srgbClr val="0969DA"/>
          </a:solidFill>
          <a:ln/>
        </p:spPr>
      </p:sp>
      <p:sp>
        <p:nvSpPr>
          <p:cNvPr id="24" name="Text 21"/>
          <p:cNvSpPr txBox="1"/>
          <p:nvPr/>
        </p:nvSpPr>
        <p:spPr>
          <a:xfrm>
            <a:off x="777240" y="487527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5</a:t>
            </a:r>
            <a:endParaRPr lang="id-ID" sz="1800" dirty="0"/>
          </a:p>
        </p:txBody>
      </p:sp>
      <p:sp>
        <p:nvSpPr>
          <p:cNvPr id="25" name="Text 22"/>
          <p:cNvSpPr txBox="1"/>
          <p:nvPr/>
        </p:nvSpPr>
        <p:spPr>
          <a:xfrm>
            <a:off x="1417320" y="4875276"/>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Membuat hierarki </a:t>
            </a:r>
            <a:r>
              <a:rPr lang="id-ID" altLang="en-US" sz="1900" i="1" dirty="0">
                <a:solidFill>
                  <a:srgbClr val="1F2328"/>
                </a:solidFill>
              </a:rPr>
              <a:t>exception</a:t>
            </a:r>
            <a:r>
              <a:rPr lang="id-ID" altLang="en-US" sz="1900" dirty="0">
                <a:solidFill>
                  <a:srgbClr val="1F2328"/>
                </a:solidFill>
              </a:rPr>
              <a:t> buatan sendiri yang membawa data tambahan.</a:t>
            </a:r>
            <a:endParaRPr lang="id-ID" sz="1900" dirty="0"/>
          </a:p>
        </p:txBody>
      </p:sp>
      <p:sp>
        <p:nvSpPr>
          <p:cNvPr id="26" name="Shape 23"/>
          <p:cNvSpPr/>
          <p:nvPr/>
        </p:nvSpPr>
        <p:spPr>
          <a:xfrm>
            <a:off x="6210148" y="4710684"/>
            <a:ext cx="5432908" cy="1212342"/>
          </a:xfrm>
          <a:prstGeom prst="roundRect">
            <a:avLst>
              <a:gd name="adj" fmla="val 6827"/>
            </a:avLst>
          </a:prstGeom>
          <a:solidFill>
            <a:srgbClr val="F6F8FA"/>
          </a:solidFill>
          <a:ln w="9525">
            <a:solidFill>
              <a:srgbClr val="D0D7DE"/>
            </a:solidFill>
            <a:prstDash val="solid"/>
          </a:ln>
        </p:spPr>
      </p:sp>
      <p:sp>
        <p:nvSpPr>
          <p:cNvPr id="27" name="Shape 24"/>
          <p:cNvSpPr/>
          <p:nvPr/>
        </p:nvSpPr>
        <p:spPr>
          <a:xfrm>
            <a:off x="6438748" y="4875276"/>
            <a:ext cx="457200" cy="457200"/>
          </a:xfrm>
          <a:prstGeom prst="ellipse">
            <a:avLst/>
          </a:prstGeom>
          <a:solidFill>
            <a:srgbClr val="0969DA"/>
          </a:solidFill>
          <a:ln/>
        </p:spPr>
      </p:sp>
      <p:sp>
        <p:nvSpPr>
          <p:cNvPr id="28" name="Text 25"/>
          <p:cNvSpPr txBox="1"/>
          <p:nvPr/>
        </p:nvSpPr>
        <p:spPr>
          <a:xfrm>
            <a:off x="6438748" y="487527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6</a:t>
            </a:r>
            <a:endParaRPr lang="id-ID" sz="1800" dirty="0"/>
          </a:p>
        </p:txBody>
      </p:sp>
      <p:sp>
        <p:nvSpPr>
          <p:cNvPr id="29" name="Text 26"/>
          <p:cNvSpPr txBox="1"/>
          <p:nvPr/>
        </p:nvSpPr>
        <p:spPr>
          <a:xfrm>
            <a:off x="7078828" y="4875276"/>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Menjelaskan </a:t>
            </a:r>
            <a:r>
              <a:rPr lang="id-ID" altLang="en-US" sz="1900" i="1" dirty="0">
                <a:solidFill>
                  <a:srgbClr val="1F2328"/>
                </a:solidFill>
              </a:rPr>
              <a:t>checked</a:t>
            </a:r>
            <a:r>
              <a:rPr lang="id-ID" altLang="en-US" sz="1900" dirty="0">
                <a:solidFill>
                  <a:srgbClr val="1F2328"/>
                </a:solidFill>
              </a:rPr>
              <a:t> dan </a:t>
            </a:r>
            <a:r>
              <a:rPr lang="id-ID" altLang="en-US" sz="1900" i="1" dirty="0">
                <a:solidFill>
                  <a:srgbClr val="1F2328"/>
                </a:solidFill>
              </a:rPr>
              <a:t>unchecked exception</a:t>
            </a:r>
            <a:r>
              <a:rPr lang="id-ID" altLang="en-US" sz="1900" dirty="0">
                <a:solidFill>
                  <a:srgbClr val="1F2328"/>
                </a:solidFill>
              </a:rPr>
              <a:t> di Java beserta klausa </a:t>
            </a:r>
            <a:r>
              <a:rPr lang="id-ID" altLang="en-US" sz="1900" dirty="0">
                <a:solidFill>
                  <a:srgbClr val="1F2328"/>
                </a:solidFill>
                <a:latin typeface="Consolas" pitchFamily="34" charset="0"/>
                <a:ea typeface="Consolas" pitchFamily="34" charset="-122"/>
                <a:cs typeface="Consolas" pitchFamily="34" charset="-120"/>
              </a:rPr>
              <a:t>throws</a:t>
            </a:r>
            <a:r>
              <a:rPr lang="id-ID" altLang="en-US" sz="1900" dirty="0">
                <a:solidFill>
                  <a:srgbClr val="1F2328"/>
                </a:solidFill>
              </a:rPr>
              <a:t>, dan mengapa Python tidak memilikinya.</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Mengingat Kembali</a:t>
            </a:r>
            <a:endParaRPr lang="id-ID" sz="3200" dirty="0"/>
          </a:p>
        </p:txBody>
      </p:sp>
      <p:sp>
        <p:nvSpPr>
          <p:cNvPr id="5" name="Shape 2"/>
          <p:cNvSpPr/>
          <p:nvPr/>
        </p:nvSpPr>
        <p:spPr>
          <a:xfrm>
            <a:off x="548640" y="1444203"/>
            <a:ext cx="2377440" cy="4718304"/>
          </a:xfrm>
          <a:prstGeom prst="roundRect">
            <a:avLst>
              <a:gd name="adj" fmla="val 2663"/>
            </a:avLst>
          </a:prstGeom>
          <a:solidFill>
            <a:srgbClr val="DDF4FF"/>
          </a:solidFill>
          <a:ln w="9525">
            <a:solidFill>
              <a:srgbClr val="54AEFF"/>
            </a:solidFill>
            <a:prstDash val="solid"/>
          </a:ln>
        </p:spPr>
      </p:sp>
      <p:sp>
        <p:nvSpPr>
          <p:cNvPr id="6" name="Shape 3"/>
          <p:cNvSpPr/>
          <p:nvPr/>
        </p:nvSpPr>
        <p:spPr>
          <a:xfrm>
            <a:off x="1188720" y="2843235"/>
            <a:ext cx="1097280" cy="1097280"/>
          </a:xfrm>
          <a:prstGeom prst="ellipse">
            <a:avLst/>
          </a:prstGeom>
          <a:solidFill>
            <a:srgbClr val="0969DA"/>
          </a:solidFill>
          <a:ln/>
        </p:spPr>
      </p:sp>
      <p:pic>
        <p:nvPicPr>
          <p:cNvPr id="7" name="Image 1" descr="preencoded.png">    </p:cNvPr>
          <p:cNvPicPr>
            <a:picLocks noChangeAspect="1"/>
          </p:cNvPicPr>
          <p:nvPr/>
        </p:nvPicPr>
        <p:blipFill>
          <a:blip r:embed="rId2"/>
          <a:stretch>
            <a:fillRect/>
          </a:stretch>
        </p:blipFill>
        <p:spPr>
          <a:xfrm>
            <a:off x="1430122" y="3084637"/>
            <a:ext cx="614477" cy="614477"/>
          </a:xfrm>
          <a:prstGeom prst="rect">
            <a:avLst/>
          </a:prstGeom>
        </p:spPr>
      </p:pic>
      <p:sp>
        <p:nvSpPr>
          <p:cNvPr id="8" name="Text 4"/>
          <p:cNvSpPr txBox="1"/>
          <p:nvPr/>
        </p:nvSpPr>
        <p:spPr>
          <a:xfrm>
            <a:off x="731520" y="4123395"/>
            <a:ext cx="2011680" cy="640080"/>
          </a:xfrm>
          <a:prstGeom prst="rect">
            <a:avLst/>
          </a:prstGeom>
          <a:noFill/>
          <a:ln/>
        </p:spPr>
        <p:txBody>
          <a:bodyPr wrap="square" lIns="0" tIns="0" rIns="0" bIns="0" rtlCol="0" anchor="t"/>
          <a:lstStyle/>
          <a:p>
            <a:pPr algn="ctr" indent="0" marL="0">
              <a:buNone/>
            </a:pPr>
            <a:r>
              <a:rPr lang="id-ID" altLang="en-US" sz="1600" b="1" dirty="0">
                <a:solidFill>
                  <a:srgbClr val="0A3069"/>
                </a:solidFill>
              </a:rPr>
              <a:t>Dari pertemuan sebelumnya</a:t>
            </a:r>
            <a:endParaRPr lang="id-ID" sz="1600" dirty="0"/>
          </a:p>
        </p:txBody>
      </p:sp>
      <p:sp>
        <p:nvSpPr>
          <p:cNvPr id="9" name="Shape 5"/>
          <p:cNvSpPr/>
          <p:nvPr/>
        </p:nvSpPr>
        <p:spPr>
          <a:xfrm>
            <a:off x="3346704" y="1835871"/>
            <a:ext cx="137160" cy="137160"/>
          </a:xfrm>
          <a:prstGeom prst="roundRect">
            <a:avLst>
              <a:gd name="adj" fmla="val 166667"/>
            </a:avLst>
          </a:prstGeom>
          <a:solidFill>
            <a:srgbClr val="0969DA"/>
          </a:solidFill>
          <a:ln/>
        </p:spPr>
      </p:sp>
      <p:sp>
        <p:nvSpPr>
          <p:cNvPr id="10" name="Text 6"/>
          <p:cNvSpPr txBox="1"/>
          <p:nvPr/>
        </p:nvSpPr>
        <p:spPr>
          <a:xfrm>
            <a:off x="3675888" y="1718523"/>
            <a:ext cx="7967167" cy="1161288"/>
          </a:xfrm>
          <a:prstGeom prst="rect">
            <a:avLst/>
          </a:prstGeom>
          <a:noFill/>
          <a:ln/>
        </p:spPr>
        <p:txBody>
          <a:bodyPr wrap="square" lIns="0" tIns="0" rIns="0" bIns="0" rtlCol="0" anchor="t"/>
          <a:lstStyle/>
          <a:p>
            <a:pPr indent="0" marL="0">
              <a:buNone/>
            </a:pPr>
            <a:r>
              <a:rPr lang="id-ID" altLang="en-US" sz="2400" dirty="0">
                <a:solidFill>
                  <a:srgbClr val="1F2328"/>
                </a:solidFill>
              </a:rPr>
              <a:t>Pertemuan 04: </a:t>
            </a:r>
            <a:r>
              <a:rPr lang="id-ID" altLang="en-US" sz="2400" i="1" dirty="0">
                <a:solidFill>
                  <a:srgbClr val="1F2328"/>
                </a:solidFill>
              </a:rPr>
              <a:t>setter</a:t>
            </a:r>
            <a:r>
              <a:rPr lang="id-ID" altLang="en-US" sz="2400" dirty="0">
                <a:solidFill>
                  <a:srgbClr val="1F2328"/>
                </a:solidFill>
              </a:rPr>
              <a:t> dan konstruktor </a:t>
            </a:r>
            <a:r>
              <a:rPr lang="id-ID" altLang="en-US" sz="2400" b="1" dirty="0">
                <a:solidFill>
                  <a:srgbClr val="1F2328"/>
                </a:solidFill>
              </a:rPr>
              <a:t>menolak</a:t>
            </a:r>
            <a:r>
              <a:rPr lang="id-ID" altLang="en-US" sz="2400" dirty="0">
                <a:solidFill>
                  <a:srgbClr val="1F2328"/>
                </a:solidFill>
              </a:rPr>
              <a:t> data tidak valid dengan </a:t>
            </a:r>
            <a:r>
              <a:rPr lang="id-ID" altLang="en-US" sz="2400" dirty="0">
                <a:solidFill>
                  <a:srgbClr val="1F2328"/>
                </a:solidFill>
                <a:latin typeface="Consolas" pitchFamily="34" charset="0"/>
                <a:ea typeface="Consolas" pitchFamily="34" charset="-122"/>
                <a:cs typeface="Consolas" pitchFamily="34" charset="-120"/>
              </a:rPr>
              <a:t>raise ValueError(...)</a:t>
            </a:r>
            <a:r>
              <a:rPr lang="id-ID" altLang="en-US" sz="2400" dirty="0">
                <a:solidFill>
                  <a:srgbClr val="1F2328"/>
                </a:solidFill>
              </a:rPr>
              <a:t> / </a:t>
            </a:r>
            <a:r>
              <a:rPr lang="id-ID" altLang="en-US" sz="2400" dirty="0">
                <a:solidFill>
                  <a:srgbClr val="1F2328"/>
                </a:solidFill>
                <a:latin typeface="Consolas" pitchFamily="34" charset="0"/>
                <a:ea typeface="Consolas" pitchFamily="34" charset="-122"/>
                <a:cs typeface="Consolas" pitchFamily="34" charset="-120"/>
              </a:rPr>
              <a:t>throw new IllegalArgumentException(...)</a:t>
            </a:r>
            <a:r>
              <a:rPr lang="id-ID" altLang="en-US" sz="2400" dirty="0">
                <a:solidFill>
                  <a:srgbClr val="1F2328"/>
                </a:solidFill>
              </a:rPr>
              <a:t>.</a:t>
            </a:r>
            <a:endParaRPr lang="id-ID" sz="2400" dirty="0"/>
          </a:p>
        </p:txBody>
      </p:sp>
      <p:sp>
        <p:nvSpPr>
          <p:cNvPr id="11" name="Shape 7"/>
          <p:cNvSpPr/>
          <p:nvPr/>
        </p:nvSpPr>
        <p:spPr>
          <a:xfrm>
            <a:off x="3346704" y="3225759"/>
            <a:ext cx="137160" cy="137160"/>
          </a:xfrm>
          <a:prstGeom prst="roundRect">
            <a:avLst>
              <a:gd name="adj" fmla="val 166667"/>
            </a:avLst>
          </a:prstGeom>
          <a:solidFill>
            <a:srgbClr val="0969DA"/>
          </a:solidFill>
          <a:ln/>
        </p:spPr>
      </p:sp>
      <p:sp>
        <p:nvSpPr>
          <p:cNvPr id="12" name="Text 8"/>
          <p:cNvSpPr txBox="1"/>
          <p:nvPr/>
        </p:nvSpPr>
        <p:spPr>
          <a:xfrm>
            <a:off x="3675888" y="3108411"/>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Pertemuan 05: </a:t>
            </a:r>
            <a:r>
              <a:rPr lang="id-ID" altLang="en-US" sz="2400" dirty="0">
                <a:solidFill>
                  <a:srgbClr val="1F2328"/>
                </a:solidFill>
                <a:latin typeface="Consolas" pitchFamily="34" charset="0"/>
                <a:ea typeface="Consolas" pitchFamily="34" charset="-122"/>
                <a:cs typeface="Consolas" pitchFamily="34" charset="-120"/>
              </a:rPr>
              <a:t>cari_menu()</a:t>
            </a:r>
            <a:r>
              <a:rPr lang="id-ID" altLang="en-US" sz="2400" dirty="0">
                <a:solidFill>
                  <a:srgbClr val="1F2328"/>
                </a:solidFill>
              </a:rPr>
              <a:t>/</a:t>
            </a:r>
            <a:r>
              <a:rPr lang="id-ID" altLang="en-US" sz="2400" dirty="0">
                <a:solidFill>
                  <a:srgbClr val="1F2328"/>
                </a:solidFill>
                <a:latin typeface="Consolas" pitchFamily="34" charset="0"/>
                <a:ea typeface="Consolas" pitchFamily="34" charset="-122"/>
                <a:cs typeface="Consolas" pitchFamily="34" charset="-120"/>
              </a:rPr>
              <a:t>cariMenu()</a:t>
            </a:r>
            <a:r>
              <a:rPr lang="id-ID" altLang="en-US" sz="2400" dirty="0">
                <a:solidFill>
                  <a:srgbClr val="1F2328"/>
                </a:solidFill>
              </a:rPr>
              <a:t> mengembalikan </a:t>
            </a:r>
            <a:r>
              <a:rPr lang="id-ID" altLang="en-US" sz="2400" dirty="0">
                <a:solidFill>
                  <a:srgbClr val="1F2328"/>
                </a:solidFill>
                <a:latin typeface="Consolas" pitchFamily="34" charset="0"/>
                <a:ea typeface="Consolas" pitchFamily="34" charset="-122"/>
                <a:cs typeface="Consolas" pitchFamily="34" charset="-120"/>
              </a:rPr>
              <a:t>None</a:t>
            </a:r>
            <a:r>
              <a:rPr lang="id-ID" altLang="en-US" sz="2400" dirty="0">
                <a:solidFill>
                  <a:srgbClr val="1F2328"/>
                </a:solidFill>
              </a:rPr>
              <a:t>/</a:t>
            </a:r>
            <a:r>
              <a:rPr lang="id-ID" altLang="en-US" sz="2400" dirty="0">
                <a:solidFill>
                  <a:srgbClr val="1F2328"/>
                </a:solidFill>
                <a:latin typeface="Consolas" pitchFamily="34" charset="0"/>
                <a:ea typeface="Consolas" pitchFamily="34" charset="-122"/>
                <a:cs typeface="Consolas" pitchFamily="34" charset="-120"/>
              </a:rPr>
              <a:t>null</a:t>
            </a:r>
            <a:r>
              <a:rPr lang="id-ID" altLang="en-US" sz="2400" dirty="0">
                <a:solidFill>
                  <a:srgbClr val="1F2328"/>
                </a:solidFill>
              </a:rPr>
              <a:t> jika kodenya tidak terdaftar.</a:t>
            </a:r>
            <a:endParaRPr lang="id-ID" sz="2400" dirty="0"/>
          </a:p>
        </p:txBody>
      </p:sp>
      <p:sp>
        <p:nvSpPr>
          <p:cNvPr id="13" name="Shape 9"/>
          <p:cNvSpPr/>
          <p:nvPr/>
        </p:nvSpPr>
        <p:spPr>
          <a:xfrm>
            <a:off x="3346704" y="4243791"/>
            <a:ext cx="137160" cy="137160"/>
          </a:xfrm>
          <a:prstGeom prst="roundRect">
            <a:avLst>
              <a:gd name="adj" fmla="val 166667"/>
            </a:avLst>
          </a:prstGeom>
          <a:solidFill>
            <a:srgbClr val="0969DA"/>
          </a:solidFill>
          <a:ln/>
        </p:spPr>
      </p:sp>
      <p:sp>
        <p:nvSpPr>
          <p:cNvPr id="14" name="Text 10"/>
          <p:cNvSpPr txBox="1"/>
          <p:nvPr/>
        </p:nvSpPr>
        <p:spPr>
          <a:xfrm>
            <a:off x="3675888" y="4126443"/>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Pertemuan 07: pewarisan dan relasi </a:t>
            </a:r>
            <a:r>
              <a:rPr lang="id-ID" altLang="en-US" sz="2400" i="1" dirty="0">
                <a:solidFill>
                  <a:srgbClr val="1F2328"/>
                </a:solidFill>
              </a:rPr>
              <a:t>is-⁠a</a:t>
            </a:r>
            <a:r>
              <a:rPr lang="id-ID" altLang="en-US" sz="2400" dirty="0">
                <a:solidFill>
                  <a:srgbClr val="1F2328"/>
                </a:solidFill>
              </a:rPr>
              <a:t>. Setiap jenis </a:t>
            </a:r>
            <a:r>
              <a:rPr lang="id-ID" altLang="en-US" sz="2400" i="1" dirty="0">
                <a:solidFill>
                  <a:srgbClr val="1F2328"/>
                </a:solidFill>
              </a:rPr>
              <a:t>exception</a:t>
            </a:r>
            <a:r>
              <a:rPr lang="id-ID" altLang="en-US" sz="2400" dirty="0">
                <a:solidFill>
                  <a:srgbClr val="1F2328"/>
                </a:solidFill>
              </a:rPr>
              <a:t> ternyata adalah kelas.</a:t>
            </a:r>
            <a:endParaRPr lang="id-ID" sz="2400" dirty="0"/>
          </a:p>
        </p:txBody>
      </p:sp>
      <p:sp>
        <p:nvSpPr>
          <p:cNvPr id="15" name="Shape 11"/>
          <p:cNvSpPr/>
          <p:nvPr/>
        </p:nvSpPr>
        <p:spPr>
          <a:xfrm>
            <a:off x="3346704" y="5261823"/>
            <a:ext cx="137160" cy="137160"/>
          </a:xfrm>
          <a:prstGeom prst="roundRect">
            <a:avLst>
              <a:gd name="adj" fmla="val 166667"/>
            </a:avLst>
          </a:prstGeom>
          <a:solidFill>
            <a:srgbClr val="0969DA"/>
          </a:solidFill>
          <a:ln/>
        </p:spPr>
      </p:sp>
      <p:sp>
        <p:nvSpPr>
          <p:cNvPr id="16" name="Text 12"/>
          <p:cNvSpPr txBox="1"/>
          <p:nvPr/>
        </p:nvSpPr>
        <p:spPr>
          <a:xfrm>
            <a:off x="3675888" y="5144475"/>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Pertemuan 10: </a:t>
            </a:r>
            <a:r>
              <a:rPr lang="id-ID" altLang="en-US" sz="2400" dirty="0">
                <a:solidFill>
                  <a:srgbClr val="1F2328"/>
                </a:solidFill>
                <a:latin typeface="Consolas" pitchFamily="34" charset="0"/>
                <a:ea typeface="Consolas" pitchFamily="34" charset="-122"/>
                <a:cs typeface="Consolas" pitchFamily="34" charset="-120"/>
              </a:rPr>
              <a:t>proses()</a:t>
            </a:r>
            <a:r>
              <a:rPr lang="id-ID" altLang="en-US" sz="2400" dirty="0">
                <a:solidFill>
                  <a:srgbClr val="1F2328"/>
                </a:solidFill>
              </a:rPr>
              <a:t> dan </a:t>
            </a:r>
            <a:r>
              <a:rPr lang="id-ID" altLang="en-US" sz="2400" dirty="0">
                <a:solidFill>
                  <a:srgbClr val="1F2328"/>
                </a:solidFill>
                <a:latin typeface="Consolas" pitchFamily="34" charset="0"/>
                <a:ea typeface="Consolas" pitchFamily="34" charset="-122"/>
                <a:cs typeface="Consolas" pitchFamily="34" charset="-120"/>
              </a:rPr>
              <a:t>bayar()</a:t>
            </a:r>
            <a:r>
              <a:rPr lang="id-ID" altLang="en-US" sz="2400" dirty="0">
                <a:solidFill>
                  <a:srgbClr val="1F2328"/>
                </a:solidFill>
              </a:rPr>
              <a:t> mengembalikan benar/salah, jadi pemanggil harus rajin memeriksa sendiri.</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Agenda Hari Ini</a:t>
            </a:r>
            <a:endParaRPr lang="id-ID" sz="3200" dirty="0"/>
          </a:p>
        </p:txBody>
      </p:sp>
      <p:sp>
        <p:nvSpPr>
          <p:cNvPr id="5" name="Shape 2"/>
          <p:cNvSpPr/>
          <p:nvPr/>
        </p:nvSpPr>
        <p:spPr>
          <a:xfrm>
            <a:off x="548640" y="1709420"/>
            <a:ext cx="3515258" cy="1824736"/>
          </a:xfrm>
          <a:prstGeom prst="roundRect">
            <a:avLst>
              <a:gd name="adj" fmla="val 3013"/>
            </a:avLst>
          </a:prstGeom>
          <a:solidFill>
            <a:srgbClr val="F6F8FA"/>
          </a:solidFill>
          <a:ln w="9525">
            <a:solidFill>
              <a:srgbClr val="D0D7DE"/>
            </a:solidFill>
            <a:prstDash val="solid"/>
          </a:ln>
        </p:spPr>
      </p:sp>
      <p:sp>
        <p:nvSpPr>
          <p:cNvPr id="6" name="Shape 3"/>
          <p:cNvSpPr/>
          <p:nvPr/>
        </p:nvSpPr>
        <p:spPr>
          <a:xfrm>
            <a:off x="777240" y="1938020"/>
            <a:ext cx="512064" cy="512064"/>
          </a:xfrm>
          <a:prstGeom prst="ellipse">
            <a:avLst/>
          </a:prstGeom>
          <a:solidFill>
            <a:srgbClr val="0969DA"/>
          </a:solidFill>
          <a:ln/>
        </p:spPr>
      </p:sp>
      <p:sp>
        <p:nvSpPr>
          <p:cNvPr id="7" name="Text 4"/>
          <p:cNvSpPr txBox="1"/>
          <p:nvPr/>
        </p:nvSpPr>
        <p:spPr>
          <a:xfrm>
            <a:off x="777240"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1</a:t>
            </a:r>
            <a:endParaRPr lang="id-ID" sz="2000" dirty="0"/>
          </a:p>
        </p:txBody>
      </p:sp>
      <p:sp>
        <p:nvSpPr>
          <p:cNvPr id="8" name="Text 5"/>
          <p:cNvSpPr txBox="1"/>
          <p:nvPr/>
        </p:nvSpPr>
        <p:spPr>
          <a:xfrm>
            <a:off x="777240" y="2578100"/>
            <a:ext cx="3058058" cy="773176"/>
          </a:xfrm>
          <a:prstGeom prst="rect">
            <a:avLst/>
          </a:prstGeom>
          <a:noFill/>
          <a:ln/>
        </p:spPr>
        <p:txBody>
          <a:bodyPr wrap="square" lIns="0" tIns="0" rIns="0" bIns="0" rtlCol="0" anchor="t"/>
          <a:lstStyle/>
          <a:p>
            <a:pPr indent="0" marL="0">
              <a:buNone/>
            </a:pPr>
            <a:r>
              <a:rPr lang="id-ID" altLang="en-US" sz="2200" i="1" dirty="0">
                <a:solidFill>
                  <a:srgbClr val="1F2328"/>
                </a:solidFill>
              </a:rPr>
              <a:t>Exception</a:t>
            </a:r>
            <a:r>
              <a:rPr lang="id-ID" altLang="en-US" sz="2200" dirty="0">
                <a:solidFill>
                  <a:srgbClr val="1F2328"/>
                </a:solidFill>
              </a:rPr>
              <a:t>: peluit wasit di dalam program</a:t>
            </a:r>
            <a:endParaRPr lang="id-ID" sz="2200" dirty="0"/>
          </a:p>
        </p:txBody>
      </p:sp>
      <p:sp>
        <p:nvSpPr>
          <p:cNvPr id="9" name="Shape 6"/>
          <p:cNvSpPr/>
          <p:nvPr/>
        </p:nvSpPr>
        <p:spPr>
          <a:xfrm>
            <a:off x="4338218" y="1709420"/>
            <a:ext cx="3515258" cy="1824736"/>
          </a:xfrm>
          <a:prstGeom prst="roundRect">
            <a:avLst>
              <a:gd name="adj" fmla="val 3013"/>
            </a:avLst>
          </a:prstGeom>
          <a:solidFill>
            <a:srgbClr val="F6F8FA"/>
          </a:solidFill>
          <a:ln w="9525">
            <a:solidFill>
              <a:srgbClr val="D0D7DE"/>
            </a:solidFill>
            <a:prstDash val="solid"/>
          </a:ln>
        </p:spPr>
      </p:sp>
      <p:sp>
        <p:nvSpPr>
          <p:cNvPr id="10" name="Shape 7"/>
          <p:cNvSpPr/>
          <p:nvPr/>
        </p:nvSpPr>
        <p:spPr>
          <a:xfrm>
            <a:off x="4566818" y="1938020"/>
            <a:ext cx="512064" cy="512064"/>
          </a:xfrm>
          <a:prstGeom prst="ellipse">
            <a:avLst/>
          </a:prstGeom>
          <a:solidFill>
            <a:srgbClr val="0969DA"/>
          </a:solidFill>
          <a:ln/>
        </p:spPr>
      </p:sp>
      <p:sp>
        <p:nvSpPr>
          <p:cNvPr id="11" name="Text 8"/>
          <p:cNvSpPr txBox="1"/>
          <p:nvPr/>
        </p:nvSpPr>
        <p:spPr>
          <a:xfrm>
            <a:off x="4566818"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2</a:t>
            </a:r>
            <a:endParaRPr lang="id-ID" sz="2000" dirty="0"/>
          </a:p>
        </p:txBody>
      </p:sp>
      <p:sp>
        <p:nvSpPr>
          <p:cNvPr id="12" name="Text 9"/>
          <p:cNvSpPr txBox="1"/>
          <p:nvPr/>
        </p:nvSpPr>
        <p:spPr>
          <a:xfrm>
            <a:off x="4566818" y="2578100"/>
            <a:ext cx="3058058" cy="773176"/>
          </a:xfrm>
          <a:prstGeom prst="rect">
            <a:avLst/>
          </a:prstGeom>
          <a:noFill/>
          <a:ln/>
        </p:spPr>
        <p:txBody>
          <a:bodyPr wrap="square" lIns="0" tIns="0" rIns="0" bIns="0" rtlCol="0" anchor="t"/>
          <a:lstStyle/>
          <a:p>
            <a:pPr indent="0" marL="0">
              <a:buNone/>
            </a:pPr>
            <a:r>
              <a:rPr lang="id-ID" altLang="en-US" sz="2200" i="1" dirty="0">
                <a:solidFill>
                  <a:srgbClr val="1F2328"/>
                </a:solidFill>
              </a:rPr>
              <a:t>Traceback</a:t>
            </a:r>
            <a:r>
              <a:rPr lang="id-ID" altLang="en-US" sz="2200" dirty="0">
                <a:solidFill>
                  <a:srgbClr val="1F2328"/>
                </a:solidFill>
              </a:rPr>
              <a:t> dan blok </a:t>
            </a:r>
            <a:r>
              <a:rPr lang="id-ID" altLang="en-US" sz="2200" dirty="0">
                <a:solidFill>
                  <a:srgbClr val="1F2328"/>
                </a:solidFill>
                <a:latin typeface="Consolas" pitchFamily="34" charset="0"/>
                <a:ea typeface="Consolas" pitchFamily="34" charset="-122"/>
                <a:cs typeface="Consolas" pitchFamily="34" charset="-120"/>
              </a:rPr>
              <a:t>try</a:t>
            </a:r>
            <a:endParaRPr lang="id-ID" sz="2200" dirty="0"/>
          </a:p>
        </p:txBody>
      </p:sp>
      <p:sp>
        <p:nvSpPr>
          <p:cNvPr id="13" name="Shape 10"/>
          <p:cNvSpPr/>
          <p:nvPr/>
        </p:nvSpPr>
        <p:spPr>
          <a:xfrm>
            <a:off x="8127797" y="1709420"/>
            <a:ext cx="3515258" cy="1824736"/>
          </a:xfrm>
          <a:prstGeom prst="roundRect">
            <a:avLst>
              <a:gd name="adj" fmla="val 3013"/>
            </a:avLst>
          </a:prstGeom>
          <a:solidFill>
            <a:srgbClr val="F6F8FA"/>
          </a:solidFill>
          <a:ln w="9525">
            <a:solidFill>
              <a:srgbClr val="D0D7DE"/>
            </a:solidFill>
            <a:prstDash val="solid"/>
          </a:ln>
        </p:spPr>
      </p:sp>
      <p:sp>
        <p:nvSpPr>
          <p:cNvPr id="14" name="Shape 11"/>
          <p:cNvSpPr/>
          <p:nvPr/>
        </p:nvSpPr>
        <p:spPr>
          <a:xfrm>
            <a:off x="8356397" y="1938020"/>
            <a:ext cx="512064" cy="512064"/>
          </a:xfrm>
          <a:prstGeom prst="ellipse">
            <a:avLst/>
          </a:prstGeom>
          <a:solidFill>
            <a:srgbClr val="0969DA"/>
          </a:solidFill>
          <a:ln/>
        </p:spPr>
      </p:sp>
      <p:sp>
        <p:nvSpPr>
          <p:cNvPr id="15" name="Text 12"/>
          <p:cNvSpPr txBox="1"/>
          <p:nvPr/>
        </p:nvSpPr>
        <p:spPr>
          <a:xfrm>
            <a:off x="8356397"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3</a:t>
            </a:r>
            <a:endParaRPr lang="id-ID" sz="2000" dirty="0"/>
          </a:p>
        </p:txBody>
      </p:sp>
      <p:sp>
        <p:nvSpPr>
          <p:cNvPr id="16" name="Text 13"/>
          <p:cNvSpPr txBox="1"/>
          <p:nvPr/>
        </p:nvSpPr>
        <p:spPr>
          <a:xfrm>
            <a:off x="8356397"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Banyak penangkap, melempar, dan </a:t>
            </a:r>
            <a:r>
              <a:rPr lang="id-ID" altLang="en-US" sz="2200" i="1" dirty="0">
                <a:solidFill>
                  <a:srgbClr val="1F2328"/>
                </a:solidFill>
              </a:rPr>
              <a:t>chaining</a:t>
            </a:r>
            <a:endParaRPr lang="id-ID" sz="2200" dirty="0"/>
          </a:p>
        </p:txBody>
      </p:sp>
      <p:sp>
        <p:nvSpPr>
          <p:cNvPr id="17" name="Shape 14"/>
          <p:cNvSpPr/>
          <p:nvPr/>
        </p:nvSpPr>
        <p:spPr>
          <a:xfrm>
            <a:off x="548640" y="3808476"/>
            <a:ext cx="3515258" cy="1824736"/>
          </a:xfrm>
          <a:prstGeom prst="roundRect">
            <a:avLst>
              <a:gd name="adj" fmla="val 3013"/>
            </a:avLst>
          </a:prstGeom>
          <a:solidFill>
            <a:srgbClr val="F6F8FA"/>
          </a:solidFill>
          <a:ln w="9525">
            <a:solidFill>
              <a:srgbClr val="D0D7DE"/>
            </a:solidFill>
            <a:prstDash val="solid"/>
          </a:ln>
        </p:spPr>
      </p:sp>
      <p:sp>
        <p:nvSpPr>
          <p:cNvPr id="18" name="Shape 15"/>
          <p:cNvSpPr/>
          <p:nvPr/>
        </p:nvSpPr>
        <p:spPr>
          <a:xfrm>
            <a:off x="777240" y="4037076"/>
            <a:ext cx="512064" cy="512064"/>
          </a:xfrm>
          <a:prstGeom prst="ellipse">
            <a:avLst/>
          </a:prstGeom>
          <a:solidFill>
            <a:srgbClr val="0969DA"/>
          </a:solidFill>
          <a:ln/>
        </p:spPr>
      </p:sp>
      <p:sp>
        <p:nvSpPr>
          <p:cNvPr id="19" name="Text 16"/>
          <p:cNvSpPr txBox="1"/>
          <p:nvPr/>
        </p:nvSpPr>
        <p:spPr>
          <a:xfrm>
            <a:off x="777240"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4</a:t>
            </a:r>
            <a:endParaRPr lang="id-ID" sz="2000" dirty="0"/>
          </a:p>
        </p:txBody>
      </p:sp>
      <p:sp>
        <p:nvSpPr>
          <p:cNvPr id="20" name="Text 17"/>
          <p:cNvSpPr txBox="1"/>
          <p:nvPr/>
        </p:nvSpPr>
        <p:spPr>
          <a:xfrm>
            <a:off x="777240" y="4677156"/>
            <a:ext cx="3058058" cy="773176"/>
          </a:xfrm>
          <a:prstGeom prst="rect">
            <a:avLst/>
          </a:prstGeom>
          <a:noFill/>
          <a:ln/>
        </p:spPr>
        <p:txBody>
          <a:bodyPr wrap="square" lIns="0" tIns="0" rIns="0" bIns="0" rtlCol="0" anchor="t"/>
          <a:lstStyle/>
          <a:p>
            <a:pPr indent="0" marL="0">
              <a:buNone/>
            </a:pPr>
            <a:r>
              <a:rPr lang="id-ID" altLang="en-US" sz="2200" i="1" dirty="0">
                <a:solidFill>
                  <a:srgbClr val="1F2328"/>
                </a:solidFill>
              </a:rPr>
              <a:t>Checked</a:t>
            </a:r>
            <a:r>
              <a:rPr lang="id-ID" altLang="en-US" sz="2200" dirty="0">
                <a:solidFill>
                  <a:srgbClr val="1F2328"/>
                </a:solidFill>
              </a:rPr>
              <a:t> dan </a:t>
            </a:r>
            <a:r>
              <a:rPr lang="id-ID" altLang="en-US" sz="2200" i="1" dirty="0">
                <a:solidFill>
                  <a:srgbClr val="1F2328"/>
                </a:solidFill>
              </a:rPr>
              <a:t>unchecked</a:t>
            </a:r>
            <a:r>
              <a:rPr lang="id-ID" altLang="en-US" sz="2200" dirty="0">
                <a:solidFill>
                  <a:srgbClr val="1F2328"/>
                </a:solidFill>
              </a:rPr>
              <a:t> (khusus Java)</a:t>
            </a:r>
            <a:endParaRPr lang="id-ID" sz="2200" dirty="0"/>
          </a:p>
        </p:txBody>
      </p:sp>
      <p:sp>
        <p:nvSpPr>
          <p:cNvPr id="21" name="Shape 18"/>
          <p:cNvSpPr/>
          <p:nvPr/>
        </p:nvSpPr>
        <p:spPr>
          <a:xfrm>
            <a:off x="4338218" y="3808476"/>
            <a:ext cx="3515258" cy="1824736"/>
          </a:xfrm>
          <a:prstGeom prst="roundRect">
            <a:avLst>
              <a:gd name="adj" fmla="val 3013"/>
            </a:avLst>
          </a:prstGeom>
          <a:solidFill>
            <a:srgbClr val="F6F8FA"/>
          </a:solidFill>
          <a:ln w="9525">
            <a:solidFill>
              <a:srgbClr val="D0D7DE"/>
            </a:solidFill>
            <a:prstDash val="solid"/>
          </a:ln>
        </p:spPr>
      </p:sp>
      <p:sp>
        <p:nvSpPr>
          <p:cNvPr id="22" name="Shape 19"/>
          <p:cNvSpPr/>
          <p:nvPr/>
        </p:nvSpPr>
        <p:spPr>
          <a:xfrm>
            <a:off x="4566818" y="4037076"/>
            <a:ext cx="512064" cy="512064"/>
          </a:xfrm>
          <a:prstGeom prst="ellipse">
            <a:avLst/>
          </a:prstGeom>
          <a:solidFill>
            <a:srgbClr val="0969DA"/>
          </a:solidFill>
          <a:ln/>
        </p:spPr>
      </p:sp>
      <p:sp>
        <p:nvSpPr>
          <p:cNvPr id="23" name="Text 20"/>
          <p:cNvSpPr txBox="1"/>
          <p:nvPr/>
        </p:nvSpPr>
        <p:spPr>
          <a:xfrm>
            <a:off x="4566818"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5</a:t>
            </a:r>
            <a:endParaRPr lang="id-ID" sz="2000" dirty="0"/>
          </a:p>
        </p:txBody>
      </p:sp>
      <p:sp>
        <p:nvSpPr>
          <p:cNvPr id="24" name="Text 21"/>
          <p:cNvSpPr txBox="1"/>
          <p:nvPr/>
        </p:nvSpPr>
        <p:spPr>
          <a:xfrm>
            <a:off x="4566818"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Studi kasus KedaiKita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1</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1</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3800" b="1" i="1" dirty="0">
                <a:solidFill>
                  <a:srgbClr val="FFFFFF"/>
                </a:solidFill>
              </a:rPr>
              <a:t>Exception</a:t>
            </a:r>
            <a:r>
              <a:rPr lang="id-ID" altLang="en-US" sz="3800" b="1" dirty="0">
                <a:solidFill>
                  <a:srgbClr val="FFFFFF"/>
                </a:solidFill>
              </a:rPr>
              <a:t>: Peluit Wasit di dalam Program</a:t>
            </a:r>
            <a:endParaRPr lang="id-ID" sz="38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Mengapa nilai khusus seperti </a:t>
            </a:r>
            <a:r>
              <a:rPr lang="id-ID" altLang="en-US" sz="2200" dirty="0">
                <a:solidFill>
                  <a:srgbClr val="DDF4FF"/>
                </a:solidFill>
                <a:latin typeface="Consolas" pitchFamily="34" charset="0"/>
                <a:ea typeface="Consolas" pitchFamily="34" charset="-122"/>
                <a:cs typeface="Consolas" pitchFamily="34" charset="-120"/>
              </a:rPr>
              <a:t>None</a:t>
            </a:r>
            <a:r>
              <a:rPr lang="id-ID" altLang="en-US" sz="2200" dirty="0">
                <a:solidFill>
                  <a:srgbClr val="C9D7E8"/>
                </a:solidFill>
              </a:rPr>
              <a:t>/</a:t>
            </a:r>
            <a:r>
              <a:rPr lang="id-ID" altLang="en-US" sz="2200" dirty="0">
                <a:solidFill>
                  <a:srgbClr val="DDF4FF"/>
                </a:solidFill>
                <a:latin typeface="Consolas" pitchFamily="34" charset="0"/>
                <a:ea typeface="Consolas" pitchFamily="34" charset="-122"/>
                <a:cs typeface="Consolas" pitchFamily="34" charset="-120"/>
              </a:rPr>
              <a:t>null</a:t>
            </a:r>
            <a:r>
              <a:rPr lang="id-ID" altLang="en-US" sz="2200" dirty="0">
                <a:solidFill>
                  <a:srgbClr val="C9D7E8"/>
                </a:solidFill>
              </a:rPr>
              <a:t> belum cukup untuk menandai kegagalan.</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9A67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Kasir yang Bertemu Masalah</a:t>
            </a:r>
            <a:endParaRPr lang="id-ID" sz="3200" dirty="0"/>
          </a:p>
        </p:txBody>
      </p:sp>
      <p:sp>
        <p:nvSpPr>
          <p:cNvPr id="5" name="Shape 2"/>
          <p:cNvSpPr/>
          <p:nvPr/>
        </p:nvSpPr>
        <p:spPr>
          <a:xfrm>
            <a:off x="548640" y="1417320"/>
            <a:ext cx="5074920" cy="4782312"/>
          </a:xfrm>
          <a:prstGeom prst="roundRect">
            <a:avLst>
              <a:gd name="adj" fmla="val 585"/>
            </a:avLst>
          </a:prstGeom>
          <a:solidFill>
            <a:srgbClr val="FFF8C5"/>
          </a:solidFill>
          <a:ln w="9525">
            <a:solidFill>
              <a:srgbClr val="D4A72C"/>
            </a:solidFill>
            <a:prstDash val="solid"/>
          </a:ln>
        </p:spPr>
      </p:sp>
      <p:sp>
        <p:nvSpPr>
          <p:cNvPr id="6" name="Shape 3"/>
          <p:cNvSpPr/>
          <p:nvPr/>
        </p:nvSpPr>
        <p:spPr>
          <a:xfrm>
            <a:off x="822960" y="1645920"/>
            <a:ext cx="457200" cy="457200"/>
          </a:xfrm>
          <a:prstGeom prst="ellipse">
            <a:avLst/>
          </a:prstGeom>
          <a:solidFill>
            <a:srgbClr val="9A6700"/>
          </a:solidFill>
          <a:ln/>
        </p:spPr>
      </p:sp>
      <p:pic>
        <p:nvPicPr>
          <p:cNvPr id="7" name="Image 1" descr="preencoded.png">    </p:cNvPr>
          <p:cNvPicPr>
            <a:picLocks noChangeAspect="1"/>
          </p:cNvPicPr>
          <p:nvPr/>
        </p:nvPicPr>
        <p:blipFill>
          <a:blip r:embed="rId2"/>
          <a:stretch>
            <a:fillRect/>
          </a:stretch>
        </p:blipFill>
        <p:spPr>
          <a:xfrm>
            <a:off x="923544" y="1746504"/>
            <a:ext cx="256032" cy="256032"/>
          </a:xfrm>
          <a:prstGeom prst="rect">
            <a:avLst/>
          </a:prstGeom>
        </p:spPr>
      </p:pic>
      <p:sp>
        <p:nvSpPr>
          <p:cNvPr id="8" name="Text 4"/>
          <p:cNvSpPr txBox="1"/>
          <p:nvPr/>
        </p:nvSpPr>
        <p:spPr>
          <a:xfrm>
            <a:off x="1417320" y="1691640"/>
            <a:ext cx="2743200" cy="365760"/>
          </a:xfrm>
          <a:prstGeom prst="rect">
            <a:avLst/>
          </a:prstGeom>
          <a:noFill/>
          <a:ln/>
        </p:spPr>
        <p:txBody>
          <a:bodyPr wrap="square" lIns="0" tIns="0" rIns="0" bIns="0" rtlCol="0" anchor="t"/>
          <a:lstStyle/>
          <a:p>
            <a:pPr indent="0" marL="0">
              <a:buNone/>
            </a:pPr>
            <a:r>
              <a:rPr lang="id-ID" altLang="en-US" sz="1600" b="1" dirty="0">
                <a:solidFill>
                  <a:srgbClr val="9A6700"/>
                </a:solidFill>
              </a:rPr>
              <a:t>Analogi</a:t>
            </a:r>
            <a:endParaRPr lang="id-ID" sz="1600" dirty="0"/>
          </a:p>
        </p:txBody>
      </p:sp>
      <p:sp>
        <p:nvSpPr>
          <p:cNvPr id="9" name="Shape 5"/>
          <p:cNvSpPr/>
          <p:nvPr/>
        </p:nvSpPr>
        <p:spPr>
          <a:xfrm>
            <a:off x="923544" y="2356866"/>
            <a:ext cx="137160" cy="137160"/>
          </a:xfrm>
          <a:prstGeom prst="roundRect">
            <a:avLst>
              <a:gd name="adj" fmla="val 166667"/>
            </a:avLst>
          </a:prstGeom>
          <a:solidFill>
            <a:srgbClr val="9A6700"/>
          </a:solidFill>
          <a:ln/>
        </p:spPr>
      </p:sp>
      <p:sp>
        <p:nvSpPr>
          <p:cNvPr id="10" name="Text 6"/>
          <p:cNvSpPr txBox="1"/>
          <p:nvPr/>
        </p:nvSpPr>
        <p:spPr>
          <a:xfrm>
            <a:off x="1252728" y="2286000"/>
            <a:ext cx="3867912" cy="1161288"/>
          </a:xfrm>
          <a:prstGeom prst="rect">
            <a:avLst/>
          </a:prstGeom>
          <a:noFill/>
          <a:ln/>
        </p:spPr>
        <p:txBody>
          <a:bodyPr wrap="square" lIns="0" tIns="0" rIns="0" bIns="0" rtlCol="0" anchor="t"/>
          <a:lstStyle/>
          <a:p>
            <a:pPr indent="0" marL="0">
              <a:buNone/>
            </a:pPr>
            <a:r>
              <a:rPr lang="id-ID" altLang="en-US" sz="1800" dirty="0">
                <a:solidFill>
                  <a:srgbClr val="1F2328"/>
                </a:solidFill>
              </a:rPr>
              <a:t>Dalam lima menit, kasir KedaiKita bertemu kode </a:t>
            </a:r>
            <a:r>
              <a:rPr lang="id-ID" altLang="en-US" sz="1800" b="1" dirty="0">
                <a:solidFill>
                  <a:srgbClr val="1F2328"/>
                </a:solidFill>
              </a:rPr>
              <a:t>M99</a:t>
            </a:r>
            <a:r>
              <a:rPr lang="id-ID" altLang="en-US" sz="1800" dirty="0">
                <a:solidFill>
                  <a:srgbClr val="1F2328"/>
                </a:solidFill>
              </a:rPr>
              <a:t> yang tidak ada, pesanan </a:t>
            </a:r>
            <a:r>
              <a:rPr lang="id-ID" altLang="en-US" sz="1800" b="1" dirty="0">
                <a:solidFill>
                  <a:srgbClr val="1F2328"/>
                </a:solidFill>
              </a:rPr>
              <a:t>50 porsi</a:t>
            </a:r>
            <a:r>
              <a:rPr lang="id-ID" altLang="en-US" sz="1800" dirty="0">
                <a:solidFill>
                  <a:srgbClr val="1F2328"/>
                </a:solidFill>
              </a:rPr>
              <a:t> padahal stok 10, dan </a:t>
            </a:r>
            <a:r>
              <a:rPr lang="id-ID" altLang="en-US" sz="1800" b="1" dirty="0">
                <a:solidFill>
                  <a:srgbClr val="1F2328"/>
                </a:solidFill>
              </a:rPr>
              <a:t>saldo QRIS</a:t>
            </a:r>
            <a:r>
              <a:rPr lang="id-ID" altLang="en-US" sz="1800" dirty="0">
                <a:solidFill>
                  <a:srgbClr val="1F2328"/>
                </a:solidFill>
              </a:rPr>
              <a:t> yang kurang.</a:t>
            </a:r>
            <a:endParaRPr lang="id-ID" sz="1800" dirty="0"/>
          </a:p>
        </p:txBody>
      </p:sp>
      <p:sp>
        <p:nvSpPr>
          <p:cNvPr id="11" name="Shape 7"/>
          <p:cNvSpPr/>
          <p:nvPr/>
        </p:nvSpPr>
        <p:spPr>
          <a:xfrm>
            <a:off x="923544" y="3691890"/>
            <a:ext cx="137160" cy="137160"/>
          </a:xfrm>
          <a:prstGeom prst="roundRect">
            <a:avLst>
              <a:gd name="adj" fmla="val 166667"/>
            </a:avLst>
          </a:prstGeom>
          <a:solidFill>
            <a:srgbClr val="9A6700"/>
          </a:solidFill>
          <a:ln/>
        </p:spPr>
      </p:sp>
      <p:sp>
        <p:nvSpPr>
          <p:cNvPr id="12" name="Text 8"/>
          <p:cNvSpPr txBox="1"/>
          <p:nvPr/>
        </p:nvSpPr>
        <p:spPr>
          <a:xfrm>
            <a:off x="1252728" y="3621024"/>
            <a:ext cx="3867912" cy="1161288"/>
          </a:xfrm>
          <a:prstGeom prst="rect">
            <a:avLst/>
          </a:prstGeom>
          <a:noFill/>
          <a:ln/>
        </p:spPr>
        <p:txBody>
          <a:bodyPr wrap="square" lIns="0" tIns="0" rIns="0" bIns="0" rtlCol="0" anchor="t"/>
          <a:lstStyle/>
          <a:p>
            <a:pPr indent="0" marL="0">
              <a:buNone/>
            </a:pPr>
            <a:r>
              <a:rPr lang="id-ID" altLang="en-US" sz="1800" dirty="0">
                <a:solidFill>
                  <a:srgbClr val="1F2328"/>
                </a:solidFill>
              </a:rPr>
              <a:t>Sampai Pertemuan 10, kegagalan ditandai </a:t>
            </a:r>
            <a:r>
              <a:rPr lang="id-ID" altLang="en-US" sz="1800" b="1" dirty="0">
                <a:solidFill>
                  <a:srgbClr val="1F2328"/>
                </a:solidFill>
              </a:rPr>
              <a:t>nilai khusus</a:t>
            </a:r>
            <a:r>
              <a:rPr lang="id-ID" altLang="en-US" sz="1800" dirty="0">
                <a:solidFill>
                  <a:srgbClr val="1F2328"/>
                </a:solidFill>
              </a:rPr>
              <a:t> (</a:t>
            </a:r>
            <a:r>
              <a:rPr lang="id-ID" altLang="en-US" sz="1800" dirty="0">
                <a:solidFill>
                  <a:srgbClr val="1F2328"/>
                </a:solidFill>
                <a:latin typeface="Consolas" pitchFamily="34" charset="0"/>
                <a:ea typeface="Consolas" pitchFamily="34" charset="-122"/>
                <a:cs typeface="Consolas" pitchFamily="34" charset="-120"/>
              </a:rPr>
              <a:t>None</a:t>
            </a:r>
            <a:r>
              <a:rPr lang="id-ID" altLang="en-US" sz="1800" dirty="0">
                <a:solidFill>
                  <a:srgbClr val="1F2328"/>
                </a:solidFill>
              </a:rPr>
              <a:t>/</a:t>
            </a:r>
            <a:r>
              <a:rPr lang="id-ID" altLang="en-US" sz="1800" dirty="0">
                <a:solidFill>
                  <a:srgbClr val="1F2328"/>
                </a:solidFill>
                <a:latin typeface="Consolas" pitchFamily="34" charset="0"/>
                <a:ea typeface="Consolas" pitchFamily="34" charset="-122"/>
                <a:cs typeface="Consolas" pitchFamily="34" charset="-120"/>
              </a:rPr>
              <a:t>null</a:t>
            </a:r>
            <a:r>
              <a:rPr lang="id-ID" altLang="en-US" sz="1800" dirty="0">
                <a:solidFill>
                  <a:srgbClr val="1F2328"/>
                </a:solidFill>
              </a:rPr>
              <a:t>, </a:t>
            </a:r>
            <a:r>
              <a:rPr lang="id-ID" altLang="en-US" sz="1800" dirty="0">
                <a:solidFill>
                  <a:srgbClr val="1F2328"/>
                </a:solidFill>
                <a:latin typeface="Consolas" pitchFamily="34" charset="0"/>
                <a:ea typeface="Consolas" pitchFamily="34" charset="-122"/>
                <a:cs typeface="Consolas" pitchFamily="34" charset="-120"/>
              </a:rPr>
              <a:t>False</a:t>
            </a:r>
            <a:r>
              <a:rPr lang="id-ID" altLang="en-US" sz="1800" dirty="0">
                <a:solidFill>
                  <a:srgbClr val="1F2328"/>
                </a:solidFill>
              </a:rPr>
              <a:t>/</a:t>
            </a:r>
            <a:r>
              <a:rPr lang="id-ID" altLang="en-US" sz="1800" dirty="0">
                <a:solidFill>
                  <a:srgbClr val="1F2328"/>
                </a:solidFill>
                <a:latin typeface="Consolas" pitchFamily="34" charset="0"/>
                <a:ea typeface="Consolas" pitchFamily="34" charset="-122"/>
                <a:cs typeface="Consolas" pitchFamily="34" charset="-120"/>
              </a:rPr>
              <a:t>false</a:t>
            </a:r>
            <a:r>
              <a:rPr lang="id-ID" altLang="en-US" sz="1800" dirty="0">
                <a:solidFill>
                  <a:srgbClr val="1F2328"/>
                </a:solidFill>
              </a:rPr>
              <a:t>) yang mudah lupa dicek dan tidak menjelaskan alasan.</a:t>
            </a:r>
            <a:endParaRPr lang="id-ID" sz="1800" dirty="0"/>
          </a:p>
        </p:txBody>
      </p:sp>
      <p:sp>
        <p:nvSpPr>
          <p:cNvPr id="13" name="Shape 9"/>
          <p:cNvSpPr/>
          <p:nvPr/>
        </p:nvSpPr>
        <p:spPr>
          <a:xfrm>
            <a:off x="923544" y="5026914"/>
            <a:ext cx="137160" cy="137160"/>
          </a:xfrm>
          <a:prstGeom prst="roundRect">
            <a:avLst>
              <a:gd name="adj" fmla="val 166667"/>
            </a:avLst>
          </a:prstGeom>
          <a:solidFill>
            <a:srgbClr val="9A6700"/>
          </a:solidFill>
          <a:ln/>
        </p:spPr>
      </p:sp>
      <p:sp>
        <p:nvSpPr>
          <p:cNvPr id="14" name="Text 10"/>
          <p:cNvSpPr txBox="1"/>
          <p:nvPr/>
        </p:nvSpPr>
        <p:spPr>
          <a:xfrm>
            <a:off x="1252728" y="4956048"/>
            <a:ext cx="3867912" cy="1161288"/>
          </a:xfrm>
          <a:prstGeom prst="rect">
            <a:avLst/>
          </a:prstGeom>
          <a:noFill/>
          <a:ln/>
        </p:spPr>
        <p:txBody>
          <a:bodyPr wrap="square" lIns="0" tIns="0" rIns="0" bIns="0" rtlCol="0" anchor="t"/>
          <a:lstStyle/>
          <a:p>
            <a:pPr indent="0" marL="0">
              <a:buNone/>
            </a:pPr>
            <a:r>
              <a:rPr lang="id-ID" altLang="en-US" sz="1800" dirty="0">
                <a:solidFill>
                  <a:srgbClr val="1F2328"/>
                </a:solidFill>
              </a:rPr>
              <a:t>Wasit sepak bola </a:t>
            </a:r>
            <a:r>
              <a:rPr lang="id-ID" altLang="en-US" sz="1800" b="1" dirty="0">
                <a:solidFill>
                  <a:srgbClr val="1F2328"/>
                </a:solidFill>
              </a:rPr>
              <a:t>meniup peluit</a:t>
            </a:r>
            <a:r>
              <a:rPr lang="id-ID" altLang="en-US" sz="1800" dirty="0">
                <a:solidFill>
                  <a:srgbClr val="1F2328"/>
                </a:solidFill>
              </a:rPr>
              <a:t>: permainan langsung berhenti, pelanggaran ditangani dulu, baru permainan berlanjut.</a:t>
            </a:r>
            <a:endParaRPr lang="id-ID"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0" y="2111756"/>
          <a:ext cx="5699455" cy="914400"/>
        </p:xfrm>
        <a:graphic>
          <a:graphicData uri="http://schemas.openxmlformats.org/drawingml/2006/table">
            <a:tbl>
              <a:tblPr/>
              <a:tblGrid>
                <a:gridCol w="2517115"/>
                <a:gridCol w="3182341"/>
              </a:tblGrid>
              <a:tr h="492760">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Sepak bola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Program</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49276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Wasit meniup peluit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i="1" dirty="0">
                          <a:solidFill>
                            <a:srgbClr val="1F2328"/>
                          </a:solidFill>
                          <a:latin typeface="Calibri" pitchFamily="34" charset="0"/>
                          <a:ea typeface="Calibri" pitchFamily="34" charset="-122"/>
                          <a:cs typeface="Calibri" pitchFamily="34" charset="-120"/>
                        </a:rPr>
                        <a:t>Exception</a:t>
                      </a:r>
                      <a:r>
                        <a:rPr lang="id-ID" altLang="en-US" sz="2000" dirty="0">
                          <a:solidFill>
                            <a:srgbClr val="1F2328"/>
                          </a:solidFill>
                          <a:latin typeface="Calibri" pitchFamily="34" charset="0"/>
                          <a:ea typeface="Calibri" pitchFamily="34" charset="-122"/>
                          <a:cs typeface="Calibri" pitchFamily="34" charset="-120"/>
                        </a:rPr>
                        <a:t> </a:t>
                      </a:r>
                      <a:r>
                        <a:rPr lang="id-ID" altLang="en-US" sz="2000" b="1" dirty="0">
                          <a:solidFill>
                            <a:srgbClr val="1F2328"/>
                          </a:solidFill>
                          <a:latin typeface="Calibri" pitchFamily="34" charset="0"/>
                          <a:ea typeface="Calibri" pitchFamily="34" charset="-122"/>
                          <a:cs typeface="Calibri" pitchFamily="34" charset="-120"/>
                        </a:rPr>
                        <a:t>dilempar</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Permainan langsung berhenti</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Alur normal langsung berhenti</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Pelanggaran ditangani dulu</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i="1" dirty="0">
                          <a:solidFill>
                            <a:srgbClr val="1F2328"/>
                          </a:solidFill>
                          <a:latin typeface="Calibri" pitchFamily="34" charset="0"/>
                          <a:ea typeface="Calibri" pitchFamily="34" charset="-122"/>
                          <a:cs typeface="Calibri" pitchFamily="34" charset="-120"/>
                        </a:rPr>
                        <a:t>Exception</a:t>
                      </a:r>
                      <a:r>
                        <a:rPr lang="id-ID" altLang="en-US" sz="2000" dirty="0">
                          <a:solidFill>
                            <a:srgbClr val="1F2328"/>
                          </a:solidFill>
                          <a:latin typeface="Calibri" pitchFamily="34" charset="0"/>
                          <a:ea typeface="Calibri" pitchFamily="34" charset="-122"/>
                          <a:cs typeface="Calibri" pitchFamily="34" charset="-120"/>
                        </a:rPr>
                        <a:t> </a:t>
                      </a:r>
                      <a:r>
                        <a:rPr lang="id-ID" altLang="en-US" sz="2000" b="1" dirty="0">
                          <a:solidFill>
                            <a:srgbClr val="1F2328"/>
                          </a:solidFill>
                          <a:latin typeface="Calibri" pitchFamily="34" charset="0"/>
                          <a:ea typeface="Calibri" pitchFamily="34" charset="-122"/>
                          <a:cs typeface="Calibri" pitchFamily="34" charset="-120"/>
                        </a:rPr>
                        <a:t>ditangkap</a:t>
                      </a:r>
                      <a:r>
                        <a:rPr lang="id-ID" altLang="en-US" sz="2000" dirty="0">
                          <a:solidFill>
                            <a:srgbClr val="1F2328"/>
                          </a:solidFill>
                          <a:latin typeface="Calibri" pitchFamily="34" charset="0"/>
                          <a:ea typeface="Calibri" pitchFamily="34" charset="-122"/>
                          <a:cs typeface="Calibri" pitchFamily="34" charset="-120"/>
                        </a:rPr>
                        <a:t> dan ditangani</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Catatan kecil di saku wasit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Nilai khusus seperti </a:t>
                      </a:r>
                      <a:r>
                        <a:rPr lang="id-ID" altLang="en-US" sz="2000" dirty="0">
                          <a:solidFill>
                            <a:srgbClr val="0A3069"/>
                          </a:solidFill>
                          <a:latin typeface="Consolas" pitchFamily="34" charset="0"/>
                          <a:ea typeface="Consolas" pitchFamily="34" charset="-122"/>
                          <a:cs typeface="Consolas" pitchFamily="34" charset="-120"/>
                        </a:rPr>
                        <a:t>None</a:t>
                      </a:r>
                      <a:r>
                        <a:rPr lang="id-ID" altLang="en-US" sz="2000" dirty="0">
                          <a:solidFill>
                            <a:srgbClr val="1F2328"/>
                          </a:solidFill>
                          <a:latin typeface="Calibri" pitchFamily="34" charset="0"/>
                          <a:ea typeface="Calibri" pitchFamily="34" charset="-122"/>
                          <a:cs typeface="Calibri" pitchFamily="34" charset="-120"/>
                        </a:rPr>
                        <a:t>/</a:t>
                      </a:r>
                      <a:r>
                        <a:rPr lang="id-ID" altLang="en-US" sz="2000" dirty="0">
                          <a:solidFill>
                            <a:srgbClr val="0A3069"/>
                          </a:solidFill>
                          <a:latin typeface="Consolas" pitchFamily="34" charset="0"/>
                          <a:ea typeface="Consolas" pitchFamily="34" charset="-122"/>
                          <a:cs typeface="Consolas" pitchFamily="34" charset="-120"/>
                        </a:rPr>
                        <a:t>null</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Tiga Jenis Kesalahan Program</a:t>
            </a:r>
            <a:endParaRPr lang="id-ID"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65605"/>
          <a:ext cx="11094415" cy="914400"/>
        </p:xfrm>
        <a:graphic>
          <a:graphicData uri="http://schemas.openxmlformats.org/drawingml/2006/table">
            <a:tbl>
              <a:tblPr/>
              <a:tblGrid>
                <a:gridCol w="2101068"/>
                <a:gridCol w="2183860"/>
                <a:gridCol w="4685313"/>
                <a:gridCol w="2124175"/>
              </a:tblGrid>
              <a:tr h="492760">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Jenis</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Kapan ketahuan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Contoh</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Akibat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1112520">
                <a:tc>
                  <a:txBody>
                    <a:bodyPr/>
                    <a:lstStyle/>
                    <a:p>
                      <a:pPr indent="0" marL="0">
                        <a:buNone/>
                      </a:pPr>
                      <a:r>
                        <a:rPr lang="id-ID" altLang="en-US" sz="2000" b="1" dirty="0">
                          <a:solidFill>
                            <a:srgbClr val="1F2328"/>
                          </a:solidFill>
                          <a:latin typeface="Calibri" pitchFamily="34" charset="0"/>
                          <a:ea typeface="Calibri" pitchFamily="34" charset="-122"/>
                          <a:cs typeface="Calibri" pitchFamily="34" charset="-120"/>
                        </a:rPr>
                        <a:t>Sintaks</a:t>
                      </a:r>
                      <a:r>
                        <a:rPr lang="id-ID" altLang="en-US" sz="2000" dirty="0">
                          <a:solidFill>
                            <a:srgbClr val="1F2328"/>
                          </a:solidFill>
                          <a:latin typeface="Calibri" pitchFamily="34" charset="0"/>
                          <a:ea typeface="Calibri" pitchFamily="34" charset="-122"/>
                          <a:cs typeface="Calibri" pitchFamily="34" charset="-120"/>
                        </a:rPr>
                        <a:t>/kompilasi</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Sebelum program berjalan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lupa titik dua (Python), lupa </a:t>
                      </a:r>
                      <a:r>
                        <a:rPr lang="id-ID" altLang="en-US" sz="2000" dirty="0">
                          <a:solidFill>
                            <a:srgbClr val="0A3069"/>
                          </a:solidFill>
                          <a:latin typeface="Consolas" pitchFamily="34" charset="0"/>
                          <a:ea typeface="Consolas" pitchFamily="34" charset="-122"/>
                          <a:cs typeface="Consolas" pitchFamily="34" charset="-120"/>
                        </a:rPr>
                        <a:t>;</a:t>
                      </a:r>
                      <a:r>
                        <a:rPr lang="id-ID" altLang="en-US" sz="2000" dirty="0">
                          <a:solidFill>
                            <a:srgbClr val="1F2328"/>
                          </a:solidFill>
                          <a:latin typeface="Calibri" pitchFamily="34" charset="0"/>
                          <a:ea typeface="Calibri" pitchFamily="34" charset="-122"/>
                          <a:cs typeface="Calibri" pitchFamily="34" charset="-120"/>
                        </a:rPr>
                        <a:t> (Java)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Program sama sekali tidak bisa dijalankan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1112520">
                <a:tc>
                  <a:txBody>
                    <a:bodyPr/>
                    <a:lstStyle/>
                    <a:p>
                      <a:pPr indent="0" marL="0">
                        <a:buNone/>
                      </a:pPr>
                      <a:r>
                        <a:rPr lang="id-ID" altLang="en-US" sz="2000" b="1" dirty="0">
                          <a:solidFill>
                            <a:srgbClr val="1F2328"/>
                          </a:solidFill>
                          <a:latin typeface="Calibri" pitchFamily="34" charset="0"/>
                          <a:ea typeface="Calibri" pitchFamily="34" charset="-122"/>
                          <a:cs typeface="Calibri" pitchFamily="34" charset="-120"/>
                        </a:rPr>
                        <a:t>Saat berjalan</a:t>
                      </a:r>
                      <a:r>
                        <a:rPr lang="id-ID" altLang="en-US" sz="2000" dirty="0">
                          <a:solidFill>
                            <a:srgbClr val="1F2328"/>
                          </a:solidFill>
                          <a:latin typeface="Calibri" pitchFamily="34" charset="0"/>
                          <a:ea typeface="Calibri" pitchFamily="34" charset="-122"/>
                          <a:cs typeface="Calibri" pitchFamily="34" charset="-120"/>
                        </a:rPr>
                        <a:t> (</a:t>
                      </a:r>
                      <a:r>
                        <a:rPr lang="id-ID" altLang="en-US" sz="2000" i="1" dirty="0">
                          <a:solidFill>
                            <a:srgbClr val="1F2328"/>
                          </a:solidFill>
                          <a:latin typeface="Calibri" pitchFamily="34" charset="0"/>
                          <a:ea typeface="Calibri" pitchFamily="34" charset="-122"/>
                          <a:cs typeface="Calibri" pitchFamily="34" charset="-120"/>
                        </a:rPr>
                        <a:t>runtime error</a:t>
                      </a:r>
                      <a:r>
                        <a:rPr lang="id-ID" altLang="en-US" sz="2000" dirty="0">
                          <a:solidFill>
                            <a:srgbClr val="1F2328"/>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Saat program sedang berjalan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membagi dengan nol, mengubah teks </a:t>
                      </a:r>
                      <a:r>
                        <a:rPr lang="id-ID" altLang="en-US" sz="2000" dirty="0">
                          <a:solidFill>
                            <a:srgbClr val="0A3069"/>
                          </a:solidFill>
                          <a:latin typeface="Consolas" pitchFamily="34" charset="0"/>
                          <a:ea typeface="Consolas" pitchFamily="34" charset="-122"/>
                          <a:cs typeface="Consolas" pitchFamily="34" charset="-120"/>
                        </a:rPr>
                        <a:t>"dua"</a:t>
                      </a:r>
                      <a:r>
                        <a:rPr lang="id-ID" altLang="en-US" sz="2000" dirty="0">
                          <a:solidFill>
                            <a:srgbClr val="1F2328"/>
                          </a:solidFill>
                          <a:latin typeface="Calibri" pitchFamily="34" charset="0"/>
                          <a:ea typeface="Calibri" pitchFamily="34" charset="-122"/>
                          <a:cs typeface="Calibri" pitchFamily="34" charset="-120"/>
                        </a:rPr>
                        <a:t> menjadi angka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Program berhenti mendadak, </a:t>
                      </a:r>
                      <a:r>
                        <a:rPr lang="id-ID" altLang="en-US" sz="2000" b="1" dirty="0">
                          <a:solidFill>
                            <a:srgbClr val="1F2328"/>
                          </a:solidFill>
                          <a:latin typeface="Calibri" pitchFamily="34" charset="0"/>
                          <a:ea typeface="Calibri" pitchFamily="34" charset="-122"/>
                          <a:cs typeface="Calibri" pitchFamily="34" charset="-120"/>
                        </a:rPr>
                        <a:t>kecuali</a:t>
                      </a:r>
                      <a:r>
                        <a:rPr lang="id-ID" altLang="en-US" sz="2000" dirty="0">
                          <a:solidFill>
                            <a:srgbClr val="1F2328"/>
                          </a:solidFill>
                          <a:latin typeface="Calibri" pitchFamily="34" charset="0"/>
                          <a:ea typeface="Calibri" pitchFamily="34" charset="-122"/>
                          <a:cs typeface="Calibri" pitchFamily="34" charset="-120"/>
                        </a:rPr>
                        <a:t> ditangani</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1112520">
                <a:tc>
                  <a:txBody>
                    <a:bodyPr/>
                    <a:lstStyle/>
                    <a:p>
                      <a:pPr indent="0" marL="0">
                        <a:buNone/>
                      </a:pPr>
                      <a:r>
                        <a:rPr lang="id-ID" altLang="en-US" sz="2000" b="1" dirty="0">
                          <a:solidFill>
                            <a:srgbClr val="1F2328"/>
                          </a:solidFill>
                          <a:latin typeface="Calibri" pitchFamily="34" charset="0"/>
                          <a:ea typeface="Calibri" pitchFamily="34" charset="-122"/>
                          <a:cs typeface="Calibri" pitchFamily="34" charset="-120"/>
                        </a:rPr>
                        <a:t>Logika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Tidak ketahuan dengan sendirinya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rumus diskon salah, </a:t>
                      </a:r>
                      <a:r>
                        <a:rPr lang="id-ID" altLang="en-US" sz="2000" dirty="0">
                          <a:solidFill>
                            <a:srgbClr val="0A3069"/>
                          </a:solidFill>
                          <a:latin typeface="Consolas" pitchFamily="34" charset="0"/>
                          <a:ea typeface="Consolas" pitchFamily="34" charset="-122"/>
                          <a:cs typeface="Consolas" pitchFamily="34" charset="-120"/>
                        </a:rPr>
                        <a:t>&gt;</a:t>
                      </a:r>
                      <a:r>
                        <a:rPr lang="id-ID" altLang="en-US" sz="2000" dirty="0">
                          <a:solidFill>
                            <a:srgbClr val="1F2328"/>
                          </a:solidFill>
                          <a:latin typeface="Calibri" pitchFamily="34" charset="0"/>
                          <a:ea typeface="Calibri" pitchFamily="34" charset="-122"/>
                          <a:cs typeface="Calibri" pitchFamily="34" charset="-120"/>
                        </a:rPr>
                        <a:t> tertukar dengan </a:t>
                      </a:r>
                      <a:r>
                        <a:rPr lang="id-ID" altLang="en-US" sz="2000" dirty="0">
                          <a:solidFill>
                            <a:srgbClr val="0A3069"/>
                          </a:solidFill>
                          <a:latin typeface="Consolas" pitchFamily="34" charset="0"/>
                          <a:ea typeface="Consolas" pitchFamily="34" charset="-122"/>
                          <a:cs typeface="Consolas" pitchFamily="34" charset="-120"/>
                        </a:rPr>
                        <a:t>&gt;=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Program lancar, tetapi hasilnya salah</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642813"/>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715234"/>
            <a:ext cx="184343" cy="184343"/>
          </a:xfrm>
          <a:prstGeom prst="rect">
            <a:avLst/>
          </a:prstGeom>
        </p:spPr>
      </p:pic>
      <p:sp>
        <p:nvSpPr>
          <p:cNvPr id="8" name="Text 3"/>
          <p:cNvSpPr txBox="1"/>
          <p:nvPr/>
        </p:nvSpPr>
        <p:spPr>
          <a:xfrm>
            <a:off x="1005840" y="5624525"/>
            <a:ext cx="10637215" cy="324612"/>
          </a:xfrm>
          <a:prstGeom prst="rect">
            <a:avLst/>
          </a:prstGeom>
          <a:noFill/>
          <a:ln/>
        </p:spPr>
        <p:txBody>
          <a:bodyPr wrap="square" lIns="0" tIns="0" rIns="0" bIns="0" rtlCol="0" anchor="t"/>
          <a:lstStyle/>
          <a:p>
            <a:pPr indent="0" marL="0">
              <a:buNone/>
            </a:pPr>
            <a:r>
              <a:rPr lang="id-ID" altLang="en-US" sz="1800" i="1" dirty="0">
                <a:solidFill>
                  <a:srgbClr val="57606A"/>
                </a:solidFill>
              </a:rPr>
              <a:t>Exception handling</a:t>
            </a:r>
            <a:r>
              <a:rPr lang="id-ID" altLang="en-US" sz="1800" dirty="0">
                <a:solidFill>
                  <a:srgbClr val="57606A"/>
                </a:solidFill>
              </a:rPr>
              <a:t> mengurus jenis kedua. Kesalahan logika hanya bisa ditemukan lewat pengujian.</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Exception</a:t>
            </a:r>
            <a:r>
              <a:rPr lang="id-ID" altLang="en-US" sz="3200" b="1" dirty="0">
                <a:solidFill>
                  <a:srgbClr val="0A3069"/>
                </a:solidFill>
              </a:rPr>
              <a:t>: Sinyal yang Dilempar dan Ditangkap</a:t>
            </a:r>
            <a:endParaRPr lang="id-ID" sz="3200" dirty="0"/>
          </a:p>
        </p:txBody>
      </p:sp>
      <p:sp>
        <p:nvSpPr>
          <p:cNvPr id="5" name="Text 2"/>
          <p:cNvSpPr txBox="1"/>
          <p:nvPr/>
        </p:nvSpPr>
        <p:spPr>
          <a:xfrm>
            <a:off x="548640" y="1666951"/>
            <a:ext cx="11094415" cy="548640"/>
          </a:xfrm>
          <a:prstGeom prst="rect">
            <a:avLst/>
          </a:prstGeom>
          <a:noFill/>
          <a:ln/>
        </p:spPr>
        <p:txBody>
          <a:bodyPr wrap="square" lIns="0" tIns="0" rIns="0" bIns="0" rtlCol="0" anchor="t"/>
          <a:lstStyle/>
          <a:p>
            <a:pPr indent="0" marL="0">
              <a:buNone/>
            </a:pPr>
            <a:r>
              <a:rPr lang="id-ID" altLang="en-US" sz="3000" b="1" i="1" dirty="0">
                <a:solidFill>
                  <a:srgbClr val="0969DA"/>
                </a:solidFill>
              </a:rPr>
              <a:t>Exception</a:t>
            </a:r>
            <a:r>
              <a:rPr lang="id-ID" altLang="en-US" sz="3000" b="1" dirty="0">
                <a:solidFill>
                  <a:srgbClr val="0969DA"/>
                </a:solidFill>
              </a:rPr>
              <a:t> (pengecualian)</a:t>
            </a:r>
            <a:endParaRPr lang="id-ID" sz="3000" dirty="0"/>
          </a:p>
        </p:txBody>
      </p:sp>
      <p:sp>
        <p:nvSpPr>
          <p:cNvPr id="6" name="Shape 3"/>
          <p:cNvSpPr/>
          <p:nvPr/>
        </p:nvSpPr>
        <p:spPr>
          <a:xfrm>
            <a:off x="548640" y="2380183"/>
            <a:ext cx="11094415" cy="1757172"/>
          </a:xfrm>
          <a:prstGeom prst="roundRect">
            <a:avLst>
              <a:gd name="adj" fmla="val 3250"/>
            </a:avLst>
          </a:prstGeom>
          <a:solidFill>
            <a:srgbClr val="DDF4FF"/>
          </a:solidFill>
          <a:ln w="9525">
            <a:solidFill>
              <a:srgbClr val="54AEFF"/>
            </a:solidFill>
            <a:prstDash val="solid"/>
          </a:ln>
        </p:spPr>
      </p:sp>
      <p:sp>
        <p:nvSpPr>
          <p:cNvPr id="7" name="Shape 4"/>
          <p:cNvSpPr/>
          <p:nvPr/>
        </p:nvSpPr>
        <p:spPr>
          <a:xfrm>
            <a:off x="804672" y="2984449"/>
            <a:ext cx="548640" cy="548640"/>
          </a:xfrm>
          <a:prstGeom prst="ellipse">
            <a:avLst/>
          </a:prstGeom>
          <a:solidFill>
            <a:srgbClr val="0969DA"/>
          </a:solidFill>
          <a:ln/>
        </p:spPr>
      </p:sp>
      <p:pic>
        <p:nvPicPr>
          <p:cNvPr id="8" name="Image 1" descr="preencoded.png">    </p:cNvPr>
          <p:cNvPicPr>
            <a:picLocks noChangeAspect="1"/>
          </p:cNvPicPr>
          <p:nvPr/>
        </p:nvPicPr>
        <p:blipFill>
          <a:blip r:embed="rId2"/>
          <a:stretch>
            <a:fillRect/>
          </a:stretch>
        </p:blipFill>
        <p:spPr>
          <a:xfrm>
            <a:off x="925373" y="3105150"/>
            <a:ext cx="307238" cy="307238"/>
          </a:xfrm>
          <a:prstGeom prst="rect">
            <a:avLst/>
          </a:prstGeom>
        </p:spPr>
      </p:pic>
      <p:sp>
        <p:nvSpPr>
          <p:cNvPr id="9" name="Text 5"/>
          <p:cNvSpPr txBox="1"/>
          <p:nvPr/>
        </p:nvSpPr>
        <p:spPr>
          <a:xfrm>
            <a:off x="1554480" y="2654503"/>
            <a:ext cx="9859975" cy="1391412"/>
          </a:xfrm>
          <a:prstGeom prst="rect">
            <a:avLst/>
          </a:prstGeom>
          <a:noFill/>
          <a:ln/>
        </p:spPr>
        <p:txBody>
          <a:bodyPr wrap="square" lIns="0" tIns="0" rIns="0" bIns="0" rtlCol="0" anchor="t"/>
          <a:lstStyle/>
          <a:p>
            <a:pPr indent="0" marL="0">
              <a:buNone/>
            </a:pPr>
            <a:r>
              <a:rPr lang="id-ID" altLang="en-US" sz="2600" b="1" dirty="0">
                <a:solidFill>
                  <a:srgbClr val="1F2328"/>
                </a:solidFill>
              </a:rPr>
              <a:t>Objek</a:t>
            </a:r>
            <a:r>
              <a:rPr lang="id-ID" altLang="en-US" sz="2600" dirty="0">
                <a:solidFill>
                  <a:srgbClr val="1F2328"/>
                </a:solidFill>
              </a:rPr>
              <a:t> yang mewakili kejadian tidak normal saat program berjalan. Saat masalah terjadi, </a:t>
            </a:r>
            <a:r>
              <a:rPr lang="id-ID" altLang="en-US" sz="2600" i="1" dirty="0">
                <a:solidFill>
                  <a:srgbClr val="1F2328"/>
                </a:solidFill>
              </a:rPr>
              <a:t>exception</a:t>
            </a:r>
            <a:r>
              <a:rPr lang="id-ID" altLang="en-US" sz="2600" dirty="0">
                <a:solidFill>
                  <a:srgbClr val="1F2328"/>
                </a:solidFill>
              </a:rPr>
              <a:t> </a:t>
            </a:r>
            <a:r>
              <a:rPr lang="id-ID" altLang="en-US" sz="2600" b="1" dirty="0">
                <a:solidFill>
                  <a:srgbClr val="1F2328"/>
                </a:solidFill>
              </a:rPr>
              <a:t>dilempar</a:t>
            </a:r>
            <a:r>
              <a:rPr lang="id-ID" altLang="en-US" sz="2600" dirty="0">
                <a:solidFill>
                  <a:srgbClr val="1F2328"/>
                </a:solidFill>
              </a:rPr>
              <a:t>; alur normal langsung berhenti, lalu </a:t>
            </a:r>
            <a:r>
              <a:rPr lang="id-ID" altLang="en-US" sz="2600" i="1" dirty="0">
                <a:solidFill>
                  <a:srgbClr val="1F2328"/>
                </a:solidFill>
              </a:rPr>
              <a:t>exception</a:t>
            </a:r>
            <a:r>
              <a:rPr lang="id-ID" altLang="en-US" sz="2600" dirty="0">
                <a:solidFill>
                  <a:srgbClr val="1F2328"/>
                </a:solidFill>
              </a:rPr>
              <a:t> mencari </a:t>
            </a:r>
            <a:r>
              <a:rPr lang="id-ID" altLang="en-US" sz="2600" b="1" dirty="0">
                <a:solidFill>
                  <a:srgbClr val="1F2328"/>
                </a:solidFill>
              </a:rPr>
              <a:t>penangkap</a:t>
            </a:r>
            <a:r>
              <a:rPr lang="id-ID" altLang="en-US" sz="2600" dirty="0">
                <a:solidFill>
                  <a:srgbClr val="1F2328"/>
                </a:solidFill>
              </a:rPr>
              <a:t> (</a:t>
            </a:r>
            <a:r>
              <a:rPr lang="id-ID" altLang="en-US" sz="2600" i="1" dirty="0">
                <a:solidFill>
                  <a:srgbClr val="1F2328"/>
                </a:solidFill>
              </a:rPr>
              <a:t>handler</a:t>
            </a:r>
            <a:r>
              <a:rPr lang="id-ID" altLang="en-US" sz="2600" dirty="0">
                <a:solidFill>
                  <a:srgbClr val="1F2328"/>
                </a:solidFill>
              </a:rPr>
              <a:t>) yang mau menanganinya.</a:t>
            </a:r>
            <a:endParaRPr lang="id-ID" sz="2600" dirty="0"/>
          </a:p>
        </p:txBody>
      </p:sp>
      <p:sp>
        <p:nvSpPr>
          <p:cNvPr id="10" name="Shape 6"/>
          <p:cNvSpPr/>
          <p:nvPr/>
        </p:nvSpPr>
        <p:spPr>
          <a:xfrm>
            <a:off x="603504" y="4696409"/>
            <a:ext cx="137160" cy="137160"/>
          </a:xfrm>
          <a:prstGeom prst="roundRect">
            <a:avLst>
              <a:gd name="adj" fmla="val 166667"/>
            </a:avLst>
          </a:prstGeom>
          <a:solidFill>
            <a:srgbClr val="0969DA"/>
          </a:solidFill>
          <a:ln/>
        </p:spPr>
      </p:sp>
      <p:sp>
        <p:nvSpPr>
          <p:cNvPr id="11" name="Text 7"/>
          <p:cNvSpPr txBox="1"/>
          <p:nvPr/>
        </p:nvSpPr>
        <p:spPr>
          <a:xfrm>
            <a:off x="932688" y="4594555"/>
            <a:ext cx="10710367" cy="386588"/>
          </a:xfrm>
          <a:prstGeom prst="rect">
            <a:avLst/>
          </a:prstGeom>
          <a:noFill/>
          <a:ln/>
        </p:spPr>
        <p:txBody>
          <a:bodyPr wrap="square" lIns="0" tIns="0" rIns="0" bIns="0" rtlCol="0" anchor="t"/>
          <a:lstStyle/>
          <a:p>
            <a:pPr indent="0" marL="0">
              <a:buNone/>
            </a:pPr>
            <a:r>
              <a:rPr lang="id-ID" altLang="en-US" sz="2200" dirty="0">
                <a:solidFill>
                  <a:srgbClr val="1F2328"/>
                </a:solidFill>
              </a:rPr>
              <a:t>Melempar: </a:t>
            </a:r>
            <a:r>
              <a:rPr lang="id-ID" altLang="en-US" sz="2200" dirty="0">
                <a:solidFill>
                  <a:srgbClr val="1F2328"/>
                </a:solidFill>
                <a:latin typeface="Consolas" pitchFamily="34" charset="0"/>
                <a:ea typeface="Consolas" pitchFamily="34" charset="-122"/>
                <a:cs typeface="Consolas" pitchFamily="34" charset="-120"/>
              </a:rPr>
              <a:t>raise</a:t>
            </a:r>
            <a:r>
              <a:rPr lang="id-ID" altLang="en-US" sz="2200" dirty="0">
                <a:solidFill>
                  <a:srgbClr val="1F2328"/>
                </a:solidFill>
              </a:rPr>
              <a:t> (Python), </a:t>
            </a:r>
            <a:r>
              <a:rPr lang="id-ID" altLang="en-US" sz="2200" dirty="0">
                <a:solidFill>
                  <a:srgbClr val="1F2328"/>
                </a:solidFill>
                <a:latin typeface="Consolas" pitchFamily="34" charset="0"/>
                <a:ea typeface="Consolas" pitchFamily="34" charset="-122"/>
                <a:cs typeface="Consolas" pitchFamily="34" charset="-120"/>
              </a:rPr>
              <a:t>throw</a:t>
            </a:r>
            <a:r>
              <a:rPr lang="id-ID" altLang="en-US" sz="2200" dirty="0">
                <a:solidFill>
                  <a:srgbClr val="1F2328"/>
                </a:solidFill>
              </a:rPr>
              <a:t> (Java). Menangkap: </a:t>
            </a:r>
            <a:r>
              <a:rPr lang="id-ID" altLang="en-US" sz="2200" dirty="0">
                <a:solidFill>
                  <a:srgbClr val="1F2328"/>
                </a:solidFill>
                <a:latin typeface="Consolas" pitchFamily="34" charset="0"/>
                <a:ea typeface="Consolas" pitchFamily="34" charset="-122"/>
                <a:cs typeface="Consolas" pitchFamily="34" charset="-120"/>
              </a:rPr>
              <a:t>except</a:t>
            </a:r>
            <a:r>
              <a:rPr lang="id-ID" altLang="en-US" sz="2200" dirty="0">
                <a:solidFill>
                  <a:srgbClr val="1F2328"/>
                </a:solidFill>
              </a:rPr>
              <a:t> (Python), </a:t>
            </a:r>
            <a:r>
              <a:rPr lang="id-ID" altLang="en-US" sz="2200" dirty="0">
                <a:solidFill>
                  <a:srgbClr val="1F2328"/>
                </a:solidFill>
                <a:latin typeface="Consolas" pitchFamily="34" charset="0"/>
                <a:ea typeface="Consolas" pitchFamily="34" charset="-122"/>
                <a:cs typeface="Consolas" pitchFamily="34" charset="-120"/>
              </a:rPr>
              <a:t>catch</a:t>
            </a:r>
            <a:r>
              <a:rPr lang="id-ID" altLang="en-US" sz="2200" dirty="0">
                <a:solidFill>
                  <a:srgbClr val="1F2328"/>
                </a:solidFill>
              </a:rPr>
              <a:t> (Java).</a:t>
            </a:r>
            <a:endParaRPr lang="id-ID" sz="2200" dirty="0"/>
          </a:p>
        </p:txBody>
      </p:sp>
      <p:sp>
        <p:nvSpPr>
          <p:cNvPr id="12" name="Shape 8"/>
          <p:cNvSpPr/>
          <p:nvPr/>
        </p:nvSpPr>
        <p:spPr>
          <a:xfrm>
            <a:off x="603504" y="5275021"/>
            <a:ext cx="137160" cy="137160"/>
          </a:xfrm>
          <a:prstGeom prst="roundRect">
            <a:avLst>
              <a:gd name="adj" fmla="val 166667"/>
            </a:avLst>
          </a:prstGeom>
          <a:solidFill>
            <a:srgbClr val="0969DA"/>
          </a:solidFill>
          <a:ln/>
        </p:spPr>
      </p:sp>
      <p:sp>
        <p:nvSpPr>
          <p:cNvPr id="13" name="Text 9"/>
          <p:cNvSpPr txBox="1"/>
          <p:nvPr/>
        </p:nvSpPr>
        <p:spPr>
          <a:xfrm>
            <a:off x="932688" y="5173167"/>
            <a:ext cx="10710367" cy="727456"/>
          </a:xfrm>
          <a:prstGeom prst="rect">
            <a:avLst/>
          </a:prstGeom>
          <a:noFill/>
          <a:ln/>
        </p:spPr>
        <p:txBody>
          <a:bodyPr wrap="square" lIns="0" tIns="0" rIns="0" bIns="0" rtlCol="0" anchor="t"/>
          <a:lstStyle/>
          <a:p>
            <a:pPr indent="0" marL="0">
              <a:buNone/>
            </a:pPr>
            <a:r>
              <a:rPr lang="id-ID" altLang="en-US" sz="2200" dirty="0">
                <a:solidFill>
                  <a:srgbClr val="1F2328"/>
                </a:solidFill>
              </a:rPr>
              <a:t>Karena objek, </a:t>
            </a:r>
            <a:r>
              <a:rPr lang="id-ID" altLang="en-US" sz="2200" i="1" dirty="0">
                <a:solidFill>
                  <a:srgbClr val="1F2328"/>
                </a:solidFill>
              </a:rPr>
              <a:t>exception</a:t>
            </a:r>
            <a:r>
              <a:rPr lang="id-ID" altLang="en-US" sz="2200" dirty="0">
                <a:solidFill>
                  <a:srgbClr val="1F2328"/>
                </a:solidFill>
              </a:rPr>
              <a:t> punya </a:t>
            </a:r>
            <a:r>
              <a:rPr lang="id-ID" altLang="en-US" sz="2200" b="1" dirty="0">
                <a:solidFill>
                  <a:srgbClr val="1F2328"/>
                </a:solidFill>
              </a:rPr>
              <a:t>kelas</a:t>
            </a:r>
            <a:r>
              <a:rPr lang="id-ID" altLang="en-US" sz="2200" dirty="0">
                <a:solidFill>
                  <a:srgbClr val="1F2328"/>
                </a:solidFill>
              </a:rPr>
              <a:t> (jenis kesalahan), </a:t>
            </a:r>
            <a:r>
              <a:rPr lang="id-ID" altLang="en-US" sz="2200" b="1" dirty="0">
                <a:solidFill>
                  <a:srgbClr val="1F2328"/>
                </a:solidFill>
              </a:rPr>
              <a:t>pesan</a:t>
            </a:r>
            <a:r>
              <a:rPr lang="id-ID" altLang="en-US" sz="2200" dirty="0">
                <a:solidFill>
                  <a:srgbClr val="1F2328"/>
                </a:solidFill>
              </a:rPr>
              <a:t>, dan boleh membawa </a:t>
            </a:r>
            <a:r>
              <a:rPr lang="id-ID" altLang="en-US" sz="2200" b="1" dirty="0">
                <a:solidFill>
                  <a:srgbClr val="1F2328"/>
                </a:solidFill>
              </a:rPr>
              <a:t>data tambahan</a:t>
            </a:r>
            <a:r>
              <a:rPr lang="id-ID" altLang="en-US" sz="2200" dirty="0">
                <a:solidFill>
                  <a:srgbClr val="1F2328"/>
                </a:solidFill>
              </a:rPr>
              <a:t>.</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Exception</a:t>
            </a:r>
            <a:r>
              <a:rPr lang="id-ID" altLang="en-US" sz="3200" b="1" dirty="0">
                <a:solidFill>
                  <a:srgbClr val="0A3069"/>
                </a:solidFill>
              </a:rPr>
              <a:t> Merambat ke Pemanggil</a:t>
            </a:r>
            <a:endParaRPr lang="id-ID" sz="3200" dirty="0"/>
          </a:p>
        </p:txBody>
      </p:sp>
      <p:pic>
        <p:nvPicPr>
          <p:cNvPr id="5" name="Image 1" descr="Baris yang tersisa di method yang dilewati tidak dijalankan. Jika main pun tidak menangkap, program berhenti.">    </p:cNvPr>
          <p:cNvPicPr>
            <a:picLocks noChangeAspect="1"/>
          </p:cNvPicPr>
          <p:nvPr/>
        </p:nvPicPr>
        <p:blipFill>
          <a:blip r:embed="rId2"/>
          <a:stretch>
            <a:fillRect/>
          </a:stretch>
        </p:blipFill>
        <p:spPr>
          <a:xfrm>
            <a:off x="4930406" y="1417320"/>
            <a:ext cx="2330883" cy="4308602"/>
          </a:xfrm>
          <a:prstGeom prst="rect">
            <a:avLst/>
          </a:prstGeom>
        </p:spPr>
      </p:pic>
      <p:sp>
        <p:nvSpPr>
          <p:cNvPr id="6" name="Text 2"/>
          <p:cNvSpPr txBox="1"/>
          <p:nvPr/>
        </p:nvSpPr>
        <p:spPr>
          <a:xfrm>
            <a:off x="1005840" y="5835650"/>
            <a:ext cx="10180015" cy="427990"/>
          </a:xfrm>
          <a:prstGeom prst="rect">
            <a:avLst/>
          </a:prstGeom>
          <a:noFill/>
          <a:ln/>
        </p:spPr>
        <p:txBody>
          <a:bodyPr wrap="square" lIns="0" tIns="0" rIns="0" bIns="0" rtlCol="0" anchor="t"/>
          <a:lstStyle/>
          <a:p>
            <a:pPr algn="ctr" indent="0" marL="0">
              <a:buNone/>
            </a:pPr>
            <a:r>
              <a:rPr lang="id-ID" altLang="en-US" sz="1700" dirty="0">
                <a:solidFill>
                  <a:srgbClr val="57606A"/>
                </a:solidFill>
              </a:rPr>
              <a:t>Baris yang tersisa di </a:t>
            </a:r>
            <a:r>
              <a:rPr lang="id-ID" altLang="en-US" sz="1700" i="1" dirty="0">
                <a:solidFill>
                  <a:srgbClr val="57606A"/>
                </a:solidFill>
              </a:rPr>
              <a:t>method</a:t>
            </a:r>
            <a:r>
              <a:rPr lang="id-ID" altLang="en-US" sz="1700" dirty="0">
                <a:solidFill>
                  <a:srgbClr val="57606A"/>
                </a:solidFill>
              </a:rPr>
              <a:t> yang dilewati tidak dijalankan. Jika </a:t>
            </a:r>
            <a:r>
              <a:rPr lang="id-ID" altLang="en-US" sz="1700" dirty="0">
                <a:solidFill>
                  <a:srgbClr val="57606A"/>
                </a:solidFill>
                <a:latin typeface="Consolas" pitchFamily="34" charset="0"/>
                <a:ea typeface="Consolas" pitchFamily="34" charset="-122"/>
                <a:cs typeface="Consolas" pitchFamily="34" charset="-120"/>
              </a:rPr>
              <a:t>main</a:t>
            </a:r>
            <a:r>
              <a:rPr lang="id-ID" altLang="en-US" sz="1700" dirty="0">
                <a:solidFill>
                  <a:srgbClr val="57606A"/>
                </a:solidFill>
              </a:rPr>
              <a:t> pun tidak menangkap, program berhenti.</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2</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2</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i="1" dirty="0">
                <a:solidFill>
                  <a:srgbClr val="FFFFFF"/>
                </a:solidFill>
              </a:rPr>
              <a:t>Traceback</a:t>
            </a:r>
            <a:r>
              <a:rPr lang="id-ID" altLang="en-US" sz="4200" b="1" dirty="0">
                <a:solidFill>
                  <a:srgbClr val="FFFFFF"/>
                </a:solidFill>
              </a:rPr>
              <a:t> dan Blok </a:t>
            </a:r>
            <a:r>
              <a:rPr lang="id-ID" altLang="en-US" sz="4200" b="1" dirty="0">
                <a:solidFill>
                  <a:srgbClr val="FFFFFF"/>
                </a:solidFill>
                <a:latin typeface="Consolas" pitchFamily="34" charset="0"/>
                <a:ea typeface="Consolas" pitchFamily="34" charset="-122"/>
                <a:cs typeface="Consolas" pitchFamily="34" charset="-120"/>
              </a:rPr>
              <a:t>try</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Apa yang terjadi jika tidak ada yang menangkap, dan cara menangkap </a:t>
            </a:r>
            <a:r>
              <a:rPr lang="id-ID" altLang="en-US" sz="2200" i="1" dirty="0">
                <a:solidFill>
                  <a:srgbClr val="C9D7E8"/>
                </a:solidFill>
              </a:rPr>
              <a:t>exception</a:t>
            </a:r>
            <a:r>
              <a:rPr lang="id-ID" altLang="en-US" sz="2200" dirty="0">
                <a:solidFill>
                  <a:srgbClr val="C9D7E8"/>
                </a:solidFill>
              </a:rPr>
              <a:t>.</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Membaca </a:t>
            </a:r>
            <a:r>
              <a:rPr lang="id-ID" altLang="en-US" sz="3200" b="1" i="1" dirty="0">
                <a:solidFill>
                  <a:srgbClr val="0A3069"/>
                </a:solidFill>
              </a:rPr>
              <a:t>Traceback</a:t>
            </a:r>
            <a:r>
              <a:rPr lang="id-ID" altLang="en-US" sz="3200" b="1" dirty="0">
                <a:solidFill>
                  <a:srgbClr val="0A3069"/>
                </a:solidFill>
              </a:rPr>
              <a:t> dan </a:t>
            </a:r>
            <a:r>
              <a:rPr lang="id-ID" altLang="en-US" sz="3200" b="1" i="1" dirty="0">
                <a:solidFill>
                  <a:srgbClr val="0A3069"/>
                </a:solidFill>
              </a:rPr>
              <a:t>Stack Trace</a:t>
            </a:r>
            <a:endParaRPr lang="id-ID" sz="3200" dirty="0"/>
          </a:p>
        </p:txBody>
      </p:sp>
      <p:pic>
        <p:nvPicPr>
          <p:cNvPr id="5" name="Image 1" descr="Python dibaca dari bawah ke atas, Java dari atas ke bawah. Cari baris pertama yang menyebut file milikmu.">    </p:cNvPr>
          <p:cNvPicPr>
            <a:picLocks noChangeAspect="1"/>
          </p:cNvPicPr>
          <p:nvPr/>
        </p:nvPicPr>
        <p:blipFill>
          <a:blip r:embed="rId2"/>
          <a:stretch>
            <a:fillRect/>
          </a:stretch>
        </p:blipFill>
        <p:spPr>
          <a:xfrm>
            <a:off x="1332618" y="1417320"/>
            <a:ext cx="9526459" cy="4336034"/>
          </a:xfrm>
          <a:prstGeom prst="rect">
            <a:avLst/>
          </a:prstGeom>
        </p:spPr>
      </p:pic>
      <p:sp>
        <p:nvSpPr>
          <p:cNvPr id="6" name="Text 2"/>
          <p:cNvSpPr txBox="1"/>
          <p:nvPr/>
        </p:nvSpPr>
        <p:spPr>
          <a:xfrm>
            <a:off x="1005840" y="5863082"/>
            <a:ext cx="10180015" cy="400558"/>
          </a:xfrm>
          <a:prstGeom prst="rect">
            <a:avLst/>
          </a:prstGeom>
          <a:noFill/>
          <a:ln/>
        </p:spPr>
        <p:txBody>
          <a:bodyPr wrap="square" lIns="0" tIns="0" rIns="0" bIns="0" rtlCol="0" anchor="t"/>
          <a:lstStyle/>
          <a:p>
            <a:pPr algn="ctr" indent="0" marL="0">
              <a:buNone/>
            </a:pPr>
            <a:r>
              <a:rPr lang="id-ID" altLang="en-US" sz="1700" dirty="0">
                <a:solidFill>
                  <a:srgbClr val="57606A"/>
                </a:solidFill>
              </a:rPr>
              <a:t>Python dibaca dari bawah ke atas, Java dari atas ke bawah. Cari baris pertama yang menyebut </a:t>
            </a:r>
            <a:r>
              <a:rPr lang="id-ID" altLang="en-US" sz="1700" i="1" dirty="0">
                <a:solidFill>
                  <a:srgbClr val="57606A"/>
                </a:solidFill>
              </a:rPr>
              <a:t>file</a:t>
            </a:r>
            <a:r>
              <a:rPr lang="id-ID" altLang="en-US" sz="1700" dirty="0">
                <a:solidFill>
                  <a:srgbClr val="57606A"/>
                </a:solidFill>
              </a:rPr>
              <a:t> milikmu.</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9A67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Meminjam Kunci Laboratorium</a:t>
            </a:r>
            <a:endParaRPr lang="id-ID" sz="3200" dirty="0"/>
          </a:p>
        </p:txBody>
      </p:sp>
      <p:sp>
        <p:nvSpPr>
          <p:cNvPr id="5" name="Shape 2"/>
          <p:cNvSpPr/>
          <p:nvPr/>
        </p:nvSpPr>
        <p:spPr>
          <a:xfrm>
            <a:off x="548640" y="1758696"/>
            <a:ext cx="5074920" cy="3969512"/>
          </a:xfrm>
          <a:prstGeom prst="roundRect">
            <a:avLst>
              <a:gd name="adj" fmla="val 849"/>
            </a:avLst>
          </a:prstGeom>
          <a:solidFill>
            <a:srgbClr val="FFF8C5"/>
          </a:solidFill>
          <a:ln w="9525">
            <a:solidFill>
              <a:srgbClr val="D4A72C"/>
            </a:solidFill>
            <a:prstDash val="solid"/>
          </a:ln>
        </p:spPr>
      </p:sp>
      <p:sp>
        <p:nvSpPr>
          <p:cNvPr id="6" name="Shape 3"/>
          <p:cNvSpPr/>
          <p:nvPr/>
        </p:nvSpPr>
        <p:spPr>
          <a:xfrm>
            <a:off x="822960" y="1987296"/>
            <a:ext cx="457200" cy="457200"/>
          </a:xfrm>
          <a:prstGeom prst="ellipse">
            <a:avLst/>
          </a:prstGeom>
          <a:solidFill>
            <a:srgbClr val="9A6700"/>
          </a:solidFill>
          <a:ln/>
        </p:spPr>
      </p:sp>
      <p:pic>
        <p:nvPicPr>
          <p:cNvPr id="7" name="Image 1" descr="preencoded.png">    </p:cNvPr>
          <p:cNvPicPr>
            <a:picLocks noChangeAspect="1"/>
          </p:cNvPicPr>
          <p:nvPr/>
        </p:nvPicPr>
        <p:blipFill>
          <a:blip r:embed="rId2"/>
          <a:stretch>
            <a:fillRect/>
          </a:stretch>
        </p:blipFill>
        <p:spPr>
          <a:xfrm>
            <a:off x="923544" y="2087880"/>
            <a:ext cx="256032" cy="256032"/>
          </a:xfrm>
          <a:prstGeom prst="rect">
            <a:avLst/>
          </a:prstGeom>
        </p:spPr>
      </p:pic>
      <p:sp>
        <p:nvSpPr>
          <p:cNvPr id="8" name="Text 4"/>
          <p:cNvSpPr txBox="1"/>
          <p:nvPr/>
        </p:nvSpPr>
        <p:spPr>
          <a:xfrm>
            <a:off x="1417320" y="2033016"/>
            <a:ext cx="2743200" cy="365760"/>
          </a:xfrm>
          <a:prstGeom prst="rect">
            <a:avLst/>
          </a:prstGeom>
          <a:noFill/>
          <a:ln/>
        </p:spPr>
        <p:txBody>
          <a:bodyPr wrap="square" lIns="0" tIns="0" rIns="0" bIns="0" rtlCol="0" anchor="t"/>
          <a:lstStyle/>
          <a:p>
            <a:pPr indent="0" marL="0">
              <a:buNone/>
            </a:pPr>
            <a:r>
              <a:rPr lang="id-ID" altLang="en-US" sz="1600" b="1" dirty="0">
                <a:solidFill>
                  <a:srgbClr val="9A6700"/>
                </a:solidFill>
              </a:rPr>
              <a:t>Analogi</a:t>
            </a:r>
            <a:endParaRPr lang="id-ID" sz="1600" dirty="0"/>
          </a:p>
        </p:txBody>
      </p:sp>
      <p:sp>
        <p:nvSpPr>
          <p:cNvPr id="9" name="Shape 5"/>
          <p:cNvSpPr/>
          <p:nvPr/>
        </p:nvSpPr>
        <p:spPr>
          <a:xfrm>
            <a:off x="923544" y="2713736"/>
            <a:ext cx="137160" cy="137160"/>
          </a:xfrm>
          <a:prstGeom prst="roundRect">
            <a:avLst>
              <a:gd name="adj" fmla="val 166667"/>
            </a:avLst>
          </a:prstGeom>
          <a:solidFill>
            <a:srgbClr val="9A6700"/>
          </a:solidFill>
          <a:ln/>
        </p:spPr>
      </p:sp>
      <p:sp>
        <p:nvSpPr>
          <p:cNvPr id="10" name="Text 6"/>
          <p:cNvSpPr txBox="1"/>
          <p:nvPr/>
        </p:nvSpPr>
        <p:spPr>
          <a:xfrm>
            <a:off x="1252728" y="2627376"/>
            <a:ext cx="3867912" cy="975360"/>
          </a:xfrm>
          <a:prstGeom prst="rect">
            <a:avLst/>
          </a:prstGeom>
          <a:noFill/>
          <a:ln/>
        </p:spPr>
        <p:txBody>
          <a:bodyPr wrap="square" lIns="0" tIns="0" rIns="0" bIns="0" rtlCol="0" anchor="t"/>
          <a:lstStyle/>
          <a:p>
            <a:pPr indent="0" marL="0">
              <a:buNone/>
            </a:pPr>
            <a:r>
              <a:rPr lang="id-ID" altLang="en-US" sz="2000" dirty="0">
                <a:solidFill>
                  <a:srgbClr val="1F2328"/>
                </a:solidFill>
              </a:rPr>
              <a:t>Kamu meminjam </a:t>
            </a:r>
            <a:r>
              <a:rPr lang="id-ID" altLang="en-US" sz="2000" b="1" dirty="0">
                <a:solidFill>
                  <a:srgbClr val="1F2328"/>
                </a:solidFill>
              </a:rPr>
              <a:t>kunci laboratorium</a:t>
            </a:r>
            <a:r>
              <a:rPr lang="id-ID" altLang="en-US" sz="2000" dirty="0">
                <a:solidFill>
                  <a:srgbClr val="1F2328"/>
                </a:solidFill>
              </a:rPr>
              <a:t> di bagian tata usaha untuk praktikum.</a:t>
            </a:r>
            <a:endParaRPr lang="id-ID" sz="2000" dirty="0"/>
          </a:p>
        </p:txBody>
      </p:sp>
      <p:sp>
        <p:nvSpPr>
          <p:cNvPr id="11" name="Shape 7"/>
          <p:cNvSpPr/>
          <p:nvPr/>
        </p:nvSpPr>
        <p:spPr>
          <a:xfrm>
            <a:off x="923544" y="3862832"/>
            <a:ext cx="137160" cy="137160"/>
          </a:xfrm>
          <a:prstGeom prst="roundRect">
            <a:avLst>
              <a:gd name="adj" fmla="val 166667"/>
            </a:avLst>
          </a:prstGeom>
          <a:solidFill>
            <a:srgbClr val="9A6700"/>
          </a:solidFill>
          <a:ln/>
        </p:spPr>
      </p:sp>
      <p:sp>
        <p:nvSpPr>
          <p:cNvPr id="12" name="Text 8"/>
          <p:cNvSpPr txBox="1"/>
          <p:nvPr/>
        </p:nvSpPr>
        <p:spPr>
          <a:xfrm>
            <a:off x="1252728" y="3776472"/>
            <a:ext cx="3867912" cy="975360"/>
          </a:xfrm>
          <a:prstGeom prst="rect">
            <a:avLst/>
          </a:prstGeom>
          <a:noFill/>
          <a:ln/>
        </p:spPr>
        <p:txBody>
          <a:bodyPr wrap="square" lIns="0" tIns="0" rIns="0" bIns="0" rtlCol="0" anchor="t"/>
          <a:lstStyle/>
          <a:p>
            <a:pPr indent="0" marL="0">
              <a:buNone/>
            </a:pPr>
            <a:r>
              <a:rPr lang="id-ID" altLang="en-US" sz="2000" dirty="0">
                <a:solidFill>
                  <a:srgbClr val="1F2328"/>
                </a:solidFill>
              </a:rPr>
              <a:t>Praktikum bisa berjalan lancar, bisa juga terganggu, misalnya karena komputer mati.</a:t>
            </a:r>
            <a:endParaRPr lang="id-ID" sz="2000" dirty="0"/>
          </a:p>
        </p:txBody>
      </p:sp>
      <p:sp>
        <p:nvSpPr>
          <p:cNvPr id="13" name="Shape 9"/>
          <p:cNvSpPr/>
          <p:nvPr/>
        </p:nvSpPr>
        <p:spPr>
          <a:xfrm>
            <a:off x="923544" y="5011928"/>
            <a:ext cx="137160" cy="137160"/>
          </a:xfrm>
          <a:prstGeom prst="roundRect">
            <a:avLst>
              <a:gd name="adj" fmla="val 166667"/>
            </a:avLst>
          </a:prstGeom>
          <a:solidFill>
            <a:srgbClr val="9A6700"/>
          </a:solidFill>
          <a:ln/>
        </p:spPr>
      </p:sp>
      <p:sp>
        <p:nvSpPr>
          <p:cNvPr id="14" name="Text 10"/>
          <p:cNvSpPr txBox="1"/>
          <p:nvPr/>
        </p:nvSpPr>
        <p:spPr>
          <a:xfrm>
            <a:off x="1252728" y="4925568"/>
            <a:ext cx="3867912" cy="665480"/>
          </a:xfrm>
          <a:prstGeom prst="rect">
            <a:avLst/>
          </a:prstGeom>
          <a:noFill/>
          <a:ln/>
        </p:spPr>
        <p:txBody>
          <a:bodyPr wrap="square" lIns="0" tIns="0" rIns="0" bIns="0" rtlCol="0" anchor="t"/>
          <a:lstStyle/>
          <a:p>
            <a:pPr indent="0" marL="0">
              <a:buNone/>
            </a:pPr>
            <a:r>
              <a:rPr lang="id-ID" altLang="en-US" sz="2000" dirty="0">
                <a:solidFill>
                  <a:srgbClr val="1F2328"/>
                </a:solidFill>
              </a:rPr>
              <a:t>Apa pun yang terjadi, kunci </a:t>
            </a:r>
            <a:r>
              <a:rPr lang="id-ID" altLang="en-US" sz="2000" b="1" dirty="0">
                <a:solidFill>
                  <a:srgbClr val="1F2328"/>
                </a:solidFill>
              </a:rPr>
              <a:t>selalu</a:t>
            </a:r>
            <a:r>
              <a:rPr lang="id-ID" altLang="en-US" sz="2000" dirty="0">
                <a:solidFill>
                  <a:srgbClr val="1F2328"/>
                </a:solidFill>
              </a:rPr>
              <a:t> dikembalikan ke tata usaha.</a:t>
            </a:r>
            <a:endParaRPr lang="id-ID" sz="2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943600" y="2046732"/>
          <a:ext cx="5699455" cy="914400"/>
        </p:xfrm>
        <a:graphic>
          <a:graphicData uri="http://schemas.openxmlformats.org/drawingml/2006/table">
            <a:tbl>
              <a:tblPr/>
              <a:tblGrid>
                <a:gridCol w="2838493"/>
                <a:gridCol w="2860963"/>
              </a:tblGrid>
              <a:tr h="492760">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Meminjam kunci lab</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Blok di program</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492760">
                <a:tc>
                  <a:txBody>
                    <a:bodyPr/>
                    <a:lstStyle/>
                    <a:p>
                      <a:pPr indent="0" marL="0">
                        <a:buNone/>
                      </a:pPr>
                      <a:r>
                        <a:rPr lang="id-ID" altLang="en-US" sz="2000" b="1" dirty="0">
                          <a:solidFill>
                            <a:srgbClr val="1F2328"/>
                          </a:solidFill>
                          <a:latin typeface="Calibri" pitchFamily="34" charset="0"/>
                          <a:ea typeface="Calibri" pitchFamily="34" charset="-122"/>
                          <a:cs typeface="Calibri" pitchFamily="34" charset="-120"/>
                        </a:rPr>
                        <a:t>Coba</a:t>
                      </a:r>
                      <a:r>
                        <a:rPr lang="id-ID" altLang="en-US" sz="2000" dirty="0">
                          <a:solidFill>
                            <a:srgbClr val="1F2328"/>
                          </a:solidFill>
                          <a:latin typeface="Calibri" pitchFamily="34" charset="0"/>
                          <a:ea typeface="Calibri" pitchFamily="34" charset="-122"/>
                          <a:cs typeface="Calibri" pitchFamily="34" charset="-120"/>
                        </a:rPr>
                        <a:t> jalankan praktikum</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try</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b="1" dirty="0">
                          <a:solidFill>
                            <a:srgbClr val="1F2328"/>
                          </a:solidFill>
                          <a:latin typeface="Calibri" pitchFamily="34" charset="0"/>
                          <a:ea typeface="Calibri" pitchFamily="34" charset="-122"/>
                          <a:cs typeface="Calibri" pitchFamily="34" charset="-120"/>
                        </a:rPr>
                        <a:t>Jika</a:t>
                      </a:r>
                      <a:r>
                        <a:rPr lang="id-ID" altLang="en-US" sz="2000" dirty="0">
                          <a:solidFill>
                            <a:srgbClr val="1F2328"/>
                          </a:solidFill>
                          <a:latin typeface="Calibri" pitchFamily="34" charset="0"/>
                          <a:ea typeface="Calibri" pitchFamily="34" charset="-122"/>
                          <a:cs typeface="Calibri" pitchFamily="34" charset="-120"/>
                        </a:rPr>
                        <a:t> komputer mati, pindah ke cadangan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except</a:t>
                      </a:r>
                      <a:r>
                        <a:rPr lang="id-ID" altLang="en-US" sz="2000" dirty="0">
                          <a:solidFill>
                            <a:srgbClr val="1F2328"/>
                          </a:solidFill>
                          <a:latin typeface="Calibri" pitchFamily="34" charset="0"/>
                          <a:ea typeface="Calibri" pitchFamily="34" charset="-122"/>
                          <a:cs typeface="Calibri" pitchFamily="34" charset="-120"/>
                        </a:rPr>
                        <a:t> (Python) / </a:t>
                      </a:r>
                      <a:r>
                        <a:rPr lang="id-ID" altLang="en-US" sz="2000" dirty="0">
                          <a:solidFill>
                            <a:srgbClr val="0A3069"/>
                          </a:solidFill>
                          <a:latin typeface="Consolas" pitchFamily="34" charset="0"/>
                          <a:ea typeface="Consolas" pitchFamily="34" charset="-122"/>
                          <a:cs typeface="Consolas" pitchFamily="34" charset="-120"/>
                        </a:rPr>
                        <a:t>catch</a:t>
                      </a:r>
                      <a:r>
                        <a:rPr lang="id-ID" altLang="en-US" sz="2000" dirty="0">
                          <a:solidFill>
                            <a:srgbClr val="1F2328"/>
                          </a:solidFill>
                          <a:latin typeface="Calibri" pitchFamily="34" charset="0"/>
                          <a:ea typeface="Calibri" pitchFamily="34" charset="-122"/>
                          <a:cs typeface="Calibri" pitchFamily="34" charset="-120"/>
                        </a:rPr>
                        <a:t> (Java)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02640">
                <a:tc>
                  <a:txBody>
                    <a:bodyPr/>
                    <a:lstStyle/>
                    <a:p>
                      <a:pPr indent="0" marL="0">
                        <a:buNone/>
                      </a:pPr>
                      <a:r>
                        <a:rPr lang="id-ID" altLang="en-US" sz="2000" b="1" dirty="0">
                          <a:solidFill>
                            <a:srgbClr val="1F2328"/>
                          </a:solidFill>
                          <a:latin typeface="Calibri" pitchFamily="34" charset="0"/>
                          <a:ea typeface="Calibri" pitchFamily="34" charset="-122"/>
                          <a:cs typeface="Calibri" pitchFamily="34" charset="-120"/>
                        </a:rPr>
                        <a:t>Jika lancar</a:t>
                      </a:r>
                      <a:r>
                        <a:rPr lang="id-ID" altLang="en-US" sz="2000" dirty="0">
                          <a:solidFill>
                            <a:srgbClr val="1F2328"/>
                          </a:solidFill>
                          <a:latin typeface="Calibri" pitchFamily="34" charset="0"/>
                          <a:ea typeface="Calibri" pitchFamily="34" charset="-122"/>
                          <a:cs typeface="Calibri" pitchFamily="34" charset="-120"/>
                        </a:rPr>
                        <a:t>, kumpulkan laporan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else</a:t>
                      </a:r>
                      <a:r>
                        <a:rPr lang="id-ID" altLang="en-US" sz="2000" dirty="0">
                          <a:solidFill>
                            <a:srgbClr val="1F2328"/>
                          </a:solidFill>
                          <a:latin typeface="Calibri" pitchFamily="34" charset="0"/>
                          <a:ea typeface="Calibri" pitchFamily="34" charset="-122"/>
                          <a:cs typeface="Calibri" pitchFamily="34" charset="-120"/>
                        </a:rPr>
                        <a:t> (khusus Python)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b="1" dirty="0">
                          <a:solidFill>
                            <a:srgbClr val="1F2328"/>
                          </a:solidFill>
                          <a:latin typeface="Calibri" pitchFamily="34" charset="0"/>
                          <a:ea typeface="Calibri" pitchFamily="34" charset="-122"/>
                          <a:cs typeface="Calibri" pitchFamily="34" charset="-120"/>
                        </a:rPr>
                        <a:t>Apa pun yang terjadi</a:t>
                      </a:r>
                      <a:r>
                        <a:rPr lang="id-ID" altLang="en-US" sz="2000" dirty="0">
                          <a:solidFill>
                            <a:srgbClr val="1F2328"/>
                          </a:solidFill>
                          <a:latin typeface="Calibri" pitchFamily="34" charset="0"/>
                          <a:ea typeface="Calibri" pitchFamily="34" charset="-122"/>
                          <a:cs typeface="Calibri" pitchFamily="34" charset="-120"/>
                        </a:rPr>
                        <a:t>, kunci dikembalikan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finally</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Menangkap Pembagian dengan Nol</a:t>
            </a:r>
            <a:endParaRPr lang="id-ID" sz="3200" dirty="0"/>
          </a:p>
        </p:txBody>
      </p:sp>
      <p:sp>
        <p:nvSpPr>
          <p:cNvPr id="5" name="Text 2"/>
          <p:cNvSpPr txBox="1"/>
          <p:nvPr/>
        </p:nvSpPr>
        <p:spPr>
          <a:xfrm>
            <a:off x="548640" y="2205784"/>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Baris yang gagal melempar </a:t>
            </a:r>
            <a:r>
              <a:rPr lang="id-ID" altLang="en-US" sz="1800" i="1" dirty="0">
                <a:solidFill>
                  <a:srgbClr val="57606A"/>
                </a:solidFill>
              </a:rPr>
              <a:t>exception</a:t>
            </a:r>
            <a:r>
              <a:rPr lang="id-ID" altLang="en-US" sz="1800" dirty="0">
                <a:solidFill>
                  <a:srgbClr val="57606A"/>
                </a:solidFill>
              </a:rPr>
              <a:t>, sisa blok </a:t>
            </a:r>
            <a:r>
              <a:rPr lang="id-ID" altLang="en-US" sz="1800" dirty="0">
                <a:solidFill>
                  <a:srgbClr val="0A3069"/>
                </a:solidFill>
                <a:latin typeface="Consolas" pitchFamily="34" charset="0"/>
                <a:ea typeface="Consolas" pitchFamily="34" charset="-122"/>
                <a:cs typeface="Consolas" pitchFamily="34" charset="-120"/>
              </a:rPr>
              <a:t>try</a:t>
            </a:r>
            <a:r>
              <a:rPr lang="id-ID" altLang="en-US" sz="1800" dirty="0">
                <a:solidFill>
                  <a:srgbClr val="57606A"/>
                </a:solidFill>
              </a:rPr>
              <a:t> dilewati, lalu penangkap yang </a:t>
            </a:r>
            <a:r>
              <a:rPr lang="id-ID" altLang="en-US" sz="1800" b="1" dirty="0">
                <a:solidFill>
                  <a:srgbClr val="57606A"/>
                </a:solidFill>
              </a:rPr>
              <a:t>jenisnya cocok</a:t>
            </a:r>
            <a:r>
              <a:rPr lang="id-ID" altLang="en-US" sz="1800" dirty="0">
                <a:solidFill>
                  <a:srgbClr val="57606A"/>
                </a:solidFill>
              </a:rPr>
              <a:t> dijalankan.</a:t>
            </a:r>
            <a:endParaRPr lang="id-ID" sz="1800" dirty="0"/>
          </a:p>
        </p:txBody>
      </p:sp>
      <p:sp>
        <p:nvSpPr>
          <p:cNvPr id="6" name="Shape 3"/>
          <p:cNvSpPr/>
          <p:nvPr/>
        </p:nvSpPr>
        <p:spPr>
          <a:xfrm>
            <a:off x="548640" y="2640124"/>
            <a:ext cx="1051560" cy="329184"/>
          </a:xfrm>
          <a:prstGeom prst="roundRect">
            <a:avLst>
              <a:gd name="adj" fmla="val 138889"/>
            </a:avLst>
          </a:prstGeom>
          <a:solidFill>
            <a:srgbClr val="3572A5"/>
          </a:solidFill>
          <a:ln/>
        </p:spPr>
      </p:sp>
      <p:sp>
        <p:nvSpPr>
          <p:cNvPr id="7" name="Text 4"/>
          <p:cNvSpPr txBox="1"/>
          <p:nvPr/>
        </p:nvSpPr>
        <p:spPr>
          <a:xfrm>
            <a:off x="548640" y="2640124"/>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640124"/>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python/contoh/contoh01_pembagian_nol.py</a:t>
            </a:r>
            <a:endParaRPr lang="id-ID" sz="1100" dirty="0"/>
          </a:p>
        </p:txBody>
      </p:sp>
      <p:sp>
        <p:nvSpPr>
          <p:cNvPr id="9" name="Shape 6"/>
          <p:cNvSpPr/>
          <p:nvPr/>
        </p:nvSpPr>
        <p:spPr>
          <a:xfrm>
            <a:off x="548640" y="3060748"/>
            <a:ext cx="5432908" cy="1986915"/>
          </a:xfrm>
          <a:prstGeom prst="roundRect">
            <a:avLst>
              <a:gd name="adj" fmla="val 2118"/>
            </a:avLst>
          </a:prstGeom>
          <a:solidFill>
            <a:srgbClr val="F6F8FA"/>
          </a:solidFill>
          <a:ln w="9525">
            <a:solidFill>
              <a:srgbClr val="D0D7DE"/>
            </a:solidFill>
            <a:prstDash val="solid"/>
          </a:ln>
        </p:spPr>
      </p:sp>
      <p:sp>
        <p:nvSpPr>
          <p:cNvPr id="10" name="Text 7"/>
          <p:cNvSpPr txBox="1"/>
          <p:nvPr/>
        </p:nvSpPr>
        <p:spPr>
          <a:xfrm>
            <a:off x="658368" y="3152188"/>
            <a:ext cx="5213452" cy="1804035"/>
          </a:xfrm>
          <a:prstGeom prst="rect">
            <a:avLst/>
          </a:prstGeom>
          <a:noFill/>
          <a:ln/>
        </p:spPr>
        <p:txBody>
          <a:bodyPr wrap="square" lIns="0" tIns="0" rIns="0" bIns="0" rtlCol="0" anchor="t"/>
          <a:lstStyle/>
          <a:p>
            <a:pPr indent="0" marL="0">
              <a:buNone/>
            </a:pPr>
            <a:r>
              <a:rPr lang="en-US" altLang="en-US" sz="1050" dirty="0">
                <a:solidFill>
                  <a:srgbClr val="CF222E"/>
                </a:solidFill>
                <a:latin typeface="Consolas" pitchFamily="34" charset="0"/>
                <a:ea typeface="Consolas" pitchFamily="34" charset="-122"/>
                <a:cs typeface="Consolas" pitchFamily="34" charset="-120"/>
              </a:rPr>
              <a:t>def</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8250DF"/>
                </a:solidFill>
                <a:latin typeface="Consolas" pitchFamily="34" charset="0"/>
                <a:ea typeface="Consolas" pitchFamily="34" charset="-122"/>
                <a:cs typeface="Consolas" pitchFamily="34" charset="-120"/>
              </a:rPr>
              <a:t>hitung_patungan</a:t>
            </a:r>
            <a:r>
              <a:rPr lang="en-US" altLang="en-US" sz="1050" dirty="0">
                <a:solidFill>
                  <a:srgbClr val="1F2328"/>
                </a:solidFill>
                <a:latin typeface="Consolas" pitchFamily="34" charset="0"/>
                <a:ea typeface="Consolas" pitchFamily="34" charset="-122"/>
                <a:cs typeface="Consolas" pitchFamily="34" charset="-120"/>
              </a:rPr>
              <a:t>(total: </a:t>
            </a:r>
            <a:r>
              <a:rPr lang="en-US" altLang="en-US" sz="1050" dirty="0">
                <a:solidFill>
                  <a:srgbClr val="0550AE"/>
                </a:solidFill>
                <a:latin typeface="Consolas" pitchFamily="34" charset="0"/>
                <a:ea typeface="Consolas" pitchFamily="34" charset="-122"/>
                <a:cs typeface="Consolas" pitchFamily="34" charset="-120"/>
              </a:rPr>
              <a:t>int</a:t>
            </a:r>
            <a:r>
              <a:rPr lang="en-US" altLang="en-US" sz="1050" dirty="0">
                <a:solidFill>
                  <a:srgbClr val="1F2328"/>
                </a:solidFill>
                <a:latin typeface="Consolas" pitchFamily="34" charset="0"/>
                <a:ea typeface="Consolas" pitchFamily="34" charset="-122"/>
                <a:cs typeface="Consolas" pitchFamily="34" charset="-120"/>
              </a:rPr>
              <a:t>, jumlah_orang: </a:t>
            </a:r>
            <a:r>
              <a:rPr lang="en-US" altLang="en-US" sz="1050" dirty="0">
                <a:solidFill>
                  <a:srgbClr val="0550AE"/>
                </a:solidFill>
                <a:latin typeface="Consolas" pitchFamily="34" charset="0"/>
                <a:ea typeface="Consolas" pitchFamily="34" charset="-122"/>
                <a:cs typeface="Consolas" pitchFamily="34" charset="-120"/>
              </a:rPr>
              <a:t>int</a:t>
            </a:r>
            <a:r>
              <a:rPr lang="en-US" altLang="en-US" sz="1050" dirty="0">
                <a:solidFill>
                  <a:srgbClr val="1F2328"/>
                </a:solidFill>
                <a:latin typeface="Consolas" pitchFamily="34" charset="0"/>
                <a:ea typeface="Consolas" pitchFamily="34" charset="-122"/>
                <a:cs typeface="Consolas" pitchFamily="34" charset="-120"/>
              </a:rPr>
              <a:t>) -&gt; </a:t>
            </a:r>
            <a:r>
              <a:rPr lang="en-US" altLang="en-US" sz="1050" dirty="0">
                <a:solidFill>
                  <a:srgbClr val="0550AE"/>
                </a:solidFill>
                <a:latin typeface="Consolas" pitchFamily="34" charset="0"/>
                <a:ea typeface="Consolas" pitchFamily="34" charset="-122"/>
                <a:cs typeface="Consolas" pitchFamily="34" charset="-120"/>
              </a:rPr>
              <a:t>int</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return</a:t>
            </a:r>
            <a:r>
              <a:rPr lang="en-US" altLang="en-US" sz="1050" dirty="0">
                <a:solidFill>
                  <a:srgbClr val="1F2328"/>
                </a:solidFill>
                <a:latin typeface="Consolas" pitchFamily="34" charset="0"/>
                <a:ea typeface="Consolas" pitchFamily="34" charset="-122"/>
                <a:cs typeface="Consolas" pitchFamily="34" charset="-120"/>
              </a:rPr>
              <a:t> total // jumlah_orang</a:t>
            </a:r>
            <a:endParaRPr lang="en-US" sz="1050" dirty="0"/>
          </a:p>
          <a:p>
            <a:pPr indent="0" marL="0">
              <a:buNone/>
            </a:pPr>
            <a:r>
              <a:rPr lang="en-US" altLang="en-US" sz="1050" i="1" dirty="0">
                <a:solidFill>
                  <a:srgbClr val="6E7781"/>
                </a:solidFill>
                <a:latin typeface="Consolas" pitchFamily="34" charset="0"/>
                <a:ea typeface="Consolas" pitchFamily="34" charset="-122"/>
                <a:cs typeface="Consolas" pitchFamily="34" charset="-120"/>
              </a:rPr>
              <a:t># ... (dilewati)</a:t>
            </a:r>
            <a:endParaRPr lang="en-US" sz="1050" dirty="0"/>
          </a:p>
          <a:p>
            <a:pPr indent="0" marL="0">
              <a:buNone/>
            </a:pPr>
            <a:r>
              <a:rPr lang="en-US" altLang="en-US" sz="1050" dirty="0">
                <a:solidFill>
                  <a:srgbClr val="CF222E"/>
                </a:solidFill>
                <a:latin typeface="Consolas" pitchFamily="34" charset="0"/>
                <a:ea typeface="Consolas" pitchFamily="34" charset="-122"/>
                <a:cs typeface="Consolas" pitchFamily="34" charset="-120"/>
              </a:rPr>
              <a:t>try</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550AE"/>
                </a:solidFill>
                <a:latin typeface="Consolas" pitchFamily="34" charset="0"/>
                <a:ea typeface="Consolas" pitchFamily="34" charset="-122"/>
                <a:cs typeface="Consolas" pitchFamily="34" charset="-120"/>
              </a:rPr>
              <a:t>print</a:t>
            </a:r>
            <a:r>
              <a:rPr lang="en-US" altLang="en-US" sz="1050" dirty="0">
                <a:solidFill>
                  <a:srgbClr val="1F2328"/>
                </a:solidFill>
                <a:latin typeface="Consolas" pitchFamily="34" charset="0"/>
                <a:ea typeface="Consolas" pitchFamily="34" charset="-122"/>
                <a:cs typeface="Consolas" pitchFamily="34" charset="-120"/>
              </a:rPr>
              <a:t>(</a:t>
            </a:r>
            <a:r>
              <a:rPr lang="en-US" altLang="en-US" sz="1050" dirty="0">
                <a:solidFill>
                  <a:srgbClr val="0A3069"/>
                </a:solidFill>
                <a:latin typeface="Consolas" pitchFamily="34" charset="0"/>
                <a:ea typeface="Consolas" pitchFamily="34" charset="-122"/>
                <a:cs typeface="Consolas" pitchFamily="34" charset="-120"/>
              </a:rPr>
              <a:t>"Menghitung patungan untuk 0 orang..."</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hasil = hitung_patungan(</a:t>
            </a:r>
            <a:r>
              <a:rPr lang="en-US" altLang="en-US" sz="1050" dirty="0">
                <a:solidFill>
                  <a:srgbClr val="0550AE"/>
                </a:solidFill>
                <a:latin typeface="Consolas" pitchFamily="34" charset="0"/>
                <a:ea typeface="Consolas" pitchFamily="34" charset="-122"/>
                <a:cs typeface="Consolas" pitchFamily="34" charset="-120"/>
              </a:rPr>
              <a:t>120000</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550AE"/>
                </a:solidFill>
                <a:latin typeface="Consolas" pitchFamily="34" charset="0"/>
                <a:ea typeface="Consolas" pitchFamily="34" charset="-122"/>
                <a:cs typeface="Consolas" pitchFamily="34" charset="-120"/>
              </a:rPr>
              <a:t>0</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550AE"/>
                </a:solidFill>
                <a:latin typeface="Consolas" pitchFamily="34" charset="0"/>
                <a:ea typeface="Consolas" pitchFamily="34" charset="-122"/>
                <a:cs typeface="Consolas" pitchFamily="34" charset="-120"/>
              </a:rPr>
              <a:t>print</a:t>
            </a:r>
            <a:r>
              <a:rPr lang="en-US" altLang="en-US" sz="1050" dirty="0">
                <a:solidFill>
                  <a:srgbClr val="1F2328"/>
                </a:solidFill>
                <a:latin typeface="Consolas" pitchFamily="34" charset="0"/>
                <a:ea typeface="Consolas" pitchFamily="34" charset="-122"/>
                <a:cs typeface="Consolas" pitchFamily="34" charset="-120"/>
              </a:rPr>
              <a:t>(</a:t>
            </a:r>
            <a:r>
              <a:rPr lang="en-US" altLang="en-US" sz="1050" dirty="0">
                <a:solidFill>
                  <a:srgbClr val="0A3069"/>
                </a:solidFill>
                <a:latin typeface="Consolas" pitchFamily="34" charset="0"/>
                <a:ea typeface="Consolas" pitchFamily="34" charset="-122"/>
                <a:cs typeface="Consolas" pitchFamily="34" charset="-120"/>
              </a:rPr>
              <a:t>f"Hasil: Rp{</a:t>
            </a:r>
            <a:r>
              <a:rPr lang="en-US" altLang="en-US" sz="1050" dirty="0">
                <a:solidFill>
                  <a:srgbClr val="1F2328"/>
                </a:solidFill>
                <a:latin typeface="Consolas" pitchFamily="34" charset="0"/>
                <a:ea typeface="Consolas" pitchFamily="34" charset="-122"/>
                <a:cs typeface="Consolas" pitchFamily="34" charset="-120"/>
              </a:rPr>
              <a:t>hasil</a:t>
            </a:r>
            <a:r>
              <a:rPr lang="en-US" altLang="en-US" sz="1050" dirty="0">
                <a:solidFill>
                  <a:srgbClr val="0A3069"/>
                </a:solidFill>
                <a:latin typeface="Consolas" pitchFamily="34" charset="0"/>
                <a:ea typeface="Consolas" pitchFamily="34" charset="-122"/>
                <a:cs typeface="Consolas" pitchFamily="34" charset="-120"/>
              </a:rPr>
              <a:t>} per orang"</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CF222E"/>
                </a:solidFill>
                <a:latin typeface="Consolas" pitchFamily="34" charset="0"/>
                <a:ea typeface="Consolas" pitchFamily="34" charset="-122"/>
                <a:cs typeface="Consolas" pitchFamily="34" charset="-120"/>
              </a:rPr>
              <a:t>except</a:t>
            </a:r>
            <a:r>
              <a:rPr lang="en-US" altLang="en-US" sz="1050" dirty="0">
                <a:solidFill>
                  <a:srgbClr val="1F2328"/>
                </a:solidFill>
                <a:latin typeface="Consolas" pitchFamily="34" charset="0"/>
                <a:ea typeface="Consolas" pitchFamily="34" charset="-122"/>
                <a:cs typeface="Consolas" pitchFamily="34" charset="-120"/>
              </a:rPr>
              <a:t> ZeroDivisionError:</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550AE"/>
                </a:solidFill>
                <a:latin typeface="Consolas" pitchFamily="34" charset="0"/>
                <a:ea typeface="Consolas" pitchFamily="34" charset="-122"/>
                <a:cs typeface="Consolas" pitchFamily="34" charset="-120"/>
              </a:rPr>
              <a:t>print</a:t>
            </a:r>
            <a:r>
              <a:rPr lang="en-US" altLang="en-US" sz="1050" dirty="0">
                <a:solidFill>
                  <a:srgbClr val="1F2328"/>
                </a:solidFill>
                <a:latin typeface="Consolas" pitchFamily="34" charset="0"/>
                <a:ea typeface="Consolas" pitchFamily="34" charset="-122"/>
                <a:cs typeface="Consolas" pitchFamily="34" charset="-120"/>
              </a:rPr>
              <a:t>(</a:t>
            </a:r>
            <a:r>
              <a:rPr lang="en-US" altLang="en-US" sz="1050" dirty="0">
                <a:solidFill>
                  <a:srgbClr val="0A3069"/>
                </a:solidFill>
                <a:latin typeface="Consolas" pitchFamily="34" charset="0"/>
                <a:ea typeface="Consolas" pitchFamily="34" charset="-122"/>
                <a:cs typeface="Consolas" pitchFamily="34" charset="-120"/>
              </a:rPr>
              <a:t>"Gagal: jumlah orang tidak boleh nol"</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p:txBody>
      </p:sp>
      <p:sp>
        <p:nvSpPr>
          <p:cNvPr id="11" name="Shape 8"/>
          <p:cNvSpPr/>
          <p:nvPr/>
        </p:nvSpPr>
        <p:spPr>
          <a:xfrm>
            <a:off x="6210148" y="2640124"/>
            <a:ext cx="1051560" cy="329184"/>
          </a:xfrm>
          <a:prstGeom prst="roundRect">
            <a:avLst>
              <a:gd name="adj" fmla="val 138889"/>
            </a:avLst>
          </a:prstGeom>
          <a:solidFill>
            <a:srgbClr val="B07219"/>
          </a:solidFill>
          <a:ln/>
        </p:spPr>
      </p:sp>
      <p:sp>
        <p:nvSpPr>
          <p:cNvPr id="12" name="Text 9"/>
          <p:cNvSpPr txBox="1"/>
          <p:nvPr/>
        </p:nvSpPr>
        <p:spPr>
          <a:xfrm>
            <a:off x="6210148" y="2640124"/>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640124"/>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java/contoh/Contoh01PembagianNol.java</a:t>
            </a:r>
            <a:endParaRPr lang="id-ID" sz="1100" dirty="0"/>
          </a:p>
        </p:txBody>
      </p:sp>
      <p:sp>
        <p:nvSpPr>
          <p:cNvPr id="14" name="Shape 11"/>
          <p:cNvSpPr/>
          <p:nvPr/>
        </p:nvSpPr>
        <p:spPr>
          <a:xfrm>
            <a:off x="6210148" y="3060748"/>
            <a:ext cx="5432908" cy="1986915"/>
          </a:xfrm>
          <a:prstGeom prst="roundRect">
            <a:avLst>
              <a:gd name="adj" fmla="val 2118"/>
            </a:avLst>
          </a:prstGeom>
          <a:solidFill>
            <a:srgbClr val="F6F8FA"/>
          </a:solidFill>
          <a:ln w="9525">
            <a:solidFill>
              <a:srgbClr val="D0D7DE"/>
            </a:solidFill>
            <a:prstDash val="solid"/>
          </a:ln>
        </p:spPr>
      </p:sp>
      <p:sp>
        <p:nvSpPr>
          <p:cNvPr id="15" name="Text 12"/>
          <p:cNvSpPr txBox="1"/>
          <p:nvPr/>
        </p:nvSpPr>
        <p:spPr>
          <a:xfrm>
            <a:off x="6319876" y="3152188"/>
            <a:ext cx="5213452" cy="1804035"/>
          </a:xfrm>
          <a:prstGeom prst="rect">
            <a:avLst/>
          </a:prstGeom>
          <a:noFill/>
          <a:ln/>
        </p:spPr>
        <p:txBody>
          <a:bodyPr wrap="square" lIns="0" tIns="0" rIns="0" bIns="0" rtlCol="0" anchor="t"/>
          <a:lstStyle/>
          <a:p>
            <a:pPr indent="0" marL="0">
              <a:buNone/>
            </a:pPr>
            <a:r>
              <a:rPr lang="en-US" altLang="en-US" sz="1050" dirty="0">
                <a:solidFill>
                  <a:srgbClr val="CF222E"/>
                </a:solidFill>
                <a:latin typeface="Consolas" pitchFamily="34" charset="0"/>
                <a:ea typeface="Consolas" pitchFamily="34" charset="-122"/>
                <a:cs typeface="Consolas" pitchFamily="34" charset="-120"/>
              </a:rPr>
              <a:t>static</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int</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8250DF"/>
                </a:solidFill>
                <a:latin typeface="Consolas" pitchFamily="34" charset="0"/>
                <a:ea typeface="Consolas" pitchFamily="34" charset="-122"/>
                <a:cs typeface="Consolas" pitchFamily="34" charset="-120"/>
              </a:rPr>
              <a:t>hitungPatungan</a:t>
            </a:r>
            <a:r>
              <a:rPr lang="en-US" altLang="en-US" sz="1050" dirty="0">
                <a:solidFill>
                  <a:srgbClr val="1F2328"/>
                </a:solidFill>
                <a:latin typeface="Consolas" pitchFamily="34" charset="0"/>
                <a:ea typeface="Consolas" pitchFamily="34" charset="-122"/>
                <a:cs typeface="Consolas" pitchFamily="34" charset="-120"/>
              </a:rPr>
              <a:t>(</a:t>
            </a:r>
            <a:r>
              <a:rPr lang="en-US" altLang="en-US" sz="1050" dirty="0">
                <a:solidFill>
                  <a:srgbClr val="CF222E"/>
                </a:solidFill>
                <a:latin typeface="Consolas" pitchFamily="34" charset="0"/>
                <a:ea typeface="Consolas" pitchFamily="34" charset="-122"/>
                <a:cs typeface="Consolas" pitchFamily="34" charset="-120"/>
              </a:rPr>
              <a:t>int</a:t>
            </a:r>
            <a:r>
              <a:rPr lang="en-US" altLang="en-US" sz="1050" dirty="0">
                <a:solidFill>
                  <a:srgbClr val="1F2328"/>
                </a:solidFill>
                <a:latin typeface="Consolas" pitchFamily="34" charset="0"/>
                <a:ea typeface="Consolas" pitchFamily="34" charset="-122"/>
                <a:cs typeface="Consolas" pitchFamily="34" charset="-120"/>
              </a:rPr>
              <a:t> total, </a:t>
            </a:r>
            <a:r>
              <a:rPr lang="en-US" altLang="en-US" sz="1050" dirty="0">
                <a:solidFill>
                  <a:srgbClr val="CF222E"/>
                </a:solidFill>
                <a:latin typeface="Consolas" pitchFamily="34" charset="0"/>
                <a:ea typeface="Consolas" pitchFamily="34" charset="-122"/>
                <a:cs typeface="Consolas" pitchFamily="34" charset="-120"/>
              </a:rPr>
              <a:t>int</a:t>
            </a:r>
            <a:r>
              <a:rPr lang="en-US" altLang="en-US" sz="1050" dirty="0">
                <a:solidFill>
                  <a:srgbClr val="1F2328"/>
                </a:solidFill>
                <a:latin typeface="Consolas" pitchFamily="34" charset="0"/>
                <a:ea typeface="Consolas" pitchFamily="34" charset="-122"/>
                <a:cs typeface="Consolas" pitchFamily="34" charset="-120"/>
              </a:rPr>
              <a:t> jumlahOrang)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return</a:t>
            </a:r>
            <a:r>
              <a:rPr lang="en-US" altLang="en-US" sz="1050" dirty="0">
                <a:solidFill>
                  <a:srgbClr val="1F2328"/>
                </a:solidFill>
                <a:latin typeface="Consolas" pitchFamily="34" charset="0"/>
                <a:ea typeface="Consolas" pitchFamily="34" charset="-122"/>
                <a:cs typeface="Consolas" pitchFamily="34" charset="-120"/>
              </a:rPr>
              <a:t> total / jumlahOrang;</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i="1" dirty="0">
                <a:solidFill>
                  <a:srgbClr val="6E7781"/>
                </a:solidFill>
                <a:latin typeface="Consolas" pitchFamily="34" charset="0"/>
                <a:ea typeface="Consolas" pitchFamily="34" charset="-122"/>
                <a:cs typeface="Consolas" pitchFamily="34" charset="-120"/>
              </a:rPr>
              <a:t>// ... (dilewati)</a:t>
            </a:r>
            <a:endParaRPr lang="en-US" sz="1050" dirty="0"/>
          </a:p>
          <a:p>
            <a:pPr indent="0" marL="0">
              <a:buNone/>
            </a:pPr>
            <a:r>
              <a:rPr lang="en-US" altLang="en-US" sz="1050" dirty="0">
                <a:solidFill>
                  <a:srgbClr val="CF222E"/>
                </a:solidFill>
                <a:latin typeface="Consolas" pitchFamily="34" charset="0"/>
                <a:ea typeface="Consolas" pitchFamily="34" charset="-122"/>
                <a:cs typeface="Consolas" pitchFamily="34" charset="-120"/>
              </a:rPr>
              <a:t>try</a:t>
            </a:r>
            <a:r>
              <a:rPr lang="en-US" altLang="en-US" sz="1050" dirty="0">
                <a:solidFill>
                  <a:srgbClr val="1F2328"/>
                </a:solidFill>
                <a:latin typeface="Consolas" pitchFamily="34" charset="0"/>
                <a:ea typeface="Consolas" pitchFamily="34" charset="-122"/>
                <a:cs typeface="Consolas" pitchFamily="34" charset="-120"/>
              </a:rPr>
              <a:t>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System.out.println(</a:t>
            </a:r>
            <a:r>
              <a:rPr lang="en-US" altLang="en-US" sz="1050" dirty="0">
                <a:solidFill>
                  <a:srgbClr val="0A3069"/>
                </a:solidFill>
                <a:latin typeface="Consolas" pitchFamily="34" charset="0"/>
                <a:ea typeface="Consolas" pitchFamily="34" charset="-122"/>
                <a:cs typeface="Consolas" pitchFamily="34" charset="-120"/>
              </a:rPr>
              <a:t>"Menghitung patungan untuk 0 orang..."</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int</a:t>
            </a:r>
            <a:r>
              <a:rPr lang="en-US" altLang="en-US" sz="1050" dirty="0">
                <a:solidFill>
                  <a:srgbClr val="1F2328"/>
                </a:solidFill>
                <a:latin typeface="Consolas" pitchFamily="34" charset="0"/>
                <a:ea typeface="Consolas" pitchFamily="34" charset="-122"/>
                <a:cs typeface="Consolas" pitchFamily="34" charset="-120"/>
              </a:rPr>
              <a:t> hasil = hitungPatungan(</a:t>
            </a:r>
            <a:r>
              <a:rPr lang="en-US" altLang="en-US" sz="1050" dirty="0">
                <a:solidFill>
                  <a:srgbClr val="0550AE"/>
                </a:solidFill>
                <a:latin typeface="Consolas" pitchFamily="34" charset="0"/>
                <a:ea typeface="Consolas" pitchFamily="34" charset="-122"/>
                <a:cs typeface="Consolas" pitchFamily="34" charset="-120"/>
              </a:rPr>
              <a:t>120000</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550AE"/>
                </a:solidFill>
                <a:latin typeface="Consolas" pitchFamily="34" charset="0"/>
                <a:ea typeface="Consolas" pitchFamily="34" charset="-122"/>
                <a:cs typeface="Consolas" pitchFamily="34" charset="-120"/>
              </a:rPr>
              <a:t>0</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System.out.println(</a:t>
            </a:r>
            <a:r>
              <a:rPr lang="en-US" altLang="en-US" sz="1050" dirty="0">
                <a:solidFill>
                  <a:srgbClr val="0A3069"/>
                </a:solidFill>
                <a:latin typeface="Consolas" pitchFamily="34" charset="0"/>
                <a:ea typeface="Consolas" pitchFamily="34" charset="-122"/>
                <a:cs typeface="Consolas" pitchFamily="34" charset="-120"/>
              </a:rPr>
              <a:t>"Hasil: Rp"</a:t>
            </a:r>
            <a:r>
              <a:rPr lang="en-US" altLang="en-US" sz="1050" dirty="0">
                <a:solidFill>
                  <a:srgbClr val="1F2328"/>
                </a:solidFill>
                <a:latin typeface="Consolas" pitchFamily="34" charset="0"/>
                <a:ea typeface="Consolas" pitchFamily="34" charset="-122"/>
                <a:cs typeface="Consolas" pitchFamily="34" charset="-120"/>
              </a:rPr>
              <a:t> + hasil + </a:t>
            </a:r>
            <a:r>
              <a:rPr lang="en-US" altLang="en-US" sz="1050" dirty="0">
                <a:solidFill>
                  <a:srgbClr val="0A3069"/>
                </a:solidFill>
                <a:latin typeface="Consolas" pitchFamily="34" charset="0"/>
                <a:ea typeface="Consolas" pitchFamily="34" charset="-122"/>
                <a:cs typeface="Consolas" pitchFamily="34" charset="-120"/>
              </a:rPr>
              <a:t>" per orang"</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catch</a:t>
            </a:r>
            <a:r>
              <a:rPr lang="en-US" altLang="en-US" sz="1050" dirty="0">
                <a:solidFill>
                  <a:srgbClr val="1F2328"/>
                </a:solidFill>
                <a:latin typeface="Consolas" pitchFamily="34" charset="0"/>
                <a:ea typeface="Consolas" pitchFamily="34" charset="-122"/>
                <a:cs typeface="Consolas" pitchFamily="34" charset="-120"/>
              </a:rPr>
              <a:t> (ArithmeticException e)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System.out.println(</a:t>
            </a:r>
            <a:r>
              <a:rPr lang="en-US" altLang="en-US" sz="1050" dirty="0">
                <a:solidFill>
                  <a:srgbClr val="0A3069"/>
                </a:solidFill>
                <a:latin typeface="Consolas" pitchFamily="34" charset="0"/>
                <a:ea typeface="Consolas" pitchFamily="34" charset="-122"/>
                <a:cs typeface="Consolas" pitchFamily="34" charset="-120"/>
              </a:rPr>
              <a:t>"Gagal: jumlah orang tidak boleh nol"</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a:t>
            </a:r>
            <a:endParaRPr lang="en-US" sz="10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latin typeface="Consolas" pitchFamily="34" charset="0"/>
                <a:ea typeface="Consolas" pitchFamily="34" charset="-122"/>
                <a:cs typeface="Consolas" pitchFamily="34" charset="-120"/>
              </a:rPr>
              <a:t>else</a:t>
            </a:r>
            <a:r>
              <a:rPr lang="id-ID" altLang="en-US" sz="3200" b="1" dirty="0">
                <a:solidFill>
                  <a:srgbClr val="0A3069"/>
                </a:solidFill>
              </a:rPr>
              <a:t> dan </a:t>
            </a:r>
            <a:r>
              <a:rPr lang="id-ID" altLang="en-US" sz="3200" b="1" dirty="0">
                <a:solidFill>
                  <a:srgbClr val="0A3069"/>
                </a:solidFill>
                <a:latin typeface="Consolas" pitchFamily="34" charset="0"/>
                <a:ea typeface="Consolas" pitchFamily="34" charset="-122"/>
                <a:cs typeface="Consolas" pitchFamily="34" charset="-120"/>
              </a:rPr>
              <a:t>finally</a:t>
            </a:r>
            <a:r>
              <a:rPr lang="id-ID" altLang="en-US" sz="3200" b="1" dirty="0">
                <a:solidFill>
                  <a:srgbClr val="0A3069"/>
                </a:solidFill>
              </a:rPr>
              <a:t>: Proyektor Selalu Dimatikan</a:t>
            </a:r>
            <a:endParaRPr lang="id-ID" sz="3200" dirty="0"/>
          </a:p>
        </p:txBody>
      </p:sp>
      <p:sp>
        <p:nvSpPr>
          <p:cNvPr id="5" name="Shape 2"/>
          <p:cNvSpPr/>
          <p:nvPr/>
        </p:nvSpPr>
        <p:spPr>
          <a:xfrm>
            <a:off x="548640" y="1461165"/>
            <a:ext cx="1051560" cy="329184"/>
          </a:xfrm>
          <a:prstGeom prst="roundRect">
            <a:avLst>
              <a:gd name="adj" fmla="val 138889"/>
            </a:avLst>
          </a:prstGeom>
          <a:solidFill>
            <a:srgbClr val="3572A5"/>
          </a:solidFill>
          <a:ln/>
        </p:spPr>
      </p:sp>
      <p:sp>
        <p:nvSpPr>
          <p:cNvPr id="6" name="Text 3"/>
          <p:cNvSpPr txBox="1"/>
          <p:nvPr/>
        </p:nvSpPr>
        <p:spPr>
          <a:xfrm>
            <a:off x="548640" y="1461165"/>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7" name="Text 4"/>
          <p:cNvSpPr txBox="1"/>
          <p:nvPr/>
        </p:nvSpPr>
        <p:spPr>
          <a:xfrm>
            <a:off x="1737360" y="1461165"/>
            <a:ext cx="5715000"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python/contoh/contoh05_else_dan_finally.py</a:t>
            </a:r>
            <a:endParaRPr lang="id-ID" sz="1100" dirty="0"/>
          </a:p>
        </p:txBody>
      </p:sp>
      <p:sp>
        <p:nvSpPr>
          <p:cNvPr id="8" name="Shape 5"/>
          <p:cNvSpPr/>
          <p:nvPr/>
        </p:nvSpPr>
        <p:spPr>
          <a:xfrm>
            <a:off x="548640" y="1881789"/>
            <a:ext cx="6903720" cy="3133344"/>
          </a:xfrm>
          <a:prstGeom prst="roundRect">
            <a:avLst>
              <a:gd name="adj" fmla="val 852"/>
            </a:avLst>
          </a:prstGeom>
          <a:solidFill>
            <a:srgbClr val="F6F8FA"/>
          </a:solidFill>
          <a:ln w="9525">
            <a:solidFill>
              <a:srgbClr val="D0D7DE"/>
            </a:solidFill>
            <a:prstDash val="solid"/>
          </a:ln>
        </p:spPr>
      </p:sp>
      <p:sp>
        <p:nvSpPr>
          <p:cNvPr id="9" name="Text 6"/>
          <p:cNvSpPr txBox="1"/>
          <p:nvPr/>
        </p:nvSpPr>
        <p:spPr>
          <a:xfrm>
            <a:off x="658368" y="1973229"/>
            <a:ext cx="6684264" cy="2950464"/>
          </a:xfrm>
          <a:prstGeom prst="rect">
            <a:avLst/>
          </a:prstGeom>
          <a:noFill/>
          <a:ln/>
        </p:spPr>
        <p:txBody>
          <a:bodyPr wrap="square" lIns="0" tIns="0" rIns="0" bIns="0" rtlCol="0" anchor="t"/>
          <a:lstStyle/>
          <a:p>
            <a:pPr indent="0" marL="0">
              <a:buNone/>
            </a:pPr>
            <a:r>
              <a:rPr lang="en-US" altLang="en-US" sz="1600" dirty="0">
                <a:solidFill>
                  <a:srgbClr val="CF222E"/>
                </a:solidFill>
                <a:latin typeface="Consolas" pitchFamily="34" charset="0"/>
                <a:ea typeface="Consolas" pitchFamily="34" charset="-122"/>
                <a:cs typeface="Consolas" pitchFamily="34" charset="-120"/>
              </a:rPr>
              <a:t>def</a:t>
            </a:r>
            <a:r>
              <a:rPr lang="en-US" altLang="en-US" sz="1600" dirty="0">
                <a:solidFill>
                  <a:srgbClr val="1F2328"/>
                </a:solidFill>
                <a:latin typeface="Consolas" pitchFamily="34" charset="0"/>
                <a:ea typeface="Consolas" pitchFamily="34" charset="-122"/>
                <a:cs typeface="Consolas" pitchFamily="34" charset="-120"/>
              </a:rPr>
              <a:t> </a:t>
            </a:r>
            <a:r>
              <a:rPr lang="en-US" altLang="en-US" sz="1600" dirty="0">
                <a:solidFill>
                  <a:srgbClr val="8250DF"/>
                </a:solidFill>
                <a:latin typeface="Consolas" pitchFamily="34" charset="0"/>
                <a:ea typeface="Consolas" pitchFamily="34" charset="-122"/>
                <a:cs typeface="Consolas" pitchFamily="34" charset="-120"/>
              </a:rPr>
              <a:t>presentasi</a:t>
            </a:r>
            <a:r>
              <a:rPr lang="en-US" altLang="en-US" sz="1600" dirty="0">
                <a:solidFill>
                  <a:srgbClr val="1F2328"/>
                </a:solidFill>
                <a:latin typeface="Consolas" pitchFamily="34" charset="0"/>
                <a:ea typeface="Consolas" pitchFamily="34" charset="-122"/>
                <a:cs typeface="Consolas" pitchFamily="34" charset="-120"/>
              </a:rPr>
              <a:t>(proyektor: Proyektor, nama_file: </a:t>
            </a:r>
            <a:r>
              <a:rPr lang="en-US" altLang="en-US" sz="1600" dirty="0">
                <a:solidFill>
                  <a:srgbClr val="0550AE"/>
                </a:solidFill>
                <a:latin typeface="Consolas" pitchFamily="34" charset="0"/>
                <a:ea typeface="Consolas" pitchFamily="34" charset="-122"/>
                <a:cs typeface="Consolas" pitchFamily="34" charset="-120"/>
              </a:rPr>
              <a:t>str</a:t>
            </a:r>
            <a:r>
              <a:rPr lang="en-US" altLang="en-US" sz="1600" dirty="0">
                <a:solidFill>
                  <a:srgbClr val="1F2328"/>
                </a:solidFill>
                <a:latin typeface="Consolas" pitchFamily="34" charset="0"/>
                <a:ea typeface="Consolas" pitchFamily="34" charset="-122"/>
                <a:cs typeface="Consolas" pitchFamily="34" charset="-120"/>
              </a:rPr>
              <a:t>):</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proyektor.nyalakan()</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a:t>
            </a:r>
            <a:r>
              <a:rPr lang="en-US" altLang="en-US" sz="1600" dirty="0">
                <a:solidFill>
                  <a:srgbClr val="CF222E"/>
                </a:solidFill>
                <a:latin typeface="Consolas" pitchFamily="34" charset="0"/>
                <a:ea typeface="Consolas" pitchFamily="34" charset="-122"/>
                <a:cs typeface="Consolas" pitchFamily="34" charset="-120"/>
              </a:rPr>
              <a:t>try</a:t>
            </a:r>
            <a:r>
              <a:rPr lang="en-US" altLang="en-US" sz="1600" dirty="0">
                <a:solidFill>
                  <a:srgbClr val="1F2328"/>
                </a:solidFill>
                <a:latin typeface="Consolas" pitchFamily="34" charset="0"/>
                <a:ea typeface="Consolas" pitchFamily="34" charset="-122"/>
                <a:cs typeface="Consolas" pitchFamily="34" charset="-120"/>
              </a:rPr>
              <a:t>:</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proyektor.tampilkan(nama_file)</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a:t>
            </a:r>
            <a:r>
              <a:rPr lang="en-US" altLang="en-US" sz="1600" dirty="0">
                <a:solidFill>
                  <a:srgbClr val="CF222E"/>
                </a:solidFill>
                <a:latin typeface="Consolas" pitchFamily="34" charset="0"/>
                <a:ea typeface="Consolas" pitchFamily="34" charset="-122"/>
                <a:cs typeface="Consolas" pitchFamily="34" charset="-120"/>
              </a:rPr>
              <a:t>except</a:t>
            </a:r>
            <a:r>
              <a:rPr lang="en-US" altLang="en-US" sz="1600" dirty="0">
                <a:solidFill>
                  <a:srgbClr val="1F2328"/>
                </a:solidFill>
                <a:latin typeface="Consolas" pitchFamily="34" charset="0"/>
                <a:ea typeface="Consolas" pitchFamily="34" charset="-122"/>
                <a:cs typeface="Consolas" pitchFamily="34" charset="-120"/>
              </a:rPr>
              <a:t> ValueError </a:t>
            </a:r>
            <a:r>
              <a:rPr lang="en-US" altLang="en-US" sz="1600" dirty="0">
                <a:solidFill>
                  <a:srgbClr val="CF222E"/>
                </a:solidFill>
                <a:latin typeface="Consolas" pitchFamily="34" charset="0"/>
                <a:ea typeface="Consolas" pitchFamily="34" charset="-122"/>
                <a:cs typeface="Consolas" pitchFamily="34" charset="-120"/>
              </a:rPr>
              <a:t>as</a:t>
            </a:r>
            <a:r>
              <a:rPr lang="en-US" altLang="en-US" sz="1600" dirty="0">
                <a:solidFill>
                  <a:srgbClr val="1F2328"/>
                </a:solidFill>
                <a:latin typeface="Consolas" pitchFamily="34" charset="0"/>
                <a:ea typeface="Consolas" pitchFamily="34" charset="-122"/>
                <a:cs typeface="Consolas" pitchFamily="34" charset="-120"/>
              </a:rPr>
              <a:t> e:</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a:t>
            </a:r>
            <a:r>
              <a:rPr lang="en-US" altLang="en-US" sz="1600" dirty="0">
                <a:solidFill>
                  <a:srgbClr val="0550AE"/>
                </a:solidFill>
                <a:latin typeface="Consolas" pitchFamily="34" charset="0"/>
                <a:ea typeface="Consolas" pitchFamily="34" charset="-122"/>
                <a:cs typeface="Consolas" pitchFamily="34" charset="-120"/>
              </a:rPr>
              <a:t>print</a:t>
            </a:r>
            <a:r>
              <a:rPr lang="en-US" altLang="en-US" sz="1600" dirty="0">
                <a:solidFill>
                  <a:srgbClr val="1F2328"/>
                </a:solidFill>
                <a:latin typeface="Consolas" pitchFamily="34" charset="0"/>
                <a:ea typeface="Consolas" pitchFamily="34" charset="-122"/>
                <a:cs typeface="Consolas" pitchFamily="34" charset="-120"/>
              </a:rPr>
              <a:t>(</a:t>
            </a:r>
            <a:r>
              <a:rPr lang="en-US" altLang="en-US" sz="1600" dirty="0">
                <a:solidFill>
                  <a:srgbClr val="0A3069"/>
                </a:solidFill>
                <a:latin typeface="Consolas" pitchFamily="34" charset="0"/>
                <a:ea typeface="Consolas" pitchFamily="34" charset="-122"/>
                <a:cs typeface="Consolas" pitchFamily="34" charset="-120"/>
              </a:rPr>
              <a:t>f"  Gagal presentasi: {</a:t>
            </a:r>
            <a:r>
              <a:rPr lang="en-US" altLang="en-US" sz="1600" dirty="0">
                <a:solidFill>
                  <a:srgbClr val="1F2328"/>
                </a:solidFill>
                <a:latin typeface="Consolas" pitchFamily="34" charset="0"/>
                <a:ea typeface="Consolas" pitchFamily="34" charset="-122"/>
                <a:cs typeface="Consolas" pitchFamily="34" charset="-120"/>
              </a:rPr>
              <a:t>e</a:t>
            </a:r>
            <a:r>
              <a:rPr lang="en-US" altLang="en-US" sz="1600" dirty="0">
                <a:solidFill>
                  <a:srgbClr val="0A3069"/>
                </a:solidFill>
                <a:latin typeface="Consolas" pitchFamily="34" charset="0"/>
                <a:ea typeface="Consolas" pitchFamily="34" charset="-122"/>
                <a:cs typeface="Consolas" pitchFamily="34" charset="-120"/>
              </a:rPr>
              <a:t>}"</a:t>
            </a:r>
            <a:r>
              <a:rPr lang="en-US" altLang="en-US" sz="1600" dirty="0">
                <a:solidFill>
                  <a:srgbClr val="1F2328"/>
                </a:solidFill>
                <a:latin typeface="Consolas" pitchFamily="34" charset="0"/>
                <a:ea typeface="Consolas" pitchFamily="34" charset="-122"/>
                <a:cs typeface="Consolas" pitchFamily="34" charset="-120"/>
              </a:rPr>
              <a:t>)</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a:t>
            </a:r>
            <a:r>
              <a:rPr lang="en-US" altLang="en-US" sz="1600" dirty="0">
                <a:solidFill>
                  <a:srgbClr val="CF222E"/>
                </a:solidFill>
                <a:latin typeface="Consolas" pitchFamily="34" charset="0"/>
                <a:ea typeface="Consolas" pitchFamily="34" charset="-122"/>
                <a:cs typeface="Consolas" pitchFamily="34" charset="-120"/>
              </a:rPr>
              <a:t>else</a:t>
            </a:r>
            <a:r>
              <a:rPr lang="en-US" altLang="en-US" sz="1600" dirty="0">
                <a:solidFill>
                  <a:srgbClr val="1F2328"/>
                </a:solidFill>
                <a:latin typeface="Consolas" pitchFamily="34" charset="0"/>
                <a:ea typeface="Consolas" pitchFamily="34" charset="-122"/>
                <a:cs typeface="Consolas" pitchFamily="34" charset="-120"/>
              </a:rPr>
              <a:t>:</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a:t>
            </a:r>
            <a:r>
              <a:rPr lang="en-US" altLang="en-US" sz="1600" dirty="0">
                <a:solidFill>
                  <a:srgbClr val="0550AE"/>
                </a:solidFill>
                <a:latin typeface="Consolas" pitchFamily="34" charset="0"/>
                <a:ea typeface="Consolas" pitchFamily="34" charset="-122"/>
                <a:cs typeface="Consolas" pitchFamily="34" charset="-120"/>
              </a:rPr>
              <a:t>print</a:t>
            </a:r>
            <a:r>
              <a:rPr lang="en-US" altLang="en-US" sz="1600" dirty="0">
                <a:solidFill>
                  <a:srgbClr val="1F2328"/>
                </a:solidFill>
                <a:latin typeface="Consolas" pitchFamily="34" charset="0"/>
                <a:ea typeface="Consolas" pitchFamily="34" charset="-122"/>
                <a:cs typeface="Consolas" pitchFamily="34" charset="-120"/>
              </a:rPr>
              <a:t>(</a:t>
            </a:r>
            <a:r>
              <a:rPr lang="en-US" altLang="en-US" sz="1600" dirty="0">
                <a:solidFill>
                  <a:srgbClr val="0A3069"/>
                </a:solidFill>
                <a:latin typeface="Consolas" pitchFamily="34" charset="0"/>
                <a:ea typeface="Consolas" pitchFamily="34" charset="-122"/>
                <a:cs typeface="Consolas" pitchFamily="34" charset="-120"/>
              </a:rPr>
              <a:t>"  Presentasi lancar, terima kasih!"</a:t>
            </a:r>
            <a:r>
              <a:rPr lang="en-US" altLang="en-US" sz="1600" dirty="0">
                <a:solidFill>
                  <a:srgbClr val="1F2328"/>
                </a:solidFill>
                <a:latin typeface="Consolas" pitchFamily="34" charset="0"/>
                <a:ea typeface="Consolas" pitchFamily="34" charset="-122"/>
                <a:cs typeface="Consolas" pitchFamily="34" charset="-120"/>
              </a:rPr>
              <a:t>)</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a:t>
            </a:r>
            <a:r>
              <a:rPr lang="en-US" altLang="en-US" sz="1600" dirty="0">
                <a:solidFill>
                  <a:srgbClr val="CF222E"/>
                </a:solidFill>
                <a:latin typeface="Consolas" pitchFamily="34" charset="0"/>
                <a:ea typeface="Consolas" pitchFamily="34" charset="-122"/>
                <a:cs typeface="Consolas" pitchFamily="34" charset="-120"/>
              </a:rPr>
              <a:t>finally</a:t>
            </a:r>
            <a:r>
              <a:rPr lang="en-US" altLang="en-US" sz="1600" dirty="0">
                <a:solidFill>
                  <a:srgbClr val="1F2328"/>
                </a:solidFill>
                <a:latin typeface="Consolas" pitchFamily="34" charset="0"/>
                <a:ea typeface="Consolas" pitchFamily="34" charset="-122"/>
                <a:cs typeface="Consolas" pitchFamily="34" charset="-120"/>
              </a:rPr>
              <a:t>:</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proyektor.matikan()</a:t>
            </a:r>
            <a:endParaRPr lang="en-US" sz="1600" dirty="0"/>
          </a:p>
          <a:p>
            <a:pPr indent="0" marL="0">
              <a:buNone/>
            </a:pPr>
            <a:r>
              <a:rPr lang="en-US" altLang="en-US" sz="1600" i="1" dirty="0">
                <a:solidFill>
                  <a:srgbClr val="6E7781"/>
                </a:solidFill>
                <a:latin typeface="Consolas" pitchFamily="34" charset="0"/>
                <a:ea typeface="Consolas" pitchFamily="34" charset="-122"/>
                <a:cs typeface="Consolas" pitchFamily="34" charset="-120"/>
              </a:rPr>
              <a:t># ... (dilewati)</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presentasi(proyektor, </a:t>
            </a:r>
            <a:r>
              <a:rPr lang="en-US" altLang="en-US" sz="1600" dirty="0">
                <a:solidFill>
                  <a:srgbClr val="0A3069"/>
                </a:solidFill>
                <a:latin typeface="Consolas" pitchFamily="34" charset="0"/>
                <a:ea typeface="Consolas" pitchFamily="34" charset="-122"/>
                <a:cs typeface="Consolas" pitchFamily="34" charset="-120"/>
              </a:rPr>
              <a:t>"laporan-akhir.docx"</a:t>
            </a:r>
            <a:r>
              <a:rPr lang="en-US" altLang="en-US" sz="1600" dirty="0">
                <a:solidFill>
                  <a:srgbClr val="1F2328"/>
                </a:solidFill>
                <a:latin typeface="Consolas" pitchFamily="34" charset="0"/>
                <a:ea typeface="Consolas" pitchFamily="34" charset="-122"/>
                <a:cs typeface="Consolas" pitchFamily="34" charset="-120"/>
              </a:rPr>
              <a:t>)</a:t>
            </a:r>
            <a:endParaRPr lang="en-US" sz="1600" dirty="0"/>
          </a:p>
        </p:txBody>
      </p:sp>
      <p:sp>
        <p:nvSpPr>
          <p:cNvPr id="10" name="Shape 7"/>
          <p:cNvSpPr/>
          <p:nvPr/>
        </p:nvSpPr>
        <p:spPr>
          <a:xfrm>
            <a:off x="548640" y="5243733"/>
            <a:ext cx="6903720" cy="895350"/>
          </a:xfrm>
          <a:prstGeom prst="roundRect">
            <a:avLst>
              <a:gd name="adj" fmla="val 10430"/>
            </a:avLst>
          </a:prstGeom>
          <a:solidFill>
            <a:srgbClr val="0D1117"/>
          </a:solidFill>
          <a:ln/>
        </p:spPr>
      </p:sp>
      <p:sp>
        <p:nvSpPr>
          <p:cNvPr id="11" name="Shape 8"/>
          <p:cNvSpPr/>
          <p:nvPr/>
        </p:nvSpPr>
        <p:spPr>
          <a:xfrm>
            <a:off x="713232" y="5371749"/>
            <a:ext cx="960120" cy="292608"/>
          </a:xfrm>
          <a:prstGeom prst="roundRect">
            <a:avLst>
              <a:gd name="adj" fmla="val 156250"/>
            </a:avLst>
          </a:prstGeom>
          <a:solidFill>
            <a:srgbClr val="30363D"/>
          </a:solidFill>
          <a:ln/>
        </p:spPr>
      </p:sp>
      <p:sp>
        <p:nvSpPr>
          <p:cNvPr id="12" name="Text 9"/>
          <p:cNvSpPr txBox="1"/>
          <p:nvPr/>
        </p:nvSpPr>
        <p:spPr>
          <a:xfrm>
            <a:off x="713232" y="5371749"/>
            <a:ext cx="960120" cy="292608"/>
          </a:xfrm>
          <a:prstGeom prst="rect">
            <a:avLst/>
          </a:prstGeom>
          <a:noFill/>
          <a:ln/>
        </p:spPr>
        <p:txBody>
          <a:bodyPr wrap="square" lIns="0" tIns="0" rIns="0" bIns="0" rtlCol="0" anchor="ctr"/>
          <a:lstStyle/>
          <a:p>
            <a:pPr algn="ctr" indent="0" marL="0">
              <a:buNone/>
            </a:pPr>
            <a:r>
              <a:rPr lang="id-ID" altLang="en-US" sz="1200" b="1" i="1" dirty="0">
                <a:solidFill>
                  <a:srgbClr val="E6EDF3"/>
                </a:solidFill>
              </a:rPr>
              <a:t>Output</a:t>
            </a:r>
            <a:endParaRPr lang="id-ID" sz="1200" dirty="0"/>
          </a:p>
        </p:txBody>
      </p:sp>
      <p:sp>
        <p:nvSpPr>
          <p:cNvPr id="13" name="Text 10"/>
          <p:cNvSpPr txBox="1"/>
          <p:nvPr/>
        </p:nvSpPr>
        <p:spPr>
          <a:xfrm>
            <a:off x="1828800" y="5371749"/>
            <a:ext cx="5440680" cy="675894"/>
          </a:xfrm>
          <a:prstGeom prst="rect">
            <a:avLst/>
          </a:prstGeom>
          <a:noFill/>
          <a:ln/>
        </p:spPr>
        <p:txBody>
          <a:bodyPr wrap="square" lIns="0" tIns="0" rIns="0" bIns="0" rtlCol="0" anchor="t"/>
          <a:lstStyle/>
          <a:p>
            <a:pPr indent="0" marL="0">
              <a:buNone/>
            </a:pPr>
            <a:r>
              <a:rPr lang="en-US" altLang="en-US" sz="1300" dirty="0">
                <a:solidFill>
                  <a:srgbClr val="E6EDF3"/>
                </a:solidFill>
                <a:latin typeface="Consolas" pitchFamily="34" charset="0"/>
                <a:ea typeface="Consolas" pitchFamily="34" charset="-122"/>
                <a:cs typeface="Consolas" pitchFamily="34" charset="-120"/>
              </a:rPr>
              <a:t>  Proyektor R301 menyala</a:t>
            </a:r>
            <a:endParaRPr lang="en-US" sz="1300" dirty="0"/>
          </a:p>
          <a:p>
            <a:pPr indent="0" marL="0">
              <a:buNone/>
            </a:pPr>
            <a:r>
              <a:rPr lang="en-US" altLang="en-US" sz="1300" dirty="0">
                <a:solidFill>
                  <a:srgbClr val="E6EDF3"/>
                </a:solidFill>
                <a:latin typeface="Consolas" pitchFamily="34" charset="0"/>
                <a:ea typeface="Consolas" pitchFamily="34" charset="-122"/>
                <a:cs typeface="Consolas" pitchFamily="34" charset="-120"/>
              </a:rPr>
              <a:t>  Gagal presentasi: file laporan-akhir.docx bukan PDF</a:t>
            </a:r>
            <a:endParaRPr lang="en-US" sz="1300" dirty="0"/>
          </a:p>
          <a:p>
            <a:pPr indent="0" marL="0">
              <a:buNone/>
            </a:pPr>
            <a:r>
              <a:rPr lang="en-US" altLang="en-US" sz="1300" dirty="0">
                <a:solidFill>
                  <a:srgbClr val="E6EDF3"/>
                </a:solidFill>
                <a:latin typeface="Consolas" pitchFamily="34" charset="0"/>
                <a:ea typeface="Consolas" pitchFamily="34" charset="-122"/>
                <a:cs typeface="Consolas" pitchFamily="34" charset="-120"/>
              </a:rPr>
              <a:t>  Proyektor R301 dimatikan</a:t>
            </a:r>
            <a:endParaRPr lang="en-US" sz="1300" dirty="0"/>
          </a:p>
        </p:txBody>
      </p:sp>
      <p:sp>
        <p:nvSpPr>
          <p:cNvPr id="14" name="Shape 11"/>
          <p:cNvSpPr/>
          <p:nvPr/>
        </p:nvSpPr>
        <p:spPr>
          <a:xfrm>
            <a:off x="7772400" y="1881789"/>
            <a:ext cx="3870655" cy="2108200"/>
          </a:xfrm>
          <a:prstGeom prst="roundRect">
            <a:avLst>
              <a:gd name="adj" fmla="val 2258"/>
            </a:avLst>
          </a:prstGeom>
          <a:solidFill>
            <a:srgbClr val="FFF8C5"/>
          </a:solidFill>
          <a:ln w="9525">
            <a:solidFill>
              <a:srgbClr val="D4A72C"/>
            </a:solidFill>
            <a:prstDash val="solid"/>
          </a:ln>
        </p:spPr>
      </p:sp>
      <p:sp>
        <p:nvSpPr>
          <p:cNvPr id="15" name="Shape 12"/>
          <p:cNvSpPr/>
          <p:nvPr/>
        </p:nvSpPr>
        <p:spPr>
          <a:xfrm>
            <a:off x="8046720" y="2110389"/>
            <a:ext cx="420624" cy="420624"/>
          </a:xfrm>
          <a:prstGeom prst="ellipse">
            <a:avLst/>
          </a:prstGeom>
          <a:solidFill>
            <a:srgbClr val="9A6700"/>
          </a:solidFill>
          <a:ln/>
        </p:spPr>
      </p:sp>
      <p:pic>
        <p:nvPicPr>
          <p:cNvPr id="16" name="Image 1" descr="preencoded.png">    </p:cNvPr>
          <p:cNvPicPr>
            <a:picLocks noChangeAspect="1"/>
          </p:cNvPicPr>
          <p:nvPr/>
        </p:nvPicPr>
        <p:blipFill>
          <a:blip r:embed="rId2"/>
          <a:stretch>
            <a:fillRect/>
          </a:stretch>
        </p:blipFill>
        <p:spPr>
          <a:xfrm>
            <a:off x="8139257" y="2202927"/>
            <a:ext cx="235549" cy="235549"/>
          </a:xfrm>
          <a:prstGeom prst="rect">
            <a:avLst/>
          </a:prstGeom>
        </p:spPr>
      </p:pic>
      <p:sp>
        <p:nvSpPr>
          <p:cNvPr id="17" name="Text 13"/>
          <p:cNvSpPr txBox="1"/>
          <p:nvPr/>
        </p:nvSpPr>
        <p:spPr>
          <a:xfrm>
            <a:off x="8595360" y="2137821"/>
            <a:ext cx="2864815" cy="365760"/>
          </a:xfrm>
          <a:prstGeom prst="rect">
            <a:avLst/>
          </a:prstGeom>
          <a:noFill/>
          <a:ln/>
        </p:spPr>
        <p:txBody>
          <a:bodyPr wrap="square" lIns="0" tIns="0" rIns="0" bIns="0" rtlCol="0" anchor="t"/>
          <a:lstStyle/>
          <a:p>
            <a:pPr indent="0" marL="0">
              <a:buNone/>
            </a:pPr>
            <a:r>
              <a:rPr lang="id-ID" altLang="en-US" sz="1500" b="1" dirty="0">
                <a:solidFill>
                  <a:srgbClr val="9A6700"/>
                </a:solidFill>
              </a:rPr>
              <a:t>Khusus Python</a:t>
            </a:r>
            <a:endParaRPr lang="id-ID" sz="1500" dirty="0"/>
          </a:p>
        </p:txBody>
      </p:sp>
      <p:sp>
        <p:nvSpPr>
          <p:cNvPr id="18" name="Text 14"/>
          <p:cNvSpPr txBox="1"/>
          <p:nvPr/>
        </p:nvSpPr>
        <p:spPr>
          <a:xfrm>
            <a:off x="8046720" y="2659029"/>
            <a:ext cx="3322015" cy="1285240"/>
          </a:xfrm>
          <a:prstGeom prst="rect">
            <a:avLst/>
          </a:prstGeom>
          <a:noFill/>
          <a:ln/>
        </p:spPr>
        <p:txBody>
          <a:bodyPr wrap="square" lIns="0" tIns="0" rIns="0" bIns="0" rtlCol="0" anchor="t"/>
          <a:lstStyle/>
          <a:p>
            <a:pPr indent="0" marL="0">
              <a:buNone/>
            </a:pPr>
            <a:r>
              <a:rPr lang="id-ID" altLang="en-US" sz="2000" dirty="0">
                <a:solidFill>
                  <a:srgbClr val="1F2328"/>
                </a:solidFill>
              </a:rPr>
              <a:t>Blok </a:t>
            </a:r>
            <a:r>
              <a:rPr lang="id-ID" altLang="en-US" sz="2000" dirty="0">
                <a:solidFill>
                  <a:srgbClr val="0A3069"/>
                </a:solidFill>
                <a:latin typeface="Consolas" pitchFamily="34" charset="0"/>
                <a:ea typeface="Consolas" pitchFamily="34" charset="-122"/>
                <a:cs typeface="Consolas" pitchFamily="34" charset="-120"/>
              </a:rPr>
              <a:t>else</a:t>
            </a:r>
            <a:r>
              <a:rPr lang="id-ID" altLang="en-US" sz="2000" dirty="0">
                <a:solidFill>
                  <a:srgbClr val="1F2328"/>
                </a:solidFill>
              </a:rPr>
              <a:t> hanya ada di Python. Di Java, kodenya ditulis di akhir blok </a:t>
            </a:r>
            <a:r>
              <a:rPr lang="id-ID" altLang="en-US" sz="2000" dirty="0">
                <a:solidFill>
                  <a:srgbClr val="0A3069"/>
                </a:solidFill>
                <a:latin typeface="Consolas" pitchFamily="34" charset="0"/>
                <a:ea typeface="Consolas" pitchFamily="34" charset="-122"/>
                <a:cs typeface="Consolas" pitchFamily="34" charset="-120"/>
              </a:rPr>
              <a:t>try</a:t>
            </a:r>
            <a:r>
              <a:rPr lang="id-ID" altLang="en-US" sz="2000" dirty="0">
                <a:solidFill>
                  <a:srgbClr val="1F2328"/>
                </a:solidFill>
              </a:rPr>
              <a:t>. </a:t>
            </a:r>
            <a:r>
              <a:rPr lang="id-ID" altLang="en-US" sz="2000" dirty="0">
                <a:solidFill>
                  <a:srgbClr val="0A3069"/>
                </a:solidFill>
                <a:latin typeface="Consolas" pitchFamily="34" charset="0"/>
                <a:ea typeface="Consolas" pitchFamily="34" charset="-122"/>
                <a:cs typeface="Consolas" pitchFamily="34" charset="-120"/>
              </a:rPr>
              <a:t>finally</a:t>
            </a:r>
            <a:r>
              <a:rPr lang="id-ID" altLang="en-US" sz="2000" dirty="0">
                <a:solidFill>
                  <a:srgbClr val="1F2328"/>
                </a:solidFill>
              </a:rPr>
              <a:t> sama di kedua bahasa.</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3</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3</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3600" b="1" dirty="0">
                <a:solidFill>
                  <a:srgbClr val="FFFFFF"/>
                </a:solidFill>
              </a:rPr>
              <a:t>Banyak Penangkap, Melempar, dan </a:t>
            </a:r>
            <a:r>
              <a:rPr lang="id-ID" altLang="en-US" sz="3600" b="1" i="1" dirty="0">
                <a:solidFill>
                  <a:srgbClr val="FFFFFF"/>
                </a:solidFill>
              </a:rPr>
              <a:t>Chaining</a:t>
            </a:r>
            <a:endParaRPr lang="id-ID" sz="36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Urutan penangkap, melempar </a:t>
            </a:r>
            <a:r>
              <a:rPr lang="id-ID" altLang="en-US" sz="2200" i="1" dirty="0">
                <a:solidFill>
                  <a:srgbClr val="C9D7E8"/>
                </a:solidFill>
              </a:rPr>
              <a:t>exception</a:t>
            </a:r>
            <a:r>
              <a:rPr lang="id-ID" altLang="en-US" sz="2200" dirty="0">
                <a:solidFill>
                  <a:srgbClr val="C9D7E8"/>
                </a:solidFill>
              </a:rPr>
              <a:t> sendiri, dan menyimpan penyebab aslinya.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Banyak Penangkap: Spesifik di Atas, Umum di Bawah</a:t>
            </a:r>
            <a:endParaRPr lang="id-ID" sz="3200" dirty="0"/>
          </a:p>
        </p:txBody>
      </p:sp>
      <p:sp>
        <p:nvSpPr>
          <p:cNvPr id="5" name="Shape 2"/>
          <p:cNvSpPr/>
          <p:nvPr/>
        </p:nvSpPr>
        <p:spPr>
          <a:xfrm>
            <a:off x="603504" y="1583675"/>
            <a:ext cx="137160" cy="137160"/>
          </a:xfrm>
          <a:prstGeom prst="roundRect">
            <a:avLst>
              <a:gd name="adj" fmla="val 166667"/>
            </a:avLst>
          </a:prstGeom>
          <a:solidFill>
            <a:srgbClr val="0969DA"/>
          </a:solidFill>
          <a:ln/>
        </p:spPr>
      </p:sp>
      <p:sp>
        <p:nvSpPr>
          <p:cNvPr id="6" name="Text 3"/>
          <p:cNvSpPr txBox="1"/>
          <p:nvPr/>
        </p:nvSpPr>
        <p:spPr>
          <a:xfrm>
            <a:off x="932688" y="1474074"/>
            <a:ext cx="10710367" cy="758444"/>
          </a:xfrm>
          <a:prstGeom prst="rect">
            <a:avLst/>
          </a:prstGeom>
          <a:noFill/>
          <a:ln/>
        </p:spPr>
        <p:txBody>
          <a:bodyPr wrap="square" lIns="0" tIns="0" rIns="0" bIns="0" rtlCol="0" anchor="t"/>
          <a:lstStyle/>
          <a:p>
            <a:pPr indent="0" marL="0">
              <a:buNone/>
            </a:pPr>
            <a:r>
              <a:rPr lang="id-ID" altLang="en-US" sz="2300" dirty="0">
                <a:solidFill>
                  <a:srgbClr val="1F2328"/>
                </a:solidFill>
              </a:rPr>
              <a:t>Penangkap diperiksa </a:t>
            </a:r>
            <a:r>
              <a:rPr lang="id-ID" altLang="en-US" sz="2300" b="1" dirty="0">
                <a:solidFill>
                  <a:srgbClr val="1F2328"/>
                </a:solidFill>
              </a:rPr>
              <a:t>dari atas ke bawah</a:t>
            </a:r>
            <a:r>
              <a:rPr lang="id-ID" altLang="en-US" sz="2300" dirty="0">
                <a:solidFill>
                  <a:srgbClr val="1F2328"/>
                </a:solidFill>
              </a:rPr>
              <a:t>; hanya penangkap </a:t>
            </a:r>
            <a:r>
              <a:rPr lang="id-ID" altLang="en-US" sz="2300" b="1" dirty="0">
                <a:solidFill>
                  <a:srgbClr val="1F2328"/>
                </a:solidFill>
              </a:rPr>
              <a:t>pertama yang cocok</a:t>
            </a:r>
            <a:r>
              <a:rPr lang="id-ID" altLang="en-US" sz="2300" dirty="0">
                <a:solidFill>
                  <a:srgbClr val="1F2328"/>
                </a:solidFill>
              </a:rPr>
              <a:t> yang dijalankan.</a:t>
            </a:r>
            <a:endParaRPr lang="id-ID" sz="2300" dirty="0"/>
          </a:p>
        </p:txBody>
      </p:sp>
      <p:sp>
        <p:nvSpPr>
          <p:cNvPr id="7" name="Shape 4"/>
          <p:cNvSpPr/>
          <p:nvPr/>
        </p:nvSpPr>
        <p:spPr>
          <a:xfrm>
            <a:off x="603504" y="2570719"/>
            <a:ext cx="137160" cy="137160"/>
          </a:xfrm>
          <a:prstGeom prst="roundRect">
            <a:avLst>
              <a:gd name="adj" fmla="val 166667"/>
            </a:avLst>
          </a:prstGeom>
          <a:solidFill>
            <a:srgbClr val="0969DA"/>
          </a:solidFill>
          <a:ln/>
        </p:spPr>
      </p:sp>
      <p:sp>
        <p:nvSpPr>
          <p:cNvPr id="8" name="Text 5"/>
          <p:cNvSpPr txBox="1"/>
          <p:nvPr/>
        </p:nvSpPr>
        <p:spPr>
          <a:xfrm>
            <a:off x="932688" y="2461118"/>
            <a:ext cx="10710367" cy="402082"/>
          </a:xfrm>
          <a:prstGeom prst="rect">
            <a:avLst/>
          </a:prstGeom>
          <a:noFill/>
          <a:ln/>
        </p:spPr>
        <p:txBody>
          <a:bodyPr wrap="square" lIns="0" tIns="0" rIns="0" bIns="0" rtlCol="0" anchor="t"/>
          <a:lstStyle/>
          <a:p>
            <a:pPr indent="0" marL="0">
              <a:buNone/>
            </a:pPr>
            <a:r>
              <a:rPr lang="id-ID" altLang="en-US" sz="2300" dirty="0">
                <a:solidFill>
                  <a:srgbClr val="1F2328"/>
                </a:solidFill>
              </a:rPr>
              <a:t>Cocok artinya jenisnya </a:t>
            </a:r>
            <a:r>
              <a:rPr lang="id-ID" altLang="en-US" sz="2300" b="1" dirty="0">
                <a:solidFill>
                  <a:srgbClr val="1F2328"/>
                </a:solidFill>
              </a:rPr>
              <a:t>sama</a:t>
            </a:r>
            <a:r>
              <a:rPr lang="id-ID" altLang="en-US" sz="2300" dirty="0">
                <a:solidFill>
                  <a:srgbClr val="1F2328"/>
                </a:solidFill>
              </a:rPr>
              <a:t> atau </a:t>
            </a:r>
            <a:r>
              <a:rPr lang="id-ID" altLang="en-US" sz="2300" b="1" dirty="0">
                <a:solidFill>
                  <a:srgbClr val="1F2328"/>
                </a:solidFill>
              </a:rPr>
              <a:t>turunan</a:t>
            </a:r>
            <a:r>
              <a:rPr lang="id-ID" altLang="en-US" sz="2300" dirty="0">
                <a:solidFill>
                  <a:srgbClr val="1F2328"/>
                </a:solidFill>
              </a:rPr>
              <a:t> jenis di penangkap (relasi </a:t>
            </a:r>
            <a:r>
              <a:rPr lang="id-ID" altLang="en-US" sz="2300" i="1" dirty="0">
                <a:solidFill>
                  <a:srgbClr val="1F2328"/>
                </a:solidFill>
              </a:rPr>
              <a:t>is-⁠a</a:t>
            </a:r>
            <a:r>
              <a:rPr lang="id-ID" altLang="en-US" sz="2300" dirty="0">
                <a:solidFill>
                  <a:srgbClr val="1F2328"/>
                </a:solidFill>
              </a:rPr>
              <a:t>).</a:t>
            </a:r>
            <a:endParaRPr lang="id-ID" sz="2300" dirty="0"/>
          </a:p>
        </p:txBody>
      </p:sp>
      <p:sp>
        <p:nvSpPr>
          <p:cNvPr id="9" name="Shape 6"/>
          <p:cNvSpPr/>
          <p:nvPr/>
        </p:nvSpPr>
        <p:spPr>
          <a:xfrm>
            <a:off x="603504" y="3201401"/>
            <a:ext cx="137160" cy="137160"/>
          </a:xfrm>
          <a:prstGeom prst="roundRect">
            <a:avLst>
              <a:gd name="adj" fmla="val 166667"/>
            </a:avLst>
          </a:prstGeom>
          <a:solidFill>
            <a:srgbClr val="0969DA"/>
          </a:solidFill>
          <a:ln/>
        </p:spPr>
      </p:sp>
      <p:sp>
        <p:nvSpPr>
          <p:cNvPr id="10" name="Text 7"/>
          <p:cNvSpPr txBox="1"/>
          <p:nvPr/>
        </p:nvSpPr>
        <p:spPr>
          <a:xfrm>
            <a:off x="932688" y="3091800"/>
            <a:ext cx="10710367" cy="402082"/>
          </a:xfrm>
          <a:prstGeom prst="rect">
            <a:avLst/>
          </a:prstGeom>
          <a:noFill/>
          <a:ln/>
        </p:spPr>
        <p:txBody>
          <a:bodyPr wrap="square" lIns="0" tIns="0" rIns="0" bIns="0" rtlCol="0" anchor="t"/>
          <a:lstStyle/>
          <a:p>
            <a:pPr indent="0" marL="0">
              <a:buNone/>
            </a:pPr>
            <a:r>
              <a:rPr lang="id-ID" altLang="en-US" sz="2300" dirty="0">
                <a:solidFill>
                  <a:srgbClr val="1F2328"/>
                </a:solidFill>
              </a:rPr>
              <a:t>Penangkap umum </a:t>
            </a:r>
            <a:r>
              <a:rPr lang="id-ID" altLang="en-US" sz="2300" dirty="0">
                <a:solidFill>
                  <a:srgbClr val="1F2328"/>
                </a:solidFill>
                <a:latin typeface="Consolas" pitchFamily="34" charset="0"/>
                <a:ea typeface="Consolas" pitchFamily="34" charset="-122"/>
                <a:cs typeface="Consolas" pitchFamily="34" charset="-120"/>
              </a:rPr>
              <a:t>Exception</a:t>
            </a:r>
            <a:r>
              <a:rPr lang="id-ID" altLang="en-US" sz="2300" dirty="0">
                <a:solidFill>
                  <a:srgbClr val="1F2328"/>
                </a:solidFill>
              </a:rPr>
              <a:t> ditulis </a:t>
            </a:r>
            <a:r>
              <a:rPr lang="id-ID" altLang="en-US" sz="2300" b="1" dirty="0">
                <a:solidFill>
                  <a:srgbClr val="1F2328"/>
                </a:solidFill>
              </a:rPr>
              <a:t>paling bawah</a:t>
            </a:r>
            <a:r>
              <a:rPr lang="id-ID" altLang="en-US" sz="2300" dirty="0">
                <a:solidFill>
                  <a:srgbClr val="1F2328"/>
                </a:solidFill>
              </a:rPr>
              <a:t> sebagai jaring pengaman terakhir.</a:t>
            </a:r>
            <a:endParaRPr lang="id-ID" sz="2300" dirty="0"/>
          </a:p>
        </p:txBody>
      </p:sp>
      <p:sp>
        <p:nvSpPr>
          <p:cNvPr id="11" name="Shape 8"/>
          <p:cNvSpPr/>
          <p:nvPr/>
        </p:nvSpPr>
        <p:spPr>
          <a:xfrm>
            <a:off x="603504" y="3832083"/>
            <a:ext cx="137160" cy="137160"/>
          </a:xfrm>
          <a:prstGeom prst="roundRect">
            <a:avLst>
              <a:gd name="adj" fmla="val 166667"/>
            </a:avLst>
          </a:prstGeom>
          <a:solidFill>
            <a:srgbClr val="0969DA"/>
          </a:solidFill>
          <a:ln/>
        </p:spPr>
      </p:sp>
      <p:sp>
        <p:nvSpPr>
          <p:cNvPr id="12" name="Text 9"/>
          <p:cNvSpPr txBox="1"/>
          <p:nvPr/>
        </p:nvSpPr>
        <p:spPr>
          <a:xfrm>
            <a:off x="932688" y="3722482"/>
            <a:ext cx="10710367" cy="758444"/>
          </a:xfrm>
          <a:prstGeom prst="rect">
            <a:avLst/>
          </a:prstGeom>
          <a:noFill/>
          <a:ln/>
        </p:spPr>
        <p:txBody>
          <a:bodyPr wrap="square" lIns="0" tIns="0" rIns="0" bIns="0" rtlCol="0" anchor="t"/>
          <a:lstStyle/>
          <a:p>
            <a:pPr indent="0" marL="0">
              <a:buNone/>
            </a:pPr>
            <a:r>
              <a:rPr lang="id-ID" altLang="en-US" sz="2300" dirty="0">
                <a:solidFill>
                  <a:srgbClr val="1F2328"/>
                </a:solidFill>
              </a:rPr>
              <a:t>Beberapa jenis, satu penanganan: </a:t>
            </a:r>
            <a:r>
              <a:rPr lang="id-ID" altLang="en-US" sz="2300" dirty="0">
                <a:solidFill>
                  <a:srgbClr val="1F2328"/>
                </a:solidFill>
                <a:latin typeface="Consolas" pitchFamily="34" charset="0"/>
                <a:ea typeface="Consolas" pitchFamily="34" charset="-122"/>
                <a:cs typeface="Consolas" pitchFamily="34" charset="-120"/>
              </a:rPr>
              <a:t>except (ValueError, IndexError):</a:t>
            </a:r>
            <a:r>
              <a:rPr lang="id-ID" altLang="en-US" sz="2300" dirty="0">
                <a:solidFill>
                  <a:srgbClr val="1F2328"/>
                </a:solidFill>
              </a:rPr>
              <a:t> / </a:t>
            </a:r>
            <a:r>
              <a:rPr lang="id-ID" altLang="en-US" sz="2300" dirty="0">
                <a:solidFill>
                  <a:srgbClr val="1F2328"/>
                </a:solidFill>
                <a:latin typeface="Consolas" pitchFamily="34" charset="0"/>
                <a:ea typeface="Consolas" pitchFamily="34" charset="-122"/>
                <a:cs typeface="Consolas" pitchFamily="34" charset="-120"/>
              </a:rPr>
              <a:t>catch (A | B e)</a:t>
            </a:r>
            <a:r>
              <a:rPr lang="id-ID" altLang="en-US" sz="2300" dirty="0">
                <a:solidFill>
                  <a:srgbClr val="1F2328"/>
                </a:solidFill>
              </a:rPr>
              <a:t>.</a:t>
            </a:r>
            <a:endParaRPr lang="id-ID" sz="2300" dirty="0"/>
          </a:p>
        </p:txBody>
      </p:sp>
      <p:sp>
        <p:nvSpPr>
          <p:cNvPr id="13" name="Shape 10"/>
          <p:cNvSpPr/>
          <p:nvPr/>
        </p:nvSpPr>
        <p:spPr>
          <a:xfrm>
            <a:off x="548640" y="4846686"/>
            <a:ext cx="11094415" cy="1274572"/>
          </a:xfrm>
          <a:prstGeom prst="roundRect">
            <a:avLst>
              <a:gd name="adj" fmla="val 6176"/>
            </a:avLst>
          </a:prstGeom>
          <a:solidFill>
            <a:srgbClr val="FFF8C5"/>
          </a:solidFill>
          <a:ln w="9525">
            <a:solidFill>
              <a:srgbClr val="D4A72C"/>
            </a:solidFill>
            <a:prstDash val="solid"/>
          </a:ln>
        </p:spPr>
      </p:sp>
      <p:sp>
        <p:nvSpPr>
          <p:cNvPr id="14" name="Shape 11"/>
          <p:cNvSpPr/>
          <p:nvPr/>
        </p:nvSpPr>
        <p:spPr>
          <a:xfrm>
            <a:off x="777240" y="5047854"/>
            <a:ext cx="457200" cy="457200"/>
          </a:xfrm>
          <a:prstGeom prst="ellipse">
            <a:avLst/>
          </a:prstGeom>
          <a:solidFill>
            <a:srgbClr val="9A6700"/>
          </a:solidFill>
          <a:ln/>
        </p:spPr>
      </p:sp>
      <p:pic>
        <p:nvPicPr>
          <p:cNvPr id="15" name="Image 1" descr="preencoded.png">    </p:cNvPr>
          <p:cNvPicPr>
            <a:picLocks noChangeAspect="1"/>
          </p:cNvPicPr>
          <p:nvPr/>
        </p:nvPicPr>
        <p:blipFill>
          <a:blip r:embed="rId2"/>
          <a:stretch>
            <a:fillRect/>
          </a:stretch>
        </p:blipFill>
        <p:spPr>
          <a:xfrm>
            <a:off x="877824" y="5148438"/>
            <a:ext cx="256032" cy="256032"/>
          </a:xfrm>
          <a:prstGeom prst="rect">
            <a:avLst/>
          </a:prstGeom>
        </p:spPr>
      </p:pic>
      <p:sp>
        <p:nvSpPr>
          <p:cNvPr id="16" name="Text 12"/>
          <p:cNvSpPr txBox="1"/>
          <p:nvPr/>
        </p:nvSpPr>
        <p:spPr>
          <a:xfrm>
            <a:off x="1417320" y="4992990"/>
            <a:ext cx="2743200" cy="292608"/>
          </a:xfrm>
          <a:prstGeom prst="rect">
            <a:avLst/>
          </a:prstGeom>
          <a:noFill/>
          <a:ln/>
        </p:spPr>
        <p:txBody>
          <a:bodyPr wrap="square" lIns="0" tIns="0" rIns="0" bIns="0" rtlCol="0" anchor="t"/>
          <a:lstStyle/>
          <a:p>
            <a:pPr indent="0" marL="0">
              <a:buNone/>
            </a:pPr>
            <a:r>
              <a:rPr lang="id-ID" altLang="en-US" sz="1500" b="1" dirty="0">
                <a:solidFill>
                  <a:srgbClr val="9A6700"/>
                </a:solidFill>
              </a:rPr>
              <a:t>Perhatikan</a:t>
            </a:r>
            <a:endParaRPr lang="id-ID" sz="1500" dirty="0"/>
          </a:p>
        </p:txBody>
      </p:sp>
      <p:sp>
        <p:nvSpPr>
          <p:cNvPr id="17" name="Text 13"/>
          <p:cNvSpPr txBox="1"/>
          <p:nvPr/>
        </p:nvSpPr>
        <p:spPr>
          <a:xfrm>
            <a:off x="1417320" y="5303886"/>
            <a:ext cx="9951415" cy="725932"/>
          </a:xfrm>
          <a:prstGeom prst="rect">
            <a:avLst/>
          </a:prstGeom>
          <a:noFill/>
          <a:ln/>
        </p:spPr>
        <p:txBody>
          <a:bodyPr wrap="square" lIns="0" tIns="0" rIns="0" bIns="0" rtlCol="0" anchor="t"/>
          <a:lstStyle/>
          <a:p>
            <a:pPr indent="0" marL="0">
              <a:buNone/>
            </a:pPr>
            <a:r>
              <a:rPr lang="id-ID" altLang="en-US" sz="1900" dirty="0">
                <a:solidFill>
                  <a:srgbClr val="1F2328"/>
                </a:solidFill>
              </a:rPr>
              <a:t>Jika urutannya terbalik, Python menerimanya tanpa protes (</a:t>
            </a:r>
            <a:r>
              <a:rPr lang="id-ID" altLang="en-US" sz="1900" i="1" dirty="0">
                <a:solidFill>
                  <a:srgbClr val="1F2328"/>
                </a:solidFill>
              </a:rPr>
              <a:t>bug</a:t>
            </a:r>
            <a:r>
              <a:rPr lang="id-ID" altLang="en-US" sz="1900" dirty="0">
                <a:solidFill>
                  <a:srgbClr val="1F2328"/>
                </a:solidFill>
              </a:rPr>
              <a:t> diam-⁠diam), sedangkan Java </a:t>
            </a:r>
            <a:r>
              <a:rPr lang="id-ID" altLang="en-US" sz="1900" b="1" dirty="0">
                <a:solidFill>
                  <a:srgbClr val="1F2328"/>
                </a:solidFill>
              </a:rPr>
              <a:t>gagal dikompilasi</a:t>
            </a:r>
            <a:r>
              <a:rPr lang="id-ID" altLang="en-US" sz="1900" dirty="0">
                <a:solidFill>
                  <a:srgbClr val="1F2328"/>
                </a:solidFill>
              </a:rPr>
              <a:t>: </a:t>
            </a:r>
            <a:r>
              <a:rPr lang="id-ID" altLang="en-US" sz="1900" dirty="0">
                <a:solidFill>
                  <a:srgbClr val="1F2328"/>
                </a:solidFill>
                <a:latin typeface="Consolas" pitchFamily="34" charset="0"/>
                <a:ea typeface="Consolas" pitchFamily="34" charset="-122"/>
                <a:cs typeface="Consolas" pitchFamily="34" charset="-120"/>
              </a:rPr>
              <a:t>has already been caught</a:t>
            </a:r>
            <a:r>
              <a:rPr lang="id-ID" altLang="en-US" sz="1900" dirty="0">
                <a:solidFill>
                  <a:srgbClr val="1F2328"/>
                </a:solidFill>
              </a:rPr>
              <a:t>.</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Melempar, Melempar Ulang, dan </a:t>
            </a:r>
            <a:r>
              <a:rPr lang="id-ID" altLang="en-US" sz="3200" b="1" i="1" dirty="0">
                <a:solidFill>
                  <a:srgbClr val="0A3069"/>
                </a:solidFill>
              </a:rPr>
              <a:t>Chaining</a:t>
            </a:r>
            <a:endParaRPr lang="id-ID"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77513"/>
          <a:ext cx="11094415" cy="914400"/>
        </p:xfrm>
        <a:graphic>
          <a:graphicData uri="http://schemas.openxmlformats.org/drawingml/2006/table">
            <a:tbl>
              <a:tblPr/>
              <a:tblGrid>
                <a:gridCol w="2348989"/>
                <a:gridCol w="3926184"/>
                <a:gridCol w="4819242"/>
              </a:tblGrid>
              <a:tr h="446278">
                <a:tc>
                  <a:txBody>
                    <a:bodyPr/>
                    <a:lstStyle/>
                    <a:p>
                      <a:pPr indent="0" marL="0">
                        <a:buNone/>
                      </a:pPr>
                      <a:r>
                        <a:rPr lang="id-ID" altLang="en-US" sz="1700" b="1" dirty="0">
                          <a:solidFill>
                            <a:srgbClr val="FFFFFF"/>
                          </a:solidFill>
                          <a:latin typeface="Calibri" pitchFamily="34" charset="0"/>
                          <a:ea typeface="Calibri" pitchFamily="34" charset="-122"/>
                          <a:cs typeface="Calibri" pitchFamily="34" charset="-120"/>
                        </a:rPr>
                        <a:t>Kebutuhan</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700" b="1" dirty="0">
                          <a:solidFill>
                            <a:srgbClr val="FFFFFF"/>
                          </a:solidFill>
                          <a:latin typeface="Calibri" pitchFamily="34" charset="0"/>
                          <a:ea typeface="Calibri" pitchFamily="34" charset="-122"/>
                          <a:cs typeface="Calibri" pitchFamily="34" charset="-120"/>
                        </a:rPr>
                        <a:t>Python</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700" b="1" dirty="0">
                          <a:solidFill>
                            <a:srgbClr val="FFFFFF"/>
                          </a:solidFill>
                          <a:latin typeface="Calibri" pitchFamily="34" charset="0"/>
                          <a:ea typeface="Calibri" pitchFamily="34" charset="-122"/>
                          <a:cs typeface="Calibri" pitchFamily="34" charset="-120"/>
                        </a:rPr>
                        <a:t>Java</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709676">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Melempar </a:t>
                      </a:r>
                      <a:r>
                        <a:rPr lang="id-ID" altLang="en-US" sz="1700" i="1" dirty="0">
                          <a:solidFill>
                            <a:srgbClr val="1F2328"/>
                          </a:solidFill>
                          <a:latin typeface="Calibri" pitchFamily="34" charset="0"/>
                          <a:ea typeface="Calibri" pitchFamily="34" charset="-122"/>
                          <a:cs typeface="Calibri" pitchFamily="34" charset="-120"/>
                        </a:rPr>
                        <a:t>exception</a:t>
                      </a:r>
                      <a:r>
                        <a:rPr lang="id-ID" altLang="en-US" sz="1700" dirty="0">
                          <a:solidFill>
                            <a:srgbClr val="1F2328"/>
                          </a:solidFill>
                          <a:latin typeface="Calibri" pitchFamily="34" charset="0"/>
                          <a:ea typeface="Calibri" pitchFamily="34" charset="-122"/>
                          <a:cs typeface="Calibri" pitchFamily="34" charset="-120"/>
                        </a:rPr>
                        <a:t> baru</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raise ValueError("pesan")</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throw new IllegalArgumentException("pesan");</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09676">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Melempar ulang yang sedang ditangani</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raise</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throw e;</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973074">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Melempar baru + menyimpan penyebab</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raise TransferGagalError("pesan") from e</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throw new TransferGagalException("pesan", e);</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46278">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Membaca penyebab</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e.__cause__</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e.getCause()</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209383"/>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281803"/>
            <a:ext cx="184343" cy="184343"/>
          </a:xfrm>
          <a:prstGeom prst="rect">
            <a:avLst/>
          </a:prstGeom>
        </p:spPr>
      </p:pic>
      <p:sp>
        <p:nvSpPr>
          <p:cNvPr id="8" name="Text 3"/>
          <p:cNvSpPr txBox="1"/>
          <p:nvPr/>
        </p:nvSpPr>
        <p:spPr>
          <a:xfrm>
            <a:off x="1005840" y="5191095"/>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Validasi lebih awal (</a:t>
            </a:r>
            <a:r>
              <a:rPr lang="id-ID" altLang="en-US" sz="1800" i="1" dirty="0">
                <a:solidFill>
                  <a:srgbClr val="57606A"/>
                </a:solidFill>
              </a:rPr>
              <a:t>fail fast</a:t>
            </a:r>
            <a:r>
              <a:rPr lang="id-ID" altLang="en-US" sz="1800" dirty="0">
                <a:solidFill>
                  <a:srgbClr val="57606A"/>
                </a:solidFill>
              </a:rPr>
              <a:t>): tolak data yang salah secepat mungkin, sebelum objek berubah, agar data lama tetap utuh.</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Exception</a:t>
            </a:r>
            <a:r>
              <a:rPr lang="id-ID" altLang="en-US" sz="3200" b="1" dirty="0">
                <a:solidFill>
                  <a:srgbClr val="0A3069"/>
                </a:solidFill>
              </a:rPr>
              <a:t> Buatan Sendiri dan </a:t>
            </a:r>
            <a:r>
              <a:rPr lang="id-ID" altLang="en-US" sz="3200" b="1" i="1" dirty="0">
                <a:solidFill>
                  <a:srgbClr val="0A3069"/>
                </a:solidFill>
              </a:rPr>
              <a:t>Chaining</a:t>
            </a:r>
            <a:endParaRPr lang="id-ID" sz="3200" dirty="0"/>
          </a:p>
        </p:txBody>
      </p:sp>
      <p:sp>
        <p:nvSpPr>
          <p:cNvPr id="5" name="Text 2"/>
          <p:cNvSpPr txBox="1"/>
          <p:nvPr/>
        </p:nvSpPr>
        <p:spPr>
          <a:xfrm>
            <a:off x="548640" y="1824297"/>
            <a:ext cx="11094415" cy="603504"/>
          </a:xfrm>
          <a:prstGeom prst="rect">
            <a:avLst/>
          </a:prstGeom>
          <a:noFill/>
          <a:ln/>
        </p:spPr>
        <p:txBody>
          <a:bodyPr wrap="square" lIns="0" tIns="0" rIns="0" bIns="0" rtlCol="0" anchor="t"/>
          <a:lstStyle/>
          <a:p>
            <a:pPr indent="0" marL="0">
              <a:buNone/>
            </a:pPr>
            <a:r>
              <a:rPr lang="id-ID" altLang="en-US" sz="1800" dirty="0">
                <a:solidFill>
                  <a:srgbClr val="0A3069"/>
                </a:solidFill>
                <a:latin typeface="Consolas" pitchFamily="34" charset="0"/>
                <a:ea typeface="Consolas" pitchFamily="34" charset="-122"/>
                <a:cs typeface="Consolas" pitchFamily="34" charset="-120"/>
              </a:rPr>
              <a:t>RekeningError</a:t>
            </a:r>
            <a:r>
              <a:rPr lang="id-ID" altLang="en-US" sz="1800" dirty="0">
                <a:solidFill>
                  <a:srgbClr val="57606A"/>
                </a:solidFill>
              </a:rPr>
              <a:t> menjadi induk. Saldo kurang dibungkus menjadi transfer gagal, dan penyebab aslinya tetap tersimpan.</a:t>
            </a:r>
            <a:endParaRPr lang="id-ID" sz="1800" dirty="0"/>
          </a:p>
        </p:txBody>
      </p:sp>
      <p:sp>
        <p:nvSpPr>
          <p:cNvPr id="6" name="Shape 3"/>
          <p:cNvSpPr/>
          <p:nvPr/>
        </p:nvSpPr>
        <p:spPr>
          <a:xfrm>
            <a:off x="548640" y="2537529"/>
            <a:ext cx="1051560" cy="329184"/>
          </a:xfrm>
          <a:prstGeom prst="roundRect">
            <a:avLst>
              <a:gd name="adj" fmla="val 138889"/>
            </a:avLst>
          </a:prstGeom>
          <a:solidFill>
            <a:srgbClr val="3572A5"/>
          </a:solidFill>
          <a:ln/>
        </p:spPr>
      </p:sp>
      <p:sp>
        <p:nvSpPr>
          <p:cNvPr id="7" name="Text 4"/>
          <p:cNvSpPr txBox="1"/>
          <p:nvPr/>
        </p:nvSpPr>
        <p:spPr>
          <a:xfrm>
            <a:off x="548640" y="2537529"/>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537529"/>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python/contoh/contoh07_exception_buatan_sendiri.py</a:t>
            </a:r>
            <a:endParaRPr lang="id-ID" sz="1100" dirty="0"/>
          </a:p>
        </p:txBody>
      </p:sp>
      <p:sp>
        <p:nvSpPr>
          <p:cNvPr id="9" name="Shape 6"/>
          <p:cNvSpPr/>
          <p:nvPr/>
        </p:nvSpPr>
        <p:spPr>
          <a:xfrm>
            <a:off x="548640" y="2958153"/>
            <a:ext cx="5432908" cy="2616327"/>
          </a:xfrm>
          <a:prstGeom prst="roundRect">
            <a:avLst>
              <a:gd name="adj" fmla="val 1221"/>
            </a:avLst>
          </a:prstGeom>
          <a:solidFill>
            <a:srgbClr val="F6F8FA"/>
          </a:solidFill>
          <a:ln w="9525">
            <a:solidFill>
              <a:srgbClr val="D0D7DE"/>
            </a:solidFill>
            <a:prstDash val="solid"/>
          </a:ln>
        </p:spPr>
      </p:sp>
      <p:sp>
        <p:nvSpPr>
          <p:cNvPr id="10" name="Text 7"/>
          <p:cNvSpPr txBox="1"/>
          <p:nvPr/>
        </p:nvSpPr>
        <p:spPr>
          <a:xfrm>
            <a:off x="658368" y="3049593"/>
            <a:ext cx="5213452" cy="2433447"/>
          </a:xfrm>
          <a:prstGeom prst="rect">
            <a:avLst/>
          </a:prstGeom>
          <a:noFill/>
          <a:ln/>
        </p:spPr>
        <p:txBody>
          <a:bodyPr wrap="square" lIns="0" tIns="0" rIns="0" bIns="0" rtlCol="0" anchor="t"/>
          <a:lstStyle/>
          <a:p>
            <a:pPr indent="0" marL="0">
              <a:buNone/>
            </a:pPr>
            <a:r>
              <a:rPr lang="en-US" altLang="en-US" sz="1050" dirty="0">
                <a:solidFill>
                  <a:srgbClr val="CF222E"/>
                </a:solidFill>
                <a:latin typeface="Consolas" pitchFamily="34" charset="0"/>
                <a:ea typeface="Consolas" pitchFamily="34" charset="-122"/>
                <a:cs typeface="Consolas" pitchFamily="34" charset="-120"/>
              </a:rPr>
              <a:t>class</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953800"/>
                </a:solidFill>
                <a:latin typeface="Consolas" pitchFamily="34" charset="0"/>
                <a:ea typeface="Consolas" pitchFamily="34" charset="-122"/>
                <a:cs typeface="Consolas" pitchFamily="34" charset="-120"/>
              </a:rPr>
              <a:t>RekeningError</a:t>
            </a:r>
            <a:r>
              <a:rPr lang="en-US" altLang="en-US" sz="1050" dirty="0">
                <a:solidFill>
                  <a:srgbClr val="1F2328"/>
                </a:solidFill>
                <a:latin typeface="Consolas" pitchFamily="34" charset="0"/>
                <a:ea typeface="Consolas" pitchFamily="34" charset="-122"/>
                <a:cs typeface="Consolas" pitchFamily="34" charset="-120"/>
              </a:rPr>
              <a:t>(Exception):</a:t>
            </a:r>
            <a:endParaRPr lang="en-US" sz="1050" dirty="0"/>
          </a:p>
          <a:p>
            <a:pPr indent="0" marL="0">
              <a:buNone/>
            </a:pPr>
            <a:r>
              <a:rPr lang="en-US" altLang="en-US" sz="1050" i="1" dirty="0">
                <a:solidFill>
                  <a:srgbClr val="6E7781"/>
                </a:solidFill>
                <a:latin typeface="Consolas" pitchFamily="34" charset="0"/>
                <a:ea typeface="Consolas" pitchFamily="34" charset="-122"/>
                <a:cs typeface="Consolas" pitchFamily="34" charset="-120"/>
              </a:rPr>
              <a:t>    # ... (dilewati)</a:t>
            </a:r>
            <a:endParaRPr lang="en-US" sz="1050" dirty="0"/>
          </a:p>
          <a:p>
            <a:pPr indent="0" marL="0">
              <a:buNone/>
            </a:pPr>
            <a:r>
              <a:rPr lang="en-US" altLang="en-US" sz="1050" dirty="0">
                <a:solidFill>
                  <a:srgbClr val="CF222E"/>
                </a:solidFill>
                <a:latin typeface="Consolas" pitchFamily="34" charset="0"/>
                <a:ea typeface="Consolas" pitchFamily="34" charset="-122"/>
                <a:cs typeface="Consolas" pitchFamily="34" charset="-120"/>
              </a:rPr>
              <a:t>class</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953800"/>
                </a:solidFill>
                <a:latin typeface="Consolas" pitchFamily="34" charset="0"/>
                <a:ea typeface="Consolas" pitchFamily="34" charset="-122"/>
                <a:cs typeface="Consolas" pitchFamily="34" charset="-120"/>
              </a:rPr>
              <a:t>SaldoTidakCukupError</a:t>
            </a:r>
            <a:r>
              <a:rPr lang="en-US" altLang="en-US" sz="1050" dirty="0">
                <a:solidFill>
                  <a:srgbClr val="1F2328"/>
                </a:solidFill>
                <a:latin typeface="Consolas" pitchFamily="34" charset="0"/>
                <a:ea typeface="Consolas" pitchFamily="34" charset="-122"/>
                <a:cs typeface="Consolas" pitchFamily="34" charset="-120"/>
              </a:rPr>
              <a:t>(RekeningError):</a:t>
            </a:r>
            <a:endParaRPr lang="en-US" sz="1050" dirty="0"/>
          </a:p>
          <a:p>
            <a:pPr indent="0" marL="0">
              <a:buNone/>
            </a:pPr>
            <a:r>
              <a:rPr lang="en-US" altLang="en-US" sz="1050" i="1" dirty="0">
                <a:solidFill>
                  <a:srgbClr val="6E7781"/>
                </a:solidFill>
                <a:latin typeface="Consolas" pitchFamily="34" charset="0"/>
                <a:ea typeface="Consolas" pitchFamily="34" charset="-122"/>
                <a:cs typeface="Consolas" pitchFamily="34" charset="-120"/>
              </a:rPr>
              <a:t>    # ... (dilewati)</a:t>
            </a:r>
            <a:endParaRPr lang="en-US" sz="1050" dirty="0"/>
          </a:p>
          <a:p>
            <a:pPr indent="0" marL="0">
              <a:buNone/>
            </a:pPr>
            <a:r>
              <a:rPr lang="en-US" altLang="en-US" sz="1050" dirty="0">
                <a:solidFill>
                  <a:srgbClr val="CF222E"/>
                </a:solidFill>
                <a:latin typeface="Consolas" pitchFamily="34" charset="0"/>
                <a:ea typeface="Consolas" pitchFamily="34" charset="-122"/>
                <a:cs typeface="Consolas" pitchFamily="34" charset="-120"/>
              </a:rPr>
              <a:t>class</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953800"/>
                </a:solidFill>
                <a:latin typeface="Consolas" pitchFamily="34" charset="0"/>
                <a:ea typeface="Consolas" pitchFamily="34" charset="-122"/>
                <a:cs typeface="Consolas" pitchFamily="34" charset="-120"/>
              </a:rPr>
              <a:t>TransferGagalError</a:t>
            </a:r>
            <a:r>
              <a:rPr lang="en-US" altLang="en-US" sz="1050" dirty="0">
                <a:solidFill>
                  <a:srgbClr val="1F2328"/>
                </a:solidFill>
                <a:latin typeface="Consolas" pitchFamily="34" charset="0"/>
                <a:ea typeface="Consolas" pitchFamily="34" charset="-122"/>
                <a:cs typeface="Consolas" pitchFamily="34" charset="-120"/>
              </a:rPr>
              <a:t>(RekeningError):</a:t>
            </a:r>
            <a:endParaRPr lang="en-US" sz="1050" dirty="0"/>
          </a:p>
          <a:p>
            <a:pPr indent="0" marL="0">
              <a:buNone/>
            </a:pPr>
            <a:r>
              <a:rPr lang="en-US" altLang="en-US" sz="1050" i="1" dirty="0">
                <a:solidFill>
                  <a:srgbClr val="6E7781"/>
                </a:solidFill>
                <a:latin typeface="Consolas" pitchFamily="34" charset="0"/>
                <a:ea typeface="Consolas" pitchFamily="34" charset="-122"/>
                <a:cs typeface="Consolas" pitchFamily="34" charset="-120"/>
              </a:rPr>
              <a:t>    # ... (dilewati)</a:t>
            </a:r>
            <a:endParaRPr lang="en-US" sz="1050" dirty="0"/>
          </a:p>
          <a:p>
            <a:pPr indent="0" marL="0">
              <a:buNone/>
            </a:pPr>
            <a:r>
              <a:rPr lang="en-US" altLang="en-US" sz="1050" dirty="0">
                <a:solidFill>
                  <a:srgbClr val="CF222E"/>
                </a:solidFill>
                <a:latin typeface="Consolas" pitchFamily="34" charset="0"/>
                <a:ea typeface="Consolas" pitchFamily="34" charset="-122"/>
                <a:cs typeface="Consolas" pitchFamily="34" charset="-120"/>
              </a:rPr>
              <a:t>def</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8250DF"/>
                </a:solidFill>
                <a:latin typeface="Consolas" pitchFamily="34" charset="0"/>
                <a:ea typeface="Consolas" pitchFamily="34" charset="-122"/>
                <a:cs typeface="Consolas" pitchFamily="34" charset="-120"/>
              </a:rPr>
              <a:t>transfer</a:t>
            </a:r>
            <a:r>
              <a:rPr lang="en-US" altLang="en-US" sz="1050" dirty="0">
                <a:solidFill>
                  <a:srgbClr val="1F2328"/>
                </a:solidFill>
                <a:latin typeface="Consolas" pitchFamily="34" charset="0"/>
                <a:ea typeface="Consolas" pitchFamily="34" charset="-122"/>
                <a:cs typeface="Consolas" pitchFamily="34" charset="-120"/>
              </a:rPr>
              <a:t>(asal: Rekening, tujuan: Rekening, jumlah: </a:t>
            </a:r>
            <a:r>
              <a:rPr lang="en-US" altLang="en-US" sz="1050" dirty="0">
                <a:solidFill>
                  <a:srgbClr val="0550AE"/>
                </a:solidFill>
                <a:latin typeface="Consolas" pitchFamily="34" charset="0"/>
                <a:ea typeface="Consolas" pitchFamily="34" charset="-122"/>
                <a:cs typeface="Consolas" pitchFamily="34" charset="-120"/>
              </a:rPr>
              <a:t>int</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try</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asal.tarik(jumlah)</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except</a:t>
            </a:r>
            <a:r>
              <a:rPr lang="en-US" altLang="en-US" sz="1050" dirty="0">
                <a:solidFill>
                  <a:srgbClr val="1F2328"/>
                </a:solidFill>
                <a:latin typeface="Consolas" pitchFamily="34" charset="0"/>
                <a:ea typeface="Consolas" pitchFamily="34" charset="-122"/>
                <a:cs typeface="Consolas" pitchFamily="34" charset="-120"/>
              </a:rPr>
              <a:t> SaldoTidakCukupError </a:t>
            </a:r>
            <a:r>
              <a:rPr lang="en-US" altLang="en-US" sz="1050" dirty="0">
                <a:solidFill>
                  <a:srgbClr val="CF222E"/>
                </a:solidFill>
                <a:latin typeface="Consolas" pitchFamily="34" charset="0"/>
                <a:ea typeface="Consolas" pitchFamily="34" charset="-122"/>
                <a:cs typeface="Consolas" pitchFamily="34" charset="-120"/>
              </a:rPr>
              <a:t>as</a:t>
            </a:r>
            <a:r>
              <a:rPr lang="en-US" altLang="en-US" sz="1050" dirty="0">
                <a:solidFill>
                  <a:srgbClr val="1F2328"/>
                </a:solidFill>
                <a:latin typeface="Consolas" pitchFamily="34" charset="0"/>
                <a:ea typeface="Consolas" pitchFamily="34" charset="-122"/>
                <a:cs typeface="Consolas" pitchFamily="34" charset="-120"/>
              </a:rPr>
              <a:t> e:</a:t>
            </a:r>
            <a:endParaRPr lang="en-US" sz="1050" dirty="0"/>
          </a:p>
          <a:p>
            <a:pPr indent="0" marL="0">
              <a:buNone/>
            </a:pPr>
            <a:r>
              <a:rPr lang="en-US" altLang="en-US" sz="1050" i="1" dirty="0">
                <a:solidFill>
                  <a:srgbClr val="6E7781"/>
                </a:solidFill>
                <a:latin typeface="Consolas" pitchFamily="34" charset="0"/>
                <a:ea typeface="Consolas" pitchFamily="34" charset="-122"/>
                <a:cs typeface="Consolas" pitchFamily="34" charset="-120"/>
              </a:rPr>
              <a:t>        # ... (dilewati)</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raise</a:t>
            </a:r>
            <a:r>
              <a:rPr lang="en-US" altLang="en-US" sz="1050" dirty="0">
                <a:solidFill>
                  <a:srgbClr val="1F2328"/>
                </a:solidFill>
                <a:latin typeface="Consolas" pitchFamily="34" charset="0"/>
                <a:ea typeface="Consolas" pitchFamily="34" charset="-122"/>
                <a:cs typeface="Consolas" pitchFamily="34" charset="-120"/>
              </a:rPr>
              <a:t> TransferGagalError(pesan) </a:t>
            </a:r>
            <a:r>
              <a:rPr lang="en-US" altLang="en-US" sz="1050" dirty="0">
                <a:solidFill>
                  <a:srgbClr val="CF222E"/>
                </a:solidFill>
                <a:latin typeface="Consolas" pitchFamily="34" charset="0"/>
                <a:ea typeface="Consolas" pitchFamily="34" charset="-122"/>
                <a:cs typeface="Consolas" pitchFamily="34" charset="-120"/>
              </a:rPr>
              <a:t>from</a:t>
            </a:r>
            <a:r>
              <a:rPr lang="en-US" altLang="en-US" sz="1050" dirty="0">
                <a:solidFill>
                  <a:srgbClr val="1F2328"/>
                </a:solidFill>
                <a:latin typeface="Consolas" pitchFamily="34" charset="0"/>
                <a:ea typeface="Consolas" pitchFamily="34" charset="-122"/>
                <a:cs typeface="Consolas" pitchFamily="34" charset="-120"/>
              </a:rPr>
              <a:t> e</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tujuan.setor(jumlah)</a:t>
            </a:r>
            <a:endParaRPr lang="en-US" sz="1050" dirty="0"/>
          </a:p>
        </p:txBody>
      </p:sp>
      <p:sp>
        <p:nvSpPr>
          <p:cNvPr id="11" name="Shape 8"/>
          <p:cNvSpPr/>
          <p:nvPr/>
        </p:nvSpPr>
        <p:spPr>
          <a:xfrm>
            <a:off x="6210148" y="2537529"/>
            <a:ext cx="1051560" cy="329184"/>
          </a:xfrm>
          <a:prstGeom prst="roundRect">
            <a:avLst>
              <a:gd name="adj" fmla="val 138889"/>
            </a:avLst>
          </a:prstGeom>
          <a:solidFill>
            <a:srgbClr val="B07219"/>
          </a:solidFill>
          <a:ln/>
        </p:spPr>
      </p:sp>
      <p:sp>
        <p:nvSpPr>
          <p:cNvPr id="12" name="Text 9"/>
          <p:cNvSpPr txBox="1"/>
          <p:nvPr/>
        </p:nvSpPr>
        <p:spPr>
          <a:xfrm>
            <a:off x="6210148" y="2537529"/>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537529"/>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java/contoh/Contoh07ExceptionBuatanSendiri.java</a:t>
            </a:r>
            <a:endParaRPr lang="id-ID" sz="1100" dirty="0"/>
          </a:p>
        </p:txBody>
      </p:sp>
      <p:sp>
        <p:nvSpPr>
          <p:cNvPr id="14" name="Shape 11"/>
          <p:cNvSpPr/>
          <p:nvPr/>
        </p:nvSpPr>
        <p:spPr>
          <a:xfrm>
            <a:off x="6210148" y="2958153"/>
            <a:ext cx="5432908" cy="2616327"/>
          </a:xfrm>
          <a:prstGeom prst="roundRect">
            <a:avLst>
              <a:gd name="adj" fmla="val 1221"/>
            </a:avLst>
          </a:prstGeom>
          <a:solidFill>
            <a:srgbClr val="F6F8FA"/>
          </a:solidFill>
          <a:ln w="9525">
            <a:solidFill>
              <a:srgbClr val="D0D7DE"/>
            </a:solidFill>
            <a:prstDash val="solid"/>
          </a:ln>
        </p:spPr>
      </p:sp>
      <p:sp>
        <p:nvSpPr>
          <p:cNvPr id="15" name="Text 12"/>
          <p:cNvSpPr txBox="1"/>
          <p:nvPr/>
        </p:nvSpPr>
        <p:spPr>
          <a:xfrm>
            <a:off x="6319876" y="3049593"/>
            <a:ext cx="5213452" cy="2433447"/>
          </a:xfrm>
          <a:prstGeom prst="rect">
            <a:avLst/>
          </a:prstGeom>
          <a:noFill/>
          <a:ln/>
        </p:spPr>
        <p:txBody>
          <a:bodyPr wrap="square" lIns="0" tIns="0" rIns="0" bIns="0" rtlCol="0" anchor="t"/>
          <a:lstStyle/>
          <a:p>
            <a:pPr indent="0" marL="0">
              <a:buNone/>
            </a:pPr>
            <a:r>
              <a:rPr lang="en-US" altLang="en-US" sz="1050" dirty="0">
                <a:solidFill>
                  <a:srgbClr val="CF222E"/>
                </a:solidFill>
                <a:latin typeface="Consolas" pitchFamily="34" charset="0"/>
                <a:ea typeface="Consolas" pitchFamily="34" charset="-122"/>
                <a:cs typeface="Consolas" pitchFamily="34" charset="-120"/>
              </a:rPr>
              <a:t>class</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953800"/>
                </a:solidFill>
                <a:latin typeface="Consolas" pitchFamily="34" charset="0"/>
                <a:ea typeface="Consolas" pitchFamily="34" charset="-122"/>
                <a:cs typeface="Consolas" pitchFamily="34" charset="-120"/>
              </a:rPr>
              <a:t>TransferGagalException</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extends</a:t>
            </a:r>
            <a:r>
              <a:rPr lang="en-US" altLang="en-US" sz="1050" dirty="0">
                <a:solidFill>
                  <a:srgbClr val="1F2328"/>
                </a:solidFill>
                <a:latin typeface="Consolas" pitchFamily="34" charset="0"/>
                <a:ea typeface="Consolas" pitchFamily="34" charset="-122"/>
                <a:cs typeface="Consolas" pitchFamily="34" charset="-120"/>
              </a:rPr>
              <a:t> RekeningException {</a:t>
            </a:r>
            <a:endParaRPr lang="en-US" sz="1050" dirty="0"/>
          </a:p>
          <a:p>
            <a:pPr indent="0" marL="0">
              <a:buNone/>
            </a:pPr>
            <a:r>
              <a:rPr lang="en-US" altLang="en-US" sz="1050" i="1" dirty="0">
                <a:solidFill>
                  <a:srgbClr val="6E7781"/>
                </a:solidFill>
                <a:latin typeface="Consolas" pitchFamily="34" charset="0"/>
                <a:ea typeface="Consolas" pitchFamily="34" charset="-122"/>
                <a:cs typeface="Consolas" pitchFamily="34" charset="-120"/>
              </a:rPr>
              <a:t>    // ... (dilewati)</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i="1" dirty="0">
                <a:solidFill>
                  <a:srgbClr val="6E7781"/>
                </a:solidFill>
                <a:latin typeface="Consolas" pitchFamily="34" charset="0"/>
                <a:ea typeface="Consolas" pitchFamily="34" charset="-122"/>
                <a:cs typeface="Consolas" pitchFamily="34" charset="-120"/>
              </a:rPr>
              <a:t>// ... (dilewati)</a:t>
            </a:r>
            <a:endParaRPr lang="en-US" sz="1050" dirty="0"/>
          </a:p>
          <a:p>
            <a:pPr indent="0" marL="0">
              <a:buNone/>
            </a:pPr>
            <a:r>
              <a:rPr lang="en-US" altLang="en-US" sz="1050" dirty="0">
                <a:solidFill>
                  <a:srgbClr val="CF222E"/>
                </a:solidFill>
                <a:latin typeface="Consolas" pitchFamily="34" charset="0"/>
                <a:ea typeface="Consolas" pitchFamily="34" charset="-122"/>
                <a:cs typeface="Consolas" pitchFamily="34" charset="-120"/>
              </a:rPr>
              <a:t>static</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void</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8250DF"/>
                </a:solidFill>
                <a:latin typeface="Consolas" pitchFamily="34" charset="0"/>
                <a:ea typeface="Consolas" pitchFamily="34" charset="-122"/>
                <a:cs typeface="Consolas" pitchFamily="34" charset="-120"/>
              </a:rPr>
              <a:t>transfer</a:t>
            </a:r>
            <a:r>
              <a:rPr lang="en-US" altLang="en-US" sz="1050" dirty="0">
                <a:solidFill>
                  <a:srgbClr val="1F2328"/>
                </a:solidFill>
                <a:latin typeface="Consolas" pitchFamily="34" charset="0"/>
                <a:ea typeface="Consolas" pitchFamily="34" charset="-122"/>
                <a:cs typeface="Consolas" pitchFamily="34" charset="-120"/>
              </a:rPr>
              <a:t>(Rekening asal, Rekening tujuan, </a:t>
            </a:r>
            <a:r>
              <a:rPr lang="en-US" altLang="en-US" sz="1050" dirty="0">
                <a:solidFill>
                  <a:srgbClr val="CF222E"/>
                </a:solidFill>
                <a:latin typeface="Consolas" pitchFamily="34" charset="0"/>
                <a:ea typeface="Consolas" pitchFamily="34" charset="-122"/>
                <a:cs typeface="Consolas" pitchFamily="34" charset="-120"/>
              </a:rPr>
              <a:t>int</a:t>
            </a:r>
            <a:r>
              <a:rPr lang="en-US" altLang="en-US" sz="1050" dirty="0">
                <a:solidFill>
                  <a:srgbClr val="1F2328"/>
                </a:solidFill>
                <a:latin typeface="Consolas" pitchFamily="34" charset="0"/>
                <a:ea typeface="Consolas" pitchFamily="34" charset="-122"/>
                <a:cs typeface="Consolas" pitchFamily="34" charset="-120"/>
              </a:rPr>
              <a:t> jumlah)</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throws</a:t>
            </a:r>
            <a:r>
              <a:rPr lang="en-US" altLang="en-US" sz="1050" dirty="0">
                <a:solidFill>
                  <a:srgbClr val="1F2328"/>
                </a:solidFill>
                <a:latin typeface="Consolas" pitchFamily="34" charset="0"/>
                <a:ea typeface="Consolas" pitchFamily="34" charset="-122"/>
                <a:cs typeface="Consolas" pitchFamily="34" charset="-120"/>
              </a:rPr>
              <a:t> TransferGagalException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try</a:t>
            </a:r>
            <a:r>
              <a:rPr lang="en-US" altLang="en-US" sz="1050" dirty="0">
                <a:solidFill>
                  <a:srgbClr val="1F2328"/>
                </a:solidFill>
                <a:latin typeface="Consolas" pitchFamily="34" charset="0"/>
                <a:ea typeface="Consolas" pitchFamily="34" charset="-122"/>
                <a:cs typeface="Consolas" pitchFamily="34" charset="-120"/>
              </a:rPr>
              <a:t>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asal.tarik(jumlah);</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 </a:t>
            </a:r>
            <a:r>
              <a:rPr lang="en-US" altLang="en-US" sz="1050" dirty="0">
                <a:solidFill>
                  <a:srgbClr val="CF222E"/>
                </a:solidFill>
                <a:latin typeface="Consolas" pitchFamily="34" charset="0"/>
                <a:ea typeface="Consolas" pitchFamily="34" charset="-122"/>
                <a:cs typeface="Consolas" pitchFamily="34" charset="-120"/>
              </a:rPr>
              <a:t>catch</a:t>
            </a:r>
            <a:r>
              <a:rPr lang="en-US" altLang="en-US" sz="1050" dirty="0">
                <a:solidFill>
                  <a:srgbClr val="1F2328"/>
                </a:solidFill>
                <a:latin typeface="Consolas" pitchFamily="34" charset="0"/>
                <a:ea typeface="Consolas" pitchFamily="34" charset="-122"/>
                <a:cs typeface="Consolas" pitchFamily="34" charset="-120"/>
              </a:rPr>
              <a:t> (SaldoTidakCukupException e) {</a:t>
            </a:r>
            <a:endParaRPr lang="en-US" sz="1050" dirty="0"/>
          </a:p>
          <a:p>
            <a:pPr indent="0" marL="0">
              <a:buNone/>
            </a:pPr>
            <a:r>
              <a:rPr lang="en-US" altLang="en-US" sz="1050" i="1" dirty="0">
                <a:solidFill>
                  <a:srgbClr val="6E7781"/>
                </a:solidFill>
                <a:latin typeface="Consolas" pitchFamily="34" charset="0"/>
                <a:ea typeface="Consolas" pitchFamily="34" charset="-122"/>
                <a:cs typeface="Consolas" pitchFamily="34" charset="-120"/>
              </a:rPr>
              <a:t>        // ... (dilewati)</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throw</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new</a:t>
            </a:r>
            <a:r>
              <a:rPr lang="en-US" altLang="en-US" sz="1050" dirty="0">
                <a:solidFill>
                  <a:srgbClr val="1F2328"/>
                </a:solidFill>
                <a:latin typeface="Consolas" pitchFamily="34" charset="0"/>
                <a:ea typeface="Consolas" pitchFamily="34" charset="-122"/>
                <a:cs typeface="Consolas" pitchFamily="34" charset="-120"/>
              </a:rPr>
              <a:t> TransferGagalException(pesan, e);</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tujuan.setor(jumlah);</a:t>
            </a:r>
            <a:endParaRPr lang="en-US" sz="1050" dirty="0"/>
          </a:p>
          <a:p>
            <a:pPr indent="0" marL="0">
              <a:buNone/>
            </a:pPr>
            <a:r>
              <a:rPr lang="en-US" altLang="en-US" sz="1050" i="1" dirty="0">
                <a:solidFill>
                  <a:srgbClr val="6E7781"/>
                </a:solidFill>
                <a:latin typeface="Consolas" pitchFamily="34" charset="0"/>
                <a:ea typeface="Consolas" pitchFamily="34" charset="-122"/>
                <a:cs typeface="Consolas" pitchFamily="34" charset="-120"/>
              </a:rPr>
              <a:t>    // ... (dilewati)</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a:t>
            </a:r>
            <a:endParaRPr lang="en-US" sz="10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4</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4</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i="1" dirty="0">
                <a:solidFill>
                  <a:srgbClr val="FFFFFF"/>
                </a:solidFill>
              </a:rPr>
              <a:t>Checked</a:t>
            </a:r>
            <a:r>
              <a:rPr lang="id-ID" altLang="en-US" sz="4200" b="1" dirty="0">
                <a:solidFill>
                  <a:srgbClr val="FFFFFF"/>
                </a:solidFill>
              </a:rPr>
              <a:t> dan </a:t>
            </a:r>
            <a:r>
              <a:rPr lang="id-ID" altLang="en-US" sz="4200" b="1" i="1" dirty="0">
                <a:solidFill>
                  <a:srgbClr val="FFFFFF"/>
                </a:solidFill>
              </a:rPr>
              <a:t>Unchecked</a:t>
            </a:r>
            <a:r>
              <a:rPr lang="id-ID" altLang="en-US" sz="4200" b="1" dirty="0">
                <a:solidFill>
                  <a:srgbClr val="FFFFFF"/>
                </a:solidFill>
              </a:rPr>
              <a:t> (Khusus Java)</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Java membagi </a:t>
            </a:r>
            <a:r>
              <a:rPr lang="id-ID" altLang="en-US" sz="2200" i="1" dirty="0">
                <a:solidFill>
                  <a:srgbClr val="C9D7E8"/>
                </a:solidFill>
              </a:rPr>
              <a:t>exception</a:t>
            </a:r>
            <a:r>
              <a:rPr lang="id-ID" altLang="en-US" sz="2200" dirty="0">
                <a:solidFill>
                  <a:srgbClr val="C9D7E8"/>
                </a:solidFill>
              </a:rPr>
              <a:t> menjadi dua kelompok. Python tidak punya pembagian ini.</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Checked</a:t>
            </a:r>
            <a:r>
              <a:rPr lang="id-ID" altLang="en-US" sz="3200" b="1" dirty="0">
                <a:solidFill>
                  <a:srgbClr val="0A3069"/>
                </a:solidFill>
              </a:rPr>
              <a:t> dan </a:t>
            </a:r>
            <a:r>
              <a:rPr lang="id-ID" altLang="en-US" sz="3200" b="1" i="1" dirty="0">
                <a:solidFill>
                  <a:srgbClr val="0A3069"/>
                </a:solidFill>
              </a:rPr>
              <a:t>Unchecked Exception</a:t>
            </a:r>
            <a:endParaRPr lang="id-ID"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43243"/>
          <a:ext cx="11094415" cy="914400"/>
        </p:xfrm>
        <a:graphic>
          <a:graphicData uri="http://schemas.openxmlformats.org/drawingml/2006/table">
            <a:tbl>
              <a:tblPr/>
              <a:tblGrid>
                <a:gridCol w="1716863"/>
                <a:gridCol w="4579718"/>
                <a:gridCol w="4797834"/>
              </a:tblGrid>
              <a:tr h="508254">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Aspek</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100" b="1" i="1" dirty="0">
                          <a:solidFill>
                            <a:srgbClr val="FFFFFF"/>
                          </a:solidFill>
                          <a:latin typeface="Calibri" pitchFamily="34" charset="0"/>
                          <a:ea typeface="Calibri" pitchFamily="34" charset="-122"/>
                          <a:cs typeface="Calibri" pitchFamily="34" charset="-120"/>
                        </a:rPr>
                        <a:t>Checked</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100" b="1" i="1" dirty="0">
                          <a:solidFill>
                            <a:srgbClr val="FFFFFF"/>
                          </a:solidFill>
                          <a:latin typeface="Calibri" pitchFamily="34" charset="0"/>
                          <a:ea typeface="Calibri" pitchFamily="34" charset="-122"/>
                          <a:cs typeface="Calibri" pitchFamily="34" charset="-120"/>
                        </a:rPr>
                        <a:t>Unchecked</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Kelas</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turunan </a:t>
                      </a:r>
                      <a:r>
                        <a:rPr lang="id-ID" altLang="en-US" sz="2100" dirty="0">
                          <a:solidFill>
                            <a:srgbClr val="0A3069"/>
                          </a:solidFill>
                          <a:latin typeface="Consolas" pitchFamily="34" charset="0"/>
                          <a:ea typeface="Consolas" pitchFamily="34" charset="-122"/>
                          <a:cs typeface="Consolas" pitchFamily="34" charset="-120"/>
                        </a:rPr>
                        <a:t>Exception</a:t>
                      </a:r>
                      <a:r>
                        <a:rPr lang="id-ID" altLang="en-US" sz="2100" dirty="0">
                          <a:solidFill>
                            <a:srgbClr val="1F2328"/>
                          </a:solidFill>
                          <a:latin typeface="Calibri" pitchFamily="34" charset="0"/>
                          <a:ea typeface="Calibri" pitchFamily="34" charset="-122"/>
                          <a:cs typeface="Calibri" pitchFamily="34" charset="-120"/>
                        </a:rPr>
                        <a:t>, </a:t>
                      </a:r>
                      <a:r>
                        <a:rPr lang="id-ID" altLang="en-US" sz="2100" b="1" dirty="0">
                          <a:solidFill>
                            <a:srgbClr val="1F2328"/>
                          </a:solidFill>
                          <a:latin typeface="Calibri" pitchFamily="34" charset="0"/>
                          <a:ea typeface="Calibri" pitchFamily="34" charset="-122"/>
                          <a:cs typeface="Calibri" pitchFamily="34" charset="-120"/>
                        </a:rPr>
                        <a:t>bukan</a:t>
                      </a:r>
                      <a:r>
                        <a:rPr lang="id-ID" altLang="en-US" sz="2100" dirty="0">
                          <a:solidFill>
                            <a:srgbClr val="1F2328"/>
                          </a:solidFill>
                          <a:latin typeface="Calibri" pitchFamily="34" charset="0"/>
                          <a:ea typeface="Calibri" pitchFamily="34" charset="-122"/>
                          <a:cs typeface="Calibri" pitchFamily="34" charset="-120"/>
                        </a:rPr>
                        <a:t> turunan </a:t>
                      </a:r>
                      <a:r>
                        <a:rPr lang="id-ID" altLang="en-US" sz="2100" dirty="0">
                          <a:solidFill>
                            <a:srgbClr val="0A3069"/>
                          </a:solidFill>
                          <a:latin typeface="Consolas" pitchFamily="34" charset="0"/>
                          <a:ea typeface="Consolas" pitchFamily="34" charset="-122"/>
                          <a:cs typeface="Consolas" pitchFamily="34" charset="-120"/>
                        </a:rPr>
                        <a:t>RuntimeException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turunan </a:t>
                      </a:r>
                      <a:r>
                        <a:rPr lang="id-ID" altLang="en-US" sz="2100" dirty="0">
                          <a:solidFill>
                            <a:srgbClr val="0A3069"/>
                          </a:solidFill>
                          <a:latin typeface="Consolas" pitchFamily="34" charset="0"/>
                          <a:ea typeface="Consolas" pitchFamily="34" charset="-122"/>
                          <a:cs typeface="Consolas" pitchFamily="34" charset="-120"/>
                        </a:rPr>
                        <a:t>RuntimeException</a:t>
                      </a:r>
                      <a:r>
                        <a:rPr lang="id-ID" altLang="en-US" sz="2100" dirty="0">
                          <a:solidFill>
                            <a:srgbClr val="1F2328"/>
                          </a:solidFill>
                          <a:latin typeface="Calibri" pitchFamily="34" charset="0"/>
                          <a:ea typeface="Calibri" pitchFamily="34" charset="-122"/>
                          <a:cs typeface="Calibri" pitchFamily="34" charset="-120"/>
                        </a:rPr>
                        <a:t> (dan </a:t>
                      </a:r>
                      <a:r>
                        <a:rPr lang="id-ID" altLang="en-US" sz="2100" dirty="0">
                          <a:solidFill>
                            <a:srgbClr val="0A3069"/>
                          </a:solidFill>
                          <a:latin typeface="Consolas" pitchFamily="34" charset="0"/>
                          <a:ea typeface="Consolas" pitchFamily="34" charset="-122"/>
                          <a:cs typeface="Consolas" pitchFamily="34" charset="-120"/>
                        </a:rPr>
                        <a:t>Error</a:t>
                      </a:r>
                      <a:r>
                        <a:rPr lang="id-ID" altLang="en-US" sz="2100" dirty="0">
                          <a:solidFill>
                            <a:srgbClr val="1F2328"/>
                          </a:solidFill>
                          <a:latin typeface="Calibri" pitchFamily="34" charset="0"/>
                          <a:ea typeface="Calibri" pitchFamily="34" charset="-122"/>
                          <a:cs typeface="Calibri" pitchFamily="34" charset="-120"/>
                        </a:rPr>
                        <a:t>)</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Contoh</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0A3069"/>
                          </a:solidFill>
                          <a:latin typeface="Consolas" pitchFamily="34" charset="0"/>
                          <a:ea typeface="Consolas" pitchFamily="34" charset="-122"/>
                          <a:cs typeface="Consolas" pitchFamily="34" charset="-120"/>
                        </a:rPr>
                        <a:t>IOException</a:t>
                      </a:r>
                      <a:r>
                        <a:rPr lang="id-ID" altLang="en-US" sz="2100" dirty="0">
                          <a:solidFill>
                            <a:srgbClr val="1F2328"/>
                          </a:solidFill>
                          <a:latin typeface="Calibri" pitchFamily="34" charset="0"/>
                          <a:ea typeface="Calibri" pitchFamily="34" charset="-122"/>
                          <a:cs typeface="Calibri" pitchFamily="34" charset="-120"/>
                        </a:rPr>
                        <a:t>, </a:t>
                      </a:r>
                      <a:r>
                        <a:rPr lang="id-ID" altLang="en-US" sz="2100" dirty="0">
                          <a:solidFill>
                            <a:srgbClr val="0A3069"/>
                          </a:solidFill>
                          <a:latin typeface="Consolas" pitchFamily="34" charset="0"/>
                          <a:ea typeface="Consolas" pitchFamily="34" charset="-122"/>
                          <a:cs typeface="Consolas" pitchFamily="34" charset="-120"/>
                        </a:rPr>
                        <a:t>KedaiException</a:t>
                      </a:r>
                      <a:r>
                        <a:rPr lang="id-ID" altLang="en-US" sz="2100" dirty="0">
                          <a:solidFill>
                            <a:srgbClr val="1F2328"/>
                          </a:solidFill>
                          <a:latin typeface="Calibri" pitchFamily="34" charset="0"/>
                          <a:ea typeface="Calibri" pitchFamily="34" charset="-122"/>
                          <a:cs typeface="Calibri" pitchFamily="34" charset="-120"/>
                        </a:rPr>
                        <a:t> di KedaiKita</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0A3069"/>
                          </a:solidFill>
                          <a:latin typeface="Consolas" pitchFamily="34" charset="0"/>
                          <a:ea typeface="Consolas" pitchFamily="34" charset="-122"/>
                          <a:cs typeface="Consolas" pitchFamily="34" charset="-120"/>
                        </a:rPr>
                        <a:t>ArithmeticException</a:t>
                      </a:r>
                      <a:r>
                        <a:rPr lang="id-ID" altLang="en-US" sz="2100" dirty="0">
                          <a:solidFill>
                            <a:srgbClr val="1F2328"/>
                          </a:solidFill>
                          <a:latin typeface="Calibri" pitchFamily="34" charset="0"/>
                          <a:ea typeface="Calibri" pitchFamily="34" charset="-122"/>
                          <a:cs typeface="Calibri" pitchFamily="34" charset="-120"/>
                        </a:rPr>
                        <a:t>, </a:t>
                      </a:r>
                      <a:r>
                        <a:rPr lang="id-ID" altLang="en-US" sz="2100" dirty="0">
                          <a:solidFill>
                            <a:srgbClr val="0A3069"/>
                          </a:solidFill>
                          <a:latin typeface="Consolas" pitchFamily="34" charset="0"/>
                          <a:ea typeface="Consolas" pitchFamily="34" charset="-122"/>
                          <a:cs typeface="Consolas" pitchFamily="34" charset="-120"/>
                        </a:rPr>
                        <a:t>NullPointerException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Diperiksa </a:t>
                      </a:r>
                      <a:r>
                        <a:rPr lang="id-ID" altLang="en-US" sz="2100" i="1" dirty="0">
                          <a:solidFill>
                            <a:srgbClr val="1F2328"/>
                          </a:solidFill>
                          <a:latin typeface="Calibri" pitchFamily="34" charset="0"/>
                          <a:ea typeface="Calibri" pitchFamily="34" charset="-122"/>
                          <a:cs typeface="Calibri" pitchFamily="34" charset="-120"/>
                        </a:rPr>
                        <a:t>compiler</a:t>
                      </a:r>
                      <a:r>
                        <a:rPr lang="id-ID" altLang="en-US" sz="2100" dirty="0">
                          <a:solidFill>
                            <a:srgbClr val="1F2328"/>
                          </a:solidFill>
                          <a:latin typeface="Calibri" pitchFamily="34" charset="0"/>
                          <a:ea typeface="Calibri" pitchFamily="34" charset="-122"/>
                          <a:cs typeface="Calibri" pitchFamily="34" charset="-120"/>
                        </a:rPr>
                        <a:t>?</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ya: “tangkap atau umumkan” dengan </a:t>
                      </a:r>
                      <a:r>
                        <a:rPr lang="id-ID" altLang="en-US" sz="2100" dirty="0">
                          <a:solidFill>
                            <a:srgbClr val="0A3069"/>
                          </a:solidFill>
                          <a:latin typeface="Consolas" pitchFamily="34" charset="0"/>
                          <a:ea typeface="Consolas" pitchFamily="34" charset="-122"/>
                          <a:cs typeface="Consolas" pitchFamily="34" charset="-120"/>
                        </a:rPr>
                        <a:t>throws</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tidak</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Cocok untuk</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situasi wajar yang harus diantisipasi: stok habis, </a:t>
                      </a:r>
                      <a:r>
                        <a:rPr lang="id-ID" altLang="en-US" sz="2100" i="1" dirty="0">
                          <a:solidFill>
                            <a:srgbClr val="1F2328"/>
                          </a:solidFill>
                          <a:latin typeface="Calibri" pitchFamily="34" charset="0"/>
                          <a:ea typeface="Calibri" pitchFamily="34" charset="-122"/>
                          <a:cs typeface="Calibri" pitchFamily="34" charset="-120"/>
                        </a:rPr>
                        <a:t>file</a:t>
                      </a:r>
                      <a:r>
                        <a:rPr lang="id-ID" altLang="en-US" sz="2100" dirty="0">
                          <a:solidFill>
                            <a:srgbClr val="1F2328"/>
                          </a:solidFill>
                          <a:latin typeface="Calibri" pitchFamily="34" charset="0"/>
                          <a:ea typeface="Calibri" pitchFamily="34" charset="-122"/>
                          <a:cs typeface="Calibri" pitchFamily="34" charset="-120"/>
                        </a:rPr>
                        <a:t> tidak ada</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kesalahan pemrograman: indeks salah, variabel </a:t>
                      </a:r>
                      <a:r>
                        <a:rPr lang="id-ID" altLang="en-US" sz="2100" dirty="0">
                          <a:solidFill>
                            <a:srgbClr val="0A3069"/>
                          </a:solidFill>
                          <a:latin typeface="Consolas" pitchFamily="34" charset="0"/>
                          <a:ea typeface="Consolas" pitchFamily="34" charset="-122"/>
                          <a:cs typeface="Consolas" pitchFamily="34" charset="-120"/>
                        </a:rPr>
                        <a:t>null</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532897"/>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605318"/>
            <a:ext cx="184343" cy="184343"/>
          </a:xfrm>
          <a:prstGeom prst="rect">
            <a:avLst/>
          </a:prstGeom>
        </p:spPr>
      </p:pic>
      <p:sp>
        <p:nvSpPr>
          <p:cNvPr id="8" name="Text 3"/>
          <p:cNvSpPr txBox="1"/>
          <p:nvPr/>
        </p:nvSpPr>
        <p:spPr>
          <a:xfrm>
            <a:off x="1005840" y="5514609"/>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Python tidak punya pembagian ini; dokumentasikan </a:t>
            </a:r>
            <a:r>
              <a:rPr lang="id-ID" altLang="en-US" sz="1800" i="1" dirty="0">
                <a:solidFill>
                  <a:srgbClr val="57606A"/>
                </a:solidFill>
              </a:rPr>
              <a:t>exception</a:t>
            </a:r>
            <a:r>
              <a:rPr lang="id-ID" altLang="en-US" sz="1800" dirty="0">
                <a:solidFill>
                  <a:srgbClr val="57606A"/>
                </a:solidFill>
              </a:rPr>
              <a:t> yang bisa dilempar sebuah </a:t>
            </a:r>
            <a:r>
              <a:rPr lang="id-ID" altLang="en-US" sz="1800" i="1" dirty="0">
                <a:solidFill>
                  <a:srgbClr val="57606A"/>
                </a:solidFill>
              </a:rPr>
              <a:t>method</a:t>
            </a:r>
            <a:r>
              <a:rPr lang="id-ID" altLang="en-US" sz="1800" dirty="0">
                <a:solidFill>
                  <a:srgbClr val="57606A"/>
                </a:solidFill>
              </a:rPr>
              <a:t> di </a:t>
            </a:r>
            <a:r>
              <a:rPr lang="id-ID" altLang="en-US" sz="1800" i="1" dirty="0">
                <a:solidFill>
                  <a:srgbClr val="57606A"/>
                </a:solidFill>
              </a:rPr>
              <a:t>docstring</a:t>
            </a:r>
            <a:r>
              <a:rPr lang="id-ID" altLang="en-US" sz="1800" dirty="0">
                <a:solidFill>
                  <a:srgbClr val="57606A"/>
                </a:solidFill>
              </a:rPr>
              <a:t>-nya.</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Wajib Ditangani: </a:t>
            </a:r>
            <a:r>
              <a:rPr lang="id-ID" altLang="en-US" sz="3200" b="1" dirty="0">
                <a:solidFill>
                  <a:srgbClr val="0A3069"/>
                </a:solidFill>
                <a:latin typeface="Consolas" pitchFamily="34" charset="0"/>
                <a:ea typeface="Consolas" pitchFamily="34" charset="-122"/>
                <a:cs typeface="Consolas" pitchFamily="34" charset="-120"/>
              </a:rPr>
              <a:t>KelasPenuhException</a:t>
            </a:r>
            <a:endParaRPr lang="id-ID" sz="3200" dirty="0"/>
          </a:p>
        </p:txBody>
      </p:sp>
      <p:sp>
        <p:nvSpPr>
          <p:cNvPr id="5" name="Shape 2"/>
          <p:cNvSpPr/>
          <p:nvPr/>
        </p:nvSpPr>
        <p:spPr>
          <a:xfrm>
            <a:off x="548640" y="1505224"/>
            <a:ext cx="1051560" cy="329184"/>
          </a:xfrm>
          <a:prstGeom prst="roundRect">
            <a:avLst>
              <a:gd name="adj" fmla="val 138889"/>
            </a:avLst>
          </a:prstGeom>
          <a:solidFill>
            <a:srgbClr val="B07219"/>
          </a:solidFill>
          <a:ln/>
        </p:spPr>
      </p:sp>
      <p:sp>
        <p:nvSpPr>
          <p:cNvPr id="6" name="Text 3"/>
          <p:cNvSpPr txBox="1"/>
          <p:nvPr/>
        </p:nvSpPr>
        <p:spPr>
          <a:xfrm>
            <a:off x="548640" y="1505224"/>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7" name="Text 4"/>
          <p:cNvSpPr txBox="1"/>
          <p:nvPr/>
        </p:nvSpPr>
        <p:spPr>
          <a:xfrm>
            <a:off x="1737360" y="1505224"/>
            <a:ext cx="5715000"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java/contoh/Contoh08CheckedUnchecked.java</a:t>
            </a:r>
            <a:endParaRPr lang="id-ID" sz="1100" dirty="0"/>
          </a:p>
        </p:txBody>
      </p:sp>
      <p:sp>
        <p:nvSpPr>
          <p:cNvPr id="8" name="Shape 5"/>
          <p:cNvSpPr/>
          <p:nvPr/>
        </p:nvSpPr>
        <p:spPr>
          <a:xfrm>
            <a:off x="548640" y="1925848"/>
            <a:ext cx="6903720" cy="4152392"/>
          </a:xfrm>
          <a:prstGeom prst="roundRect">
            <a:avLst>
              <a:gd name="adj" fmla="val 485"/>
            </a:avLst>
          </a:prstGeom>
          <a:solidFill>
            <a:srgbClr val="F6F8FA"/>
          </a:solidFill>
          <a:ln w="9525">
            <a:solidFill>
              <a:srgbClr val="D0D7DE"/>
            </a:solidFill>
            <a:prstDash val="solid"/>
          </a:ln>
        </p:spPr>
      </p:sp>
      <p:sp>
        <p:nvSpPr>
          <p:cNvPr id="9" name="Text 6"/>
          <p:cNvSpPr txBox="1"/>
          <p:nvPr/>
        </p:nvSpPr>
        <p:spPr>
          <a:xfrm>
            <a:off x="658368" y="2017288"/>
            <a:ext cx="6684264" cy="3969512"/>
          </a:xfrm>
          <a:prstGeom prst="rect">
            <a:avLst/>
          </a:prstGeom>
          <a:noFill/>
          <a:ln/>
        </p:spPr>
        <p:txBody>
          <a:bodyPr wrap="square" lIns="0" tIns="0" rIns="0" bIns="0" rtlCol="0" anchor="t"/>
          <a:lstStyle/>
          <a:p>
            <a:pPr indent="0" marL="0">
              <a:buNone/>
            </a:pPr>
            <a:r>
              <a:rPr lang="en-US" altLang="en-US" sz="1300" dirty="0">
                <a:solidFill>
                  <a:srgbClr val="CF222E"/>
                </a:solidFill>
                <a:latin typeface="Consolas" pitchFamily="34" charset="0"/>
                <a:ea typeface="Consolas" pitchFamily="34" charset="-122"/>
                <a:cs typeface="Consolas" pitchFamily="34" charset="-120"/>
              </a:rPr>
              <a:t>class</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953800"/>
                </a:solidFill>
                <a:latin typeface="Consolas" pitchFamily="34" charset="0"/>
                <a:ea typeface="Consolas" pitchFamily="34" charset="-122"/>
                <a:cs typeface="Consolas" pitchFamily="34" charset="-120"/>
              </a:rPr>
              <a:t>KelasPenuhException</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extends</a:t>
            </a:r>
            <a:r>
              <a:rPr lang="en-US" altLang="en-US" sz="1300" dirty="0">
                <a:solidFill>
                  <a:srgbClr val="1F2328"/>
                </a:solidFill>
                <a:latin typeface="Consolas" pitchFamily="34" charset="0"/>
                <a:ea typeface="Consolas" pitchFamily="34" charset="-122"/>
                <a:cs typeface="Consolas" pitchFamily="34" charset="-120"/>
              </a:rPr>
              <a:t> Exception {</a:t>
            </a:r>
            <a:endParaRPr lang="en-US" sz="1300" dirty="0"/>
          </a:p>
          <a:p>
            <a:pPr indent="0" marL="0">
              <a:buNone/>
            </a:pPr>
            <a:r>
              <a:rPr lang="en-US" altLang="en-US" sz="1300" i="1" dirty="0">
                <a:solidFill>
                  <a:srgbClr val="6E7781"/>
                </a:solidFill>
                <a:latin typeface="Consolas" pitchFamily="34" charset="0"/>
                <a:ea typeface="Consolas" pitchFamily="34" charset="-122"/>
                <a:cs typeface="Consolas" pitchFamily="34" charset="-120"/>
              </a:rPr>
              <a:t>    // ... (dilewati)</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a:t>
            </a:r>
            <a:endParaRPr lang="en-US" sz="1300" dirty="0"/>
          </a:p>
          <a:p>
            <a:pPr indent="0" marL="0">
              <a:buNone/>
            </a:pPr>
            <a:r>
              <a:rPr lang="en-US" altLang="en-US" sz="1300" dirty="0">
                <a:solidFill>
                  <a:srgbClr val="CF222E"/>
                </a:solidFill>
                <a:latin typeface="Consolas" pitchFamily="34" charset="0"/>
                <a:ea typeface="Consolas" pitchFamily="34" charset="-122"/>
                <a:cs typeface="Consolas" pitchFamily="34" charset="-120"/>
              </a:rPr>
              <a:t>class</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953800"/>
                </a:solidFill>
                <a:latin typeface="Consolas" pitchFamily="34" charset="0"/>
                <a:ea typeface="Consolas" pitchFamily="34" charset="-122"/>
                <a:cs typeface="Consolas" pitchFamily="34" charset="-120"/>
              </a:rPr>
              <a:t>KelasKuliah</a:t>
            </a:r>
            <a:r>
              <a:rPr lang="en-US" altLang="en-US" sz="1300" dirty="0">
                <a:solidFill>
                  <a:srgbClr val="1F2328"/>
                </a:solidFill>
                <a:latin typeface="Consolas" pitchFamily="34" charset="0"/>
                <a:ea typeface="Consolas" pitchFamily="34" charset="-122"/>
                <a:cs typeface="Consolas" pitchFamily="34" charset="-120"/>
              </a:rPr>
              <a:t> {</a:t>
            </a:r>
            <a:endParaRPr lang="en-US" sz="1300" dirty="0"/>
          </a:p>
          <a:p>
            <a:pPr indent="0" marL="0">
              <a:buNone/>
            </a:pPr>
            <a:r>
              <a:rPr lang="en-US" altLang="en-US" sz="1300" i="1" dirty="0">
                <a:solidFill>
                  <a:srgbClr val="6E7781"/>
                </a:solidFill>
                <a:latin typeface="Consolas" pitchFamily="34" charset="0"/>
                <a:ea typeface="Consolas" pitchFamily="34" charset="-122"/>
                <a:cs typeface="Consolas" pitchFamily="34" charset="-120"/>
              </a:rPr>
              <a:t>    // ... (dilewati)</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public</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void</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8250DF"/>
                </a:solidFill>
                <a:latin typeface="Consolas" pitchFamily="34" charset="0"/>
                <a:ea typeface="Consolas" pitchFamily="34" charset="-122"/>
                <a:cs typeface="Consolas" pitchFamily="34" charset="-120"/>
              </a:rPr>
              <a:t>daftar</a:t>
            </a:r>
            <a:r>
              <a:rPr lang="en-US" altLang="en-US" sz="1300" dirty="0">
                <a:solidFill>
                  <a:srgbClr val="1F2328"/>
                </a:solidFill>
                <a:latin typeface="Consolas" pitchFamily="34" charset="0"/>
                <a:ea typeface="Consolas" pitchFamily="34" charset="-122"/>
                <a:cs typeface="Consolas" pitchFamily="34" charset="-120"/>
              </a:rPr>
              <a:t>(String nama) </a:t>
            </a:r>
            <a:r>
              <a:rPr lang="en-US" altLang="en-US" sz="1300" dirty="0">
                <a:solidFill>
                  <a:srgbClr val="CF222E"/>
                </a:solidFill>
                <a:latin typeface="Consolas" pitchFamily="34" charset="0"/>
                <a:ea typeface="Consolas" pitchFamily="34" charset="-122"/>
                <a:cs typeface="Consolas" pitchFamily="34" charset="-120"/>
              </a:rPr>
              <a:t>throws</a:t>
            </a:r>
            <a:r>
              <a:rPr lang="en-US" altLang="en-US" sz="1300" dirty="0">
                <a:solidFill>
                  <a:srgbClr val="1F2328"/>
                </a:solidFill>
                <a:latin typeface="Consolas" pitchFamily="34" charset="0"/>
                <a:ea typeface="Consolas" pitchFamily="34" charset="-122"/>
                <a:cs typeface="Consolas" pitchFamily="34" charset="-120"/>
              </a:rPr>
              <a:t> KelasPenuhException {</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if</a:t>
            </a:r>
            <a:r>
              <a:rPr lang="en-US" altLang="en-US" sz="1300" dirty="0">
                <a:solidFill>
                  <a:srgbClr val="1F2328"/>
                </a:solidFill>
                <a:latin typeface="Consolas" pitchFamily="34" charset="0"/>
                <a:ea typeface="Consolas" pitchFamily="34" charset="-122"/>
                <a:cs typeface="Consolas" pitchFamily="34" charset="-120"/>
              </a:rPr>
              <a:t> (peserta.size() &gt;= kapasitas) {</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throw</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new</a:t>
            </a:r>
            <a:r>
              <a:rPr lang="en-US" altLang="en-US" sz="1300" dirty="0">
                <a:solidFill>
                  <a:srgbClr val="1F2328"/>
                </a:solidFill>
                <a:latin typeface="Consolas" pitchFamily="34" charset="0"/>
                <a:ea typeface="Consolas" pitchFamily="34" charset="-122"/>
                <a:cs typeface="Consolas" pitchFamily="34" charset="-120"/>
              </a:rPr>
              <a:t> KelasPenuhException(kode, kapasitas);</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peserta.add(nama);</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a:t>
            </a:r>
            <a:endParaRPr lang="en-US" sz="1300" dirty="0"/>
          </a:p>
          <a:p>
            <a:pPr indent="0" marL="0">
              <a:buNone/>
            </a:pPr>
            <a:r>
              <a:rPr lang="en-US" altLang="en-US" sz="1300" i="1" dirty="0">
                <a:solidFill>
                  <a:srgbClr val="6E7781"/>
                </a:solidFill>
                <a:latin typeface="Consolas" pitchFamily="34" charset="0"/>
                <a:ea typeface="Consolas" pitchFamily="34" charset="-122"/>
                <a:cs typeface="Consolas" pitchFamily="34" charset="-120"/>
              </a:rPr>
              <a:t>// ... di dalam main</a:t>
            </a:r>
            <a:endParaRPr lang="en-US" sz="1300" dirty="0"/>
          </a:p>
          <a:p>
            <a:pPr indent="0" marL="0">
              <a:buNone/>
            </a:pPr>
            <a:r>
              <a:rPr lang="en-US" altLang="en-US" sz="1300" dirty="0">
                <a:solidFill>
                  <a:srgbClr val="CF222E"/>
                </a:solidFill>
                <a:latin typeface="Consolas" pitchFamily="34" charset="0"/>
                <a:ea typeface="Consolas" pitchFamily="34" charset="-122"/>
                <a:cs typeface="Consolas" pitchFamily="34" charset="-120"/>
              </a:rPr>
              <a:t>for</a:t>
            </a:r>
            <a:r>
              <a:rPr lang="en-US" altLang="en-US" sz="1300" dirty="0">
                <a:solidFill>
                  <a:srgbClr val="1F2328"/>
                </a:solidFill>
                <a:latin typeface="Consolas" pitchFamily="34" charset="0"/>
                <a:ea typeface="Consolas" pitchFamily="34" charset="-122"/>
                <a:cs typeface="Consolas" pitchFamily="34" charset="-120"/>
              </a:rPr>
              <a:t> (String nama : pendaftar) {</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try</a:t>
            </a:r>
            <a:r>
              <a:rPr lang="en-US" altLang="en-US" sz="1300" dirty="0">
                <a:solidFill>
                  <a:srgbClr val="1F2328"/>
                </a:solidFill>
                <a:latin typeface="Consolas" pitchFamily="34" charset="0"/>
                <a:ea typeface="Consolas" pitchFamily="34" charset="-122"/>
                <a:cs typeface="Consolas" pitchFamily="34" charset="-120"/>
              </a:rPr>
              <a:t> {</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pboA.daftar(nama);</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 </a:t>
            </a:r>
            <a:r>
              <a:rPr lang="en-US" altLang="en-US" sz="1300" dirty="0">
                <a:solidFill>
                  <a:srgbClr val="CF222E"/>
                </a:solidFill>
                <a:latin typeface="Consolas" pitchFamily="34" charset="0"/>
                <a:ea typeface="Consolas" pitchFamily="34" charset="-122"/>
                <a:cs typeface="Consolas" pitchFamily="34" charset="-120"/>
              </a:rPr>
              <a:t>catch</a:t>
            </a:r>
            <a:r>
              <a:rPr lang="en-US" altLang="en-US" sz="1300" dirty="0">
                <a:solidFill>
                  <a:srgbClr val="1F2328"/>
                </a:solidFill>
                <a:latin typeface="Consolas" pitchFamily="34" charset="0"/>
                <a:ea typeface="Consolas" pitchFamily="34" charset="-122"/>
                <a:cs typeface="Consolas" pitchFamily="34" charset="-120"/>
              </a:rPr>
              <a:t> (KelasPenuhException e) {</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System.out.println(</a:t>
            </a:r>
            <a:r>
              <a:rPr lang="en-US" altLang="en-US" sz="1300" dirty="0">
                <a:solidFill>
                  <a:srgbClr val="0A3069"/>
                </a:solidFill>
                <a:latin typeface="Consolas" pitchFamily="34" charset="0"/>
                <a:ea typeface="Consolas" pitchFamily="34" charset="-122"/>
                <a:cs typeface="Consolas" pitchFamily="34" charset="-120"/>
              </a:rPr>
              <a:t>"Gagal: "</a:t>
            </a:r>
            <a:r>
              <a:rPr lang="en-US" altLang="en-US" sz="1300" dirty="0">
                <a:solidFill>
                  <a:srgbClr val="1F2328"/>
                </a:solidFill>
                <a:latin typeface="Consolas" pitchFamily="34" charset="0"/>
                <a:ea typeface="Consolas" pitchFamily="34" charset="-122"/>
                <a:cs typeface="Consolas" pitchFamily="34" charset="-120"/>
              </a:rPr>
              <a:t> + e.getMessage());</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a:t>
            </a:r>
            <a:endParaRPr lang="en-US" sz="1300" dirty="0"/>
          </a:p>
        </p:txBody>
      </p:sp>
      <p:sp>
        <p:nvSpPr>
          <p:cNvPr id="10" name="Shape 7"/>
          <p:cNvSpPr/>
          <p:nvPr/>
        </p:nvSpPr>
        <p:spPr>
          <a:xfrm>
            <a:off x="7772400" y="1925848"/>
            <a:ext cx="3870655" cy="2727960"/>
          </a:xfrm>
          <a:prstGeom prst="roundRect">
            <a:avLst>
              <a:gd name="adj" fmla="val 1348"/>
            </a:avLst>
          </a:prstGeom>
          <a:solidFill>
            <a:srgbClr val="FFF8C5"/>
          </a:solidFill>
          <a:ln w="9525">
            <a:solidFill>
              <a:srgbClr val="D4A72C"/>
            </a:solidFill>
            <a:prstDash val="solid"/>
          </a:ln>
        </p:spPr>
      </p:sp>
      <p:sp>
        <p:nvSpPr>
          <p:cNvPr id="11" name="Shape 8"/>
          <p:cNvSpPr/>
          <p:nvPr/>
        </p:nvSpPr>
        <p:spPr>
          <a:xfrm>
            <a:off x="8046720" y="2154448"/>
            <a:ext cx="420624" cy="420624"/>
          </a:xfrm>
          <a:prstGeom prst="ellipse">
            <a:avLst/>
          </a:prstGeom>
          <a:solidFill>
            <a:srgbClr val="9A6700"/>
          </a:solidFill>
          <a:ln/>
        </p:spPr>
      </p:sp>
      <p:pic>
        <p:nvPicPr>
          <p:cNvPr id="12" name="Image 1" descr="preencoded.png">    </p:cNvPr>
          <p:cNvPicPr>
            <a:picLocks noChangeAspect="1"/>
          </p:cNvPicPr>
          <p:nvPr/>
        </p:nvPicPr>
        <p:blipFill>
          <a:blip r:embed="rId2"/>
          <a:stretch>
            <a:fillRect/>
          </a:stretch>
        </p:blipFill>
        <p:spPr>
          <a:xfrm>
            <a:off x="8139257" y="2246986"/>
            <a:ext cx="235549" cy="235549"/>
          </a:xfrm>
          <a:prstGeom prst="rect">
            <a:avLst/>
          </a:prstGeom>
        </p:spPr>
      </p:pic>
      <p:sp>
        <p:nvSpPr>
          <p:cNvPr id="13" name="Text 9"/>
          <p:cNvSpPr txBox="1"/>
          <p:nvPr/>
        </p:nvSpPr>
        <p:spPr>
          <a:xfrm>
            <a:off x="8595360" y="2181880"/>
            <a:ext cx="2864815" cy="365760"/>
          </a:xfrm>
          <a:prstGeom prst="rect">
            <a:avLst/>
          </a:prstGeom>
          <a:noFill/>
          <a:ln/>
        </p:spPr>
        <p:txBody>
          <a:bodyPr wrap="square" lIns="0" tIns="0" rIns="0" bIns="0" rtlCol="0" anchor="t"/>
          <a:lstStyle/>
          <a:p>
            <a:pPr indent="0" marL="0">
              <a:buNone/>
            </a:pPr>
            <a:r>
              <a:rPr lang="id-ID" altLang="en-US" sz="1500" b="1" dirty="0">
                <a:solidFill>
                  <a:srgbClr val="9A6700"/>
                </a:solidFill>
              </a:rPr>
              <a:t>Khusus Java</a:t>
            </a:r>
            <a:endParaRPr lang="id-ID" sz="1500" dirty="0"/>
          </a:p>
        </p:txBody>
      </p:sp>
      <p:sp>
        <p:nvSpPr>
          <p:cNvPr id="14" name="Text 10"/>
          <p:cNvSpPr txBox="1"/>
          <p:nvPr/>
        </p:nvSpPr>
        <p:spPr>
          <a:xfrm>
            <a:off x="8046720" y="2703088"/>
            <a:ext cx="3322015" cy="1905000"/>
          </a:xfrm>
          <a:prstGeom prst="rect">
            <a:avLst/>
          </a:prstGeom>
          <a:noFill/>
          <a:ln/>
        </p:spPr>
        <p:txBody>
          <a:bodyPr wrap="square" lIns="0" tIns="0" rIns="0" bIns="0" rtlCol="0" anchor="t"/>
          <a:lstStyle/>
          <a:p>
            <a:pPr indent="0" marL="0">
              <a:buNone/>
            </a:pPr>
            <a:r>
              <a:rPr lang="id-ID" altLang="en-US" sz="2000" i="1" dirty="0">
                <a:solidFill>
                  <a:srgbClr val="1F2328"/>
                </a:solidFill>
              </a:rPr>
              <a:t>Method</a:t>
            </a:r>
            <a:r>
              <a:rPr lang="id-ID" altLang="en-US" sz="2000" dirty="0">
                <a:solidFill>
                  <a:srgbClr val="1F2328"/>
                </a:solidFill>
              </a:rPr>
              <a:t> yang melempar </a:t>
            </a:r>
            <a:r>
              <a:rPr lang="id-ID" altLang="en-US" sz="2000" i="1" dirty="0">
                <a:solidFill>
                  <a:srgbClr val="1F2328"/>
                </a:solidFill>
              </a:rPr>
              <a:t>checked exception</a:t>
            </a:r>
            <a:r>
              <a:rPr lang="id-ID" altLang="en-US" sz="2000" dirty="0">
                <a:solidFill>
                  <a:srgbClr val="1F2328"/>
                </a:solidFill>
              </a:rPr>
              <a:t> wajib menulis </a:t>
            </a:r>
            <a:r>
              <a:rPr lang="id-ID" altLang="en-US" sz="2000" dirty="0">
                <a:solidFill>
                  <a:srgbClr val="0A3069"/>
                </a:solidFill>
                <a:latin typeface="Consolas" pitchFamily="34" charset="0"/>
                <a:ea typeface="Consolas" pitchFamily="34" charset="-122"/>
                <a:cs typeface="Consolas" pitchFamily="34" charset="-120"/>
              </a:rPr>
              <a:t>throws</a:t>
            </a:r>
            <a:r>
              <a:rPr lang="id-ID" altLang="en-US" sz="2000" dirty="0">
                <a:solidFill>
                  <a:srgbClr val="1F2328"/>
                </a:solidFill>
              </a:rPr>
              <a:t>; pemanggilnya wajib menangkap atau ikut mengumumkan.</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1216152" y="2633472"/>
            <a:ext cx="722376" cy="722376"/>
          </a:xfrm>
          <a:prstGeom prst="rect">
            <a:avLst/>
          </a:prstGeom>
        </p:spPr>
      </p:pic>
      <p:sp>
        <p:nvSpPr>
          <p:cNvPr id="4" name="Text 1"/>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FB8F44"/>
                </a:solidFill>
              </a:rPr>
              <a:t>STUDI KASUS</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Studi Kasus KedaiKita</a:t>
            </a:r>
            <a:endParaRPr lang="id-ID" sz="4200" dirty="0"/>
          </a:p>
        </p:txBody>
      </p:sp>
      <p:sp>
        <p:nvSpPr>
          <p:cNvPr id="6" name="Text 3"/>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Semua tanda gagal lama diganti dengan </a:t>
            </a:r>
            <a:r>
              <a:rPr lang="id-ID" altLang="en-US" sz="2200" i="1" dirty="0">
                <a:solidFill>
                  <a:srgbClr val="C9D7E8"/>
                </a:solidFill>
              </a:rPr>
              <a:t>exception</a:t>
            </a:r>
            <a:r>
              <a:rPr lang="id-ID" altLang="en-US" sz="2200" dirty="0">
                <a:solidFill>
                  <a:srgbClr val="C9D7E8"/>
                </a:solidFill>
              </a:rPr>
              <a:t> khusus KedaiKita.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Apa yang Berubah di KedaiKita?</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566885"/>
          <a:ext cx="11094415" cy="914400"/>
        </p:xfrm>
        <a:graphic>
          <a:graphicData uri="http://schemas.openxmlformats.org/drawingml/2006/table">
            <a:tbl>
              <a:tblPr/>
              <a:tblGrid>
                <a:gridCol w="1670350"/>
                <a:gridCol w="5119848"/>
                <a:gridCol w="4304218"/>
              </a:tblGrid>
              <a:tr h="446278">
                <a:tc>
                  <a:txBody>
                    <a:bodyPr/>
                    <a:lstStyle/>
                    <a:p>
                      <a:pPr indent="0" marL="0">
                        <a:buNone/>
                      </a:pPr>
                      <a:r>
                        <a:rPr lang="id-ID" altLang="en-US" sz="1700" b="1" dirty="0">
                          <a:solidFill>
                            <a:srgbClr val="FFFFFF"/>
                          </a:solidFill>
                          <a:latin typeface="Calibri" pitchFamily="34" charset="0"/>
                          <a:ea typeface="Calibri" pitchFamily="34" charset="-122"/>
                          <a:cs typeface="Calibri" pitchFamily="34" charset="-120"/>
                        </a:rPr>
                        <a:t>Situasi</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700" b="1" dirty="0">
                          <a:solidFill>
                            <a:srgbClr val="FFFFFF"/>
                          </a:solidFill>
                          <a:latin typeface="Calibri" pitchFamily="34" charset="0"/>
                          <a:ea typeface="Calibri" pitchFamily="34" charset="-122"/>
                          <a:cs typeface="Calibri" pitchFamily="34" charset="-120"/>
                        </a:rPr>
                        <a:t>Pertemuan 10</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700" b="1" dirty="0">
                          <a:solidFill>
                            <a:srgbClr val="FFFFFF"/>
                          </a:solidFill>
                          <a:latin typeface="Calibri" pitchFamily="34" charset="0"/>
                          <a:ea typeface="Calibri" pitchFamily="34" charset="-122"/>
                          <a:cs typeface="Calibri" pitchFamily="34" charset="-120"/>
                        </a:rPr>
                        <a:t>Pertemuan 11</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709676">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Kode menu tidak terdaftar</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cari_menu()</a:t>
                      </a:r>
                      <a:r>
                        <a:rPr lang="id-ID" altLang="en-US" sz="1700" dirty="0">
                          <a:solidFill>
                            <a:srgbClr val="1F2328"/>
                          </a:solidFill>
                          <a:latin typeface="Calibri" pitchFamily="34" charset="0"/>
                          <a:ea typeface="Calibri" pitchFamily="34" charset="-122"/>
                          <a:cs typeface="Calibri" pitchFamily="34" charset="-120"/>
                        </a:rPr>
                        <a:t>/</a:t>
                      </a:r>
                      <a:r>
                        <a:rPr lang="id-ID" altLang="en-US" sz="1700" dirty="0">
                          <a:solidFill>
                            <a:srgbClr val="0A3069"/>
                          </a:solidFill>
                          <a:latin typeface="Consolas" pitchFamily="34" charset="0"/>
                          <a:ea typeface="Consolas" pitchFamily="34" charset="-122"/>
                          <a:cs typeface="Consolas" pitchFamily="34" charset="-120"/>
                        </a:rPr>
                        <a:t>cariMenu()</a:t>
                      </a:r>
                      <a:r>
                        <a:rPr lang="id-ID" altLang="en-US" sz="1700" dirty="0">
                          <a:solidFill>
                            <a:srgbClr val="1F2328"/>
                          </a:solidFill>
                          <a:latin typeface="Calibri" pitchFamily="34" charset="0"/>
                          <a:ea typeface="Calibri" pitchFamily="34" charset="-122"/>
                          <a:cs typeface="Calibri" pitchFamily="34" charset="-120"/>
                        </a:rPr>
                        <a:t> mengembalikan </a:t>
                      </a:r>
                      <a:r>
                        <a:rPr lang="id-ID" altLang="en-US" sz="1700" dirty="0">
                          <a:solidFill>
                            <a:srgbClr val="0A3069"/>
                          </a:solidFill>
                          <a:latin typeface="Consolas" pitchFamily="34" charset="0"/>
                          <a:ea typeface="Consolas" pitchFamily="34" charset="-122"/>
                          <a:cs typeface="Consolas" pitchFamily="34" charset="-120"/>
                        </a:rPr>
                        <a:t>None</a:t>
                      </a:r>
                      <a:r>
                        <a:rPr lang="id-ID" altLang="en-US" sz="1700" dirty="0">
                          <a:solidFill>
                            <a:srgbClr val="1F2328"/>
                          </a:solidFill>
                          <a:latin typeface="Calibri" pitchFamily="34" charset="0"/>
                          <a:ea typeface="Calibri" pitchFamily="34" charset="-122"/>
                          <a:cs typeface="Calibri" pitchFamily="34" charset="-120"/>
                        </a:rPr>
                        <a:t>/</a:t>
                      </a:r>
                      <a:r>
                        <a:rPr lang="id-ID" altLang="en-US" sz="1700" dirty="0">
                          <a:solidFill>
                            <a:srgbClr val="0A3069"/>
                          </a:solidFill>
                          <a:latin typeface="Consolas" pitchFamily="34" charset="0"/>
                          <a:ea typeface="Consolas" pitchFamily="34" charset="-122"/>
                          <a:cs typeface="Consolas" pitchFamily="34" charset="-120"/>
                        </a:rPr>
                        <a:t>null</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melempar </a:t>
                      </a:r>
                      <a:r>
                        <a:rPr lang="id-ID" altLang="en-US" sz="1700" dirty="0">
                          <a:solidFill>
                            <a:srgbClr val="0A3069"/>
                          </a:solidFill>
                          <a:latin typeface="Consolas" pitchFamily="34" charset="0"/>
                          <a:ea typeface="Consolas" pitchFamily="34" charset="-122"/>
                          <a:cs typeface="Consolas" pitchFamily="34" charset="-120"/>
                        </a:rPr>
                        <a:t>MenuTidakDitemukanError</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09676">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Stok kurang</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i="1" dirty="0">
                          <a:solidFill>
                            <a:srgbClr val="1F2328"/>
                          </a:solidFill>
                          <a:latin typeface="Calibri" pitchFamily="34" charset="0"/>
                          <a:ea typeface="Calibri" pitchFamily="34" charset="-122"/>
                          <a:cs typeface="Calibri" pitchFamily="34" charset="-120"/>
                        </a:rPr>
                        <a:t>exception</a:t>
                      </a:r>
                      <a:r>
                        <a:rPr lang="id-ID" altLang="en-US" sz="1700" dirty="0">
                          <a:solidFill>
                            <a:srgbClr val="1F2328"/>
                          </a:solidFill>
                          <a:latin typeface="Calibri" pitchFamily="34" charset="0"/>
                          <a:ea typeface="Calibri" pitchFamily="34" charset="-122"/>
                          <a:cs typeface="Calibri" pitchFamily="34" charset="-120"/>
                        </a:rPr>
                        <a:t> umum (</a:t>
                      </a:r>
                      <a:r>
                        <a:rPr lang="id-ID" altLang="en-US" sz="1700" dirty="0">
                          <a:solidFill>
                            <a:srgbClr val="0A3069"/>
                          </a:solidFill>
                          <a:latin typeface="Consolas" pitchFamily="34" charset="0"/>
                          <a:ea typeface="Consolas" pitchFamily="34" charset="-122"/>
                          <a:cs typeface="Consolas" pitchFamily="34" charset="-120"/>
                        </a:rPr>
                        <a:t>ValueError</a:t>
                      </a:r>
                      <a:r>
                        <a:rPr lang="id-ID" altLang="en-US" sz="1700" dirty="0">
                          <a:solidFill>
                            <a:srgbClr val="1F2328"/>
                          </a:solidFill>
                          <a:latin typeface="Calibri" pitchFamily="34" charset="0"/>
                          <a:ea typeface="Calibri" pitchFamily="34" charset="-122"/>
                          <a:cs typeface="Calibri" pitchFamily="34" charset="-120"/>
                        </a:rPr>
                        <a:t>/</a:t>
                      </a:r>
                      <a:r>
                        <a:rPr lang="id-ID" altLang="en-US" sz="1700" dirty="0">
                          <a:solidFill>
                            <a:srgbClr val="0A3069"/>
                          </a:solidFill>
                          <a:latin typeface="Consolas" pitchFamily="34" charset="0"/>
                          <a:ea typeface="Consolas" pitchFamily="34" charset="-122"/>
                          <a:cs typeface="Consolas" pitchFamily="34" charset="-120"/>
                        </a:rPr>
                        <a:t>IllegalArgumentException</a:t>
                      </a:r>
                      <a:r>
                        <a:rPr lang="id-ID" altLang="en-US" sz="1700" dirty="0">
                          <a:solidFill>
                            <a:srgbClr val="1F2328"/>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melempar </a:t>
                      </a:r>
                      <a:r>
                        <a:rPr lang="id-ID" altLang="en-US" sz="1700" dirty="0">
                          <a:solidFill>
                            <a:srgbClr val="0A3069"/>
                          </a:solidFill>
                          <a:latin typeface="Consolas" pitchFamily="34" charset="0"/>
                          <a:ea typeface="Consolas" pitchFamily="34" charset="-122"/>
                          <a:cs typeface="Consolas" pitchFamily="34" charset="-120"/>
                        </a:rPr>
                        <a:t>StokTidakCukupError</a:t>
                      </a:r>
                      <a:r>
                        <a:rPr lang="id-ID" altLang="en-US" sz="1700" dirty="0">
                          <a:solidFill>
                            <a:srgbClr val="1F2328"/>
                          </a:solidFill>
                          <a:latin typeface="Calibri" pitchFamily="34" charset="0"/>
                          <a:ea typeface="Calibri" pitchFamily="34" charset="-122"/>
                          <a:cs typeface="Calibri" pitchFamily="34" charset="-120"/>
                        </a:rPr>
                        <a:t> + jumlah tersedia</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709676">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Pembayaran gagal</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proses()</a:t>
                      </a:r>
                      <a:r>
                        <a:rPr lang="id-ID" altLang="en-US" sz="1700" dirty="0">
                          <a:solidFill>
                            <a:srgbClr val="1F2328"/>
                          </a:solidFill>
                          <a:latin typeface="Calibri" pitchFamily="34" charset="0"/>
                          <a:ea typeface="Calibri" pitchFamily="34" charset="-122"/>
                          <a:cs typeface="Calibri" pitchFamily="34" charset="-120"/>
                        </a:rPr>
                        <a:t> dan </a:t>
                      </a:r>
                      <a:r>
                        <a:rPr lang="id-ID" altLang="en-US" sz="1700" dirty="0">
                          <a:solidFill>
                            <a:srgbClr val="0A3069"/>
                          </a:solidFill>
                          <a:latin typeface="Consolas" pitchFamily="34" charset="0"/>
                          <a:ea typeface="Consolas" pitchFamily="34" charset="-122"/>
                          <a:cs typeface="Consolas" pitchFamily="34" charset="-120"/>
                        </a:rPr>
                        <a:t>bayar()</a:t>
                      </a:r>
                      <a:r>
                        <a:rPr lang="id-ID" altLang="en-US" sz="1700" dirty="0">
                          <a:solidFill>
                            <a:srgbClr val="1F2328"/>
                          </a:solidFill>
                          <a:latin typeface="Calibri" pitchFamily="34" charset="0"/>
                          <a:ea typeface="Calibri" pitchFamily="34" charset="-122"/>
                          <a:cs typeface="Calibri" pitchFamily="34" charset="-120"/>
                        </a:rPr>
                        <a:t> mengembalikan nilai salah</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melempar </a:t>
                      </a:r>
                      <a:r>
                        <a:rPr lang="id-ID" altLang="en-US" sz="1700" dirty="0">
                          <a:solidFill>
                            <a:srgbClr val="0A3069"/>
                          </a:solidFill>
                          <a:latin typeface="Consolas" pitchFamily="34" charset="0"/>
                          <a:ea typeface="Consolas" pitchFamily="34" charset="-122"/>
                          <a:cs typeface="Consolas" pitchFamily="34" charset="-120"/>
                        </a:rPr>
                        <a:t>PembayaranGagalError</a:t>
                      </a:r>
                      <a:r>
                        <a:rPr lang="id-ID" altLang="en-US" sz="1700" dirty="0">
                          <a:solidFill>
                            <a:srgbClr val="1F2328"/>
                          </a:solidFill>
                          <a:latin typeface="Calibri" pitchFamily="34" charset="0"/>
                          <a:ea typeface="Calibri" pitchFamily="34" charset="-122"/>
                          <a:cs typeface="Calibri" pitchFamily="34" charset="-120"/>
                        </a:rPr>
                        <a:t> + metode dan alasan</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973074">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Pesanan LUNAS diubah atau dibayar lagi</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tidak dicegah</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melempar induknya, </a:t>
                      </a:r>
                      <a:r>
                        <a:rPr lang="id-ID" altLang="en-US" sz="1700" dirty="0">
                          <a:solidFill>
                            <a:srgbClr val="0A3069"/>
                          </a:solidFill>
                          <a:latin typeface="Consolas" pitchFamily="34" charset="0"/>
                          <a:ea typeface="Consolas" pitchFamily="34" charset="-122"/>
                          <a:cs typeface="Consolas" pitchFamily="34" charset="-120"/>
                        </a:rPr>
                        <a:t>KedaiError</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8" name="Shape 4"/>
          <p:cNvSpPr/>
          <p:nvPr/>
        </p:nvSpPr>
        <p:spPr>
          <a:xfrm>
            <a:off x="548640" y="5362153"/>
            <a:ext cx="329184" cy="329184"/>
          </a:xfrm>
          <a:prstGeom prst="ellipse">
            <a:avLst/>
          </a:prstGeom>
          <a:solidFill>
            <a:srgbClr val="57606A"/>
          </a:solidFill>
          <a:ln/>
        </p:spPr>
      </p:sp>
      <p:pic>
        <p:nvPicPr>
          <p:cNvPr id="9" name="Image 1" descr="preencoded.png">    </p:cNvPr>
          <p:cNvPicPr>
            <a:picLocks noChangeAspect="1"/>
          </p:cNvPicPr>
          <p:nvPr/>
        </p:nvPicPr>
        <p:blipFill>
          <a:blip r:embed="rId2"/>
          <a:stretch>
            <a:fillRect/>
          </a:stretch>
        </p:blipFill>
        <p:spPr>
          <a:xfrm>
            <a:off x="621060" y="5434574"/>
            <a:ext cx="184343" cy="184343"/>
          </a:xfrm>
          <a:prstGeom prst="rect">
            <a:avLst/>
          </a:prstGeom>
        </p:spPr>
      </p:pic>
      <p:sp>
        <p:nvSpPr>
          <p:cNvPr id="10" name="Text 5"/>
          <p:cNvSpPr txBox="1"/>
          <p:nvPr/>
        </p:nvSpPr>
        <p:spPr>
          <a:xfrm>
            <a:off x="1005840" y="5343865"/>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Nama versi Python; versi Java berakhiran </a:t>
            </a:r>
            <a:r>
              <a:rPr lang="id-ID" altLang="en-US" sz="1800" dirty="0">
                <a:solidFill>
                  <a:srgbClr val="57606A"/>
                </a:solidFill>
                <a:latin typeface="Consolas" pitchFamily="34" charset="0"/>
                <a:ea typeface="Consolas" pitchFamily="34" charset="-122"/>
                <a:cs typeface="Consolas" pitchFamily="34" charset="-120"/>
              </a:rPr>
              <a:t>Exception</a:t>
            </a:r>
            <a:r>
              <a:rPr lang="id-ID" altLang="en-US" sz="1800" dirty="0">
                <a:solidFill>
                  <a:srgbClr val="57606A"/>
                </a:solidFill>
              </a:rPr>
              <a:t>, misalnya </a:t>
            </a:r>
            <a:r>
              <a:rPr lang="id-ID" altLang="en-US" sz="1800" dirty="0">
                <a:solidFill>
                  <a:srgbClr val="57606A"/>
                </a:solidFill>
                <a:latin typeface="Consolas" pitchFamily="34" charset="0"/>
                <a:ea typeface="Consolas" pitchFamily="34" charset="-122"/>
                <a:cs typeface="Consolas" pitchFamily="34" charset="-120"/>
              </a:rPr>
              <a:t>KedaiException</a:t>
            </a:r>
            <a:r>
              <a:rPr lang="id-ID" altLang="en-US" sz="1800" dirty="0">
                <a:solidFill>
                  <a:srgbClr val="57606A"/>
                </a:solidFill>
              </a:rPr>
              <a:t> dan </a:t>
            </a:r>
            <a:r>
              <a:rPr lang="id-ID" altLang="en-US" sz="1800" dirty="0">
                <a:solidFill>
                  <a:srgbClr val="57606A"/>
                </a:solidFill>
                <a:latin typeface="Consolas" pitchFamily="34" charset="0"/>
                <a:ea typeface="Consolas" pitchFamily="34" charset="-122"/>
                <a:cs typeface="Consolas" pitchFamily="34" charset="-120"/>
              </a:rPr>
              <a:t>StokTidakCukupException</a:t>
            </a:r>
            <a:r>
              <a:rPr lang="id-ID" altLang="en-US" sz="1800" dirty="0">
                <a:solidFill>
                  <a:srgbClr val="57606A"/>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Hierarki </a:t>
            </a:r>
            <a:r>
              <a:rPr lang="id-ID" altLang="en-US" sz="3200" b="1" i="1" dirty="0">
                <a:solidFill>
                  <a:srgbClr val="0A3069"/>
                </a:solidFill>
              </a:rPr>
              <a:t>Exception</a:t>
            </a:r>
            <a:r>
              <a:rPr lang="id-ID" altLang="en-US" sz="3200" b="1" dirty="0">
                <a:solidFill>
                  <a:srgbClr val="0A3069"/>
                </a:solidFill>
              </a:rPr>
              <a:t> KedaiKita</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pic>
        <p:nvPicPr>
          <p:cNvPr id="7" name="Image 1" descr="Semuanya turunan KedaiError, jadi satu penangkap induk bisa menangkap ketiganya sekaligus.">    </p:cNvPr>
          <p:cNvPicPr>
            <a:picLocks noChangeAspect="1"/>
          </p:cNvPicPr>
          <p:nvPr/>
        </p:nvPicPr>
        <p:blipFill>
          <a:blip r:embed="rId2"/>
          <a:stretch>
            <a:fillRect/>
          </a:stretch>
        </p:blipFill>
        <p:spPr>
          <a:xfrm>
            <a:off x="2243506" y="1417320"/>
            <a:ext cx="7704683" cy="4308602"/>
          </a:xfrm>
          <a:prstGeom prst="rect">
            <a:avLst/>
          </a:prstGeom>
        </p:spPr>
      </p:pic>
      <p:sp>
        <p:nvSpPr>
          <p:cNvPr id="8" name="Text 4"/>
          <p:cNvSpPr txBox="1"/>
          <p:nvPr/>
        </p:nvSpPr>
        <p:spPr>
          <a:xfrm>
            <a:off x="1005840" y="5835650"/>
            <a:ext cx="10180015" cy="427990"/>
          </a:xfrm>
          <a:prstGeom prst="rect">
            <a:avLst/>
          </a:prstGeom>
          <a:noFill/>
          <a:ln/>
        </p:spPr>
        <p:txBody>
          <a:bodyPr wrap="square" lIns="0" tIns="0" rIns="0" bIns="0" rtlCol="0" anchor="t"/>
          <a:lstStyle/>
          <a:p>
            <a:pPr algn="ctr" indent="0" marL="0">
              <a:buNone/>
            </a:pPr>
            <a:r>
              <a:rPr lang="id-ID" altLang="en-US" sz="1700" dirty="0">
                <a:solidFill>
                  <a:srgbClr val="57606A"/>
                </a:solidFill>
              </a:rPr>
              <a:t>Semuanya turunan </a:t>
            </a:r>
            <a:r>
              <a:rPr lang="id-ID" altLang="en-US" sz="1700" dirty="0">
                <a:solidFill>
                  <a:srgbClr val="57606A"/>
                </a:solidFill>
                <a:latin typeface="Consolas" pitchFamily="34" charset="0"/>
                <a:ea typeface="Consolas" pitchFamily="34" charset="-122"/>
                <a:cs typeface="Consolas" pitchFamily="34" charset="-120"/>
              </a:rPr>
              <a:t>KedaiError</a:t>
            </a:r>
            <a:r>
              <a:rPr lang="id-ID" altLang="en-US" sz="1700" dirty="0">
                <a:solidFill>
                  <a:srgbClr val="57606A"/>
                </a:solidFill>
              </a:rPr>
              <a:t>, jadi satu penangkap induk bisa menangkap ketiganya sekaligus.</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Penangkap Spesifik di Atas Induknya</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Text 4"/>
          <p:cNvSpPr txBox="1"/>
          <p:nvPr/>
        </p:nvSpPr>
        <p:spPr>
          <a:xfrm>
            <a:off x="548640" y="1875343"/>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Lima permintaan Budi diproses satu per satu; setiap jenis kegagalan punya penangkapnya sendiri.</a:t>
            </a:r>
            <a:endParaRPr lang="id-ID" sz="1800" dirty="0"/>
          </a:p>
        </p:txBody>
      </p:sp>
      <p:sp>
        <p:nvSpPr>
          <p:cNvPr id="8" name="Shape 5"/>
          <p:cNvSpPr/>
          <p:nvPr/>
        </p:nvSpPr>
        <p:spPr>
          <a:xfrm>
            <a:off x="548640" y="2309683"/>
            <a:ext cx="1051560" cy="329184"/>
          </a:xfrm>
          <a:prstGeom prst="roundRect">
            <a:avLst>
              <a:gd name="adj" fmla="val 138889"/>
            </a:avLst>
          </a:prstGeom>
          <a:solidFill>
            <a:srgbClr val="3572A5"/>
          </a:solidFill>
          <a:ln/>
        </p:spPr>
      </p:sp>
      <p:sp>
        <p:nvSpPr>
          <p:cNvPr id="9" name="Text 6"/>
          <p:cNvSpPr txBox="1"/>
          <p:nvPr/>
        </p:nvSpPr>
        <p:spPr>
          <a:xfrm>
            <a:off x="548640" y="2309683"/>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10" name="Text 7"/>
          <p:cNvSpPr txBox="1"/>
          <p:nvPr/>
        </p:nvSpPr>
        <p:spPr>
          <a:xfrm>
            <a:off x="1737360" y="2309683"/>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python/studi-kasus/main.py</a:t>
            </a:r>
            <a:endParaRPr lang="id-ID" sz="1100" dirty="0"/>
          </a:p>
        </p:txBody>
      </p:sp>
      <p:sp>
        <p:nvSpPr>
          <p:cNvPr id="11" name="Shape 8"/>
          <p:cNvSpPr/>
          <p:nvPr/>
        </p:nvSpPr>
        <p:spPr>
          <a:xfrm>
            <a:off x="548640" y="2730307"/>
            <a:ext cx="5432908" cy="2773680"/>
          </a:xfrm>
          <a:prstGeom prst="roundRect">
            <a:avLst>
              <a:gd name="adj" fmla="val 1087"/>
            </a:avLst>
          </a:prstGeom>
          <a:solidFill>
            <a:srgbClr val="F6F8FA"/>
          </a:solidFill>
          <a:ln w="9525">
            <a:solidFill>
              <a:srgbClr val="D0D7DE"/>
            </a:solidFill>
            <a:prstDash val="solid"/>
          </a:ln>
        </p:spPr>
      </p:sp>
      <p:sp>
        <p:nvSpPr>
          <p:cNvPr id="12" name="Text 9"/>
          <p:cNvSpPr txBox="1"/>
          <p:nvPr/>
        </p:nvSpPr>
        <p:spPr>
          <a:xfrm>
            <a:off x="658368" y="2821747"/>
            <a:ext cx="5213452" cy="2590800"/>
          </a:xfrm>
          <a:prstGeom prst="rect">
            <a:avLst/>
          </a:prstGeom>
          <a:noFill/>
          <a:ln/>
        </p:spPr>
        <p:txBody>
          <a:bodyPr wrap="square" lIns="0" tIns="0" rIns="0" bIns="0" rtlCol="0" anchor="t"/>
          <a:lstStyle/>
          <a:p>
            <a:pPr indent="0" marL="0">
              <a:buNone/>
            </a:pPr>
            <a:r>
              <a:rPr lang="en-US" altLang="en-US" sz="1200" dirty="0">
                <a:solidFill>
                  <a:srgbClr val="CF222E"/>
                </a:solidFill>
                <a:latin typeface="Consolas" pitchFamily="34" charset="0"/>
                <a:ea typeface="Consolas" pitchFamily="34" charset="-122"/>
                <a:cs typeface="Consolas" pitchFamily="34" charset="-120"/>
              </a:rPr>
              <a:t>try</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menu = kedai.cari_menu(kode)</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pesanan_budi.tambah_item(menu, jumlah)</a:t>
            </a:r>
            <a:endParaRPr lang="en-US" sz="1200" dirty="0"/>
          </a:p>
          <a:p>
            <a:pPr indent="0" marL="0">
              <a:buNone/>
            </a:pPr>
            <a:r>
              <a:rPr lang="en-US" altLang="en-US" sz="1200" dirty="0">
                <a:solidFill>
                  <a:srgbClr val="CF222E"/>
                </a:solidFill>
                <a:latin typeface="Consolas" pitchFamily="34" charset="0"/>
                <a:ea typeface="Consolas" pitchFamily="34" charset="-122"/>
                <a:cs typeface="Consolas" pitchFamily="34" charset="-120"/>
              </a:rPr>
              <a:t>except</a:t>
            </a:r>
            <a:r>
              <a:rPr lang="en-US" altLang="en-US" sz="1200" dirty="0">
                <a:solidFill>
                  <a:srgbClr val="1F2328"/>
                </a:solidFill>
                <a:latin typeface="Consolas" pitchFamily="34" charset="0"/>
                <a:ea typeface="Consolas" pitchFamily="34" charset="-122"/>
                <a:cs typeface="Consolas" pitchFamily="34" charset="-120"/>
              </a:rPr>
              <a:t> MenuTidakDitemukanError </a:t>
            </a:r>
            <a:r>
              <a:rPr lang="en-US" altLang="en-US" sz="1200" dirty="0">
                <a:solidFill>
                  <a:srgbClr val="CF222E"/>
                </a:solidFill>
                <a:latin typeface="Consolas" pitchFamily="34" charset="0"/>
                <a:ea typeface="Consolas" pitchFamily="34" charset="-122"/>
                <a:cs typeface="Consolas" pitchFamily="34" charset="-120"/>
              </a:rPr>
              <a:t>as</a:t>
            </a:r>
            <a:r>
              <a:rPr lang="en-US" altLang="en-US" sz="1200" dirty="0">
                <a:solidFill>
                  <a:srgbClr val="1F2328"/>
                </a:solidFill>
                <a:latin typeface="Consolas" pitchFamily="34" charset="0"/>
                <a:ea typeface="Consolas" pitchFamily="34" charset="-122"/>
                <a:cs typeface="Consolas" pitchFamily="34" charset="-120"/>
              </a:rPr>
              <a:t> e:</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print</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A3069"/>
                </a:solidFill>
                <a:latin typeface="Consolas" pitchFamily="34" charset="0"/>
                <a:ea typeface="Consolas" pitchFamily="34" charset="-122"/>
                <a:cs typeface="Consolas" pitchFamily="34" charset="-120"/>
              </a:rPr>
              <a:t>f"  [GAGAL] {</a:t>
            </a:r>
            <a:r>
              <a:rPr lang="en-US" altLang="en-US" sz="1200" dirty="0">
                <a:solidFill>
                  <a:srgbClr val="1F2328"/>
                </a:solidFill>
                <a:latin typeface="Consolas" pitchFamily="34" charset="0"/>
                <a:ea typeface="Consolas" pitchFamily="34" charset="-122"/>
                <a:cs typeface="Consolas" pitchFamily="34" charset="-120"/>
              </a:rPr>
              <a:t>e</a:t>
            </a:r>
            <a:r>
              <a:rPr lang="en-US" altLang="en-US" sz="1200" dirty="0">
                <a:solidFill>
                  <a:srgbClr val="0A3069"/>
                </a:solidFill>
                <a:latin typeface="Consolas" pitchFamily="34" charset="0"/>
                <a:ea typeface="Consolas" pitchFamily="34" charset="-122"/>
                <a:cs typeface="Consolas" pitchFamily="34" charset="-120"/>
              </a:rPr>
              <a:t>}"</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CF222E"/>
                </a:solidFill>
                <a:latin typeface="Consolas" pitchFamily="34" charset="0"/>
                <a:ea typeface="Consolas" pitchFamily="34" charset="-122"/>
                <a:cs typeface="Consolas" pitchFamily="34" charset="-120"/>
              </a:rPr>
              <a:t>except</a:t>
            </a:r>
            <a:r>
              <a:rPr lang="en-US" altLang="en-US" sz="1200" dirty="0">
                <a:solidFill>
                  <a:srgbClr val="1F2328"/>
                </a:solidFill>
                <a:latin typeface="Consolas" pitchFamily="34" charset="0"/>
                <a:ea typeface="Consolas" pitchFamily="34" charset="-122"/>
                <a:cs typeface="Consolas" pitchFamily="34" charset="-120"/>
              </a:rPr>
              <a:t> StokTidakCukupError </a:t>
            </a:r>
            <a:r>
              <a:rPr lang="en-US" altLang="en-US" sz="1200" dirty="0">
                <a:solidFill>
                  <a:srgbClr val="CF222E"/>
                </a:solidFill>
                <a:latin typeface="Consolas" pitchFamily="34" charset="0"/>
                <a:ea typeface="Consolas" pitchFamily="34" charset="-122"/>
                <a:cs typeface="Consolas" pitchFamily="34" charset="-120"/>
              </a:rPr>
              <a:t>as</a:t>
            </a:r>
            <a:r>
              <a:rPr lang="en-US" altLang="en-US" sz="1200" dirty="0">
                <a:solidFill>
                  <a:srgbClr val="1F2328"/>
                </a:solidFill>
                <a:latin typeface="Consolas" pitchFamily="34" charset="0"/>
                <a:ea typeface="Consolas" pitchFamily="34" charset="-122"/>
                <a:cs typeface="Consolas" pitchFamily="34" charset="-120"/>
              </a:rPr>
              <a:t> e:</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print</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A3069"/>
                </a:solidFill>
                <a:latin typeface="Consolas" pitchFamily="34" charset="0"/>
                <a:ea typeface="Consolas" pitchFamily="34" charset="-122"/>
                <a:cs typeface="Consolas" pitchFamily="34" charset="-120"/>
              </a:rPr>
              <a:t>f"  [GAGAL] {</a:t>
            </a:r>
            <a:r>
              <a:rPr lang="en-US" altLang="en-US" sz="1200" dirty="0">
                <a:solidFill>
                  <a:srgbClr val="1F2328"/>
                </a:solidFill>
                <a:latin typeface="Consolas" pitchFamily="34" charset="0"/>
                <a:ea typeface="Consolas" pitchFamily="34" charset="-122"/>
                <a:cs typeface="Consolas" pitchFamily="34" charset="-120"/>
              </a:rPr>
              <a:t>e</a:t>
            </a:r>
            <a:r>
              <a:rPr lang="en-US" altLang="en-US" sz="1200" dirty="0">
                <a:solidFill>
                  <a:srgbClr val="0A3069"/>
                </a:solidFill>
                <a:latin typeface="Consolas" pitchFamily="34" charset="0"/>
                <a:ea typeface="Consolas" pitchFamily="34" charset="-122"/>
                <a:cs typeface="Consolas" pitchFamily="34" charset="-120"/>
              </a:rPr>
              <a:t>}"</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CF222E"/>
                </a:solidFill>
                <a:latin typeface="Consolas" pitchFamily="34" charset="0"/>
                <a:ea typeface="Consolas" pitchFamily="34" charset="-122"/>
                <a:cs typeface="Consolas" pitchFamily="34" charset="-120"/>
              </a:rPr>
              <a:t>except</a:t>
            </a:r>
            <a:r>
              <a:rPr lang="en-US" altLang="en-US" sz="1200" dirty="0">
                <a:solidFill>
                  <a:srgbClr val="1F2328"/>
                </a:solidFill>
                <a:latin typeface="Consolas" pitchFamily="34" charset="0"/>
                <a:ea typeface="Consolas" pitchFamily="34" charset="-122"/>
                <a:cs typeface="Consolas" pitchFamily="34" charset="-120"/>
              </a:rPr>
              <a:t> KedaiError </a:t>
            </a:r>
            <a:r>
              <a:rPr lang="en-US" altLang="en-US" sz="1200" dirty="0">
                <a:solidFill>
                  <a:srgbClr val="CF222E"/>
                </a:solidFill>
                <a:latin typeface="Consolas" pitchFamily="34" charset="0"/>
                <a:ea typeface="Consolas" pitchFamily="34" charset="-122"/>
                <a:cs typeface="Consolas" pitchFamily="34" charset="-120"/>
              </a:rPr>
              <a:t>as</a:t>
            </a:r>
            <a:r>
              <a:rPr lang="en-US" altLang="en-US" sz="1200" dirty="0">
                <a:solidFill>
                  <a:srgbClr val="1F2328"/>
                </a:solidFill>
                <a:latin typeface="Consolas" pitchFamily="34" charset="0"/>
                <a:ea typeface="Consolas" pitchFamily="34" charset="-122"/>
                <a:cs typeface="Consolas" pitchFamily="34" charset="-120"/>
              </a:rPr>
              <a:t> e:</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print</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A3069"/>
                </a:solidFill>
                <a:latin typeface="Consolas" pitchFamily="34" charset="0"/>
                <a:ea typeface="Consolas" pitchFamily="34" charset="-122"/>
                <a:cs typeface="Consolas" pitchFamily="34" charset="-120"/>
              </a:rPr>
              <a:t>f"  [GAGAL] {</a:t>
            </a:r>
            <a:r>
              <a:rPr lang="en-US" altLang="en-US" sz="1200" dirty="0">
                <a:solidFill>
                  <a:srgbClr val="1F2328"/>
                </a:solidFill>
                <a:latin typeface="Consolas" pitchFamily="34" charset="0"/>
                <a:ea typeface="Consolas" pitchFamily="34" charset="-122"/>
                <a:cs typeface="Consolas" pitchFamily="34" charset="-120"/>
              </a:rPr>
              <a:t>e</a:t>
            </a:r>
            <a:r>
              <a:rPr lang="en-US" altLang="en-US" sz="1200" dirty="0">
                <a:solidFill>
                  <a:srgbClr val="0A3069"/>
                </a:solidFill>
                <a:latin typeface="Consolas" pitchFamily="34" charset="0"/>
                <a:ea typeface="Consolas" pitchFamily="34" charset="-122"/>
                <a:cs typeface="Consolas" pitchFamily="34" charset="-120"/>
              </a:rPr>
              <a:t>}"</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CF222E"/>
                </a:solidFill>
                <a:latin typeface="Consolas" pitchFamily="34" charset="0"/>
                <a:ea typeface="Consolas" pitchFamily="34" charset="-122"/>
                <a:cs typeface="Consolas" pitchFamily="34" charset="-120"/>
              </a:rPr>
              <a:t>except</a:t>
            </a:r>
            <a:r>
              <a:rPr lang="en-US" altLang="en-US" sz="1200" dirty="0">
                <a:solidFill>
                  <a:srgbClr val="1F2328"/>
                </a:solidFill>
                <a:latin typeface="Consolas" pitchFamily="34" charset="0"/>
                <a:ea typeface="Consolas" pitchFamily="34" charset="-122"/>
                <a:cs typeface="Consolas" pitchFamily="34" charset="-120"/>
              </a:rPr>
              <a:t> ValueError </a:t>
            </a:r>
            <a:r>
              <a:rPr lang="en-US" altLang="en-US" sz="1200" dirty="0">
                <a:solidFill>
                  <a:srgbClr val="CF222E"/>
                </a:solidFill>
                <a:latin typeface="Consolas" pitchFamily="34" charset="0"/>
                <a:ea typeface="Consolas" pitchFamily="34" charset="-122"/>
                <a:cs typeface="Consolas" pitchFamily="34" charset="-120"/>
              </a:rPr>
              <a:t>as</a:t>
            </a:r>
            <a:r>
              <a:rPr lang="en-US" altLang="en-US" sz="1200" dirty="0">
                <a:solidFill>
                  <a:srgbClr val="1F2328"/>
                </a:solidFill>
                <a:latin typeface="Consolas" pitchFamily="34" charset="0"/>
                <a:ea typeface="Consolas" pitchFamily="34" charset="-122"/>
                <a:cs typeface="Consolas" pitchFamily="34" charset="-120"/>
              </a:rPr>
              <a:t> e:</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CF222E"/>
                </a:solidFill>
                <a:latin typeface="Consolas" pitchFamily="34" charset="0"/>
                <a:ea typeface="Consolas" pitchFamily="34" charset="-122"/>
                <a:cs typeface="Consolas" pitchFamily="34" charset="-120"/>
              </a:rPr>
              <a:t>else</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print</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A3069"/>
                </a:solidFill>
                <a:latin typeface="Consolas" pitchFamily="34" charset="0"/>
                <a:ea typeface="Consolas" pitchFamily="34" charset="-122"/>
                <a:cs typeface="Consolas" pitchFamily="34" charset="-120"/>
              </a:rPr>
              <a:t>f"  [OK] {</a:t>
            </a:r>
            <a:r>
              <a:rPr lang="en-US" altLang="en-US" sz="1200" dirty="0">
                <a:solidFill>
                  <a:srgbClr val="1F2328"/>
                </a:solidFill>
                <a:latin typeface="Consolas" pitchFamily="34" charset="0"/>
                <a:ea typeface="Consolas" pitchFamily="34" charset="-122"/>
                <a:cs typeface="Consolas" pitchFamily="34" charset="-120"/>
              </a:rPr>
              <a:t>jumlah</a:t>
            </a:r>
            <a:r>
              <a:rPr lang="en-US" altLang="en-US" sz="1200" dirty="0">
                <a:solidFill>
                  <a:srgbClr val="0A3069"/>
                </a:solidFill>
                <a:latin typeface="Consolas" pitchFamily="34" charset="0"/>
                <a:ea typeface="Consolas" pitchFamily="34" charset="-122"/>
                <a:cs typeface="Consolas" pitchFamily="34" charset="-120"/>
              </a:rPr>
              <a:t>} x {</a:t>
            </a:r>
            <a:r>
              <a:rPr lang="en-US" altLang="en-US" sz="1200" dirty="0">
                <a:solidFill>
                  <a:srgbClr val="1F2328"/>
                </a:solidFill>
                <a:latin typeface="Consolas" pitchFamily="34" charset="0"/>
                <a:ea typeface="Consolas" pitchFamily="34" charset="-122"/>
                <a:cs typeface="Consolas" pitchFamily="34" charset="-120"/>
              </a:rPr>
              <a:t>menu.nama</a:t>
            </a:r>
            <a:r>
              <a:rPr lang="en-US" altLang="en-US" sz="1200" dirty="0">
                <a:solidFill>
                  <a:srgbClr val="0A3069"/>
                </a:solidFill>
                <a:latin typeface="Consolas" pitchFamily="34" charset="0"/>
                <a:ea typeface="Consolas" pitchFamily="34" charset="-122"/>
                <a:cs typeface="Consolas" pitchFamily="34" charset="-120"/>
              </a:rPr>
              <a:t>}"</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p:txBody>
      </p:sp>
      <p:sp>
        <p:nvSpPr>
          <p:cNvPr id="13" name="Shape 10"/>
          <p:cNvSpPr/>
          <p:nvPr/>
        </p:nvSpPr>
        <p:spPr>
          <a:xfrm>
            <a:off x="6210148" y="2309683"/>
            <a:ext cx="1051560" cy="329184"/>
          </a:xfrm>
          <a:prstGeom prst="roundRect">
            <a:avLst>
              <a:gd name="adj" fmla="val 138889"/>
            </a:avLst>
          </a:prstGeom>
          <a:solidFill>
            <a:srgbClr val="B07219"/>
          </a:solidFill>
          <a:ln/>
        </p:spPr>
      </p:sp>
      <p:sp>
        <p:nvSpPr>
          <p:cNvPr id="14" name="Text 11"/>
          <p:cNvSpPr txBox="1"/>
          <p:nvPr/>
        </p:nvSpPr>
        <p:spPr>
          <a:xfrm>
            <a:off x="6210148" y="2309683"/>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5" name="Text 12"/>
          <p:cNvSpPr txBox="1"/>
          <p:nvPr/>
        </p:nvSpPr>
        <p:spPr>
          <a:xfrm>
            <a:off x="7398868" y="2309683"/>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java/studi-kasus/Main.java</a:t>
            </a:r>
            <a:endParaRPr lang="id-ID" sz="1100" dirty="0"/>
          </a:p>
        </p:txBody>
      </p:sp>
      <p:sp>
        <p:nvSpPr>
          <p:cNvPr id="16" name="Shape 13"/>
          <p:cNvSpPr/>
          <p:nvPr/>
        </p:nvSpPr>
        <p:spPr>
          <a:xfrm>
            <a:off x="6210148" y="2730307"/>
            <a:ext cx="5432908" cy="2773680"/>
          </a:xfrm>
          <a:prstGeom prst="roundRect">
            <a:avLst>
              <a:gd name="adj" fmla="val 1087"/>
            </a:avLst>
          </a:prstGeom>
          <a:solidFill>
            <a:srgbClr val="F6F8FA"/>
          </a:solidFill>
          <a:ln w="9525">
            <a:solidFill>
              <a:srgbClr val="D0D7DE"/>
            </a:solidFill>
            <a:prstDash val="solid"/>
          </a:ln>
        </p:spPr>
      </p:sp>
      <p:sp>
        <p:nvSpPr>
          <p:cNvPr id="17" name="Text 14"/>
          <p:cNvSpPr txBox="1"/>
          <p:nvPr/>
        </p:nvSpPr>
        <p:spPr>
          <a:xfrm>
            <a:off x="6319876" y="2821747"/>
            <a:ext cx="5213452" cy="2590800"/>
          </a:xfrm>
          <a:prstGeom prst="rect">
            <a:avLst/>
          </a:prstGeom>
          <a:noFill/>
          <a:ln/>
        </p:spPr>
        <p:txBody>
          <a:bodyPr wrap="square" lIns="0" tIns="0" rIns="0" bIns="0" rtlCol="0" anchor="t"/>
          <a:lstStyle/>
          <a:p>
            <a:pPr indent="0" marL="0">
              <a:buNone/>
            </a:pPr>
            <a:r>
              <a:rPr lang="en-US" altLang="en-US" sz="1200" dirty="0">
                <a:solidFill>
                  <a:srgbClr val="CF222E"/>
                </a:solidFill>
                <a:latin typeface="Consolas" pitchFamily="34" charset="0"/>
                <a:ea typeface="Consolas" pitchFamily="34" charset="-122"/>
                <a:cs typeface="Consolas" pitchFamily="34" charset="-120"/>
              </a:rPr>
              <a:t>try</a:t>
            </a: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Menu menu = kedai.cariMenu(kode);</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pesananBudi.tambahItem(menu, jumlah);</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catch</a:t>
            </a:r>
            <a:r>
              <a:rPr lang="en-US" altLang="en-US" sz="1200" dirty="0">
                <a:solidFill>
                  <a:srgbClr val="1F2328"/>
                </a:solidFill>
                <a:latin typeface="Consolas" pitchFamily="34" charset="0"/>
                <a:ea typeface="Consolas" pitchFamily="34" charset="-122"/>
                <a:cs typeface="Consolas" pitchFamily="34" charset="-120"/>
              </a:rPr>
              <a:t> (MenuTidakDitemukanException e)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System.out.println(</a:t>
            </a:r>
            <a:r>
              <a:rPr lang="en-US" altLang="en-US" sz="1200" dirty="0">
                <a:solidFill>
                  <a:srgbClr val="0A3069"/>
                </a:solidFill>
                <a:latin typeface="Consolas" pitchFamily="34" charset="0"/>
                <a:ea typeface="Consolas" pitchFamily="34" charset="-122"/>
                <a:cs typeface="Consolas" pitchFamily="34" charset="-120"/>
              </a:rPr>
              <a:t>"  [GAGAL] "</a:t>
            </a:r>
            <a:r>
              <a:rPr lang="en-US" altLang="en-US" sz="1200" dirty="0">
                <a:solidFill>
                  <a:srgbClr val="1F2328"/>
                </a:solidFill>
                <a:latin typeface="Consolas" pitchFamily="34" charset="0"/>
                <a:ea typeface="Consolas" pitchFamily="34" charset="-122"/>
                <a:cs typeface="Consolas" pitchFamily="34" charset="-120"/>
              </a:rPr>
              <a:t> + e.getMessage());</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catch</a:t>
            </a:r>
            <a:r>
              <a:rPr lang="en-US" altLang="en-US" sz="1200" dirty="0">
                <a:solidFill>
                  <a:srgbClr val="1F2328"/>
                </a:solidFill>
                <a:latin typeface="Consolas" pitchFamily="34" charset="0"/>
                <a:ea typeface="Consolas" pitchFamily="34" charset="-122"/>
                <a:cs typeface="Consolas" pitchFamily="34" charset="-120"/>
              </a:rPr>
              <a:t> (StokTidakCukupException e)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System.out.println(</a:t>
            </a:r>
            <a:r>
              <a:rPr lang="en-US" altLang="en-US" sz="1200" dirty="0">
                <a:solidFill>
                  <a:srgbClr val="0A3069"/>
                </a:solidFill>
                <a:latin typeface="Consolas" pitchFamily="34" charset="0"/>
                <a:ea typeface="Consolas" pitchFamily="34" charset="-122"/>
                <a:cs typeface="Consolas" pitchFamily="34" charset="-120"/>
              </a:rPr>
              <a:t>"  [GAGAL] "</a:t>
            </a:r>
            <a:r>
              <a:rPr lang="en-US" altLang="en-US" sz="1200" dirty="0">
                <a:solidFill>
                  <a:srgbClr val="1F2328"/>
                </a:solidFill>
                <a:latin typeface="Consolas" pitchFamily="34" charset="0"/>
                <a:ea typeface="Consolas" pitchFamily="34" charset="-122"/>
                <a:cs typeface="Consolas" pitchFamily="34" charset="-120"/>
              </a:rPr>
              <a:t> + e.getMessage());</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catch</a:t>
            </a:r>
            <a:r>
              <a:rPr lang="en-US" altLang="en-US" sz="1200" dirty="0">
                <a:solidFill>
                  <a:srgbClr val="1F2328"/>
                </a:solidFill>
                <a:latin typeface="Consolas" pitchFamily="34" charset="0"/>
                <a:ea typeface="Consolas" pitchFamily="34" charset="-122"/>
                <a:cs typeface="Consolas" pitchFamily="34" charset="-120"/>
              </a:rPr>
              <a:t> (KedaiException e)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System.out.println(</a:t>
            </a:r>
            <a:r>
              <a:rPr lang="en-US" altLang="en-US" sz="1200" dirty="0">
                <a:solidFill>
                  <a:srgbClr val="0A3069"/>
                </a:solidFill>
                <a:latin typeface="Consolas" pitchFamily="34" charset="0"/>
                <a:ea typeface="Consolas" pitchFamily="34" charset="-122"/>
                <a:cs typeface="Consolas" pitchFamily="34" charset="-120"/>
              </a:rPr>
              <a:t>"  [GAGAL] "</a:t>
            </a:r>
            <a:r>
              <a:rPr lang="en-US" altLang="en-US" sz="1200" dirty="0">
                <a:solidFill>
                  <a:srgbClr val="1F2328"/>
                </a:solidFill>
                <a:latin typeface="Consolas" pitchFamily="34" charset="0"/>
                <a:ea typeface="Consolas" pitchFamily="34" charset="-122"/>
                <a:cs typeface="Consolas" pitchFamily="34" charset="-120"/>
              </a:rPr>
              <a:t> + e.getMessage());</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catch</a:t>
            </a:r>
            <a:r>
              <a:rPr lang="en-US" altLang="en-US" sz="1200" dirty="0">
                <a:solidFill>
                  <a:srgbClr val="1F2328"/>
                </a:solidFill>
                <a:latin typeface="Consolas" pitchFamily="34" charset="0"/>
                <a:ea typeface="Consolas" pitchFamily="34" charset="-122"/>
                <a:cs typeface="Consolas" pitchFamily="34" charset="-120"/>
              </a:rPr>
              <a:t> (IllegalArgumentException e) {</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F222E"/>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Miskonsepsi yang Sering Terjadi</a:t>
            </a:r>
            <a:endParaRPr lang="id-ID" sz="3200" dirty="0"/>
          </a:p>
        </p:txBody>
      </p:sp>
      <p:sp>
        <p:nvSpPr>
          <p:cNvPr id="5" name="Shape 2"/>
          <p:cNvSpPr/>
          <p:nvPr/>
        </p:nvSpPr>
        <p:spPr>
          <a:xfrm>
            <a:off x="548640" y="1472047"/>
            <a:ext cx="329184" cy="329184"/>
          </a:xfrm>
          <a:prstGeom prst="ellipse">
            <a:avLst/>
          </a:prstGeom>
          <a:solidFill>
            <a:srgbClr val="CF222E"/>
          </a:solidFill>
          <a:ln/>
        </p:spPr>
      </p:sp>
      <p:pic>
        <p:nvPicPr>
          <p:cNvPr id="6" name="Image 1" descr="preencoded.png">    </p:cNvPr>
          <p:cNvPicPr>
            <a:picLocks noChangeAspect="1"/>
          </p:cNvPicPr>
          <p:nvPr/>
        </p:nvPicPr>
        <p:blipFill>
          <a:blip r:embed="rId2"/>
          <a:stretch>
            <a:fillRect/>
          </a:stretch>
        </p:blipFill>
        <p:spPr>
          <a:xfrm>
            <a:off x="621060" y="1544467"/>
            <a:ext cx="184343" cy="184343"/>
          </a:xfrm>
          <a:prstGeom prst="rect">
            <a:avLst/>
          </a:prstGeom>
        </p:spPr>
      </p:pic>
      <p:sp>
        <p:nvSpPr>
          <p:cNvPr id="7" name="Text 3"/>
          <p:cNvSpPr txBox="1"/>
          <p:nvPr/>
        </p:nvSpPr>
        <p:spPr>
          <a:xfrm>
            <a:off x="987552" y="1472047"/>
            <a:ext cx="3886200" cy="329184"/>
          </a:xfrm>
          <a:prstGeom prst="rect">
            <a:avLst/>
          </a:prstGeom>
          <a:noFill/>
          <a:ln/>
        </p:spPr>
        <p:txBody>
          <a:bodyPr wrap="square" lIns="0" tIns="0" rIns="0" bIns="0" rtlCol="0" anchor="ctr"/>
          <a:lstStyle/>
          <a:p>
            <a:pPr indent="0" marL="0">
              <a:buNone/>
            </a:pPr>
            <a:r>
              <a:rPr lang="id-ID" altLang="en-US" sz="1600" b="1" dirty="0">
                <a:solidFill>
                  <a:srgbClr val="CF222E"/>
                </a:solidFill>
              </a:rPr>
              <a:t>Anggapan keliru</a:t>
            </a:r>
            <a:endParaRPr lang="id-ID" sz="1600" dirty="0"/>
          </a:p>
        </p:txBody>
      </p:sp>
      <p:sp>
        <p:nvSpPr>
          <p:cNvPr id="8" name="Shape 4"/>
          <p:cNvSpPr/>
          <p:nvPr/>
        </p:nvSpPr>
        <p:spPr>
          <a:xfrm>
            <a:off x="5166360" y="1472047"/>
            <a:ext cx="329184" cy="329184"/>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5238780" y="1544467"/>
            <a:ext cx="184343" cy="184343"/>
          </a:xfrm>
          <a:prstGeom prst="rect">
            <a:avLst/>
          </a:prstGeom>
        </p:spPr>
      </p:pic>
      <p:sp>
        <p:nvSpPr>
          <p:cNvPr id="10" name="Text 5"/>
          <p:cNvSpPr txBox="1"/>
          <p:nvPr/>
        </p:nvSpPr>
        <p:spPr>
          <a:xfrm>
            <a:off x="5605272" y="1472047"/>
            <a:ext cx="6019495" cy="329184"/>
          </a:xfrm>
          <a:prstGeom prst="rect">
            <a:avLst/>
          </a:prstGeom>
          <a:noFill/>
          <a:ln/>
        </p:spPr>
        <p:txBody>
          <a:bodyPr wrap="square" lIns="0" tIns="0" rIns="0" bIns="0" rtlCol="0" anchor="ctr"/>
          <a:lstStyle/>
          <a:p>
            <a:pPr indent="0" marL="0">
              <a:buNone/>
            </a:pPr>
            <a:r>
              <a:rPr lang="id-ID" altLang="en-US" sz="1600" b="1" dirty="0">
                <a:solidFill>
                  <a:srgbClr val="1A7F37"/>
                </a:solidFill>
              </a:rPr>
              <a:t>Yang benar</a:t>
            </a:r>
            <a:endParaRPr lang="id-ID" sz="1600" dirty="0"/>
          </a:p>
        </p:txBody>
      </p:sp>
      <p:sp>
        <p:nvSpPr>
          <p:cNvPr id="11" name="Shape 6"/>
          <p:cNvSpPr/>
          <p:nvPr/>
        </p:nvSpPr>
        <p:spPr>
          <a:xfrm>
            <a:off x="548640" y="1974967"/>
            <a:ext cx="4343400" cy="1248918"/>
          </a:xfrm>
          <a:prstGeom prst="roundRect">
            <a:avLst>
              <a:gd name="adj" fmla="val 6433"/>
            </a:avLst>
          </a:prstGeom>
          <a:solidFill>
            <a:srgbClr val="FFEBE9"/>
          </a:solidFill>
          <a:ln w="9525">
            <a:solidFill>
              <a:srgbClr val="FF8182"/>
            </a:solidFill>
            <a:prstDash val="solid"/>
          </a:ln>
        </p:spPr>
      </p:sp>
      <p:sp>
        <p:nvSpPr>
          <p:cNvPr id="12" name="Text 7"/>
          <p:cNvSpPr txBox="1"/>
          <p:nvPr/>
        </p:nvSpPr>
        <p:spPr>
          <a:xfrm>
            <a:off x="777240" y="2157847"/>
            <a:ext cx="3886200" cy="974598"/>
          </a:xfrm>
          <a:prstGeom prst="rect">
            <a:avLst/>
          </a:prstGeom>
          <a:noFill/>
          <a:ln/>
        </p:spPr>
        <p:txBody>
          <a:bodyPr wrap="square" lIns="0" tIns="0" rIns="0" bIns="0" rtlCol="0" anchor="t"/>
          <a:lstStyle/>
          <a:p>
            <a:pPr indent="0" marL="0">
              <a:buNone/>
            </a:pPr>
            <a:r>
              <a:rPr lang="id-ID" altLang="en-US" sz="1900" dirty="0">
                <a:solidFill>
                  <a:srgbClr val="1F2328"/>
                </a:solidFill>
              </a:rPr>
              <a:t>“</a:t>
            </a:r>
            <a:r>
              <a:rPr lang="id-ID" altLang="en-US" sz="1900" i="1" dirty="0">
                <a:solidFill>
                  <a:srgbClr val="1F2328"/>
                </a:solidFill>
              </a:rPr>
              <a:t>Exception</a:t>
            </a:r>
            <a:r>
              <a:rPr lang="id-ID" altLang="en-US" sz="1900" dirty="0">
                <a:solidFill>
                  <a:srgbClr val="1F2328"/>
                </a:solidFill>
              </a:rPr>
              <a:t> itu sama dengan </a:t>
            </a:r>
            <a:r>
              <a:rPr lang="id-ID" altLang="en-US" sz="1900" i="1" dirty="0">
                <a:solidFill>
                  <a:srgbClr val="1F2328"/>
                </a:solidFill>
              </a:rPr>
              <a:t>bug</a:t>
            </a:r>
            <a:r>
              <a:rPr lang="id-ID" altLang="en-US" sz="1900" dirty="0">
                <a:solidFill>
                  <a:srgbClr val="1F2328"/>
                </a:solidFill>
              </a:rPr>
              <a:t>.”</a:t>
            </a:r>
            <a:endParaRPr lang="id-ID" sz="1900" dirty="0"/>
          </a:p>
        </p:txBody>
      </p:sp>
      <p:sp>
        <p:nvSpPr>
          <p:cNvPr id="13" name="Shape 8"/>
          <p:cNvSpPr/>
          <p:nvPr/>
        </p:nvSpPr>
        <p:spPr>
          <a:xfrm>
            <a:off x="5166360" y="1974967"/>
            <a:ext cx="6476695" cy="1248918"/>
          </a:xfrm>
          <a:prstGeom prst="roundRect">
            <a:avLst>
              <a:gd name="adj" fmla="val 6433"/>
            </a:avLst>
          </a:prstGeom>
          <a:solidFill>
            <a:srgbClr val="DAFBE1"/>
          </a:solidFill>
          <a:ln w="9525">
            <a:solidFill>
              <a:srgbClr val="4AC26B"/>
            </a:solidFill>
            <a:prstDash val="solid"/>
          </a:ln>
        </p:spPr>
      </p:sp>
      <p:sp>
        <p:nvSpPr>
          <p:cNvPr id="14" name="Text 9"/>
          <p:cNvSpPr txBox="1"/>
          <p:nvPr/>
        </p:nvSpPr>
        <p:spPr>
          <a:xfrm>
            <a:off x="5394960" y="2157847"/>
            <a:ext cx="6019495" cy="974598"/>
          </a:xfrm>
          <a:prstGeom prst="rect">
            <a:avLst/>
          </a:prstGeom>
          <a:noFill/>
          <a:ln/>
        </p:spPr>
        <p:txBody>
          <a:bodyPr wrap="square" lIns="0" tIns="0" rIns="0" bIns="0" rtlCol="0" anchor="t"/>
          <a:lstStyle/>
          <a:p>
            <a:pPr indent="0" marL="0">
              <a:buNone/>
            </a:pPr>
            <a:r>
              <a:rPr lang="id-ID" altLang="en-US" sz="1900" dirty="0">
                <a:solidFill>
                  <a:srgbClr val="1F2328"/>
                </a:solidFill>
              </a:rPr>
              <a:t>Tidak selalu. </a:t>
            </a:r>
            <a:r>
              <a:rPr lang="id-ID" altLang="en-US" sz="1900" i="1" dirty="0">
                <a:solidFill>
                  <a:srgbClr val="1F2328"/>
                </a:solidFill>
              </a:rPr>
              <a:t>Exception</a:t>
            </a:r>
            <a:r>
              <a:rPr lang="id-ID" altLang="en-US" sz="1900" dirty="0">
                <a:solidFill>
                  <a:srgbClr val="1F2328"/>
                </a:solidFill>
              </a:rPr>
              <a:t> bisa menandai situasi wajar seperti stok habis. Kesalahan logika malah sering tidak memunculkan </a:t>
            </a:r>
            <a:r>
              <a:rPr lang="id-ID" altLang="en-US" sz="1900" i="1" dirty="0">
                <a:solidFill>
                  <a:srgbClr val="1F2328"/>
                </a:solidFill>
              </a:rPr>
              <a:t>exception</a:t>
            </a:r>
            <a:r>
              <a:rPr lang="id-ID" altLang="en-US" sz="1900" dirty="0">
                <a:solidFill>
                  <a:srgbClr val="1F2328"/>
                </a:solidFill>
              </a:rPr>
              <a:t> sama sekali.</a:t>
            </a:r>
            <a:endParaRPr lang="id-ID" sz="1900" dirty="0"/>
          </a:p>
        </p:txBody>
      </p:sp>
      <p:sp>
        <p:nvSpPr>
          <p:cNvPr id="15" name="Shape 10"/>
          <p:cNvSpPr/>
          <p:nvPr/>
        </p:nvSpPr>
        <p:spPr>
          <a:xfrm>
            <a:off x="548640" y="3425053"/>
            <a:ext cx="4343400" cy="1248918"/>
          </a:xfrm>
          <a:prstGeom prst="roundRect">
            <a:avLst>
              <a:gd name="adj" fmla="val 6433"/>
            </a:avLst>
          </a:prstGeom>
          <a:solidFill>
            <a:srgbClr val="FFEBE9"/>
          </a:solidFill>
          <a:ln w="9525">
            <a:solidFill>
              <a:srgbClr val="FF8182"/>
            </a:solidFill>
            <a:prstDash val="solid"/>
          </a:ln>
        </p:spPr>
      </p:sp>
      <p:sp>
        <p:nvSpPr>
          <p:cNvPr id="16" name="Text 11"/>
          <p:cNvSpPr txBox="1"/>
          <p:nvPr/>
        </p:nvSpPr>
        <p:spPr>
          <a:xfrm>
            <a:off x="777240" y="3607933"/>
            <a:ext cx="3886200" cy="974598"/>
          </a:xfrm>
          <a:prstGeom prst="rect">
            <a:avLst/>
          </a:prstGeom>
          <a:noFill/>
          <a:ln/>
        </p:spPr>
        <p:txBody>
          <a:bodyPr wrap="square" lIns="0" tIns="0" rIns="0" bIns="0" rtlCol="0" anchor="t"/>
          <a:lstStyle/>
          <a:p>
            <a:pPr indent="0" marL="0">
              <a:buNone/>
            </a:pPr>
            <a:r>
              <a:rPr lang="id-ID" altLang="en-US" sz="1900" dirty="0">
                <a:solidFill>
                  <a:srgbClr val="1F2328"/>
                </a:solidFill>
              </a:rPr>
              <a:t>“Setelah </a:t>
            </a:r>
            <a:r>
              <a:rPr lang="id-ID" altLang="en-US" sz="1900" i="1" dirty="0">
                <a:solidFill>
                  <a:srgbClr val="1F2328"/>
                </a:solidFill>
              </a:rPr>
              <a:t>exception</a:t>
            </a:r>
            <a:r>
              <a:rPr lang="id-ID" altLang="en-US" sz="1900" dirty="0">
                <a:solidFill>
                  <a:srgbClr val="1F2328"/>
                </a:solidFill>
              </a:rPr>
              <a:t> ditangkap, program mengulang baris yang gagal.”</a:t>
            </a:r>
            <a:endParaRPr lang="id-ID" sz="1900" dirty="0"/>
          </a:p>
        </p:txBody>
      </p:sp>
      <p:sp>
        <p:nvSpPr>
          <p:cNvPr id="17" name="Shape 12"/>
          <p:cNvSpPr/>
          <p:nvPr/>
        </p:nvSpPr>
        <p:spPr>
          <a:xfrm>
            <a:off x="5166360" y="3425053"/>
            <a:ext cx="6476695" cy="1248918"/>
          </a:xfrm>
          <a:prstGeom prst="roundRect">
            <a:avLst>
              <a:gd name="adj" fmla="val 6433"/>
            </a:avLst>
          </a:prstGeom>
          <a:solidFill>
            <a:srgbClr val="DAFBE1"/>
          </a:solidFill>
          <a:ln w="9525">
            <a:solidFill>
              <a:srgbClr val="4AC26B"/>
            </a:solidFill>
            <a:prstDash val="solid"/>
          </a:ln>
        </p:spPr>
      </p:sp>
      <p:sp>
        <p:nvSpPr>
          <p:cNvPr id="18" name="Text 13"/>
          <p:cNvSpPr txBox="1"/>
          <p:nvPr/>
        </p:nvSpPr>
        <p:spPr>
          <a:xfrm>
            <a:off x="5394960" y="3607933"/>
            <a:ext cx="6019495" cy="974598"/>
          </a:xfrm>
          <a:prstGeom prst="rect">
            <a:avLst/>
          </a:prstGeom>
          <a:noFill/>
          <a:ln/>
        </p:spPr>
        <p:txBody>
          <a:bodyPr wrap="square" lIns="0" tIns="0" rIns="0" bIns="0" rtlCol="0" anchor="t"/>
          <a:lstStyle/>
          <a:p>
            <a:pPr indent="0" marL="0">
              <a:buNone/>
            </a:pPr>
            <a:r>
              <a:rPr lang="id-ID" altLang="en-US" sz="1900" dirty="0">
                <a:solidFill>
                  <a:srgbClr val="1F2328"/>
                </a:solidFill>
              </a:rPr>
              <a:t>Program melanjutkan ke baris setelah struktur </a:t>
            </a:r>
            <a:r>
              <a:rPr lang="id-ID" altLang="en-US" sz="1900" dirty="0">
                <a:solidFill>
                  <a:srgbClr val="1F2328"/>
                </a:solidFill>
                <a:latin typeface="Consolas" pitchFamily="34" charset="0"/>
                <a:ea typeface="Consolas" pitchFamily="34" charset="-122"/>
                <a:cs typeface="Consolas" pitchFamily="34" charset="-120"/>
              </a:rPr>
              <a:t>try</a:t>
            </a:r>
            <a:r>
              <a:rPr lang="id-ID" altLang="en-US" sz="1900" dirty="0">
                <a:solidFill>
                  <a:srgbClr val="1F2328"/>
                </a:solidFill>
              </a:rPr>
              <a:t>. Mencoba ulang harus ditulis sendiri, seperti pembayaran QRIS yang gagal lalu dicoba lagi dengan kartu kredit.</a:t>
            </a:r>
            <a:endParaRPr lang="id-ID" sz="1900" dirty="0"/>
          </a:p>
        </p:txBody>
      </p:sp>
      <p:sp>
        <p:nvSpPr>
          <p:cNvPr id="19" name="Shape 14"/>
          <p:cNvSpPr/>
          <p:nvPr/>
        </p:nvSpPr>
        <p:spPr>
          <a:xfrm>
            <a:off x="548640" y="4875139"/>
            <a:ext cx="4343400" cy="1248918"/>
          </a:xfrm>
          <a:prstGeom prst="roundRect">
            <a:avLst>
              <a:gd name="adj" fmla="val 6433"/>
            </a:avLst>
          </a:prstGeom>
          <a:solidFill>
            <a:srgbClr val="FFEBE9"/>
          </a:solidFill>
          <a:ln w="9525">
            <a:solidFill>
              <a:srgbClr val="FF8182"/>
            </a:solidFill>
            <a:prstDash val="solid"/>
          </a:ln>
        </p:spPr>
      </p:sp>
      <p:sp>
        <p:nvSpPr>
          <p:cNvPr id="20" name="Text 15"/>
          <p:cNvSpPr txBox="1"/>
          <p:nvPr/>
        </p:nvSpPr>
        <p:spPr>
          <a:xfrm>
            <a:off x="777240" y="5058019"/>
            <a:ext cx="3886200" cy="974598"/>
          </a:xfrm>
          <a:prstGeom prst="rect">
            <a:avLst/>
          </a:prstGeom>
          <a:noFill/>
          <a:ln/>
        </p:spPr>
        <p:txBody>
          <a:bodyPr wrap="square" lIns="0" tIns="0" rIns="0" bIns="0" rtlCol="0" anchor="t"/>
          <a:lstStyle/>
          <a:p>
            <a:pPr indent="0" marL="0">
              <a:buNone/>
            </a:pPr>
            <a:r>
              <a:rPr lang="id-ID" altLang="en-US" sz="1900" dirty="0">
                <a:solidFill>
                  <a:srgbClr val="1F2328"/>
                </a:solidFill>
              </a:rPr>
              <a:t>“</a:t>
            </a:r>
            <a:r>
              <a:rPr lang="id-ID" altLang="en-US" sz="1900" dirty="0">
                <a:solidFill>
                  <a:srgbClr val="1F2328"/>
                </a:solidFill>
                <a:latin typeface="Consolas" pitchFamily="34" charset="0"/>
                <a:ea typeface="Consolas" pitchFamily="34" charset="-122"/>
                <a:cs typeface="Consolas" pitchFamily="34" charset="-120"/>
              </a:rPr>
              <a:t>finally</a:t>
            </a:r>
            <a:r>
              <a:rPr lang="id-ID" altLang="en-US" sz="1900" dirty="0">
                <a:solidFill>
                  <a:srgbClr val="1F2328"/>
                </a:solidFill>
              </a:rPr>
              <a:t> hanya berjalan jika terjadi </a:t>
            </a:r>
            <a:r>
              <a:rPr lang="id-ID" altLang="en-US" sz="1900" i="1" dirty="0">
                <a:solidFill>
                  <a:srgbClr val="1F2328"/>
                </a:solidFill>
              </a:rPr>
              <a:t>error</a:t>
            </a:r>
            <a:r>
              <a:rPr lang="id-ID" altLang="en-US" sz="1900" dirty="0">
                <a:solidFill>
                  <a:srgbClr val="1F2328"/>
                </a:solidFill>
              </a:rPr>
              <a:t>.”</a:t>
            </a:r>
            <a:endParaRPr lang="id-ID" sz="1900" dirty="0"/>
          </a:p>
        </p:txBody>
      </p:sp>
      <p:sp>
        <p:nvSpPr>
          <p:cNvPr id="21" name="Shape 16"/>
          <p:cNvSpPr/>
          <p:nvPr/>
        </p:nvSpPr>
        <p:spPr>
          <a:xfrm>
            <a:off x="5166360" y="4875139"/>
            <a:ext cx="6476695" cy="1248918"/>
          </a:xfrm>
          <a:prstGeom prst="roundRect">
            <a:avLst>
              <a:gd name="adj" fmla="val 6433"/>
            </a:avLst>
          </a:prstGeom>
          <a:solidFill>
            <a:srgbClr val="DAFBE1"/>
          </a:solidFill>
          <a:ln w="9525">
            <a:solidFill>
              <a:srgbClr val="4AC26B"/>
            </a:solidFill>
            <a:prstDash val="solid"/>
          </a:ln>
        </p:spPr>
      </p:sp>
      <p:sp>
        <p:nvSpPr>
          <p:cNvPr id="22" name="Text 17"/>
          <p:cNvSpPr txBox="1"/>
          <p:nvPr/>
        </p:nvSpPr>
        <p:spPr>
          <a:xfrm>
            <a:off x="5394960" y="5058019"/>
            <a:ext cx="6019495" cy="974598"/>
          </a:xfrm>
          <a:prstGeom prst="rect">
            <a:avLst/>
          </a:prstGeom>
          <a:noFill/>
          <a:ln/>
        </p:spPr>
        <p:txBody>
          <a:bodyPr wrap="square" lIns="0" tIns="0" rIns="0" bIns="0" rtlCol="0" anchor="t"/>
          <a:lstStyle/>
          <a:p>
            <a:pPr indent="0" marL="0">
              <a:buNone/>
            </a:pPr>
            <a:r>
              <a:rPr lang="id-ID" altLang="en-US" sz="1900" dirty="0">
                <a:solidFill>
                  <a:srgbClr val="1F2328"/>
                </a:solidFill>
                <a:latin typeface="Consolas" pitchFamily="34" charset="0"/>
                <a:ea typeface="Consolas" pitchFamily="34" charset="-122"/>
                <a:cs typeface="Consolas" pitchFamily="34" charset="-120"/>
              </a:rPr>
              <a:t>finally</a:t>
            </a:r>
            <a:r>
              <a:rPr lang="id-ID" altLang="en-US" sz="1900" dirty="0">
                <a:solidFill>
                  <a:srgbClr val="1F2328"/>
                </a:solidFill>
              </a:rPr>
              <a:t> </a:t>
            </a:r>
            <a:r>
              <a:rPr lang="id-ID" altLang="en-US" sz="1900" b="1" dirty="0">
                <a:solidFill>
                  <a:srgbClr val="1F2328"/>
                </a:solidFill>
              </a:rPr>
              <a:t>selalu</a:t>
            </a:r>
            <a:r>
              <a:rPr lang="id-ID" altLang="en-US" sz="1900" dirty="0">
                <a:solidFill>
                  <a:srgbClr val="1F2328"/>
                </a:solidFill>
              </a:rPr>
              <a:t> berjalan: saat berhasil, saat </a:t>
            </a:r>
            <a:r>
              <a:rPr lang="id-ID" altLang="en-US" sz="1900" i="1" dirty="0">
                <a:solidFill>
                  <a:srgbClr val="1F2328"/>
                </a:solidFill>
              </a:rPr>
              <a:t>exception</a:t>
            </a:r>
            <a:r>
              <a:rPr lang="id-ID" altLang="en-US" sz="1900" dirty="0">
                <a:solidFill>
                  <a:srgbClr val="1F2328"/>
                </a:solidFill>
              </a:rPr>
              <a:t> ditangkap, dan saat </a:t>
            </a:r>
            <a:r>
              <a:rPr lang="id-ID" altLang="en-US" sz="1900" i="1" dirty="0">
                <a:solidFill>
                  <a:srgbClr val="1F2328"/>
                </a:solidFill>
              </a:rPr>
              <a:t>exception</a:t>
            </a:r>
            <a:r>
              <a:rPr lang="id-ID" altLang="en-US" sz="1900" dirty="0">
                <a:solidFill>
                  <a:srgbClr val="1F2328"/>
                </a:solidFill>
              </a:rPr>
              <a:t> lanjut merambat ke pemanggil.</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522293"/>
            <a:ext cx="11094415" cy="1758696"/>
          </a:xfrm>
          <a:prstGeom prst="roundRect">
            <a:avLst>
              <a:gd name="adj" fmla="val 3244"/>
            </a:avLst>
          </a:prstGeom>
          <a:solidFill>
            <a:srgbClr val="FBEFFF"/>
          </a:solidFill>
          <a:ln w="9525">
            <a:solidFill>
              <a:srgbClr val="C297FF"/>
            </a:solidFill>
            <a:prstDash val="solid"/>
          </a:ln>
        </p:spPr>
      </p:sp>
      <p:sp>
        <p:nvSpPr>
          <p:cNvPr id="6" name="Shape 3"/>
          <p:cNvSpPr/>
          <p:nvPr/>
        </p:nvSpPr>
        <p:spPr>
          <a:xfrm>
            <a:off x="777240" y="2173041"/>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273625"/>
            <a:ext cx="256032" cy="256032"/>
          </a:xfrm>
          <a:prstGeom prst="rect">
            <a:avLst/>
          </a:prstGeom>
        </p:spPr>
      </p:pic>
      <p:sp>
        <p:nvSpPr>
          <p:cNvPr id="8" name="Text 4"/>
          <p:cNvSpPr txBox="1"/>
          <p:nvPr/>
        </p:nvSpPr>
        <p:spPr>
          <a:xfrm>
            <a:off x="1417320" y="1750893"/>
            <a:ext cx="9951415" cy="1484376"/>
          </a:xfrm>
          <a:prstGeom prst="rect">
            <a:avLst/>
          </a:prstGeom>
          <a:noFill/>
          <a:ln/>
        </p:spPr>
        <p:txBody>
          <a:bodyPr wrap="square" lIns="0" tIns="0" rIns="0" bIns="0" rtlCol="0" anchor="t"/>
          <a:lstStyle/>
          <a:p>
            <a:pPr indent="0" marL="0">
              <a:buNone/>
            </a:pPr>
            <a:r>
              <a:rPr lang="id-ID" altLang="en-US" sz="2800" dirty="0">
                <a:solidFill>
                  <a:srgbClr val="1F2328"/>
                </a:solidFill>
              </a:rPr>
              <a:t>Sebuah </a:t>
            </a:r>
            <a:r>
              <a:rPr lang="id-ID" altLang="en-US" sz="2800" i="1" dirty="0">
                <a:solidFill>
                  <a:srgbClr val="1F2328"/>
                </a:solidFill>
              </a:rPr>
              <a:t>exception</a:t>
            </a:r>
            <a:r>
              <a:rPr lang="id-ID" altLang="en-US" sz="2800" dirty="0">
                <a:solidFill>
                  <a:srgbClr val="1F2328"/>
                </a:solidFill>
              </a:rPr>
              <a:t> tidak tertangkap sehingga muncul </a:t>
            </a:r>
            <a:r>
              <a:rPr lang="id-ID" altLang="en-US" sz="2800" i="1" dirty="0">
                <a:solidFill>
                  <a:srgbClr val="1F2328"/>
                </a:solidFill>
              </a:rPr>
              <a:t>traceback</a:t>
            </a:r>
            <a:r>
              <a:rPr lang="id-ID" altLang="en-US" sz="2800" dirty="0">
                <a:solidFill>
                  <a:srgbClr val="1F2328"/>
                </a:solidFill>
              </a:rPr>
              <a:t> (Python) atau </a:t>
            </a:r>
            <a:r>
              <a:rPr lang="id-ID" altLang="en-US" sz="2800" i="1" dirty="0">
                <a:solidFill>
                  <a:srgbClr val="1F2328"/>
                </a:solidFill>
              </a:rPr>
              <a:t>stack trace</a:t>
            </a:r>
            <a:r>
              <a:rPr lang="id-ID" altLang="en-US" sz="2800" dirty="0">
                <a:solidFill>
                  <a:srgbClr val="1F2328"/>
                </a:solidFill>
              </a:rPr>
              <a:t> (Java). Di mana kamu mencari tempat </a:t>
            </a:r>
            <a:r>
              <a:rPr lang="id-ID" altLang="en-US" sz="2800" i="1" dirty="0">
                <a:solidFill>
                  <a:srgbClr val="1F2328"/>
                </a:solidFill>
              </a:rPr>
              <a:t>exception</a:t>
            </a:r>
            <a:r>
              <a:rPr lang="id-ID" altLang="en-US" sz="2800" dirty="0">
                <a:solidFill>
                  <a:srgbClr val="1F2328"/>
                </a:solidFill>
              </a:rPr>
              <a:t> itu </a:t>
            </a:r>
            <a:r>
              <a:rPr lang="id-ID" altLang="en-US" sz="2800" b="1" dirty="0">
                <a:solidFill>
                  <a:srgbClr val="1F2328"/>
                </a:solidFill>
              </a:rPr>
              <a:t>lahir</a:t>
            </a:r>
            <a:r>
              <a:rPr lang="id-ID" altLang="en-US" sz="2800" dirty="0">
                <a:solidFill>
                  <a:srgbClr val="1F2328"/>
                </a:solidFill>
              </a:rPr>
              <a:t>?</a:t>
            </a:r>
            <a:endParaRPr lang="id-ID" sz="2800" dirty="0"/>
          </a:p>
        </p:txBody>
      </p:sp>
      <p:sp>
        <p:nvSpPr>
          <p:cNvPr id="9" name="Shape 5"/>
          <p:cNvSpPr/>
          <p:nvPr/>
        </p:nvSpPr>
        <p:spPr>
          <a:xfrm>
            <a:off x="548640" y="3463869"/>
            <a:ext cx="5455768" cy="1389888"/>
          </a:xfrm>
          <a:prstGeom prst="roundRect">
            <a:avLst>
              <a:gd name="adj" fmla="val 5194"/>
            </a:avLst>
          </a:prstGeom>
          <a:solidFill>
            <a:srgbClr val="FFFFFF"/>
          </a:solidFill>
          <a:ln w="9525">
            <a:solidFill>
              <a:srgbClr val="D0D7DE"/>
            </a:solidFill>
            <a:prstDash val="solid"/>
          </a:ln>
        </p:spPr>
      </p:sp>
      <p:sp>
        <p:nvSpPr>
          <p:cNvPr id="10" name="Shape 6"/>
          <p:cNvSpPr/>
          <p:nvPr/>
        </p:nvSpPr>
        <p:spPr>
          <a:xfrm>
            <a:off x="749808" y="3930213"/>
            <a:ext cx="457200" cy="457200"/>
          </a:xfrm>
          <a:prstGeom prst="ellipse">
            <a:avLst/>
          </a:prstGeom>
          <a:solidFill>
            <a:srgbClr val="8250DF"/>
          </a:solidFill>
          <a:ln/>
        </p:spPr>
      </p:sp>
      <p:sp>
        <p:nvSpPr>
          <p:cNvPr id="11" name="Text 7"/>
          <p:cNvSpPr txBox="1"/>
          <p:nvPr/>
        </p:nvSpPr>
        <p:spPr>
          <a:xfrm>
            <a:off x="749808" y="3930213"/>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3573597"/>
            <a:ext cx="4541368" cy="1170432"/>
          </a:xfrm>
          <a:prstGeom prst="rect">
            <a:avLst/>
          </a:prstGeom>
          <a:noFill/>
          <a:ln/>
        </p:spPr>
        <p:txBody>
          <a:bodyPr wrap="square" lIns="0" tIns="0" rIns="0" bIns="0" rtlCol="0" anchor="ctr"/>
          <a:lstStyle/>
          <a:p>
            <a:pPr indent="0" marL="0">
              <a:buNone/>
            </a:pPr>
            <a:r>
              <a:rPr lang="id-ID" altLang="en-US" sz="2400" dirty="0">
                <a:solidFill>
                  <a:srgbClr val="1F2328"/>
                </a:solidFill>
              </a:rPr>
              <a:t>Python: blok </a:t>
            </a:r>
            <a:r>
              <a:rPr lang="id-ID" altLang="en-US" sz="2400" dirty="0">
                <a:solidFill>
                  <a:srgbClr val="0A3069"/>
                </a:solidFill>
                <a:latin typeface="Consolas" pitchFamily="34" charset="0"/>
                <a:ea typeface="Consolas" pitchFamily="34" charset="-122"/>
                <a:cs typeface="Consolas" pitchFamily="34" charset="-120"/>
              </a:rPr>
              <a:t>File ...</a:t>
            </a:r>
            <a:r>
              <a:rPr lang="id-ID" altLang="en-US" sz="2400" dirty="0">
                <a:solidFill>
                  <a:srgbClr val="1F2328"/>
                </a:solidFill>
              </a:rPr>
              <a:t> paling atas; Java: baris </a:t>
            </a:r>
            <a:r>
              <a:rPr lang="id-ID" altLang="en-US" sz="2400" dirty="0">
                <a:solidFill>
                  <a:srgbClr val="0A3069"/>
                </a:solidFill>
                <a:latin typeface="Consolas" pitchFamily="34" charset="0"/>
                <a:ea typeface="Consolas" pitchFamily="34" charset="-122"/>
                <a:cs typeface="Consolas" pitchFamily="34" charset="-120"/>
              </a:rPr>
              <a:t>at ...</a:t>
            </a:r>
            <a:r>
              <a:rPr lang="id-ID" altLang="en-US" sz="2400" dirty="0">
                <a:solidFill>
                  <a:srgbClr val="1F2328"/>
                </a:solidFill>
              </a:rPr>
              <a:t> paling bawah</a:t>
            </a:r>
            <a:endParaRPr lang="id-ID" sz="2400" dirty="0"/>
          </a:p>
        </p:txBody>
      </p:sp>
      <p:sp>
        <p:nvSpPr>
          <p:cNvPr id="13" name="Shape 9"/>
          <p:cNvSpPr/>
          <p:nvPr/>
        </p:nvSpPr>
        <p:spPr>
          <a:xfrm>
            <a:off x="6187288" y="3463869"/>
            <a:ext cx="5455768" cy="1389888"/>
          </a:xfrm>
          <a:prstGeom prst="roundRect">
            <a:avLst>
              <a:gd name="adj" fmla="val 5194"/>
            </a:avLst>
          </a:prstGeom>
          <a:solidFill>
            <a:srgbClr val="FFFFFF"/>
          </a:solidFill>
          <a:ln w="9525">
            <a:solidFill>
              <a:srgbClr val="D0D7DE"/>
            </a:solidFill>
            <a:prstDash val="solid"/>
          </a:ln>
        </p:spPr>
      </p:sp>
      <p:sp>
        <p:nvSpPr>
          <p:cNvPr id="14" name="Shape 10"/>
          <p:cNvSpPr/>
          <p:nvPr/>
        </p:nvSpPr>
        <p:spPr>
          <a:xfrm>
            <a:off x="6388456" y="3930213"/>
            <a:ext cx="457200" cy="457200"/>
          </a:xfrm>
          <a:prstGeom prst="ellipse">
            <a:avLst/>
          </a:prstGeom>
          <a:solidFill>
            <a:srgbClr val="8250DF"/>
          </a:solidFill>
          <a:ln/>
        </p:spPr>
      </p:sp>
      <p:sp>
        <p:nvSpPr>
          <p:cNvPr id="15" name="Text 11"/>
          <p:cNvSpPr txBox="1"/>
          <p:nvPr/>
        </p:nvSpPr>
        <p:spPr>
          <a:xfrm>
            <a:off x="6388456" y="3930213"/>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3573597"/>
            <a:ext cx="4541368" cy="1170432"/>
          </a:xfrm>
          <a:prstGeom prst="rect">
            <a:avLst/>
          </a:prstGeom>
          <a:noFill/>
          <a:ln/>
        </p:spPr>
        <p:txBody>
          <a:bodyPr wrap="square" lIns="0" tIns="0" rIns="0" bIns="0" rtlCol="0" anchor="ctr"/>
          <a:lstStyle/>
          <a:p>
            <a:pPr indent="0" marL="0">
              <a:buNone/>
            </a:pPr>
            <a:r>
              <a:rPr lang="id-ID" altLang="en-US" sz="2400" dirty="0">
                <a:solidFill>
                  <a:srgbClr val="1F2328"/>
                </a:solidFill>
              </a:rPr>
              <a:t>Python: blok </a:t>
            </a:r>
            <a:r>
              <a:rPr lang="id-ID" altLang="en-US" sz="2400" dirty="0">
                <a:solidFill>
                  <a:srgbClr val="0A3069"/>
                </a:solidFill>
                <a:latin typeface="Consolas" pitchFamily="34" charset="0"/>
                <a:ea typeface="Consolas" pitchFamily="34" charset="-122"/>
                <a:cs typeface="Consolas" pitchFamily="34" charset="-120"/>
              </a:rPr>
              <a:t>File ...</a:t>
            </a:r>
            <a:r>
              <a:rPr lang="id-ID" altLang="en-US" sz="2400" dirty="0">
                <a:solidFill>
                  <a:srgbClr val="1F2328"/>
                </a:solidFill>
              </a:rPr>
              <a:t> paling bawah; Java: baris </a:t>
            </a:r>
            <a:r>
              <a:rPr lang="id-ID" altLang="en-US" sz="2400" dirty="0">
                <a:solidFill>
                  <a:srgbClr val="0A3069"/>
                </a:solidFill>
                <a:latin typeface="Consolas" pitchFamily="34" charset="0"/>
                <a:ea typeface="Consolas" pitchFamily="34" charset="-122"/>
                <a:cs typeface="Consolas" pitchFamily="34" charset="-120"/>
              </a:rPr>
              <a:t>at ...</a:t>
            </a:r>
            <a:r>
              <a:rPr lang="id-ID" altLang="en-US" sz="2400" dirty="0">
                <a:solidFill>
                  <a:srgbClr val="1F2328"/>
                </a:solidFill>
              </a:rPr>
              <a:t> paling atas</a:t>
            </a:r>
            <a:endParaRPr lang="id-ID" sz="2400" dirty="0"/>
          </a:p>
        </p:txBody>
      </p:sp>
      <p:sp>
        <p:nvSpPr>
          <p:cNvPr id="17" name="Shape 13"/>
          <p:cNvSpPr/>
          <p:nvPr/>
        </p:nvSpPr>
        <p:spPr>
          <a:xfrm>
            <a:off x="548640" y="5036637"/>
            <a:ext cx="5455768" cy="1018032"/>
          </a:xfrm>
          <a:prstGeom prst="roundRect">
            <a:avLst>
              <a:gd name="adj" fmla="val 9681"/>
            </a:avLst>
          </a:prstGeom>
          <a:solidFill>
            <a:srgbClr val="FFFFFF"/>
          </a:solidFill>
          <a:ln w="9525">
            <a:solidFill>
              <a:srgbClr val="D0D7DE"/>
            </a:solidFill>
            <a:prstDash val="solid"/>
          </a:ln>
        </p:spPr>
      </p:sp>
      <p:sp>
        <p:nvSpPr>
          <p:cNvPr id="18" name="Shape 14"/>
          <p:cNvSpPr/>
          <p:nvPr/>
        </p:nvSpPr>
        <p:spPr>
          <a:xfrm>
            <a:off x="749808" y="5317053"/>
            <a:ext cx="457200" cy="457200"/>
          </a:xfrm>
          <a:prstGeom prst="ellipse">
            <a:avLst/>
          </a:prstGeom>
          <a:solidFill>
            <a:srgbClr val="8250DF"/>
          </a:solidFill>
          <a:ln/>
        </p:spPr>
      </p:sp>
      <p:sp>
        <p:nvSpPr>
          <p:cNvPr id="19" name="Text 15"/>
          <p:cNvSpPr txBox="1"/>
          <p:nvPr/>
        </p:nvSpPr>
        <p:spPr>
          <a:xfrm>
            <a:off x="749808" y="5317053"/>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5146365"/>
            <a:ext cx="4541368" cy="798576"/>
          </a:xfrm>
          <a:prstGeom prst="rect">
            <a:avLst/>
          </a:prstGeom>
          <a:noFill/>
          <a:ln/>
        </p:spPr>
        <p:txBody>
          <a:bodyPr wrap="square" lIns="0" tIns="0" rIns="0" bIns="0" rtlCol="0" anchor="ctr"/>
          <a:lstStyle/>
          <a:p>
            <a:pPr indent="0" marL="0">
              <a:buNone/>
            </a:pPr>
            <a:r>
              <a:rPr lang="id-ID" altLang="en-US" sz="2400" dirty="0">
                <a:solidFill>
                  <a:srgbClr val="1F2328"/>
                </a:solidFill>
              </a:rPr>
              <a:t>Di kedua bahasa, selalu di baris pertama laporan</a:t>
            </a:r>
            <a:endParaRPr lang="id-ID" sz="2400" dirty="0"/>
          </a:p>
        </p:txBody>
      </p:sp>
      <p:sp>
        <p:nvSpPr>
          <p:cNvPr id="21" name="Shape 17"/>
          <p:cNvSpPr/>
          <p:nvPr/>
        </p:nvSpPr>
        <p:spPr>
          <a:xfrm>
            <a:off x="6187288" y="5036637"/>
            <a:ext cx="5455768" cy="1018032"/>
          </a:xfrm>
          <a:prstGeom prst="roundRect">
            <a:avLst>
              <a:gd name="adj" fmla="val 9681"/>
            </a:avLst>
          </a:prstGeom>
          <a:solidFill>
            <a:srgbClr val="FFFFFF"/>
          </a:solidFill>
          <a:ln w="9525">
            <a:solidFill>
              <a:srgbClr val="D0D7DE"/>
            </a:solidFill>
            <a:prstDash val="solid"/>
          </a:ln>
        </p:spPr>
      </p:sp>
      <p:sp>
        <p:nvSpPr>
          <p:cNvPr id="22" name="Shape 18"/>
          <p:cNvSpPr/>
          <p:nvPr/>
        </p:nvSpPr>
        <p:spPr>
          <a:xfrm>
            <a:off x="6388456" y="5317053"/>
            <a:ext cx="457200" cy="457200"/>
          </a:xfrm>
          <a:prstGeom prst="ellipse">
            <a:avLst/>
          </a:prstGeom>
          <a:solidFill>
            <a:srgbClr val="8250DF"/>
          </a:solidFill>
          <a:ln/>
        </p:spPr>
      </p:sp>
      <p:sp>
        <p:nvSpPr>
          <p:cNvPr id="23" name="Text 19"/>
          <p:cNvSpPr txBox="1"/>
          <p:nvPr/>
        </p:nvSpPr>
        <p:spPr>
          <a:xfrm>
            <a:off x="6388456" y="5317053"/>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5146365"/>
            <a:ext cx="4541368" cy="798576"/>
          </a:xfrm>
          <a:prstGeom prst="rect">
            <a:avLst/>
          </a:prstGeom>
          <a:noFill/>
          <a:ln/>
        </p:spPr>
        <p:txBody>
          <a:bodyPr wrap="square" lIns="0" tIns="0" rIns="0" bIns="0" rtlCol="0" anchor="ctr"/>
          <a:lstStyle/>
          <a:p>
            <a:pPr indent="0" marL="0">
              <a:buNone/>
            </a:pPr>
            <a:r>
              <a:rPr lang="id-ID" altLang="en-US" sz="2400" dirty="0">
                <a:solidFill>
                  <a:srgbClr val="1F2328"/>
                </a:solidFill>
              </a:rPr>
              <a:t>Di kedua bahasa, selalu di baris terakhir laporan</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427988"/>
            <a:ext cx="11094415" cy="770128"/>
          </a:xfrm>
          <a:prstGeom prst="roundRect">
            <a:avLst>
              <a:gd name="adj" fmla="val 16917"/>
            </a:avLst>
          </a:prstGeom>
          <a:solidFill>
            <a:srgbClr val="F6F8FA"/>
          </a:solidFill>
          <a:ln w="9525">
            <a:solidFill>
              <a:srgbClr val="D0D7DE"/>
            </a:solidFill>
            <a:prstDash val="solid"/>
          </a:ln>
        </p:spPr>
      </p:sp>
      <p:sp>
        <p:nvSpPr>
          <p:cNvPr id="6" name="Text 3"/>
          <p:cNvSpPr txBox="1"/>
          <p:nvPr/>
        </p:nvSpPr>
        <p:spPr>
          <a:xfrm>
            <a:off x="822960" y="1565148"/>
            <a:ext cx="10545775" cy="495808"/>
          </a:xfrm>
          <a:prstGeom prst="rect">
            <a:avLst/>
          </a:prstGeom>
          <a:noFill/>
          <a:ln/>
        </p:spPr>
        <p:txBody>
          <a:bodyPr wrap="square" lIns="0" tIns="0" rIns="0" bIns="0" rtlCol="0" anchor="t"/>
          <a:lstStyle/>
          <a:p>
            <a:pPr indent="0" marL="0">
              <a:buNone/>
            </a:pPr>
            <a:r>
              <a:rPr lang="id-ID" altLang="en-US" sz="1600" dirty="0">
                <a:solidFill>
                  <a:srgbClr val="57606A"/>
                </a:solidFill>
              </a:rPr>
              <a:t>Sebuah </a:t>
            </a:r>
            <a:r>
              <a:rPr lang="id-ID" altLang="en-US" sz="1600" i="1" dirty="0">
                <a:solidFill>
                  <a:srgbClr val="57606A"/>
                </a:solidFill>
              </a:rPr>
              <a:t>exception</a:t>
            </a:r>
            <a:r>
              <a:rPr lang="id-ID" altLang="en-US" sz="1600" dirty="0">
                <a:solidFill>
                  <a:srgbClr val="57606A"/>
                </a:solidFill>
              </a:rPr>
              <a:t> tidak tertangkap sehingga muncul </a:t>
            </a:r>
            <a:r>
              <a:rPr lang="id-ID" altLang="en-US" sz="1600" i="1" dirty="0">
                <a:solidFill>
                  <a:srgbClr val="57606A"/>
                </a:solidFill>
              </a:rPr>
              <a:t>traceback</a:t>
            </a:r>
            <a:r>
              <a:rPr lang="id-ID" altLang="en-US" sz="1600" dirty="0">
                <a:solidFill>
                  <a:srgbClr val="57606A"/>
                </a:solidFill>
              </a:rPr>
              <a:t> (Python) atau </a:t>
            </a:r>
            <a:r>
              <a:rPr lang="id-ID" altLang="en-US" sz="1600" i="1" dirty="0">
                <a:solidFill>
                  <a:srgbClr val="57606A"/>
                </a:solidFill>
              </a:rPr>
              <a:t>stack trace</a:t>
            </a:r>
            <a:r>
              <a:rPr lang="id-ID" altLang="en-US" sz="1600" dirty="0">
                <a:solidFill>
                  <a:srgbClr val="57606A"/>
                </a:solidFill>
              </a:rPr>
              <a:t> (Java). Di mana kamu mencari tempat </a:t>
            </a:r>
            <a:r>
              <a:rPr lang="id-ID" altLang="en-US" sz="1600" i="1" dirty="0">
                <a:solidFill>
                  <a:srgbClr val="57606A"/>
                </a:solidFill>
              </a:rPr>
              <a:t>exception</a:t>
            </a:r>
            <a:r>
              <a:rPr lang="id-ID" altLang="en-US" sz="1600" dirty="0">
                <a:solidFill>
                  <a:srgbClr val="57606A"/>
                </a:solidFill>
              </a:rPr>
              <a:t> itu </a:t>
            </a:r>
            <a:r>
              <a:rPr lang="id-ID" altLang="en-US" sz="1600" b="1" dirty="0">
                <a:solidFill>
                  <a:srgbClr val="57606A"/>
                </a:solidFill>
              </a:rPr>
              <a:t>lahir</a:t>
            </a:r>
            <a:r>
              <a:rPr lang="id-ID" altLang="en-US" sz="1600" dirty="0">
                <a:solidFill>
                  <a:srgbClr val="57606A"/>
                </a:solidFill>
              </a:rPr>
              <a:t>?</a:t>
            </a:r>
            <a:endParaRPr lang="id-ID" sz="1600" dirty="0"/>
          </a:p>
        </p:txBody>
      </p:sp>
      <p:sp>
        <p:nvSpPr>
          <p:cNvPr id="7" name="Shape 4"/>
          <p:cNvSpPr/>
          <p:nvPr/>
        </p:nvSpPr>
        <p:spPr>
          <a:xfrm>
            <a:off x="548640" y="2380996"/>
            <a:ext cx="5455768" cy="832104"/>
          </a:xfrm>
          <a:prstGeom prst="roundRect">
            <a:avLst>
              <a:gd name="adj" fmla="val 14491"/>
            </a:avLst>
          </a:prstGeom>
          <a:solidFill>
            <a:srgbClr val="FFFFFF"/>
          </a:solidFill>
          <a:ln w="9525">
            <a:solidFill>
              <a:srgbClr val="D0D7DE"/>
            </a:solidFill>
            <a:prstDash val="solid"/>
          </a:ln>
        </p:spPr>
      </p:sp>
      <p:sp>
        <p:nvSpPr>
          <p:cNvPr id="8" name="Shape 5"/>
          <p:cNvSpPr/>
          <p:nvPr/>
        </p:nvSpPr>
        <p:spPr>
          <a:xfrm>
            <a:off x="749808" y="2591308"/>
            <a:ext cx="411480" cy="411480"/>
          </a:xfrm>
          <a:prstGeom prst="ellipse">
            <a:avLst/>
          </a:prstGeom>
          <a:solidFill>
            <a:srgbClr val="8C959F"/>
          </a:solidFill>
          <a:ln/>
        </p:spPr>
      </p:sp>
      <p:sp>
        <p:nvSpPr>
          <p:cNvPr id="9" name="Text 6"/>
          <p:cNvSpPr txBox="1"/>
          <p:nvPr/>
        </p:nvSpPr>
        <p:spPr>
          <a:xfrm>
            <a:off x="749808" y="2591308"/>
            <a:ext cx="411480" cy="411480"/>
          </a:xfrm>
          <a:prstGeom prst="rect">
            <a:avLst/>
          </a:prstGeom>
          <a:noFill/>
          <a:ln/>
        </p:spPr>
        <p:txBody>
          <a:bodyPr wrap="square" lIns="0" tIns="0" rIns="0" bIns="0" rtlCol="0" anchor="ctr"/>
          <a:lstStyle/>
          <a:p>
            <a:pPr algn="ctr" indent="0" marL="0">
              <a:buNone/>
            </a:pPr>
            <a:r>
              <a:rPr lang="id-ID" altLang="en-US" sz="1600" b="1" dirty="0">
                <a:solidFill>
                  <a:srgbClr val="FFFFFF"/>
                </a:solidFill>
              </a:rPr>
              <a:t>A</a:t>
            </a:r>
            <a:endParaRPr lang="id-ID" sz="1600" dirty="0"/>
          </a:p>
        </p:txBody>
      </p:sp>
      <p:sp>
        <p:nvSpPr>
          <p:cNvPr id="10" name="Text 7"/>
          <p:cNvSpPr txBox="1"/>
          <p:nvPr/>
        </p:nvSpPr>
        <p:spPr>
          <a:xfrm>
            <a:off x="1353312" y="2490724"/>
            <a:ext cx="4541368" cy="612648"/>
          </a:xfrm>
          <a:prstGeom prst="rect">
            <a:avLst/>
          </a:prstGeom>
          <a:noFill/>
          <a:ln/>
        </p:spPr>
        <p:txBody>
          <a:bodyPr wrap="square" lIns="0" tIns="0" rIns="0" bIns="0" rtlCol="0" anchor="ctr"/>
          <a:lstStyle/>
          <a:p>
            <a:pPr indent="0" marL="0">
              <a:buNone/>
            </a:pPr>
            <a:r>
              <a:rPr lang="id-ID" altLang="en-US" sz="1800" dirty="0">
                <a:solidFill>
                  <a:srgbClr val="57606A"/>
                </a:solidFill>
              </a:rPr>
              <a:t>Python: blok </a:t>
            </a:r>
            <a:r>
              <a:rPr lang="id-ID" altLang="en-US" sz="1800" dirty="0">
                <a:solidFill>
                  <a:srgbClr val="0A3069"/>
                </a:solidFill>
                <a:latin typeface="Consolas" pitchFamily="34" charset="0"/>
                <a:ea typeface="Consolas" pitchFamily="34" charset="-122"/>
                <a:cs typeface="Consolas" pitchFamily="34" charset="-120"/>
              </a:rPr>
              <a:t>File ...</a:t>
            </a:r>
            <a:r>
              <a:rPr lang="id-ID" altLang="en-US" sz="1800" dirty="0">
                <a:solidFill>
                  <a:srgbClr val="57606A"/>
                </a:solidFill>
              </a:rPr>
              <a:t> paling atas; Java: baris </a:t>
            </a:r>
            <a:r>
              <a:rPr lang="id-ID" altLang="en-US" sz="1800" dirty="0">
                <a:solidFill>
                  <a:srgbClr val="0A3069"/>
                </a:solidFill>
                <a:latin typeface="Consolas" pitchFamily="34" charset="0"/>
                <a:ea typeface="Consolas" pitchFamily="34" charset="-122"/>
                <a:cs typeface="Consolas" pitchFamily="34" charset="-120"/>
              </a:rPr>
              <a:t>at ...</a:t>
            </a:r>
            <a:r>
              <a:rPr lang="id-ID" altLang="en-US" sz="1800" dirty="0">
                <a:solidFill>
                  <a:srgbClr val="57606A"/>
                </a:solidFill>
              </a:rPr>
              <a:t> paling bawah</a:t>
            </a:r>
            <a:endParaRPr lang="id-ID" sz="1800" dirty="0"/>
          </a:p>
        </p:txBody>
      </p:sp>
      <p:sp>
        <p:nvSpPr>
          <p:cNvPr id="11" name="Shape 8"/>
          <p:cNvSpPr/>
          <p:nvPr/>
        </p:nvSpPr>
        <p:spPr>
          <a:xfrm>
            <a:off x="6187288" y="2380996"/>
            <a:ext cx="5455768" cy="832104"/>
          </a:xfrm>
          <a:prstGeom prst="roundRect">
            <a:avLst>
              <a:gd name="adj" fmla="val 14491"/>
            </a:avLst>
          </a:prstGeom>
          <a:solidFill>
            <a:srgbClr val="DAFBE1"/>
          </a:solidFill>
          <a:ln w="22225">
            <a:solidFill>
              <a:srgbClr val="1A7F37"/>
            </a:solidFill>
            <a:prstDash val="solid"/>
          </a:ln>
        </p:spPr>
      </p:sp>
      <p:sp>
        <p:nvSpPr>
          <p:cNvPr id="12" name="Shape 9"/>
          <p:cNvSpPr/>
          <p:nvPr/>
        </p:nvSpPr>
        <p:spPr>
          <a:xfrm>
            <a:off x="6388456" y="2591308"/>
            <a:ext cx="411480" cy="411480"/>
          </a:xfrm>
          <a:prstGeom prst="ellipse">
            <a:avLst/>
          </a:prstGeom>
          <a:solidFill>
            <a:srgbClr val="1A7F37"/>
          </a:solidFill>
          <a:ln/>
        </p:spPr>
      </p:sp>
      <p:pic>
        <p:nvPicPr>
          <p:cNvPr id="13" name="Image 1" descr="preencoded.png">    </p:cNvPr>
          <p:cNvPicPr>
            <a:picLocks noChangeAspect="1"/>
          </p:cNvPicPr>
          <p:nvPr/>
        </p:nvPicPr>
        <p:blipFill>
          <a:blip r:embed="rId2"/>
          <a:stretch>
            <a:fillRect/>
          </a:stretch>
        </p:blipFill>
        <p:spPr>
          <a:xfrm>
            <a:off x="6478981" y="2681834"/>
            <a:ext cx="230429" cy="230429"/>
          </a:xfrm>
          <a:prstGeom prst="rect">
            <a:avLst/>
          </a:prstGeom>
        </p:spPr>
      </p:pic>
      <p:sp>
        <p:nvSpPr>
          <p:cNvPr id="14" name="Text 10"/>
          <p:cNvSpPr txBox="1"/>
          <p:nvPr/>
        </p:nvSpPr>
        <p:spPr>
          <a:xfrm>
            <a:off x="6991960" y="2490724"/>
            <a:ext cx="4541368" cy="612648"/>
          </a:xfrm>
          <a:prstGeom prst="rect">
            <a:avLst/>
          </a:prstGeom>
          <a:noFill/>
          <a:ln/>
        </p:spPr>
        <p:txBody>
          <a:bodyPr wrap="square" lIns="0" tIns="0" rIns="0" bIns="0" rtlCol="0" anchor="ctr"/>
          <a:lstStyle/>
          <a:p>
            <a:pPr indent="0" marL="0">
              <a:buNone/>
            </a:pPr>
            <a:r>
              <a:rPr lang="id-ID" altLang="en-US" sz="1800" dirty="0">
                <a:solidFill>
                  <a:srgbClr val="1F2328"/>
                </a:solidFill>
              </a:rPr>
              <a:t>Python: blok </a:t>
            </a:r>
            <a:r>
              <a:rPr lang="id-ID" altLang="en-US" sz="1800" dirty="0">
                <a:solidFill>
                  <a:srgbClr val="0A3069"/>
                </a:solidFill>
                <a:latin typeface="Consolas" pitchFamily="34" charset="0"/>
                <a:ea typeface="Consolas" pitchFamily="34" charset="-122"/>
                <a:cs typeface="Consolas" pitchFamily="34" charset="-120"/>
              </a:rPr>
              <a:t>File ...</a:t>
            </a:r>
            <a:r>
              <a:rPr lang="id-ID" altLang="en-US" sz="1800" dirty="0">
                <a:solidFill>
                  <a:srgbClr val="1F2328"/>
                </a:solidFill>
              </a:rPr>
              <a:t> paling bawah; Java: baris </a:t>
            </a:r>
            <a:r>
              <a:rPr lang="id-ID" altLang="en-US" sz="1800" dirty="0">
                <a:solidFill>
                  <a:srgbClr val="0A3069"/>
                </a:solidFill>
                <a:latin typeface="Consolas" pitchFamily="34" charset="0"/>
                <a:ea typeface="Consolas" pitchFamily="34" charset="-122"/>
                <a:cs typeface="Consolas" pitchFamily="34" charset="-120"/>
              </a:rPr>
              <a:t>at ...</a:t>
            </a:r>
            <a:r>
              <a:rPr lang="id-ID" altLang="en-US" sz="1800" dirty="0">
                <a:solidFill>
                  <a:srgbClr val="1F2328"/>
                </a:solidFill>
              </a:rPr>
              <a:t> paling atas</a:t>
            </a:r>
            <a:endParaRPr lang="id-ID" sz="1800" dirty="0"/>
          </a:p>
        </p:txBody>
      </p:sp>
      <p:sp>
        <p:nvSpPr>
          <p:cNvPr id="15" name="Shape 11"/>
          <p:cNvSpPr/>
          <p:nvPr/>
        </p:nvSpPr>
        <p:spPr>
          <a:xfrm>
            <a:off x="548640" y="3395980"/>
            <a:ext cx="5455768" cy="832104"/>
          </a:xfrm>
          <a:prstGeom prst="roundRect">
            <a:avLst>
              <a:gd name="adj" fmla="val 14491"/>
            </a:avLst>
          </a:prstGeom>
          <a:solidFill>
            <a:srgbClr val="FFFFFF"/>
          </a:solidFill>
          <a:ln w="9525">
            <a:solidFill>
              <a:srgbClr val="D0D7DE"/>
            </a:solidFill>
            <a:prstDash val="solid"/>
          </a:ln>
        </p:spPr>
      </p:sp>
      <p:sp>
        <p:nvSpPr>
          <p:cNvPr id="16" name="Shape 12"/>
          <p:cNvSpPr/>
          <p:nvPr/>
        </p:nvSpPr>
        <p:spPr>
          <a:xfrm>
            <a:off x="749808" y="3606292"/>
            <a:ext cx="411480" cy="411480"/>
          </a:xfrm>
          <a:prstGeom prst="ellipse">
            <a:avLst/>
          </a:prstGeom>
          <a:solidFill>
            <a:srgbClr val="8C959F"/>
          </a:solidFill>
          <a:ln/>
        </p:spPr>
      </p:sp>
      <p:sp>
        <p:nvSpPr>
          <p:cNvPr id="17" name="Text 13"/>
          <p:cNvSpPr txBox="1"/>
          <p:nvPr/>
        </p:nvSpPr>
        <p:spPr>
          <a:xfrm>
            <a:off x="749808" y="3606292"/>
            <a:ext cx="411480" cy="411480"/>
          </a:xfrm>
          <a:prstGeom prst="rect">
            <a:avLst/>
          </a:prstGeom>
          <a:noFill/>
          <a:ln/>
        </p:spPr>
        <p:txBody>
          <a:bodyPr wrap="square" lIns="0" tIns="0" rIns="0" bIns="0" rtlCol="0" anchor="ctr"/>
          <a:lstStyle/>
          <a:p>
            <a:pPr algn="ctr" indent="0" marL="0">
              <a:buNone/>
            </a:pPr>
            <a:r>
              <a:rPr lang="id-ID" altLang="en-US" sz="1600" b="1" dirty="0">
                <a:solidFill>
                  <a:srgbClr val="FFFFFF"/>
                </a:solidFill>
              </a:rPr>
              <a:t>C</a:t>
            </a:r>
            <a:endParaRPr lang="id-ID" sz="1600" dirty="0"/>
          </a:p>
        </p:txBody>
      </p:sp>
      <p:sp>
        <p:nvSpPr>
          <p:cNvPr id="18" name="Text 14"/>
          <p:cNvSpPr txBox="1"/>
          <p:nvPr/>
        </p:nvSpPr>
        <p:spPr>
          <a:xfrm>
            <a:off x="1353312" y="3505708"/>
            <a:ext cx="4541368" cy="612648"/>
          </a:xfrm>
          <a:prstGeom prst="rect">
            <a:avLst/>
          </a:prstGeom>
          <a:noFill/>
          <a:ln/>
        </p:spPr>
        <p:txBody>
          <a:bodyPr wrap="square" lIns="0" tIns="0" rIns="0" bIns="0" rtlCol="0" anchor="ctr"/>
          <a:lstStyle/>
          <a:p>
            <a:pPr indent="0" marL="0">
              <a:buNone/>
            </a:pPr>
            <a:r>
              <a:rPr lang="id-ID" altLang="en-US" sz="1800" dirty="0">
                <a:solidFill>
                  <a:srgbClr val="57606A"/>
                </a:solidFill>
              </a:rPr>
              <a:t>Di kedua bahasa, selalu di baris pertama laporan</a:t>
            </a:r>
            <a:endParaRPr lang="id-ID" sz="1800" dirty="0"/>
          </a:p>
        </p:txBody>
      </p:sp>
      <p:sp>
        <p:nvSpPr>
          <p:cNvPr id="19" name="Shape 15"/>
          <p:cNvSpPr/>
          <p:nvPr/>
        </p:nvSpPr>
        <p:spPr>
          <a:xfrm>
            <a:off x="6187288" y="3395980"/>
            <a:ext cx="5455768" cy="832104"/>
          </a:xfrm>
          <a:prstGeom prst="roundRect">
            <a:avLst>
              <a:gd name="adj" fmla="val 14491"/>
            </a:avLst>
          </a:prstGeom>
          <a:solidFill>
            <a:srgbClr val="FFFFFF"/>
          </a:solidFill>
          <a:ln w="9525">
            <a:solidFill>
              <a:srgbClr val="D0D7DE"/>
            </a:solidFill>
            <a:prstDash val="solid"/>
          </a:ln>
        </p:spPr>
      </p:sp>
      <p:sp>
        <p:nvSpPr>
          <p:cNvPr id="20" name="Shape 16"/>
          <p:cNvSpPr/>
          <p:nvPr/>
        </p:nvSpPr>
        <p:spPr>
          <a:xfrm>
            <a:off x="6388456" y="3606292"/>
            <a:ext cx="411480" cy="411480"/>
          </a:xfrm>
          <a:prstGeom prst="ellipse">
            <a:avLst/>
          </a:prstGeom>
          <a:solidFill>
            <a:srgbClr val="8C959F"/>
          </a:solidFill>
          <a:ln/>
        </p:spPr>
      </p:sp>
      <p:sp>
        <p:nvSpPr>
          <p:cNvPr id="21" name="Text 17"/>
          <p:cNvSpPr txBox="1"/>
          <p:nvPr/>
        </p:nvSpPr>
        <p:spPr>
          <a:xfrm>
            <a:off x="6388456" y="3606292"/>
            <a:ext cx="411480" cy="411480"/>
          </a:xfrm>
          <a:prstGeom prst="rect">
            <a:avLst/>
          </a:prstGeom>
          <a:noFill/>
          <a:ln/>
        </p:spPr>
        <p:txBody>
          <a:bodyPr wrap="square" lIns="0" tIns="0" rIns="0" bIns="0" rtlCol="0" anchor="ctr"/>
          <a:lstStyle/>
          <a:p>
            <a:pPr algn="ctr" indent="0" marL="0">
              <a:buNone/>
            </a:pPr>
            <a:r>
              <a:rPr lang="id-ID" altLang="en-US" sz="1600" b="1" dirty="0">
                <a:solidFill>
                  <a:srgbClr val="FFFFFF"/>
                </a:solidFill>
              </a:rPr>
              <a:t>D</a:t>
            </a:r>
            <a:endParaRPr lang="id-ID" sz="1600" dirty="0"/>
          </a:p>
        </p:txBody>
      </p:sp>
      <p:sp>
        <p:nvSpPr>
          <p:cNvPr id="22" name="Text 18"/>
          <p:cNvSpPr txBox="1"/>
          <p:nvPr/>
        </p:nvSpPr>
        <p:spPr>
          <a:xfrm>
            <a:off x="6991960" y="3505708"/>
            <a:ext cx="4541368" cy="612648"/>
          </a:xfrm>
          <a:prstGeom prst="rect">
            <a:avLst/>
          </a:prstGeom>
          <a:noFill/>
          <a:ln/>
        </p:spPr>
        <p:txBody>
          <a:bodyPr wrap="square" lIns="0" tIns="0" rIns="0" bIns="0" rtlCol="0" anchor="ctr"/>
          <a:lstStyle/>
          <a:p>
            <a:pPr indent="0" marL="0">
              <a:buNone/>
            </a:pPr>
            <a:r>
              <a:rPr lang="id-ID" altLang="en-US" sz="1800" dirty="0">
                <a:solidFill>
                  <a:srgbClr val="57606A"/>
                </a:solidFill>
              </a:rPr>
              <a:t>Di kedua bahasa, selalu di baris terakhir laporan</a:t>
            </a:r>
            <a:endParaRPr lang="id-ID" sz="1800" dirty="0"/>
          </a:p>
        </p:txBody>
      </p:sp>
      <p:sp>
        <p:nvSpPr>
          <p:cNvPr id="23" name="Shape 19"/>
          <p:cNvSpPr/>
          <p:nvPr/>
        </p:nvSpPr>
        <p:spPr>
          <a:xfrm>
            <a:off x="548640" y="4429252"/>
            <a:ext cx="11094415" cy="1755648"/>
          </a:xfrm>
          <a:prstGeom prst="roundRect">
            <a:avLst>
              <a:gd name="adj" fmla="val 3255"/>
            </a:avLst>
          </a:prstGeom>
          <a:solidFill>
            <a:srgbClr val="FFF8C5"/>
          </a:solidFill>
          <a:ln w="9525">
            <a:solidFill>
              <a:srgbClr val="D4A72C"/>
            </a:solidFill>
            <a:prstDash val="solid"/>
          </a:ln>
        </p:spPr>
      </p:sp>
      <p:sp>
        <p:nvSpPr>
          <p:cNvPr id="24" name="Shape 20"/>
          <p:cNvSpPr/>
          <p:nvPr/>
        </p:nvSpPr>
        <p:spPr>
          <a:xfrm>
            <a:off x="777240" y="4612132"/>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712716"/>
            <a:ext cx="256032" cy="256032"/>
          </a:xfrm>
          <a:prstGeom prst="rect">
            <a:avLst/>
          </a:prstGeom>
        </p:spPr>
      </p:pic>
      <p:sp>
        <p:nvSpPr>
          <p:cNvPr id="26" name="Text 21"/>
          <p:cNvSpPr txBox="1"/>
          <p:nvPr/>
        </p:nvSpPr>
        <p:spPr>
          <a:xfrm>
            <a:off x="1417320" y="4566412"/>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B</a:t>
            </a:r>
            <a:endParaRPr lang="id-ID" sz="1600" dirty="0"/>
          </a:p>
        </p:txBody>
      </p:sp>
      <p:sp>
        <p:nvSpPr>
          <p:cNvPr id="27" name="Text 22"/>
          <p:cNvSpPr txBox="1"/>
          <p:nvPr/>
        </p:nvSpPr>
        <p:spPr>
          <a:xfrm>
            <a:off x="1417320" y="4904740"/>
            <a:ext cx="9951415" cy="1207008"/>
          </a:xfrm>
          <a:prstGeom prst="rect">
            <a:avLst/>
          </a:prstGeom>
          <a:noFill/>
          <a:ln/>
        </p:spPr>
        <p:txBody>
          <a:bodyPr wrap="square" lIns="0" tIns="0" rIns="0" bIns="0" rtlCol="0" anchor="t"/>
          <a:lstStyle/>
          <a:p>
            <a:pPr indent="0" marL="0">
              <a:buNone/>
            </a:pPr>
            <a:r>
              <a:rPr lang="id-ID" altLang="en-US" sz="1800" dirty="0">
                <a:solidFill>
                  <a:srgbClr val="1F2328"/>
                </a:solidFill>
              </a:rPr>
              <a:t>Python menulis </a:t>
            </a:r>
            <a:r>
              <a:rPr lang="id-ID" altLang="en-US" sz="1800" i="1" dirty="0">
                <a:solidFill>
                  <a:srgbClr val="1F2328"/>
                </a:solidFill>
              </a:rPr>
              <a:t>most recent call last</a:t>
            </a:r>
            <a:r>
              <a:rPr lang="id-ID" altLang="en-US" sz="1800" dirty="0">
                <a:solidFill>
                  <a:srgbClr val="1F2328"/>
                </a:solidFill>
              </a:rPr>
              <a:t>, jadi tempat </a:t>
            </a:r>
            <a:r>
              <a:rPr lang="id-ID" altLang="en-US" sz="1800" i="1" dirty="0">
                <a:solidFill>
                  <a:srgbClr val="1F2328"/>
                </a:solidFill>
              </a:rPr>
              <a:t>exception</a:t>
            </a:r>
            <a:r>
              <a:rPr lang="id-ID" altLang="en-US" sz="1800" dirty="0">
                <a:solidFill>
                  <a:srgbClr val="1F2328"/>
                </a:solidFill>
              </a:rPr>
              <a:t> lahir ada di blok </a:t>
            </a:r>
            <a:r>
              <a:rPr lang="id-ID" altLang="en-US" sz="1800" dirty="0">
                <a:solidFill>
                  <a:srgbClr val="0A3069"/>
                </a:solidFill>
                <a:latin typeface="Consolas" pitchFamily="34" charset="0"/>
                <a:ea typeface="Consolas" pitchFamily="34" charset="-122"/>
                <a:cs typeface="Consolas" pitchFamily="34" charset="-120"/>
              </a:rPr>
              <a:t>File</a:t>
            </a:r>
            <a:r>
              <a:rPr lang="id-ID" altLang="en-US" sz="1800" dirty="0">
                <a:solidFill>
                  <a:srgbClr val="1F2328"/>
                </a:solidFill>
              </a:rPr>
              <a:t> paling bawah, tepat di atas baris </a:t>
            </a:r>
            <a:r>
              <a:rPr lang="id-ID" altLang="en-US" sz="1800" dirty="0">
                <a:solidFill>
                  <a:srgbClr val="0A3069"/>
                </a:solidFill>
                <a:latin typeface="Consolas" pitchFamily="34" charset="0"/>
                <a:ea typeface="Consolas" pitchFamily="34" charset="-122"/>
                <a:cs typeface="Consolas" pitchFamily="34" charset="-120"/>
              </a:rPr>
              <a:t>JenisError: pesan</a:t>
            </a:r>
            <a:r>
              <a:rPr lang="id-ID" altLang="en-US" sz="1800" dirty="0">
                <a:solidFill>
                  <a:srgbClr val="1F2328"/>
                </a:solidFill>
              </a:rPr>
              <a:t>. Java kebalikannya: baris </a:t>
            </a:r>
            <a:r>
              <a:rPr lang="id-ID" altLang="en-US" sz="1800" dirty="0">
                <a:solidFill>
                  <a:srgbClr val="0A3069"/>
                </a:solidFill>
                <a:latin typeface="Consolas" pitchFamily="34" charset="0"/>
                <a:ea typeface="Consolas" pitchFamily="34" charset="-122"/>
                <a:cs typeface="Consolas" pitchFamily="34" charset="-120"/>
              </a:rPr>
              <a:t>at</a:t>
            </a:r>
            <a:r>
              <a:rPr lang="id-ID" altLang="en-US" sz="1800" dirty="0">
                <a:solidFill>
                  <a:srgbClr val="1F2328"/>
                </a:solidFill>
              </a:rPr>
              <a:t> paling atas adalah tempat lahirnya, dan baris paling bawah adalah titik awal (</a:t>
            </a:r>
            <a:r>
              <a:rPr lang="id-ID" altLang="en-US" sz="1800" dirty="0">
                <a:solidFill>
                  <a:srgbClr val="0A3069"/>
                </a:solidFill>
                <a:latin typeface="Consolas" pitchFamily="34" charset="0"/>
                <a:ea typeface="Consolas" pitchFamily="34" charset="-122"/>
                <a:cs typeface="Consolas" pitchFamily="34" charset="-120"/>
              </a:rPr>
              <a:t>main</a:t>
            </a:r>
            <a:r>
              <a:rPr lang="id-ID" altLang="en-US" sz="1800" dirty="0">
                <a:solidFill>
                  <a:srgbClr val="1F2328"/>
                </a:solidFill>
              </a:rPr>
              <a:t>). Pilihan A tertukar; C dan D salah karena arah baca kedua bahasa berlawanan.</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2205579"/>
            <a:ext cx="11094415" cy="751586"/>
          </a:xfrm>
          <a:prstGeom prst="roundRect">
            <a:avLst>
              <a:gd name="adj" fmla="val 17762"/>
            </a:avLst>
          </a:prstGeom>
          <a:solidFill>
            <a:srgbClr val="FBEFFF"/>
          </a:solidFill>
          <a:ln w="9525">
            <a:solidFill>
              <a:srgbClr val="C297FF"/>
            </a:solidFill>
            <a:prstDash val="solid"/>
          </a:ln>
        </p:spPr>
      </p:sp>
      <p:sp>
        <p:nvSpPr>
          <p:cNvPr id="6" name="Shape 3"/>
          <p:cNvSpPr/>
          <p:nvPr/>
        </p:nvSpPr>
        <p:spPr>
          <a:xfrm>
            <a:off x="777240" y="2352772"/>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453356"/>
            <a:ext cx="256032" cy="256032"/>
          </a:xfrm>
          <a:prstGeom prst="rect">
            <a:avLst/>
          </a:prstGeom>
        </p:spPr>
      </p:pic>
      <p:sp>
        <p:nvSpPr>
          <p:cNvPr id="8" name="Text 4"/>
          <p:cNvSpPr txBox="1"/>
          <p:nvPr/>
        </p:nvSpPr>
        <p:spPr>
          <a:xfrm>
            <a:off x="1417320" y="2434179"/>
            <a:ext cx="9951415" cy="477266"/>
          </a:xfrm>
          <a:prstGeom prst="rect">
            <a:avLst/>
          </a:prstGeom>
          <a:noFill/>
          <a:ln/>
        </p:spPr>
        <p:txBody>
          <a:bodyPr wrap="square" lIns="0" tIns="0" rIns="0" bIns="0" rtlCol="0" anchor="t"/>
          <a:lstStyle/>
          <a:p>
            <a:pPr indent="0" marL="0">
              <a:buNone/>
            </a:pPr>
            <a:r>
              <a:rPr lang="id-ID" altLang="en-US" sz="1900" dirty="0">
                <a:solidFill>
                  <a:srgbClr val="1F2328"/>
                </a:solidFill>
              </a:rPr>
              <a:t>Manakah kebiasaan yang </a:t>
            </a:r>
            <a:r>
              <a:rPr lang="id-ID" altLang="en-US" sz="1900" b="1" dirty="0">
                <a:solidFill>
                  <a:srgbClr val="1F2328"/>
                </a:solidFill>
              </a:rPr>
              <a:t>paling buruk</a:t>
            </a:r>
            <a:r>
              <a:rPr lang="id-ID" altLang="en-US" sz="1900" dirty="0">
                <a:solidFill>
                  <a:srgbClr val="1F2328"/>
                </a:solidFill>
              </a:rPr>
              <a:t> saat menangani </a:t>
            </a:r>
            <a:r>
              <a:rPr lang="id-ID" altLang="en-US" sz="1900" i="1" dirty="0">
                <a:solidFill>
                  <a:srgbClr val="1F2328"/>
                </a:solidFill>
              </a:rPr>
              <a:t>exception</a:t>
            </a:r>
            <a:r>
              <a:rPr lang="id-ID" altLang="en-US" sz="1900" dirty="0">
                <a:solidFill>
                  <a:srgbClr val="1F2328"/>
                </a:solidFill>
              </a:rPr>
              <a:t>?</a:t>
            </a:r>
            <a:endParaRPr lang="id-ID" sz="1900" dirty="0"/>
          </a:p>
        </p:txBody>
      </p:sp>
      <p:sp>
        <p:nvSpPr>
          <p:cNvPr id="9" name="Shape 5"/>
          <p:cNvSpPr/>
          <p:nvPr/>
        </p:nvSpPr>
        <p:spPr>
          <a:xfrm>
            <a:off x="548640" y="3140045"/>
            <a:ext cx="5455768" cy="1018032"/>
          </a:xfrm>
          <a:prstGeom prst="roundRect">
            <a:avLst>
              <a:gd name="adj" fmla="val 9681"/>
            </a:avLst>
          </a:prstGeom>
          <a:solidFill>
            <a:srgbClr val="FFFFFF"/>
          </a:solidFill>
          <a:ln w="9525">
            <a:solidFill>
              <a:srgbClr val="D0D7DE"/>
            </a:solidFill>
            <a:prstDash val="solid"/>
          </a:ln>
        </p:spPr>
      </p:sp>
      <p:sp>
        <p:nvSpPr>
          <p:cNvPr id="10" name="Shape 6"/>
          <p:cNvSpPr/>
          <p:nvPr/>
        </p:nvSpPr>
        <p:spPr>
          <a:xfrm>
            <a:off x="749808" y="3466181"/>
            <a:ext cx="365760" cy="365760"/>
          </a:xfrm>
          <a:prstGeom prst="ellipse">
            <a:avLst/>
          </a:prstGeom>
          <a:solidFill>
            <a:srgbClr val="8250DF"/>
          </a:solidFill>
          <a:ln/>
        </p:spPr>
      </p:sp>
      <p:sp>
        <p:nvSpPr>
          <p:cNvPr id="11" name="Text 7"/>
          <p:cNvSpPr txBox="1"/>
          <p:nvPr/>
        </p:nvSpPr>
        <p:spPr>
          <a:xfrm>
            <a:off x="749808" y="3466181"/>
            <a:ext cx="365760" cy="365760"/>
          </a:xfrm>
          <a:prstGeom prst="rect">
            <a:avLst/>
          </a:prstGeom>
          <a:noFill/>
          <a:ln/>
        </p:spPr>
        <p:txBody>
          <a:bodyPr wrap="square" lIns="0" tIns="0" rIns="0" bIns="0" rtlCol="0" anchor="ctr"/>
          <a:lstStyle/>
          <a:p>
            <a:pPr algn="ctr" indent="0" marL="0">
              <a:buNone/>
            </a:pPr>
            <a:r>
              <a:rPr lang="id-ID" altLang="en-US" sz="1400" b="1" dirty="0">
                <a:solidFill>
                  <a:srgbClr val="FFFFFF"/>
                </a:solidFill>
              </a:rPr>
              <a:t>A</a:t>
            </a:r>
            <a:endParaRPr lang="id-ID" sz="1400" dirty="0"/>
          </a:p>
        </p:txBody>
      </p:sp>
      <p:sp>
        <p:nvSpPr>
          <p:cNvPr id="12" name="Text 8"/>
          <p:cNvSpPr txBox="1"/>
          <p:nvPr/>
        </p:nvSpPr>
        <p:spPr>
          <a:xfrm>
            <a:off x="1353312" y="3249773"/>
            <a:ext cx="4541368" cy="798576"/>
          </a:xfrm>
          <a:prstGeom prst="rect">
            <a:avLst/>
          </a:prstGeom>
          <a:noFill/>
          <a:ln/>
        </p:spPr>
        <p:txBody>
          <a:bodyPr wrap="square" lIns="0" tIns="0" rIns="0" bIns="0" rtlCol="0" anchor="ctr"/>
          <a:lstStyle/>
          <a:p>
            <a:pPr indent="0" marL="0">
              <a:buNone/>
            </a:pPr>
            <a:r>
              <a:rPr lang="id-ID" altLang="en-US" sz="1600" dirty="0">
                <a:solidFill>
                  <a:srgbClr val="1F2328"/>
                </a:solidFill>
              </a:rPr>
              <a:t>Menangkap </a:t>
            </a:r>
            <a:r>
              <a:rPr lang="id-ID" altLang="en-US" sz="1600" i="1" dirty="0">
                <a:solidFill>
                  <a:srgbClr val="1F2328"/>
                </a:solidFill>
              </a:rPr>
              <a:t>exception</a:t>
            </a:r>
            <a:r>
              <a:rPr lang="id-ID" altLang="en-US" sz="1600" dirty="0">
                <a:solidFill>
                  <a:srgbClr val="1F2328"/>
                </a:solidFill>
              </a:rPr>
              <a:t> di </a:t>
            </a:r>
            <a:r>
              <a:rPr lang="id-ID" altLang="en-US" sz="1600" i="1" dirty="0">
                <a:solidFill>
                  <a:srgbClr val="1F2328"/>
                </a:solidFill>
              </a:rPr>
              <a:t>method</a:t>
            </a:r>
            <a:r>
              <a:rPr lang="id-ID" altLang="en-US" sz="1600" dirty="0">
                <a:solidFill>
                  <a:srgbClr val="1F2328"/>
                </a:solidFill>
              </a:rPr>
              <a:t> yang tahu harus berbuat apa</a:t>
            </a:r>
            <a:endParaRPr lang="id-ID" sz="1600" dirty="0"/>
          </a:p>
        </p:txBody>
      </p:sp>
      <p:sp>
        <p:nvSpPr>
          <p:cNvPr id="13" name="Shape 9"/>
          <p:cNvSpPr/>
          <p:nvPr/>
        </p:nvSpPr>
        <p:spPr>
          <a:xfrm>
            <a:off x="6187288" y="3140045"/>
            <a:ext cx="5455768" cy="1018032"/>
          </a:xfrm>
          <a:prstGeom prst="roundRect">
            <a:avLst>
              <a:gd name="adj" fmla="val 9681"/>
            </a:avLst>
          </a:prstGeom>
          <a:solidFill>
            <a:srgbClr val="FFFFFF"/>
          </a:solidFill>
          <a:ln w="9525">
            <a:solidFill>
              <a:srgbClr val="D0D7DE"/>
            </a:solidFill>
            <a:prstDash val="solid"/>
          </a:ln>
        </p:spPr>
      </p:sp>
      <p:sp>
        <p:nvSpPr>
          <p:cNvPr id="14" name="Shape 10"/>
          <p:cNvSpPr/>
          <p:nvPr/>
        </p:nvSpPr>
        <p:spPr>
          <a:xfrm>
            <a:off x="6388456" y="3466181"/>
            <a:ext cx="365760" cy="365760"/>
          </a:xfrm>
          <a:prstGeom prst="ellipse">
            <a:avLst/>
          </a:prstGeom>
          <a:solidFill>
            <a:srgbClr val="8250DF"/>
          </a:solidFill>
          <a:ln/>
        </p:spPr>
      </p:sp>
      <p:sp>
        <p:nvSpPr>
          <p:cNvPr id="15" name="Text 11"/>
          <p:cNvSpPr txBox="1"/>
          <p:nvPr/>
        </p:nvSpPr>
        <p:spPr>
          <a:xfrm>
            <a:off x="6388456" y="3466181"/>
            <a:ext cx="365760" cy="365760"/>
          </a:xfrm>
          <a:prstGeom prst="rect">
            <a:avLst/>
          </a:prstGeom>
          <a:noFill/>
          <a:ln/>
        </p:spPr>
        <p:txBody>
          <a:bodyPr wrap="square" lIns="0" tIns="0" rIns="0" bIns="0" rtlCol="0" anchor="ctr"/>
          <a:lstStyle/>
          <a:p>
            <a:pPr algn="ctr" indent="0" marL="0">
              <a:buNone/>
            </a:pPr>
            <a:r>
              <a:rPr lang="id-ID" altLang="en-US" sz="1400" b="1" dirty="0">
                <a:solidFill>
                  <a:srgbClr val="FFFFFF"/>
                </a:solidFill>
              </a:rPr>
              <a:t>B</a:t>
            </a:r>
            <a:endParaRPr lang="id-ID" sz="1400" dirty="0"/>
          </a:p>
        </p:txBody>
      </p:sp>
      <p:sp>
        <p:nvSpPr>
          <p:cNvPr id="16" name="Text 12"/>
          <p:cNvSpPr txBox="1"/>
          <p:nvPr/>
        </p:nvSpPr>
        <p:spPr>
          <a:xfrm>
            <a:off x="6991960" y="3249773"/>
            <a:ext cx="4541368" cy="798576"/>
          </a:xfrm>
          <a:prstGeom prst="rect">
            <a:avLst/>
          </a:prstGeom>
          <a:noFill/>
          <a:ln/>
        </p:spPr>
        <p:txBody>
          <a:bodyPr wrap="square" lIns="0" tIns="0" rIns="0" bIns="0" rtlCol="0" anchor="ctr"/>
          <a:lstStyle/>
          <a:p>
            <a:pPr indent="0" marL="0">
              <a:buNone/>
            </a:pPr>
            <a:r>
              <a:rPr lang="id-ID" altLang="en-US" sz="1600" dirty="0">
                <a:solidFill>
                  <a:srgbClr val="1F2328"/>
                </a:solidFill>
              </a:rPr>
              <a:t>Penangkap kosong (</a:t>
            </a:r>
            <a:r>
              <a:rPr lang="id-ID" altLang="en-US" sz="1600" dirty="0">
                <a:solidFill>
                  <a:srgbClr val="0A3069"/>
                </a:solidFill>
                <a:latin typeface="Consolas" pitchFamily="34" charset="0"/>
                <a:ea typeface="Consolas" pitchFamily="34" charset="-122"/>
                <a:cs typeface="Consolas" pitchFamily="34" charset="-120"/>
              </a:rPr>
              <a:t>except Exception: pass</a:t>
            </a:r>
            <a:r>
              <a:rPr lang="id-ID" altLang="en-US" sz="1600" dirty="0">
                <a:solidFill>
                  <a:srgbClr val="1F2328"/>
                </a:solidFill>
              </a:rPr>
              <a:t> / </a:t>
            </a:r>
            <a:r>
              <a:rPr lang="id-ID" altLang="en-US" sz="1600" dirty="0">
                <a:solidFill>
                  <a:srgbClr val="0A3069"/>
                </a:solidFill>
                <a:latin typeface="Consolas" pitchFamily="34" charset="0"/>
                <a:ea typeface="Consolas" pitchFamily="34" charset="-122"/>
                <a:cs typeface="Consolas" pitchFamily="34" charset="-120"/>
              </a:rPr>
              <a:t>catch (Exception e) { }</a:t>
            </a:r>
            <a:r>
              <a:rPr lang="id-ID" altLang="en-US" sz="1600" dirty="0">
                <a:solidFill>
                  <a:srgbClr val="1F2328"/>
                </a:solidFill>
              </a:rPr>
              <a:t>) agar tidak terlihat </a:t>
            </a:r>
            <a:r>
              <a:rPr lang="id-ID" altLang="en-US" sz="1600" i="1" dirty="0">
                <a:solidFill>
                  <a:srgbClr val="1F2328"/>
                </a:solidFill>
              </a:rPr>
              <a:t>error</a:t>
            </a:r>
            <a:endParaRPr lang="id-ID" sz="1600" dirty="0"/>
          </a:p>
        </p:txBody>
      </p:sp>
      <p:sp>
        <p:nvSpPr>
          <p:cNvPr id="17" name="Shape 13"/>
          <p:cNvSpPr/>
          <p:nvPr/>
        </p:nvSpPr>
        <p:spPr>
          <a:xfrm>
            <a:off x="548640" y="4340957"/>
            <a:ext cx="5455768" cy="770128"/>
          </a:xfrm>
          <a:prstGeom prst="roundRect">
            <a:avLst>
              <a:gd name="adj" fmla="val 16917"/>
            </a:avLst>
          </a:prstGeom>
          <a:solidFill>
            <a:srgbClr val="FFFFFF"/>
          </a:solidFill>
          <a:ln w="9525">
            <a:solidFill>
              <a:srgbClr val="D0D7DE"/>
            </a:solidFill>
            <a:prstDash val="solid"/>
          </a:ln>
        </p:spPr>
      </p:sp>
      <p:sp>
        <p:nvSpPr>
          <p:cNvPr id="18" name="Shape 14"/>
          <p:cNvSpPr/>
          <p:nvPr/>
        </p:nvSpPr>
        <p:spPr>
          <a:xfrm>
            <a:off x="749808" y="4543141"/>
            <a:ext cx="365760" cy="365760"/>
          </a:xfrm>
          <a:prstGeom prst="ellipse">
            <a:avLst/>
          </a:prstGeom>
          <a:solidFill>
            <a:srgbClr val="8250DF"/>
          </a:solidFill>
          <a:ln/>
        </p:spPr>
      </p:sp>
      <p:sp>
        <p:nvSpPr>
          <p:cNvPr id="19" name="Text 15"/>
          <p:cNvSpPr txBox="1"/>
          <p:nvPr/>
        </p:nvSpPr>
        <p:spPr>
          <a:xfrm>
            <a:off x="749808" y="4543141"/>
            <a:ext cx="365760" cy="365760"/>
          </a:xfrm>
          <a:prstGeom prst="rect">
            <a:avLst/>
          </a:prstGeom>
          <a:noFill/>
          <a:ln/>
        </p:spPr>
        <p:txBody>
          <a:bodyPr wrap="square" lIns="0" tIns="0" rIns="0" bIns="0" rtlCol="0" anchor="ctr"/>
          <a:lstStyle/>
          <a:p>
            <a:pPr algn="ctr" indent="0" marL="0">
              <a:buNone/>
            </a:pPr>
            <a:r>
              <a:rPr lang="id-ID" altLang="en-US" sz="1400" b="1" dirty="0">
                <a:solidFill>
                  <a:srgbClr val="FFFFFF"/>
                </a:solidFill>
              </a:rPr>
              <a:t>C</a:t>
            </a:r>
            <a:endParaRPr lang="id-ID" sz="1400" dirty="0"/>
          </a:p>
        </p:txBody>
      </p:sp>
      <p:sp>
        <p:nvSpPr>
          <p:cNvPr id="20" name="Text 16"/>
          <p:cNvSpPr txBox="1"/>
          <p:nvPr/>
        </p:nvSpPr>
        <p:spPr>
          <a:xfrm>
            <a:off x="1353312" y="4450685"/>
            <a:ext cx="4541368" cy="550672"/>
          </a:xfrm>
          <a:prstGeom prst="rect">
            <a:avLst/>
          </a:prstGeom>
          <a:noFill/>
          <a:ln/>
        </p:spPr>
        <p:txBody>
          <a:bodyPr wrap="square" lIns="0" tIns="0" rIns="0" bIns="0" rtlCol="0" anchor="ctr"/>
          <a:lstStyle/>
          <a:p>
            <a:pPr indent="0" marL="0">
              <a:buNone/>
            </a:pPr>
            <a:r>
              <a:rPr lang="id-ID" altLang="en-US" sz="1600" dirty="0">
                <a:solidFill>
                  <a:srgbClr val="1F2328"/>
                </a:solidFill>
              </a:rPr>
              <a:t>Memeriksa data sebelum mengubah atribut, lalu melempar </a:t>
            </a:r>
            <a:r>
              <a:rPr lang="id-ID" altLang="en-US" sz="1600" i="1" dirty="0">
                <a:solidFill>
                  <a:srgbClr val="1F2328"/>
                </a:solidFill>
              </a:rPr>
              <a:t>exception</a:t>
            </a:r>
            <a:r>
              <a:rPr lang="id-ID" altLang="en-US" sz="1600" dirty="0">
                <a:solidFill>
                  <a:srgbClr val="1F2328"/>
                </a:solidFill>
              </a:rPr>
              <a:t> jika datanya salah</a:t>
            </a:r>
            <a:endParaRPr lang="id-ID" sz="1600" dirty="0"/>
          </a:p>
        </p:txBody>
      </p:sp>
      <p:sp>
        <p:nvSpPr>
          <p:cNvPr id="21" name="Shape 17"/>
          <p:cNvSpPr/>
          <p:nvPr/>
        </p:nvSpPr>
        <p:spPr>
          <a:xfrm>
            <a:off x="6187288" y="4340957"/>
            <a:ext cx="5455768" cy="770128"/>
          </a:xfrm>
          <a:prstGeom prst="roundRect">
            <a:avLst>
              <a:gd name="adj" fmla="val 16917"/>
            </a:avLst>
          </a:prstGeom>
          <a:solidFill>
            <a:srgbClr val="FFFFFF"/>
          </a:solidFill>
          <a:ln w="9525">
            <a:solidFill>
              <a:srgbClr val="D0D7DE"/>
            </a:solidFill>
            <a:prstDash val="solid"/>
          </a:ln>
        </p:spPr>
      </p:sp>
      <p:sp>
        <p:nvSpPr>
          <p:cNvPr id="22" name="Shape 18"/>
          <p:cNvSpPr/>
          <p:nvPr/>
        </p:nvSpPr>
        <p:spPr>
          <a:xfrm>
            <a:off x="6388456" y="4543141"/>
            <a:ext cx="365760" cy="365760"/>
          </a:xfrm>
          <a:prstGeom prst="ellipse">
            <a:avLst/>
          </a:prstGeom>
          <a:solidFill>
            <a:srgbClr val="8250DF"/>
          </a:solidFill>
          <a:ln/>
        </p:spPr>
      </p:sp>
      <p:sp>
        <p:nvSpPr>
          <p:cNvPr id="23" name="Text 19"/>
          <p:cNvSpPr txBox="1"/>
          <p:nvPr/>
        </p:nvSpPr>
        <p:spPr>
          <a:xfrm>
            <a:off x="6388456" y="4543141"/>
            <a:ext cx="365760" cy="365760"/>
          </a:xfrm>
          <a:prstGeom prst="rect">
            <a:avLst/>
          </a:prstGeom>
          <a:noFill/>
          <a:ln/>
        </p:spPr>
        <p:txBody>
          <a:bodyPr wrap="square" lIns="0" tIns="0" rIns="0" bIns="0" rtlCol="0" anchor="ctr"/>
          <a:lstStyle/>
          <a:p>
            <a:pPr algn="ctr" indent="0" marL="0">
              <a:buNone/>
            </a:pPr>
            <a:r>
              <a:rPr lang="id-ID" altLang="en-US" sz="1400" b="1" dirty="0">
                <a:solidFill>
                  <a:srgbClr val="FFFFFF"/>
                </a:solidFill>
              </a:rPr>
              <a:t>D</a:t>
            </a:r>
            <a:endParaRPr lang="id-ID" sz="1400" dirty="0"/>
          </a:p>
        </p:txBody>
      </p:sp>
      <p:sp>
        <p:nvSpPr>
          <p:cNvPr id="24" name="Text 20"/>
          <p:cNvSpPr txBox="1"/>
          <p:nvPr/>
        </p:nvSpPr>
        <p:spPr>
          <a:xfrm>
            <a:off x="6991960" y="4450685"/>
            <a:ext cx="4541368" cy="550672"/>
          </a:xfrm>
          <a:prstGeom prst="rect">
            <a:avLst/>
          </a:prstGeom>
          <a:noFill/>
          <a:ln/>
        </p:spPr>
        <p:txBody>
          <a:bodyPr wrap="square" lIns="0" tIns="0" rIns="0" bIns="0" rtlCol="0" anchor="ctr"/>
          <a:lstStyle/>
          <a:p>
            <a:pPr indent="0" marL="0">
              <a:buNone/>
            </a:pPr>
            <a:r>
              <a:rPr lang="id-ID" altLang="en-US" sz="1600" dirty="0">
                <a:solidFill>
                  <a:srgbClr val="1F2328"/>
                </a:solidFill>
              </a:rPr>
              <a:t>Mematikan atau menutup sumber daya di blok </a:t>
            </a:r>
            <a:r>
              <a:rPr lang="id-ID" altLang="en-US" sz="1600" dirty="0">
                <a:solidFill>
                  <a:srgbClr val="0A3069"/>
                </a:solidFill>
                <a:latin typeface="Consolas" pitchFamily="34" charset="0"/>
                <a:ea typeface="Consolas" pitchFamily="34" charset="-122"/>
                <a:cs typeface="Consolas" pitchFamily="34" charset="-120"/>
              </a:rPr>
              <a:t>finally</a:t>
            </a:r>
            <a:endParaRPr lang="id-ID"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642735"/>
            <a:ext cx="11094415" cy="506730"/>
          </a:xfrm>
          <a:prstGeom prst="roundRect">
            <a:avLst>
              <a:gd name="adj" fmla="val 39075"/>
            </a:avLst>
          </a:prstGeom>
          <a:solidFill>
            <a:srgbClr val="F6F8FA"/>
          </a:solidFill>
          <a:ln w="9525">
            <a:solidFill>
              <a:srgbClr val="D0D7DE"/>
            </a:solidFill>
            <a:prstDash val="solid"/>
          </a:ln>
        </p:spPr>
      </p:sp>
      <p:sp>
        <p:nvSpPr>
          <p:cNvPr id="6" name="Text 3"/>
          <p:cNvSpPr txBox="1"/>
          <p:nvPr/>
        </p:nvSpPr>
        <p:spPr>
          <a:xfrm>
            <a:off x="822960" y="1779895"/>
            <a:ext cx="10545775" cy="232410"/>
          </a:xfrm>
          <a:prstGeom prst="rect">
            <a:avLst/>
          </a:prstGeom>
          <a:noFill/>
          <a:ln/>
        </p:spPr>
        <p:txBody>
          <a:bodyPr wrap="square" lIns="0" tIns="0" rIns="0" bIns="0" rtlCol="0" anchor="t"/>
          <a:lstStyle/>
          <a:p>
            <a:pPr indent="0" marL="0">
              <a:buNone/>
            </a:pPr>
            <a:r>
              <a:rPr lang="id-ID" altLang="en-US" sz="1500" dirty="0">
                <a:solidFill>
                  <a:srgbClr val="57606A"/>
                </a:solidFill>
              </a:rPr>
              <a:t>Manakah kebiasaan yang </a:t>
            </a:r>
            <a:r>
              <a:rPr lang="id-ID" altLang="en-US" sz="1500" b="1" dirty="0">
                <a:solidFill>
                  <a:srgbClr val="57606A"/>
                </a:solidFill>
              </a:rPr>
              <a:t>paling buruk</a:t>
            </a:r>
            <a:r>
              <a:rPr lang="id-ID" altLang="en-US" sz="1500" dirty="0">
                <a:solidFill>
                  <a:srgbClr val="57606A"/>
                </a:solidFill>
              </a:rPr>
              <a:t> saat menangani </a:t>
            </a:r>
            <a:r>
              <a:rPr lang="id-ID" altLang="en-US" sz="1500" i="1" dirty="0">
                <a:solidFill>
                  <a:srgbClr val="57606A"/>
                </a:solidFill>
              </a:rPr>
              <a:t>exception</a:t>
            </a:r>
            <a:r>
              <a:rPr lang="id-ID" altLang="en-US" sz="1500" dirty="0">
                <a:solidFill>
                  <a:srgbClr val="57606A"/>
                </a:solidFill>
              </a:rPr>
              <a:t>?</a:t>
            </a:r>
            <a:endParaRPr lang="id-ID" sz="1500" dirty="0"/>
          </a:p>
        </p:txBody>
      </p:sp>
      <p:sp>
        <p:nvSpPr>
          <p:cNvPr id="7" name="Shape 4"/>
          <p:cNvSpPr/>
          <p:nvPr/>
        </p:nvSpPr>
        <p:spPr>
          <a:xfrm>
            <a:off x="548640" y="2332345"/>
            <a:ext cx="5455768" cy="1018032"/>
          </a:xfrm>
          <a:prstGeom prst="roundRect">
            <a:avLst>
              <a:gd name="adj" fmla="val 9681"/>
            </a:avLst>
          </a:prstGeom>
          <a:solidFill>
            <a:srgbClr val="FFFFFF"/>
          </a:solidFill>
          <a:ln w="9525">
            <a:solidFill>
              <a:srgbClr val="D0D7DE"/>
            </a:solidFill>
            <a:prstDash val="solid"/>
          </a:ln>
        </p:spPr>
      </p:sp>
      <p:sp>
        <p:nvSpPr>
          <p:cNvPr id="8" name="Shape 5"/>
          <p:cNvSpPr/>
          <p:nvPr/>
        </p:nvSpPr>
        <p:spPr>
          <a:xfrm>
            <a:off x="749808" y="2658481"/>
            <a:ext cx="365760" cy="365760"/>
          </a:xfrm>
          <a:prstGeom prst="ellipse">
            <a:avLst/>
          </a:prstGeom>
          <a:solidFill>
            <a:srgbClr val="8C959F"/>
          </a:solidFill>
          <a:ln/>
        </p:spPr>
      </p:sp>
      <p:sp>
        <p:nvSpPr>
          <p:cNvPr id="9" name="Text 6"/>
          <p:cNvSpPr txBox="1"/>
          <p:nvPr/>
        </p:nvSpPr>
        <p:spPr>
          <a:xfrm>
            <a:off x="749808" y="2658481"/>
            <a:ext cx="365760" cy="365760"/>
          </a:xfrm>
          <a:prstGeom prst="rect">
            <a:avLst/>
          </a:prstGeom>
          <a:noFill/>
          <a:ln/>
        </p:spPr>
        <p:txBody>
          <a:bodyPr wrap="square" lIns="0" tIns="0" rIns="0" bIns="0" rtlCol="0" anchor="ctr"/>
          <a:lstStyle/>
          <a:p>
            <a:pPr algn="ctr" indent="0" marL="0">
              <a:buNone/>
            </a:pPr>
            <a:r>
              <a:rPr lang="id-ID" altLang="en-US" sz="1400" b="1" dirty="0">
                <a:solidFill>
                  <a:srgbClr val="FFFFFF"/>
                </a:solidFill>
              </a:rPr>
              <a:t>A</a:t>
            </a:r>
            <a:endParaRPr lang="id-ID" sz="1400" dirty="0"/>
          </a:p>
        </p:txBody>
      </p:sp>
      <p:sp>
        <p:nvSpPr>
          <p:cNvPr id="10" name="Text 7"/>
          <p:cNvSpPr txBox="1"/>
          <p:nvPr/>
        </p:nvSpPr>
        <p:spPr>
          <a:xfrm>
            <a:off x="1353312" y="2442073"/>
            <a:ext cx="4541368" cy="798576"/>
          </a:xfrm>
          <a:prstGeom prst="rect">
            <a:avLst/>
          </a:prstGeom>
          <a:noFill/>
          <a:ln/>
        </p:spPr>
        <p:txBody>
          <a:bodyPr wrap="square" lIns="0" tIns="0" rIns="0" bIns="0" rtlCol="0" anchor="ctr"/>
          <a:lstStyle/>
          <a:p>
            <a:pPr indent="0" marL="0">
              <a:buNone/>
            </a:pPr>
            <a:r>
              <a:rPr lang="id-ID" altLang="en-US" sz="1600" dirty="0">
                <a:solidFill>
                  <a:srgbClr val="57606A"/>
                </a:solidFill>
              </a:rPr>
              <a:t>Menangkap </a:t>
            </a:r>
            <a:r>
              <a:rPr lang="id-ID" altLang="en-US" sz="1600" i="1" dirty="0">
                <a:solidFill>
                  <a:srgbClr val="57606A"/>
                </a:solidFill>
              </a:rPr>
              <a:t>exception</a:t>
            </a:r>
            <a:r>
              <a:rPr lang="id-ID" altLang="en-US" sz="1600" dirty="0">
                <a:solidFill>
                  <a:srgbClr val="57606A"/>
                </a:solidFill>
              </a:rPr>
              <a:t> di </a:t>
            </a:r>
            <a:r>
              <a:rPr lang="id-ID" altLang="en-US" sz="1600" i="1" dirty="0">
                <a:solidFill>
                  <a:srgbClr val="57606A"/>
                </a:solidFill>
              </a:rPr>
              <a:t>method</a:t>
            </a:r>
            <a:r>
              <a:rPr lang="id-ID" altLang="en-US" sz="1600" dirty="0">
                <a:solidFill>
                  <a:srgbClr val="57606A"/>
                </a:solidFill>
              </a:rPr>
              <a:t> yang tahu harus berbuat apa</a:t>
            </a:r>
            <a:endParaRPr lang="id-ID" sz="1600" dirty="0"/>
          </a:p>
        </p:txBody>
      </p:sp>
      <p:sp>
        <p:nvSpPr>
          <p:cNvPr id="11" name="Shape 8"/>
          <p:cNvSpPr/>
          <p:nvPr/>
        </p:nvSpPr>
        <p:spPr>
          <a:xfrm>
            <a:off x="6187288" y="2332345"/>
            <a:ext cx="5455768" cy="1018032"/>
          </a:xfrm>
          <a:prstGeom prst="roundRect">
            <a:avLst>
              <a:gd name="adj" fmla="val 9681"/>
            </a:avLst>
          </a:prstGeom>
          <a:solidFill>
            <a:srgbClr val="DAFBE1"/>
          </a:solidFill>
          <a:ln w="22225">
            <a:solidFill>
              <a:srgbClr val="1A7F37"/>
            </a:solidFill>
            <a:prstDash val="solid"/>
          </a:ln>
        </p:spPr>
      </p:sp>
      <p:sp>
        <p:nvSpPr>
          <p:cNvPr id="12" name="Shape 9"/>
          <p:cNvSpPr/>
          <p:nvPr/>
        </p:nvSpPr>
        <p:spPr>
          <a:xfrm>
            <a:off x="6388456" y="2658481"/>
            <a:ext cx="365760" cy="365760"/>
          </a:xfrm>
          <a:prstGeom prst="ellipse">
            <a:avLst/>
          </a:prstGeom>
          <a:solidFill>
            <a:srgbClr val="1A7F37"/>
          </a:solidFill>
          <a:ln/>
        </p:spPr>
      </p:sp>
      <p:pic>
        <p:nvPicPr>
          <p:cNvPr id="13" name="Image 1" descr="preencoded.png">    </p:cNvPr>
          <p:cNvPicPr>
            <a:picLocks noChangeAspect="1"/>
          </p:cNvPicPr>
          <p:nvPr/>
        </p:nvPicPr>
        <p:blipFill>
          <a:blip r:embed="rId2"/>
          <a:stretch>
            <a:fillRect/>
          </a:stretch>
        </p:blipFill>
        <p:spPr>
          <a:xfrm>
            <a:off x="6468923" y="2738948"/>
            <a:ext cx="204826" cy="204826"/>
          </a:xfrm>
          <a:prstGeom prst="rect">
            <a:avLst/>
          </a:prstGeom>
        </p:spPr>
      </p:pic>
      <p:sp>
        <p:nvSpPr>
          <p:cNvPr id="14" name="Text 10"/>
          <p:cNvSpPr txBox="1"/>
          <p:nvPr/>
        </p:nvSpPr>
        <p:spPr>
          <a:xfrm>
            <a:off x="6991960" y="2442073"/>
            <a:ext cx="4541368" cy="798576"/>
          </a:xfrm>
          <a:prstGeom prst="rect">
            <a:avLst/>
          </a:prstGeom>
          <a:noFill/>
          <a:ln/>
        </p:spPr>
        <p:txBody>
          <a:bodyPr wrap="square" lIns="0" tIns="0" rIns="0" bIns="0" rtlCol="0" anchor="ctr"/>
          <a:lstStyle/>
          <a:p>
            <a:pPr indent="0" marL="0">
              <a:buNone/>
            </a:pPr>
            <a:r>
              <a:rPr lang="id-ID" altLang="en-US" sz="1600" dirty="0">
                <a:solidFill>
                  <a:srgbClr val="1F2328"/>
                </a:solidFill>
              </a:rPr>
              <a:t>Penangkap kosong (</a:t>
            </a:r>
            <a:r>
              <a:rPr lang="id-ID" altLang="en-US" sz="1600" dirty="0">
                <a:solidFill>
                  <a:srgbClr val="0A3069"/>
                </a:solidFill>
                <a:latin typeface="Consolas" pitchFamily="34" charset="0"/>
                <a:ea typeface="Consolas" pitchFamily="34" charset="-122"/>
                <a:cs typeface="Consolas" pitchFamily="34" charset="-120"/>
              </a:rPr>
              <a:t>except Exception: pass</a:t>
            </a:r>
            <a:r>
              <a:rPr lang="id-ID" altLang="en-US" sz="1600" dirty="0">
                <a:solidFill>
                  <a:srgbClr val="1F2328"/>
                </a:solidFill>
              </a:rPr>
              <a:t> / </a:t>
            </a:r>
            <a:r>
              <a:rPr lang="id-ID" altLang="en-US" sz="1600" dirty="0">
                <a:solidFill>
                  <a:srgbClr val="0A3069"/>
                </a:solidFill>
                <a:latin typeface="Consolas" pitchFamily="34" charset="0"/>
                <a:ea typeface="Consolas" pitchFamily="34" charset="-122"/>
                <a:cs typeface="Consolas" pitchFamily="34" charset="-120"/>
              </a:rPr>
              <a:t>catch (Exception e) { }</a:t>
            </a:r>
            <a:r>
              <a:rPr lang="id-ID" altLang="en-US" sz="1600" dirty="0">
                <a:solidFill>
                  <a:srgbClr val="1F2328"/>
                </a:solidFill>
              </a:rPr>
              <a:t>) agar tidak terlihat </a:t>
            </a:r>
            <a:r>
              <a:rPr lang="id-ID" altLang="en-US" sz="1600" i="1" dirty="0">
                <a:solidFill>
                  <a:srgbClr val="1F2328"/>
                </a:solidFill>
              </a:rPr>
              <a:t>error</a:t>
            </a:r>
            <a:endParaRPr lang="id-ID" sz="1600" dirty="0"/>
          </a:p>
        </p:txBody>
      </p:sp>
      <p:sp>
        <p:nvSpPr>
          <p:cNvPr id="15" name="Shape 11"/>
          <p:cNvSpPr/>
          <p:nvPr/>
        </p:nvSpPr>
        <p:spPr>
          <a:xfrm>
            <a:off x="548640" y="3533257"/>
            <a:ext cx="5455768" cy="770128"/>
          </a:xfrm>
          <a:prstGeom prst="roundRect">
            <a:avLst>
              <a:gd name="adj" fmla="val 16917"/>
            </a:avLst>
          </a:prstGeom>
          <a:solidFill>
            <a:srgbClr val="FFFFFF"/>
          </a:solidFill>
          <a:ln w="9525">
            <a:solidFill>
              <a:srgbClr val="D0D7DE"/>
            </a:solidFill>
            <a:prstDash val="solid"/>
          </a:ln>
        </p:spPr>
      </p:sp>
      <p:sp>
        <p:nvSpPr>
          <p:cNvPr id="16" name="Shape 12"/>
          <p:cNvSpPr/>
          <p:nvPr/>
        </p:nvSpPr>
        <p:spPr>
          <a:xfrm>
            <a:off x="749808" y="3735441"/>
            <a:ext cx="365760" cy="365760"/>
          </a:xfrm>
          <a:prstGeom prst="ellipse">
            <a:avLst/>
          </a:prstGeom>
          <a:solidFill>
            <a:srgbClr val="8C959F"/>
          </a:solidFill>
          <a:ln/>
        </p:spPr>
      </p:sp>
      <p:sp>
        <p:nvSpPr>
          <p:cNvPr id="17" name="Text 13"/>
          <p:cNvSpPr txBox="1"/>
          <p:nvPr/>
        </p:nvSpPr>
        <p:spPr>
          <a:xfrm>
            <a:off x="749808" y="3735441"/>
            <a:ext cx="365760" cy="365760"/>
          </a:xfrm>
          <a:prstGeom prst="rect">
            <a:avLst/>
          </a:prstGeom>
          <a:noFill/>
          <a:ln/>
        </p:spPr>
        <p:txBody>
          <a:bodyPr wrap="square" lIns="0" tIns="0" rIns="0" bIns="0" rtlCol="0" anchor="ctr"/>
          <a:lstStyle/>
          <a:p>
            <a:pPr algn="ctr" indent="0" marL="0">
              <a:buNone/>
            </a:pPr>
            <a:r>
              <a:rPr lang="id-ID" altLang="en-US" sz="1400" b="1" dirty="0">
                <a:solidFill>
                  <a:srgbClr val="FFFFFF"/>
                </a:solidFill>
              </a:rPr>
              <a:t>C</a:t>
            </a:r>
            <a:endParaRPr lang="id-ID" sz="1400" dirty="0"/>
          </a:p>
        </p:txBody>
      </p:sp>
      <p:sp>
        <p:nvSpPr>
          <p:cNvPr id="18" name="Text 14"/>
          <p:cNvSpPr txBox="1"/>
          <p:nvPr/>
        </p:nvSpPr>
        <p:spPr>
          <a:xfrm>
            <a:off x="1353312" y="3642985"/>
            <a:ext cx="4541368" cy="550672"/>
          </a:xfrm>
          <a:prstGeom prst="rect">
            <a:avLst/>
          </a:prstGeom>
          <a:noFill/>
          <a:ln/>
        </p:spPr>
        <p:txBody>
          <a:bodyPr wrap="square" lIns="0" tIns="0" rIns="0" bIns="0" rtlCol="0" anchor="ctr"/>
          <a:lstStyle/>
          <a:p>
            <a:pPr indent="0" marL="0">
              <a:buNone/>
            </a:pPr>
            <a:r>
              <a:rPr lang="id-ID" altLang="en-US" sz="1600" dirty="0">
                <a:solidFill>
                  <a:srgbClr val="57606A"/>
                </a:solidFill>
              </a:rPr>
              <a:t>Memeriksa data sebelum mengubah atribut, lalu melempar </a:t>
            </a:r>
            <a:r>
              <a:rPr lang="id-ID" altLang="en-US" sz="1600" i="1" dirty="0">
                <a:solidFill>
                  <a:srgbClr val="57606A"/>
                </a:solidFill>
              </a:rPr>
              <a:t>exception</a:t>
            </a:r>
            <a:r>
              <a:rPr lang="id-ID" altLang="en-US" sz="1600" dirty="0">
                <a:solidFill>
                  <a:srgbClr val="57606A"/>
                </a:solidFill>
              </a:rPr>
              <a:t> jika datanya salah</a:t>
            </a:r>
            <a:endParaRPr lang="id-ID" sz="1600" dirty="0"/>
          </a:p>
        </p:txBody>
      </p:sp>
      <p:sp>
        <p:nvSpPr>
          <p:cNvPr id="19" name="Shape 15"/>
          <p:cNvSpPr/>
          <p:nvPr/>
        </p:nvSpPr>
        <p:spPr>
          <a:xfrm>
            <a:off x="6187288" y="3533257"/>
            <a:ext cx="5455768" cy="770128"/>
          </a:xfrm>
          <a:prstGeom prst="roundRect">
            <a:avLst>
              <a:gd name="adj" fmla="val 16917"/>
            </a:avLst>
          </a:prstGeom>
          <a:solidFill>
            <a:srgbClr val="FFFFFF"/>
          </a:solidFill>
          <a:ln w="9525">
            <a:solidFill>
              <a:srgbClr val="D0D7DE"/>
            </a:solidFill>
            <a:prstDash val="solid"/>
          </a:ln>
        </p:spPr>
      </p:sp>
      <p:sp>
        <p:nvSpPr>
          <p:cNvPr id="20" name="Shape 16"/>
          <p:cNvSpPr/>
          <p:nvPr/>
        </p:nvSpPr>
        <p:spPr>
          <a:xfrm>
            <a:off x="6388456" y="3735441"/>
            <a:ext cx="365760" cy="365760"/>
          </a:xfrm>
          <a:prstGeom prst="ellipse">
            <a:avLst/>
          </a:prstGeom>
          <a:solidFill>
            <a:srgbClr val="8C959F"/>
          </a:solidFill>
          <a:ln/>
        </p:spPr>
      </p:sp>
      <p:sp>
        <p:nvSpPr>
          <p:cNvPr id="21" name="Text 17"/>
          <p:cNvSpPr txBox="1"/>
          <p:nvPr/>
        </p:nvSpPr>
        <p:spPr>
          <a:xfrm>
            <a:off x="6388456" y="3735441"/>
            <a:ext cx="365760" cy="365760"/>
          </a:xfrm>
          <a:prstGeom prst="rect">
            <a:avLst/>
          </a:prstGeom>
          <a:noFill/>
          <a:ln/>
        </p:spPr>
        <p:txBody>
          <a:bodyPr wrap="square" lIns="0" tIns="0" rIns="0" bIns="0" rtlCol="0" anchor="ctr"/>
          <a:lstStyle/>
          <a:p>
            <a:pPr algn="ctr" indent="0" marL="0">
              <a:buNone/>
            </a:pPr>
            <a:r>
              <a:rPr lang="id-ID" altLang="en-US" sz="1400" b="1" dirty="0">
                <a:solidFill>
                  <a:srgbClr val="FFFFFF"/>
                </a:solidFill>
              </a:rPr>
              <a:t>D</a:t>
            </a:r>
            <a:endParaRPr lang="id-ID" sz="1400" dirty="0"/>
          </a:p>
        </p:txBody>
      </p:sp>
      <p:sp>
        <p:nvSpPr>
          <p:cNvPr id="22" name="Text 18"/>
          <p:cNvSpPr txBox="1"/>
          <p:nvPr/>
        </p:nvSpPr>
        <p:spPr>
          <a:xfrm>
            <a:off x="6991960" y="3642985"/>
            <a:ext cx="4541368" cy="550672"/>
          </a:xfrm>
          <a:prstGeom prst="rect">
            <a:avLst/>
          </a:prstGeom>
          <a:noFill/>
          <a:ln/>
        </p:spPr>
        <p:txBody>
          <a:bodyPr wrap="square" lIns="0" tIns="0" rIns="0" bIns="0" rtlCol="0" anchor="ctr"/>
          <a:lstStyle/>
          <a:p>
            <a:pPr indent="0" marL="0">
              <a:buNone/>
            </a:pPr>
            <a:r>
              <a:rPr lang="id-ID" altLang="en-US" sz="1600" dirty="0">
                <a:solidFill>
                  <a:srgbClr val="57606A"/>
                </a:solidFill>
              </a:rPr>
              <a:t>Mematikan atau menutup sumber daya di blok </a:t>
            </a:r>
            <a:r>
              <a:rPr lang="id-ID" altLang="en-US" sz="1600" dirty="0">
                <a:solidFill>
                  <a:srgbClr val="0A3069"/>
                </a:solidFill>
                <a:latin typeface="Consolas" pitchFamily="34" charset="0"/>
                <a:ea typeface="Consolas" pitchFamily="34" charset="-122"/>
                <a:cs typeface="Consolas" pitchFamily="34" charset="-120"/>
              </a:rPr>
              <a:t>finally</a:t>
            </a:r>
            <a:endParaRPr lang="id-ID" sz="1600" dirty="0"/>
          </a:p>
        </p:txBody>
      </p:sp>
      <p:sp>
        <p:nvSpPr>
          <p:cNvPr id="23" name="Shape 19"/>
          <p:cNvSpPr/>
          <p:nvPr/>
        </p:nvSpPr>
        <p:spPr>
          <a:xfrm>
            <a:off x="548640" y="4504553"/>
            <a:ext cx="11094415" cy="1383792"/>
          </a:xfrm>
          <a:prstGeom prst="roundRect">
            <a:avLst>
              <a:gd name="adj" fmla="val 5240"/>
            </a:avLst>
          </a:prstGeom>
          <a:solidFill>
            <a:srgbClr val="FFF8C5"/>
          </a:solidFill>
          <a:ln w="9525">
            <a:solidFill>
              <a:srgbClr val="D4A72C"/>
            </a:solidFill>
            <a:prstDash val="solid"/>
          </a:ln>
        </p:spPr>
      </p:sp>
      <p:sp>
        <p:nvSpPr>
          <p:cNvPr id="24" name="Shape 20"/>
          <p:cNvSpPr/>
          <p:nvPr/>
        </p:nvSpPr>
        <p:spPr>
          <a:xfrm>
            <a:off x="777240" y="4687433"/>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788017"/>
            <a:ext cx="256032" cy="256032"/>
          </a:xfrm>
          <a:prstGeom prst="rect">
            <a:avLst/>
          </a:prstGeom>
        </p:spPr>
      </p:pic>
      <p:sp>
        <p:nvSpPr>
          <p:cNvPr id="26" name="Text 21"/>
          <p:cNvSpPr txBox="1"/>
          <p:nvPr/>
        </p:nvSpPr>
        <p:spPr>
          <a:xfrm>
            <a:off x="1417320" y="4641713"/>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B</a:t>
            </a:r>
            <a:endParaRPr lang="id-ID" sz="1600" dirty="0"/>
          </a:p>
        </p:txBody>
      </p:sp>
      <p:sp>
        <p:nvSpPr>
          <p:cNvPr id="27" name="Text 22"/>
          <p:cNvSpPr txBox="1"/>
          <p:nvPr/>
        </p:nvSpPr>
        <p:spPr>
          <a:xfrm>
            <a:off x="1417320" y="4980041"/>
            <a:ext cx="9951415" cy="835152"/>
          </a:xfrm>
          <a:prstGeom prst="rect">
            <a:avLst/>
          </a:prstGeom>
          <a:noFill/>
          <a:ln/>
        </p:spPr>
        <p:txBody>
          <a:bodyPr wrap="square" lIns="0" tIns="0" rIns="0" bIns="0" rtlCol="0" anchor="t"/>
          <a:lstStyle/>
          <a:p>
            <a:pPr indent="0" marL="0">
              <a:buNone/>
            </a:pPr>
            <a:r>
              <a:rPr lang="id-ID" altLang="en-US" sz="1600" dirty="0">
                <a:solidFill>
                  <a:srgbClr val="1F2328"/>
                </a:solidFill>
              </a:rPr>
              <a:t>Penangkap kosong “menelan” </a:t>
            </a:r>
            <a:r>
              <a:rPr lang="id-ID" altLang="en-US" sz="1600" i="1" dirty="0">
                <a:solidFill>
                  <a:srgbClr val="1F2328"/>
                </a:solidFill>
              </a:rPr>
              <a:t>exception</a:t>
            </a:r>
            <a:r>
              <a:rPr lang="id-ID" altLang="en-US" sz="1600" dirty="0">
                <a:solidFill>
                  <a:srgbClr val="1F2328"/>
                </a:solidFill>
              </a:rPr>
              <a:t>. Program terlihat lancar, tetapi hasilnya bisa salah tanpa jejak, seperti program yang mencetak “Suhu diatur ke 10 derajat” padahal perintahnya ditolak. Pilihan A, C, dan D justru praktik baik: menangkap di tempat yang tepat, validasi lebih awal, dan bersih-⁠bersih di </a:t>
            </a:r>
            <a:r>
              <a:rPr lang="id-ID" altLang="en-US" sz="1600" dirty="0">
                <a:solidFill>
                  <a:srgbClr val="0A3069"/>
                </a:solidFill>
                <a:latin typeface="Consolas" pitchFamily="34" charset="0"/>
                <a:ea typeface="Consolas" pitchFamily="34" charset="-122"/>
                <a:cs typeface="Consolas" pitchFamily="34" charset="-120"/>
              </a:rPr>
              <a:t>finally</a:t>
            </a:r>
            <a:r>
              <a:rPr lang="id-ID" altLang="en-US" sz="1600" dirty="0">
                <a:solidFill>
                  <a:srgbClr val="1F2328"/>
                </a:solidFill>
              </a:rPr>
              <a:t>.</a:t>
            </a:r>
            <a:endParaRPr lang="id-ID"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A7F37"/>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Ringkasan</a:t>
            </a:r>
            <a:endParaRPr lang="id-ID" sz="3200" dirty="0"/>
          </a:p>
        </p:txBody>
      </p:sp>
      <p:sp>
        <p:nvSpPr>
          <p:cNvPr id="5" name="Shape 2"/>
          <p:cNvSpPr/>
          <p:nvPr/>
        </p:nvSpPr>
        <p:spPr>
          <a:xfrm>
            <a:off x="548640" y="1470400"/>
            <a:ext cx="279667" cy="279667"/>
          </a:xfrm>
          <a:prstGeom prst="ellipse">
            <a:avLst/>
          </a:prstGeom>
          <a:solidFill>
            <a:srgbClr val="1A7F37"/>
          </a:solidFill>
          <a:ln/>
        </p:spPr>
      </p:sp>
      <p:pic>
        <p:nvPicPr>
          <p:cNvPr id="6" name="Image 1" descr="preencoded.png">    </p:cNvPr>
          <p:cNvPicPr>
            <a:picLocks noChangeAspect="1"/>
          </p:cNvPicPr>
          <p:nvPr/>
        </p:nvPicPr>
        <p:blipFill>
          <a:blip r:embed="rId2"/>
          <a:stretch>
            <a:fillRect/>
          </a:stretch>
        </p:blipFill>
        <p:spPr>
          <a:xfrm>
            <a:off x="610167" y="1531926"/>
            <a:ext cx="156613" cy="156613"/>
          </a:xfrm>
          <a:prstGeom prst="rect">
            <a:avLst/>
          </a:prstGeom>
        </p:spPr>
      </p:pic>
      <p:sp>
        <p:nvSpPr>
          <p:cNvPr id="7" name="Text 3"/>
          <p:cNvSpPr txBox="1"/>
          <p:nvPr/>
        </p:nvSpPr>
        <p:spPr>
          <a:xfrm>
            <a:off x="1051560" y="1463040"/>
            <a:ext cx="10591495" cy="634492"/>
          </a:xfrm>
          <a:prstGeom prst="rect">
            <a:avLst/>
          </a:prstGeom>
          <a:noFill/>
          <a:ln/>
        </p:spPr>
        <p:txBody>
          <a:bodyPr wrap="square" lIns="0" tIns="0" rIns="0" bIns="0" rtlCol="0" anchor="t"/>
          <a:lstStyle/>
          <a:p>
            <a:pPr indent="0" marL="0">
              <a:buNone/>
            </a:pPr>
            <a:r>
              <a:rPr lang="id-ID" altLang="en-US" sz="1900" dirty="0">
                <a:solidFill>
                  <a:srgbClr val="1F2328"/>
                </a:solidFill>
              </a:rPr>
              <a:t>Tiga jenis kesalahan: sintaks/kompilasi, </a:t>
            </a:r>
            <a:r>
              <a:rPr lang="id-ID" altLang="en-US" sz="1900" i="1" dirty="0">
                <a:solidFill>
                  <a:srgbClr val="1F2328"/>
                </a:solidFill>
              </a:rPr>
              <a:t>runtime</a:t>
            </a:r>
            <a:r>
              <a:rPr lang="id-ID" altLang="en-US" sz="1900" dirty="0">
                <a:solidFill>
                  <a:srgbClr val="1F2328"/>
                </a:solidFill>
              </a:rPr>
              <a:t>, dan logika. </a:t>
            </a:r>
            <a:r>
              <a:rPr lang="id-ID" altLang="en-US" sz="1900" i="1" dirty="0">
                <a:solidFill>
                  <a:srgbClr val="1F2328"/>
                </a:solidFill>
              </a:rPr>
              <a:t>Exception handling</a:t>
            </a:r>
            <a:r>
              <a:rPr lang="id-ID" altLang="en-US" sz="1900" dirty="0">
                <a:solidFill>
                  <a:srgbClr val="1F2328"/>
                </a:solidFill>
              </a:rPr>
              <a:t> mengurus kesalahan </a:t>
            </a:r>
            <a:r>
              <a:rPr lang="id-ID" altLang="en-US" sz="1900" i="1" dirty="0">
                <a:solidFill>
                  <a:srgbClr val="1F2328"/>
                </a:solidFill>
              </a:rPr>
              <a:t>runtime</a:t>
            </a:r>
            <a:r>
              <a:rPr lang="id-ID" altLang="en-US" sz="1900" dirty="0">
                <a:solidFill>
                  <a:srgbClr val="1F2328"/>
                </a:solidFill>
              </a:rPr>
              <a:t>.</a:t>
            </a:r>
            <a:endParaRPr lang="id-ID" sz="1900" dirty="0"/>
          </a:p>
        </p:txBody>
      </p:sp>
      <p:sp>
        <p:nvSpPr>
          <p:cNvPr id="8" name="Shape 4"/>
          <p:cNvSpPr/>
          <p:nvPr/>
        </p:nvSpPr>
        <p:spPr>
          <a:xfrm>
            <a:off x="548640" y="2260340"/>
            <a:ext cx="279667" cy="279667"/>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610167" y="2321866"/>
            <a:ext cx="156613" cy="156613"/>
          </a:xfrm>
          <a:prstGeom prst="rect">
            <a:avLst/>
          </a:prstGeom>
        </p:spPr>
      </p:pic>
      <p:sp>
        <p:nvSpPr>
          <p:cNvPr id="10" name="Text 5"/>
          <p:cNvSpPr txBox="1"/>
          <p:nvPr/>
        </p:nvSpPr>
        <p:spPr>
          <a:xfrm>
            <a:off x="1051560" y="2252980"/>
            <a:ext cx="10591495" cy="340106"/>
          </a:xfrm>
          <a:prstGeom prst="rect">
            <a:avLst/>
          </a:prstGeom>
          <a:noFill/>
          <a:ln/>
        </p:spPr>
        <p:txBody>
          <a:bodyPr wrap="square" lIns="0" tIns="0" rIns="0" bIns="0" rtlCol="0" anchor="t"/>
          <a:lstStyle/>
          <a:p>
            <a:pPr indent="0" marL="0">
              <a:buNone/>
            </a:pPr>
            <a:r>
              <a:rPr lang="id-ID" altLang="en-US" sz="1900" b="1" i="1" dirty="0">
                <a:solidFill>
                  <a:srgbClr val="1F2328"/>
                </a:solidFill>
              </a:rPr>
              <a:t>Exception</a:t>
            </a:r>
            <a:r>
              <a:rPr lang="id-ID" altLang="en-US" sz="1900" dirty="0">
                <a:solidFill>
                  <a:srgbClr val="1F2328"/>
                </a:solidFill>
              </a:rPr>
              <a:t> merambat ke pemanggil sampai ditangkap. Jika lolos, program berhenti dan mencetak laporan.</a:t>
            </a:r>
            <a:endParaRPr lang="id-ID" sz="1900" dirty="0"/>
          </a:p>
        </p:txBody>
      </p:sp>
      <p:sp>
        <p:nvSpPr>
          <p:cNvPr id="11" name="Shape 6"/>
          <p:cNvSpPr/>
          <p:nvPr/>
        </p:nvSpPr>
        <p:spPr>
          <a:xfrm>
            <a:off x="548640" y="2755894"/>
            <a:ext cx="279667" cy="279667"/>
          </a:xfrm>
          <a:prstGeom prst="ellipse">
            <a:avLst/>
          </a:prstGeom>
          <a:solidFill>
            <a:srgbClr val="1A7F37"/>
          </a:solidFill>
          <a:ln/>
        </p:spPr>
      </p:sp>
      <p:pic>
        <p:nvPicPr>
          <p:cNvPr id="12" name="Image 3" descr="preencoded.png">    </p:cNvPr>
          <p:cNvPicPr>
            <a:picLocks noChangeAspect="1"/>
          </p:cNvPicPr>
          <p:nvPr/>
        </p:nvPicPr>
        <p:blipFill>
          <a:blip r:embed="rId4"/>
          <a:stretch>
            <a:fillRect/>
          </a:stretch>
        </p:blipFill>
        <p:spPr>
          <a:xfrm>
            <a:off x="610167" y="2817420"/>
            <a:ext cx="156613" cy="156613"/>
          </a:xfrm>
          <a:prstGeom prst="rect">
            <a:avLst/>
          </a:prstGeom>
        </p:spPr>
      </p:pic>
      <p:sp>
        <p:nvSpPr>
          <p:cNvPr id="13" name="Text 7"/>
          <p:cNvSpPr txBox="1"/>
          <p:nvPr/>
        </p:nvSpPr>
        <p:spPr>
          <a:xfrm>
            <a:off x="1051560" y="2748534"/>
            <a:ext cx="10591495" cy="340106"/>
          </a:xfrm>
          <a:prstGeom prst="rect">
            <a:avLst/>
          </a:prstGeom>
          <a:noFill/>
          <a:ln/>
        </p:spPr>
        <p:txBody>
          <a:bodyPr wrap="square" lIns="0" tIns="0" rIns="0" bIns="0" rtlCol="0" anchor="t"/>
          <a:lstStyle/>
          <a:p>
            <a:pPr indent="0" marL="0">
              <a:buNone/>
            </a:pPr>
            <a:r>
              <a:rPr lang="id-ID" altLang="en-US" sz="1900" i="1" dirty="0">
                <a:solidFill>
                  <a:srgbClr val="1F2328"/>
                </a:solidFill>
              </a:rPr>
              <a:t>Traceback</a:t>
            </a:r>
            <a:r>
              <a:rPr lang="id-ID" altLang="en-US" sz="1900" dirty="0">
                <a:solidFill>
                  <a:srgbClr val="1F2328"/>
                </a:solidFill>
              </a:rPr>
              <a:t> Python dibaca dari bawah, sedangkan </a:t>
            </a:r>
            <a:r>
              <a:rPr lang="id-ID" altLang="en-US" sz="1900" i="1" dirty="0">
                <a:solidFill>
                  <a:srgbClr val="1F2328"/>
                </a:solidFill>
              </a:rPr>
              <a:t>stack trace</a:t>
            </a:r>
            <a:r>
              <a:rPr lang="id-ID" altLang="en-US" sz="1900" dirty="0">
                <a:solidFill>
                  <a:srgbClr val="1F2328"/>
                </a:solidFill>
              </a:rPr>
              <a:t> Java dibaca dari atas.</a:t>
            </a:r>
            <a:endParaRPr lang="id-ID" sz="1900" dirty="0"/>
          </a:p>
        </p:txBody>
      </p:sp>
      <p:sp>
        <p:nvSpPr>
          <p:cNvPr id="14" name="Shape 8"/>
          <p:cNvSpPr/>
          <p:nvPr/>
        </p:nvSpPr>
        <p:spPr>
          <a:xfrm>
            <a:off x="548640" y="3251448"/>
            <a:ext cx="279667" cy="279667"/>
          </a:xfrm>
          <a:prstGeom prst="ellipse">
            <a:avLst/>
          </a:prstGeom>
          <a:solidFill>
            <a:srgbClr val="1A7F37"/>
          </a:solidFill>
          <a:ln/>
        </p:spPr>
      </p:sp>
      <p:pic>
        <p:nvPicPr>
          <p:cNvPr id="15" name="Image 4" descr="preencoded.png">    </p:cNvPr>
          <p:cNvPicPr>
            <a:picLocks noChangeAspect="1"/>
          </p:cNvPicPr>
          <p:nvPr/>
        </p:nvPicPr>
        <p:blipFill>
          <a:blip r:embed="rId5"/>
          <a:stretch>
            <a:fillRect/>
          </a:stretch>
        </p:blipFill>
        <p:spPr>
          <a:xfrm>
            <a:off x="610167" y="3312974"/>
            <a:ext cx="156613" cy="156613"/>
          </a:xfrm>
          <a:prstGeom prst="rect">
            <a:avLst/>
          </a:prstGeom>
        </p:spPr>
      </p:pic>
      <p:sp>
        <p:nvSpPr>
          <p:cNvPr id="16" name="Text 9"/>
          <p:cNvSpPr txBox="1"/>
          <p:nvPr/>
        </p:nvSpPr>
        <p:spPr>
          <a:xfrm>
            <a:off x="1051560" y="3244088"/>
            <a:ext cx="10591495" cy="634492"/>
          </a:xfrm>
          <a:prstGeom prst="rect">
            <a:avLst/>
          </a:prstGeom>
          <a:noFill/>
          <a:ln/>
        </p:spPr>
        <p:txBody>
          <a:bodyPr wrap="square" lIns="0" tIns="0" rIns="0" bIns="0" rtlCol="0" anchor="t"/>
          <a:lstStyle/>
          <a:p>
            <a:pPr indent="0" marL="0">
              <a:buNone/>
            </a:pPr>
            <a:r>
              <a:rPr lang="id-ID" altLang="en-US" sz="1900" dirty="0">
                <a:solidFill>
                  <a:srgbClr val="1F2328"/>
                </a:solidFill>
                <a:latin typeface="Consolas" pitchFamily="34" charset="0"/>
                <a:ea typeface="Consolas" pitchFamily="34" charset="-122"/>
                <a:cs typeface="Consolas" pitchFamily="34" charset="-120"/>
              </a:rPr>
              <a:t>try</a:t>
            </a:r>
            <a:r>
              <a:rPr lang="id-ID" altLang="en-US" sz="1900" dirty="0">
                <a:solidFill>
                  <a:srgbClr val="1F2328"/>
                </a:solidFill>
              </a:rPr>
              <a:t> berisi kode berisiko, </a:t>
            </a:r>
            <a:r>
              <a:rPr lang="id-ID" altLang="en-US" sz="1900" dirty="0">
                <a:solidFill>
                  <a:srgbClr val="1F2328"/>
                </a:solidFill>
                <a:latin typeface="Consolas" pitchFamily="34" charset="0"/>
                <a:ea typeface="Consolas" pitchFamily="34" charset="-122"/>
                <a:cs typeface="Consolas" pitchFamily="34" charset="-120"/>
              </a:rPr>
              <a:t>except</a:t>
            </a:r>
            <a:r>
              <a:rPr lang="id-ID" altLang="en-US" sz="1900" dirty="0">
                <a:solidFill>
                  <a:srgbClr val="1F2328"/>
                </a:solidFill>
              </a:rPr>
              <a:t>/</a:t>
            </a:r>
            <a:r>
              <a:rPr lang="id-ID" altLang="en-US" sz="1900" dirty="0">
                <a:solidFill>
                  <a:srgbClr val="1F2328"/>
                </a:solidFill>
                <a:latin typeface="Consolas" pitchFamily="34" charset="0"/>
                <a:ea typeface="Consolas" pitchFamily="34" charset="-122"/>
                <a:cs typeface="Consolas" pitchFamily="34" charset="-120"/>
              </a:rPr>
              <a:t>catch</a:t>
            </a:r>
            <a:r>
              <a:rPr lang="id-ID" altLang="en-US" sz="1900" dirty="0">
                <a:solidFill>
                  <a:srgbClr val="1F2328"/>
                </a:solidFill>
              </a:rPr>
              <a:t> menanganinya, </a:t>
            </a:r>
            <a:r>
              <a:rPr lang="id-ID" altLang="en-US" sz="1900" dirty="0">
                <a:solidFill>
                  <a:srgbClr val="1F2328"/>
                </a:solidFill>
                <a:latin typeface="Consolas" pitchFamily="34" charset="0"/>
                <a:ea typeface="Consolas" pitchFamily="34" charset="-122"/>
                <a:cs typeface="Consolas" pitchFamily="34" charset="-120"/>
              </a:rPr>
              <a:t>finally</a:t>
            </a:r>
            <a:r>
              <a:rPr lang="id-ID" altLang="en-US" sz="1900" dirty="0">
                <a:solidFill>
                  <a:srgbClr val="1F2328"/>
                </a:solidFill>
              </a:rPr>
              <a:t> selalu berjalan, dan </a:t>
            </a:r>
            <a:r>
              <a:rPr lang="id-ID" altLang="en-US" sz="1900" dirty="0">
                <a:solidFill>
                  <a:srgbClr val="1F2328"/>
                </a:solidFill>
                <a:latin typeface="Consolas" pitchFamily="34" charset="0"/>
                <a:ea typeface="Consolas" pitchFamily="34" charset="-122"/>
                <a:cs typeface="Consolas" pitchFamily="34" charset="-120"/>
              </a:rPr>
              <a:t>else</a:t>
            </a:r>
            <a:r>
              <a:rPr lang="id-ID" altLang="en-US" sz="1900" dirty="0">
                <a:solidFill>
                  <a:srgbClr val="1F2328"/>
                </a:solidFill>
              </a:rPr>
              <a:t> khusus Python.</a:t>
            </a:r>
            <a:endParaRPr lang="id-ID" sz="1900" dirty="0"/>
          </a:p>
        </p:txBody>
      </p:sp>
      <p:sp>
        <p:nvSpPr>
          <p:cNvPr id="17" name="Shape 10"/>
          <p:cNvSpPr/>
          <p:nvPr/>
        </p:nvSpPr>
        <p:spPr>
          <a:xfrm>
            <a:off x="548640" y="4041388"/>
            <a:ext cx="279667" cy="279667"/>
          </a:xfrm>
          <a:prstGeom prst="ellipse">
            <a:avLst/>
          </a:prstGeom>
          <a:solidFill>
            <a:srgbClr val="1A7F37"/>
          </a:solidFill>
          <a:ln/>
        </p:spPr>
      </p:sp>
      <p:pic>
        <p:nvPicPr>
          <p:cNvPr id="18" name="Image 5" descr="preencoded.png">    </p:cNvPr>
          <p:cNvPicPr>
            <a:picLocks noChangeAspect="1"/>
          </p:cNvPicPr>
          <p:nvPr/>
        </p:nvPicPr>
        <p:blipFill>
          <a:blip r:embed="rId6"/>
          <a:stretch>
            <a:fillRect/>
          </a:stretch>
        </p:blipFill>
        <p:spPr>
          <a:xfrm>
            <a:off x="610167" y="4102914"/>
            <a:ext cx="156613" cy="156613"/>
          </a:xfrm>
          <a:prstGeom prst="rect">
            <a:avLst/>
          </a:prstGeom>
        </p:spPr>
      </p:pic>
      <p:sp>
        <p:nvSpPr>
          <p:cNvPr id="19" name="Text 11"/>
          <p:cNvSpPr txBox="1"/>
          <p:nvPr/>
        </p:nvSpPr>
        <p:spPr>
          <a:xfrm>
            <a:off x="1051560" y="4034028"/>
            <a:ext cx="10591495" cy="340106"/>
          </a:xfrm>
          <a:prstGeom prst="rect">
            <a:avLst/>
          </a:prstGeom>
          <a:noFill/>
          <a:ln/>
        </p:spPr>
        <p:txBody>
          <a:bodyPr wrap="square" lIns="0" tIns="0" rIns="0" bIns="0" rtlCol="0" anchor="t"/>
          <a:lstStyle/>
          <a:p>
            <a:pPr indent="0" marL="0">
              <a:buNone/>
            </a:pPr>
            <a:r>
              <a:rPr lang="id-ID" altLang="en-US" sz="1900" dirty="0">
                <a:solidFill>
                  <a:srgbClr val="1F2328"/>
                </a:solidFill>
              </a:rPr>
              <a:t>Penangkap diperiksa dari atas ke bawah: yang spesifik di atas, yang umum di bawah.</a:t>
            </a:r>
            <a:endParaRPr lang="id-ID" sz="1900" dirty="0"/>
          </a:p>
        </p:txBody>
      </p:sp>
      <p:sp>
        <p:nvSpPr>
          <p:cNvPr id="20" name="Shape 12"/>
          <p:cNvSpPr/>
          <p:nvPr/>
        </p:nvSpPr>
        <p:spPr>
          <a:xfrm>
            <a:off x="548640" y="4536942"/>
            <a:ext cx="279667" cy="279667"/>
          </a:xfrm>
          <a:prstGeom prst="ellipse">
            <a:avLst/>
          </a:prstGeom>
          <a:solidFill>
            <a:srgbClr val="1A7F37"/>
          </a:solidFill>
          <a:ln/>
        </p:spPr>
      </p:sp>
      <p:pic>
        <p:nvPicPr>
          <p:cNvPr id="21" name="Image 6" descr="preencoded.png">    </p:cNvPr>
          <p:cNvPicPr>
            <a:picLocks noChangeAspect="1"/>
          </p:cNvPicPr>
          <p:nvPr/>
        </p:nvPicPr>
        <p:blipFill>
          <a:blip r:embed="rId7"/>
          <a:stretch>
            <a:fillRect/>
          </a:stretch>
        </p:blipFill>
        <p:spPr>
          <a:xfrm>
            <a:off x="610167" y="4598468"/>
            <a:ext cx="156613" cy="156613"/>
          </a:xfrm>
          <a:prstGeom prst="rect">
            <a:avLst/>
          </a:prstGeom>
        </p:spPr>
      </p:pic>
      <p:sp>
        <p:nvSpPr>
          <p:cNvPr id="22" name="Text 13"/>
          <p:cNvSpPr txBox="1"/>
          <p:nvPr/>
        </p:nvSpPr>
        <p:spPr>
          <a:xfrm>
            <a:off x="1051560" y="4529582"/>
            <a:ext cx="10591495" cy="634492"/>
          </a:xfrm>
          <a:prstGeom prst="rect">
            <a:avLst/>
          </a:prstGeom>
          <a:noFill/>
          <a:ln/>
        </p:spPr>
        <p:txBody>
          <a:bodyPr wrap="square" lIns="0" tIns="0" rIns="0" bIns="0" rtlCol="0" anchor="t"/>
          <a:lstStyle/>
          <a:p>
            <a:pPr indent="0" marL="0">
              <a:buNone/>
            </a:pPr>
            <a:r>
              <a:rPr lang="id-ID" altLang="en-US" sz="1900" dirty="0">
                <a:solidFill>
                  <a:srgbClr val="1F2328"/>
                </a:solidFill>
                <a:latin typeface="Consolas" pitchFamily="34" charset="0"/>
                <a:ea typeface="Consolas" pitchFamily="34" charset="-122"/>
                <a:cs typeface="Consolas" pitchFamily="34" charset="-120"/>
              </a:rPr>
              <a:t>raise</a:t>
            </a:r>
            <a:r>
              <a:rPr lang="id-ID" altLang="en-US" sz="1900" dirty="0">
                <a:solidFill>
                  <a:srgbClr val="1F2328"/>
                </a:solidFill>
              </a:rPr>
              <a:t>/</a:t>
            </a:r>
            <a:r>
              <a:rPr lang="id-ID" altLang="en-US" sz="1900" dirty="0">
                <a:solidFill>
                  <a:srgbClr val="1F2328"/>
                </a:solidFill>
                <a:latin typeface="Consolas" pitchFamily="34" charset="0"/>
                <a:ea typeface="Consolas" pitchFamily="34" charset="-122"/>
                <a:cs typeface="Consolas" pitchFamily="34" charset="-120"/>
              </a:rPr>
              <a:t>throw</a:t>
            </a:r>
            <a:r>
              <a:rPr lang="id-ID" altLang="en-US" sz="1900" dirty="0">
                <a:solidFill>
                  <a:srgbClr val="1F2328"/>
                </a:solidFill>
              </a:rPr>
              <a:t> melempar, </a:t>
            </a:r>
            <a:r>
              <a:rPr lang="id-ID" altLang="en-US" sz="1900" dirty="0">
                <a:solidFill>
                  <a:srgbClr val="1F2328"/>
                </a:solidFill>
                <a:latin typeface="Consolas" pitchFamily="34" charset="0"/>
                <a:ea typeface="Consolas" pitchFamily="34" charset="-122"/>
                <a:cs typeface="Consolas" pitchFamily="34" charset="-120"/>
              </a:rPr>
              <a:t>raise</a:t>
            </a:r>
            <a:r>
              <a:rPr lang="id-ID" altLang="en-US" sz="1900" dirty="0">
                <a:solidFill>
                  <a:srgbClr val="1F2328"/>
                </a:solidFill>
              </a:rPr>
              <a:t> atau </a:t>
            </a:r>
            <a:r>
              <a:rPr lang="id-ID" altLang="en-US" sz="1900" dirty="0">
                <a:solidFill>
                  <a:srgbClr val="1F2328"/>
                </a:solidFill>
                <a:latin typeface="Consolas" pitchFamily="34" charset="0"/>
                <a:ea typeface="Consolas" pitchFamily="34" charset="-122"/>
                <a:cs typeface="Consolas" pitchFamily="34" charset="-120"/>
              </a:rPr>
              <a:t>throw e;</a:t>
            </a:r>
            <a:r>
              <a:rPr lang="id-ID" altLang="en-US" sz="1900" dirty="0">
                <a:solidFill>
                  <a:srgbClr val="1F2328"/>
                </a:solidFill>
              </a:rPr>
              <a:t> melempar ulang, dan </a:t>
            </a:r>
            <a:r>
              <a:rPr lang="id-ID" altLang="en-US" sz="1900" i="1" dirty="0">
                <a:solidFill>
                  <a:srgbClr val="1F2328"/>
                </a:solidFill>
              </a:rPr>
              <a:t>chaining</a:t>
            </a:r>
            <a:r>
              <a:rPr lang="id-ID" altLang="en-US" sz="1900" dirty="0">
                <a:solidFill>
                  <a:srgbClr val="1F2328"/>
                </a:solidFill>
              </a:rPr>
              <a:t> menyimpan penyebab asli.</a:t>
            </a:r>
            <a:endParaRPr lang="id-ID" sz="1900" dirty="0"/>
          </a:p>
        </p:txBody>
      </p:sp>
      <p:sp>
        <p:nvSpPr>
          <p:cNvPr id="23" name="Shape 14"/>
          <p:cNvSpPr/>
          <p:nvPr/>
        </p:nvSpPr>
        <p:spPr>
          <a:xfrm>
            <a:off x="548640" y="5326882"/>
            <a:ext cx="279667" cy="279667"/>
          </a:xfrm>
          <a:prstGeom prst="ellipse">
            <a:avLst/>
          </a:prstGeom>
          <a:solidFill>
            <a:srgbClr val="1A7F37"/>
          </a:solidFill>
          <a:ln/>
        </p:spPr>
      </p:sp>
      <p:pic>
        <p:nvPicPr>
          <p:cNvPr id="24" name="Image 7" descr="preencoded.png">    </p:cNvPr>
          <p:cNvPicPr>
            <a:picLocks noChangeAspect="1"/>
          </p:cNvPicPr>
          <p:nvPr/>
        </p:nvPicPr>
        <p:blipFill>
          <a:blip r:embed="rId8"/>
          <a:stretch>
            <a:fillRect/>
          </a:stretch>
        </p:blipFill>
        <p:spPr>
          <a:xfrm>
            <a:off x="610167" y="5388408"/>
            <a:ext cx="156613" cy="156613"/>
          </a:xfrm>
          <a:prstGeom prst="rect">
            <a:avLst/>
          </a:prstGeom>
        </p:spPr>
      </p:pic>
      <p:sp>
        <p:nvSpPr>
          <p:cNvPr id="25" name="Text 15"/>
          <p:cNvSpPr txBox="1"/>
          <p:nvPr/>
        </p:nvSpPr>
        <p:spPr>
          <a:xfrm>
            <a:off x="1051560" y="5319522"/>
            <a:ext cx="10591495" cy="634492"/>
          </a:xfrm>
          <a:prstGeom prst="rect">
            <a:avLst/>
          </a:prstGeom>
          <a:noFill/>
          <a:ln/>
        </p:spPr>
        <p:txBody>
          <a:bodyPr wrap="square" lIns="0" tIns="0" rIns="0" bIns="0" rtlCol="0" anchor="t"/>
          <a:lstStyle/>
          <a:p>
            <a:pPr indent="0" marL="0">
              <a:buNone/>
            </a:pPr>
            <a:r>
              <a:rPr lang="id-ID" altLang="en-US" sz="1900" dirty="0">
                <a:solidFill>
                  <a:srgbClr val="1F2328"/>
                </a:solidFill>
              </a:rPr>
              <a:t>Java membedakan </a:t>
            </a:r>
            <a:r>
              <a:rPr lang="id-ID" altLang="en-US" sz="1900" i="1" dirty="0">
                <a:solidFill>
                  <a:srgbClr val="1F2328"/>
                </a:solidFill>
              </a:rPr>
              <a:t>checked</a:t>
            </a:r>
            <a:r>
              <a:rPr lang="id-ID" altLang="en-US" sz="1900" dirty="0">
                <a:solidFill>
                  <a:srgbClr val="1F2328"/>
                </a:solidFill>
              </a:rPr>
              <a:t> (wajib ditangkap atau diumumkan dengan </a:t>
            </a:r>
            <a:r>
              <a:rPr lang="id-ID" altLang="en-US" sz="1900" dirty="0">
                <a:solidFill>
                  <a:srgbClr val="1F2328"/>
                </a:solidFill>
                <a:latin typeface="Consolas" pitchFamily="34" charset="0"/>
                <a:ea typeface="Consolas" pitchFamily="34" charset="-122"/>
                <a:cs typeface="Consolas" pitchFamily="34" charset="-120"/>
              </a:rPr>
              <a:t>throws</a:t>
            </a:r>
            <a:r>
              <a:rPr lang="id-ID" altLang="en-US" sz="1900" dirty="0">
                <a:solidFill>
                  <a:srgbClr val="1F2328"/>
                </a:solidFill>
              </a:rPr>
              <a:t>) dan </a:t>
            </a:r>
            <a:r>
              <a:rPr lang="id-ID" altLang="en-US" sz="1900" i="1" dirty="0">
                <a:solidFill>
                  <a:srgbClr val="1F2328"/>
                </a:solidFill>
              </a:rPr>
              <a:t>unchecked</a:t>
            </a:r>
            <a:r>
              <a:rPr lang="id-ID" altLang="en-US" sz="1900" dirty="0">
                <a:solidFill>
                  <a:srgbClr val="1F2328"/>
                </a:solidFill>
              </a:rPr>
              <a:t>; Python tidak.</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FFFFFF"/>
                </a:solidFill>
              </a:rPr>
              <a:t>Langkah Berikutnya</a:t>
            </a:r>
            <a:endParaRPr lang="id-ID" sz="3200" dirty="0"/>
          </a:p>
        </p:txBody>
      </p:sp>
      <p:sp>
        <p:nvSpPr>
          <p:cNvPr id="5" name="Shape 2"/>
          <p:cNvSpPr/>
          <p:nvPr/>
        </p:nvSpPr>
        <p:spPr>
          <a:xfrm>
            <a:off x="603504" y="1503680"/>
            <a:ext cx="137160" cy="137160"/>
          </a:xfrm>
          <a:prstGeom prst="roundRect">
            <a:avLst>
              <a:gd name="adj" fmla="val 166667"/>
            </a:avLst>
          </a:prstGeom>
          <a:solidFill>
            <a:srgbClr val="FB8F44"/>
          </a:solidFill>
          <a:ln/>
        </p:spPr>
      </p:sp>
      <p:sp>
        <p:nvSpPr>
          <p:cNvPr id="6" name="Text 3"/>
          <p:cNvSpPr txBox="1"/>
          <p:nvPr/>
        </p:nvSpPr>
        <p:spPr>
          <a:xfrm>
            <a:off x="932688" y="1417320"/>
            <a:ext cx="7114032" cy="665480"/>
          </a:xfrm>
          <a:prstGeom prst="rect">
            <a:avLst/>
          </a:prstGeom>
          <a:noFill/>
          <a:ln/>
        </p:spPr>
        <p:txBody>
          <a:bodyPr wrap="square" lIns="0" tIns="0" rIns="0" bIns="0" rtlCol="0" anchor="t"/>
          <a:lstStyle/>
          <a:p>
            <a:pPr indent="0" marL="0">
              <a:buNone/>
            </a:pPr>
            <a:r>
              <a:rPr lang="id-ID" altLang="en-US" sz="2000" dirty="0">
                <a:solidFill>
                  <a:srgbClr val="FFFFFF"/>
                </a:solidFill>
              </a:rPr>
              <a:t>Jalankan contoh di jalur pilihanmu (Python 01⁠—⁠07, Java 01⁠—⁠08) dan studi kasus KedaiKita.</a:t>
            </a:r>
            <a:endParaRPr lang="id-ID" sz="2000" dirty="0"/>
          </a:p>
        </p:txBody>
      </p:sp>
      <p:sp>
        <p:nvSpPr>
          <p:cNvPr id="7" name="Shape 4"/>
          <p:cNvSpPr/>
          <p:nvPr/>
        </p:nvSpPr>
        <p:spPr>
          <a:xfrm>
            <a:off x="603504" y="2306320"/>
            <a:ext cx="137160" cy="137160"/>
          </a:xfrm>
          <a:prstGeom prst="roundRect">
            <a:avLst>
              <a:gd name="adj" fmla="val 166667"/>
            </a:avLst>
          </a:prstGeom>
          <a:solidFill>
            <a:srgbClr val="FB8F44"/>
          </a:solidFill>
          <a:ln/>
        </p:spPr>
      </p:sp>
      <p:sp>
        <p:nvSpPr>
          <p:cNvPr id="8" name="Text 5"/>
          <p:cNvSpPr txBox="1"/>
          <p:nvPr/>
        </p:nvSpPr>
        <p:spPr>
          <a:xfrm>
            <a:off x="932688" y="2219960"/>
            <a:ext cx="7114032" cy="665480"/>
          </a:xfrm>
          <a:prstGeom prst="rect">
            <a:avLst/>
          </a:prstGeom>
          <a:noFill/>
          <a:ln/>
        </p:spPr>
        <p:txBody>
          <a:bodyPr wrap="square" lIns="0" tIns="0" rIns="0" bIns="0" rtlCol="0" anchor="t"/>
          <a:lstStyle/>
          <a:p>
            <a:pPr indent="0" marL="0">
              <a:buNone/>
            </a:pPr>
            <a:r>
              <a:rPr lang="id-ID" altLang="en-US" sz="2000" dirty="0">
                <a:solidFill>
                  <a:srgbClr val="FFFFFF"/>
                </a:solidFill>
              </a:rPr>
              <a:t>Kerjakan semua percobaan dan “Coba sendiri” di folder </a:t>
            </a:r>
            <a:r>
              <a:rPr lang="id-ID" altLang="en-US" sz="2000" dirty="0">
                <a:solidFill>
                  <a:srgbClr val="DDF4FF"/>
                </a:solidFill>
                <a:latin typeface="Consolas" pitchFamily="34" charset="0"/>
                <a:ea typeface="Consolas" pitchFamily="34" charset="-122"/>
                <a:cs typeface="Consolas" pitchFamily="34" charset="-120"/>
              </a:rPr>
              <a:t>PBO-latihan-saya/pertemuan-11</a:t>
            </a:r>
            <a:r>
              <a:rPr lang="id-ID" altLang="en-US" sz="2000" dirty="0">
                <a:solidFill>
                  <a:srgbClr val="FFFFFF"/>
                </a:solidFill>
              </a:rPr>
              <a:t>.</a:t>
            </a:r>
            <a:endParaRPr lang="id-ID" sz="2000" dirty="0"/>
          </a:p>
        </p:txBody>
      </p:sp>
      <p:sp>
        <p:nvSpPr>
          <p:cNvPr id="9" name="Shape 6"/>
          <p:cNvSpPr/>
          <p:nvPr/>
        </p:nvSpPr>
        <p:spPr>
          <a:xfrm>
            <a:off x="603504" y="3108960"/>
            <a:ext cx="137160" cy="137160"/>
          </a:xfrm>
          <a:prstGeom prst="roundRect">
            <a:avLst>
              <a:gd name="adj" fmla="val 166667"/>
            </a:avLst>
          </a:prstGeom>
          <a:solidFill>
            <a:srgbClr val="FB8F44"/>
          </a:solidFill>
          <a:ln/>
        </p:spPr>
      </p:sp>
      <p:sp>
        <p:nvSpPr>
          <p:cNvPr id="10" name="Text 7"/>
          <p:cNvSpPr txBox="1"/>
          <p:nvPr/>
        </p:nvSpPr>
        <p:spPr>
          <a:xfrm>
            <a:off x="932688" y="3022600"/>
            <a:ext cx="7114032" cy="355600"/>
          </a:xfrm>
          <a:prstGeom prst="rect">
            <a:avLst/>
          </a:prstGeom>
          <a:noFill/>
          <a:ln/>
        </p:spPr>
        <p:txBody>
          <a:bodyPr wrap="square" lIns="0" tIns="0" rIns="0" bIns="0" rtlCol="0" anchor="t"/>
          <a:lstStyle/>
          <a:p>
            <a:pPr indent="0" marL="0">
              <a:buNone/>
            </a:pPr>
            <a:r>
              <a:rPr lang="id-ID" altLang="en-US" sz="2000" dirty="0">
                <a:solidFill>
                  <a:srgbClr val="FFFFFF"/>
                </a:solidFill>
              </a:rPr>
              <a:t>Kerjakan latihan, lalu cek pemahamanmu dengan kuis 10 soal.</a:t>
            </a:r>
            <a:endParaRPr lang="id-ID" sz="2000" dirty="0"/>
          </a:p>
        </p:txBody>
      </p:sp>
      <p:sp>
        <p:nvSpPr>
          <p:cNvPr id="11" name="Text 8"/>
          <p:cNvSpPr txBox="1"/>
          <p:nvPr/>
        </p:nvSpPr>
        <p:spPr>
          <a:xfrm>
            <a:off x="548640" y="3652520"/>
            <a:ext cx="7498080" cy="365760"/>
          </a:xfrm>
          <a:prstGeom prst="rect">
            <a:avLst/>
          </a:prstGeom>
          <a:noFill/>
          <a:ln/>
        </p:spPr>
        <p:txBody>
          <a:bodyPr wrap="square" lIns="0" tIns="0" rIns="0" bIns="0" rtlCol="0" anchor="t"/>
          <a:lstStyle/>
          <a:p>
            <a:pPr indent="0" marL="0">
              <a:buNone/>
            </a:pPr>
            <a:r>
              <a:rPr lang="id-ID" altLang="en-US" sz="1700" b="1" dirty="0">
                <a:solidFill>
                  <a:srgbClr val="C9D7E8"/>
                </a:solidFill>
              </a:rPr>
              <a:t>Buka bahan pertemuan ini di GitHub:</a:t>
            </a:r>
            <a:endParaRPr lang="id-ID" sz="1700" dirty="0"/>
          </a:p>
        </p:txBody>
      </p:sp>
      <p:sp>
        <p:nvSpPr>
          <p:cNvPr id="12" name="Shape 9"/>
          <p:cNvSpPr/>
          <p:nvPr/>
        </p:nvSpPr>
        <p:spPr>
          <a:xfrm>
            <a:off x="548640" y="4109720"/>
            <a:ext cx="3666744" cy="457200"/>
          </a:xfrm>
          <a:prstGeom prst="roundRect">
            <a:avLst>
              <a:gd name="adj" fmla="val 100000"/>
            </a:avLst>
          </a:prstGeom>
          <a:solidFill>
            <a:srgbClr val="12407F"/>
          </a:solidFill>
          <a:ln w="12700">
            <a:solidFill>
              <a:srgbClr val="2F6FB5"/>
            </a:solidFill>
            <a:prstDash val="solid"/>
          </a:ln>
        </p:spPr>
      </p:sp>
      <p:pic>
        <p:nvPicPr>
          <p:cNvPr id="13" name="Image 1" descr="preencoded.png">    </p:cNvPr>
          <p:cNvPicPr>
            <a:picLocks noChangeAspect="1"/>
          </p:cNvPicPr>
          <p:nvPr/>
        </p:nvPicPr>
        <p:blipFill>
          <a:blip r:embed="rId2"/>
          <a:stretch>
            <a:fillRect/>
          </a:stretch>
        </p:blipFill>
        <p:spPr>
          <a:xfrm>
            <a:off x="694944" y="4210304"/>
            <a:ext cx="256032" cy="256032"/>
          </a:xfrm>
          <a:prstGeom prst="rect">
            <a:avLst/>
          </a:prstGeom>
        </p:spPr>
      </p:pic>
      <p:sp>
        <p:nvSpPr>
          <p:cNvPr id="14" name="Text 10"/>
          <p:cNvSpPr txBox="1"/>
          <p:nvPr/>
        </p:nvSpPr>
        <p:spPr>
          <a:xfrm>
            <a:off x="1051560" y="4109720"/>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3" invalidUrl="" action="" tgtFrame="" tooltip="README.md" history="1" highlightClick="0" endSnd="0">
                  <a:extLst>
                    <a:ext uri="{A12FA001-AC4F-418D-AE19-62706E023703}">
                      <ahyp:hlinkClr xmlns:ahyp="http://schemas.microsoft.com/office/drawing/2018/hyperlinkcolor" val="tx"/>
                    </a:ext>
                  </a:extLst>
                </a:hlinkClick>
              </a:rPr>
              <a:t>Konsep</a:t>
            </a:r>
            <a:endParaRPr lang="id-ID" sz="1600" dirty="0"/>
          </a:p>
        </p:txBody>
      </p:sp>
      <p:sp>
        <p:nvSpPr>
          <p:cNvPr id="15" name="Shape 11"/>
          <p:cNvSpPr/>
          <p:nvPr/>
        </p:nvSpPr>
        <p:spPr>
          <a:xfrm>
            <a:off x="4379976" y="4109720"/>
            <a:ext cx="3666744" cy="457200"/>
          </a:xfrm>
          <a:prstGeom prst="roundRect">
            <a:avLst>
              <a:gd name="adj" fmla="val 100000"/>
            </a:avLst>
          </a:prstGeom>
          <a:solidFill>
            <a:srgbClr val="12407F"/>
          </a:solidFill>
          <a:ln w="12700">
            <a:solidFill>
              <a:srgbClr val="2F6FB5"/>
            </a:solidFill>
            <a:prstDash val="solid"/>
          </a:ln>
        </p:spPr>
      </p:sp>
      <p:pic>
        <p:nvPicPr>
          <p:cNvPr id="16" name="Image 2" descr="preencoded.png">    </p:cNvPr>
          <p:cNvPicPr>
            <a:picLocks noChangeAspect="1"/>
          </p:cNvPicPr>
          <p:nvPr/>
        </p:nvPicPr>
        <p:blipFill>
          <a:blip r:embed="rId4"/>
          <a:stretch>
            <a:fillRect/>
          </a:stretch>
        </p:blipFill>
        <p:spPr>
          <a:xfrm>
            <a:off x="4526280" y="4210304"/>
            <a:ext cx="256032" cy="256032"/>
          </a:xfrm>
          <a:prstGeom prst="rect">
            <a:avLst/>
          </a:prstGeom>
        </p:spPr>
      </p:pic>
      <p:sp>
        <p:nvSpPr>
          <p:cNvPr id="17" name="Text 12"/>
          <p:cNvSpPr txBox="1"/>
          <p:nvPr/>
        </p:nvSpPr>
        <p:spPr>
          <a:xfrm>
            <a:off x="4882896" y="4109720"/>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5" invalidUrl="" action="" tgtFrame="" tooltip="python/README.md" history="1" highlightClick="0" endSnd="0">
                  <a:extLst>
                    <a:ext uri="{A12FA001-AC4F-418D-AE19-62706E023703}">
                      <ahyp:hlinkClr xmlns:ahyp="http://schemas.microsoft.com/office/drawing/2018/hyperlinkcolor" val="tx"/>
                    </a:ext>
                  </a:extLst>
                </a:hlinkClick>
              </a:rPr>
              <a:t>Praktik Python</a:t>
            </a:r>
            <a:endParaRPr lang="id-ID" sz="1600" dirty="0"/>
          </a:p>
        </p:txBody>
      </p:sp>
      <p:sp>
        <p:nvSpPr>
          <p:cNvPr id="18" name="Shape 13"/>
          <p:cNvSpPr/>
          <p:nvPr/>
        </p:nvSpPr>
        <p:spPr>
          <a:xfrm>
            <a:off x="548640" y="4694936"/>
            <a:ext cx="3666744" cy="457200"/>
          </a:xfrm>
          <a:prstGeom prst="roundRect">
            <a:avLst>
              <a:gd name="adj" fmla="val 100000"/>
            </a:avLst>
          </a:prstGeom>
          <a:solidFill>
            <a:srgbClr val="12407F"/>
          </a:solidFill>
          <a:ln w="12700">
            <a:solidFill>
              <a:srgbClr val="2F6FB5"/>
            </a:solidFill>
            <a:prstDash val="solid"/>
          </a:ln>
        </p:spPr>
      </p:sp>
      <p:pic>
        <p:nvPicPr>
          <p:cNvPr id="19" name="Image 3" descr="preencoded.png">    </p:cNvPr>
          <p:cNvPicPr>
            <a:picLocks noChangeAspect="1"/>
          </p:cNvPicPr>
          <p:nvPr/>
        </p:nvPicPr>
        <p:blipFill>
          <a:blip r:embed="rId6"/>
          <a:stretch>
            <a:fillRect/>
          </a:stretch>
        </p:blipFill>
        <p:spPr>
          <a:xfrm>
            <a:off x="694944" y="4795520"/>
            <a:ext cx="256032" cy="256032"/>
          </a:xfrm>
          <a:prstGeom prst="rect">
            <a:avLst/>
          </a:prstGeom>
        </p:spPr>
      </p:pic>
      <p:sp>
        <p:nvSpPr>
          <p:cNvPr id="20" name="Text 14"/>
          <p:cNvSpPr txBox="1"/>
          <p:nvPr/>
        </p:nvSpPr>
        <p:spPr>
          <a:xfrm>
            <a:off x="1051560" y="4694936"/>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7" invalidUrl="" action="" tgtFrame="" tooltip="java/README.md" history="1" highlightClick="0" endSnd="0">
                  <a:extLst>
                    <a:ext uri="{A12FA001-AC4F-418D-AE19-62706E023703}">
                      <ahyp:hlinkClr xmlns:ahyp="http://schemas.microsoft.com/office/drawing/2018/hyperlinkcolor" val="tx"/>
                    </a:ext>
                  </a:extLst>
                </a:hlinkClick>
              </a:rPr>
              <a:t>Praktik Java</a:t>
            </a:r>
            <a:endParaRPr lang="id-ID" sz="1600" dirty="0"/>
          </a:p>
        </p:txBody>
      </p:sp>
      <p:sp>
        <p:nvSpPr>
          <p:cNvPr id="21" name="Shape 15"/>
          <p:cNvSpPr/>
          <p:nvPr/>
        </p:nvSpPr>
        <p:spPr>
          <a:xfrm>
            <a:off x="4379976" y="4694936"/>
            <a:ext cx="3666744" cy="457200"/>
          </a:xfrm>
          <a:prstGeom prst="roundRect">
            <a:avLst>
              <a:gd name="adj" fmla="val 100000"/>
            </a:avLst>
          </a:prstGeom>
          <a:solidFill>
            <a:srgbClr val="12407F"/>
          </a:solidFill>
          <a:ln w="12700">
            <a:solidFill>
              <a:srgbClr val="2F6FB5"/>
            </a:solidFill>
            <a:prstDash val="solid"/>
          </a:ln>
        </p:spPr>
      </p:sp>
      <p:pic>
        <p:nvPicPr>
          <p:cNvPr id="22" name="Image 4" descr="preencoded.png">    </p:cNvPr>
          <p:cNvPicPr>
            <a:picLocks noChangeAspect="1"/>
          </p:cNvPicPr>
          <p:nvPr/>
        </p:nvPicPr>
        <p:blipFill>
          <a:blip r:embed="rId8"/>
          <a:stretch>
            <a:fillRect/>
          </a:stretch>
        </p:blipFill>
        <p:spPr>
          <a:xfrm>
            <a:off x="4526280" y="4795520"/>
            <a:ext cx="256032" cy="256032"/>
          </a:xfrm>
          <a:prstGeom prst="rect">
            <a:avLst/>
          </a:prstGeom>
        </p:spPr>
      </p:pic>
      <p:sp>
        <p:nvSpPr>
          <p:cNvPr id="23" name="Text 16"/>
          <p:cNvSpPr txBox="1"/>
          <p:nvPr/>
        </p:nvSpPr>
        <p:spPr>
          <a:xfrm>
            <a:off x="4882896" y="4694936"/>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9" invalidUrl="" action="" tgtFrame="" tooltip="jembatan-python-java.md" history="1" highlightClick="0" endSnd="0">
                  <a:extLst>
                    <a:ext uri="{A12FA001-AC4F-418D-AE19-62706E023703}">
                      <ahyp:hlinkClr xmlns:ahyp="http://schemas.microsoft.com/office/drawing/2018/hyperlinkcolor" val="tx"/>
                    </a:ext>
                  </a:extLst>
                </a:hlinkClick>
              </a:rPr>
              <a:t>Jembatan Python ↔ Java</a:t>
            </a:r>
            <a:endParaRPr lang="id-ID" sz="1600" dirty="0"/>
          </a:p>
        </p:txBody>
      </p:sp>
      <p:sp>
        <p:nvSpPr>
          <p:cNvPr id="24" name="Shape 17"/>
          <p:cNvSpPr/>
          <p:nvPr/>
        </p:nvSpPr>
        <p:spPr>
          <a:xfrm>
            <a:off x="548640" y="5280152"/>
            <a:ext cx="3666744" cy="457200"/>
          </a:xfrm>
          <a:prstGeom prst="roundRect">
            <a:avLst>
              <a:gd name="adj" fmla="val 100000"/>
            </a:avLst>
          </a:prstGeom>
          <a:solidFill>
            <a:srgbClr val="12407F"/>
          </a:solidFill>
          <a:ln w="12700">
            <a:solidFill>
              <a:srgbClr val="2F6FB5"/>
            </a:solidFill>
            <a:prstDash val="solid"/>
          </a:ln>
        </p:spPr>
      </p:sp>
      <p:pic>
        <p:nvPicPr>
          <p:cNvPr id="25" name="Image 5" descr="preencoded.png">    </p:cNvPr>
          <p:cNvPicPr>
            <a:picLocks noChangeAspect="1"/>
          </p:cNvPicPr>
          <p:nvPr/>
        </p:nvPicPr>
        <p:blipFill>
          <a:blip r:embed="rId10"/>
          <a:stretch>
            <a:fillRect/>
          </a:stretch>
        </p:blipFill>
        <p:spPr>
          <a:xfrm>
            <a:off x="694944" y="5380736"/>
            <a:ext cx="256032" cy="256032"/>
          </a:xfrm>
          <a:prstGeom prst="rect">
            <a:avLst/>
          </a:prstGeom>
        </p:spPr>
      </p:pic>
      <p:sp>
        <p:nvSpPr>
          <p:cNvPr id="26" name="Text 18"/>
          <p:cNvSpPr txBox="1"/>
          <p:nvPr/>
        </p:nvSpPr>
        <p:spPr>
          <a:xfrm>
            <a:off x="1051560" y="528015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1" invalidUrl="" action="" tgtFrame="" tooltip="latihan.md" history="1" highlightClick="0" endSnd="0">
                  <a:extLst>
                    <a:ext uri="{A12FA001-AC4F-418D-AE19-62706E023703}">
                      <ahyp:hlinkClr xmlns:ahyp="http://schemas.microsoft.com/office/drawing/2018/hyperlinkcolor" val="tx"/>
                    </a:ext>
                  </a:extLst>
                </a:hlinkClick>
              </a:rPr>
              <a:t>Latihan</a:t>
            </a:r>
            <a:endParaRPr lang="id-ID" sz="1600" dirty="0"/>
          </a:p>
        </p:txBody>
      </p:sp>
      <p:sp>
        <p:nvSpPr>
          <p:cNvPr id="27" name="Shape 19"/>
          <p:cNvSpPr/>
          <p:nvPr/>
        </p:nvSpPr>
        <p:spPr>
          <a:xfrm>
            <a:off x="4379976" y="5280152"/>
            <a:ext cx="3666744" cy="457200"/>
          </a:xfrm>
          <a:prstGeom prst="roundRect">
            <a:avLst>
              <a:gd name="adj" fmla="val 100000"/>
            </a:avLst>
          </a:prstGeom>
          <a:solidFill>
            <a:srgbClr val="12407F"/>
          </a:solidFill>
          <a:ln w="12700">
            <a:solidFill>
              <a:srgbClr val="2F6FB5"/>
            </a:solidFill>
            <a:prstDash val="solid"/>
          </a:ln>
        </p:spPr>
      </p:sp>
      <p:pic>
        <p:nvPicPr>
          <p:cNvPr id="28" name="Image 6" descr="preencoded.png">    </p:cNvPr>
          <p:cNvPicPr>
            <a:picLocks noChangeAspect="1"/>
          </p:cNvPicPr>
          <p:nvPr/>
        </p:nvPicPr>
        <p:blipFill>
          <a:blip r:embed="rId12"/>
          <a:stretch>
            <a:fillRect/>
          </a:stretch>
        </p:blipFill>
        <p:spPr>
          <a:xfrm>
            <a:off x="4526280" y="5380736"/>
            <a:ext cx="256032" cy="256032"/>
          </a:xfrm>
          <a:prstGeom prst="rect">
            <a:avLst/>
          </a:prstGeom>
        </p:spPr>
      </p:pic>
      <p:sp>
        <p:nvSpPr>
          <p:cNvPr id="29" name="Text 20"/>
          <p:cNvSpPr txBox="1"/>
          <p:nvPr/>
        </p:nvSpPr>
        <p:spPr>
          <a:xfrm>
            <a:off x="4882896" y="528015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3" invalidUrl="" action="" tgtFrame="" tooltip="kuis.md" history="1" highlightClick="0" endSnd="0">
                  <a:extLst>
                    <a:ext uri="{A12FA001-AC4F-418D-AE19-62706E023703}">
                      <ahyp:hlinkClr xmlns:ahyp="http://schemas.microsoft.com/office/drawing/2018/hyperlinkcolor" val="tx"/>
                    </a:ext>
                  </a:extLst>
                </a:hlinkClick>
              </a:rPr>
              <a:t>Kuis 10 soal</a:t>
            </a:r>
            <a:endParaRPr lang="id-ID" sz="1600" dirty="0"/>
          </a:p>
        </p:txBody>
      </p:sp>
      <p:sp>
        <p:nvSpPr>
          <p:cNvPr id="30" name="Shape 21"/>
          <p:cNvSpPr/>
          <p:nvPr/>
        </p:nvSpPr>
        <p:spPr>
          <a:xfrm>
            <a:off x="8503920" y="1280160"/>
            <a:ext cx="2880360" cy="2880360"/>
          </a:xfrm>
          <a:prstGeom prst="roundRect">
            <a:avLst>
              <a:gd name="adj" fmla="val 1411"/>
            </a:avLst>
          </a:prstGeom>
          <a:solidFill>
            <a:srgbClr val="FFFFFF"/>
          </a:solidFill>
          <a:ln/>
        </p:spPr>
      </p:sp>
      <p:pic>
        <p:nvPicPr>
          <p:cNvPr id="31" name="Image 7" descr="Kode QR menuju folder pertemuan di GitHub">    </p:cNvPr>
          <p:cNvPicPr>
            <a:picLocks noChangeAspect="1"/>
          </p:cNvPicPr>
          <p:nvPr/>
        </p:nvPicPr>
        <p:blipFill>
          <a:blip r:embed="rId14"/>
          <a:stretch>
            <a:fillRect/>
          </a:stretch>
        </p:blipFill>
        <p:spPr>
          <a:xfrm>
            <a:off x="8641080" y="1417320"/>
            <a:ext cx="2606040" cy="2606040"/>
          </a:xfrm>
          <a:prstGeom prst="rect">
            <a:avLst/>
          </a:prstGeom>
        </p:spPr>
      </p:pic>
      <p:sp>
        <p:nvSpPr>
          <p:cNvPr id="32" name="Text 22"/>
          <p:cNvSpPr txBox="1"/>
          <p:nvPr/>
        </p:nvSpPr>
        <p:spPr>
          <a:xfrm>
            <a:off x="8458200" y="4297680"/>
            <a:ext cx="2971800" cy="640080"/>
          </a:xfrm>
          <a:prstGeom prst="rect">
            <a:avLst/>
          </a:prstGeom>
          <a:noFill/>
          <a:ln/>
        </p:spPr>
        <p:txBody>
          <a:bodyPr wrap="square" lIns="0" tIns="0" rIns="0" bIns="0" rtlCol="0" anchor="t"/>
          <a:lstStyle/>
          <a:p>
            <a:pPr algn="ctr" indent="0" marL="0">
              <a:buNone/>
            </a:pPr>
            <a:r>
              <a:rPr lang="id-ID" altLang="en-US" sz="1400" dirty="0">
                <a:solidFill>
                  <a:srgbClr val="C9D7E8"/>
                </a:solidFill>
              </a:rPr>
              <a:t>Pindai untuk membuka folder pertemuan ini di GitHub</a:t>
            </a:r>
            <a:endParaRPr lang="id-ID" sz="1400" dirty="0"/>
          </a:p>
        </p:txBody>
      </p:sp>
      <p:sp>
        <p:nvSpPr>
          <p:cNvPr id="33" name="Text 23"/>
          <p:cNvSpPr txBox="1"/>
          <p:nvPr/>
        </p:nvSpPr>
        <p:spPr>
          <a:xfrm>
            <a:off x="548640" y="5925312"/>
            <a:ext cx="11094415" cy="320040"/>
          </a:xfrm>
          <a:prstGeom prst="rect">
            <a:avLst/>
          </a:prstGeom>
          <a:noFill/>
          <a:ln/>
        </p:spPr>
        <p:txBody>
          <a:bodyPr wrap="square" lIns="0" tIns="0" rIns="0" bIns="0" rtlCol="0" anchor="ctr"/>
          <a:lstStyle/>
          <a:p>
            <a:pPr indent="0" marL="0">
              <a:buNone/>
            </a:pPr>
            <a:r>
              <a:rPr lang="en-US" altLang="en-US" sz="1300" u="sng" dirty="0">
                <a:solidFill>
                  <a:srgbClr val="54AEFF"/>
                </a:solidFill>
                <a:hlinkClick r:id="rId15" invalidUrl="" action="" tgtFrame="" tooltip="" history="1" highlightClick="0" endSnd="0">
                  <a:extLst>
                    <a:ext uri="{A12FA001-AC4F-418D-AE19-62706E023703}">
                      <ahyp:hlinkClr xmlns:ahyp="http://schemas.microsoft.com/office/drawing/2018/hyperlinkcolor" val="tx"/>
                    </a:ext>
                  </a:extLst>
                </a:hlinkClick>
              </a:rPr>
              <a:t>github.com/antonprafanto/PBO2026/tree/master/Pertemuan-11-Exception-Handling</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PBO 2026">
  <a:themeElements>
    <a:clrScheme name="PBO 2026">
      <a:dk1>
        <a:srgbClr val="1F2328"/>
      </a:dk1>
      <a:lt1>
        <a:srgbClr val="FFFFFF"/>
      </a:lt1>
      <a:dk2>
        <a:srgbClr val="0A3069"/>
      </a:dk2>
      <a:lt2>
        <a:srgbClr val="F6F8FA"/>
      </a:lt2>
      <a:accent1>
        <a:srgbClr val="0969DA"/>
      </a:accent1>
      <a:accent2>
        <a:srgbClr val="BC4C00"/>
      </a:accent2>
      <a:accent3>
        <a:srgbClr val="1A7F37"/>
      </a:accent3>
      <a:accent4>
        <a:srgbClr val="8250DF"/>
      </a:accent4>
      <a:accent5>
        <a:srgbClr val="CF222E"/>
      </a:accent5>
      <a:accent6>
        <a:srgbClr val="9A6700"/>
      </a:accent6>
      <a:hlink>
        <a:srgbClr val="0969DA"/>
      </a:hlink>
      <a:folHlink>
        <a:srgbClr val="8250DF"/>
      </a:folHlink>
    </a:clrScheme>
    <a:fontScheme name="PBO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Informatika Universitas Mulawarman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PBO 2026 Pertemuan 11: Exception Handling</dc:title>
  <dc:subject>Pemrograman Berorientasi Objek 2026</dc:subject>
  <dc:creator>PBO 2026 UNMUL</dc:creator>
  <cp:lastModifiedBy>PBO 2026 UNMUL</cp:lastModifiedBy>
  <cp:revision>1</cp:revision>
  <dcterms:created xsi:type="dcterms:W3CDTF">2026-10-15T02:18:34Z</dcterms:created>
  <dcterms:modified xsi:type="dcterms:W3CDTF">2026-10-15T02:18:34Z</dcterms:modified>
</cp:coreProperties>
</file>