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7eae792b-7106-213c-a174-12e85672a7f9}">
          <p14:sldIdLst>
            <p14:sldId id="256"/>
            <p14:sldId id="257"/>
            <p14:sldId id="258"/>
            <p14:sldId id="259"/>
          </p14:sldIdLst>
        </p14:section>
        <p14:section name="Empat Wadah dan Kontraknya" id="{c8684f90-808b-5a67-a736-8a79097f8360}">
          <p14:sldIdLst>
            <p14:sldId id="260"/>
            <p14:sldId id="261"/>
            <p14:sldId id="262"/>
            <p14:sldId id="263"/>
            <p14:sldId id="264"/>
          </p14:sldIdLst>
        </p14:section>
        <p14:section name="Urutan Isi dan Memilih Wadah" id="{66a08712-935b-69a9-1fbc-69ddfca246ba}">
          <p14:sldIdLst>
            <p14:sldId id="265"/>
            <p14:sldId id="266"/>
            <p14:sldId id="267"/>
          </p14:sldIdLst>
        </p14:section>
        <p14:section name="Mengurutkan Objek" id="{eb446c0e-057b-11af-d83d-55938b7891a6}">
          <p14:sldIdLst>
            <p14:sldId id="268"/>
            <p14:sldId id="269"/>
            <p14:sldId id="270"/>
            <p14:sldId id="271"/>
          </p14:sldIdLst>
        </p14:section>
        <p14:section name="Kesamaan Objek dan Generics" id="{dcd66a73-4a45-36d4-fb10-4727bc1aceee}">
          <p14:sldIdLst>
            <p14:sldId id="272"/>
            <p14:sldId id="273"/>
            <p14:sldId id="274"/>
            <p14:sldId id="275"/>
            <p14:sldId id="276"/>
          </p14:sldIdLst>
        </p14:section>
        <p14:section name="Studi Kasus KedaiKita" id="{80e1fcdf-ce7c-ab6c-7c32-e75c876e84c3}">
          <p14:sldIdLst>
            <p14:sldId id="277"/>
            <p14:sldId id="278"/>
            <p14:sldId id="279"/>
            <p14:sldId id="280"/>
          </p14:sldIdLst>
        </p14:section>
        <p14:section name="Cek Pemahaman" id="{05e16810-fa79-b8c0-7ba6-61b15259c44a}">
          <p14:sldIdLst>
            <p14:sldId id="281"/>
            <p14:sldId id="282"/>
            <p14:sldId id="283"/>
            <p14:sldId id="284"/>
            <p14:sldId id="285"/>
          </p14:sldIdLst>
        </p14:section>
        <p14:section name="Penutup" id="{24757f45-434d-c9d3-c769-036d5b93219e}">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12. Program nyata hampir selalu mengelola banyak objek sekaligus: puluhan menu, ratusan pesanan, ribuan mahasiswa. Hari ini kita belajar memilih wadah, atau koleksi, yang tepat untuk menyimpan, mencari, menyaring, dan mengurutkan objek. Kita juga belajar membuat wadah berlabel agar tidak salah isi, yaitu </a:t>
            </a:r>
            <a:r>
              <a:rPr lang="id-ID" dirty="0" i="1"/>
              <a:t>generics</a:t>
            </a:r>
            <a:r>
              <a:rPr lang="id-ID" dirty="0"/>
              <a:t>. Semua materi, kode, latihan, dan kuis pertemuan ini ada di repositori GitHub mata kuliah, di folder Pertemuan-12-Koleksi-dan-Generics.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lima kemampuan yang kita kejar hari ini. Di akhir pertemuan, cek lagi satu per satu: sudahkah kamu bisa menjelaskannya dengan kata-katamu sendiri? Urutan belajarnya sama seperti biasa: konsep di </a:t>
            </a:r>
            <a:r>
              <a:rPr lang="id-ID" dirty="0" i="1"/>
              <a:t>slide</a:t>
            </a:r>
            <a:r>
              <a:rPr lang="id-ID" dirty="0"/>
              <a:t> ini, praktik di halaman Python atau Java, lalu halaman Jembatan Python ↔ Java, latihan, dan kuis. Banyak hal hari ini sebenarnya sudah kamu pakai tanpa sadar, misalnya tulisan </a:t>
            </a:r>
            <a:r>
              <a:rPr lang="en-US" dirty="0">
                <a:latin typeface="Consolas"/>
              </a:rPr>
              <a:t>List&lt;Menu&gt;</a:t>
            </a:r>
            <a:r>
              <a:rPr lang="id-ID" dirty="0"/>
              <a:t> sejak Pertemuan 05. Hari ini kita membahas artinya.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empat hal ini. Sejak Pertemuan 05 kita sudah memakai </a:t>
            </a:r>
            <a:r>
              <a:rPr lang="id-ID" dirty="0" i="1"/>
              <a:t>list</a:t>
            </a:r>
            <a:r>
              <a:rPr lang="id-ID" dirty="0"/>
              <a:t> berisi objek, dan tulisan </a:t>
            </a:r>
            <a:r>
              <a:rPr lang="en-US" dirty="0">
                <a:latin typeface="Consolas"/>
              </a:rPr>
              <a:t>List&lt;Menu&gt;</a:t>
            </a:r>
            <a:r>
              <a:rPr lang="id-ID" dirty="0"/>
              <a:t> cukup dibaca </a:t>
            </a:r>
            <a:r>
              <a:rPr lang="id-ID" dirty="0" i="1"/>
              <a:t>list</a:t>
            </a:r>
            <a:r>
              <a:rPr lang="id-ID" dirty="0"/>
              <a:t> berisi </a:t>
            </a:r>
            <a:r>
              <a:rPr lang="en-US" dirty="0">
                <a:latin typeface="Consolas"/>
              </a:rPr>
              <a:t>Menu</a:t>
            </a:r>
            <a:r>
              <a:rPr lang="id-ID" dirty="0"/>
              <a:t>. Hari ini kita membahas arti tanda kurung sudut itu. Di Pertemuan 07, dua objek dianggap sama hanya jika keduanya objek yang sama persis, dan hari ini kita belajar mengubah aturan itu. Di Pertemuan 10, </a:t>
            </a:r>
            <a:r>
              <a:rPr lang="id-ID" dirty="0" i="1"/>
              <a:t>interface</a:t>
            </a:r>
            <a:r>
              <a:rPr lang="id-ID" dirty="0"/>
              <a:t> adalah kontrak. Di Pertemuan 11, pencarian menu memeriksa daftar satu per satu dari depan. Hari ini pencarian itu menjadi langsung lewat kode.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kasir KedaiKita yang kewalahan menjawab pertanyaan, lalu berkenalan dengan empat wadah utama dan kontraknya di Java. Setelah itu kita bahas urutan isi wadah, cara memilih wadah, dan cara mengurutkan objek. Bagian keempat membahas kapan dua objek dianggap sama dan wadah berlabel, yaitu </a:t>
            </a:r>
            <a:r>
              <a:rPr lang="id-ID" dirty="0" i="1"/>
              <a:t>generics</a:t>
            </a:r>
            <a:r>
              <a:rPr lang="id-ID" dirty="0"/>
              <a:t>. Di akhir, KedaiKita menyimpan menunya di map dan mendapat laporan penjualan.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pertanyaan-pertanyaan yang membuat kasir KedaiKita kewalahan. Ternyata semuanya tentang mengelola sekumpulan objek, dan setiap pertanyaan butuh wadah yang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Sore itu KedaiKita penuh mahasiswa, dan Mbak Sari, kasirnya, dihujani pertanyaan. Untuk menjawab harga M04, ia membaca daftar menu baris demi baris dari atas. Daftar kategorinya berisi Minuman, Minuman, Makanan, Makanan, Makanan, jadi ada yang kembar. Pemilik kedai bahkan menemukan kode M01 dipakai oleh dua menu berbeda. Semua pertanyaan ini sebenarnya tentang mengelola sekumpulan objek. Sejak Pertemuan 05, kita hanya punya satu jenis wadah, yaitu </a:t>
            </a:r>
            <a:r>
              <a:rPr lang="id-ID" dirty="0" i="1"/>
              <a:t>list</a:t>
            </a:r>
            <a:r>
              <a:rPr lang="id-ID" dirty="0"/>
              <a:t>. </a:t>
            </a:r>
            <a:r>
              <a:rPr lang="id-ID" dirty="0" i="1"/>
              <a:t>List</a:t>
            </a:r>
            <a:r>
              <a:rPr lang="id-ID" dirty="0"/>
              <a:t> memang serba bisa, tetapi tidak selalu paling cocok. Setiap jenis koleksi punya kepribadian sendiri: ada yang menjaga urutan, ada yang menolak data kembar, dan ada yang mencari lewat kunci.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empat wadah yang sering kamu temui di kampus. </a:t>
            </a:r>
            <a:r>
              <a:rPr lang="id-ID" dirty="0" i="1"/>
              <a:t>List</a:t>
            </a:r>
            <a:r>
              <a:rPr lang="id-ID" dirty="0"/>
              <a:t> seperti daftar belanja atau antrean bernomor: berurutan, boleh ada data kembar, dan isinya bisa diubah. </a:t>
            </a:r>
            <a:r>
              <a:rPr lang="id-ID" dirty="0" i="1"/>
              <a:t>Tuple</a:t>
            </a:r>
            <a:r>
              <a:rPr lang="id-ID" dirty="0"/>
              <a:t> seperti data yang sudah tercetak di KTP: berurutan, tetapi tidak bisa diubah. Java tidak punya </a:t>
            </a:r>
            <a:r>
              <a:rPr lang="id-ID" dirty="0" i="1"/>
              <a:t>tuple</a:t>
            </a:r>
            <a:r>
              <a:rPr lang="id-ID" dirty="0"/>
              <a:t>; padanan terdekatnya adalah </a:t>
            </a:r>
            <a:r>
              <a:rPr lang="id-ID" dirty="0" i="1"/>
              <a:t>list</a:t>
            </a:r>
            <a:r>
              <a:rPr lang="id-ID" dirty="0"/>
              <a:t> tetap buatan </a:t>
            </a:r>
            <a:r>
              <a:rPr lang="en-US" dirty="0">
                <a:latin typeface="Consolas"/>
              </a:rPr>
              <a:t>List.of</a:t>
            </a:r>
            <a:r>
              <a:rPr lang="id-ID" dirty="0"/>
              <a:t>, dan untuk mengelompokkan data yang tipenya berbeda, Java biasanya memakai kelas kecil seperti </a:t>
            </a:r>
            <a:r>
              <a:rPr lang="en-US" dirty="0">
                <a:latin typeface="Consolas"/>
              </a:rPr>
              <a:t>Pasangan</a:t>
            </a:r>
            <a:r>
              <a:rPr lang="id-ID" dirty="0"/>
              <a:t>. Set seperti daftar peserta unik sebuah lokakarya: tidak ada nama kembar, dan cepat menjawab apakah seseorang terdaftar. Map, yang di Python disebut dict, seperti buku telepon: pasangan kunci dan nilai, dengan kunci yang tidak boleh kembar.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10 kita belajar bahwa </a:t>
            </a:r>
            <a:r>
              <a:rPr lang="id-ID" dirty="0" i="1"/>
              <a:t>interface</a:t>
            </a:r>
            <a:r>
              <a:rPr lang="id-ID" dirty="0"/>
              <a:t> adalah kontrak. Koleksi Java dirancang persis seperti itu. </a:t>
            </a:r>
            <a:r>
              <a:rPr lang="en-US" dirty="0">
                <a:latin typeface="Consolas"/>
              </a:rPr>
              <a:t>List</a:t>
            </a:r>
            <a:r>
              <a:rPr lang="id-ID" dirty="0"/>
              <a:t>, </a:t>
            </a:r>
            <a:r>
              <a:rPr lang="en-US" dirty="0">
                <a:latin typeface="Consolas"/>
              </a:rPr>
              <a:t>Set</a:t>
            </a:r>
            <a:r>
              <a:rPr lang="id-ID" dirty="0"/>
              <a:t>, dan </a:t>
            </a:r>
            <a:r>
              <a:rPr lang="en-US" dirty="0">
                <a:latin typeface="Consolas"/>
              </a:rPr>
              <a:t>Map</a:t>
            </a:r>
            <a:r>
              <a:rPr lang="id-ID" dirty="0"/>
              <a:t> adalah </a:t>
            </a:r>
            <a:r>
              <a:rPr lang="id-ID" dirty="0" i="1"/>
              <a:t>interface</a:t>
            </a:r>
            <a:r>
              <a:rPr lang="id-ID" dirty="0"/>
              <a:t>, sedangkan </a:t>
            </a:r>
            <a:r>
              <a:rPr lang="en-US" dirty="0">
                <a:latin typeface="Consolas"/>
              </a:rPr>
              <a:t>ArrayList</a:t>
            </a:r>
            <a:r>
              <a:rPr lang="id-ID" dirty="0"/>
              <a:t>, </a:t>
            </a:r>
            <a:r>
              <a:rPr lang="en-US" dirty="0">
                <a:latin typeface="Consolas"/>
              </a:rPr>
              <a:t>HashSet</a:t>
            </a:r>
            <a:r>
              <a:rPr lang="id-ID" dirty="0"/>
              <a:t>, </a:t>
            </a:r>
            <a:r>
              <a:rPr lang="en-US" dirty="0">
                <a:latin typeface="Consolas"/>
              </a:rPr>
              <a:t>HashMap</a:t>
            </a:r>
            <a:r>
              <a:rPr lang="id-ID" dirty="0"/>
              <a:t>, dan </a:t>
            </a:r>
            <a:r>
              <a:rPr lang="en-US" dirty="0">
                <a:latin typeface="Consolas"/>
              </a:rPr>
              <a:t>TreeMap</a:t>
            </a:r>
            <a:r>
              <a:rPr lang="id-ID" dirty="0"/>
              <a:t> adalah wujud yang memenuhi kontraknya. Diagram ini dipangkas; masih ada wujud lain seperti </a:t>
            </a:r>
            <a:r>
              <a:rPr lang="en-US" dirty="0">
                <a:latin typeface="Consolas"/>
              </a:rPr>
              <a:t>LinkedHashSet</a:t>
            </a:r>
            <a:r>
              <a:rPr lang="id-ID" dirty="0"/>
              <a:t>, </a:t>
            </a:r>
            <a:r>
              <a:rPr lang="en-US" dirty="0">
                <a:latin typeface="Consolas"/>
              </a:rPr>
              <a:t>TreeSet</a:t>
            </a:r>
            <a:r>
              <a:rPr lang="id-ID" dirty="0"/>
              <a:t>, dan </a:t>
            </a:r>
            <a:r>
              <a:rPr lang="en-US" dirty="0">
                <a:latin typeface="Consolas"/>
              </a:rPr>
              <a:t>LinkedHashMap</a:t>
            </a:r>
            <a:r>
              <a:rPr lang="id-ID" dirty="0"/>
              <a:t>. Perhatikan bahwa </a:t>
            </a:r>
            <a:r>
              <a:rPr lang="en-US" dirty="0">
                <a:latin typeface="Consolas"/>
              </a:rPr>
              <a:t>Map</a:t>
            </a:r>
            <a:r>
              <a:rPr lang="id-ID" dirty="0"/>
              <a:t> berdiri sendiri, bukan turunan </a:t>
            </a:r>
            <a:r>
              <a:rPr lang="en-US" dirty="0">
                <a:latin typeface="Consolas"/>
              </a:rPr>
              <a:t>Collection</a:t>
            </a:r>
            <a:r>
              <a:rPr lang="id-ID" dirty="0"/>
              <a:t>, karena isinya berupa pasangan kunci dan nilai. Analoginya seperti lowongan kasir: pemilik kedai hanya peduli orang itu bisa menerima pembayaran, entah Mbak Sari atau Mas Andi. Jika wujudnya diganti, cukup satu baris yang berubah. Di Python, </a:t>
            </a:r>
            <a:r>
              <a:rPr lang="en-US" dirty="0">
                <a:latin typeface="Consolas"/>
              </a:rPr>
              <a:t>list</a:t>
            </a:r>
            <a:r>
              <a:rPr lang="id-ID" dirty="0"/>
              <a:t>, </a:t>
            </a:r>
            <a:r>
              <a:rPr lang="en-US" dirty="0">
                <a:latin typeface="Consolas"/>
              </a:rPr>
              <a:t>tuple</a:t>
            </a:r>
            <a:r>
              <a:rPr lang="id-ID" dirty="0"/>
              <a:t>, </a:t>
            </a:r>
            <a:r>
              <a:rPr lang="en-US" dirty="0">
                <a:latin typeface="Consolas"/>
              </a:rPr>
              <a:t>set</a:t>
            </a:r>
            <a:r>
              <a:rPr lang="id-ID" dirty="0"/>
              <a:t>, dan </a:t>
            </a:r>
            <a:r>
              <a:rPr lang="en-US" dirty="0">
                <a:latin typeface="Consolas"/>
              </a:rPr>
              <a:t>dict</a:t>
            </a:r>
            <a:r>
              <a:rPr lang="id-ID" dirty="0"/>
              <a:t> adalah kelas yang langsung kita pakai.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02 di halaman praktik. Pendaftaran </a:t>
            </a:r>
            <a:r>
              <a:rPr lang="id-ID" dirty="0" i="1"/>
              <a:t>workshop</a:t>
            </a:r>
            <a:r>
              <a:rPr lang="id-ID" dirty="0"/>
              <a:t> sering kacau karena ada yang mengisi formulir dua kali. Mengubah </a:t>
            </a:r>
            <a:r>
              <a:rPr lang="id-ID" dirty="0" i="1"/>
              <a:t>list</a:t>
            </a:r>
            <a:r>
              <a:rPr lang="id-ID" dirty="0"/>
              <a:t> menjadi set membuang data kembar sehingga enam formulir menjadi empat peserta. Menambah anggota yang sudah ada, misalnya Ayu, hanya diabaikan tanpa </a:t>
            </a:r>
            <a:r>
              <a:rPr lang="id-ID" dirty="0" i="1"/>
              <a:t>error</a:t>
            </a:r>
            <a:r>
              <a:rPr lang="id-ID" dirty="0"/>
              <a:t>. Python memakai operator himpunan: </a:t>
            </a:r>
            <a:r>
              <a:rPr lang="en-US" dirty="0">
                <a:latin typeface="Consolas"/>
              </a:rPr>
              <a:t>&amp;</a:t>
            </a:r>
            <a:r>
              <a:rPr lang="id-ID" dirty="0"/>
              <a:t> irisan, </a:t>
            </a:r>
            <a:r>
              <a:rPr lang="en-US" dirty="0">
                <a:latin typeface="Consolas"/>
              </a:rPr>
              <a:t>|</a:t>
            </a:r>
            <a:r>
              <a:rPr lang="id-ID" dirty="0"/>
              <a:t> gabungan, dan </a:t>
            </a:r>
            <a:r>
              <a:rPr lang="en-US" dirty="0">
                <a:latin typeface="Consolas"/>
              </a:rPr>
              <a:t>-</a:t>
            </a:r>
            <a:r>
              <a:rPr lang="id-ID" dirty="0"/>
              <a:t> selisih. Java memakai </a:t>
            </a:r>
            <a:r>
              <a:rPr lang="en-US" dirty="0">
                <a:latin typeface="Consolas"/>
              </a:rPr>
              <a:t>retainAll</a:t>
            </a:r>
            <a:r>
              <a:rPr lang="id-ID" dirty="0"/>
              <a:t>, </a:t>
            </a:r>
            <a:r>
              <a:rPr lang="en-US" dirty="0">
                <a:latin typeface="Consolas"/>
              </a:rPr>
              <a:t>addAll</a:t>
            </a:r>
            <a:r>
              <a:rPr lang="id-ID" dirty="0"/>
              <a:t>, dan </a:t>
            </a:r>
            <a:r>
              <a:rPr lang="en-US" dirty="0">
                <a:latin typeface="Consolas"/>
              </a:rPr>
              <a:t>removeAll</a:t>
            </a:r>
            <a:r>
              <a:rPr lang="id-ID" dirty="0"/>
              <a:t>, yang mengubah set pemanggilnya, jadi kita bekerja pada salinan. Pemeriksaan </a:t>
            </a:r>
            <a:r>
              <a:rPr lang="en-US" dirty="0">
                <a:latin typeface="Consolas"/>
              </a:rPr>
              <a:t>in</a:t>
            </a:r>
            <a:r>
              <a:rPr lang="id-ID" dirty="0"/>
              <a:t> atau </a:t>
            </a:r>
            <a:r>
              <a:rPr lang="en-US" dirty="0">
                <a:latin typeface="Consolas"/>
              </a:rPr>
              <a:t>contains()</a:t>
            </a:r>
            <a:r>
              <a:rPr lang="id-ID" dirty="0"/>
              <a:t> pada set sangat cepat karena set langsung menuju rak lewat kode </a:t>
            </a:r>
            <a:r>
              <a:rPr lang="id-ID" dirty="0" i="1"/>
              <a:t>hash</a:t>
            </a:r>
            <a:r>
              <a:rPr lang="id-ID" dirty="0"/>
              <a:t>. Karena urutan isi set tidak dijamin, fungsi </a:t>
            </a:r>
            <a:r>
              <a:rPr lang="en-US" dirty="0">
                <a:latin typeface="Consolas"/>
              </a:rPr>
              <a:t>cetak</a:t>
            </a:r>
            <a:r>
              <a:rPr lang="id-ID" dirty="0"/>
              <a:t> mengurutkan isinya dulu dengan </a:t>
            </a:r>
            <a:r>
              <a:rPr lang="en-US" dirty="0">
                <a:latin typeface="Consolas"/>
              </a:rPr>
              <a:t>sorted()</a:t>
            </a:r>
            <a:r>
              <a:rPr lang="id-ID" dirty="0"/>
              <a:t> di Python atau </a:t>
            </a:r>
            <a:r>
              <a:rPr lang="en-US" dirty="0">
                <a:latin typeface="Consolas"/>
              </a:rPr>
              <a:t>TreeSet</a:t>
            </a:r>
            <a:r>
              <a:rPr lang="id-ID" dirty="0"/>
              <a:t> di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bahas jebakan yang sering memakan korban, yaitu urutan isi wadah. Setelah itu, kita belajar memilih wadah dengan tiga pertanyaan sederhana.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Program kecil yang mencetak set berisi nama hari dijalankan tiga kali tanpa diubah, dan urutannya berubah-ubah, baik di Python maupun dengan </a:t>
            </a:r>
            <a:r>
              <a:rPr lang="en-US" dirty="0">
                <a:latin typeface="Consolas"/>
              </a:rPr>
              <a:t>Set.of</a:t>
            </a:r>
            <a:r>
              <a:rPr lang="id-ID" dirty="0"/>
              <a:t> di Java. Set dan map berbasis </a:t>
            </a:r>
            <a:r>
              <a:rPr lang="id-ID" dirty="0" i="1"/>
              <a:t>hash</a:t>
            </a:r>
            <a:r>
              <a:rPr lang="id-ID" dirty="0"/>
              <a:t> menyusun isinya menurut kode </a:t>
            </a:r>
            <a:r>
              <a:rPr lang="id-ID" dirty="0" i="1"/>
              <a:t>hash</a:t>
            </a:r>
            <a:r>
              <a:rPr lang="id-ID" dirty="0"/>
              <a:t>, bukan menurut urutan kita memasukkan data. Python mengacak kode </a:t>
            </a:r>
            <a:r>
              <a:rPr lang="id-ID" dirty="0" i="1"/>
              <a:t>hash</a:t>
            </a:r>
            <a:r>
              <a:rPr lang="id-ID" dirty="0"/>
              <a:t> teks setiap kali program dijalankan, dan </a:t>
            </a:r>
            <a:r>
              <a:rPr lang="en-US" dirty="0">
                <a:latin typeface="Consolas"/>
              </a:rPr>
              <a:t>Set.of</a:t>
            </a:r>
            <a:r>
              <a:rPr lang="id-ID" dirty="0"/>
              <a:t> di Java sengaja dibuat berubah-ubah. </a:t>
            </a:r>
            <a:r>
              <a:rPr lang="en-US" dirty="0">
                <a:latin typeface="Consolas"/>
              </a:rPr>
              <a:t>HashSet</a:t>
            </a:r>
            <a:r>
              <a:rPr lang="id-ID" dirty="0"/>
              <a:t> dan </a:t>
            </a:r>
            <a:r>
              <a:rPr lang="en-US" dirty="0">
                <a:latin typeface="Consolas"/>
              </a:rPr>
              <a:t>HashMap</a:t>
            </a:r>
            <a:r>
              <a:rPr lang="id-ID" dirty="0"/>
              <a:t> biasa memang sering tampak sama dari satu kali jalan ke kali berikutnya, tetapi urutannya tetap tidak dijamin. Program yang kebetulan urut di laptopmu bisa berantakan di laptop dosen. Karena itu, pakai </a:t>
            </a:r>
            <a:r>
              <a:rPr lang="en-US" dirty="0">
                <a:latin typeface="Consolas"/>
              </a:rPr>
              <a:t>dict</a:t>
            </a:r>
            <a:r>
              <a:rPr lang="id-ID" dirty="0"/>
              <a:t>, </a:t>
            </a:r>
            <a:r>
              <a:rPr lang="en-US" dirty="0">
                <a:latin typeface="Consolas"/>
              </a:rPr>
              <a:t>LinkedHashMap</a:t>
            </a:r>
            <a:r>
              <a:rPr lang="id-ID" dirty="0"/>
              <a:t>, atau </a:t>
            </a:r>
            <a:r>
              <a:rPr lang="en-US" dirty="0">
                <a:latin typeface="Consolas"/>
              </a:rPr>
              <a:t>TreeMap</a:t>
            </a:r>
            <a:r>
              <a:rPr lang="id-ID" dirty="0"/>
              <a:t>, atau urutkan dulu dengan </a:t>
            </a:r>
            <a:r>
              <a:rPr lang="en-US" dirty="0">
                <a:latin typeface="Consolas"/>
              </a:rPr>
              <a:t>sorted(...)</a:t>
            </a:r>
            <a:r>
              <a:rPr lang="id-ID" dirty="0"/>
              <a:t>, </a:t>
            </a:r>
            <a:r>
              <a:rPr lang="en-US" dirty="0">
                <a:latin typeface="Consolas"/>
              </a:rPr>
              <a:t>TreeSet</a:t>
            </a:r>
            <a:r>
              <a:rPr lang="id-ID" dirty="0"/>
              <a:t>, atau </a:t>
            </a:r>
            <a:r>
              <a:rPr lang="en-US" dirty="0">
                <a:latin typeface="Consolas"/>
              </a:rPr>
              <a:t>Collections.sort</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ragu, jawab tiga pertanyaan ini secara berurutan. Perlu mencari lewat kunci, misalnya kode atau NIM? Pilih map atau dict. Data kembar harus dibuang? Pilih set. Isinya akan berubah? Pilih </a:t>
            </a:r>
            <a:r>
              <a:rPr lang="id-ID" dirty="0" i="1"/>
              <a:t>list</a:t>
            </a:r>
            <a:r>
              <a:rPr lang="id-ID" dirty="0"/>
              <a:t>; jika tidak, pilih </a:t>
            </a:r>
            <a:r>
              <a:rPr lang="id-ID" dirty="0" i="1"/>
              <a:t>tuple</a:t>
            </a:r>
            <a:r>
              <a:rPr lang="id-ID" dirty="0"/>
              <a:t> atau </a:t>
            </a:r>
            <a:r>
              <a:rPr lang="en-US" dirty="0">
                <a:latin typeface="Consolas"/>
              </a:rPr>
              <a:t>List.of</a:t>
            </a:r>
            <a:r>
              <a:rPr lang="id-ID" dirty="0"/>
              <a:t>.</a:t>
            </a:r>
            <a:endParaRPr lang="id-ID" dirty="0"/>
          </a:p>
          <a:p>
            <a:r>
              <a:rPr lang="id-ID" dirty="0"/>
              <a:t>Pertanyaan untuk kelas: wadah apa yang cocok untuk nomor plat kendaraan yang masuk parkiran kampus hari ini, jika setiap kendaraan dihitung sekali? Jawabannya set. Antrean pesanan sesuai urutan datang? </a:t>
            </a:r>
            <a:r>
              <a:rPr lang="id-ID" dirty="0" i="1"/>
              <a:t>List</a:t>
            </a:r>
            <a:r>
              <a:rPr lang="id-ID" dirty="0"/>
              <a:t>. Stok barang berdasarkan nama barang? Map atau dict. Nama tujuh hari dalam seminggu? </a:t>
            </a:r>
            <a:r>
              <a:rPr lang="id-ID" dirty="0" i="1"/>
              <a:t>Tuple</a:t>
            </a:r>
            <a:r>
              <a:rPr lang="id-ID" dirty="0"/>
              <a:t> atau </a:t>
            </a:r>
            <a:r>
              <a:rPr lang="en-US" dirty="0">
                <a:latin typeface="Consolas"/>
              </a:rPr>
              <a:t>List.of</a:t>
            </a:r>
            <a:r>
              <a:rPr lang="id-ID" dirty="0"/>
              <a:t>, karena isinya tetap.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Mengurutkan angka atau teks itu mudah. Namun, bagaimana mengurutkan objek </a:t>
            </a:r>
            <a:r>
              <a:rPr lang="en-US" dirty="0">
                <a:latin typeface="Consolas"/>
              </a:rPr>
              <a:t>Menu</a:t>
            </a:r>
            <a:r>
              <a:rPr lang="id-ID" dirty="0"/>
              <a:t>? Berdasarkan harga, nama, atau stok? Komputer tidak bisa menebak, jadi kita harus memberi tahu aturannya.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antrean di kantor bank. Setiap nasabah memegang nomor antrean, dan itulah urutan baku mereka. Namun, saat pembagian hadiah undian, panitia membacakan pemenang menurut abjad nama. Datanya sama, aturan urutnya berbeda. Urutan alami adalah satu aturan baku yang ditulis di dalam kelas: di Python lewat </a:t>
            </a:r>
            <a:r>
              <a:rPr lang="id-ID" dirty="0" i="1"/>
              <a:t>method</a:t>
            </a:r>
            <a:r>
              <a:rPr lang="id-ID" dirty="0"/>
              <a:t> </a:t>
            </a:r>
            <a:r>
              <a:rPr lang="en-US" dirty="0">
                <a:latin typeface="Consolas"/>
              </a:rPr>
              <a:t>__lt__</a:t>
            </a:r>
            <a:r>
              <a:rPr lang="id-ID" dirty="0"/>
              <a:t>, di Java lewat </a:t>
            </a:r>
            <a:r>
              <a:rPr lang="en-US" dirty="0">
                <a:latin typeface="Consolas"/>
              </a:rPr>
              <a:t>Comparable</a:t>
            </a:r>
            <a:r>
              <a:rPr lang="id-ID" dirty="0"/>
              <a:t> dan </a:t>
            </a:r>
            <a:r>
              <a:rPr lang="en-US" dirty="0">
                <a:latin typeface="Consolas"/>
              </a:rPr>
              <a:t>compareTo()</a:t>
            </a:r>
            <a:r>
              <a:rPr lang="id-ID" dirty="0"/>
              <a:t>. Urutan khusus diberikan dari luar saat mengurutkan, dan jumlahnya boleh sebanyak yang kita butuhkan. Jika dua menu harganya sama, kita butuh kriteria kedua, seperti peringkat kelas. KedaiKita memakai aturan harga termurah dulu, dan jika harganya sama, urut kode.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Untuk urutan khusus, kita perlu mengirim aturan sebagai argumen. Menulis fungsi lengkap untuk aturan sesingkat ambil harganya terasa berlebihan. Di sinilah </a:t>
            </a:r>
            <a:r>
              <a:rPr lang="id-ID" dirty="0" i="1"/>
              <a:t>lambda</a:t>
            </a:r>
            <a:r>
              <a:rPr lang="id-ID" dirty="0"/>
              <a:t> berguna. Bedanya seperti SOP resmi dan catatan tempel. Fungsi biasa ibarat SOP: punya judul dan bisa dipakai di mana saja. </a:t>
            </a:r>
            <a:r>
              <a:rPr lang="id-ID" dirty="0" i="1"/>
              <a:t>Lambda</a:t>
            </a:r>
            <a:r>
              <a:rPr lang="id-ID" dirty="0"/>
              <a:t> ibarat catatan tempel bertuliskan urutkan menurut harga yang ditempel langsung di tempat kerja. Hati-hati dengan kesalahan klasik di Python: </a:t>
            </a:r>
            <a:r>
              <a:rPr lang="en-US" dirty="0">
                <a:latin typeface="Consolas"/>
              </a:rPr>
              <a:t>hasil = daftar.sort()</a:t>
            </a:r>
            <a:r>
              <a:rPr lang="id-ID" dirty="0"/>
              <a:t> membuat </a:t>
            </a:r>
            <a:r>
              <a:rPr lang="en-US" dirty="0">
                <a:latin typeface="Consolas"/>
              </a:rPr>
              <a:t>hasil</a:t>
            </a:r>
            <a:r>
              <a:rPr lang="id-ID" dirty="0"/>
              <a:t> berisi </a:t>
            </a:r>
            <a:r>
              <a:rPr lang="en-US" dirty="0">
                <a:latin typeface="Consolas"/>
              </a:rPr>
              <a:t>None</a:t>
            </a:r>
            <a:r>
              <a:rPr lang="id-ID" dirty="0"/>
              <a:t> karena </a:t>
            </a:r>
            <a:r>
              <a:rPr lang="en-US" dirty="0">
                <a:latin typeface="Consolas"/>
              </a:rPr>
              <a:t>sort()</a:t>
            </a:r>
            <a:r>
              <a:rPr lang="id-ID" dirty="0"/>
              <a:t> mengurutkan </a:t>
            </a:r>
            <a:r>
              <a:rPr lang="id-ID" dirty="0" i="1"/>
              <a:t>list</a:t>
            </a:r>
            <a:r>
              <a:rPr lang="id-ID" dirty="0"/>
              <a:t> itu sendiri dan tidak mengembalikan </a:t>
            </a:r>
            <a:r>
              <a:rPr lang="id-ID" dirty="0" i="1"/>
              <a:t>list</a:t>
            </a:r>
            <a:r>
              <a:rPr lang="id-ID" dirty="0"/>
              <a:t> baru.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06. Untuk peserta lomba lari, urutan yang paling wajar selalu sama: yang tercepat di depan. Aturan baku ini ditulis di dalam kelas sebagai urutan alami. </a:t>
            </a:r>
            <a:r>
              <a:rPr lang="en-US" dirty="0">
                <a:latin typeface="Consolas"/>
              </a:rPr>
              <a:t>__lt__</a:t>
            </a:r>
            <a:r>
              <a:rPr lang="id-ID" dirty="0"/>
              <a:t> menjawab ya atau tidak: apakah objek ini harus di depan objek lain? </a:t>
            </a:r>
            <a:r>
              <a:rPr lang="en-US" dirty="0">
                <a:latin typeface="Consolas"/>
              </a:rPr>
              <a:t>compareTo</a:t>
            </a:r>
            <a:r>
              <a:rPr lang="id-ID" dirty="0"/>
              <a:t> menjawab dengan angka negatif, nol, atau positif, dan kelasnya harus dideklarasikan </a:t>
            </a:r>
            <a:r>
              <a:rPr lang="en-US" dirty="0">
                <a:latin typeface="Consolas"/>
              </a:rPr>
              <a:t>implements Comparable&lt;Pelari&gt;</a:t>
            </a:r>
            <a:r>
              <a:rPr lang="id-ID" dirty="0"/>
              <a:t>. Joko dan Fikri sama-sama 19:58, jadi kriteria kedua, nomor dada, membuat hasilnya selalu pasti. </a:t>
            </a:r>
            <a:r>
              <a:rPr lang="en-US" dirty="0">
                <a:latin typeface="Consolas"/>
              </a:rPr>
              <a:t>sorted(hasil)</a:t>
            </a:r>
            <a:r>
              <a:rPr lang="id-ID" dirty="0"/>
              <a:t> dan </a:t>
            </a:r>
            <a:r>
              <a:rPr lang="en-US" dirty="0">
                <a:latin typeface="Consolas"/>
              </a:rPr>
              <a:t>Collections.sort(peringkat)</a:t>
            </a:r>
            <a:r>
              <a:rPr lang="id-ID" dirty="0"/>
              <a:t> tanpa aturan tambahan langsung memakai urutan alami sehingga Maya menjadi juara 1. Urutan alami tidak mengunci kita: absensi tetap bisa diurutkan menurut nama dengan </a:t>
            </a:r>
            <a:r>
              <a:rPr lang="en-US" dirty="0">
                <a:latin typeface="Consolas"/>
              </a:rPr>
              <a:t>key=</a:t>
            </a:r>
            <a:r>
              <a:rPr lang="id-ID" dirty="0"/>
              <a:t> atau </a:t>
            </a:r>
            <a:r>
              <a:rPr lang="en-US" dirty="0">
                <a:latin typeface="Consolas"/>
              </a:rPr>
              <a:t>Comparator</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Bagian ini membahas dua hal: kapan dua objek dianggap sama di dalam set dan map, lalu cara memberi label tipe pada wadah, yaitu </a:t>
            </a:r>
            <a:r>
              <a:rPr lang="id-ID" dirty="0" i="1"/>
              <a:t>generics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dua pertanyaan berbeda. Apakah ini objek yang sama persis? Itu identitas: </a:t>
            </a:r>
            <a:r>
              <a:rPr lang="en-US" dirty="0">
                <a:latin typeface="Consolas"/>
              </a:rPr>
              <a:t>a is b</a:t>
            </a:r>
            <a:r>
              <a:rPr lang="id-ID" dirty="0"/>
              <a:t> di Python, </a:t>
            </a:r>
            <a:r>
              <a:rPr lang="en-US" dirty="0">
                <a:latin typeface="Consolas"/>
              </a:rPr>
              <a:t>a == b</a:t>
            </a:r>
            <a:r>
              <a:rPr lang="id-ID" dirty="0"/>
              <a:t> di Java. Apakah keduanya dianggap sama, misalnya karena NIK-nya sama? Itu kesamaan: </a:t>
            </a:r>
            <a:r>
              <a:rPr lang="en-US" dirty="0">
                <a:latin typeface="Consolas"/>
              </a:rPr>
              <a:t>a == b</a:t>
            </a:r>
            <a:r>
              <a:rPr lang="id-ID" dirty="0"/>
              <a:t> yang memanggil </a:t>
            </a:r>
            <a:r>
              <a:rPr lang="en-US" dirty="0">
                <a:latin typeface="Consolas"/>
              </a:rPr>
              <a:t>__eq__</a:t>
            </a:r>
            <a:r>
              <a:rPr lang="id-ID" dirty="0"/>
              <a:t> di Python, </a:t>
            </a:r>
            <a:r>
              <a:rPr lang="en-US" dirty="0">
                <a:latin typeface="Consolas"/>
              </a:rPr>
              <a:t>a.equals(b)</a:t>
            </a:r>
            <a:r>
              <a:rPr lang="id-ID" dirty="0"/>
              <a:t> di Java. Set dan map bekerja seperti perpustakaan dengan rak bernomor. Setiap objek punya kode </a:t>
            </a:r>
            <a:r>
              <a:rPr lang="id-ID" dirty="0" i="1"/>
              <a:t>hash</a:t>
            </a:r>
            <a:r>
              <a:rPr lang="id-ID" dirty="0"/>
              <a:t> yang menentukan raknya, lalu isi rak itu diperiksa satu per satu. Di kiri, kesamaan dan </a:t>
            </a:r>
            <a:r>
              <a:rPr lang="id-ID" dirty="0" i="1"/>
              <a:t>hash</a:t>
            </a:r>
            <a:r>
              <a:rPr lang="id-ID" dirty="0"/>
              <a:t> dihitung dari NIK, jadi Budi Santoso dan Budi Santosa masuk rak yang sama dan dianggap sama. Di kanan, Java hanya menulis </a:t>
            </a:r>
            <a:r>
              <a:rPr lang="en-US" dirty="0">
                <a:latin typeface="Consolas"/>
              </a:rPr>
              <a:t>equals()</a:t>
            </a:r>
            <a:r>
              <a:rPr lang="id-ID" dirty="0"/>
              <a:t>, jadi keduanya masuk rak berbeda, tidak pernah dibandingkan, dan data ganda lolos. Sebaliknya, dua objek berbeda boleh kebetulan punya kode </a:t>
            </a:r>
            <a:r>
              <a:rPr lang="id-ID" dirty="0" i="1"/>
              <a:t>hash</a:t>
            </a:r>
            <a:r>
              <a:rPr lang="id-ID" dirty="0"/>
              <a:t>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07. Kelas </a:t>
            </a:r>
            <a:r>
              <a:rPr lang="en-US" dirty="0">
                <a:latin typeface="Consolas"/>
              </a:rPr>
              <a:t>Pemilih</a:t>
            </a:r>
            <a:r>
              <a:rPr lang="id-ID" dirty="0"/>
              <a:t> menganggap dua pemilih sama jika NIK-nya sama. Kode </a:t>
            </a:r>
            <a:r>
              <a:rPr lang="id-ID" dirty="0" i="1"/>
              <a:t>hash</a:t>
            </a:r>
            <a:r>
              <a:rPr lang="id-ID" dirty="0"/>
              <a:t> dihitung dari data yang sama dengan kesamaannya, yaitu NIK, dengan meminjam kode </a:t>
            </a:r>
            <a:r>
              <a:rPr lang="id-ID" dirty="0" i="1"/>
              <a:t>hash</a:t>
            </a:r>
            <a:r>
              <a:rPr lang="id-ID" dirty="0"/>
              <a:t> milik teks NIK. Di Java, parameter </a:t>
            </a:r>
            <a:r>
              <a:rPr lang="en-US" dirty="0">
                <a:latin typeface="Consolas"/>
              </a:rPr>
              <a:t>equals</a:t>
            </a:r>
            <a:r>
              <a:rPr lang="id-ID" dirty="0"/>
              <a:t> wajib bertipe </a:t>
            </a:r>
            <a:r>
              <a:rPr lang="en-US" dirty="0">
                <a:latin typeface="Consolas"/>
              </a:rPr>
              <a:t>Object</a:t>
            </a:r>
            <a:r>
              <a:rPr lang="id-ID" dirty="0"/>
              <a:t>, lalu jenisnya diperiksa dengan </a:t>
            </a:r>
            <a:r>
              <a:rPr lang="en-US" dirty="0">
                <a:latin typeface="Consolas"/>
              </a:rPr>
              <a:t>instanceof</a:t>
            </a:r>
            <a:r>
              <a:rPr lang="id-ID" dirty="0"/>
              <a:t> dan di-</a:t>
            </a:r>
            <a:r>
              <a:rPr lang="id-ID" dirty="0" i="1"/>
              <a:t>cast</a:t>
            </a:r>
            <a:r>
              <a:rPr lang="id-ID" dirty="0"/>
              <a:t> menjadi </a:t>
            </a:r>
            <a:r>
              <a:rPr lang="en-US" dirty="0">
                <a:latin typeface="Consolas"/>
              </a:rPr>
              <a:t>Pemilih</a:t>
            </a:r>
            <a:r>
              <a:rPr lang="id-ID" dirty="0"/>
              <a:t>. Selalu tulis </a:t>
            </a:r>
            <a:r>
              <a:rPr lang="en-US" dirty="0">
                <a:latin typeface="Consolas"/>
              </a:rPr>
              <a:t>@Override</a:t>
            </a:r>
            <a:r>
              <a:rPr lang="id-ID" dirty="0"/>
              <a:t> agar salah tulis langsung ketahuan saat kompilasi. Saat </a:t>
            </a:r>
            <a:r>
              <a:rPr lang="en-US" dirty="0">
                <a:latin typeface="Consolas"/>
              </a:rPr>
              <a:t>b2</a:t>
            </a:r>
            <a:r>
              <a:rPr lang="id-ID" dirty="0"/>
              <a:t> ditambahkan, set menemukan </a:t>
            </a:r>
            <a:r>
              <a:rPr lang="en-US" dirty="0">
                <a:latin typeface="Consolas"/>
              </a:rPr>
              <a:t>b1</a:t>
            </a:r>
            <a:r>
              <a:rPr lang="id-ID" dirty="0"/>
              <a:t> di rak yang sama dan menganggapnya sudah ada, jadi yang tersimpan tetap Budi Santoso. Pilih data yang tidak berubah untuk kesamaan dan </a:t>
            </a:r>
            <a:r>
              <a:rPr lang="id-ID" dirty="0" i="1"/>
              <a:t>hash</a:t>
            </a:r>
            <a:r>
              <a:rPr lang="id-ID" dirty="0"/>
              <a:t>, seperti NIK atau kode menu. Jika data itu berubah saat objek sudah berada di set, objeknya tersesat di rak yang salah.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dapur KedaiKita ada deretan toples. Toples berlabel GULA hanya boleh diisi gula, jadi saat mengambil isinya kita yakin itu gula tanpa perlu mencicipinya. Toples tanpa label lebih fleksibel, tetapi isinya bisa saja garam. Kamu sudah memakai </a:t>
            </a:r>
            <a:r>
              <a:rPr lang="id-ID" dirty="0" i="1"/>
              <a:t>generics</a:t>
            </a:r>
            <a:r>
              <a:rPr lang="id-ID" dirty="0"/>
              <a:t> sejak Pertemuan 05: </a:t>
            </a:r>
            <a:r>
              <a:rPr lang="en-US" dirty="0">
                <a:latin typeface="Consolas"/>
              </a:rPr>
              <a:t>list[Menu]</a:t>
            </a:r>
            <a:r>
              <a:rPr lang="id-ID" dirty="0"/>
              <a:t> atau </a:t>
            </a:r>
            <a:r>
              <a:rPr lang="en-US" dirty="0">
                <a:latin typeface="Consolas"/>
              </a:rPr>
              <a:t>List&lt;Menu&gt;</a:t>
            </a:r>
            <a:r>
              <a:rPr lang="id-ID" dirty="0"/>
              <a:t> dibaca </a:t>
            </a:r>
            <a:r>
              <a:rPr lang="id-ID" dirty="0" i="1"/>
              <a:t>list</a:t>
            </a:r>
            <a:r>
              <a:rPr lang="id-ID" dirty="0"/>
              <a:t> berisi </a:t>
            </a:r>
            <a:r>
              <a:rPr lang="en-US" dirty="0">
                <a:latin typeface="Consolas"/>
              </a:rPr>
              <a:t>Menu</a:t>
            </a:r>
            <a:r>
              <a:rPr lang="id-ID" dirty="0"/>
              <a:t>. Di Python, label hanyalah petunjuk untuk manusia dan alat bantu seperti VS Code atau mypy; program tetap berjalan walaupun isinya salah tipe. Di Java, </a:t>
            </a:r>
            <a:r>
              <a:rPr lang="id-ID" dirty="0" i="1"/>
              <a:t>compiler</a:t>
            </a:r>
            <a:r>
              <a:rPr lang="id-ID" dirty="0"/>
              <a:t> menolak isi yang salah tipe, dan isi wadah bisa langsung dipakai tanpa </a:t>
            </a:r>
            <a:r>
              <a:rPr lang="id-ID" dirty="0" i="1"/>
              <a:t>cast</a:t>
            </a:r>
            <a:r>
              <a:rPr lang="id-ID" dirty="0"/>
              <a:t>. Karena isi kurung sudut harus kelas, Java memakai </a:t>
            </a:r>
            <a:r>
              <a:rPr lang="en-US" dirty="0">
                <a:latin typeface="Consolas"/>
              </a:rPr>
              <a:t>Integer</a:t>
            </a:r>
            <a:r>
              <a:rPr lang="id-ID" dirty="0"/>
              <a:t>. Awas jebakannya: dua </a:t>
            </a:r>
            <a:r>
              <a:rPr lang="en-US" dirty="0">
                <a:latin typeface="Consolas"/>
              </a:rPr>
              <a:t>Integer</a:t>
            </a:r>
            <a:r>
              <a:rPr lang="id-ID" dirty="0"/>
              <a:t> bernilai 128 bisa tidak sama jika dibandingkan dengan </a:t>
            </a:r>
            <a:r>
              <a:rPr lang="en-US" dirty="0">
                <a:latin typeface="Consolas"/>
              </a:rPr>
              <a:t>==</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Kelas </a:t>
            </a:r>
            <a:r>
              <a:rPr lang="en-US" dirty="0">
                <a:latin typeface="Consolas"/>
              </a:rPr>
              <a:t>Pasangan</a:t>
            </a:r>
            <a:r>
              <a:rPr lang="id-ID" dirty="0"/>
              <a:t> dari studi kasus hari ini memakai dua parameter tipe, </a:t>
            </a:r>
            <a:r>
              <a:rPr lang="en-US" dirty="0">
                <a:latin typeface="Consolas"/>
              </a:rPr>
              <a:t>A</a:t>
            </a:r>
            <a:r>
              <a:rPr lang="id-ID" dirty="0"/>
              <a:t> dan </a:t>
            </a:r>
            <a:r>
              <a:rPr lang="en-US" dirty="0">
                <a:latin typeface="Consolas"/>
              </a:rPr>
              <a:t>B</a:t>
            </a:r>
            <a:r>
              <a:rPr lang="id-ID" dirty="0"/>
              <a:t>, yang baru ditentukan saat kelasnya dipakai. Di Python, parameter tipe dibuat dengan </a:t>
            </a:r>
            <a:r>
              <a:rPr lang="en-US" dirty="0">
                <a:latin typeface="Consolas"/>
              </a:rPr>
              <a:t>TypeVar</a:t>
            </a:r>
            <a:r>
              <a:rPr lang="id-ID" dirty="0"/>
              <a:t>, lalu kelasnya mewarisi </a:t>
            </a:r>
            <a:r>
              <a:rPr lang="en-US" dirty="0">
                <a:latin typeface="Consolas"/>
              </a:rPr>
              <a:t>Generic[A, B]</a:t>
            </a:r>
            <a:r>
              <a:rPr lang="id-ID" dirty="0"/>
              <a:t>. Di Java, parameter tipe ditulis di dalam kurung sudut setelah nama kelas, lalu dipakai seperti tipe biasa untuk </a:t>
            </a:r>
            <a:r>
              <a:rPr lang="id-ID" dirty="0" i="1"/>
              <a:t>field</a:t>
            </a:r>
            <a:r>
              <a:rPr lang="id-ID" dirty="0"/>
              <a:t>, parameter, dan nilai kembalian. </a:t>
            </a:r>
            <a:r>
              <a:rPr lang="en-US" dirty="0">
                <a:latin typeface="Consolas"/>
              </a:rPr>
              <a:t>Pasangan[str, int]</a:t>
            </a:r>
            <a:r>
              <a:rPr lang="id-ID" dirty="0"/>
              <a:t> atau </a:t>
            </a:r>
            <a:r>
              <a:rPr lang="en-US" dirty="0">
                <a:latin typeface="Consolas"/>
              </a:rPr>
              <a:t>Pasangan&lt;String, Integer&gt;</a:t>
            </a:r>
            <a:r>
              <a:rPr lang="id-ID" dirty="0"/>
              <a:t> berisi teks dan angka. Polanya sama dengan </a:t>
            </a:r>
            <a:r>
              <a:rPr lang="en-US" dirty="0">
                <a:latin typeface="Consolas"/>
              </a:rPr>
              <a:t>Kotak[T]</a:t>
            </a:r>
            <a:r>
              <a:rPr lang="id-ID" dirty="0"/>
              <a:t> atau </a:t>
            </a:r>
            <a:r>
              <a:rPr lang="en-US" dirty="0">
                <a:latin typeface="Consolas"/>
              </a:rPr>
              <a:t>Kotak&lt;T&gt;</a:t>
            </a:r>
            <a:r>
              <a:rPr lang="id-ID" dirty="0"/>
              <a:t> di contoh 08, hanya saja parameter tipenya dua dan boleh berbeda. Di KedaiKita, kelas ini dipakai untuk pasangan kode menu dan jumlah porsi saat bertransaksi, serta nama menu dan porsi terjual di laporan.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versi Pertemuan 12 menjawab pertanyaan-pertanyaan Mbak Sari di awal pertemuan: mencari menu lewat kode, menolak kode ganda, menampilkan kategori unik, mengurutkan menu, dan mencari menu terlaris.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ini hanya menampilkan bagian yang baru atau berubah, dan sudah dipangkas agar muat. </a:t>
            </a:r>
            <a:r>
              <a:rPr lang="en-US" dirty="0">
                <a:latin typeface="Consolas"/>
              </a:rPr>
              <a:t>Kedai</a:t>
            </a:r>
            <a:r>
              <a:rPr lang="id-ID" dirty="0"/>
              <a:t> kini menyimpan menu di map dengan kode sebagai kunci, bukan di </a:t>
            </a:r>
            <a:r>
              <a:rPr lang="id-ID" dirty="0" i="1"/>
              <a:t>list</a:t>
            </a:r>
            <a:r>
              <a:rPr lang="id-ID" dirty="0"/>
              <a:t>. Versi Java memakai </a:t>
            </a:r>
            <a:r>
              <a:rPr lang="en-US" dirty="0">
                <a:latin typeface="Consolas"/>
              </a:rPr>
              <a:t>LinkedHashMap</a:t>
            </a:r>
            <a:r>
              <a:rPr lang="id-ID" dirty="0"/>
              <a:t> agar urutan menu tetap sesuai urutan ditambahkan, sama seperti </a:t>
            </a:r>
            <a:r>
              <a:rPr lang="en-US" dirty="0">
                <a:latin typeface="Consolas"/>
              </a:rPr>
              <a:t>dict</a:t>
            </a:r>
            <a:r>
              <a:rPr lang="id-ID" dirty="0"/>
              <a:t> Python. </a:t>
            </a:r>
            <a:r>
              <a:rPr lang="en-US" dirty="0">
                <a:latin typeface="Consolas"/>
              </a:rPr>
              <a:t>Kedai</a:t>
            </a:r>
            <a:r>
              <a:rPr lang="id-ID" dirty="0"/>
              <a:t> juga punya </a:t>
            </a:r>
            <a:r>
              <a:rPr lang="id-ID" dirty="0" i="1"/>
              <a:t>method</a:t>
            </a:r>
            <a:r>
              <a:rPr lang="id-ID" dirty="0"/>
              <a:t> baru, misalnya </a:t>
            </a:r>
            <a:r>
              <a:rPr lang="en-US" dirty="0">
                <a:latin typeface="Consolas"/>
              </a:rPr>
              <a:t>daftarKategori()</a:t>
            </a:r>
            <a:r>
              <a:rPr lang="id-ID" dirty="0"/>
              <a:t> yang mengumpulkan kategori ke dalam set lalu mengurutkannya. </a:t>
            </a:r>
            <a:r>
              <a:rPr lang="en-US" dirty="0">
                <a:latin typeface="Consolas"/>
              </a:rPr>
              <a:t>Menu</a:t>
            </a:r>
            <a:r>
              <a:rPr lang="id-ID" dirty="0"/>
              <a:t> mendapat aturan kesamaan dan urutan alami. </a:t>
            </a:r>
            <a:r>
              <a:rPr lang="en-US" dirty="0">
                <a:latin typeface="Consolas"/>
              </a:rPr>
              <a:t>Pasangan</a:t>
            </a:r>
            <a:r>
              <a:rPr lang="id-ID" dirty="0"/>
              <a:t> adalah kelas generik baru, dan </a:t>
            </a:r>
            <a:r>
              <a:rPr lang="en-US" dirty="0">
                <a:latin typeface="Consolas"/>
              </a:rPr>
              <a:t>LaporanPenjualan</a:t>
            </a:r>
            <a:r>
              <a:rPr lang="id-ID" dirty="0"/>
              <a:t> merangkum pesanan lunas: total pendapatan, tiga menu terlaris, dan pendapatan per kategori. Khusus Java, </a:t>
            </a:r>
            <a:r>
              <a:rPr lang="en-US" dirty="0">
                <a:latin typeface="Consolas"/>
              </a:rPr>
              <a:t>Minuman</a:t>
            </a:r>
            <a:r>
              <a:rPr lang="id-ID" dirty="0"/>
              <a:t> mendapat konstruktor </a:t>
            </a:r>
            <a:r>
              <a:rPr lang="id-ID" dirty="0" i="1"/>
              <a:t>overload</a:t>
            </a:r>
            <a:r>
              <a:rPr lang="id-ID" dirty="0"/>
              <a:t> tanpa parameter </a:t>
            </a:r>
            <a:r>
              <a:rPr lang="en-US" dirty="0">
                <a:latin typeface="Consolas"/>
              </a:rPr>
              <a:t>dingin</a:t>
            </a:r>
            <a:r>
              <a:rPr lang="id-ID" dirty="0"/>
              <a:t>. </a:t>
            </a:r>
            <a:r>
              <a:rPr lang="en-US" dirty="0">
                <a:latin typeface="Consolas"/>
              </a:rPr>
              <a:t>Pesanan</a:t>
            </a:r>
            <a:r>
              <a:rPr lang="id-ID" dirty="0"/>
              <a:t>, kelas pembayaran, dan </a:t>
            </a:r>
            <a:r>
              <a:rPr lang="id-ID" dirty="0" i="1"/>
              <a:t>exception</a:t>
            </a:r>
            <a:r>
              <a:rPr lang="id-ID" dirty="0"/>
              <a:t> tidak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Daftar menu kini berupa dict di Python atau </a:t>
            </a:r>
            <a:r>
              <a:rPr lang="en-US" dirty="0">
                <a:latin typeface="Consolas"/>
              </a:rPr>
              <a:t>Map</a:t>
            </a:r>
            <a:r>
              <a:rPr lang="id-ID" dirty="0"/>
              <a:t> berwujud </a:t>
            </a:r>
            <a:r>
              <a:rPr lang="en-US" dirty="0">
                <a:latin typeface="Consolas"/>
              </a:rPr>
              <a:t>LinkedHashMap</a:t>
            </a:r>
            <a:r>
              <a:rPr lang="id-ID" dirty="0"/>
              <a:t> di Java, berisi pasangan kode dan objek </a:t>
            </a:r>
            <a:r>
              <a:rPr lang="en-US" dirty="0">
                <a:latin typeface="Consolas"/>
              </a:rPr>
              <a:t>Menu</a:t>
            </a:r>
            <a:r>
              <a:rPr lang="id-ID" dirty="0"/>
              <a:t>. </a:t>
            </a:r>
            <a:r>
              <a:rPr lang="en-US" dirty="0">
                <a:latin typeface="Consolas"/>
              </a:rPr>
              <a:t>tambah_menu()</a:t>
            </a:r>
            <a:r>
              <a:rPr lang="id-ID" dirty="0"/>
              <a:t> memeriksa kunci dulu. Tanpa pemeriksaan ini, menu baru berkode sama akan menimpa menu lama secara diam-diam, seperti data Bima di contoh 03. Kode ganda ditolak dengan </a:t>
            </a:r>
            <a:r>
              <a:rPr lang="en-US" dirty="0">
                <a:latin typeface="Consolas"/>
              </a:rPr>
              <a:t>ValueError</a:t>
            </a:r>
            <a:r>
              <a:rPr lang="id-ID" dirty="0"/>
              <a:t> di Python atau </a:t>
            </a:r>
            <a:r>
              <a:rPr lang="en-US" dirty="0">
                <a:latin typeface="Consolas"/>
              </a:rPr>
              <a:t>IllegalArgumentException</a:t>
            </a:r>
            <a:r>
              <a:rPr lang="id-ID" dirty="0"/>
              <a:t> di Java. </a:t>
            </a:r>
            <a:r>
              <a:rPr lang="en-US" dirty="0">
                <a:latin typeface="Consolas"/>
              </a:rPr>
              <a:t>cari_menu()</a:t>
            </a:r>
            <a:r>
              <a:rPr lang="id-ID" dirty="0"/>
              <a:t> tidak lagi memakai perulangan </a:t>
            </a:r>
            <a:r>
              <a:rPr lang="en-US" dirty="0">
                <a:latin typeface="Consolas"/>
              </a:rPr>
              <a:t>for</a:t>
            </a:r>
            <a:r>
              <a:rPr lang="id-ID" dirty="0"/>
              <a:t>, tetapi kontraknya tetap sama dengan Pertemuan 11: jika kode tidak ada, ia melempar </a:t>
            </a:r>
            <a:r>
              <a:rPr lang="en-US" dirty="0">
                <a:latin typeface="Consolas"/>
              </a:rPr>
              <a:t>MenuTidakDitemukanError</a:t>
            </a:r>
            <a:r>
              <a:rPr lang="id-ID" dirty="0"/>
              <a:t> atau </a:t>
            </a:r>
            <a:r>
              <a:rPr lang="en-US" dirty="0">
                <a:latin typeface="Consolas"/>
              </a:rPr>
              <a:t>MenuTidakDitemukanException</a:t>
            </a:r>
            <a:r>
              <a:rPr lang="id-ID" dirty="0"/>
              <a:t>. Saat program mencoba menambah menu berkode M01 lagi, hasilnya "Ditolak: Kode M01 sudah dipakai", dan jumlah menu tetap 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Kode adalah pilihan tepat untuk kesamaan karena kode tidak punya </a:t>
            </a:r>
            <a:r>
              <a:rPr lang="id-ID" dirty="0" i="1"/>
              <a:t>setter</a:t>
            </a:r>
            <a:r>
              <a:rPr lang="id-ID" dirty="0"/>
              <a:t> sejak Pertemuan 04, jadi kode </a:t>
            </a:r>
            <a:r>
              <a:rPr lang="id-ID" dirty="0" i="1"/>
              <a:t>hash</a:t>
            </a:r>
            <a:r>
              <a:rPr lang="id-ID" dirty="0"/>
              <a:t>-nya tidak pernah berubah. </a:t>
            </a:r>
            <a:r>
              <a:rPr lang="en-US" dirty="0">
                <a:latin typeface="Consolas"/>
              </a:rPr>
              <a:t>__eq__</a:t>
            </a:r>
            <a:r>
              <a:rPr lang="id-ID" dirty="0"/>
              <a:t> dan </a:t>
            </a:r>
            <a:r>
              <a:rPr lang="en-US" dirty="0">
                <a:latin typeface="Consolas"/>
              </a:rPr>
              <a:t>equals()</a:t>
            </a:r>
            <a:r>
              <a:rPr lang="id-ID" dirty="0"/>
              <a:t> membandingkan kode dengan pola yang sama seperti contoh 07. Urutan alaminya harga termurah dulu, dan jika harga sama, urut kode. Ketiga </a:t>
            </a:r>
            <a:r>
              <a:rPr lang="id-ID" dirty="0" i="1"/>
              <a:t>method</a:t>
            </a:r>
            <a:r>
              <a:rPr lang="id-ID" dirty="0"/>
              <a:t> ini diwarisi oleh </a:t>
            </a:r>
            <a:r>
              <a:rPr lang="en-US" dirty="0">
                <a:latin typeface="Consolas"/>
              </a:rPr>
              <a:t>Makanan</a:t>
            </a:r>
            <a:r>
              <a:rPr lang="id-ID" dirty="0"/>
              <a:t> dan </a:t>
            </a:r>
            <a:r>
              <a:rPr lang="en-US" dirty="0">
                <a:latin typeface="Consolas"/>
              </a:rPr>
              <a:t>Minuman</a:t>
            </a:r>
            <a:r>
              <a:rPr lang="id-ID" dirty="0"/>
              <a:t>. Hasilnya, </a:t>
            </a:r>
            <a:r>
              <a:rPr lang="en-US" dirty="0">
                <a:latin typeface="Consolas"/>
              </a:rPr>
              <a:t>sorted(kedai.semua_menu())</a:t>
            </a:r>
            <a:r>
              <a:rPr lang="id-ID" dirty="0"/>
              <a:t> dan </a:t>
            </a:r>
            <a:r>
              <a:rPr lang="en-US" dirty="0">
                <a:latin typeface="Consolas"/>
              </a:rPr>
              <a:t>Collections.sort(urutHarga)</a:t>
            </a:r>
            <a:r>
              <a:rPr lang="id-ID" dirty="0"/>
              <a:t> mengurutkan menu dari Es Teh Manis seharga Rp8.000 sampai Nasi Goreng Kampung seharga Rp25.000, sedangkan urut nama memakai </a:t>
            </a:r>
            <a:r>
              <a:rPr lang="id-ID" dirty="0" i="1"/>
              <a:t>lambda</a:t>
            </a:r>
            <a:r>
              <a:rPr lang="id-ID" dirty="0"/>
              <a:t>. Di bagian kesamaan objek, </a:t>
            </a:r>
            <a:r>
              <a:rPr lang="en-US" dirty="0">
                <a:latin typeface="Consolas"/>
              </a:rPr>
              <a:t>kopi_b</a:t>
            </a:r>
            <a:r>
              <a:rPr lang="id-ID" dirty="0"/>
              <a:t> adalah objek baru berkode M01, jadi </a:t>
            </a:r>
            <a:r>
              <a:rPr lang="en-US" dirty="0">
                <a:latin typeface="Consolas"/>
              </a:rPr>
              <a:t>==</a:t>
            </a:r>
            <a:r>
              <a:rPr lang="id-ID" dirty="0"/>
              <a:t> di Python dan </a:t>
            </a:r>
            <a:r>
              <a:rPr lang="en-US" dirty="0">
                <a:latin typeface="Consolas"/>
              </a:rPr>
              <a:t>equals()</a:t>
            </a:r>
            <a:r>
              <a:rPr lang="id-ID" dirty="0"/>
              <a:t> di Java menjawab ya, sedangkan </a:t>
            </a:r>
            <a:r>
              <a:rPr lang="en-US" dirty="0">
                <a:latin typeface="Consolas"/>
              </a:rPr>
              <a:t>is</a:t>
            </a:r>
            <a:r>
              <a:rPr lang="id-ID" dirty="0"/>
              <a:t> di Python dan </a:t>
            </a:r>
            <a:r>
              <a:rPr lang="en-US" dirty="0">
                <a:latin typeface="Consolas"/>
              </a:rPr>
              <a:t>==</a:t>
            </a:r>
            <a:r>
              <a:rPr lang="id-ID" dirty="0"/>
              <a:t> di Java menjawab tidak.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belajar koleksi dan </a:t>
            </a:r>
            <a:r>
              <a:rPr lang="id-ID" dirty="0" i="1"/>
              <a:t>generics</a:t>
            </a:r>
            <a:r>
              <a:rPr lang="id-ID" dirty="0"/>
              <a:t>. Ajak kelas menebak dulu: mengapa anggapan di kiri salah? Untuk yang kedua, Python mencabut kode </a:t>
            </a:r>
            <a:r>
              <a:rPr lang="id-ID" dirty="0" i="1"/>
              <a:t>hash</a:t>
            </a:r>
            <a:r>
              <a:rPr lang="id-ID" dirty="0"/>
              <a:t> bawaan begitu </a:t>
            </a:r>
            <a:r>
              <a:rPr lang="en-US" dirty="0">
                <a:latin typeface="Consolas"/>
              </a:rPr>
              <a:t>__eq__</a:t>
            </a:r>
            <a:r>
              <a:rPr lang="id-ID" dirty="0"/>
              <a:t> ditulis sehingga muncul </a:t>
            </a:r>
            <a:r>
              <a:rPr lang="en-US" dirty="0">
                <a:latin typeface="Consolas"/>
              </a:rPr>
              <a:t>TypeError: unhashable type</a:t>
            </a:r>
            <a:r>
              <a:rPr lang="id-ID" dirty="0"/>
              <a:t>, sedangkan Java tidak memprotes apa pun. Tiga miskonsepsi lain dibahas di bagian 10 halaman konsep: map dianggap hanya </a:t>
            </a:r>
            <a:r>
              <a:rPr lang="id-ID" dirty="0" i="1"/>
              <a:t>list</a:t>
            </a:r>
            <a:r>
              <a:rPr lang="id-ID" dirty="0"/>
              <a:t> berisi pasangan, </a:t>
            </a:r>
            <a:r>
              <a:rPr lang="id-ID" dirty="0" i="1"/>
              <a:t>lambda</a:t>
            </a:r>
            <a:r>
              <a:rPr lang="id-ID" dirty="0"/>
              <a:t> dianggap fitur rumit yang harus dihafal, dan satu kelas dianggap hanya bisa diurutkan dengan satu cara.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cara memilih koleksi, persis seperti diagram tiga pertanyaan tadi. Beri waktu sekitar 30 detik untuk berpikir, lalu minta mahasiswa mengangkat tangan sesuai pilihannya.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Set menolak data kembar dan memeriksa keanggotaan dengan cepat lewat kode </a:t>
            </a:r>
            <a:r>
              <a:rPr lang="id-ID" dirty="0" i="1"/>
              <a:t>hash</a:t>
            </a:r>
            <a:r>
              <a:rPr lang="id-ID" dirty="0"/>
              <a:t>. </a:t>
            </a:r>
            <a:r>
              <a:rPr lang="id-ID" dirty="0" i="1"/>
              <a:t>List</a:t>
            </a:r>
            <a:r>
              <a:rPr lang="id-ID" dirty="0"/>
              <a:t> (A) menyimpan hasil pindai ganda sehingga peserta dihitung dua kali, dan pemeriksaannya satu per satu. </a:t>
            </a:r>
            <a:r>
              <a:rPr lang="id-ID" dirty="0" i="1"/>
              <a:t>Tuple</a:t>
            </a:r>
            <a:r>
              <a:rPr lang="id-ID" dirty="0"/>
              <a:t> (C) tidak bisa ditambah saat peserta baru datang. Map dengan kunci nomor urut pindai (D) tetap menyimpan NIM yang sama berkali-kali.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perbedaan urutan alami dan urutan khusus. Ingatkan kelas pada contoh lomba lari: urutan alaminya tercepat dulu, tetapi absensi tetap bisa diurutkan menurut nama tanpa mengubah kelas </a:t>
            </a:r>
            <a:r>
              <a:rPr lang="en-US" dirty="0">
                <a:latin typeface="Consolas"/>
              </a:rPr>
              <a:t>Pelari</a:t>
            </a:r>
            <a:r>
              <a:rPr lang="id-ID" dirty="0"/>
              <a:t>.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Urutan khusus diberikan dari luar kelas, dan jumlahnya boleh sebanyak yang dibutuhkan, misalnya </a:t>
            </a:r>
            <a:r>
              <a:rPr lang="en-US" dirty="0">
                <a:latin typeface="Consolas"/>
              </a:rPr>
              <a:t>sorted(daftar, key=lambda m: m.ipk, reverse=True)</a:t>
            </a:r>
            <a:r>
              <a:rPr lang="id-ID" dirty="0"/>
              <a:t> atau </a:t>
            </a:r>
            <a:r>
              <a:rPr lang="en-US" dirty="0">
                <a:latin typeface="Consolas"/>
              </a:rPr>
              <a:t>Comparator.comparing(Mahasiswa::getIpk).reversed()</a:t>
            </a:r>
            <a:r>
              <a:rPr lang="id-ID" dirty="0"/>
              <a:t>. Pilihan A merusak urutan alami yang dipakai bagian program lain. Pilihan C berlebihan. Pilihan D hanya membalik urutan NIM.</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Satu lagi: </a:t>
            </a:r>
            <a:r>
              <a:rPr lang="id-ID" dirty="0" i="1"/>
              <a:t>lambda</a:t>
            </a:r>
            <a:r>
              <a:rPr lang="id-ID" dirty="0"/>
              <a:t> adalah fungsi kecil tanpa nama, misalnya </a:t>
            </a:r>
            <a:r>
              <a:rPr lang="en-US" dirty="0">
                <a:latin typeface="Consolas"/>
              </a:rPr>
              <a:t>lambda m: m.harga</a:t>
            </a:r>
            <a:r>
              <a:rPr lang="id-ID" dirty="0"/>
              <a:t> di Python dan </a:t>
            </a:r>
            <a:r>
              <a:rPr lang="en-US" dirty="0">
                <a:latin typeface="Consolas"/>
              </a:rPr>
              <a:t>m -&gt; m.getHarga()</a:t>
            </a:r>
            <a:r>
              <a:rPr lang="id-ID" dirty="0"/>
              <a:t> di Java. Kalau ada yang masih terasa samar, baca lagi bagian yang sesuai di halaman konsep, lalu jalankan contohnya di halaman praktik. Pertemuan berikutnya kita belajar prinsip SOLID.</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Pertemuan-12-Koleksi-dan-Generics di GitHub. Simpan semua percobaanmu di folder PBO-latihan-saya/pertemuan-12, bukan di folder materi. Untuk percobaan pada studi kasus, salin seluruh folder studi-kasus karena </a:t>
            </a:r>
            <a:r>
              <a:rPr lang="id-ID" dirty="0" i="1"/>
              <a:t>file-file</a:t>
            </a:r>
            <a:r>
              <a:rPr lang="id-ID" dirty="0"/>
              <a:t>-nya saling membutuhkan. Contoh 09 tentang jebakan kelas pembungkus </a:t>
            </a:r>
            <a:r>
              <a:rPr lang="en-US" dirty="0">
                <a:latin typeface="Consolas"/>
              </a:rPr>
              <a:t>Integer</a:t>
            </a:r>
            <a:r>
              <a:rPr lang="id-ID" dirty="0"/>
              <a:t> khusus untuk jalur Java. Sampai jumpa di Pertemuan 13.</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12 · Koleksi dan </a:t>
            </a:r>
            <a:r>
              <a:rPr lang="en-US" sz="1100" dirty="0" i="1">
                <a:solidFill>
                  <a:srgbClr val="9FB3C8"/>
                </a:solidFill>
              </a:rPr>
              <a:t>Generics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12 · Koleksi dan </a:t>
            </a:r>
            <a:r>
              <a:rPr lang="en-US" sz="1100" dirty="0" i="1">
                <a:solidFill>
                  <a:srgbClr val="57606A"/>
                </a:solidFill>
              </a:rPr>
              <a:t>Generics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12 · Koleksi dan </a:t>
            </a:r>
            <a:r>
              <a:rPr lang="en-US" sz="1100" dirty="0" i="1">
                <a:solidFill>
                  <a:srgbClr val="9FB3C8"/>
                </a:solidFill>
              </a:rPr>
              <a:t>Generics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2-Koleksi-dan-Generics/README.md" TargetMode="External"/><Relationship Id="rId5" Type="http://schemas.openxmlformats.org/officeDocument/2006/relationships/hyperlink" Target="https://github.com/antonprafanto/PBO2026/blob/master/Pertemuan-12-Koleksi-dan-Generics/python/README.md" TargetMode="External"/><Relationship Id="rId7" Type="http://schemas.openxmlformats.org/officeDocument/2006/relationships/hyperlink" Target="https://github.com/antonprafanto/PBO2026/blob/master/Pertemuan-12-Koleksi-dan-Generics/java/README.md" TargetMode="External"/><Relationship Id="rId9" Type="http://schemas.openxmlformats.org/officeDocument/2006/relationships/hyperlink" Target="https://github.com/antonprafanto/PBO2026/blob/master/Pertemuan-12-Koleksi-dan-Generics/jembatan-python-java.md" TargetMode="External"/><Relationship Id="rId11" Type="http://schemas.openxmlformats.org/officeDocument/2006/relationships/hyperlink" Target="https://github.com/antonprafanto/PBO2026/blob/master/Pertemuan-12-Koleksi-dan-Generics/latihan.md" TargetMode="External"/><Relationship Id="rId13" Type="http://schemas.openxmlformats.org/officeDocument/2006/relationships/hyperlink" Target="https://github.com/antonprafanto/PBO2026/blob/master/Pertemuan-12-Koleksi-dan-Generics/kuis.md" TargetMode="External"/><Relationship Id="rId15" Type="http://schemas.openxmlformats.org/officeDocument/2006/relationships/hyperlink" Target="https://github.com/antonprafanto/PBO2026/tree/master/Pertemuan-12-Koleksi-dan-Generics"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Koleksi dan </a:t>
            </a:r>
            <a:r>
              <a:rPr lang="id-ID" altLang="en-US" sz="4800" b="1" i="1" dirty="0">
                <a:solidFill>
                  <a:srgbClr val="FFFFFF"/>
                </a:solidFill>
              </a:rPr>
              <a:t>Generics</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Memilih wadah yang tepat untuk banyak objek, lalu memberinya label tipe agar tidak salah isi</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12</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119378"/>
          </a:xfrm>
          <a:prstGeom prst="roundRect">
            <a:avLst>
              <a:gd name="adj" fmla="val 8008"/>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845058"/>
          </a:xfrm>
          <a:prstGeom prst="rect">
            <a:avLst/>
          </a:prstGeom>
          <a:noFill/>
          <a:ln/>
        </p:spPr>
        <p:txBody>
          <a:bodyPr wrap="square" lIns="0" tIns="0" rIns="0" bIns="0" rtlCol="0" anchor="t"/>
          <a:lstStyle/>
          <a:p>
            <a:pPr indent="0" marL="0">
              <a:buNone/>
            </a:pPr>
            <a:r>
              <a:rPr lang="id-ID" altLang="en-US" sz="1700" dirty="0">
                <a:solidFill>
                  <a:srgbClr val="1F2328"/>
                </a:solidFill>
              </a:rPr>
              <a:t>Menjelaskan ciri empat koleksi utama (</a:t>
            </a:r>
            <a:r>
              <a:rPr lang="id-ID" altLang="en-US" sz="1700" i="1" dirty="0">
                <a:solidFill>
                  <a:srgbClr val="1F2328"/>
                </a:solidFill>
              </a:rPr>
              <a:t>list</a:t>
            </a:r>
            <a:r>
              <a:rPr lang="id-ID" altLang="en-US" sz="1700" dirty="0">
                <a:solidFill>
                  <a:srgbClr val="1F2328"/>
                </a:solidFill>
              </a:rPr>
              <a:t>, </a:t>
            </a:r>
            <a:r>
              <a:rPr lang="id-ID" altLang="en-US" sz="1700" i="1" dirty="0">
                <a:solidFill>
                  <a:srgbClr val="1F2328"/>
                </a:solidFill>
              </a:rPr>
              <a:t>tuple</a:t>
            </a:r>
            <a:r>
              <a:rPr lang="id-ID" altLang="en-US" sz="1700" dirty="0">
                <a:solidFill>
                  <a:srgbClr val="1F2328"/>
                </a:solidFill>
              </a:rPr>
              <a:t>, set, dan map/dict) lalu memilih yang tepat untuk sebuah kebutuhan.</a:t>
            </a:r>
            <a:endParaRPr lang="id-ID" sz="1700" dirty="0"/>
          </a:p>
        </p:txBody>
      </p:sp>
      <p:sp>
        <p:nvSpPr>
          <p:cNvPr id="10" name="Shape 7"/>
          <p:cNvSpPr/>
          <p:nvPr/>
        </p:nvSpPr>
        <p:spPr>
          <a:xfrm>
            <a:off x="6210148" y="1920240"/>
            <a:ext cx="5432908" cy="1119378"/>
          </a:xfrm>
          <a:prstGeom prst="roundRect">
            <a:avLst>
              <a:gd name="adj" fmla="val 8008"/>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845058"/>
          </a:xfrm>
          <a:prstGeom prst="rect">
            <a:avLst/>
          </a:prstGeom>
          <a:noFill/>
          <a:ln/>
        </p:spPr>
        <p:txBody>
          <a:bodyPr wrap="square" lIns="0" tIns="0" rIns="0" bIns="0" rtlCol="0" anchor="t"/>
          <a:lstStyle/>
          <a:p>
            <a:pPr indent="0" marL="0">
              <a:buNone/>
            </a:pPr>
            <a:r>
              <a:rPr lang="id-ID" altLang="en-US" sz="1700" dirty="0">
                <a:solidFill>
                  <a:srgbClr val="1F2328"/>
                </a:solidFill>
              </a:rPr>
              <a:t>Membedakan </a:t>
            </a:r>
            <a:r>
              <a:rPr lang="id-ID" altLang="en-US" sz="1700" i="1" dirty="0">
                <a:solidFill>
                  <a:srgbClr val="1F2328"/>
                </a:solidFill>
              </a:rPr>
              <a:t>interface</a:t>
            </a:r>
            <a:r>
              <a:rPr lang="id-ID" altLang="en-US" sz="1700" dirty="0">
                <a:solidFill>
                  <a:srgbClr val="1F2328"/>
                </a:solidFill>
              </a:rPr>
              <a:t> koleksi dengan wujudnya, dan menjelaskan mengapa urutan isi </a:t>
            </a:r>
            <a:r>
              <a:rPr lang="id-ID" altLang="en-US" sz="1700" dirty="0">
                <a:solidFill>
                  <a:srgbClr val="1F2328"/>
                </a:solidFill>
                <a:latin typeface="Consolas" pitchFamily="34" charset="0"/>
                <a:ea typeface="Consolas" pitchFamily="34" charset="-122"/>
                <a:cs typeface="Consolas" pitchFamily="34" charset="-120"/>
              </a:rPr>
              <a:t>HashSet</a:t>
            </a:r>
            <a:r>
              <a:rPr lang="id-ID" altLang="en-US" sz="1700" dirty="0">
                <a:solidFill>
                  <a:srgbClr val="1F2328"/>
                </a:solidFill>
              </a:rPr>
              <a:t>/</a:t>
            </a:r>
            <a:r>
              <a:rPr lang="id-ID" altLang="en-US" sz="1700" dirty="0">
                <a:solidFill>
                  <a:srgbClr val="1F2328"/>
                </a:solidFill>
                <a:latin typeface="Consolas" pitchFamily="34" charset="0"/>
                <a:ea typeface="Consolas" pitchFamily="34" charset="-122"/>
                <a:cs typeface="Consolas" pitchFamily="34" charset="-120"/>
              </a:rPr>
              <a:t>HashMap</a:t>
            </a:r>
            <a:r>
              <a:rPr lang="id-ID" altLang="en-US" sz="1700" dirty="0">
                <a:solidFill>
                  <a:srgbClr val="1F2328"/>
                </a:solidFill>
              </a:rPr>
              <a:t> tidak boleh diandalkan.</a:t>
            </a:r>
            <a:endParaRPr lang="id-ID" sz="1700" dirty="0"/>
          </a:p>
        </p:txBody>
      </p:sp>
      <p:sp>
        <p:nvSpPr>
          <p:cNvPr id="14" name="Shape 11"/>
          <p:cNvSpPr/>
          <p:nvPr/>
        </p:nvSpPr>
        <p:spPr>
          <a:xfrm>
            <a:off x="548640" y="3222498"/>
            <a:ext cx="5432908" cy="1119378"/>
          </a:xfrm>
          <a:prstGeom prst="roundRect">
            <a:avLst>
              <a:gd name="adj" fmla="val 8008"/>
            </a:avLst>
          </a:prstGeom>
          <a:solidFill>
            <a:srgbClr val="F6F8FA"/>
          </a:solidFill>
          <a:ln w="9525">
            <a:solidFill>
              <a:srgbClr val="D0D7DE"/>
            </a:solidFill>
            <a:prstDash val="solid"/>
          </a:ln>
        </p:spPr>
      </p:sp>
      <p:sp>
        <p:nvSpPr>
          <p:cNvPr id="15" name="Shape 12"/>
          <p:cNvSpPr/>
          <p:nvPr/>
        </p:nvSpPr>
        <p:spPr>
          <a:xfrm>
            <a:off x="777240" y="3387090"/>
            <a:ext cx="457200" cy="457200"/>
          </a:xfrm>
          <a:prstGeom prst="ellipse">
            <a:avLst/>
          </a:prstGeom>
          <a:solidFill>
            <a:srgbClr val="0969DA"/>
          </a:solidFill>
          <a:ln/>
        </p:spPr>
      </p:sp>
      <p:sp>
        <p:nvSpPr>
          <p:cNvPr id="16" name="Text 13"/>
          <p:cNvSpPr txBox="1"/>
          <p:nvPr/>
        </p:nvSpPr>
        <p:spPr>
          <a:xfrm>
            <a:off x="777240" y="338709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387090"/>
            <a:ext cx="4381348" cy="845058"/>
          </a:xfrm>
          <a:prstGeom prst="rect">
            <a:avLst/>
          </a:prstGeom>
          <a:noFill/>
          <a:ln/>
        </p:spPr>
        <p:txBody>
          <a:bodyPr wrap="square" lIns="0" tIns="0" rIns="0" bIns="0" rtlCol="0" anchor="t"/>
          <a:lstStyle/>
          <a:p>
            <a:pPr indent="0" marL="0">
              <a:buNone/>
            </a:pPr>
            <a:r>
              <a:rPr lang="id-ID" altLang="en-US" sz="1700" dirty="0">
                <a:solidFill>
                  <a:srgbClr val="1F2328"/>
                </a:solidFill>
              </a:rPr>
              <a:t>Mengurutkan objek dengan </a:t>
            </a:r>
            <a:r>
              <a:rPr lang="id-ID" altLang="en-US" sz="1700" b="1" dirty="0">
                <a:solidFill>
                  <a:srgbClr val="1F2328"/>
                </a:solidFill>
              </a:rPr>
              <a:t>urutan alami</a:t>
            </a:r>
            <a:r>
              <a:rPr lang="id-ID" altLang="en-US" sz="1700" dirty="0">
                <a:solidFill>
                  <a:srgbClr val="1F2328"/>
                </a:solidFill>
              </a:rPr>
              <a:t> maupun </a:t>
            </a:r>
            <a:r>
              <a:rPr lang="id-ID" altLang="en-US" sz="1700" b="1" dirty="0">
                <a:solidFill>
                  <a:srgbClr val="1F2328"/>
                </a:solidFill>
              </a:rPr>
              <a:t>urutan khusus</a:t>
            </a:r>
            <a:r>
              <a:rPr lang="id-ID" altLang="en-US" sz="1700" dirty="0">
                <a:solidFill>
                  <a:srgbClr val="1F2328"/>
                </a:solidFill>
              </a:rPr>
              <a:t>, termasuk memakai </a:t>
            </a:r>
            <a:r>
              <a:rPr lang="id-ID" altLang="en-US" sz="1700" i="1" dirty="0">
                <a:solidFill>
                  <a:srgbClr val="1F2328"/>
                </a:solidFill>
              </a:rPr>
              <a:t>lambda</a:t>
            </a:r>
            <a:r>
              <a:rPr lang="id-ID" altLang="en-US" sz="1700" dirty="0">
                <a:solidFill>
                  <a:srgbClr val="1F2328"/>
                </a:solidFill>
              </a:rPr>
              <a:t>.</a:t>
            </a:r>
            <a:endParaRPr lang="id-ID" sz="1700" dirty="0"/>
          </a:p>
        </p:txBody>
      </p:sp>
      <p:sp>
        <p:nvSpPr>
          <p:cNvPr id="18" name="Shape 15"/>
          <p:cNvSpPr/>
          <p:nvPr/>
        </p:nvSpPr>
        <p:spPr>
          <a:xfrm>
            <a:off x="6210148" y="3222498"/>
            <a:ext cx="5432908" cy="1119378"/>
          </a:xfrm>
          <a:prstGeom prst="roundRect">
            <a:avLst>
              <a:gd name="adj" fmla="val 8008"/>
            </a:avLst>
          </a:prstGeom>
          <a:solidFill>
            <a:srgbClr val="F6F8FA"/>
          </a:solidFill>
          <a:ln w="9525">
            <a:solidFill>
              <a:srgbClr val="D0D7DE"/>
            </a:solidFill>
            <a:prstDash val="solid"/>
          </a:ln>
        </p:spPr>
      </p:sp>
      <p:sp>
        <p:nvSpPr>
          <p:cNvPr id="19" name="Shape 16"/>
          <p:cNvSpPr/>
          <p:nvPr/>
        </p:nvSpPr>
        <p:spPr>
          <a:xfrm>
            <a:off x="6438748" y="3387090"/>
            <a:ext cx="457200" cy="457200"/>
          </a:xfrm>
          <a:prstGeom prst="ellipse">
            <a:avLst/>
          </a:prstGeom>
          <a:solidFill>
            <a:srgbClr val="0969DA"/>
          </a:solidFill>
          <a:ln/>
        </p:spPr>
      </p:sp>
      <p:sp>
        <p:nvSpPr>
          <p:cNvPr id="20" name="Text 17"/>
          <p:cNvSpPr txBox="1"/>
          <p:nvPr/>
        </p:nvSpPr>
        <p:spPr>
          <a:xfrm>
            <a:off x="6438748" y="338709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387090"/>
            <a:ext cx="4381348" cy="845058"/>
          </a:xfrm>
          <a:prstGeom prst="rect">
            <a:avLst/>
          </a:prstGeom>
          <a:noFill/>
          <a:ln/>
        </p:spPr>
        <p:txBody>
          <a:bodyPr wrap="square" lIns="0" tIns="0" rIns="0" bIns="0" rtlCol="0" anchor="t"/>
          <a:lstStyle/>
          <a:p>
            <a:pPr indent="0" marL="0">
              <a:buNone/>
            </a:pPr>
            <a:r>
              <a:rPr lang="id-ID" altLang="en-US" sz="1700" dirty="0">
                <a:solidFill>
                  <a:srgbClr val="1F2328"/>
                </a:solidFill>
              </a:rPr>
              <a:t>Menjelaskan aturan kesamaan objek dan alasan </a:t>
            </a:r>
            <a:r>
              <a:rPr lang="id-ID" altLang="en-US" sz="1700" dirty="0">
                <a:solidFill>
                  <a:srgbClr val="1F2328"/>
                </a:solidFill>
                <a:latin typeface="Consolas" pitchFamily="34" charset="0"/>
                <a:ea typeface="Consolas" pitchFamily="34" charset="-122"/>
                <a:cs typeface="Consolas" pitchFamily="34" charset="-120"/>
              </a:rPr>
              <a:t>__eq__</a:t>
            </a:r>
            <a:r>
              <a:rPr lang="id-ID" altLang="en-US" sz="1700" dirty="0">
                <a:solidFill>
                  <a:srgbClr val="1F2328"/>
                </a:solidFill>
              </a:rPr>
              <a:t>/</a:t>
            </a:r>
            <a:r>
              <a:rPr lang="id-ID" altLang="en-US" sz="1700" dirty="0">
                <a:solidFill>
                  <a:srgbClr val="1F2328"/>
                </a:solidFill>
                <a:latin typeface="Consolas" pitchFamily="34" charset="0"/>
                <a:ea typeface="Consolas" pitchFamily="34" charset="-122"/>
                <a:cs typeface="Consolas" pitchFamily="34" charset="-120"/>
              </a:rPr>
              <a:t>equals</a:t>
            </a:r>
            <a:r>
              <a:rPr lang="id-ID" altLang="en-US" sz="1700" dirty="0">
                <a:solidFill>
                  <a:srgbClr val="1F2328"/>
                </a:solidFill>
              </a:rPr>
              <a:t> harus berpasangan dengan </a:t>
            </a:r>
            <a:r>
              <a:rPr lang="id-ID" altLang="en-US" sz="1700" dirty="0">
                <a:solidFill>
                  <a:srgbClr val="1F2328"/>
                </a:solidFill>
                <a:latin typeface="Consolas" pitchFamily="34" charset="0"/>
                <a:ea typeface="Consolas" pitchFamily="34" charset="-122"/>
                <a:cs typeface="Consolas" pitchFamily="34" charset="-120"/>
              </a:rPr>
              <a:t>__hash__</a:t>
            </a:r>
            <a:r>
              <a:rPr lang="id-ID" altLang="en-US" sz="1700" dirty="0">
                <a:solidFill>
                  <a:srgbClr val="1F2328"/>
                </a:solidFill>
              </a:rPr>
              <a:t>/</a:t>
            </a:r>
            <a:r>
              <a:rPr lang="id-ID" altLang="en-US" sz="1700" dirty="0">
                <a:solidFill>
                  <a:srgbClr val="1F2328"/>
                </a:solidFill>
                <a:latin typeface="Consolas" pitchFamily="34" charset="0"/>
                <a:ea typeface="Consolas" pitchFamily="34" charset="-122"/>
                <a:cs typeface="Consolas" pitchFamily="34" charset="-120"/>
              </a:rPr>
              <a:t>hashCode</a:t>
            </a:r>
            <a:r>
              <a:rPr lang="id-ID" altLang="en-US" sz="1700" dirty="0">
                <a:solidFill>
                  <a:srgbClr val="1F2328"/>
                </a:solidFill>
              </a:rPr>
              <a:t>.</a:t>
            </a:r>
            <a:endParaRPr lang="id-ID" sz="1700" dirty="0"/>
          </a:p>
        </p:txBody>
      </p:sp>
      <p:sp>
        <p:nvSpPr>
          <p:cNvPr id="22" name="Shape 19"/>
          <p:cNvSpPr/>
          <p:nvPr/>
        </p:nvSpPr>
        <p:spPr>
          <a:xfrm>
            <a:off x="548640" y="4524756"/>
            <a:ext cx="5432908" cy="1382776"/>
          </a:xfrm>
          <a:prstGeom prst="roundRect">
            <a:avLst>
              <a:gd name="adj" fmla="val 5247"/>
            </a:avLst>
          </a:prstGeom>
          <a:solidFill>
            <a:srgbClr val="F6F8FA"/>
          </a:solidFill>
          <a:ln w="9525">
            <a:solidFill>
              <a:srgbClr val="D0D7DE"/>
            </a:solidFill>
            <a:prstDash val="solid"/>
          </a:ln>
        </p:spPr>
      </p:sp>
      <p:sp>
        <p:nvSpPr>
          <p:cNvPr id="23" name="Shape 20"/>
          <p:cNvSpPr/>
          <p:nvPr/>
        </p:nvSpPr>
        <p:spPr>
          <a:xfrm>
            <a:off x="777240" y="4689348"/>
            <a:ext cx="457200" cy="457200"/>
          </a:xfrm>
          <a:prstGeom prst="ellipse">
            <a:avLst/>
          </a:prstGeom>
          <a:solidFill>
            <a:srgbClr val="0969DA"/>
          </a:solidFill>
          <a:ln/>
        </p:spPr>
      </p:sp>
      <p:sp>
        <p:nvSpPr>
          <p:cNvPr id="24" name="Text 21"/>
          <p:cNvSpPr txBox="1"/>
          <p:nvPr/>
        </p:nvSpPr>
        <p:spPr>
          <a:xfrm>
            <a:off x="777240" y="468934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689348"/>
            <a:ext cx="4381348" cy="1108456"/>
          </a:xfrm>
          <a:prstGeom prst="rect">
            <a:avLst/>
          </a:prstGeom>
          <a:noFill/>
          <a:ln/>
        </p:spPr>
        <p:txBody>
          <a:bodyPr wrap="square" lIns="0" tIns="0" rIns="0" bIns="0" rtlCol="0" anchor="t"/>
          <a:lstStyle/>
          <a:p>
            <a:pPr indent="0" marL="0">
              <a:buNone/>
            </a:pPr>
            <a:r>
              <a:rPr lang="id-ID" altLang="en-US" sz="1700" dirty="0">
                <a:solidFill>
                  <a:srgbClr val="1F2328"/>
                </a:solidFill>
              </a:rPr>
              <a:t>Membuat dan memakai kelas generik </a:t>
            </a:r>
            <a:r>
              <a:rPr lang="id-ID" altLang="en-US" sz="1700" dirty="0">
                <a:solidFill>
                  <a:srgbClr val="1F2328"/>
                </a:solidFill>
                <a:latin typeface="Consolas" pitchFamily="34" charset="0"/>
                <a:ea typeface="Consolas" pitchFamily="34" charset="-122"/>
                <a:cs typeface="Consolas" pitchFamily="34" charset="-120"/>
              </a:rPr>
              <a:t>Pasangan[A, B]</a:t>
            </a:r>
            <a:r>
              <a:rPr lang="id-ID" altLang="en-US" sz="1700" dirty="0">
                <a:solidFill>
                  <a:srgbClr val="1F2328"/>
                </a:solidFill>
              </a:rPr>
              <a:t> / </a:t>
            </a:r>
            <a:r>
              <a:rPr lang="id-ID" altLang="en-US" sz="1700" dirty="0">
                <a:solidFill>
                  <a:srgbClr val="1F2328"/>
                </a:solidFill>
                <a:latin typeface="Consolas" pitchFamily="34" charset="0"/>
                <a:ea typeface="Consolas" pitchFamily="34" charset="-122"/>
                <a:cs typeface="Consolas" pitchFamily="34" charset="-120"/>
              </a:rPr>
              <a:t>Pasangan&lt;A, B&gt;</a:t>
            </a:r>
            <a:r>
              <a:rPr lang="id-ID" altLang="en-US" sz="1700" dirty="0">
                <a:solidFill>
                  <a:srgbClr val="1F2328"/>
                </a:solidFill>
              </a:rPr>
              <a:t>, serta membandingkan pemeriksaan tipe di Python dan Java.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05: </a:t>
            </a:r>
            <a:r>
              <a:rPr lang="id-ID" altLang="en-US" sz="2400" i="1" dirty="0">
                <a:solidFill>
                  <a:srgbClr val="1F2328"/>
                </a:solidFill>
              </a:rPr>
              <a:t>list</a:t>
            </a:r>
            <a:r>
              <a:rPr lang="id-ID" altLang="en-US" sz="2400" dirty="0">
                <a:solidFill>
                  <a:srgbClr val="1F2328"/>
                </a:solidFill>
              </a:rPr>
              <a:t> berisi objek, yaitu </a:t>
            </a:r>
            <a:r>
              <a:rPr lang="id-ID" altLang="en-US" sz="2400" dirty="0">
                <a:solidFill>
                  <a:srgbClr val="1F2328"/>
                </a:solidFill>
                <a:latin typeface="Consolas" pitchFamily="34" charset="0"/>
                <a:ea typeface="Consolas" pitchFamily="34" charset="-122"/>
                <a:cs typeface="Consolas" pitchFamily="34" charset="-120"/>
              </a:rPr>
              <a:t>list</a:t>
            </a:r>
            <a:r>
              <a:rPr lang="id-ID" altLang="en-US" sz="2400" dirty="0">
                <a:solidFill>
                  <a:srgbClr val="1F2328"/>
                </a:solidFill>
              </a:rPr>
              <a:t> di Python dan </a:t>
            </a:r>
            <a:r>
              <a:rPr lang="id-ID" altLang="en-US" sz="2400" dirty="0">
                <a:solidFill>
                  <a:srgbClr val="1F2328"/>
                </a:solidFill>
                <a:latin typeface="Consolas" pitchFamily="34" charset="0"/>
                <a:ea typeface="Consolas" pitchFamily="34" charset="-122"/>
                <a:cs typeface="Consolas" pitchFamily="34" charset="-120"/>
              </a:rPr>
              <a:t>ArrayList</a:t>
            </a:r>
            <a:r>
              <a:rPr lang="id-ID" altLang="en-US" sz="2400" dirty="0">
                <a:solidFill>
                  <a:srgbClr val="1F2328"/>
                </a:solidFill>
              </a:rPr>
              <a:t> di Java. </a:t>
            </a:r>
            <a:r>
              <a:rPr lang="id-ID" altLang="en-US" sz="2400" dirty="0">
                <a:solidFill>
                  <a:srgbClr val="1F2328"/>
                </a:solidFill>
                <a:latin typeface="Consolas" pitchFamily="34" charset="0"/>
                <a:ea typeface="Consolas" pitchFamily="34" charset="-122"/>
                <a:cs typeface="Consolas" pitchFamily="34" charset="-120"/>
              </a:rPr>
              <a:t>List&lt;Menu&gt;</a:t>
            </a:r>
            <a:r>
              <a:rPr lang="id-ID" altLang="en-US" sz="2400" dirty="0">
                <a:solidFill>
                  <a:srgbClr val="1F2328"/>
                </a:solidFill>
              </a:rPr>
              <a:t> dibaca “</a:t>
            </a:r>
            <a:r>
              <a:rPr lang="id-ID" altLang="en-US" sz="2400" i="1" dirty="0">
                <a:solidFill>
                  <a:srgbClr val="1F2328"/>
                </a:solidFill>
              </a:rPr>
              <a:t>list</a:t>
            </a:r>
            <a:r>
              <a:rPr lang="id-ID" altLang="en-US" sz="2400" dirty="0">
                <a:solidFill>
                  <a:srgbClr val="1F2328"/>
                </a:solidFill>
              </a:rPr>
              <a:t> berisi </a:t>
            </a:r>
            <a:r>
              <a:rPr lang="id-ID" altLang="en-US" sz="2400" dirty="0">
                <a:solidFill>
                  <a:srgbClr val="1F2328"/>
                </a:solidFill>
                <a:latin typeface="Consolas" pitchFamily="34" charset="0"/>
                <a:ea typeface="Consolas" pitchFamily="34" charset="-122"/>
                <a:cs typeface="Consolas" pitchFamily="34" charset="-120"/>
              </a:rPr>
              <a:t>Menu</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07: secara bawaan, dua objek dianggap sama </a:t>
            </a:r>
            <a:r>
              <a:rPr lang="id-ID" altLang="en-US" sz="2400" b="1" dirty="0">
                <a:solidFill>
                  <a:srgbClr val="1F2328"/>
                </a:solidFill>
              </a:rPr>
              <a:t>hanya jika</a:t>
            </a:r>
            <a:r>
              <a:rPr lang="id-ID" altLang="en-US" sz="2400" dirty="0">
                <a:solidFill>
                  <a:srgbClr val="1F2328"/>
                </a:solidFill>
              </a:rPr>
              <a:t> keduanya objek yang sama persis.</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10: </a:t>
            </a:r>
            <a:r>
              <a:rPr lang="id-ID" altLang="en-US" sz="2400" i="1" dirty="0">
                <a:solidFill>
                  <a:srgbClr val="1F2328"/>
                </a:solidFill>
              </a:rPr>
              <a:t>interface</a:t>
            </a:r>
            <a:r>
              <a:rPr lang="id-ID" altLang="en-US" sz="2400" dirty="0">
                <a:solidFill>
                  <a:srgbClr val="1F2328"/>
                </a:solidFill>
              </a:rPr>
              <a:t> adalah </a:t>
            </a:r>
            <a:r>
              <a:rPr lang="id-ID" altLang="en-US" sz="2400" b="1" dirty="0">
                <a:solidFill>
                  <a:srgbClr val="1F2328"/>
                </a:solidFill>
              </a:rPr>
              <a:t>kontrak</a:t>
            </a:r>
            <a:r>
              <a:rPr lang="id-ID" altLang="en-US" sz="2400" dirty="0">
                <a:solidFill>
                  <a:srgbClr val="1F2328"/>
                </a:solidFill>
              </a:rPr>
              <a:t>. Di Java, </a:t>
            </a:r>
            <a:r>
              <a:rPr lang="id-ID" altLang="en-US" sz="2400" dirty="0">
                <a:solidFill>
                  <a:srgbClr val="1F2328"/>
                </a:solidFill>
                <a:latin typeface="Consolas" pitchFamily="34" charset="0"/>
                <a:ea typeface="Consolas" pitchFamily="34" charset="-122"/>
                <a:cs typeface="Consolas" pitchFamily="34" charset="-120"/>
              </a:rPr>
              <a:t>List</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Set</a:t>
            </a:r>
            <a:r>
              <a:rPr lang="id-ID" altLang="en-US" sz="2400" dirty="0">
                <a:solidFill>
                  <a:srgbClr val="1F2328"/>
                </a:solidFill>
              </a:rPr>
              <a:t>, dan </a:t>
            </a:r>
            <a:r>
              <a:rPr lang="id-ID" altLang="en-US" sz="2400" dirty="0">
                <a:solidFill>
                  <a:srgbClr val="1F2328"/>
                </a:solidFill>
                <a:latin typeface="Consolas" pitchFamily="34" charset="0"/>
                <a:ea typeface="Consolas" pitchFamily="34" charset="-122"/>
                <a:cs typeface="Consolas" pitchFamily="34" charset="-120"/>
              </a:rPr>
              <a:t>Map</a:t>
            </a:r>
            <a:r>
              <a:rPr lang="id-ID" altLang="en-US" sz="2400" dirty="0">
                <a:solidFill>
                  <a:srgbClr val="1F2328"/>
                </a:solidFill>
              </a:rPr>
              <a:t> ternyata juga </a:t>
            </a:r>
            <a:r>
              <a:rPr lang="id-ID" altLang="en-US" sz="2400" i="1" dirty="0">
                <a:solidFill>
                  <a:srgbClr val="1F2328"/>
                </a:solidFill>
              </a:rPr>
              <a:t>interface</a:t>
            </a:r>
            <a:r>
              <a:rPr lang="id-ID" altLang="en-US" sz="2400" dirty="0">
                <a:solidFill>
                  <a:srgbClr val="1F2328"/>
                </a:solidFill>
              </a:rPr>
              <a:t>.</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11: </a:t>
            </a:r>
            <a:r>
              <a:rPr lang="id-ID" altLang="en-US" sz="2400" dirty="0">
                <a:solidFill>
                  <a:srgbClr val="1F2328"/>
                </a:solidFill>
                <a:latin typeface="Consolas" pitchFamily="34" charset="0"/>
                <a:ea typeface="Consolas" pitchFamily="34" charset="-122"/>
                <a:cs typeface="Consolas" pitchFamily="34" charset="-120"/>
              </a:rPr>
              <a:t>cari_menu()</a:t>
            </a:r>
            <a:r>
              <a:rPr lang="id-ID" altLang="en-US" sz="2400" dirty="0">
                <a:solidFill>
                  <a:srgbClr val="1F2328"/>
                </a:solidFill>
              </a:rPr>
              <a:t>/</a:t>
            </a:r>
            <a:r>
              <a:rPr lang="id-ID" altLang="en-US" sz="2400" dirty="0">
                <a:solidFill>
                  <a:srgbClr val="1F2328"/>
                </a:solidFill>
                <a:latin typeface="Consolas" pitchFamily="34" charset="0"/>
                <a:ea typeface="Consolas" pitchFamily="34" charset="-122"/>
                <a:cs typeface="Consolas" pitchFamily="34" charset="-120"/>
              </a:rPr>
              <a:t>cariMenu()</a:t>
            </a:r>
            <a:r>
              <a:rPr lang="id-ID" altLang="en-US" sz="2400" dirty="0">
                <a:solidFill>
                  <a:srgbClr val="1F2328"/>
                </a:solidFill>
              </a:rPr>
              <a:t> memeriksa menu </a:t>
            </a:r>
            <a:r>
              <a:rPr lang="id-ID" altLang="en-US" sz="2400" b="1" dirty="0">
                <a:solidFill>
                  <a:srgbClr val="1F2328"/>
                </a:solidFill>
              </a:rPr>
              <a:t>satu per satu</a:t>
            </a:r>
            <a:r>
              <a:rPr lang="id-ID" altLang="en-US" sz="2400" dirty="0">
                <a:solidFill>
                  <a:srgbClr val="1F2328"/>
                </a:solidFill>
              </a:rPr>
              <a:t> dari depan sebelum melempar </a:t>
            </a:r>
            <a:r>
              <a:rPr lang="id-ID" altLang="en-US" sz="2400" i="1" dirty="0">
                <a:solidFill>
                  <a:srgbClr val="1F2328"/>
                </a:solidFill>
              </a:rPr>
              <a:t>exception</a:t>
            </a:r>
            <a:r>
              <a:rPr lang="id-ID" altLang="en-US" sz="2400" dirty="0">
                <a:solidFill>
                  <a:srgbClr val="1F2328"/>
                </a:solidFill>
              </a:rPr>
              <a:t>.</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Empat wadah dan kontraknya</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Urutan isi dan memilih wadah</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Mengurutkan objek dan </a:t>
            </a:r>
            <a:r>
              <a:rPr lang="id-ID" altLang="en-US" sz="2200" i="1" dirty="0">
                <a:solidFill>
                  <a:srgbClr val="1F2328"/>
                </a:solidFill>
              </a:rPr>
              <a:t>lambda</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Kesamaan objek dan </a:t>
            </a:r>
            <a:r>
              <a:rPr lang="id-ID" altLang="en-US" sz="2200" i="1" dirty="0">
                <a:solidFill>
                  <a:srgbClr val="1F2328"/>
                </a:solidFill>
              </a:rPr>
              <a:t>generics</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Empat Wadah dan Kontraknya</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i="1" dirty="0">
                <a:solidFill>
                  <a:srgbClr val="C9D7E8"/>
                </a:solidFill>
              </a:rPr>
              <a:t>List</a:t>
            </a:r>
            <a:r>
              <a:rPr lang="id-ID" altLang="en-US" sz="2200" dirty="0">
                <a:solidFill>
                  <a:srgbClr val="C9D7E8"/>
                </a:solidFill>
              </a:rPr>
              <a:t>, </a:t>
            </a:r>
            <a:r>
              <a:rPr lang="id-ID" altLang="en-US" sz="2200" i="1" dirty="0">
                <a:solidFill>
                  <a:srgbClr val="C9D7E8"/>
                </a:solidFill>
              </a:rPr>
              <a:t>tuple</a:t>
            </a:r>
            <a:r>
              <a:rPr lang="id-ID" altLang="en-US" sz="2200" dirty="0">
                <a:solidFill>
                  <a:srgbClr val="C9D7E8"/>
                </a:solidFill>
              </a:rPr>
              <a:t>, set, dan map: setiap wadah punya kepribadian sendiri.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Kasir yang Kewalahan</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54495"/>
          <a:ext cx="11094415" cy="914400"/>
        </p:xfrm>
        <a:graphic>
          <a:graphicData uri="http://schemas.openxmlformats.org/drawingml/2006/table">
            <a:tbl>
              <a:tblPr/>
              <a:tblGrid>
                <a:gridCol w="3376248"/>
                <a:gridCol w="5204983"/>
                <a:gridCol w="2513184"/>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Pertanyaan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Kebutuhan sebenarnya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Wadah yang cocok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Harga M04 berapa?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mencari lewat </a:t>
                      </a:r>
                      <a:r>
                        <a:rPr lang="id-ID" altLang="en-US" sz="2200" b="1" dirty="0">
                          <a:solidFill>
                            <a:srgbClr val="1F2328"/>
                          </a:solidFill>
                          <a:latin typeface="Calibri" pitchFamily="34" charset="0"/>
                          <a:ea typeface="Calibri" pitchFamily="34" charset="-122"/>
                          <a:cs typeface="Calibri" pitchFamily="34" charset="-120"/>
                        </a:rPr>
                        <a:t>kunci</a:t>
                      </a:r>
                      <a:r>
                        <a:rPr lang="id-ID" altLang="en-US" sz="2200" dirty="0">
                          <a:solidFill>
                            <a:srgbClr val="1F2328"/>
                          </a:solidFill>
                          <a:latin typeface="Calibri" pitchFamily="34" charset="0"/>
                          <a:ea typeface="Calibri" pitchFamily="34" charset="-122"/>
                          <a:cs typeface="Calibri" pitchFamily="34" charset="-120"/>
                        </a:rPr>
                        <a:t> (kode)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map / dict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Kode M01 dipakai dua kali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menolak kunci </a:t>
                      </a:r>
                      <a:r>
                        <a:rPr lang="id-ID" altLang="en-US" sz="2200" b="1" dirty="0">
                          <a:solidFill>
                            <a:srgbClr val="1F2328"/>
                          </a:solidFill>
                          <a:latin typeface="Calibri" pitchFamily="34" charset="0"/>
                          <a:ea typeface="Calibri" pitchFamily="34" charset="-122"/>
                          <a:cs typeface="Calibri" pitchFamily="34" charset="-120"/>
                        </a:rPr>
                        <a:t>kembar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map / dict, set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Kategori apa saja?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data </a:t>
                      </a:r>
                      <a:r>
                        <a:rPr lang="id-ID" altLang="en-US" sz="2200" b="1" dirty="0">
                          <a:solidFill>
                            <a:srgbClr val="1F2328"/>
                          </a:solidFill>
                          <a:latin typeface="Calibri" pitchFamily="34" charset="0"/>
                          <a:ea typeface="Calibri" pitchFamily="34" charset="-122"/>
                          <a:cs typeface="Calibri" pitchFamily="34" charset="-120"/>
                        </a:rPr>
                        <a:t>unik</a:t>
                      </a:r>
                      <a:r>
                        <a:rPr lang="id-ID" altLang="en-US" sz="2200" dirty="0">
                          <a:solidFill>
                            <a:srgbClr val="1F2328"/>
                          </a:solidFill>
                          <a:latin typeface="Calibri" pitchFamily="34" charset="0"/>
                          <a:ea typeface="Calibri" pitchFamily="34" charset="-122"/>
                          <a:cs typeface="Calibri" pitchFamily="34" charset="-120"/>
                        </a:rPr>
                        <a:t> tanpa kembar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set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Urutkan dari termurah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mengurutkan</a:t>
                      </a:r>
                      <a:r>
                        <a:rPr lang="id-ID" altLang="en-US" sz="2200" dirty="0">
                          <a:solidFill>
                            <a:srgbClr val="1F2328"/>
                          </a:solidFill>
                          <a:latin typeface="Calibri" pitchFamily="34" charset="0"/>
                          <a:ea typeface="Calibri" pitchFamily="34" charset="-122"/>
                          <a:cs typeface="Calibri" pitchFamily="34" charset="-120"/>
                        </a:rPr>
                        <a:t>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list</a:t>
                      </a:r>
                      <a:r>
                        <a:rPr lang="id-ID" altLang="en-US" sz="2200" dirty="0">
                          <a:solidFill>
                            <a:srgbClr val="1F2328"/>
                          </a:solidFill>
                          <a:latin typeface="Calibri" pitchFamily="34" charset="0"/>
                          <a:ea typeface="Calibri" pitchFamily="34" charset="-122"/>
                          <a:cs typeface="Calibri" pitchFamily="34" charset="-120"/>
                        </a:rPr>
                        <a:t> + aturan urutan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Menu paling laris?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menghitung</a:t>
                      </a:r>
                      <a:r>
                        <a:rPr lang="id-ID" altLang="en-US" sz="2200" dirty="0">
                          <a:solidFill>
                            <a:srgbClr val="1F2328"/>
                          </a:solidFill>
                          <a:latin typeface="Calibri" pitchFamily="34" charset="0"/>
                          <a:ea typeface="Calibri" pitchFamily="34" charset="-122"/>
                          <a:cs typeface="Calibri" pitchFamily="34" charset="-120"/>
                        </a:rPr>
                        <a:t> per menu, lalu mengurutkan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map / dict + </a:t>
                      </a:r>
                      <a:r>
                        <a:rPr lang="id-ID" altLang="en-US" sz="2200" i="1" dirty="0">
                          <a:solidFill>
                            <a:srgbClr val="1F2328"/>
                          </a:solidFill>
                          <a:latin typeface="Calibri" pitchFamily="34" charset="0"/>
                          <a:ea typeface="Calibri" pitchFamily="34" charset="-122"/>
                          <a:cs typeface="Calibri" pitchFamily="34" charset="-120"/>
                        </a:rPr>
                        <a:t>list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4387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16291"/>
            <a:ext cx="184343" cy="184343"/>
          </a:xfrm>
          <a:prstGeom prst="rect">
            <a:avLst/>
          </a:prstGeom>
        </p:spPr>
      </p:pic>
      <p:sp>
        <p:nvSpPr>
          <p:cNvPr id="8" name="Text 3"/>
          <p:cNvSpPr txBox="1"/>
          <p:nvPr/>
        </p:nvSpPr>
        <p:spPr>
          <a:xfrm>
            <a:off x="1005840" y="5225583"/>
            <a:ext cx="10637215" cy="324612"/>
          </a:xfrm>
          <a:prstGeom prst="rect">
            <a:avLst/>
          </a:prstGeom>
          <a:noFill/>
          <a:ln/>
        </p:spPr>
        <p:txBody>
          <a:bodyPr wrap="square" lIns="0" tIns="0" rIns="0" bIns="0" rtlCol="0" anchor="t"/>
          <a:lstStyle/>
          <a:p>
            <a:pPr indent="0" marL="0">
              <a:buNone/>
            </a:pPr>
            <a:r>
              <a:rPr lang="id-ID" altLang="en-US" sz="1800" b="1" dirty="0">
                <a:solidFill>
                  <a:srgbClr val="57606A"/>
                </a:solidFill>
              </a:rPr>
              <a:t>Koleksi</a:t>
            </a:r>
            <a:r>
              <a:rPr lang="id-ID" altLang="en-US" sz="1800" dirty="0">
                <a:solidFill>
                  <a:srgbClr val="57606A"/>
                </a:solidFill>
              </a:rPr>
              <a:t> (</a:t>
            </a:r>
            <a:r>
              <a:rPr lang="id-ID" altLang="en-US" sz="1800" i="1" dirty="0">
                <a:solidFill>
                  <a:srgbClr val="57606A"/>
                </a:solidFill>
              </a:rPr>
              <a:t>collection</a:t>
            </a:r>
            <a:r>
              <a:rPr lang="id-ID" altLang="en-US" sz="1800" dirty="0">
                <a:solidFill>
                  <a:srgbClr val="57606A"/>
                </a:solidFill>
              </a:rPr>
              <a:t>): objek yang tugasnya menyimpan dan mengelola sekumpulan objek lain.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Wadah Utama</a:t>
            </a:r>
            <a:endParaRPr lang="id-ID"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1985484"/>
                <a:gridCol w="3419339"/>
                <a:gridCol w="568959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Wadah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Analogi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Ciri utama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b="1" i="1" dirty="0">
                          <a:solidFill>
                            <a:srgbClr val="1F2328"/>
                          </a:solidFill>
                          <a:latin typeface="Calibri" pitchFamily="34" charset="0"/>
                          <a:ea typeface="Calibri" pitchFamily="34" charset="-122"/>
                          <a:cs typeface="Calibri" pitchFamily="34" charset="-120"/>
                        </a:rPr>
                        <a:t>List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daftar belanja atau antrean bernomor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berurutan, boleh kembar, bisa diubah, diakses lewat indeks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b="1" i="1" dirty="0">
                          <a:solidFill>
                            <a:srgbClr val="1F2328"/>
                          </a:solidFill>
                          <a:latin typeface="Calibri" pitchFamily="34" charset="0"/>
                          <a:ea typeface="Calibri" pitchFamily="34" charset="-122"/>
                          <a:cs typeface="Calibri" pitchFamily="34" charset="-120"/>
                        </a:rPr>
                        <a:t>Tuple</a:t>
                      </a:r>
                      <a:r>
                        <a:rPr lang="id-ID" altLang="en-US" sz="2200" dirty="0">
                          <a:solidFill>
                            <a:srgbClr val="1F2328"/>
                          </a:solidFill>
                          <a:latin typeface="Calibri" pitchFamily="34" charset="0"/>
                          <a:ea typeface="Calibri" pitchFamily="34" charset="-122"/>
                          <a:cs typeface="Calibri" pitchFamily="34" charset="-120"/>
                        </a:rPr>
                        <a:t> (Java: </a:t>
                      </a:r>
                      <a:r>
                        <a:rPr lang="id-ID" altLang="en-US" sz="2200" i="1" dirty="0">
                          <a:solidFill>
                            <a:srgbClr val="1F2328"/>
                          </a:solidFill>
                          <a:latin typeface="Calibri" pitchFamily="34" charset="0"/>
                          <a:ea typeface="Calibri" pitchFamily="34" charset="-122"/>
                          <a:cs typeface="Calibri" pitchFamily="34" charset="-120"/>
                        </a:rPr>
                        <a:t>list</a:t>
                      </a:r>
                      <a:r>
                        <a:rPr lang="id-ID" altLang="en-US" sz="2200" dirty="0">
                          <a:solidFill>
                            <a:srgbClr val="1F2328"/>
                          </a:solidFill>
                          <a:latin typeface="Calibri" pitchFamily="34" charset="0"/>
                          <a:ea typeface="Calibri" pitchFamily="34" charset="-122"/>
                          <a:cs typeface="Calibri" pitchFamily="34" charset="-120"/>
                        </a:rPr>
                        <a:t> tetap)</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data yang sudah tercetak di KTP</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berurutan, tetapi isinya </a:t>
                      </a:r>
                      <a:r>
                        <a:rPr lang="id-ID" altLang="en-US" sz="2200" b="1" dirty="0">
                          <a:solidFill>
                            <a:srgbClr val="1F2328"/>
                          </a:solidFill>
                          <a:latin typeface="Calibri" pitchFamily="34" charset="0"/>
                          <a:ea typeface="Calibri" pitchFamily="34" charset="-122"/>
                          <a:cs typeface="Calibri" pitchFamily="34" charset="-120"/>
                        </a:rPr>
                        <a:t>tidak bisa diubah</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immutable</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Set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daftar peserta unik sebuah lokakarya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tanpa data kembar</a:t>
                      </a:r>
                      <a:r>
                        <a:rPr lang="id-ID" altLang="en-US" sz="2200" dirty="0">
                          <a:solidFill>
                            <a:srgbClr val="1F2328"/>
                          </a:solidFill>
                          <a:latin typeface="Calibri" pitchFamily="34" charset="0"/>
                          <a:ea typeface="Calibri" pitchFamily="34" charset="-122"/>
                          <a:cs typeface="Calibri" pitchFamily="34" charset="-120"/>
                        </a:rPr>
                        <a:t>, cepat menjawab “ada atau tidak?”, urutan tidak dijamin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Map</a:t>
                      </a:r>
                      <a:r>
                        <a:rPr lang="id-ID" altLang="en-US" sz="2200" dirty="0">
                          <a:solidFill>
                            <a:srgbClr val="1F2328"/>
                          </a:solidFill>
                          <a:latin typeface="Calibri" pitchFamily="34" charset="0"/>
                          <a:ea typeface="Calibri" pitchFamily="34" charset="-122"/>
                          <a:cs typeface="Calibri" pitchFamily="34" charset="-120"/>
                        </a:rPr>
                        <a:t> (Python: dict)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buku telepon atau loker berkunci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pasangan </a:t>
                      </a:r>
                      <a:r>
                        <a:rPr lang="id-ID" altLang="en-US" sz="2200" b="1" dirty="0">
                          <a:solidFill>
                            <a:srgbClr val="1F2328"/>
                          </a:solidFill>
                          <a:latin typeface="Calibri" pitchFamily="34" charset="0"/>
                          <a:ea typeface="Calibri" pitchFamily="34" charset="-122"/>
                          <a:cs typeface="Calibri" pitchFamily="34" charset="-120"/>
                        </a:rPr>
                        <a:t>kunci → nilai</a:t>
                      </a:r>
                      <a:r>
                        <a:rPr lang="id-ID" altLang="en-US" sz="2200" dirty="0">
                          <a:solidFill>
                            <a:srgbClr val="1F2328"/>
                          </a:solidFill>
                          <a:latin typeface="Calibri" pitchFamily="34" charset="0"/>
                          <a:ea typeface="Calibri" pitchFamily="34" charset="-122"/>
                          <a:cs typeface="Calibri" pitchFamily="34" charset="-120"/>
                        </a:rPr>
                        <a:t>, kunci tidak boleh kembar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73091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803331"/>
            <a:ext cx="184343" cy="184343"/>
          </a:xfrm>
          <a:prstGeom prst="rect">
            <a:avLst/>
          </a:prstGeom>
        </p:spPr>
      </p:pic>
      <p:sp>
        <p:nvSpPr>
          <p:cNvPr id="8" name="Text 3"/>
          <p:cNvSpPr txBox="1"/>
          <p:nvPr/>
        </p:nvSpPr>
        <p:spPr>
          <a:xfrm>
            <a:off x="1005840" y="571262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Java tidak punya </a:t>
            </a:r>
            <a:r>
              <a:rPr lang="id-ID" altLang="en-US" sz="1800" i="1" dirty="0">
                <a:solidFill>
                  <a:srgbClr val="57606A"/>
                </a:solidFill>
              </a:rPr>
              <a:t>tuple</a:t>
            </a:r>
            <a:r>
              <a:rPr lang="id-ID" altLang="en-US" sz="1800" dirty="0">
                <a:solidFill>
                  <a:srgbClr val="57606A"/>
                </a:solidFill>
              </a:rPr>
              <a:t>. Padanan terdekatnya adalah </a:t>
            </a:r>
            <a:r>
              <a:rPr lang="id-ID" altLang="en-US" sz="1800" i="1" dirty="0">
                <a:solidFill>
                  <a:srgbClr val="57606A"/>
                </a:solidFill>
              </a:rPr>
              <a:t>list</a:t>
            </a:r>
            <a:r>
              <a:rPr lang="id-ID" altLang="en-US" sz="1800" dirty="0">
                <a:solidFill>
                  <a:srgbClr val="57606A"/>
                </a:solidFill>
              </a:rPr>
              <a:t> tetap buatan </a:t>
            </a:r>
            <a:r>
              <a:rPr lang="id-ID" altLang="en-US" sz="1800" dirty="0">
                <a:solidFill>
                  <a:srgbClr val="57606A"/>
                </a:solidFill>
                <a:latin typeface="Consolas" pitchFamily="34" charset="0"/>
                <a:ea typeface="Consolas" pitchFamily="34" charset="-122"/>
                <a:cs typeface="Consolas" pitchFamily="34" charset="-120"/>
              </a:rPr>
              <a:t>List.of(...)</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Kontrak dan Wujud Koleksi Java</a:t>
            </a:r>
            <a:endParaRPr lang="id-ID" sz="3200" dirty="0"/>
          </a:p>
        </p:txBody>
      </p:sp>
      <p:pic>
        <p:nvPicPr>
          <p:cNvPr id="5" name="Image 1" descr="Tulis tipe kontrak di kiri dan wujud di kanan: List&lt;Menu&gt; daftar = new ArrayList&lt;&gt;();.">    </p:cNvPr>
          <p:cNvPicPr>
            <a:picLocks noChangeAspect="1"/>
          </p:cNvPicPr>
          <p:nvPr/>
        </p:nvPicPr>
        <p:blipFill>
          <a:blip r:embed="rId2"/>
          <a:stretch>
            <a:fillRect/>
          </a:stretch>
        </p:blipFill>
        <p:spPr>
          <a:xfrm>
            <a:off x="3192855" y="1417320"/>
            <a:ext cx="5805986"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Tulis tipe kontrak di kiri dan wujud di kanan: </a:t>
            </a:r>
            <a:r>
              <a:rPr lang="id-ID" altLang="en-US" sz="1700" dirty="0">
                <a:solidFill>
                  <a:srgbClr val="57606A"/>
                </a:solidFill>
                <a:latin typeface="Consolas" pitchFamily="34" charset="0"/>
                <a:ea typeface="Consolas" pitchFamily="34" charset="-122"/>
                <a:cs typeface="Consolas" pitchFamily="34" charset="-120"/>
              </a:rPr>
              <a:t>List&lt;Menu&gt; daftar = new ArrayList&lt;&gt;();</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Set: Kumpulan tanpa Data Kembar</a:t>
            </a:r>
            <a:endParaRPr lang="id-ID" sz="3200" dirty="0"/>
          </a:p>
        </p:txBody>
      </p:sp>
      <p:sp>
        <p:nvSpPr>
          <p:cNvPr id="5" name="Text 2"/>
          <p:cNvSpPr txBox="1"/>
          <p:nvPr/>
        </p:nvSpPr>
        <p:spPr>
          <a:xfrm>
            <a:off x="548640" y="1963461"/>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pendaftar</a:t>
            </a:r>
            <a:r>
              <a:rPr lang="id-ID" altLang="en-US" sz="1800" dirty="0">
                <a:solidFill>
                  <a:srgbClr val="57606A"/>
                </a:solidFill>
              </a:rPr>
              <a:t> berisi enam formulir; Ayu dan Bima mengisi dua kali. Set membuang data kembar secara otomatis.</a:t>
            </a:r>
            <a:endParaRPr lang="id-ID" sz="1800" dirty="0"/>
          </a:p>
        </p:txBody>
      </p:sp>
      <p:sp>
        <p:nvSpPr>
          <p:cNvPr id="6" name="Shape 3"/>
          <p:cNvSpPr/>
          <p:nvPr/>
        </p:nvSpPr>
        <p:spPr>
          <a:xfrm>
            <a:off x="548640" y="2397801"/>
            <a:ext cx="1051560" cy="329184"/>
          </a:xfrm>
          <a:prstGeom prst="roundRect">
            <a:avLst>
              <a:gd name="adj" fmla="val 138889"/>
            </a:avLst>
          </a:prstGeom>
          <a:solidFill>
            <a:srgbClr val="3572A5"/>
          </a:solidFill>
          <a:ln/>
        </p:spPr>
      </p:sp>
      <p:sp>
        <p:nvSpPr>
          <p:cNvPr id="7" name="Text 4"/>
          <p:cNvSpPr txBox="1"/>
          <p:nvPr/>
        </p:nvSpPr>
        <p:spPr>
          <a:xfrm>
            <a:off x="548640" y="2397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397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python/contoh/contoh02_set_himpunan.py</a:t>
            </a:r>
            <a:endParaRPr lang="id-ID" sz="1100" dirty="0"/>
          </a:p>
        </p:txBody>
      </p:sp>
      <p:sp>
        <p:nvSpPr>
          <p:cNvPr id="9" name="Shape 6"/>
          <p:cNvSpPr/>
          <p:nvPr/>
        </p:nvSpPr>
        <p:spPr>
          <a:xfrm>
            <a:off x="548640" y="2818425"/>
            <a:ext cx="5432908" cy="2563876"/>
          </a:xfrm>
          <a:prstGeom prst="roundRect">
            <a:avLst>
              <a:gd name="adj" fmla="val 1272"/>
            </a:avLst>
          </a:prstGeom>
          <a:solidFill>
            <a:srgbClr val="F6F8FA"/>
          </a:solidFill>
          <a:ln w="9525">
            <a:solidFill>
              <a:srgbClr val="D0D7DE"/>
            </a:solidFill>
            <a:prstDash val="solid"/>
          </a:ln>
        </p:spPr>
      </p:sp>
      <p:sp>
        <p:nvSpPr>
          <p:cNvPr id="10" name="Text 7"/>
          <p:cNvSpPr txBox="1"/>
          <p:nvPr/>
        </p:nvSpPr>
        <p:spPr>
          <a:xfrm>
            <a:off x="658368" y="2909865"/>
            <a:ext cx="5213452" cy="2380996"/>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peserta_python: </a:t>
            </a:r>
            <a:r>
              <a:rPr lang="en-US" altLang="en-US" sz="1100" dirty="0">
                <a:solidFill>
                  <a:srgbClr val="0550AE"/>
                </a:solidFill>
                <a:latin typeface="Consolas" pitchFamily="34" charset="0"/>
                <a:ea typeface="Consolas" pitchFamily="34" charset="-122"/>
                <a:cs typeface="Consolas" pitchFamily="34" charset="-120"/>
              </a:rPr>
              <a:t>set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set</a:t>
            </a:r>
            <a:r>
              <a:rPr lang="en-US" altLang="en-US" sz="1100" dirty="0">
                <a:solidFill>
                  <a:srgbClr val="1F2328"/>
                </a:solidFill>
                <a:latin typeface="Consolas" pitchFamily="34" charset="0"/>
                <a:ea typeface="Consolas" pitchFamily="34" charset="-122"/>
                <a:cs typeface="Consolas" pitchFamily="34" charset="-120"/>
              </a:rPr>
              <a:t>(pendaftar)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peserta_java = {</a:t>
            </a:r>
            <a:r>
              <a:rPr lang="en-US" altLang="en-US" sz="1100" dirty="0">
                <a:solidFill>
                  <a:srgbClr val="0A3069"/>
                </a:solidFill>
                <a:latin typeface="Consolas" pitchFamily="34" charset="0"/>
                <a:ea typeface="Consolas" pitchFamily="34" charset="-122"/>
                <a:cs typeface="Consolas" pitchFamily="34" charset="-120"/>
              </a:rPr>
              <a:t>"Citra"</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"Eka"</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"Ayu"</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"Fajar"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peserta_python.add(</a:t>
            </a:r>
            <a:r>
              <a:rPr lang="en-US" altLang="en-US" sz="1100" dirty="0">
                <a:solidFill>
                  <a:srgbClr val="0A3069"/>
                </a:solidFill>
                <a:latin typeface="Consolas" pitchFamily="34" charset="0"/>
                <a:ea typeface="Consolas" pitchFamily="34" charset="-122"/>
                <a:cs typeface="Consolas" pitchFamily="34" charset="-120"/>
              </a:rPr>
              <a:t>"Eka"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peserta_python.add(</a:t>
            </a:r>
            <a:r>
              <a:rPr lang="en-US" altLang="en-US" sz="1100" dirty="0">
                <a:solidFill>
                  <a:srgbClr val="0A3069"/>
                </a:solidFill>
                <a:latin typeface="Consolas" pitchFamily="34" charset="0"/>
                <a:ea typeface="Consolas" pitchFamily="34" charset="-122"/>
                <a:cs typeface="Consolas" pitchFamily="34" charset="-120"/>
              </a:rPr>
              <a:t>"Ayu"</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cetak(</a:t>
            </a:r>
            <a:r>
              <a:rPr lang="en-US" altLang="en-US" sz="1100" dirty="0">
                <a:solidFill>
                  <a:srgbClr val="0A3069"/>
                </a:solidFill>
                <a:latin typeface="Consolas" pitchFamily="34" charset="0"/>
                <a:ea typeface="Consolas" pitchFamily="34" charset="-122"/>
                <a:cs typeface="Consolas" pitchFamily="34" charset="-120"/>
              </a:rPr>
              <a:t>"Ikut keduanya"</a:t>
            </a:r>
            <a:r>
              <a:rPr lang="en-US" altLang="en-US" sz="1100" dirty="0">
                <a:solidFill>
                  <a:srgbClr val="1F2328"/>
                </a:solidFill>
                <a:latin typeface="Consolas" pitchFamily="34" charset="0"/>
                <a:ea typeface="Consolas" pitchFamily="34" charset="-122"/>
                <a:cs typeface="Consolas" pitchFamily="34" charset="-120"/>
              </a:rPr>
              <a:t>, peserta_python &amp; peserta_java)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cetak(</a:t>
            </a:r>
            <a:r>
              <a:rPr lang="en-US" altLang="en-US" sz="1100" dirty="0">
                <a:solidFill>
                  <a:srgbClr val="0A3069"/>
                </a:solidFill>
                <a:latin typeface="Consolas" pitchFamily="34" charset="0"/>
                <a:ea typeface="Consolas" pitchFamily="34" charset="-122"/>
                <a:cs typeface="Consolas" pitchFamily="34" charset="-120"/>
              </a:rPr>
              <a:t>"Semua peserta"</a:t>
            </a:r>
            <a:r>
              <a:rPr lang="en-US" altLang="en-US" sz="1100" dirty="0">
                <a:solidFill>
                  <a:srgbClr val="1F2328"/>
                </a:solidFill>
                <a:latin typeface="Consolas" pitchFamily="34" charset="0"/>
                <a:ea typeface="Consolas" pitchFamily="34" charset="-122"/>
                <a:cs typeface="Consolas" pitchFamily="34" charset="-120"/>
              </a:rPr>
              <a:t>, peserta_python | peserta_java)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cetak(</a:t>
            </a:r>
            <a:r>
              <a:rPr lang="en-US" altLang="en-US" sz="1100" dirty="0">
                <a:solidFill>
                  <a:srgbClr val="0A3069"/>
                </a:solidFill>
                <a:latin typeface="Consolas" pitchFamily="34" charset="0"/>
                <a:ea typeface="Consolas" pitchFamily="34" charset="-122"/>
                <a:cs typeface="Consolas" pitchFamily="34" charset="-120"/>
              </a:rPr>
              <a:t>"Hanya Python"</a:t>
            </a:r>
            <a:r>
              <a:rPr lang="en-US" altLang="en-US" sz="1100" dirty="0">
                <a:solidFill>
                  <a:srgbClr val="1F2328"/>
                </a:solidFill>
                <a:latin typeface="Consolas" pitchFamily="34" charset="0"/>
                <a:ea typeface="Consolas" pitchFamily="34" charset="-122"/>
                <a:cs typeface="Consolas" pitchFamily="34" charset="-120"/>
              </a:rPr>
              <a:t>, peserta_python - peserta_java)</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"Fajar"</a:t>
            </a:r>
            <a:r>
              <a:rPr lang="en-US" altLang="en-US" sz="1100" dirty="0">
                <a:solidFill>
                  <a:srgbClr val="1F2328"/>
                </a:solidFill>
                <a:latin typeface="Consolas" pitchFamily="34" charset="0"/>
                <a:ea typeface="Consolas" pitchFamily="34" charset="-122"/>
                <a:cs typeface="Consolas" pitchFamily="34" charset="-120"/>
              </a:rPr>
              <a:t> not in peserta_python: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"Fajar belum ikut workshop Python"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397801"/>
            <a:ext cx="1051560" cy="329184"/>
          </a:xfrm>
          <a:prstGeom prst="roundRect">
            <a:avLst>
              <a:gd name="adj" fmla="val 138889"/>
            </a:avLst>
          </a:prstGeom>
          <a:solidFill>
            <a:srgbClr val="B07219"/>
          </a:solidFill>
          <a:ln/>
        </p:spPr>
      </p:sp>
      <p:sp>
        <p:nvSpPr>
          <p:cNvPr id="12" name="Text 9"/>
          <p:cNvSpPr txBox="1"/>
          <p:nvPr/>
        </p:nvSpPr>
        <p:spPr>
          <a:xfrm>
            <a:off x="6210148" y="2397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397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java/contoh/Contoh02SetHimpunan.java</a:t>
            </a:r>
            <a:endParaRPr lang="id-ID" sz="1100" dirty="0"/>
          </a:p>
        </p:txBody>
      </p:sp>
      <p:sp>
        <p:nvSpPr>
          <p:cNvPr id="14" name="Shape 11"/>
          <p:cNvSpPr/>
          <p:nvPr/>
        </p:nvSpPr>
        <p:spPr>
          <a:xfrm>
            <a:off x="6210148" y="2818425"/>
            <a:ext cx="5432908" cy="2563876"/>
          </a:xfrm>
          <a:prstGeom prst="roundRect">
            <a:avLst>
              <a:gd name="adj" fmla="val 1272"/>
            </a:avLst>
          </a:prstGeom>
          <a:solidFill>
            <a:srgbClr val="F6F8FA"/>
          </a:solidFill>
          <a:ln w="9525">
            <a:solidFill>
              <a:srgbClr val="D0D7DE"/>
            </a:solidFill>
            <a:prstDash val="solid"/>
          </a:ln>
        </p:spPr>
      </p:sp>
      <p:sp>
        <p:nvSpPr>
          <p:cNvPr id="15" name="Text 12"/>
          <p:cNvSpPr txBox="1"/>
          <p:nvPr/>
        </p:nvSpPr>
        <p:spPr>
          <a:xfrm>
            <a:off x="6319876" y="2909865"/>
            <a:ext cx="5213452" cy="2380996"/>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Set&lt;String&gt; pesertaPython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HashSet&lt;&gt;(pendaftar);</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pesertaPython.add(</a:t>
            </a:r>
            <a:r>
              <a:rPr lang="en-US" altLang="en-US" sz="1100" dirty="0">
                <a:solidFill>
                  <a:srgbClr val="0A3069"/>
                </a:solidFill>
                <a:latin typeface="Consolas" pitchFamily="34" charset="0"/>
                <a:ea typeface="Consolas" pitchFamily="34" charset="-122"/>
                <a:cs typeface="Consolas" pitchFamily="34" charset="-120"/>
              </a:rPr>
              <a:t>"Eka"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pesertaPython.add(</a:t>
            </a:r>
            <a:r>
              <a:rPr lang="en-US" altLang="en-US" sz="1100" dirty="0">
                <a:solidFill>
                  <a:srgbClr val="0A3069"/>
                </a:solidFill>
                <a:latin typeface="Consolas" pitchFamily="34" charset="0"/>
                <a:ea typeface="Consolas" pitchFamily="34" charset="-122"/>
                <a:cs typeface="Consolas" pitchFamily="34" charset="-120"/>
              </a:rPr>
              <a:t>"Ayu"</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Set&lt;String&gt; irisan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HashSet&lt;&gt;(pesertaPython);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irisan.retainAll(pesertaJava);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Set&lt;String&gt; gabungan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HashSet&lt;&gt;(pesertaPython);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gabungan.addAll(pesertaJava);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(!pesertaPython.contains(</a:t>
            </a:r>
            <a:r>
              <a:rPr lang="en-US" altLang="en-US" sz="1100" dirty="0">
                <a:solidFill>
                  <a:srgbClr val="0A3069"/>
                </a:solidFill>
                <a:latin typeface="Consolas" pitchFamily="34" charset="0"/>
                <a:ea typeface="Consolas" pitchFamily="34" charset="-122"/>
                <a:cs typeface="Consolas" pitchFamily="34" charset="-120"/>
              </a:rPr>
              <a:t>"Fajar"</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"Fajar belum ikut workshop Python"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Urutan Isi dan Memilih Wadah</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Jangan mengandalkan kebetulan, lalu tiga pertanyaan untuk memilih wadah.</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Urutan Isi: Jangan Mengandalkan Kebetulan</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23893"/>
          <a:ext cx="11094415" cy="914400"/>
        </p:xfrm>
        <a:graphic>
          <a:graphicData uri="http://schemas.openxmlformats.org/drawingml/2006/table">
            <a:tbl>
              <a:tblPr/>
              <a:tblGrid>
                <a:gridCol w="5223004"/>
                <a:gridCol w="5871411"/>
              </a:tblGrid>
              <a:tr h="477266">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Wadah</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Urutan saat isinya dijelajahi</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Python </a:t>
                      </a:r>
                      <a:r>
                        <a:rPr lang="id-ID" altLang="en-US" sz="1900" dirty="0">
                          <a:solidFill>
                            <a:srgbClr val="0A3069"/>
                          </a:solidFill>
                          <a:latin typeface="Consolas" pitchFamily="34" charset="0"/>
                          <a:ea typeface="Consolas" pitchFamily="34" charset="-122"/>
                          <a:cs typeface="Consolas" pitchFamily="34" charset="-120"/>
                        </a:rPr>
                        <a:t>list</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tuple</a:t>
                      </a:r>
                      <a:r>
                        <a:rPr lang="id-ID" altLang="en-US" sz="1900" dirty="0">
                          <a:solidFill>
                            <a:srgbClr val="1F2328"/>
                          </a:solidFill>
                          <a:latin typeface="Calibri" pitchFamily="34" charset="0"/>
                          <a:ea typeface="Calibri" pitchFamily="34" charset="-122"/>
                          <a:cs typeface="Calibri" pitchFamily="34" charset="-120"/>
                        </a:rPr>
                        <a:t>, Java </a:t>
                      </a:r>
                      <a:r>
                        <a:rPr lang="id-ID" altLang="en-US" sz="1900" dirty="0">
                          <a:solidFill>
                            <a:srgbClr val="0A3069"/>
                          </a:solidFill>
                          <a:latin typeface="Consolas" pitchFamily="34" charset="0"/>
                          <a:ea typeface="Consolas" pitchFamily="34" charset="-122"/>
                          <a:cs typeface="Consolas" pitchFamily="34" charset="-120"/>
                        </a:rPr>
                        <a:t>ArrayList</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List.of</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sesuai indeks (urutan dimasukkan)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Python </a:t>
                      </a:r>
                      <a:r>
                        <a:rPr lang="id-ID" altLang="en-US" sz="1900" dirty="0">
                          <a:solidFill>
                            <a:srgbClr val="0A3069"/>
                          </a:solidFill>
                          <a:latin typeface="Consolas" pitchFamily="34" charset="0"/>
                          <a:ea typeface="Consolas" pitchFamily="34" charset="-122"/>
                          <a:cs typeface="Consolas" pitchFamily="34" charset="-120"/>
                        </a:rPr>
                        <a:t>dict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sesuai urutan kunci </a:t>
                      </a:r>
                      <a:r>
                        <a:rPr lang="id-ID" altLang="en-US" sz="1900" b="1" dirty="0">
                          <a:solidFill>
                            <a:srgbClr val="1F2328"/>
                          </a:solidFill>
                          <a:latin typeface="Calibri" pitchFamily="34" charset="0"/>
                          <a:ea typeface="Calibri" pitchFamily="34" charset="-122"/>
                          <a:cs typeface="Calibri" pitchFamily="34" charset="-120"/>
                        </a:rPr>
                        <a:t>pertama kali dimasukkan</a:t>
                      </a:r>
                      <a:r>
                        <a:rPr lang="id-ID" altLang="en-US" sz="1900" dirty="0">
                          <a:solidFill>
                            <a:srgbClr val="1F2328"/>
                          </a:solidFill>
                          <a:latin typeface="Calibri" pitchFamily="34" charset="0"/>
                          <a:ea typeface="Calibri" pitchFamily="34" charset="-122"/>
                          <a:cs typeface="Calibri" pitchFamily="34" charset="-120"/>
                        </a:rPr>
                        <a:t> (dijamin sejak Python 3.7)</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Python </a:t>
                      </a:r>
                      <a:r>
                        <a:rPr lang="id-ID" altLang="en-US" sz="1900" dirty="0">
                          <a:solidFill>
                            <a:srgbClr val="0A3069"/>
                          </a:solidFill>
                          <a:latin typeface="Consolas" pitchFamily="34" charset="0"/>
                          <a:ea typeface="Consolas" pitchFamily="34" charset="-122"/>
                          <a:cs typeface="Consolas" pitchFamily="34" charset="-120"/>
                        </a:rPr>
                        <a:t>set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b="1" dirty="0">
                          <a:solidFill>
                            <a:srgbClr val="1F2328"/>
                          </a:solidFill>
                          <a:latin typeface="Calibri" pitchFamily="34" charset="0"/>
                          <a:ea typeface="Calibri" pitchFamily="34" charset="-122"/>
                          <a:cs typeface="Calibri" pitchFamily="34" charset="-120"/>
                        </a:rPr>
                        <a:t>tidak dijamin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Java </a:t>
                      </a:r>
                      <a:r>
                        <a:rPr lang="id-ID" altLang="en-US" sz="1900" dirty="0">
                          <a:solidFill>
                            <a:srgbClr val="0A3069"/>
                          </a:solidFill>
                          <a:latin typeface="Consolas" pitchFamily="34" charset="0"/>
                          <a:ea typeface="Consolas" pitchFamily="34" charset="-122"/>
                          <a:cs typeface="Consolas" pitchFamily="34" charset="-120"/>
                        </a:rPr>
                        <a:t>HashSet</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HashMap</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Set.of</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Map.of</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b="1" dirty="0">
                          <a:solidFill>
                            <a:srgbClr val="1F2328"/>
                          </a:solidFill>
                          <a:latin typeface="Calibri" pitchFamily="34" charset="0"/>
                          <a:ea typeface="Calibri" pitchFamily="34" charset="-122"/>
                          <a:cs typeface="Calibri" pitchFamily="34" charset="-120"/>
                        </a:rPr>
                        <a:t>tidak dijamin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Java </a:t>
                      </a:r>
                      <a:r>
                        <a:rPr lang="id-ID" altLang="en-US" sz="1900" dirty="0">
                          <a:solidFill>
                            <a:srgbClr val="0A3069"/>
                          </a:solidFill>
                          <a:latin typeface="Consolas" pitchFamily="34" charset="0"/>
                          <a:ea typeface="Consolas" pitchFamily="34" charset="-122"/>
                          <a:cs typeface="Consolas" pitchFamily="34" charset="-120"/>
                        </a:rPr>
                        <a:t>LinkedHashSet</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LinkedHashMap</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sesuai urutan dimasukkan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Java </a:t>
                      </a:r>
                      <a:r>
                        <a:rPr lang="id-ID" altLang="en-US" sz="1900" dirty="0">
                          <a:solidFill>
                            <a:srgbClr val="0A3069"/>
                          </a:solidFill>
                          <a:latin typeface="Consolas" pitchFamily="34" charset="0"/>
                          <a:ea typeface="Consolas" pitchFamily="34" charset="-122"/>
                          <a:cs typeface="Consolas" pitchFamily="34" charset="-120"/>
                        </a:rPr>
                        <a:t>TreeSet</a:t>
                      </a:r>
                      <a:r>
                        <a:rPr lang="id-ID" altLang="en-US" sz="1900" dirty="0">
                          <a:solidFill>
                            <a:srgbClr val="1F2328"/>
                          </a:solidFill>
                          <a:latin typeface="Calibri" pitchFamily="34" charset="0"/>
                          <a:ea typeface="Calibri" pitchFamily="34" charset="-122"/>
                          <a:cs typeface="Calibri" pitchFamily="34" charset="-120"/>
                        </a:rPr>
                        <a:t>/</a:t>
                      </a:r>
                      <a:r>
                        <a:rPr lang="id-ID" altLang="en-US" sz="1900" dirty="0">
                          <a:solidFill>
                            <a:srgbClr val="0A3069"/>
                          </a:solidFill>
                          <a:latin typeface="Consolas" pitchFamily="34" charset="0"/>
                          <a:ea typeface="Consolas" pitchFamily="34" charset="-122"/>
                          <a:cs typeface="Consolas" pitchFamily="34" charset="-120"/>
                        </a:rPr>
                        <a:t>TreeMap</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selalu </a:t>
                      </a:r>
                      <a:r>
                        <a:rPr lang="id-ID" altLang="en-US" sz="1900" b="1" dirty="0">
                          <a:solidFill>
                            <a:srgbClr val="1F2328"/>
                          </a:solidFill>
                          <a:latin typeface="Calibri" pitchFamily="34" charset="0"/>
                          <a:ea typeface="Calibri" pitchFamily="34" charset="-122"/>
                          <a:cs typeface="Calibri" pitchFamily="34" charset="-120"/>
                        </a:rPr>
                        <a:t>urut</a:t>
                      </a:r>
                      <a:r>
                        <a:rPr lang="id-ID" altLang="en-US" sz="1900" dirty="0">
                          <a:solidFill>
                            <a:srgbClr val="1F2328"/>
                          </a:solidFill>
                          <a:latin typeface="Calibri" pitchFamily="34" charset="0"/>
                          <a:ea typeface="Calibri" pitchFamily="34" charset="-122"/>
                          <a:cs typeface="Calibri" pitchFamily="34" charset="-120"/>
                        </a:rPr>
                        <a:t> (abjad, angka, atau aturan yang kita berikan)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700415"/>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772836"/>
            <a:ext cx="184343" cy="184343"/>
          </a:xfrm>
          <a:prstGeom prst="rect">
            <a:avLst/>
          </a:prstGeom>
        </p:spPr>
      </p:pic>
      <p:sp>
        <p:nvSpPr>
          <p:cNvPr id="8" name="Text 3"/>
          <p:cNvSpPr txBox="1"/>
          <p:nvPr/>
        </p:nvSpPr>
        <p:spPr>
          <a:xfrm>
            <a:off x="1005840" y="5682127"/>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Jika urutan penting, pilih wadah yang menjamin urutan, atau </a:t>
            </a:r>
            <a:r>
              <a:rPr lang="id-ID" altLang="en-US" sz="1800" b="1" dirty="0">
                <a:solidFill>
                  <a:srgbClr val="57606A"/>
                </a:solidFill>
              </a:rPr>
              <a:t>urutkan dulu</a:t>
            </a:r>
            <a:r>
              <a:rPr lang="id-ID" altLang="en-US" sz="1800" dirty="0">
                <a:solidFill>
                  <a:srgbClr val="57606A"/>
                </a:solidFill>
              </a:rPr>
              <a:t> sebelum ditampilkan.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Memilih Koleksi yang Tepat</a:t>
            </a:r>
            <a:endParaRPr lang="id-ID" sz="3200" dirty="0"/>
          </a:p>
        </p:txBody>
      </p:sp>
      <p:pic>
        <p:nvPicPr>
          <p:cNvPr id="5" name="Image 1" descr="Setelah jenisnya terpilih, tentukan kebutuhan urutannya.">    </p:cNvPr>
          <p:cNvPicPr>
            <a:picLocks noChangeAspect="1"/>
          </p:cNvPicPr>
          <p:nvPr/>
        </p:nvPicPr>
        <p:blipFill>
          <a:blip r:embed="rId2"/>
          <a:stretch>
            <a:fillRect/>
          </a:stretch>
        </p:blipFill>
        <p:spPr>
          <a:xfrm>
            <a:off x="548640" y="1478701"/>
            <a:ext cx="11094415" cy="4185840"/>
          </a:xfrm>
          <a:prstGeom prst="rect">
            <a:avLst/>
          </a:prstGeom>
        </p:spPr>
      </p:pic>
      <p:sp>
        <p:nvSpPr>
          <p:cNvPr id="6" name="Text 2"/>
          <p:cNvSpPr txBox="1"/>
          <p:nvPr/>
        </p:nvSpPr>
        <p:spPr>
          <a:xfrm>
            <a:off x="1005840" y="5774269"/>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Setelah jenisnya terpilih, tentukan kebutuhan urutannya.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Mengurutkan Objek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Komputer tidak bisa menebak cara mengurutkan objek; kita harus memberi tahu aturannya.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Urutan Alami dan Urutan Khusus</a:t>
            </a:r>
            <a:endParaRPr lang="id-ID"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25001"/>
          <a:ext cx="11094415" cy="914400"/>
        </p:xfrm>
        <a:graphic>
          <a:graphicData uri="http://schemas.openxmlformats.org/drawingml/2006/table">
            <a:tbl>
              <a:tblPr/>
              <a:tblGrid>
                <a:gridCol w="1506498"/>
                <a:gridCol w="4457781"/>
                <a:gridCol w="5130136"/>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Aspek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Urutan alami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Urutan khusus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Jumlahnya per 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sebanyak yang dibutuhkan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Ditulis di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dalam kelas itu sendiri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 luar kelas, saat mengurutkan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Python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method</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__lt__</a:t>
                      </a:r>
                      <a:r>
                        <a:rPr lang="id-ID" altLang="en-US" sz="2200" dirty="0">
                          <a:solidFill>
                            <a:srgbClr val="1F2328"/>
                          </a:solidFill>
                          <a:latin typeface="Calibri" pitchFamily="34" charset="0"/>
                          <a:ea typeface="Calibri" pitchFamily="34" charset="-122"/>
                          <a:cs typeface="Calibri" pitchFamily="34" charset="-120"/>
                        </a:rPr>
                        <a:t> (“kurang dari”)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argumen </a:t>
                      </a:r>
                      <a:r>
                        <a:rPr lang="id-ID" altLang="en-US" sz="2200" dirty="0">
                          <a:solidFill>
                            <a:srgbClr val="0A3069"/>
                          </a:solidFill>
                          <a:latin typeface="Consolas" pitchFamily="34" charset="0"/>
                          <a:ea typeface="Consolas" pitchFamily="34" charset="-122"/>
                          <a:cs typeface="Consolas" pitchFamily="34" charset="-120"/>
                        </a:rPr>
                        <a:t>key=</a:t>
                      </a:r>
                      <a:r>
                        <a:rPr lang="id-ID" altLang="en-US" sz="2200" dirty="0">
                          <a:solidFill>
                            <a:srgbClr val="1F2328"/>
                          </a:solidFill>
                          <a:latin typeface="Calibri" pitchFamily="34" charset="0"/>
                          <a:ea typeface="Calibri" pitchFamily="34" charset="-122"/>
                          <a:cs typeface="Calibri" pitchFamily="34" charset="-120"/>
                        </a:rPr>
                        <a:t> berisi fungsi atau </a:t>
                      </a:r>
                      <a:r>
                        <a:rPr lang="id-ID" altLang="en-US" sz="2200" i="1" dirty="0">
                          <a:solidFill>
                            <a:srgbClr val="1F2328"/>
                          </a:solidFill>
                          <a:latin typeface="Calibri" pitchFamily="34" charset="0"/>
                          <a:ea typeface="Calibri" pitchFamily="34" charset="-122"/>
                          <a:cs typeface="Calibri" pitchFamily="34" charset="-120"/>
                        </a:rPr>
                        <a:t>lambda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Java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implements Comparable&lt;T&gt;</a:t>
                      </a:r>
                      <a:r>
                        <a:rPr lang="id-ID" altLang="en-US" sz="2200" dirty="0">
                          <a:solidFill>
                            <a:srgbClr val="1F2328"/>
                          </a:solidFill>
                          <a:latin typeface="Calibri" pitchFamily="34" charset="0"/>
                          <a:ea typeface="Calibri" pitchFamily="34" charset="-122"/>
                          <a:cs typeface="Calibri" pitchFamily="34" charset="-120"/>
                        </a:rPr>
                        <a:t> + </a:t>
                      </a:r>
                      <a:r>
                        <a:rPr lang="id-ID" altLang="en-US" sz="2200" dirty="0">
                          <a:solidFill>
                            <a:srgbClr val="0A3069"/>
                          </a:solidFill>
                          <a:latin typeface="Consolas" pitchFamily="34" charset="0"/>
                          <a:ea typeface="Consolas" pitchFamily="34" charset="-122"/>
                          <a:cs typeface="Consolas" pitchFamily="34" charset="-120"/>
                        </a:rPr>
                        <a:t>compareTo()</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objek </a:t>
                      </a:r>
                      <a:r>
                        <a:rPr lang="id-ID" altLang="en-US" sz="2200" dirty="0">
                          <a:solidFill>
                            <a:srgbClr val="0A3069"/>
                          </a:solidFill>
                          <a:latin typeface="Consolas" pitchFamily="34" charset="0"/>
                          <a:ea typeface="Consolas" pitchFamily="34" charset="-122"/>
                          <a:cs typeface="Consolas" pitchFamily="34" charset="-120"/>
                        </a:rPr>
                        <a:t>Comparator</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lambda</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Comparator.comparing</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Contoh di KedaiKita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menu: harga termurah dulu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menu: nama A⁠—⁠Z</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83698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909401"/>
            <a:ext cx="184343" cy="184343"/>
          </a:xfrm>
          <a:prstGeom prst="rect">
            <a:avLst/>
          </a:prstGeom>
        </p:spPr>
      </p:pic>
      <p:sp>
        <p:nvSpPr>
          <p:cNvPr id="8" name="Text 3"/>
          <p:cNvSpPr txBox="1"/>
          <p:nvPr/>
        </p:nvSpPr>
        <p:spPr>
          <a:xfrm>
            <a:off x="1005840" y="581869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Di Java, </a:t>
            </a:r>
            <a:r>
              <a:rPr lang="id-ID" altLang="en-US" sz="1800" dirty="0">
                <a:solidFill>
                  <a:srgbClr val="57606A"/>
                </a:solidFill>
                <a:latin typeface="Consolas" pitchFamily="34" charset="0"/>
                <a:ea typeface="Consolas" pitchFamily="34" charset="-122"/>
                <a:cs typeface="Consolas" pitchFamily="34" charset="-120"/>
              </a:rPr>
              <a:t>a.compareTo(b)</a:t>
            </a:r>
            <a:r>
              <a:rPr lang="id-ID" altLang="en-US" sz="1800" dirty="0">
                <a:solidFill>
                  <a:srgbClr val="57606A"/>
                </a:solidFill>
              </a:rPr>
              <a:t> mengembalikan negatif (</a:t>
            </a:r>
            <a:r>
              <a:rPr lang="id-ID" altLang="en-US" sz="1800" dirty="0">
                <a:solidFill>
                  <a:srgbClr val="57606A"/>
                </a:solidFill>
                <a:latin typeface="Consolas" pitchFamily="34" charset="0"/>
                <a:ea typeface="Consolas" pitchFamily="34" charset="-122"/>
                <a:cs typeface="Consolas" pitchFamily="34" charset="-120"/>
              </a:rPr>
              <a:t>a</a:t>
            </a:r>
            <a:r>
              <a:rPr lang="id-ID" altLang="en-US" sz="1800" dirty="0">
                <a:solidFill>
                  <a:srgbClr val="57606A"/>
                </a:solidFill>
              </a:rPr>
              <a:t> sebelum </a:t>
            </a:r>
            <a:r>
              <a:rPr lang="id-ID" altLang="en-US" sz="1800" dirty="0">
                <a:solidFill>
                  <a:srgbClr val="57606A"/>
                </a:solidFill>
                <a:latin typeface="Consolas" pitchFamily="34" charset="0"/>
                <a:ea typeface="Consolas" pitchFamily="34" charset="-122"/>
                <a:cs typeface="Consolas" pitchFamily="34" charset="-120"/>
              </a:rPr>
              <a:t>b</a:t>
            </a:r>
            <a:r>
              <a:rPr lang="id-ID" altLang="en-US" sz="1800" dirty="0">
                <a:solidFill>
                  <a:srgbClr val="57606A"/>
                </a:solidFill>
              </a:rPr>
              <a:t>), nol (setara), atau positif (</a:t>
            </a:r>
            <a:r>
              <a:rPr lang="id-ID" altLang="en-US" sz="1800" dirty="0">
                <a:solidFill>
                  <a:srgbClr val="57606A"/>
                </a:solidFill>
                <a:latin typeface="Consolas" pitchFamily="34" charset="0"/>
                <a:ea typeface="Consolas" pitchFamily="34" charset="-122"/>
                <a:cs typeface="Consolas" pitchFamily="34" charset="-120"/>
              </a:rPr>
              <a:t>a</a:t>
            </a:r>
            <a:r>
              <a:rPr lang="id-ID" altLang="en-US" sz="1800" dirty="0">
                <a:solidFill>
                  <a:srgbClr val="57606A"/>
                </a:solidFill>
              </a:rPr>
              <a:t> sesudah </a:t>
            </a:r>
            <a:r>
              <a:rPr lang="id-ID" altLang="en-US" sz="1800" dirty="0">
                <a:solidFill>
                  <a:srgbClr val="57606A"/>
                </a:solidFill>
                <a:latin typeface="Consolas" pitchFamily="34" charset="0"/>
                <a:ea typeface="Consolas" pitchFamily="34" charset="-122"/>
                <a:cs typeface="Consolas" pitchFamily="34" charset="-120"/>
              </a:rPr>
              <a:t>b</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Lambda</a:t>
            </a:r>
            <a:r>
              <a:rPr lang="id-ID" altLang="en-US" sz="3200" b="1" dirty="0">
                <a:solidFill>
                  <a:srgbClr val="0A3069"/>
                </a:solidFill>
              </a:rPr>
              <a:t>: Fungsi Kecil tanpa Nama</a:t>
            </a:r>
            <a:endParaRPr lang="id-ID" sz="3200" dirty="0"/>
          </a:p>
        </p:txBody>
      </p:sp>
      <p:sp>
        <p:nvSpPr>
          <p:cNvPr id="5" name="Text 2"/>
          <p:cNvSpPr txBox="1"/>
          <p:nvPr/>
        </p:nvSpPr>
        <p:spPr>
          <a:xfrm>
            <a:off x="548640" y="1475994"/>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Lambda</a:t>
            </a:r>
            <a:endParaRPr lang="id-ID" sz="3000" dirty="0"/>
          </a:p>
        </p:txBody>
      </p:sp>
      <p:sp>
        <p:nvSpPr>
          <p:cNvPr id="6" name="Shape 3"/>
          <p:cNvSpPr/>
          <p:nvPr/>
        </p:nvSpPr>
        <p:spPr>
          <a:xfrm>
            <a:off x="548640" y="2189226"/>
            <a:ext cx="11094415" cy="951484"/>
          </a:xfrm>
          <a:prstGeom prst="roundRect">
            <a:avLst>
              <a:gd name="adj" fmla="val 11083"/>
            </a:avLst>
          </a:prstGeom>
          <a:solidFill>
            <a:srgbClr val="DDF4FF"/>
          </a:solidFill>
          <a:ln w="9525">
            <a:solidFill>
              <a:srgbClr val="54AEFF"/>
            </a:solidFill>
            <a:prstDash val="solid"/>
          </a:ln>
        </p:spPr>
      </p:sp>
      <p:sp>
        <p:nvSpPr>
          <p:cNvPr id="7" name="Shape 4"/>
          <p:cNvSpPr/>
          <p:nvPr/>
        </p:nvSpPr>
        <p:spPr>
          <a:xfrm>
            <a:off x="804672" y="2390648"/>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511349"/>
            <a:ext cx="307238" cy="307238"/>
          </a:xfrm>
          <a:prstGeom prst="rect">
            <a:avLst/>
          </a:prstGeom>
        </p:spPr>
      </p:pic>
      <p:sp>
        <p:nvSpPr>
          <p:cNvPr id="9" name="Text 5"/>
          <p:cNvSpPr txBox="1"/>
          <p:nvPr/>
        </p:nvSpPr>
        <p:spPr>
          <a:xfrm>
            <a:off x="1554480" y="2463546"/>
            <a:ext cx="9859975" cy="585724"/>
          </a:xfrm>
          <a:prstGeom prst="rect">
            <a:avLst/>
          </a:prstGeom>
          <a:noFill/>
          <a:ln/>
        </p:spPr>
        <p:txBody>
          <a:bodyPr wrap="square" lIns="0" tIns="0" rIns="0" bIns="0" rtlCol="0" anchor="t"/>
          <a:lstStyle/>
          <a:p>
            <a:pPr indent="0" marL="0">
              <a:buNone/>
            </a:pPr>
            <a:r>
              <a:rPr lang="id-ID" altLang="en-US" sz="2600" dirty="0">
                <a:solidFill>
                  <a:srgbClr val="1F2328"/>
                </a:solidFill>
              </a:rPr>
              <a:t>Fungsi kecil </a:t>
            </a:r>
            <a:r>
              <a:rPr lang="id-ID" altLang="en-US" sz="2600" b="1" dirty="0">
                <a:solidFill>
                  <a:srgbClr val="1F2328"/>
                </a:solidFill>
              </a:rPr>
              <a:t>tanpa nama</a:t>
            </a:r>
            <a:r>
              <a:rPr lang="id-ID" altLang="en-US" sz="2600" dirty="0">
                <a:solidFill>
                  <a:srgbClr val="1F2328"/>
                </a:solidFill>
              </a:rPr>
              <a:t> yang ditulis langsung di tempat ia dibutuhkan.</a:t>
            </a:r>
            <a:endParaRPr lang="id-ID" sz="2600" dirty="0"/>
          </a:p>
        </p:txBody>
      </p:sp>
      <p:sp>
        <p:nvSpPr>
          <p:cNvPr id="10" name="Shape 6"/>
          <p:cNvSpPr/>
          <p:nvPr/>
        </p:nvSpPr>
        <p:spPr>
          <a:xfrm>
            <a:off x="603504" y="3699764"/>
            <a:ext cx="137160" cy="137160"/>
          </a:xfrm>
          <a:prstGeom prst="roundRect">
            <a:avLst>
              <a:gd name="adj" fmla="val 166667"/>
            </a:avLst>
          </a:prstGeom>
          <a:solidFill>
            <a:srgbClr val="0969DA"/>
          </a:solidFill>
          <a:ln/>
        </p:spPr>
      </p:sp>
      <p:sp>
        <p:nvSpPr>
          <p:cNvPr id="11" name="Text 7"/>
          <p:cNvSpPr txBox="1"/>
          <p:nvPr/>
        </p:nvSpPr>
        <p:spPr>
          <a:xfrm>
            <a:off x="932688" y="3597910"/>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Python: </a:t>
            </a:r>
            <a:r>
              <a:rPr lang="id-ID" altLang="en-US" sz="2200" dirty="0">
                <a:solidFill>
                  <a:srgbClr val="1F2328"/>
                </a:solidFill>
                <a:latin typeface="Consolas" pitchFamily="34" charset="0"/>
                <a:ea typeface="Consolas" pitchFamily="34" charset="-122"/>
                <a:cs typeface="Consolas" pitchFamily="34" charset="-120"/>
              </a:rPr>
              <a:t>lambda m: m.harga</a:t>
            </a:r>
            <a:r>
              <a:rPr lang="id-ID" altLang="en-US" sz="2200" dirty="0">
                <a:solidFill>
                  <a:srgbClr val="1F2328"/>
                </a:solidFill>
              </a:rPr>
              <a:t>. Java: </a:t>
            </a:r>
            <a:r>
              <a:rPr lang="id-ID" altLang="en-US" sz="2200" dirty="0">
                <a:solidFill>
                  <a:srgbClr val="1F2328"/>
                </a:solidFill>
                <a:latin typeface="Consolas" pitchFamily="34" charset="0"/>
                <a:ea typeface="Consolas" pitchFamily="34" charset="-122"/>
                <a:cs typeface="Consolas" pitchFamily="34" charset="-120"/>
              </a:rPr>
              <a:t>m -&gt; m.getHarga()</a:t>
            </a:r>
            <a:r>
              <a:rPr lang="id-ID" altLang="en-US" sz="2200" dirty="0">
                <a:solidFill>
                  <a:srgbClr val="1F2328"/>
                </a:solidFill>
              </a:rPr>
              <a:t>. Keduanya berarti “diberi menu </a:t>
            </a:r>
            <a:r>
              <a:rPr lang="id-ID" altLang="en-US" sz="2200" dirty="0">
                <a:solidFill>
                  <a:srgbClr val="1F2328"/>
                </a:solidFill>
                <a:latin typeface="Consolas" pitchFamily="34" charset="0"/>
                <a:ea typeface="Consolas" pitchFamily="34" charset="-122"/>
                <a:cs typeface="Consolas" pitchFamily="34" charset="-120"/>
              </a:rPr>
              <a:t>m</a:t>
            </a:r>
            <a:r>
              <a:rPr lang="id-ID" altLang="en-US" sz="2200" dirty="0">
                <a:solidFill>
                  <a:srgbClr val="1F2328"/>
                </a:solidFill>
              </a:rPr>
              <a:t>, kembalikan harganya”.</a:t>
            </a:r>
            <a:endParaRPr lang="id-ID" sz="2200" dirty="0"/>
          </a:p>
        </p:txBody>
      </p:sp>
      <p:sp>
        <p:nvSpPr>
          <p:cNvPr id="12" name="Shape 8"/>
          <p:cNvSpPr/>
          <p:nvPr/>
        </p:nvSpPr>
        <p:spPr>
          <a:xfrm>
            <a:off x="603504" y="4619244"/>
            <a:ext cx="137160" cy="137160"/>
          </a:xfrm>
          <a:prstGeom prst="roundRect">
            <a:avLst>
              <a:gd name="adj" fmla="val 166667"/>
            </a:avLst>
          </a:prstGeom>
          <a:solidFill>
            <a:srgbClr val="0969DA"/>
          </a:solidFill>
          <a:ln/>
        </p:spPr>
      </p:sp>
      <p:sp>
        <p:nvSpPr>
          <p:cNvPr id="13" name="Text 9"/>
          <p:cNvSpPr txBox="1"/>
          <p:nvPr/>
        </p:nvSpPr>
        <p:spPr>
          <a:xfrm>
            <a:off x="932688" y="4517390"/>
            <a:ext cx="10710367" cy="727456"/>
          </a:xfrm>
          <a:prstGeom prst="rect">
            <a:avLst/>
          </a:prstGeom>
          <a:noFill/>
          <a:ln/>
        </p:spPr>
        <p:txBody>
          <a:bodyPr wrap="square" lIns="0" tIns="0" rIns="0" bIns="0" rtlCol="0" anchor="t"/>
          <a:lstStyle/>
          <a:p>
            <a:pPr indent="0" marL="0">
              <a:buNone/>
            </a:pPr>
            <a:r>
              <a:rPr lang="id-ID" altLang="en-US" sz="2200" i="1" dirty="0">
                <a:solidFill>
                  <a:srgbClr val="1F2328"/>
                </a:solidFill>
              </a:rPr>
              <a:t>Method reference</a:t>
            </a:r>
            <a:r>
              <a:rPr lang="id-ID" altLang="en-US" sz="2200" dirty="0">
                <a:solidFill>
                  <a:srgbClr val="1F2328"/>
                </a:solidFill>
              </a:rPr>
              <a:t> Java, misalnya </a:t>
            </a:r>
            <a:r>
              <a:rPr lang="id-ID" altLang="en-US" sz="2200" dirty="0">
                <a:solidFill>
                  <a:srgbClr val="1F2328"/>
                </a:solidFill>
                <a:latin typeface="Consolas" pitchFamily="34" charset="0"/>
                <a:ea typeface="Consolas" pitchFamily="34" charset="-122"/>
                <a:cs typeface="Consolas" pitchFamily="34" charset="-120"/>
              </a:rPr>
              <a:t>Menu::getHarga</a:t>
            </a:r>
            <a:r>
              <a:rPr lang="id-ID" altLang="en-US" sz="2200" dirty="0">
                <a:solidFill>
                  <a:srgbClr val="1F2328"/>
                </a:solidFill>
              </a:rPr>
              <a:t>, adalah singkatan </a:t>
            </a:r>
            <a:r>
              <a:rPr lang="id-ID" altLang="en-US" sz="2200" i="1" dirty="0">
                <a:solidFill>
                  <a:srgbClr val="1F2328"/>
                </a:solidFill>
              </a:rPr>
              <a:t>lambda</a:t>
            </a:r>
            <a:r>
              <a:rPr lang="id-ID" altLang="en-US" sz="2200" dirty="0">
                <a:solidFill>
                  <a:srgbClr val="1F2328"/>
                </a:solidFill>
              </a:rPr>
              <a:t> yang hanya memanggil satu </a:t>
            </a:r>
            <a:r>
              <a:rPr lang="id-ID" altLang="en-US" sz="2200" i="1" dirty="0">
                <a:solidFill>
                  <a:srgbClr val="1F2328"/>
                </a:solidFill>
              </a:rPr>
              <a:t>method</a:t>
            </a:r>
            <a:r>
              <a:rPr lang="id-ID" altLang="en-US" sz="2200" dirty="0">
                <a:solidFill>
                  <a:srgbClr val="1F2328"/>
                </a:solidFill>
              </a:rPr>
              <a:t>.</a:t>
            </a:r>
            <a:endParaRPr lang="id-ID" sz="2200" dirty="0"/>
          </a:p>
        </p:txBody>
      </p:sp>
      <p:sp>
        <p:nvSpPr>
          <p:cNvPr id="14" name="Shape 10"/>
          <p:cNvSpPr/>
          <p:nvPr/>
        </p:nvSpPr>
        <p:spPr>
          <a:xfrm>
            <a:off x="603504" y="5538724"/>
            <a:ext cx="137160" cy="137160"/>
          </a:xfrm>
          <a:prstGeom prst="roundRect">
            <a:avLst>
              <a:gd name="adj" fmla="val 166667"/>
            </a:avLst>
          </a:prstGeom>
          <a:solidFill>
            <a:srgbClr val="0969DA"/>
          </a:solidFill>
          <a:ln/>
        </p:spPr>
      </p:sp>
      <p:sp>
        <p:nvSpPr>
          <p:cNvPr id="15" name="Text 11"/>
          <p:cNvSpPr txBox="1"/>
          <p:nvPr/>
        </p:nvSpPr>
        <p:spPr>
          <a:xfrm>
            <a:off x="932688" y="5436870"/>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latin typeface="Consolas" pitchFamily="34" charset="0"/>
                <a:ea typeface="Consolas" pitchFamily="34" charset="-122"/>
                <a:cs typeface="Consolas" pitchFamily="34" charset="-120"/>
              </a:rPr>
              <a:t>sorted(daftar, key=...)</a:t>
            </a:r>
            <a:r>
              <a:rPr lang="id-ID" altLang="en-US" sz="2200" dirty="0">
                <a:solidFill>
                  <a:srgbClr val="1F2328"/>
                </a:solidFill>
              </a:rPr>
              <a:t> membuat </a:t>
            </a:r>
            <a:r>
              <a:rPr lang="id-ID" altLang="en-US" sz="2200" i="1" dirty="0">
                <a:solidFill>
                  <a:srgbClr val="1F2328"/>
                </a:solidFill>
              </a:rPr>
              <a:t>list</a:t>
            </a:r>
            <a:r>
              <a:rPr lang="id-ID" altLang="en-US" sz="2200" dirty="0">
                <a:solidFill>
                  <a:srgbClr val="1F2328"/>
                </a:solidFill>
              </a:rPr>
              <a:t> baru, sedangkan </a:t>
            </a:r>
            <a:r>
              <a:rPr lang="id-ID" altLang="en-US" sz="2200" dirty="0">
                <a:solidFill>
                  <a:srgbClr val="1F2328"/>
                </a:solidFill>
                <a:latin typeface="Consolas" pitchFamily="34" charset="0"/>
                <a:ea typeface="Consolas" pitchFamily="34" charset="-122"/>
                <a:cs typeface="Consolas" pitchFamily="34" charset="-120"/>
              </a:rPr>
              <a:t>daftar.sort(...)</a:t>
            </a:r>
            <a:r>
              <a:rPr lang="id-ID" altLang="en-US" sz="2200" dirty="0">
                <a:solidFill>
                  <a:srgbClr val="1F2328"/>
                </a:solidFill>
              </a:rPr>
              <a:t> mengurutkan </a:t>
            </a:r>
            <a:r>
              <a:rPr lang="id-ID" altLang="en-US" sz="2200" i="1" dirty="0">
                <a:solidFill>
                  <a:srgbClr val="1F2328"/>
                </a:solidFill>
              </a:rPr>
              <a:t>list</a:t>
            </a:r>
            <a:r>
              <a:rPr lang="id-ID" altLang="en-US" sz="2200" dirty="0">
                <a:solidFill>
                  <a:srgbClr val="1F2328"/>
                </a:solidFill>
              </a:rPr>
              <a:t> itu sendiri.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Urutan Alami dan Urutan Khusus: Lomba Lari</a:t>
            </a:r>
            <a:endParaRPr lang="id-ID" sz="3200" dirty="0"/>
          </a:p>
        </p:txBody>
      </p:sp>
      <p:sp>
        <p:nvSpPr>
          <p:cNvPr id="5" name="Text 2"/>
          <p:cNvSpPr txBox="1"/>
          <p:nvPr/>
        </p:nvSpPr>
        <p:spPr>
          <a:xfrm>
            <a:off x="548640" y="1915561"/>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Urutan alami pelari: tercepat dulu; jika waktunya sama, nomor dada kecil dulu. Absensi memakai urutan khusus: nama A⁠—⁠Z.</a:t>
            </a:r>
            <a:endParaRPr lang="id-ID" sz="1800" dirty="0"/>
          </a:p>
        </p:txBody>
      </p:sp>
      <p:sp>
        <p:nvSpPr>
          <p:cNvPr id="6" name="Shape 3"/>
          <p:cNvSpPr/>
          <p:nvPr/>
        </p:nvSpPr>
        <p:spPr>
          <a:xfrm>
            <a:off x="548640" y="2628793"/>
            <a:ext cx="1051560" cy="329184"/>
          </a:xfrm>
          <a:prstGeom prst="roundRect">
            <a:avLst>
              <a:gd name="adj" fmla="val 138889"/>
            </a:avLst>
          </a:prstGeom>
          <a:solidFill>
            <a:srgbClr val="3572A5"/>
          </a:solidFill>
          <a:ln/>
        </p:spPr>
      </p:sp>
      <p:sp>
        <p:nvSpPr>
          <p:cNvPr id="7" name="Text 4"/>
          <p:cNvSpPr txBox="1"/>
          <p:nvPr/>
        </p:nvSpPr>
        <p:spPr>
          <a:xfrm>
            <a:off x="548640" y="262879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62879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python/contoh/contoh06_urutan_alami.py</a:t>
            </a:r>
            <a:endParaRPr lang="id-ID" sz="1100" dirty="0"/>
          </a:p>
        </p:txBody>
      </p:sp>
      <p:sp>
        <p:nvSpPr>
          <p:cNvPr id="9" name="Shape 6"/>
          <p:cNvSpPr/>
          <p:nvPr/>
        </p:nvSpPr>
        <p:spPr>
          <a:xfrm>
            <a:off x="548640" y="3049417"/>
            <a:ext cx="5432908" cy="2399030"/>
          </a:xfrm>
          <a:prstGeom prst="roundRect">
            <a:avLst>
              <a:gd name="adj" fmla="val 1453"/>
            </a:avLst>
          </a:prstGeom>
          <a:solidFill>
            <a:srgbClr val="F6F8FA"/>
          </a:solidFill>
          <a:ln w="9525">
            <a:solidFill>
              <a:srgbClr val="D0D7DE"/>
            </a:solidFill>
            <a:prstDash val="solid"/>
          </a:ln>
        </p:spPr>
      </p:sp>
      <p:sp>
        <p:nvSpPr>
          <p:cNvPr id="10" name="Text 7"/>
          <p:cNvSpPr txBox="1"/>
          <p:nvPr/>
        </p:nvSpPr>
        <p:spPr>
          <a:xfrm>
            <a:off x="658368" y="3140857"/>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__lt__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lain: </a:t>
            </a:r>
            <a:r>
              <a:rPr lang="en-US" altLang="en-US" sz="1100" dirty="0">
                <a:solidFill>
                  <a:srgbClr val="0A3069"/>
                </a:solidFill>
                <a:latin typeface="Consolas" pitchFamily="34" charset="0"/>
                <a:ea typeface="Consolas" pitchFamily="34" charset="-122"/>
                <a:cs typeface="Consolas" pitchFamily="34" charset="-120"/>
              </a:rPr>
              <a:t>"Pelari"</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bool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._waktu_detik != lain._waktu_detik: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._waktu_detik &lt; lain._waktu_detik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._nomor &lt; lain._nomor</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nomor, pelari in </a:t>
            </a:r>
            <a:r>
              <a:rPr lang="en-US" altLang="en-US" sz="1100" dirty="0">
                <a:solidFill>
                  <a:srgbClr val="0550AE"/>
                </a:solidFill>
                <a:latin typeface="Consolas" pitchFamily="34" charset="0"/>
                <a:ea typeface="Consolas" pitchFamily="34" charset="-122"/>
                <a:cs typeface="Consolas" pitchFamily="34" charset="-120"/>
              </a:rPr>
              <a:t>enumerate</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sorted</a:t>
            </a:r>
            <a:r>
              <a:rPr lang="en-US" altLang="en-US" sz="1100" dirty="0">
                <a:solidFill>
                  <a:srgbClr val="1F2328"/>
                </a:solidFill>
                <a:latin typeface="Consolas" pitchFamily="34" charset="0"/>
                <a:ea typeface="Consolas" pitchFamily="34" charset="-122"/>
                <a:cs typeface="Consolas" pitchFamily="34" charset="-120"/>
              </a:rPr>
              <a:t>(hasil), start=</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a:t>
            </a:r>
            <a:r>
              <a:rPr lang="en-US" altLang="en-US" sz="1100" dirty="0">
                <a:solidFill>
                  <a:srgbClr val="1F2328"/>
                </a:solidFill>
                <a:latin typeface="Consolas" pitchFamily="34" charset="0"/>
                <a:ea typeface="Consolas" pitchFamily="34" charset="-122"/>
                <a:cs typeface="Consolas" pitchFamily="34" charset="-120"/>
              </a:rPr>
              <a:t>nomor</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1F2328"/>
                </a:solidFill>
                <a:latin typeface="Consolas" pitchFamily="34" charset="0"/>
                <a:ea typeface="Consolas" pitchFamily="34" charset="-122"/>
                <a:cs typeface="Consolas" pitchFamily="34" charset="-120"/>
              </a:rPr>
              <a:t>pelari</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absensi = </a:t>
            </a:r>
            <a:r>
              <a:rPr lang="en-US" altLang="en-US" sz="1100" dirty="0">
                <a:solidFill>
                  <a:srgbClr val="0550AE"/>
                </a:solidFill>
                <a:latin typeface="Consolas" pitchFamily="34" charset="0"/>
                <a:ea typeface="Consolas" pitchFamily="34" charset="-122"/>
                <a:cs typeface="Consolas" pitchFamily="34" charset="-120"/>
              </a:rPr>
              <a:t>sorted</a:t>
            </a:r>
            <a:r>
              <a:rPr lang="en-US" altLang="en-US" sz="1100" dirty="0">
                <a:solidFill>
                  <a:srgbClr val="1F2328"/>
                </a:solidFill>
                <a:latin typeface="Consolas" pitchFamily="34" charset="0"/>
                <a:ea typeface="Consolas" pitchFamily="34" charset="-122"/>
                <a:cs typeface="Consolas" pitchFamily="34" charset="-120"/>
              </a:rPr>
              <a:t>(hasil, key=</a:t>
            </a:r>
            <a:r>
              <a:rPr lang="en-US" altLang="en-US" sz="1100" dirty="0">
                <a:solidFill>
                  <a:srgbClr val="CF222E"/>
                </a:solidFill>
                <a:latin typeface="Consolas" pitchFamily="34" charset="0"/>
                <a:ea typeface="Consolas" pitchFamily="34" charset="-122"/>
                <a:cs typeface="Consolas" pitchFamily="34" charset="-120"/>
              </a:rPr>
              <a:t>lambda</a:t>
            </a:r>
            <a:r>
              <a:rPr lang="en-US" altLang="en-US" sz="1100" dirty="0">
                <a:solidFill>
                  <a:srgbClr val="1F2328"/>
                </a:solidFill>
                <a:latin typeface="Consolas" pitchFamily="34" charset="0"/>
                <a:ea typeface="Consolas" pitchFamily="34" charset="-122"/>
                <a:cs typeface="Consolas" pitchFamily="34" charset="-120"/>
              </a:rPr>
              <a:t> p: p.nama)</a:t>
            </a:r>
            <a:endParaRPr lang="en-US" sz="1100" dirty="0"/>
          </a:p>
        </p:txBody>
      </p:sp>
      <p:sp>
        <p:nvSpPr>
          <p:cNvPr id="11" name="Shape 8"/>
          <p:cNvSpPr/>
          <p:nvPr/>
        </p:nvSpPr>
        <p:spPr>
          <a:xfrm>
            <a:off x="6210148" y="2628793"/>
            <a:ext cx="1051560" cy="329184"/>
          </a:xfrm>
          <a:prstGeom prst="roundRect">
            <a:avLst>
              <a:gd name="adj" fmla="val 138889"/>
            </a:avLst>
          </a:prstGeom>
          <a:solidFill>
            <a:srgbClr val="B07219"/>
          </a:solidFill>
          <a:ln/>
        </p:spPr>
      </p:sp>
      <p:sp>
        <p:nvSpPr>
          <p:cNvPr id="12" name="Text 9"/>
          <p:cNvSpPr txBox="1"/>
          <p:nvPr/>
        </p:nvSpPr>
        <p:spPr>
          <a:xfrm>
            <a:off x="6210148" y="262879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62879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java/contoh/Contoh06Comparable.java</a:t>
            </a:r>
            <a:endParaRPr lang="id-ID" sz="1100" dirty="0"/>
          </a:p>
        </p:txBody>
      </p:sp>
      <p:sp>
        <p:nvSpPr>
          <p:cNvPr id="14" name="Shape 11"/>
          <p:cNvSpPr/>
          <p:nvPr/>
        </p:nvSpPr>
        <p:spPr>
          <a:xfrm>
            <a:off x="6210148" y="3049417"/>
            <a:ext cx="5432908" cy="2399030"/>
          </a:xfrm>
          <a:prstGeom prst="roundRect">
            <a:avLst>
              <a:gd name="adj" fmla="val 1453"/>
            </a:avLst>
          </a:prstGeom>
          <a:solidFill>
            <a:srgbClr val="F6F8FA"/>
          </a:solidFill>
          <a:ln w="9525">
            <a:solidFill>
              <a:srgbClr val="D0D7DE"/>
            </a:solidFill>
            <a:prstDash val="solid"/>
          </a:ln>
        </p:spPr>
      </p:sp>
      <p:sp>
        <p:nvSpPr>
          <p:cNvPr id="15" name="Text 12"/>
          <p:cNvSpPr txBox="1"/>
          <p:nvPr/>
        </p:nvSpPr>
        <p:spPr>
          <a:xfrm>
            <a:off x="6319876" y="3140857"/>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compareTo</a:t>
            </a:r>
            <a:r>
              <a:rPr lang="en-US" altLang="en-US" sz="1100" dirty="0">
                <a:solidFill>
                  <a:srgbClr val="1F2328"/>
                </a:solidFill>
                <a:latin typeface="Consolas" pitchFamily="34" charset="0"/>
                <a:ea typeface="Consolas" pitchFamily="34" charset="-122"/>
                <a:cs typeface="Consolas" pitchFamily="34" charset="-120"/>
              </a:rPr>
              <a:t>(Pelari lain)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(waktuDetik != lain.waktuDetik)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Integer.compare(waktuDetik, lain.waktuDetik);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Integer.compare(nomor, lain.nomor);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Collections.sort(peringkat);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i = </a:t>
            </a:r>
            <a:r>
              <a:rPr lang="en-US" altLang="en-US" sz="1100" dirty="0">
                <a:solidFill>
                  <a:srgbClr val="0550AE"/>
                </a:solidFill>
                <a:latin typeface="Consolas" pitchFamily="34" charset="0"/>
                <a:ea typeface="Consolas" pitchFamily="34" charset="-122"/>
                <a:cs typeface="Consolas" pitchFamily="34" charset="-120"/>
              </a:rPr>
              <a:t>0</a:t>
            </a:r>
            <a:r>
              <a:rPr lang="en-US" altLang="en-US" sz="1100" dirty="0">
                <a:solidFill>
                  <a:srgbClr val="1F2328"/>
                </a:solidFill>
                <a:latin typeface="Consolas" pitchFamily="34" charset="0"/>
                <a:ea typeface="Consolas" pitchFamily="34" charset="-122"/>
                <a:cs typeface="Consolas" pitchFamily="34" charset="-120"/>
              </a:rPr>
              <a:t>; i &lt; peringkat.size(); i++)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System.out.println((i +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1F2328"/>
                </a:solidFill>
                <a:latin typeface="Consolas" pitchFamily="34" charset="0"/>
                <a:ea typeface="Consolas" pitchFamily="34" charset="-122"/>
                <a:cs typeface="Consolas" pitchFamily="34" charset="-120"/>
              </a:rPr>
              <a:t> + peringkat.get(i));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absensi.sort(Comparator.comparing(Pelari::getNama));</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Kesamaan Objek dan </a:t>
            </a:r>
            <a:r>
              <a:rPr lang="id-ID" altLang="en-US" sz="4200" b="1" i="1" dirty="0">
                <a:solidFill>
                  <a:srgbClr val="FFFFFF"/>
                </a:solidFill>
              </a:rPr>
              <a:t>Generics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Kapan dua objek dianggap sama, dan wadah berlabel agar tidak salah isi.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Mengapa Kesamaan Harus Berpasangan dengan </a:t>
            </a:r>
            <a:r>
              <a:rPr lang="id-ID" altLang="en-US" sz="3200" b="1" i="1" dirty="0">
                <a:solidFill>
                  <a:srgbClr val="0A3069"/>
                </a:solidFill>
              </a:rPr>
              <a:t>Hash</a:t>
            </a:r>
            <a:r>
              <a:rPr lang="id-ID" altLang="en-US" sz="3200" b="1" dirty="0">
                <a:solidFill>
                  <a:srgbClr val="0A3069"/>
                </a:solidFill>
              </a:rPr>
              <a:t>?</a:t>
            </a:r>
            <a:endParaRPr lang="id-ID" sz="3200" dirty="0"/>
          </a:p>
        </p:txBody>
      </p:sp>
      <p:pic>
        <p:nvPicPr>
          <p:cNvPr id="5" name="Image 1" descr="Dua objek yang dianggap sama harus punya kode hash yang sama. Tulis __eq__ bersama __hash__, atau equals() bersama hashCode().">    </p:cNvPr>
          <p:cNvPicPr>
            <a:picLocks noChangeAspect="1"/>
          </p:cNvPicPr>
          <p:nvPr/>
        </p:nvPicPr>
        <p:blipFill>
          <a:blip r:embed="rId2"/>
          <a:stretch>
            <a:fillRect/>
          </a:stretch>
        </p:blipFill>
        <p:spPr>
          <a:xfrm>
            <a:off x="689908" y="1417320"/>
            <a:ext cx="10811879" cy="4072636"/>
          </a:xfrm>
          <a:prstGeom prst="rect">
            <a:avLst/>
          </a:prstGeom>
        </p:spPr>
      </p:pic>
      <p:sp>
        <p:nvSpPr>
          <p:cNvPr id="6" name="Text 2"/>
          <p:cNvSpPr txBox="1"/>
          <p:nvPr/>
        </p:nvSpPr>
        <p:spPr>
          <a:xfrm>
            <a:off x="1005840" y="5599684"/>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Dua objek yang dianggap sama </a:t>
            </a:r>
            <a:r>
              <a:rPr lang="id-ID" altLang="en-US" sz="1700" b="1" dirty="0">
                <a:solidFill>
                  <a:srgbClr val="57606A"/>
                </a:solidFill>
              </a:rPr>
              <a:t>harus</a:t>
            </a:r>
            <a:r>
              <a:rPr lang="id-ID" altLang="en-US" sz="1700" dirty="0">
                <a:solidFill>
                  <a:srgbClr val="57606A"/>
                </a:solidFill>
              </a:rPr>
              <a:t> punya kode </a:t>
            </a:r>
            <a:r>
              <a:rPr lang="id-ID" altLang="en-US" sz="1700" i="1" dirty="0">
                <a:solidFill>
                  <a:srgbClr val="57606A"/>
                </a:solidFill>
              </a:rPr>
              <a:t>hash</a:t>
            </a:r>
            <a:r>
              <a:rPr lang="id-ID" altLang="en-US" sz="1700" dirty="0">
                <a:solidFill>
                  <a:srgbClr val="57606A"/>
                </a:solidFill>
              </a:rPr>
              <a:t> yang sama. Tulis </a:t>
            </a:r>
            <a:r>
              <a:rPr lang="id-ID" altLang="en-US" sz="1700" dirty="0">
                <a:solidFill>
                  <a:srgbClr val="57606A"/>
                </a:solidFill>
                <a:latin typeface="Consolas" pitchFamily="34" charset="0"/>
                <a:ea typeface="Consolas" pitchFamily="34" charset="-122"/>
                <a:cs typeface="Consolas" pitchFamily="34" charset="-120"/>
              </a:rPr>
              <a:t>__eq__</a:t>
            </a:r>
            <a:r>
              <a:rPr lang="id-ID" altLang="en-US" sz="1700" dirty="0">
                <a:solidFill>
                  <a:srgbClr val="57606A"/>
                </a:solidFill>
              </a:rPr>
              <a:t> bersama </a:t>
            </a:r>
            <a:r>
              <a:rPr lang="id-ID" altLang="en-US" sz="1700" dirty="0">
                <a:solidFill>
                  <a:srgbClr val="57606A"/>
                </a:solidFill>
                <a:latin typeface="Consolas" pitchFamily="34" charset="0"/>
                <a:ea typeface="Consolas" pitchFamily="34" charset="-122"/>
                <a:cs typeface="Consolas" pitchFamily="34" charset="-120"/>
              </a:rPr>
              <a:t>__hash__</a:t>
            </a:r>
            <a:r>
              <a:rPr lang="id-ID" altLang="en-US" sz="1700" dirty="0">
                <a:solidFill>
                  <a:srgbClr val="57606A"/>
                </a:solidFill>
              </a:rPr>
              <a:t>, atau </a:t>
            </a:r>
            <a:r>
              <a:rPr lang="id-ID" altLang="en-US" sz="1700" dirty="0">
                <a:solidFill>
                  <a:srgbClr val="57606A"/>
                </a:solidFill>
                <a:latin typeface="Consolas" pitchFamily="34" charset="0"/>
                <a:ea typeface="Consolas" pitchFamily="34" charset="-122"/>
                <a:cs typeface="Consolas" pitchFamily="34" charset="-120"/>
              </a:rPr>
              <a:t>equals()</a:t>
            </a:r>
            <a:r>
              <a:rPr lang="id-ID" altLang="en-US" sz="1700" dirty="0">
                <a:solidFill>
                  <a:srgbClr val="57606A"/>
                </a:solidFill>
              </a:rPr>
              <a:t> bersama </a:t>
            </a:r>
            <a:r>
              <a:rPr lang="id-ID" altLang="en-US" sz="1700" dirty="0">
                <a:solidFill>
                  <a:srgbClr val="57606A"/>
                </a:solidFill>
                <a:latin typeface="Consolas" pitchFamily="34" charset="0"/>
                <a:ea typeface="Consolas" pitchFamily="34" charset="-122"/>
                <a:cs typeface="Consolas" pitchFamily="34" charset="-120"/>
              </a:rPr>
              <a:t>hashCode()</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2800" b="1" dirty="0">
                <a:solidFill>
                  <a:srgbClr val="0A3069"/>
                </a:solidFill>
              </a:rPr>
              <a:t>Kesamaan Objek: </a:t>
            </a:r>
            <a:r>
              <a:rPr lang="id-ID" altLang="en-US" sz="2800" b="1" dirty="0">
                <a:solidFill>
                  <a:srgbClr val="0A3069"/>
                </a:solidFill>
                <a:latin typeface="Consolas" pitchFamily="34" charset="0"/>
                <a:ea typeface="Consolas" pitchFamily="34" charset="-122"/>
                <a:cs typeface="Consolas" pitchFamily="34" charset="-120"/>
              </a:rPr>
              <a:t>__eq__</a:t>
            </a:r>
            <a:r>
              <a:rPr lang="id-ID" altLang="en-US" sz="2800" b="1" dirty="0">
                <a:solidFill>
                  <a:srgbClr val="0A3069"/>
                </a:solidFill>
              </a:rPr>
              <a:t>/</a:t>
            </a:r>
            <a:r>
              <a:rPr lang="id-ID" altLang="en-US" sz="2800" b="1" dirty="0">
                <a:solidFill>
                  <a:srgbClr val="0A3069"/>
                </a:solidFill>
                <a:latin typeface="Consolas" pitchFamily="34" charset="0"/>
                <a:ea typeface="Consolas" pitchFamily="34" charset="-122"/>
                <a:cs typeface="Consolas" pitchFamily="34" charset="-120"/>
              </a:rPr>
              <a:t>__hash__</a:t>
            </a:r>
            <a:endParaRPr lang="id-ID" sz="2800" dirty="0"/>
          </a:p>
          <a:p>
            <a:pPr algn="l" indent="0" marL="0">
              <a:buNone/>
            </a:pPr>
            <a:r>
              <a:rPr lang="id-ID" altLang="en-US" sz="2800" b="1" dirty="0">
                <a:solidFill>
                  <a:srgbClr val="0A3069"/>
                </a:solidFill>
              </a:rPr>
              <a:t>dan </a:t>
            </a:r>
            <a:r>
              <a:rPr lang="id-ID" altLang="en-US" sz="2800" b="1" dirty="0">
                <a:solidFill>
                  <a:srgbClr val="0A3069"/>
                </a:solidFill>
                <a:latin typeface="Consolas" pitchFamily="34" charset="0"/>
                <a:ea typeface="Consolas" pitchFamily="34" charset="-122"/>
                <a:cs typeface="Consolas" pitchFamily="34" charset="-120"/>
              </a:rPr>
              <a:t>equals()</a:t>
            </a:r>
            <a:r>
              <a:rPr lang="id-ID" altLang="en-US" sz="2800" b="1" dirty="0">
                <a:solidFill>
                  <a:srgbClr val="0A3069"/>
                </a:solidFill>
              </a:rPr>
              <a:t>/</a:t>
            </a:r>
            <a:r>
              <a:rPr lang="id-ID" altLang="en-US" sz="2800" b="1" dirty="0">
                <a:solidFill>
                  <a:srgbClr val="0A3069"/>
                </a:solidFill>
                <a:latin typeface="Consolas" pitchFamily="34" charset="0"/>
                <a:ea typeface="Consolas" pitchFamily="34" charset="-122"/>
                <a:cs typeface="Consolas" pitchFamily="34" charset="-120"/>
              </a:rPr>
              <a:t>hashCode()</a:t>
            </a:r>
            <a:endParaRPr lang="id-ID" sz="2800" dirty="0"/>
          </a:p>
        </p:txBody>
      </p:sp>
      <p:sp>
        <p:nvSpPr>
          <p:cNvPr id="5" name="Text 2"/>
          <p:cNvSpPr txBox="1"/>
          <p:nvPr/>
        </p:nvSpPr>
        <p:spPr>
          <a:xfrm>
            <a:off x="548640" y="1699108"/>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Dua pemilih dianggap sama jika NIK-⁠nya sama, dan kode </a:t>
            </a:r>
            <a:r>
              <a:rPr lang="id-ID" altLang="en-US" sz="1800" i="1" dirty="0">
                <a:solidFill>
                  <a:srgbClr val="57606A"/>
                </a:solidFill>
              </a:rPr>
              <a:t>hash</a:t>
            </a:r>
            <a:r>
              <a:rPr lang="id-ID" altLang="en-US" sz="1800" dirty="0">
                <a:solidFill>
                  <a:srgbClr val="57606A"/>
                </a:solidFill>
              </a:rPr>
              <a:t>-nya juga dihitung dari NIK.</a:t>
            </a:r>
            <a:endParaRPr lang="id-ID" sz="1800" dirty="0"/>
          </a:p>
        </p:txBody>
      </p:sp>
      <p:sp>
        <p:nvSpPr>
          <p:cNvPr id="6" name="Shape 3"/>
          <p:cNvSpPr/>
          <p:nvPr/>
        </p:nvSpPr>
        <p:spPr>
          <a:xfrm>
            <a:off x="548640" y="2133448"/>
            <a:ext cx="1051560" cy="329184"/>
          </a:xfrm>
          <a:prstGeom prst="roundRect">
            <a:avLst>
              <a:gd name="adj" fmla="val 138889"/>
            </a:avLst>
          </a:prstGeom>
          <a:solidFill>
            <a:srgbClr val="3572A5"/>
          </a:solidFill>
          <a:ln/>
        </p:spPr>
      </p:sp>
      <p:sp>
        <p:nvSpPr>
          <p:cNvPr id="7" name="Text 4"/>
          <p:cNvSpPr txBox="1"/>
          <p:nvPr/>
        </p:nvSpPr>
        <p:spPr>
          <a:xfrm>
            <a:off x="548640" y="213344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3344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python/contoh/contoh07_kesamaan_objek.py</a:t>
            </a:r>
            <a:endParaRPr lang="id-ID" sz="1100" dirty="0"/>
          </a:p>
        </p:txBody>
      </p:sp>
      <p:sp>
        <p:nvSpPr>
          <p:cNvPr id="9" name="Shape 6"/>
          <p:cNvSpPr/>
          <p:nvPr/>
        </p:nvSpPr>
        <p:spPr>
          <a:xfrm>
            <a:off x="548640" y="2554072"/>
            <a:ext cx="5432908" cy="3193288"/>
          </a:xfrm>
          <a:prstGeom prst="roundRect">
            <a:avLst>
              <a:gd name="adj" fmla="val 820"/>
            </a:avLst>
          </a:prstGeom>
          <a:solidFill>
            <a:srgbClr val="F6F8FA"/>
          </a:solidFill>
          <a:ln w="9525">
            <a:solidFill>
              <a:srgbClr val="D0D7DE"/>
            </a:solidFill>
            <a:prstDash val="solid"/>
          </a:ln>
        </p:spPr>
      </p:sp>
      <p:sp>
        <p:nvSpPr>
          <p:cNvPr id="10" name="Text 7"/>
          <p:cNvSpPr txBox="1"/>
          <p:nvPr/>
        </p:nvSpPr>
        <p:spPr>
          <a:xfrm>
            <a:off x="658368" y="2645512"/>
            <a:ext cx="5213452" cy="3010408"/>
          </a:xfrm>
          <a:prstGeom prst="rect">
            <a:avLst/>
          </a:prstGeom>
          <a:noFill/>
          <a:ln/>
        </p:spPr>
        <p:txBody>
          <a:bodyPr wrap="square" lIns="0" tIns="0" rIns="0" bIns="0" rtlCol="0" anchor="t"/>
          <a:lstStyle/>
          <a:p>
            <a:pPr indent="0" marL="0">
              <a:buNone/>
            </a:pPr>
            <a:r>
              <a:rPr lang="en-US" altLang="en-US" sz="1400" dirty="0">
                <a:solidFill>
                  <a:srgbClr val="CF222E"/>
                </a:solidFill>
                <a:latin typeface="Consolas" pitchFamily="34" charset="0"/>
                <a:ea typeface="Consolas" pitchFamily="34" charset="-122"/>
                <a:cs typeface="Consolas" pitchFamily="34" charset="-120"/>
              </a:rPr>
              <a:t>def</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__eq__</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 lain) -&gt; </a:t>
            </a:r>
            <a:r>
              <a:rPr lang="en-US" altLang="en-US" sz="1400" dirty="0">
                <a:solidFill>
                  <a:srgbClr val="0550AE"/>
                </a:solidFill>
                <a:latin typeface="Consolas" pitchFamily="34" charset="0"/>
                <a:ea typeface="Consolas" pitchFamily="34" charset="-122"/>
                <a:cs typeface="Consolas" pitchFamily="34" charset="-120"/>
              </a:rPr>
              <a:t>bool</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if</a:t>
            </a:r>
            <a:r>
              <a:rPr lang="en-US" altLang="en-US" sz="1400" dirty="0">
                <a:solidFill>
                  <a:srgbClr val="1F2328"/>
                </a:solidFill>
                <a:latin typeface="Consolas" pitchFamily="34" charset="0"/>
                <a:ea typeface="Consolas" pitchFamily="34" charset="-122"/>
                <a:cs typeface="Consolas" pitchFamily="34" charset="-120"/>
              </a:rPr>
              <a:t> not </a:t>
            </a:r>
            <a:r>
              <a:rPr lang="en-US" altLang="en-US" sz="1400" dirty="0">
                <a:solidFill>
                  <a:srgbClr val="0550AE"/>
                </a:solidFill>
                <a:latin typeface="Consolas" pitchFamily="34" charset="0"/>
                <a:ea typeface="Consolas" pitchFamily="34" charset="-122"/>
                <a:cs typeface="Consolas" pitchFamily="34" charset="-120"/>
              </a:rPr>
              <a:t>isinstance</a:t>
            </a:r>
            <a:r>
              <a:rPr lang="en-US" altLang="en-US" sz="1400" dirty="0">
                <a:solidFill>
                  <a:srgbClr val="1F2328"/>
                </a:solidFill>
                <a:latin typeface="Consolas" pitchFamily="34" charset="0"/>
                <a:ea typeface="Consolas" pitchFamily="34" charset="-122"/>
                <a:cs typeface="Consolas" pitchFamily="34" charset="-120"/>
              </a:rPr>
              <a:t>(lain, Pemilih):</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NotImplemented</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._nik == lain._nik</a:t>
            </a:r>
            <a:endParaRPr lang="en-US" sz="1400" dirty="0"/>
          </a:p>
          <a:p>
            <a:pPr indent="0" marL="0">
              <a:buNone/>
            </a:pPr>
            <a:r>
              <a:rPr lang="en-US" altLang="en-US" sz="1400" dirty="0">
                <a:solidFill>
                  <a:srgbClr val="000000"/>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CF222E"/>
                </a:solidFill>
                <a:latin typeface="Consolas" pitchFamily="34" charset="0"/>
                <a:ea typeface="Consolas" pitchFamily="34" charset="-122"/>
                <a:cs typeface="Consolas" pitchFamily="34" charset="-120"/>
              </a:rPr>
              <a:t>def</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__hash__</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 -&gt; </a:t>
            </a:r>
            <a:r>
              <a:rPr lang="en-US" altLang="en-US" sz="1400" dirty="0">
                <a:solidFill>
                  <a:srgbClr val="0550AE"/>
                </a:solidFill>
                <a:latin typeface="Consolas" pitchFamily="34" charset="0"/>
                <a:ea typeface="Consolas" pitchFamily="34" charset="-122"/>
                <a:cs typeface="Consolas" pitchFamily="34" charset="-120"/>
              </a:rPr>
              <a:t>int</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hash</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._nik)</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(dilewati)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b1 = Pemilih(</a:t>
            </a:r>
            <a:r>
              <a:rPr lang="en-US" altLang="en-US" sz="1400" dirty="0">
                <a:solidFill>
                  <a:srgbClr val="0A3069"/>
                </a:solidFill>
                <a:latin typeface="Consolas" pitchFamily="34" charset="0"/>
                <a:ea typeface="Consolas" pitchFamily="34" charset="-122"/>
                <a:cs typeface="Consolas" pitchFamily="34" charset="-120"/>
              </a:rPr>
              <a:t>"6472010000000001"</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A3069"/>
                </a:solidFill>
                <a:latin typeface="Consolas" pitchFamily="34" charset="0"/>
                <a:ea typeface="Consolas" pitchFamily="34" charset="-122"/>
                <a:cs typeface="Consolas" pitchFamily="34" charset="-120"/>
              </a:rPr>
              <a:t>"Budi Santoso"</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b2 = Pemilih(</a:t>
            </a:r>
            <a:r>
              <a:rPr lang="en-US" altLang="en-US" sz="1400" dirty="0">
                <a:solidFill>
                  <a:srgbClr val="0A3069"/>
                </a:solidFill>
                <a:latin typeface="Consolas" pitchFamily="34" charset="0"/>
                <a:ea typeface="Consolas" pitchFamily="34" charset="-122"/>
                <a:cs typeface="Consolas" pitchFamily="34" charset="-120"/>
              </a:rPr>
              <a:t>"6472010000000001"</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A3069"/>
                </a:solidFill>
                <a:latin typeface="Consolas" pitchFamily="34" charset="0"/>
                <a:ea typeface="Consolas" pitchFamily="34" charset="-122"/>
                <a:cs typeface="Consolas" pitchFamily="34" charset="-120"/>
              </a:rPr>
              <a:t>"Budi Santosa"</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(dilewati)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dpt: </a:t>
            </a:r>
            <a:r>
              <a:rPr lang="en-US" altLang="en-US" sz="1400" dirty="0">
                <a:solidFill>
                  <a:srgbClr val="0550AE"/>
                </a:solidFill>
                <a:latin typeface="Consolas" pitchFamily="34" charset="0"/>
                <a:ea typeface="Consolas" pitchFamily="34" charset="-122"/>
                <a:cs typeface="Consolas" pitchFamily="34" charset="-120"/>
              </a:rPr>
              <a:t>set</a:t>
            </a:r>
            <a:r>
              <a:rPr lang="en-US" altLang="en-US" sz="1400" dirty="0">
                <a:solidFill>
                  <a:srgbClr val="1F2328"/>
                </a:solidFill>
                <a:latin typeface="Consolas" pitchFamily="34" charset="0"/>
                <a:ea typeface="Consolas" pitchFamily="34" charset="-122"/>
                <a:cs typeface="Consolas" pitchFamily="34" charset="-120"/>
              </a:rPr>
              <a:t>[Pemilih] = </a:t>
            </a:r>
            <a:r>
              <a:rPr lang="en-US" altLang="en-US" sz="1400" dirty="0">
                <a:solidFill>
                  <a:srgbClr val="0550AE"/>
                </a:solidFill>
                <a:latin typeface="Consolas" pitchFamily="34" charset="0"/>
                <a:ea typeface="Consolas" pitchFamily="34" charset="-122"/>
                <a:cs typeface="Consolas" pitchFamily="34" charset="-120"/>
              </a:rPr>
              <a:t>set</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dpt.add(b1)</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dpt.add(b2)</a:t>
            </a:r>
            <a:endParaRPr lang="en-US" sz="1400" dirty="0"/>
          </a:p>
        </p:txBody>
      </p:sp>
      <p:sp>
        <p:nvSpPr>
          <p:cNvPr id="11" name="Shape 8"/>
          <p:cNvSpPr/>
          <p:nvPr/>
        </p:nvSpPr>
        <p:spPr>
          <a:xfrm>
            <a:off x="6210148" y="2133448"/>
            <a:ext cx="1051560" cy="329184"/>
          </a:xfrm>
          <a:prstGeom prst="roundRect">
            <a:avLst>
              <a:gd name="adj" fmla="val 138889"/>
            </a:avLst>
          </a:prstGeom>
          <a:solidFill>
            <a:srgbClr val="B07219"/>
          </a:solidFill>
          <a:ln/>
        </p:spPr>
      </p:sp>
      <p:sp>
        <p:nvSpPr>
          <p:cNvPr id="12" name="Text 9"/>
          <p:cNvSpPr txBox="1"/>
          <p:nvPr/>
        </p:nvSpPr>
        <p:spPr>
          <a:xfrm>
            <a:off x="6210148" y="213344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3344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java/contoh/Contoh07EqualsHashCode.java</a:t>
            </a:r>
            <a:endParaRPr lang="id-ID" sz="1100" dirty="0"/>
          </a:p>
        </p:txBody>
      </p:sp>
      <p:sp>
        <p:nvSpPr>
          <p:cNvPr id="14" name="Shape 11"/>
          <p:cNvSpPr/>
          <p:nvPr/>
        </p:nvSpPr>
        <p:spPr>
          <a:xfrm>
            <a:off x="6210148" y="2554072"/>
            <a:ext cx="5432908" cy="3193288"/>
          </a:xfrm>
          <a:prstGeom prst="roundRect">
            <a:avLst>
              <a:gd name="adj" fmla="val 820"/>
            </a:avLst>
          </a:prstGeom>
          <a:solidFill>
            <a:srgbClr val="F6F8FA"/>
          </a:solidFill>
          <a:ln w="9525">
            <a:solidFill>
              <a:srgbClr val="D0D7DE"/>
            </a:solidFill>
            <a:prstDash val="solid"/>
          </a:ln>
        </p:spPr>
      </p:sp>
      <p:sp>
        <p:nvSpPr>
          <p:cNvPr id="15" name="Text 12"/>
          <p:cNvSpPr txBox="1"/>
          <p:nvPr/>
        </p:nvSpPr>
        <p:spPr>
          <a:xfrm>
            <a:off x="6319876" y="2645512"/>
            <a:ext cx="5213452" cy="3010408"/>
          </a:xfrm>
          <a:prstGeom prst="rect">
            <a:avLst/>
          </a:prstGeom>
          <a:noFill/>
          <a:ln/>
        </p:spPr>
        <p:txBody>
          <a:bodyPr wrap="square" lIns="0" tIns="0" rIns="0" bIns="0" rtlCol="0" anchor="t"/>
          <a:lstStyle/>
          <a:p>
            <a:pPr indent="0" marL="0">
              <a:buNone/>
            </a:pPr>
            <a:r>
              <a:rPr lang="en-US" altLang="en-US" sz="1400" dirty="0">
                <a:solidFill>
                  <a:srgbClr val="8250DF"/>
                </a:solidFill>
                <a:latin typeface="Consolas" pitchFamily="34" charset="0"/>
                <a:ea typeface="Consolas" pitchFamily="34" charset="-122"/>
                <a:cs typeface="Consolas" pitchFamily="34" charset="-120"/>
              </a:rPr>
              <a:t>@Override</a:t>
            </a:r>
            <a:endParaRPr lang="en-US" sz="1400" dirty="0"/>
          </a:p>
          <a:p>
            <a:pPr indent="0" marL="0">
              <a:buNone/>
            </a:pPr>
            <a:r>
              <a:rPr lang="en-US" altLang="en-US" sz="1400" dirty="0">
                <a:solidFill>
                  <a:srgbClr val="CF222E"/>
                </a:solidFill>
                <a:latin typeface="Consolas" pitchFamily="34" charset="0"/>
                <a:ea typeface="Consolas" pitchFamily="34" charset="-122"/>
                <a:cs typeface="Consolas" pitchFamily="34" charset="-120"/>
              </a:rPr>
              <a:t>public</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boolean</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equals</a:t>
            </a:r>
            <a:r>
              <a:rPr lang="en-US" altLang="en-US" sz="1400" dirty="0">
                <a:solidFill>
                  <a:srgbClr val="1F2328"/>
                </a:solidFill>
                <a:latin typeface="Consolas" pitchFamily="34" charset="0"/>
                <a:ea typeface="Consolas" pitchFamily="34" charset="-122"/>
                <a:cs typeface="Consolas" pitchFamily="34" charset="-120"/>
              </a:rPr>
              <a:t>(Object lain)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if</a:t>
            </a:r>
            <a:r>
              <a:rPr lang="en-US" altLang="en-US" sz="1400" dirty="0">
                <a:solidFill>
                  <a:srgbClr val="1F2328"/>
                </a:solidFill>
                <a:latin typeface="Consolas" pitchFamily="34" charset="0"/>
                <a:ea typeface="Consolas" pitchFamily="34" charset="-122"/>
                <a:cs typeface="Consolas" pitchFamily="34" charset="-120"/>
              </a:rPr>
              <a:t> (!(lain </a:t>
            </a:r>
            <a:r>
              <a:rPr lang="en-US" altLang="en-US" sz="1400" dirty="0">
                <a:solidFill>
                  <a:srgbClr val="CF222E"/>
                </a:solidFill>
                <a:latin typeface="Consolas" pitchFamily="34" charset="0"/>
                <a:ea typeface="Consolas" pitchFamily="34" charset="-122"/>
                <a:cs typeface="Consolas" pitchFamily="34" charset="-120"/>
              </a:rPr>
              <a:t>instanceof</a:t>
            </a:r>
            <a:r>
              <a:rPr lang="en-US" altLang="en-US" sz="1400" dirty="0">
                <a:solidFill>
                  <a:srgbClr val="1F2328"/>
                </a:solidFill>
                <a:latin typeface="Consolas" pitchFamily="34" charset="0"/>
                <a:ea typeface="Consolas" pitchFamily="34" charset="-122"/>
                <a:cs typeface="Consolas" pitchFamily="34" charset="-120"/>
              </a:rPr>
              <a:t> Pemilih))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false</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Pemilih pemilihLain = (Pemilih) lain;</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nik.equals(pemilihLain.nik);</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000000"/>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8250DF"/>
                </a:solidFill>
                <a:latin typeface="Consolas" pitchFamily="34" charset="0"/>
                <a:ea typeface="Consolas" pitchFamily="34" charset="-122"/>
                <a:cs typeface="Consolas" pitchFamily="34" charset="-120"/>
              </a:rPr>
              <a:t>@Override</a:t>
            </a:r>
            <a:endParaRPr lang="en-US" sz="1400" dirty="0"/>
          </a:p>
          <a:p>
            <a:pPr indent="0" marL="0">
              <a:buNone/>
            </a:pPr>
            <a:r>
              <a:rPr lang="en-US" altLang="en-US" sz="1400" dirty="0">
                <a:solidFill>
                  <a:srgbClr val="CF222E"/>
                </a:solidFill>
                <a:latin typeface="Consolas" pitchFamily="34" charset="0"/>
                <a:ea typeface="Consolas" pitchFamily="34" charset="-122"/>
                <a:cs typeface="Consolas" pitchFamily="34" charset="-120"/>
              </a:rPr>
              <a:t>public</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int</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hashCode</a:t>
            </a:r>
            <a:r>
              <a:rPr lang="en-US" altLang="en-US" sz="1400" dirty="0">
                <a:solidFill>
                  <a:srgbClr val="1F2328"/>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return</a:t>
            </a:r>
            <a:r>
              <a:rPr lang="en-US" altLang="en-US" sz="1400" dirty="0">
                <a:solidFill>
                  <a:srgbClr val="1F2328"/>
                </a:solidFill>
                <a:latin typeface="Consolas" pitchFamily="34" charset="0"/>
                <a:ea typeface="Consolas" pitchFamily="34" charset="-122"/>
                <a:cs typeface="Consolas" pitchFamily="34" charset="-120"/>
              </a:rPr>
              <a:t> nik.hashCode();</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Generics</a:t>
            </a:r>
            <a:r>
              <a:rPr lang="id-ID" altLang="en-US" sz="3200" b="1" dirty="0">
                <a:solidFill>
                  <a:srgbClr val="0A3069"/>
                </a:solidFill>
              </a:rPr>
              <a:t>: Wadah Berlabel</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Generics</a:t>
            </a:r>
            <a:endParaRPr lang="id-ID" sz="3000" dirty="0"/>
          </a:p>
        </p:txBody>
      </p:sp>
      <p:sp>
        <p:nvSpPr>
          <p:cNvPr id="6" name="Shape 3"/>
          <p:cNvSpPr/>
          <p:nvPr/>
        </p:nvSpPr>
        <p:spPr>
          <a:xfrm>
            <a:off x="548640" y="2176211"/>
            <a:ext cx="11094415" cy="1664208"/>
          </a:xfrm>
          <a:prstGeom prst="roundRect">
            <a:avLst>
              <a:gd name="adj" fmla="val 3623"/>
            </a:avLst>
          </a:prstGeom>
          <a:solidFill>
            <a:srgbClr val="DDF4FF"/>
          </a:solidFill>
          <a:ln w="9525">
            <a:solidFill>
              <a:srgbClr val="54AEFF"/>
            </a:solidFill>
            <a:prstDash val="solid"/>
          </a:ln>
        </p:spPr>
      </p:sp>
      <p:sp>
        <p:nvSpPr>
          <p:cNvPr id="7" name="Shape 4"/>
          <p:cNvSpPr/>
          <p:nvPr/>
        </p:nvSpPr>
        <p:spPr>
          <a:xfrm>
            <a:off x="804672" y="2733995"/>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54696"/>
            <a:ext cx="307238" cy="307238"/>
          </a:xfrm>
          <a:prstGeom prst="rect">
            <a:avLst/>
          </a:prstGeom>
        </p:spPr>
      </p:pic>
      <p:sp>
        <p:nvSpPr>
          <p:cNvPr id="9" name="Text 5"/>
          <p:cNvSpPr txBox="1"/>
          <p:nvPr/>
        </p:nvSpPr>
        <p:spPr>
          <a:xfrm>
            <a:off x="1554480" y="2450531"/>
            <a:ext cx="9859975" cy="1298448"/>
          </a:xfrm>
          <a:prstGeom prst="rect">
            <a:avLst/>
          </a:prstGeom>
          <a:noFill/>
          <a:ln/>
        </p:spPr>
        <p:txBody>
          <a:bodyPr wrap="square" lIns="0" tIns="0" rIns="0" bIns="0" rtlCol="0" anchor="t"/>
          <a:lstStyle/>
          <a:p>
            <a:pPr indent="0" marL="0">
              <a:buNone/>
            </a:pPr>
            <a:r>
              <a:rPr lang="id-ID" altLang="en-US" sz="2400" dirty="0">
                <a:solidFill>
                  <a:srgbClr val="1F2328"/>
                </a:solidFill>
              </a:rPr>
              <a:t>Cara menulis kelas atau fungsi dengan </a:t>
            </a:r>
            <a:r>
              <a:rPr lang="id-ID" altLang="en-US" sz="2400" b="1" dirty="0">
                <a:solidFill>
                  <a:srgbClr val="1F2328"/>
                </a:solidFill>
              </a:rPr>
              <a:t>parameter tipe</a:t>
            </a:r>
            <a:r>
              <a:rPr lang="id-ID" altLang="en-US" sz="2400" dirty="0">
                <a:solidFill>
                  <a:srgbClr val="1F2328"/>
                </a:solidFill>
              </a:rPr>
              <a:t> (biasanya ditulis </a:t>
            </a:r>
            <a:r>
              <a:rPr lang="id-ID" altLang="en-US" sz="2400" dirty="0">
                <a:solidFill>
                  <a:srgbClr val="1F2328"/>
                </a:solidFill>
                <a:latin typeface="Consolas" pitchFamily="34" charset="0"/>
                <a:ea typeface="Consolas" pitchFamily="34" charset="-122"/>
                <a:cs typeface="Consolas" pitchFamily="34" charset="-120"/>
              </a:rPr>
              <a:t>T</a:t>
            </a:r>
            <a:r>
              <a:rPr lang="id-ID" altLang="en-US" sz="2400" dirty="0">
                <a:solidFill>
                  <a:srgbClr val="1F2328"/>
                </a:solidFill>
              </a:rPr>
              <a:t>) sehingga tipe isinya baru ditentukan saat dipakai, misalnya </a:t>
            </a:r>
            <a:r>
              <a:rPr lang="id-ID" altLang="en-US" sz="2400" dirty="0">
                <a:solidFill>
                  <a:srgbClr val="1F2328"/>
                </a:solidFill>
                <a:latin typeface="Consolas" pitchFamily="34" charset="0"/>
                <a:ea typeface="Consolas" pitchFamily="34" charset="-122"/>
                <a:cs typeface="Consolas" pitchFamily="34" charset="-120"/>
              </a:rPr>
              <a:t>list[Menu]</a:t>
            </a:r>
            <a:r>
              <a:rPr lang="id-ID" altLang="en-US" sz="2400" dirty="0">
                <a:solidFill>
                  <a:srgbClr val="1F2328"/>
                </a:solidFill>
              </a:rPr>
              <a:t> atau </a:t>
            </a:r>
            <a:r>
              <a:rPr lang="id-ID" altLang="en-US" sz="2400" dirty="0">
                <a:solidFill>
                  <a:srgbClr val="1F2328"/>
                </a:solidFill>
                <a:latin typeface="Consolas" pitchFamily="34" charset="0"/>
                <a:ea typeface="Consolas" pitchFamily="34" charset="-122"/>
                <a:cs typeface="Consolas" pitchFamily="34" charset="-120"/>
              </a:rPr>
              <a:t>List&lt;Menu&gt;</a:t>
            </a:r>
            <a:r>
              <a:rPr lang="id-ID" altLang="en-US" sz="2400" dirty="0">
                <a:solidFill>
                  <a:srgbClr val="1F2328"/>
                </a:solidFill>
              </a:rPr>
              <a:t>.</a:t>
            </a:r>
            <a:endParaRPr lang="id-ID" sz="2400" dirty="0"/>
          </a:p>
        </p:txBody>
      </p:sp>
      <p:sp>
        <p:nvSpPr>
          <p:cNvPr id="10" name="Shape 6"/>
          <p:cNvSpPr/>
          <p:nvPr/>
        </p:nvSpPr>
        <p:spPr>
          <a:xfrm>
            <a:off x="603504" y="4399473"/>
            <a:ext cx="137160" cy="137160"/>
          </a:xfrm>
          <a:prstGeom prst="roundRect">
            <a:avLst>
              <a:gd name="adj" fmla="val 166667"/>
            </a:avLst>
          </a:prstGeom>
          <a:solidFill>
            <a:srgbClr val="0969DA"/>
          </a:solidFill>
          <a:ln/>
        </p:spPr>
      </p:sp>
      <p:sp>
        <p:nvSpPr>
          <p:cNvPr id="11" name="Text 7"/>
          <p:cNvSpPr txBox="1"/>
          <p:nvPr/>
        </p:nvSpPr>
        <p:spPr>
          <a:xfrm>
            <a:off x="932688" y="4297619"/>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Python: label tipe hanya </a:t>
            </a:r>
            <a:r>
              <a:rPr lang="id-ID" altLang="en-US" sz="2200" b="1" dirty="0">
                <a:solidFill>
                  <a:srgbClr val="1F2328"/>
                </a:solidFill>
              </a:rPr>
              <a:t>petunjuk</a:t>
            </a:r>
            <a:r>
              <a:rPr lang="id-ID" altLang="en-US" sz="2200" dirty="0">
                <a:solidFill>
                  <a:srgbClr val="1F2328"/>
                </a:solidFill>
              </a:rPr>
              <a:t> (</a:t>
            </a:r>
            <a:r>
              <a:rPr lang="id-ID" altLang="en-US" sz="2200" i="1" dirty="0">
                <a:solidFill>
                  <a:srgbClr val="1F2328"/>
                </a:solidFill>
              </a:rPr>
              <a:t>type hint</a:t>
            </a:r>
            <a:r>
              <a:rPr lang="id-ID" altLang="en-US" sz="2200" dirty="0">
                <a:solidFill>
                  <a:srgbClr val="1F2328"/>
                </a:solidFill>
              </a:rPr>
              <a:t>) dan tidak diperiksa saat program berjalan.</a:t>
            </a:r>
            <a:endParaRPr lang="id-ID" sz="2200" dirty="0"/>
          </a:p>
        </p:txBody>
      </p:sp>
      <p:sp>
        <p:nvSpPr>
          <p:cNvPr id="12" name="Shape 8"/>
          <p:cNvSpPr/>
          <p:nvPr/>
        </p:nvSpPr>
        <p:spPr>
          <a:xfrm>
            <a:off x="603504" y="4978085"/>
            <a:ext cx="137160" cy="137160"/>
          </a:xfrm>
          <a:prstGeom prst="roundRect">
            <a:avLst>
              <a:gd name="adj" fmla="val 166667"/>
            </a:avLst>
          </a:prstGeom>
          <a:solidFill>
            <a:srgbClr val="0969DA"/>
          </a:solidFill>
          <a:ln/>
        </p:spPr>
      </p:sp>
      <p:sp>
        <p:nvSpPr>
          <p:cNvPr id="13" name="Text 9"/>
          <p:cNvSpPr txBox="1"/>
          <p:nvPr/>
        </p:nvSpPr>
        <p:spPr>
          <a:xfrm>
            <a:off x="932688" y="4876231"/>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Java: label tipe adalah </a:t>
            </a:r>
            <a:r>
              <a:rPr lang="id-ID" altLang="en-US" sz="2200" b="1" dirty="0">
                <a:solidFill>
                  <a:srgbClr val="1F2328"/>
                </a:solidFill>
              </a:rPr>
              <a:t>aturan</a:t>
            </a:r>
            <a:r>
              <a:rPr lang="id-ID" altLang="en-US" sz="2200" dirty="0">
                <a:solidFill>
                  <a:srgbClr val="1F2328"/>
                </a:solidFill>
              </a:rPr>
              <a:t>; isi yang salah tipe ditolak </a:t>
            </a:r>
            <a:r>
              <a:rPr lang="id-ID" altLang="en-US" sz="2200" i="1" dirty="0">
                <a:solidFill>
                  <a:srgbClr val="1F2328"/>
                </a:solidFill>
              </a:rPr>
              <a:t>compiler</a:t>
            </a:r>
            <a:r>
              <a:rPr lang="id-ID" altLang="en-US" sz="2200" dirty="0">
                <a:solidFill>
                  <a:srgbClr val="1F2328"/>
                </a:solidFill>
              </a:rPr>
              <a:t> sebelum program berjalan.</a:t>
            </a:r>
            <a:endParaRPr lang="id-ID" sz="2200" dirty="0"/>
          </a:p>
        </p:txBody>
      </p:sp>
      <p:sp>
        <p:nvSpPr>
          <p:cNvPr id="14" name="Shape 10"/>
          <p:cNvSpPr/>
          <p:nvPr/>
        </p:nvSpPr>
        <p:spPr>
          <a:xfrm>
            <a:off x="603504" y="5556697"/>
            <a:ext cx="137160" cy="137160"/>
          </a:xfrm>
          <a:prstGeom prst="roundRect">
            <a:avLst>
              <a:gd name="adj" fmla="val 166667"/>
            </a:avLst>
          </a:prstGeom>
          <a:solidFill>
            <a:srgbClr val="0969DA"/>
          </a:solidFill>
          <a:ln/>
        </p:spPr>
      </p:sp>
      <p:sp>
        <p:nvSpPr>
          <p:cNvPr id="15" name="Text 11"/>
          <p:cNvSpPr txBox="1"/>
          <p:nvPr/>
        </p:nvSpPr>
        <p:spPr>
          <a:xfrm>
            <a:off x="932688" y="5454843"/>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Khusus Java: angka disimpan sebagai </a:t>
            </a:r>
            <a:r>
              <a:rPr lang="id-ID" altLang="en-US" sz="2200" dirty="0">
                <a:solidFill>
                  <a:srgbClr val="1F2328"/>
                </a:solidFill>
                <a:latin typeface="Consolas" pitchFamily="34" charset="0"/>
                <a:ea typeface="Consolas" pitchFamily="34" charset="-122"/>
                <a:cs typeface="Consolas" pitchFamily="34" charset="-120"/>
              </a:rPr>
              <a:t>Integer</a:t>
            </a:r>
            <a:r>
              <a:rPr lang="id-ID" altLang="en-US" sz="2200" dirty="0">
                <a:solidFill>
                  <a:srgbClr val="1F2328"/>
                </a:solidFill>
              </a:rPr>
              <a:t>, bukan </a:t>
            </a:r>
            <a:r>
              <a:rPr lang="id-ID" altLang="en-US" sz="2200" dirty="0">
                <a:solidFill>
                  <a:srgbClr val="1F2328"/>
                </a:solidFill>
                <a:latin typeface="Consolas" pitchFamily="34" charset="0"/>
                <a:ea typeface="Consolas" pitchFamily="34" charset="-122"/>
                <a:cs typeface="Consolas" pitchFamily="34" charset="-120"/>
              </a:rPr>
              <a:t>int</a:t>
            </a:r>
            <a:r>
              <a:rPr lang="id-ID" altLang="en-US" sz="2200" dirty="0">
                <a:solidFill>
                  <a:srgbClr val="1F2328"/>
                </a:solidFill>
              </a:rPr>
              <a:t>, dan dibungkus otomatis (</a:t>
            </a:r>
            <a:r>
              <a:rPr lang="id-ID" altLang="en-US" sz="2200" i="1" dirty="0">
                <a:solidFill>
                  <a:srgbClr val="1F2328"/>
                </a:solidFill>
              </a:rPr>
              <a:t>autoboxing</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Generik </a:t>
            </a:r>
            <a:r>
              <a:rPr lang="id-ID" altLang="en-US" sz="3200" b="1" dirty="0">
                <a:solidFill>
                  <a:srgbClr val="0A3069"/>
                </a:solidFill>
                <a:latin typeface="Consolas" pitchFamily="34" charset="0"/>
                <a:ea typeface="Consolas" pitchFamily="34" charset="-122"/>
                <a:cs typeface="Consolas" pitchFamily="34" charset="-120"/>
              </a:rPr>
              <a:t>Pasangan[A, B]</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Pasangan&lt;A, B&gt;</a:t>
            </a:r>
            <a:endParaRPr lang="id-ID" sz="3200" dirty="0"/>
          </a:p>
        </p:txBody>
      </p:sp>
      <p:sp>
        <p:nvSpPr>
          <p:cNvPr id="5" name="Text 2"/>
          <p:cNvSpPr txBox="1"/>
          <p:nvPr/>
        </p:nvSpPr>
        <p:spPr>
          <a:xfrm>
            <a:off x="548640" y="1655049"/>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Satu kelas, banyak kegunaan: (kode menu, jumlah porsi) atau (nama menu, porsi terjual).</a:t>
            </a:r>
            <a:endParaRPr lang="id-ID" sz="1800" dirty="0"/>
          </a:p>
        </p:txBody>
      </p:sp>
      <p:sp>
        <p:nvSpPr>
          <p:cNvPr id="6" name="Shape 3"/>
          <p:cNvSpPr/>
          <p:nvPr/>
        </p:nvSpPr>
        <p:spPr>
          <a:xfrm>
            <a:off x="548640" y="2089389"/>
            <a:ext cx="1051560" cy="329184"/>
          </a:xfrm>
          <a:prstGeom prst="roundRect">
            <a:avLst>
              <a:gd name="adj" fmla="val 138889"/>
            </a:avLst>
          </a:prstGeom>
          <a:solidFill>
            <a:srgbClr val="3572A5"/>
          </a:solidFill>
          <a:ln/>
        </p:spPr>
      </p:sp>
      <p:sp>
        <p:nvSpPr>
          <p:cNvPr id="7" name="Text 4"/>
          <p:cNvSpPr txBox="1"/>
          <p:nvPr/>
        </p:nvSpPr>
        <p:spPr>
          <a:xfrm>
            <a:off x="548640" y="208938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08938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python/studi-kasus/pasangan.py</a:t>
            </a:r>
            <a:endParaRPr lang="id-ID" sz="1100" dirty="0"/>
          </a:p>
        </p:txBody>
      </p:sp>
      <p:sp>
        <p:nvSpPr>
          <p:cNvPr id="9" name="Shape 6"/>
          <p:cNvSpPr/>
          <p:nvPr/>
        </p:nvSpPr>
        <p:spPr>
          <a:xfrm>
            <a:off x="548640" y="2510013"/>
            <a:ext cx="5432908" cy="3298190"/>
          </a:xfrm>
          <a:prstGeom prst="roundRect">
            <a:avLst>
              <a:gd name="adj" fmla="val 769"/>
            </a:avLst>
          </a:prstGeom>
          <a:solidFill>
            <a:srgbClr val="F6F8FA"/>
          </a:solidFill>
          <a:ln w="9525">
            <a:solidFill>
              <a:srgbClr val="D0D7DE"/>
            </a:solidFill>
            <a:prstDash val="solid"/>
          </a:ln>
        </p:spPr>
      </p:sp>
      <p:sp>
        <p:nvSpPr>
          <p:cNvPr id="10" name="Text 7"/>
          <p:cNvSpPr txBox="1"/>
          <p:nvPr/>
        </p:nvSpPr>
        <p:spPr>
          <a:xfrm>
            <a:off x="658368" y="2601453"/>
            <a:ext cx="5213452" cy="3115310"/>
          </a:xfrm>
          <a:prstGeom prst="rect">
            <a:avLst/>
          </a:prstGeom>
          <a:noFill/>
          <a:ln/>
        </p:spPr>
        <p:txBody>
          <a:bodyPr wrap="square" lIns="0" tIns="0" rIns="0" bIns="0" rtlCol="0" anchor="t"/>
          <a:lstStyle/>
          <a:p>
            <a:pPr indent="0" marL="0">
              <a:buNone/>
            </a:pPr>
            <a:r>
              <a:rPr lang="en-US" altLang="en-US" sz="1450" dirty="0">
                <a:solidFill>
                  <a:srgbClr val="CF222E"/>
                </a:solidFill>
                <a:latin typeface="Consolas" pitchFamily="34" charset="0"/>
                <a:ea typeface="Consolas" pitchFamily="34" charset="-122"/>
                <a:cs typeface="Consolas" pitchFamily="34" charset="-120"/>
              </a:rPr>
              <a:t>from</a:t>
            </a:r>
            <a:r>
              <a:rPr lang="en-US" altLang="en-US" sz="1450" dirty="0">
                <a:solidFill>
                  <a:srgbClr val="1F2328"/>
                </a:solidFill>
                <a:latin typeface="Consolas" pitchFamily="34" charset="0"/>
                <a:ea typeface="Consolas" pitchFamily="34" charset="-122"/>
                <a:cs typeface="Consolas" pitchFamily="34" charset="-120"/>
              </a:rPr>
              <a:t> typing </a:t>
            </a:r>
            <a:r>
              <a:rPr lang="en-US" altLang="en-US" sz="1450" dirty="0">
                <a:solidFill>
                  <a:srgbClr val="CF222E"/>
                </a:solidFill>
                <a:latin typeface="Consolas" pitchFamily="34" charset="0"/>
                <a:ea typeface="Consolas" pitchFamily="34" charset="-122"/>
                <a:cs typeface="Consolas" pitchFamily="34" charset="-120"/>
              </a:rPr>
              <a:t>import</a:t>
            </a:r>
            <a:r>
              <a:rPr lang="en-US" altLang="en-US" sz="1450" dirty="0">
                <a:solidFill>
                  <a:srgbClr val="1F2328"/>
                </a:solidFill>
                <a:latin typeface="Consolas" pitchFamily="34" charset="0"/>
                <a:ea typeface="Consolas" pitchFamily="34" charset="-122"/>
                <a:cs typeface="Consolas" pitchFamily="34" charset="-120"/>
              </a:rPr>
              <a:t> Generic, TypeVar</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A = TypeVar(</a:t>
            </a:r>
            <a:r>
              <a:rPr lang="en-US" altLang="en-US" sz="1450" dirty="0">
                <a:solidFill>
                  <a:srgbClr val="0A3069"/>
                </a:solidFill>
                <a:latin typeface="Consolas" pitchFamily="34" charset="0"/>
                <a:ea typeface="Consolas" pitchFamily="34" charset="-122"/>
                <a:cs typeface="Consolas" pitchFamily="34" charset="-120"/>
              </a:rPr>
              <a:t>"A"</a:t>
            </a:r>
            <a:r>
              <a:rPr lang="en-US" altLang="en-US" sz="1450" dirty="0">
                <a:solidFill>
                  <a:srgbClr val="1F2328"/>
                </a:solidFill>
                <a:latin typeface="Consolas" pitchFamily="34" charset="0"/>
                <a:ea typeface="Consolas" pitchFamily="34" charset="-122"/>
                <a:cs typeface="Consolas" pitchFamily="34" charset="-120"/>
              </a:rPr>
              <a:t>)</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B = TypeVar(</a:t>
            </a:r>
            <a:r>
              <a:rPr lang="en-US" altLang="en-US" sz="1450" dirty="0">
                <a:solidFill>
                  <a:srgbClr val="0A3069"/>
                </a:solidFill>
                <a:latin typeface="Consolas" pitchFamily="34" charset="0"/>
                <a:ea typeface="Consolas" pitchFamily="34" charset="-122"/>
                <a:cs typeface="Consolas" pitchFamily="34" charset="-120"/>
              </a:rPr>
              <a:t>"B"</a:t>
            </a:r>
            <a:r>
              <a:rPr lang="en-US" altLang="en-US" sz="1450" dirty="0">
                <a:solidFill>
                  <a:srgbClr val="1F2328"/>
                </a:solidFill>
                <a:latin typeface="Consolas" pitchFamily="34" charset="0"/>
                <a:ea typeface="Consolas" pitchFamily="34" charset="-122"/>
                <a:cs typeface="Consolas" pitchFamily="34" charset="-120"/>
              </a:rPr>
              <a:t>)</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CF222E"/>
                </a:solidFill>
                <a:latin typeface="Consolas" pitchFamily="34" charset="0"/>
                <a:ea typeface="Consolas" pitchFamily="34" charset="-122"/>
                <a:cs typeface="Consolas" pitchFamily="34" charset="-120"/>
              </a:rPr>
              <a:t>class</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953800"/>
                </a:solidFill>
                <a:latin typeface="Consolas" pitchFamily="34" charset="0"/>
                <a:ea typeface="Consolas" pitchFamily="34" charset="-122"/>
                <a:cs typeface="Consolas" pitchFamily="34" charset="-120"/>
              </a:rPr>
              <a:t>Pasangan</a:t>
            </a:r>
            <a:r>
              <a:rPr lang="en-US" altLang="en-US" sz="1450" dirty="0">
                <a:solidFill>
                  <a:srgbClr val="1F2328"/>
                </a:solidFill>
                <a:latin typeface="Consolas" pitchFamily="34" charset="0"/>
                <a:ea typeface="Consolas" pitchFamily="34" charset="-122"/>
                <a:cs typeface="Consolas" pitchFamily="34" charset="-120"/>
              </a:rPr>
              <a:t>(Generic[A, B]):</a:t>
            </a:r>
            <a:endParaRPr lang="en-US" sz="1450" dirty="0"/>
          </a:p>
          <a:p>
            <a:pPr indent="0" marL="0">
              <a:buNone/>
            </a:pPr>
            <a:r>
              <a:rPr lang="en-US" altLang="en-US" sz="1450" i="1" dirty="0">
                <a:solidFill>
                  <a:srgbClr val="6E7781"/>
                </a:solidFill>
                <a:latin typeface="Consolas" pitchFamily="34" charset="0"/>
                <a:ea typeface="Consolas" pitchFamily="34" charset="-122"/>
                <a:cs typeface="Consolas" pitchFamily="34" charset="-120"/>
              </a:rPr>
              <a:t>    # ... (dilewati)</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def</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__init__</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 pertama: A, kedua: B):</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._pertama = pertama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._kedua = kedua</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@property</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def</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pertama</a:t>
            </a:r>
            <a:r>
              <a:rPr lang="en-US" altLang="en-US" sz="1450" dirty="0">
                <a:solidFill>
                  <a:srgbClr val="1F2328"/>
                </a:solidFill>
                <a:latin typeface="Consolas" pitchFamily="34" charset="0"/>
                <a:ea typeface="Consolas" pitchFamily="34" charset="-122"/>
                <a:cs typeface="Consolas" pitchFamily="34" charset="-120"/>
              </a:rPr>
              <a:t>(</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 -&gt; 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0550AE"/>
                </a:solidFill>
                <a:latin typeface="Consolas" pitchFamily="34" charset="0"/>
                <a:ea typeface="Consolas" pitchFamily="34" charset="-122"/>
                <a:cs typeface="Consolas" pitchFamily="34" charset="-120"/>
              </a:rPr>
              <a:t>self</a:t>
            </a:r>
            <a:r>
              <a:rPr lang="en-US" altLang="en-US" sz="1450" dirty="0">
                <a:solidFill>
                  <a:srgbClr val="1F2328"/>
                </a:solidFill>
                <a:latin typeface="Consolas" pitchFamily="34" charset="0"/>
                <a:ea typeface="Consolas" pitchFamily="34" charset="-122"/>
                <a:cs typeface="Consolas" pitchFamily="34" charset="-120"/>
              </a:rPr>
              <a:t>._pertama</a:t>
            </a:r>
            <a:endParaRPr lang="en-US" sz="1450" dirty="0"/>
          </a:p>
        </p:txBody>
      </p:sp>
      <p:sp>
        <p:nvSpPr>
          <p:cNvPr id="11" name="Shape 8"/>
          <p:cNvSpPr/>
          <p:nvPr/>
        </p:nvSpPr>
        <p:spPr>
          <a:xfrm>
            <a:off x="6210148" y="2089389"/>
            <a:ext cx="1051560" cy="329184"/>
          </a:xfrm>
          <a:prstGeom prst="roundRect">
            <a:avLst>
              <a:gd name="adj" fmla="val 138889"/>
            </a:avLst>
          </a:prstGeom>
          <a:solidFill>
            <a:srgbClr val="B07219"/>
          </a:solidFill>
          <a:ln/>
        </p:spPr>
      </p:sp>
      <p:sp>
        <p:nvSpPr>
          <p:cNvPr id="12" name="Text 9"/>
          <p:cNvSpPr txBox="1"/>
          <p:nvPr/>
        </p:nvSpPr>
        <p:spPr>
          <a:xfrm>
            <a:off x="6210148" y="208938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08938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java/studi-kasus/Pasangan.java</a:t>
            </a:r>
            <a:endParaRPr lang="id-ID" sz="1100" dirty="0"/>
          </a:p>
        </p:txBody>
      </p:sp>
      <p:sp>
        <p:nvSpPr>
          <p:cNvPr id="14" name="Shape 11"/>
          <p:cNvSpPr/>
          <p:nvPr/>
        </p:nvSpPr>
        <p:spPr>
          <a:xfrm>
            <a:off x="6210148" y="2510013"/>
            <a:ext cx="5432908" cy="3298190"/>
          </a:xfrm>
          <a:prstGeom prst="roundRect">
            <a:avLst>
              <a:gd name="adj" fmla="val 769"/>
            </a:avLst>
          </a:prstGeom>
          <a:solidFill>
            <a:srgbClr val="F6F8FA"/>
          </a:solidFill>
          <a:ln w="9525">
            <a:solidFill>
              <a:srgbClr val="D0D7DE"/>
            </a:solidFill>
            <a:prstDash val="solid"/>
          </a:ln>
        </p:spPr>
      </p:sp>
      <p:sp>
        <p:nvSpPr>
          <p:cNvPr id="15" name="Text 12"/>
          <p:cNvSpPr txBox="1"/>
          <p:nvPr/>
        </p:nvSpPr>
        <p:spPr>
          <a:xfrm>
            <a:off x="6319876" y="2601453"/>
            <a:ext cx="5213452" cy="3115310"/>
          </a:xfrm>
          <a:prstGeom prst="rect">
            <a:avLst/>
          </a:prstGeom>
          <a:noFill/>
          <a:ln/>
        </p:spPr>
        <p:txBody>
          <a:bodyPr wrap="square" lIns="0" tIns="0" rIns="0" bIns="0" rtlCol="0" anchor="t"/>
          <a:lstStyle/>
          <a:p>
            <a:pPr indent="0" marL="0">
              <a:buNone/>
            </a:pPr>
            <a:r>
              <a:rPr lang="en-US" altLang="en-US" sz="1450" dirty="0">
                <a:solidFill>
                  <a:srgbClr val="CF222E"/>
                </a:solidFill>
                <a:latin typeface="Consolas" pitchFamily="34" charset="0"/>
                <a:ea typeface="Consolas" pitchFamily="34" charset="-122"/>
                <a:cs typeface="Consolas" pitchFamily="34" charset="-120"/>
              </a:rPr>
              <a:t>public</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class</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953800"/>
                </a:solidFill>
                <a:latin typeface="Consolas" pitchFamily="34" charset="0"/>
                <a:ea typeface="Consolas" pitchFamily="34" charset="-122"/>
                <a:cs typeface="Consolas" pitchFamily="34" charset="-120"/>
              </a:rPr>
              <a:t>Pasangan</a:t>
            </a:r>
            <a:r>
              <a:rPr lang="en-US" altLang="en-US" sz="1450" dirty="0">
                <a:solidFill>
                  <a:srgbClr val="1F2328"/>
                </a:solidFill>
                <a:latin typeface="Consolas" pitchFamily="34" charset="0"/>
                <a:ea typeface="Consolas" pitchFamily="34" charset="-122"/>
                <a:cs typeface="Consolas" pitchFamily="34" charset="-120"/>
              </a:rPr>
              <a:t>&lt;A, B&gt;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private</a:t>
            </a:r>
            <a:r>
              <a:rPr lang="en-US" altLang="en-US" sz="1450" dirty="0">
                <a:solidFill>
                  <a:srgbClr val="1F2328"/>
                </a:solidFill>
                <a:latin typeface="Consolas" pitchFamily="34" charset="0"/>
                <a:ea typeface="Consolas" pitchFamily="34" charset="-122"/>
                <a:cs typeface="Consolas" pitchFamily="34" charset="-120"/>
              </a:rPr>
              <a:t> A pertama;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private</a:t>
            </a:r>
            <a:r>
              <a:rPr lang="en-US" altLang="en-US" sz="1450" dirty="0">
                <a:solidFill>
                  <a:srgbClr val="1F2328"/>
                </a:solidFill>
                <a:latin typeface="Consolas" pitchFamily="34" charset="0"/>
                <a:ea typeface="Consolas" pitchFamily="34" charset="-122"/>
                <a:cs typeface="Consolas" pitchFamily="34" charset="-120"/>
              </a:rPr>
              <a:t> B kedua;</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public</a:t>
            </a: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8250DF"/>
                </a:solidFill>
                <a:latin typeface="Consolas" pitchFamily="34" charset="0"/>
                <a:ea typeface="Consolas" pitchFamily="34" charset="-122"/>
                <a:cs typeface="Consolas" pitchFamily="34" charset="-120"/>
              </a:rPr>
              <a:t>Pasangan</a:t>
            </a:r>
            <a:r>
              <a:rPr lang="en-US" altLang="en-US" sz="1450" dirty="0">
                <a:solidFill>
                  <a:srgbClr val="1F2328"/>
                </a:solidFill>
                <a:latin typeface="Consolas" pitchFamily="34" charset="0"/>
                <a:ea typeface="Consolas" pitchFamily="34" charset="-122"/>
                <a:cs typeface="Consolas" pitchFamily="34" charset="-120"/>
              </a:rPr>
              <a:t>(A pertama, B kedua)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this</a:t>
            </a:r>
            <a:r>
              <a:rPr lang="en-US" altLang="en-US" sz="1450" dirty="0">
                <a:solidFill>
                  <a:srgbClr val="1F2328"/>
                </a:solidFill>
                <a:latin typeface="Consolas" pitchFamily="34" charset="0"/>
                <a:ea typeface="Consolas" pitchFamily="34" charset="-122"/>
                <a:cs typeface="Consolas" pitchFamily="34" charset="-120"/>
              </a:rPr>
              <a:t>.pertama = pertama;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this</a:t>
            </a:r>
            <a:r>
              <a:rPr lang="en-US" altLang="en-US" sz="1450" dirty="0">
                <a:solidFill>
                  <a:srgbClr val="1F2328"/>
                </a:solidFill>
                <a:latin typeface="Consolas" pitchFamily="34" charset="0"/>
                <a:ea typeface="Consolas" pitchFamily="34" charset="-122"/>
                <a:cs typeface="Consolas" pitchFamily="34" charset="-120"/>
              </a:rPr>
              <a:t>.kedua = kedua;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000000"/>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public</a:t>
            </a:r>
            <a:r>
              <a:rPr lang="en-US" altLang="en-US" sz="1450" dirty="0">
                <a:solidFill>
                  <a:srgbClr val="1F2328"/>
                </a:solidFill>
                <a:latin typeface="Consolas" pitchFamily="34" charset="0"/>
                <a:ea typeface="Consolas" pitchFamily="34" charset="-122"/>
                <a:cs typeface="Consolas" pitchFamily="34" charset="-120"/>
              </a:rPr>
              <a:t> A </a:t>
            </a:r>
            <a:r>
              <a:rPr lang="en-US" altLang="en-US" sz="1450" dirty="0">
                <a:solidFill>
                  <a:srgbClr val="8250DF"/>
                </a:solidFill>
                <a:latin typeface="Consolas" pitchFamily="34" charset="0"/>
                <a:ea typeface="Consolas" pitchFamily="34" charset="-122"/>
                <a:cs typeface="Consolas" pitchFamily="34" charset="-120"/>
              </a:rPr>
              <a:t>getPertama</a:t>
            </a: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r>
              <a:rPr lang="en-US" altLang="en-US" sz="1450" dirty="0">
                <a:solidFill>
                  <a:srgbClr val="CF222E"/>
                </a:solidFill>
                <a:latin typeface="Consolas" pitchFamily="34" charset="0"/>
                <a:ea typeface="Consolas" pitchFamily="34" charset="-122"/>
                <a:cs typeface="Consolas" pitchFamily="34" charset="-120"/>
              </a:rPr>
              <a:t>return</a:t>
            </a:r>
            <a:r>
              <a:rPr lang="en-US" altLang="en-US" sz="1450" dirty="0">
                <a:solidFill>
                  <a:srgbClr val="1F2328"/>
                </a:solidFill>
                <a:latin typeface="Consolas" pitchFamily="34" charset="0"/>
                <a:ea typeface="Consolas" pitchFamily="34" charset="-122"/>
                <a:cs typeface="Consolas" pitchFamily="34" charset="-120"/>
              </a:rPr>
              <a:t> pertama;</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    }</a:t>
            </a:r>
            <a:endParaRPr lang="en-US" sz="1450" dirty="0"/>
          </a:p>
          <a:p>
            <a:pPr indent="0" marL="0">
              <a:buNone/>
            </a:pPr>
            <a:r>
              <a:rPr lang="en-US" altLang="en-US" sz="1450" i="1" dirty="0">
                <a:solidFill>
                  <a:srgbClr val="6E7781"/>
                </a:solidFill>
                <a:latin typeface="Consolas" pitchFamily="34" charset="0"/>
                <a:ea typeface="Consolas" pitchFamily="34" charset="-122"/>
                <a:cs typeface="Consolas" pitchFamily="34" charset="-120"/>
              </a:rPr>
              <a:t>    // ... (dilewati)</a:t>
            </a:r>
            <a:endParaRPr lang="en-US" sz="1450" dirty="0"/>
          </a:p>
          <a:p>
            <a:pPr indent="0" marL="0">
              <a:buNone/>
            </a:pPr>
            <a:r>
              <a:rPr lang="en-US" altLang="en-US" sz="1450" dirty="0">
                <a:solidFill>
                  <a:srgbClr val="1F2328"/>
                </a:solidFill>
                <a:latin typeface="Consolas" pitchFamily="34" charset="0"/>
                <a:ea typeface="Consolas" pitchFamily="34" charset="-122"/>
                <a:cs typeface="Consolas" pitchFamily="34" charset="-120"/>
              </a:rPr>
              <a:t>}</a:t>
            </a:r>
            <a:endParaRPr lang="en-US" sz="14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Menjawab pertanyaan-⁠pertanyaan Mbak Sari, kasir KedaiKita, dengan koleksi yang tepat.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KedaiKita Pertemuan 12</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Nama memakai gaya Java. Di Python: daftar_menu, cari_menu, serta __eq__/__hash__/__lt__.">    </p:cNvPr>
          <p:cNvPicPr>
            <a:picLocks noChangeAspect="1"/>
          </p:cNvPicPr>
          <p:nvPr/>
        </p:nvPicPr>
        <p:blipFill>
          <a:blip r:embed="rId2"/>
          <a:stretch>
            <a:fillRect/>
          </a:stretch>
        </p:blipFill>
        <p:spPr>
          <a:xfrm>
            <a:off x="2327933" y="1417320"/>
            <a:ext cx="7535829" cy="4308602"/>
          </a:xfrm>
          <a:prstGeom prst="rect">
            <a:avLst/>
          </a:prstGeom>
        </p:spPr>
      </p:pic>
      <p:sp>
        <p:nvSpPr>
          <p:cNvPr id="8" name="Text 4"/>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Nama memakai gaya Java. Di Python: </a:t>
            </a:r>
            <a:r>
              <a:rPr lang="id-ID" altLang="en-US" sz="1700" dirty="0">
                <a:solidFill>
                  <a:srgbClr val="57606A"/>
                </a:solidFill>
                <a:latin typeface="Consolas" pitchFamily="34" charset="0"/>
                <a:ea typeface="Consolas" pitchFamily="34" charset="-122"/>
                <a:cs typeface="Consolas" pitchFamily="34" charset="-120"/>
              </a:rPr>
              <a:t>daftar_menu</a:t>
            </a:r>
            <a:r>
              <a:rPr lang="id-ID" altLang="en-US" sz="1700" dirty="0">
                <a:solidFill>
                  <a:srgbClr val="57606A"/>
                </a:solidFill>
              </a:rPr>
              <a:t>, </a:t>
            </a:r>
            <a:r>
              <a:rPr lang="id-ID" altLang="en-US" sz="1700" dirty="0">
                <a:solidFill>
                  <a:srgbClr val="57606A"/>
                </a:solidFill>
                <a:latin typeface="Consolas" pitchFamily="34" charset="0"/>
                <a:ea typeface="Consolas" pitchFamily="34" charset="-122"/>
                <a:cs typeface="Consolas" pitchFamily="34" charset="-120"/>
              </a:rPr>
              <a:t>cari_menu</a:t>
            </a:r>
            <a:r>
              <a:rPr lang="id-ID" altLang="en-US" sz="1700" dirty="0">
                <a:solidFill>
                  <a:srgbClr val="57606A"/>
                </a:solidFill>
              </a:rPr>
              <a:t>, serta </a:t>
            </a:r>
            <a:r>
              <a:rPr lang="id-ID" altLang="en-US" sz="1700" dirty="0">
                <a:solidFill>
                  <a:srgbClr val="57606A"/>
                </a:solidFill>
                <a:latin typeface="Consolas" pitchFamily="34" charset="0"/>
                <a:ea typeface="Consolas" pitchFamily="34" charset="-122"/>
                <a:cs typeface="Consolas" pitchFamily="34" charset="-120"/>
              </a:rPr>
              <a:t>__eq__</a:t>
            </a:r>
            <a:r>
              <a:rPr lang="id-ID" altLang="en-US" sz="1700" dirty="0">
                <a:solidFill>
                  <a:srgbClr val="57606A"/>
                </a:solidFill>
              </a:rPr>
              <a:t>/</a:t>
            </a:r>
            <a:r>
              <a:rPr lang="id-ID" altLang="en-US" sz="1700" dirty="0">
                <a:solidFill>
                  <a:srgbClr val="57606A"/>
                </a:solidFill>
                <a:latin typeface="Consolas" pitchFamily="34" charset="0"/>
                <a:ea typeface="Consolas" pitchFamily="34" charset="-122"/>
                <a:cs typeface="Consolas" pitchFamily="34" charset="-120"/>
              </a:rPr>
              <a:t>__hash__</a:t>
            </a:r>
            <a:r>
              <a:rPr lang="id-ID" altLang="en-US" sz="1700" dirty="0">
                <a:solidFill>
                  <a:srgbClr val="57606A"/>
                </a:solidFill>
              </a:rPr>
              <a:t>/</a:t>
            </a:r>
            <a:r>
              <a:rPr lang="id-ID" altLang="en-US" sz="1700" dirty="0">
                <a:solidFill>
                  <a:srgbClr val="57606A"/>
                </a:solidFill>
                <a:latin typeface="Consolas" pitchFamily="34" charset="0"/>
                <a:ea typeface="Consolas" pitchFamily="34" charset="-122"/>
                <a:cs typeface="Consolas" pitchFamily="34" charset="-120"/>
              </a:rPr>
              <a:t>__lt__</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Kedai</a:t>
            </a:r>
            <a:r>
              <a:rPr lang="id-ID" altLang="en-US" sz="3200" b="1" dirty="0">
                <a:solidFill>
                  <a:srgbClr val="0A3069"/>
                </a:solidFill>
              </a:rPr>
              <a:t> Menyimpan Menu di Map</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75343"/>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Kode menu menjadi kunci: pencarian langsung lewat kunci, dan kode ganda ditolak.</a:t>
            </a:r>
            <a:endParaRPr lang="id-ID" sz="1800" dirty="0"/>
          </a:p>
        </p:txBody>
      </p:sp>
      <p:sp>
        <p:nvSpPr>
          <p:cNvPr id="8" name="Shape 5"/>
          <p:cNvSpPr/>
          <p:nvPr/>
        </p:nvSpPr>
        <p:spPr>
          <a:xfrm>
            <a:off x="548640" y="2309683"/>
            <a:ext cx="1051560" cy="329184"/>
          </a:xfrm>
          <a:prstGeom prst="roundRect">
            <a:avLst>
              <a:gd name="adj" fmla="val 138889"/>
            </a:avLst>
          </a:prstGeom>
          <a:solidFill>
            <a:srgbClr val="3572A5"/>
          </a:solidFill>
          <a:ln/>
        </p:spPr>
      </p:sp>
      <p:sp>
        <p:nvSpPr>
          <p:cNvPr id="9" name="Text 6"/>
          <p:cNvSpPr txBox="1"/>
          <p:nvPr/>
        </p:nvSpPr>
        <p:spPr>
          <a:xfrm>
            <a:off x="548640"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python/studi-kasus/kedai.py</a:t>
            </a:r>
            <a:endParaRPr lang="id-ID" sz="1100" dirty="0"/>
          </a:p>
        </p:txBody>
      </p:sp>
      <p:sp>
        <p:nvSpPr>
          <p:cNvPr id="11" name="Shape 8"/>
          <p:cNvSpPr/>
          <p:nvPr/>
        </p:nvSpPr>
        <p:spPr>
          <a:xfrm>
            <a:off x="548640" y="2730307"/>
            <a:ext cx="5432908" cy="2773680"/>
          </a:xfrm>
          <a:prstGeom prst="roundRect">
            <a:avLst>
              <a:gd name="adj" fmla="val 1087"/>
            </a:avLst>
          </a:prstGeom>
          <a:solidFill>
            <a:srgbClr val="F6F8FA"/>
          </a:solidFill>
          <a:ln w="9525">
            <a:solidFill>
              <a:srgbClr val="D0D7DE"/>
            </a:solidFill>
            <a:prstDash val="solid"/>
          </a:ln>
        </p:spPr>
      </p:sp>
      <p:sp>
        <p:nvSpPr>
          <p:cNvPr id="12" name="Text 9"/>
          <p:cNvSpPr txBox="1"/>
          <p:nvPr/>
        </p:nvSpPr>
        <p:spPr>
          <a:xfrm>
            <a:off x="658368" y="2821747"/>
            <a:ext cx="5213452" cy="2590800"/>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Kedai</a:t>
            </a:r>
            <a:r>
              <a:rPr lang="en-US" altLang="en-US" sz="1050" dirty="0">
                <a:solidFill>
                  <a:srgbClr val="1F2328"/>
                </a:solidFill>
                <a:latin typeface="Consolas" pitchFamily="34" charset="0"/>
                <a:ea typeface="Consolas" pitchFamily="34" charset="-122"/>
                <a:cs typeface="Consolas" pitchFamily="34" charset="-120"/>
              </a:rPr>
              <a:t>(DapatDicetak):</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__init__</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nama: </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._daftar_menu: </a:t>
            </a:r>
            <a:r>
              <a:rPr lang="en-US" altLang="en-US" sz="1050" dirty="0">
                <a:solidFill>
                  <a:srgbClr val="0550AE"/>
                </a:solidFill>
                <a:latin typeface="Consolas" pitchFamily="34" charset="0"/>
                <a:ea typeface="Consolas" pitchFamily="34" charset="-122"/>
                <a:cs typeface="Consolas" pitchFamily="34" charset="-120"/>
              </a:rPr>
              <a:t>dict</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 Menu] = {}</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tambah_menu</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menu: Menu):</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if</a:t>
            </a:r>
            <a:r>
              <a:rPr lang="en-US" altLang="en-US" sz="1050" dirty="0">
                <a:solidFill>
                  <a:srgbClr val="1F2328"/>
                </a:solidFill>
                <a:latin typeface="Consolas" pitchFamily="34" charset="0"/>
                <a:ea typeface="Consolas" pitchFamily="34" charset="-122"/>
                <a:cs typeface="Consolas" pitchFamily="34" charset="-120"/>
              </a:rPr>
              <a:t> menu.kode in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._daftar_menu:</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raise</a:t>
            </a:r>
            <a:r>
              <a:rPr lang="en-US" altLang="en-US" sz="1050" dirty="0">
                <a:solidFill>
                  <a:srgbClr val="1F2328"/>
                </a:solidFill>
                <a:latin typeface="Consolas" pitchFamily="34" charset="0"/>
                <a:ea typeface="Consolas" pitchFamily="34" charset="-122"/>
                <a:cs typeface="Consolas" pitchFamily="34" charset="-120"/>
              </a:rPr>
              <a:t> ValueError(</a:t>
            </a:r>
            <a:r>
              <a:rPr lang="en-US" altLang="en-US" sz="1050" dirty="0">
                <a:solidFill>
                  <a:srgbClr val="0A3069"/>
                </a:solidFill>
                <a:latin typeface="Consolas" pitchFamily="34" charset="0"/>
                <a:ea typeface="Consolas" pitchFamily="34" charset="-122"/>
                <a:cs typeface="Consolas" pitchFamily="34" charset="-120"/>
              </a:rPr>
              <a:t>f"Kode {</a:t>
            </a:r>
            <a:r>
              <a:rPr lang="en-US" altLang="en-US" sz="1050" dirty="0">
                <a:solidFill>
                  <a:srgbClr val="1F2328"/>
                </a:solidFill>
                <a:latin typeface="Consolas" pitchFamily="34" charset="0"/>
                <a:ea typeface="Consolas" pitchFamily="34" charset="-122"/>
                <a:cs typeface="Consolas" pitchFamily="34" charset="-120"/>
              </a:rPr>
              <a:t>menu.kode</a:t>
            </a:r>
            <a:r>
              <a:rPr lang="en-US" altLang="en-US" sz="1050" dirty="0">
                <a:solidFill>
                  <a:srgbClr val="0A3069"/>
                </a:solidFill>
                <a:latin typeface="Consolas" pitchFamily="34" charset="0"/>
                <a:ea typeface="Consolas" pitchFamily="34" charset="-122"/>
                <a:cs typeface="Consolas" pitchFamily="34" charset="-120"/>
              </a:rPr>
              <a:t>} sudah dipakai"</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._daftar_menu[menu.kode] = menu</a:t>
            </a:r>
            <a:endParaRPr lang="en-US" sz="1050" dirty="0"/>
          </a:p>
          <a:p>
            <a:pPr indent="0" marL="0">
              <a:buNone/>
            </a:pPr>
            <a:r>
              <a:rPr lang="en-US" altLang="en-US" sz="1050" dirty="0">
                <a:solidFill>
                  <a:srgbClr val="000000"/>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cari_menu</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kode: </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 -&gt; Menu:</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if</a:t>
            </a:r>
            <a:r>
              <a:rPr lang="en-US" altLang="en-US" sz="1050" dirty="0">
                <a:solidFill>
                  <a:srgbClr val="1F2328"/>
                </a:solidFill>
                <a:latin typeface="Consolas" pitchFamily="34" charset="0"/>
                <a:ea typeface="Consolas" pitchFamily="34" charset="-122"/>
                <a:cs typeface="Consolas" pitchFamily="34" charset="-120"/>
              </a:rPr>
              <a:t> kode not in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._daftar_menu:</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raise</a:t>
            </a:r>
            <a:r>
              <a:rPr lang="en-US" altLang="en-US" sz="1050" dirty="0">
                <a:solidFill>
                  <a:srgbClr val="1F2328"/>
                </a:solidFill>
                <a:latin typeface="Consolas" pitchFamily="34" charset="0"/>
                <a:ea typeface="Consolas" pitchFamily="34" charset="-122"/>
                <a:cs typeface="Consolas" pitchFamily="34" charset="-120"/>
              </a:rPr>
              <a:t> MenuTidakDitemukanError(kode)</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._daftar_menu[kode]</a:t>
            </a:r>
            <a:endParaRPr lang="en-US" sz="1050" dirty="0"/>
          </a:p>
        </p:txBody>
      </p:sp>
      <p:sp>
        <p:nvSpPr>
          <p:cNvPr id="13" name="Shape 10"/>
          <p:cNvSpPr/>
          <p:nvPr/>
        </p:nvSpPr>
        <p:spPr>
          <a:xfrm>
            <a:off x="6210148" y="2309683"/>
            <a:ext cx="1051560" cy="329184"/>
          </a:xfrm>
          <a:prstGeom prst="roundRect">
            <a:avLst>
              <a:gd name="adj" fmla="val 138889"/>
            </a:avLst>
          </a:prstGeom>
          <a:solidFill>
            <a:srgbClr val="B07219"/>
          </a:solidFill>
          <a:ln/>
        </p:spPr>
      </p:sp>
      <p:sp>
        <p:nvSpPr>
          <p:cNvPr id="14" name="Text 11"/>
          <p:cNvSpPr txBox="1"/>
          <p:nvPr/>
        </p:nvSpPr>
        <p:spPr>
          <a:xfrm>
            <a:off x="6210148"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java/studi-kasus/Kedai.java</a:t>
            </a:r>
            <a:endParaRPr lang="id-ID" sz="1100" dirty="0"/>
          </a:p>
        </p:txBody>
      </p:sp>
      <p:sp>
        <p:nvSpPr>
          <p:cNvPr id="16" name="Shape 13"/>
          <p:cNvSpPr/>
          <p:nvPr/>
        </p:nvSpPr>
        <p:spPr>
          <a:xfrm>
            <a:off x="6210148" y="2730307"/>
            <a:ext cx="5432908" cy="2773680"/>
          </a:xfrm>
          <a:prstGeom prst="roundRect">
            <a:avLst>
              <a:gd name="adj" fmla="val 1087"/>
            </a:avLst>
          </a:prstGeom>
          <a:solidFill>
            <a:srgbClr val="F6F8FA"/>
          </a:solidFill>
          <a:ln w="9525">
            <a:solidFill>
              <a:srgbClr val="D0D7DE"/>
            </a:solidFill>
            <a:prstDash val="solid"/>
          </a:ln>
        </p:spPr>
      </p:sp>
      <p:sp>
        <p:nvSpPr>
          <p:cNvPr id="17" name="Text 14"/>
          <p:cNvSpPr txBox="1"/>
          <p:nvPr/>
        </p:nvSpPr>
        <p:spPr>
          <a:xfrm>
            <a:off x="6319876" y="2821747"/>
            <a:ext cx="5213452" cy="2590800"/>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Kedai</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implements</a:t>
            </a:r>
            <a:r>
              <a:rPr lang="en-US" altLang="en-US" sz="1050" dirty="0">
                <a:solidFill>
                  <a:srgbClr val="1F2328"/>
                </a:solidFill>
                <a:latin typeface="Consolas" pitchFamily="34" charset="0"/>
                <a:ea typeface="Consolas" pitchFamily="34" charset="-122"/>
                <a:cs typeface="Consolas" pitchFamily="34" charset="-120"/>
              </a:rPr>
              <a:t> DapatDicetak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private</a:t>
            </a:r>
            <a:r>
              <a:rPr lang="en-US" altLang="en-US" sz="1050" dirty="0">
                <a:solidFill>
                  <a:srgbClr val="1F2328"/>
                </a:solidFill>
                <a:latin typeface="Consolas" pitchFamily="34" charset="0"/>
                <a:ea typeface="Consolas" pitchFamily="34" charset="-122"/>
                <a:cs typeface="Consolas" pitchFamily="34" charset="-120"/>
              </a:rPr>
              <a:t> Map&lt;String, Menu&gt; daftarMenu;</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void</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tambahMenu</a:t>
            </a:r>
            <a:r>
              <a:rPr lang="en-US" altLang="en-US" sz="1050" dirty="0">
                <a:solidFill>
                  <a:srgbClr val="1F2328"/>
                </a:solidFill>
                <a:latin typeface="Consolas" pitchFamily="34" charset="0"/>
                <a:ea typeface="Consolas" pitchFamily="34" charset="-122"/>
                <a:cs typeface="Consolas" pitchFamily="34" charset="-120"/>
              </a:rPr>
              <a:t>(Menu menu)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if</a:t>
            </a:r>
            <a:r>
              <a:rPr lang="en-US" altLang="en-US" sz="1050" dirty="0">
                <a:solidFill>
                  <a:srgbClr val="1F2328"/>
                </a:solidFill>
                <a:latin typeface="Consolas" pitchFamily="34" charset="0"/>
                <a:ea typeface="Consolas" pitchFamily="34" charset="-122"/>
                <a:cs typeface="Consolas" pitchFamily="34" charset="-120"/>
              </a:rPr>
              <a:t> (daftarMenu.containsKey(menu.getKode())) {</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lempar IllegalArgumentException</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daftarMenu.put(menu.getKode(), menu);</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Menu </a:t>
            </a:r>
            <a:r>
              <a:rPr lang="en-US" altLang="en-US" sz="1050" dirty="0">
                <a:solidFill>
                  <a:srgbClr val="8250DF"/>
                </a:solidFill>
                <a:latin typeface="Consolas" pitchFamily="34" charset="0"/>
                <a:ea typeface="Consolas" pitchFamily="34" charset="-122"/>
                <a:cs typeface="Consolas" pitchFamily="34" charset="-120"/>
              </a:rPr>
              <a:t>cariMenu</a:t>
            </a:r>
            <a:r>
              <a:rPr lang="en-US" altLang="en-US" sz="1050" dirty="0">
                <a:solidFill>
                  <a:srgbClr val="1F2328"/>
                </a:solidFill>
                <a:latin typeface="Consolas" pitchFamily="34" charset="0"/>
                <a:ea typeface="Consolas" pitchFamily="34" charset="-122"/>
                <a:cs typeface="Consolas" pitchFamily="34" charset="-120"/>
              </a:rPr>
              <a:t>(String kode) </a:t>
            </a:r>
            <a:r>
              <a:rPr lang="en-US" altLang="en-US" sz="1050" dirty="0">
                <a:solidFill>
                  <a:srgbClr val="CF222E"/>
                </a:solidFill>
                <a:latin typeface="Consolas" pitchFamily="34" charset="0"/>
                <a:ea typeface="Consolas" pitchFamily="34" charset="-122"/>
                <a:cs typeface="Consolas" pitchFamily="34" charset="-120"/>
              </a:rPr>
              <a:t>throws</a:t>
            </a:r>
            <a:r>
              <a:rPr lang="en-US" altLang="en-US" sz="1050" dirty="0">
                <a:solidFill>
                  <a:srgbClr val="1F2328"/>
                </a:solidFill>
                <a:latin typeface="Consolas" pitchFamily="34" charset="0"/>
                <a:ea typeface="Consolas" pitchFamily="34" charset="-122"/>
                <a:cs typeface="Consolas" pitchFamily="34" charset="-120"/>
              </a:rPr>
              <a:t> ...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if</a:t>
            </a:r>
            <a:r>
              <a:rPr lang="en-US" altLang="en-US" sz="1050" dirty="0">
                <a:solidFill>
                  <a:srgbClr val="1F2328"/>
                </a:solidFill>
                <a:latin typeface="Consolas" pitchFamily="34" charset="0"/>
                <a:ea typeface="Consolas" pitchFamily="34" charset="-122"/>
                <a:cs typeface="Consolas" pitchFamily="34" charset="-120"/>
              </a:rPr>
              <a:t> (!daftarMenu.containsKey(kode))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throw</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new</a:t>
            </a:r>
            <a:r>
              <a:rPr lang="en-US" altLang="en-US" sz="1050" dirty="0">
                <a:solidFill>
                  <a:srgbClr val="1F2328"/>
                </a:solidFill>
                <a:latin typeface="Consolas" pitchFamily="34" charset="0"/>
                <a:ea typeface="Consolas" pitchFamily="34" charset="-122"/>
                <a:cs typeface="Consolas" pitchFamily="34" charset="-120"/>
              </a:rPr>
              <a:t> MenuTidakDitemukanException(kode);</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daftarMenu.get(kode);</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Menu</a:t>
            </a:r>
            <a:r>
              <a:rPr lang="id-ID" altLang="en-US" sz="3200" b="1" dirty="0">
                <a:solidFill>
                  <a:srgbClr val="0A3069"/>
                </a:solidFill>
              </a:rPr>
              <a:t>: Kode </a:t>
            </a:r>
            <a:r>
              <a:rPr lang="id-ID" altLang="en-US" sz="3200" b="1" i="1" dirty="0">
                <a:solidFill>
                  <a:srgbClr val="0A3069"/>
                </a:solidFill>
              </a:rPr>
              <a:t>Hash</a:t>
            </a:r>
            <a:r>
              <a:rPr lang="id-ID" altLang="en-US" sz="3200" b="1" dirty="0">
                <a:solidFill>
                  <a:srgbClr val="0A3069"/>
                </a:solidFill>
              </a:rPr>
              <a:t> dan Urutan Alami</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799814"/>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Dua menu dianggap sama jika </a:t>
            </a:r>
            <a:r>
              <a:rPr lang="id-ID" altLang="en-US" sz="1800" b="1" dirty="0">
                <a:solidFill>
                  <a:srgbClr val="57606A"/>
                </a:solidFill>
              </a:rPr>
              <a:t>kodenya</a:t>
            </a:r>
            <a:r>
              <a:rPr lang="id-ID" altLang="en-US" sz="1800" dirty="0">
                <a:solidFill>
                  <a:srgbClr val="57606A"/>
                </a:solidFill>
              </a:rPr>
              <a:t> sama, jadi </a:t>
            </a:r>
            <a:r>
              <a:rPr lang="id-ID" altLang="en-US" sz="1800" i="1" dirty="0">
                <a:solidFill>
                  <a:srgbClr val="57606A"/>
                </a:solidFill>
              </a:rPr>
              <a:t>hash</a:t>
            </a:r>
            <a:r>
              <a:rPr lang="id-ID" altLang="en-US" sz="1800" dirty="0">
                <a:solidFill>
                  <a:srgbClr val="57606A"/>
                </a:solidFill>
              </a:rPr>
              <a:t> dihitung dari kode. Urutan alaminya: harga termurah dulu.</a:t>
            </a:r>
            <a:endParaRPr lang="id-ID" sz="1800" dirty="0"/>
          </a:p>
        </p:txBody>
      </p:sp>
      <p:sp>
        <p:nvSpPr>
          <p:cNvPr id="8" name="Shape 5"/>
          <p:cNvSpPr/>
          <p:nvPr/>
        </p:nvSpPr>
        <p:spPr>
          <a:xfrm>
            <a:off x="548640" y="2234154"/>
            <a:ext cx="1051560" cy="329184"/>
          </a:xfrm>
          <a:prstGeom prst="roundRect">
            <a:avLst>
              <a:gd name="adj" fmla="val 138889"/>
            </a:avLst>
          </a:prstGeom>
          <a:solidFill>
            <a:srgbClr val="3572A5"/>
          </a:solidFill>
          <a:ln/>
        </p:spPr>
      </p:sp>
      <p:sp>
        <p:nvSpPr>
          <p:cNvPr id="9" name="Text 6"/>
          <p:cNvSpPr txBox="1"/>
          <p:nvPr/>
        </p:nvSpPr>
        <p:spPr>
          <a:xfrm>
            <a:off x="548640" y="223415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3415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python/studi-kasus/menu.py</a:t>
            </a:r>
            <a:endParaRPr lang="id-ID" sz="1100" dirty="0"/>
          </a:p>
        </p:txBody>
      </p:sp>
      <p:sp>
        <p:nvSpPr>
          <p:cNvPr id="11" name="Shape 8"/>
          <p:cNvSpPr/>
          <p:nvPr/>
        </p:nvSpPr>
        <p:spPr>
          <a:xfrm>
            <a:off x="548640" y="2654778"/>
            <a:ext cx="5432908" cy="2953512"/>
          </a:xfrm>
          <a:prstGeom prst="roundRect">
            <a:avLst>
              <a:gd name="adj" fmla="val 959"/>
            </a:avLst>
          </a:prstGeom>
          <a:solidFill>
            <a:srgbClr val="F6F8FA"/>
          </a:solidFill>
          <a:ln w="9525">
            <a:solidFill>
              <a:srgbClr val="D0D7DE"/>
            </a:solidFill>
            <a:prstDash val="solid"/>
          </a:ln>
        </p:spPr>
      </p:sp>
      <p:sp>
        <p:nvSpPr>
          <p:cNvPr id="12" name="Text 9"/>
          <p:cNvSpPr txBox="1"/>
          <p:nvPr/>
        </p:nvSpPr>
        <p:spPr>
          <a:xfrm>
            <a:off x="658368" y="2746218"/>
            <a:ext cx="5213452" cy="2770632"/>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Menu</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__hash__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-&gt; </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hash</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._kode)</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__lt__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lain: </a:t>
            </a:r>
            <a:r>
              <a:rPr lang="en-US" altLang="en-US" sz="1200" dirty="0">
                <a:solidFill>
                  <a:srgbClr val="0A3069"/>
                </a:solidFill>
                <a:latin typeface="Consolas" pitchFamily="34" charset="0"/>
                <a:ea typeface="Consolas" pitchFamily="34" charset="-122"/>
                <a:cs typeface="Consolas" pitchFamily="34" charset="-120"/>
              </a:rPr>
              <a:t>"Menu"</a:t>
            </a:r>
            <a:r>
              <a:rPr lang="en-US" altLang="en-US" sz="1200" dirty="0">
                <a:solidFill>
                  <a:srgbClr val="1F2328"/>
                </a:solidFill>
                <a:latin typeface="Consolas" pitchFamily="34" charset="0"/>
                <a:ea typeface="Consolas" pitchFamily="34" charset="-122"/>
                <a:cs typeface="Consolas" pitchFamily="34" charset="-120"/>
              </a:rPr>
              <a:t>) -&gt; </a:t>
            </a:r>
            <a:r>
              <a:rPr lang="en-US" altLang="en-US" sz="1200" dirty="0">
                <a:solidFill>
                  <a:srgbClr val="0550AE"/>
                </a:solidFill>
                <a:latin typeface="Consolas" pitchFamily="34" charset="0"/>
                <a:ea typeface="Consolas" pitchFamily="34" charset="-122"/>
                <a:cs typeface="Consolas" pitchFamily="34" charset="-120"/>
              </a:rPr>
              <a:t>bool</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._harga != lain._harga: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._harga &lt; lain._harga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._kode &lt; lain._kode</a:t>
            </a:r>
            <a:endParaRPr lang="en-US" sz="1200" dirty="0"/>
          </a:p>
        </p:txBody>
      </p:sp>
      <p:sp>
        <p:nvSpPr>
          <p:cNvPr id="13" name="Shape 10"/>
          <p:cNvSpPr/>
          <p:nvPr/>
        </p:nvSpPr>
        <p:spPr>
          <a:xfrm>
            <a:off x="6210148" y="2234154"/>
            <a:ext cx="1051560" cy="329184"/>
          </a:xfrm>
          <a:prstGeom prst="roundRect">
            <a:avLst>
              <a:gd name="adj" fmla="val 138889"/>
            </a:avLst>
          </a:prstGeom>
          <a:solidFill>
            <a:srgbClr val="B07219"/>
          </a:solidFill>
          <a:ln/>
        </p:spPr>
      </p:sp>
      <p:sp>
        <p:nvSpPr>
          <p:cNvPr id="14" name="Text 11"/>
          <p:cNvSpPr txBox="1"/>
          <p:nvPr/>
        </p:nvSpPr>
        <p:spPr>
          <a:xfrm>
            <a:off x="6210148" y="223415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3415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java/studi-kasus/Menu.java</a:t>
            </a:r>
            <a:endParaRPr lang="id-ID" sz="1100" dirty="0"/>
          </a:p>
        </p:txBody>
      </p:sp>
      <p:sp>
        <p:nvSpPr>
          <p:cNvPr id="16" name="Shape 13"/>
          <p:cNvSpPr/>
          <p:nvPr/>
        </p:nvSpPr>
        <p:spPr>
          <a:xfrm>
            <a:off x="6210148" y="2654778"/>
            <a:ext cx="5432908" cy="2953512"/>
          </a:xfrm>
          <a:prstGeom prst="roundRect">
            <a:avLst>
              <a:gd name="adj" fmla="val 959"/>
            </a:avLst>
          </a:prstGeom>
          <a:solidFill>
            <a:srgbClr val="F6F8FA"/>
          </a:solidFill>
          <a:ln w="9525">
            <a:solidFill>
              <a:srgbClr val="D0D7DE"/>
            </a:solidFill>
            <a:prstDash val="solid"/>
          </a:ln>
        </p:spPr>
      </p:sp>
      <p:sp>
        <p:nvSpPr>
          <p:cNvPr id="17" name="Text 14"/>
          <p:cNvSpPr txBox="1"/>
          <p:nvPr/>
        </p:nvSpPr>
        <p:spPr>
          <a:xfrm>
            <a:off x="6319876" y="2746218"/>
            <a:ext cx="5213452" cy="2770632"/>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Menu</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implements</a:t>
            </a:r>
            <a:r>
              <a:rPr lang="en-US" altLang="en-US" sz="1200" dirty="0">
                <a:solidFill>
                  <a:srgbClr val="1F2328"/>
                </a:solidFill>
                <a:latin typeface="Consolas" pitchFamily="34" charset="0"/>
                <a:ea typeface="Consolas" pitchFamily="34" charset="-122"/>
                <a:cs typeface="Consolas" pitchFamily="34" charset="-120"/>
              </a:rPr>
              <a:t> Comparable&lt;Menu&gt;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@Override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hashCode</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kode.hashCode();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@Override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compareTo</a:t>
            </a:r>
            <a:r>
              <a:rPr lang="en-US" altLang="en-US" sz="1200" dirty="0">
                <a:solidFill>
                  <a:srgbClr val="1F2328"/>
                </a:solidFill>
                <a:latin typeface="Consolas" pitchFamily="34" charset="0"/>
                <a:ea typeface="Consolas" pitchFamily="34" charset="-122"/>
                <a:cs typeface="Consolas" pitchFamily="34" charset="-120"/>
              </a:rPr>
              <a:t>(Menu lain)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if</a:t>
            </a:r>
            <a:r>
              <a:rPr lang="en-US" altLang="en-US" sz="1200" dirty="0">
                <a:solidFill>
                  <a:srgbClr val="1F2328"/>
                </a:solidFill>
                <a:latin typeface="Consolas" pitchFamily="34" charset="0"/>
                <a:ea typeface="Consolas" pitchFamily="34" charset="-122"/>
                <a:cs typeface="Consolas" pitchFamily="34" charset="-120"/>
              </a:rPr>
              <a:t> (harga != lain.harga)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Integer.compare(harga, lain.harga);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kode.compareTo(lain.kode);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530614"/>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603035"/>
            <a:ext cx="184343" cy="184343"/>
          </a:xfrm>
          <a:prstGeom prst="rect">
            <a:avLst/>
          </a:prstGeom>
        </p:spPr>
      </p:pic>
      <p:sp>
        <p:nvSpPr>
          <p:cNvPr id="7" name="Text 3"/>
          <p:cNvSpPr txBox="1"/>
          <p:nvPr/>
        </p:nvSpPr>
        <p:spPr>
          <a:xfrm>
            <a:off x="987552" y="1530614"/>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530614"/>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603035"/>
            <a:ext cx="184343" cy="184343"/>
          </a:xfrm>
          <a:prstGeom prst="rect">
            <a:avLst/>
          </a:prstGeom>
        </p:spPr>
      </p:pic>
      <p:sp>
        <p:nvSpPr>
          <p:cNvPr id="10" name="Text 5"/>
          <p:cNvSpPr txBox="1"/>
          <p:nvPr/>
        </p:nvSpPr>
        <p:spPr>
          <a:xfrm>
            <a:off x="5605272" y="1530614"/>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033534"/>
            <a:ext cx="4343400" cy="1202436"/>
          </a:xfrm>
          <a:prstGeom prst="roundRect">
            <a:avLst>
              <a:gd name="adj" fmla="val 6940"/>
            </a:avLst>
          </a:prstGeom>
          <a:solidFill>
            <a:srgbClr val="FFEBE9"/>
          </a:solidFill>
          <a:ln w="9525">
            <a:solidFill>
              <a:srgbClr val="FF8182"/>
            </a:solidFill>
            <a:prstDash val="solid"/>
          </a:ln>
        </p:spPr>
      </p:sp>
      <p:sp>
        <p:nvSpPr>
          <p:cNvPr id="12" name="Text 7"/>
          <p:cNvSpPr txBox="1"/>
          <p:nvPr/>
        </p:nvSpPr>
        <p:spPr>
          <a:xfrm>
            <a:off x="777240" y="2216414"/>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“Semua koleksi menyimpan isi sesuai urutan saya memasukkannya.”</a:t>
            </a:r>
            <a:endParaRPr lang="id-ID" sz="1800" dirty="0"/>
          </a:p>
        </p:txBody>
      </p:sp>
      <p:sp>
        <p:nvSpPr>
          <p:cNvPr id="13" name="Shape 8"/>
          <p:cNvSpPr/>
          <p:nvPr/>
        </p:nvSpPr>
        <p:spPr>
          <a:xfrm>
            <a:off x="5166360" y="2033534"/>
            <a:ext cx="6476695" cy="1202436"/>
          </a:xfrm>
          <a:prstGeom prst="roundRect">
            <a:avLst>
              <a:gd name="adj" fmla="val 6940"/>
            </a:avLst>
          </a:prstGeom>
          <a:solidFill>
            <a:srgbClr val="DAFBE1"/>
          </a:solidFill>
          <a:ln w="9525">
            <a:solidFill>
              <a:srgbClr val="4AC26B"/>
            </a:solidFill>
            <a:prstDash val="solid"/>
          </a:ln>
        </p:spPr>
      </p:sp>
      <p:sp>
        <p:nvSpPr>
          <p:cNvPr id="14" name="Text 9"/>
          <p:cNvSpPr txBox="1"/>
          <p:nvPr/>
        </p:nvSpPr>
        <p:spPr>
          <a:xfrm>
            <a:off x="5394960" y="2216414"/>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latin typeface="Consolas" pitchFamily="34" charset="0"/>
                <a:ea typeface="Consolas" pitchFamily="34" charset="-122"/>
                <a:cs typeface="Consolas" pitchFamily="34" charset="-120"/>
              </a:rPr>
              <a:t>list</a:t>
            </a:r>
            <a:r>
              <a:rPr lang="id-ID" altLang="en-US" sz="1800" dirty="0">
                <a:solidFill>
                  <a:srgbClr val="1F2328"/>
                </a:solidFill>
              </a:rPr>
              <a:t> dan </a:t>
            </a:r>
            <a:r>
              <a:rPr lang="id-ID" altLang="en-US" sz="1800" dirty="0">
                <a:solidFill>
                  <a:srgbClr val="1F2328"/>
                </a:solidFill>
                <a:latin typeface="Consolas" pitchFamily="34" charset="0"/>
                <a:ea typeface="Consolas" pitchFamily="34" charset="-122"/>
                <a:cs typeface="Consolas" pitchFamily="34" charset="-120"/>
              </a:rPr>
              <a:t>dict</a:t>
            </a:r>
            <a:r>
              <a:rPr lang="id-ID" altLang="en-US" sz="1800" dirty="0">
                <a:solidFill>
                  <a:srgbClr val="1F2328"/>
                </a:solidFill>
              </a:rPr>
              <a:t> Python menjaga urutan masuk, tetapi </a:t>
            </a:r>
            <a:r>
              <a:rPr lang="id-ID" altLang="en-US" sz="1800" dirty="0">
                <a:solidFill>
                  <a:srgbClr val="1F2328"/>
                </a:solidFill>
                <a:latin typeface="Consolas" pitchFamily="34" charset="0"/>
                <a:ea typeface="Consolas" pitchFamily="34" charset="-122"/>
                <a:cs typeface="Consolas" pitchFamily="34" charset="-120"/>
              </a:rPr>
              <a:t>set</a:t>
            </a:r>
            <a:r>
              <a:rPr lang="id-ID" altLang="en-US" sz="1800" dirty="0">
                <a:solidFill>
                  <a:srgbClr val="1F2328"/>
                </a:solidFill>
              </a:rPr>
              <a:t> tidak. </a:t>
            </a:r>
            <a:r>
              <a:rPr lang="id-ID" altLang="en-US" sz="1800" dirty="0">
                <a:solidFill>
                  <a:srgbClr val="1F2328"/>
                </a:solidFill>
                <a:latin typeface="Consolas" pitchFamily="34" charset="0"/>
                <a:ea typeface="Consolas" pitchFamily="34" charset="-122"/>
                <a:cs typeface="Consolas" pitchFamily="34" charset="-120"/>
              </a:rPr>
              <a:t>HashSet</a:t>
            </a:r>
            <a:r>
              <a:rPr lang="id-ID" altLang="en-US" sz="1800" dirty="0">
                <a:solidFill>
                  <a:srgbClr val="1F2328"/>
                </a:solidFill>
              </a:rPr>
              <a:t> dan </a:t>
            </a:r>
            <a:r>
              <a:rPr lang="id-ID" altLang="en-US" sz="1800" dirty="0">
                <a:solidFill>
                  <a:srgbClr val="1F2328"/>
                </a:solidFill>
                <a:latin typeface="Consolas" pitchFamily="34" charset="0"/>
                <a:ea typeface="Consolas" pitchFamily="34" charset="-122"/>
                <a:cs typeface="Consolas" pitchFamily="34" charset="-120"/>
              </a:rPr>
              <a:t>HashMap</a:t>
            </a:r>
            <a:r>
              <a:rPr lang="id-ID" altLang="en-US" sz="1800" dirty="0">
                <a:solidFill>
                  <a:srgbClr val="1F2328"/>
                </a:solidFill>
              </a:rPr>
              <a:t> Java tidak menjamin urutan; pakai </a:t>
            </a:r>
            <a:r>
              <a:rPr lang="id-ID" altLang="en-US" sz="1800" dirty="0">
                <a:solidFill>
                  <a:srgbClr val="1F2328"/>
                </a:solidFill>
                <a:latin typeface="Consolas" pitchFamily="34" charset="0"/>
                <a:ea typeface="Consolas" pitchFamily="34" charset="-122"/>
                <a:cs typeface="Consolas" pitchFamily="34" charset="-120"/>
              </a:rPr>
              <a:t>LinkedHashMap</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TreeMap</a:t>
            </a:r>
            <a:r>
              <a:rPr lang="id-ID" altLang="en-US" sz="1800" dirty="0">
                <a:solidFill>
                  <a:srgbClr val="1F2328"/>
                </a:solidFill>
              </a:rPr>
              <a:t> atau urutkan dulu.</a:t>
            </a:r>
            <a:endParaRPr lang="id-ID" sz="1800" dirty="0"/>
          </a:p>
        </p:txBody>
      </p:sp>
      <p:sp>
        <p:nvSpPr>
          <p:cNvPr id="15" name="Shape 10"/>
          <p:cNvSpPr/>
          <p:nvPr/>
        </p:nvSpPr>
        <p:spPr>
          <a:xfrm>
            <a:off x="548640" y="3437138"/>
            <a:ext cx="4343400" cy="1202436"/>
          </a:xfrm>
          <a:prstGeom prst="roundRect">
            <a:avLst>
              <a:gd name="adj" fmla="val 6940"/>
            </a:avLst>
          </a:prstGeom>
          <a:solidFill>
            <a:srgbClr val="FFEBE9"/>
          </a:solidFill>
          <a:ln w="9525">
            <a:solidFill>
              <a:srgbClr val="FF8182"/>
            </a:solidFill>
            <a:prstDash val="solid"/>
          </a:ln>
        </p:spPr>
      </p:sp>
      <p:sp>
        <p:nvSpPr>
          <p:cNvPr id="16" name="Text 11"/>
          <p:cNvSpPr txBox="1"/>
          <p:nvPr/>
        </p:nvSpPr>
        <p:spPr>
          <a:xfrm>
            <a:off x="777240" y="3620018"/>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“Cukup menulis </a:t>
            </a:r>
            <a:r>
              <a:rPr lang="id-ID" altLang="en-US" sz="1800" dirty="0">
                <a:solidFill>
                  <a:srgbClr val="1F2328"/>
                </a:solidFill>
                <a:latin typeface="Consolas" pitchFamily="34" charset="0"/>
                <a:ea typeface="Consolas" pitchFamily="34" charset="-122"/>
                <a:cs typeface="Consolas" pitchFamily="34" charset="-120"/>
              </a:rPr>
              <a:t>__eq__</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equals()</a:t>
            </a:r>
            <a:r>
              <a:rPr lang="id-ID" altLang="en-US" sz="1800" dirty="0">
                <a:solidFill>
                  <a:srgbClr val="1F2328"/>
                </a:solidFill>
              </a:rPr>
              <a:t> agar set membuang data kembar.”</a:t>
            </a:r>
            <a:endParaRPr lang="id-ID" sz="1800" dirty="0"/>
          </a:p>
        </p:txBody>
      </p:sp>
      <p:sp>
        <p:nvSpPr>
          <p:cNvPr id="17" name="Shape 12"/>
          <p:cNvSpPr/>
          <p:nvPr/>
        </p:nvSpPr>
        <p:spPr>
          <a:xfrm>
            <a:off x="5166360" y="3437138"/>
            <a:ext cx="6476695" cy="1202436"/>
          </a:xfrm>
          <a:prstGeom prst="roundRect">
            <a:avLst>
              <a:gd name="adj" fmla="val 6940"/>
            </a:avLst>
          </a:prstGeom>
          <a:solidFill>
            <a:srgbClr val="DAFBE1"/>
          </a:solidFill>
          <a:ln w="9525">
            <a:solidFill>
              <a:srgbClr val="4AC26B"/>
            </a:solidFill>
            <a:prstDash val="solid"/>
          </a:ln>
        </p:spPr>
      </p:sp>
      <p:sp>
        <p:nvSpPr>
          <p:cNvPr id="18" name="Text 13"/>
          <p:cNvSpPr txBox="1"/>
          <p:nvPr/>
        </p:nvSpPr>
        <p:spPr>
          <a:xfrm>
            <a:off x="5394960" y="3620018"/>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rPr>
              <a:t>Belum cukup. Tanpa </a:t>
            </a:r>
            <a:r>
              <a:rPr lang="id-ID" altLang="en-US" sz="1800" dirty="0">
                <a:solidFill>
                  <a:srgbClr val="1F2328"/>
                </a:solidFill>
                <a:latin typeface="Consolas" pitchFamily="34" charset="0"/>
                <a:ea typeface="Consolas" pitchFamily="34" charset="-122"/>
                <a:cs typeface="Consolas" pitchFamily="34" charset="-120"/>
              </a:rPr>
              <a:t>__hash__</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hashCode()</a:t>
            </a:r>
            <a:r>
              <a:rPr lang="id-ID" altLang="en-US" sz="1800" dirty="0">
                <a:solidFill>
                  <a:srgbClr val="1F2328"/>
                </a:solidFill>
              </a:rPr>
              <a:t> dari data yang sama, Python menolak objeknya masuk set, sedangkan Java diam-⁠diam membiarkan data kembar.</a:t>
            </a:r>
            <a:endParaRPr lang="id-ID" sz="1800" dirty="0"/>
          </a:p>
        </p:txBody>
      </p:sp>
      <p:sp>
        <p:nvSpPr>
          <p:cNvPr id="19" name="Shape 14"/>
          <p:cNvSpPr/>
          <p:nvPr/>
        </p:nvSpPr>
        <p:spPr>
          <a:xfrm>
            <a:off x="548640" y="4840742"/>
            <a:ext cx="4343400" cy="1202436"/>
          </a:xfrm>
          <a:prstGeom prst="roundRect">
            <a:avLst>
              <a:gd name="adj" fmla="val 6940"/>
            </a:avLst>
          </a:prstGeom>
          <a:solidFill>
            <a:srgbClr val="FFEBE9"/>
          </a:solidFill>
          <a:ln w="9525">
            <a:solidFill>
              <a:srgbClr val="FF8182"/>
            </a:solidFill>
            <a:prstDash val="solid"/>
          </a:ln>
        </p:spPr>
      </p:sp>
      <p:sp>
        <p:nvSpPr>
          <p:cNvPr id="20" name="Text 15"/>
          <p:cNvSpPr txBox="1"/>
          <p:nvPr/>
        </p:nvSpPr>
        <p:spPr>
          <a:xfrm>
            <a:off x="777240" y="5023622"/>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a:t>
            </a:r>
            <a:r>
              <a:rPr lang="id-ID" altLang="en-US" sz="1800" i="1" dirty="0">
                <a:solidFill>
                  <a:srgbClr val="1F2328"/>
                </a:solidFill>
              </a:rPr>
              <a:t>Type hint</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list[int]</a:t>
            </a:r>
            <a:r>
              <a:rPr lang="id-ID" altLang="en-US" sz="1800" dirty="0">
                <a:solidFill>
                  <a:srgbClr val="1F2328"/>
                </a:solidFill>
              </a:rPr>
              <a:t> membuat Python menolak teks.”</a:t>
            </a:r>
            <a:endParaRPr lang="id-ID" sz="1800" dirty="0"/>
          </a:p>
        </p:txBody>
      </p:sp>
      <p:sp>
        <p:nvSpPr>
          <p:cNvPr id="21" name="Shape 16"/>
          <p:cNvSpPr/>
          <p:nvPr/>
        </p:nvSpPr>
        <p:spPr>
          <a:xfrm>
            <a:off x="5166360" y="4840742"/>
            <a:ext cx="6476695" cy="1202436"/>
          </a:xfrm>
          <a:prstGeom prst="roundRect">
            <a:avLst>
              <a:gd name="adj" fmla="val 6940"/>
            </a:avLst>
          </a:prstGeom>
          <a:solidFill>
            <a:srgbClr val="DAFBE1"/>
          </a:solidFill>
          <a:ln w="9525">
            <a:solidFill>
              <a:srgbClr val="4AC26B"/>
            </a:solidFill>
            <a:prstDash val="solid"/>
          </a:ln>
        </p:spPr>
      </p:sp>
      <p:sp>
        <p:nvSpPr>
          <p:cNvPr id="22" name="Text 17"/>
          <p:cNvSpPr txBox="1"/>
          <p:nvPr/>
        </p:nvSpPr>
        <p:spPr>
          <a:xfrm>
            <a:off x="5394960" y="5023622"/>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rPr>
              <a:t>Python tidak memeriksa </a:t>
            </a:r>
            <a:r>
              <a:rPr lang="id-ID" altLang="en-US" sz="1800" i="1" dirty="0">
                <a:solidFill>
                  <a:srgbClr val="1F2328"/>
                </a:solidFill>
              </a:rPr>
              <a:t>type hint</a:t>
            </a:r>
            <a:r>
              <a:rPr lang="id-ID" altLang="en-US" sz="1800" dirty="0">
                <a:solidFill>
                  <a:srgbClr val="1F2328"/>
                </a:solidFill>
              </a:rPr>
              <a:t> saat program berjalan; yang membacanya manusia dan alat bantu seperti VS Code atau mypy. </a:t>
            </a:r>
            <a:r>
              <a:rPr lang="id-ID" altLang="en-US" sz="1800" i="1" dirty="0">
                <a:solidFill>
                  <a:srgbClr val="1F2328"/>
                </a:solidFill>
              </a:rPr>
              <a:t>Compiler</a:t>
            </a:r>
            <a:r>
              <a:rPr lang="id-ID" altLang="en-US" sz="1800" dirty="0">
                <a:solidFill>
                  <a:srgbClr val="1F2328"/>
                </a:solidFill>
              </a:rPr>
              <a:t> Java benar-⁠benar menolaknya.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95218"/>
            <a:ext cx="11094415" cy="2130552"/>
          </a:xfrm>
          <a:prstGeom prst="roundRect">
            <a:avLst>
              <a:gd name="adj" fmla="val 2210"/>
            </a:avLst>
          </a:prstGeom>
          <a:solidFill>
            <a:srgbClr val="FBEFFF"/>
          </a:solidFill>
          <a:ln w="9525">
            <a:solidFill>
              <a:srgbClr val="C297FF"/>
            </a:solidFill>
            <a:prstDash val="solid"/>
          </a:ln>
        </p:spPr>
      </p:sp>
      <p:sp>
        <p:nvSpPr>
          <p:cNvPr id="6" name="Shape 3"/>
          <p:cNvSpPr/>
          <p:nvPr/>
        </p:nvSpPr>
        <p:spPr>
          <a:xfrm>
            <a:off x="777240" y="2331894"/>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432478"/>
            <a:ext cx="256032" cy="256032"/>
          </a:xfrm>
          <a:prstGeom prst="rect">
            <a:avLst/>
          </a:prstGeom>
        </p:spPr>
      </p:pic>
      <p:sp>
        <p:nvSpPr>
          <p:cNvPr id="8" name="Text 4"/>
          <p:cNvSpPr txBox="1"/>
          <p:nvPr/>
        </p:nvSpPr>
        <p:spPr>
          <a:xfrm>
            <a:off x="1417320" y="1723818"/>
            <a:ext cx="9951415" cy="1856232"/>
          </a:xfrm>
          <a:prstGeom prst="rect">
            <a:avLst/>
          </a:prstGeom>
          <a:noFill/>
          <a:ln/>
        </p:spPr>
        <p:txBody>
          <a:bodyPr wrap="square" lIns="0" tIns="0" rIns="0" bIns="0" rtlCol="0" anchor="t"/>
          <a:lstStyle/>
          <a:p>
            <a:pPr indent="0" marL="0">
              <a:buNone/>
            </a:pPr>
            <a:r>
              <a:rPr lang="id-ID" altLang="en-US" sz="2700" dirty="0">
                <a:solidFill>
                  <a:srgbClr val="1F2328"/>
                </a:solidFill>
              </a:rPr>
              <a:t>Panitia seminar mencatat NIM peserta yang memindai QR di pintu masuk. Yang memindai dua kali tetap dihitung </a:t>
            </a:r>
            <a:r>
              <a:rPr lang="id-ID" altLang="en-US" sz="2700" b="1" dirty="0">
                <a:solidFill>
                  <a:srgbClr val="1F2328"/>
                </a:solidFill>
              </a:rPr>
              <a:t>sekali</a:t>
            </a:r>
            <a:r>
              <a:rPr lang="id-ID" altLang="en-US" sz="2700" dirty="0">
                <a:solidFill>
                  <a:srgbClr val="1F2328"/>
                </a:solidFill>
              </a:rPr>
              <a:t>, dan panitia sering bertanya “apakah NIM ini sudah tercatat?”. Koleksi yang paling tepat adalah ...</a:t>
            </a:r>
            <a:endParaRPr lang="id-ID" sz="2700" dirty="0"/>
          </a:p>
        </p:txBody>
      </p:sp>
      <p:sp>
        <p:nvSpPr>
          <p:cNvPr id="9" name="Shape 5"/>
          <p:cNvSpPr/>
          <p:nvPr/>
        </p:nvSpPr>
        <p:spPr>
          <a:xfrm>
            <a:off x="548640" y="3808650"/>
            <a:ext cx="5455768" cy="1343406"/>
          </a:xfrm>
          <a:prstGeom prst="roundRect">
            <a:avLst>
              <a:gd name="adj" fmla="val 5560"/>
            </a:avLst>
          </a:prstGeom>
          <a:solidFill>
            <a:srgbClr val="FFFFFF"/>
          </a:solidFill>
          <a:ln w="9525">
            <a:solidFill>
              <a:srgbClr val="D0D7DE"/>
            </a:solidFill>
            <a:prstDash val="solid"/>
          </a:ln>
        </p:spPr>
      </p:sp>
      <p:sp>
        <p:nvSpPr>
          <p:cNvPr id="10" name="Shape 6"/>
          <p:cNvSpPr/>
          <p:nvPr/>
        </p:nvSpPr>
        <p:spPr>
          <a:xfrm>
            <a:off x="749808" y="4251753"/>
            <a:ext cx="457200" cy="457200"/>
          </a:xfrm>
          <a:prstGeom prst="ellipse">
            <a:avLst/>
          </a:prstGeom>
          <a:solidFill>
            <a:srgbClr val="8250DF"/>
          </a:solidFill>
          <a:ln/>
        </p:spPr>
      </p:sp>
      <p:sp>
        <p:nvSpPr>
          <p:cNvPr id="11" name="Text 7"/>
          <p:cNvSpPr txBox="1"/>
          <p:nvPr/>
        </p:nvSpPr>
        <p:spPr>
          <a:xfrm>
            <a:off x="749808" y="425175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18378"/>
            <a:ext cx="4541368" cy="1123950"/>
          </a:xfrm>
          <a:prstGeom prst="rect">
            <a:avLst/>
          </a:prstGeom>
          <a:noFill/>
          <a:ln/>
        </p:spPr>
        <p:txBody>
          <a:bodyPr wrap="square" lIns="0" tIns="0" rIns="0" bIns="0" rtlCol="0" anchor="ctr"/>
          <a:lstStyle/>
          <a:p>
            <a:pPr indent="0" marL="0">
              <a:buNone/>
            </a:pPr>
            <a:r>
              <a:rPr lang="id-ID" altLang="en-US" sz="2300" i="1" dirty="0">
                <a:solidFill>
                  <a:srgbClr val="1F2328"/>
                </a:solidFill>
              </a:rPr>
              <a:t>list</a:t>
            </a:r>
            <a:r>
              <a:rPr lang="id-ID" altLang="en-US" sz="2300" dirty="0">
                <a:solidFill>
                  <a:srgbClr val="1F2328"/>
                </a:solidFill>
              </a:rPr>
              <a:t> karena bisa menampung data kembar</a:t>
            </a:r>
            <a:endParaRPr lang="id-ID" sz="2300" dirty="0"/>
          </a:p>
        </p:txBody>
      </p:sp>
      <p:sp>
        <p:nvSpPr>
          <p:cNvPr id="13" name="Shape 9"/>
          <p:cNvSpPr/>
          <p:nvPr/>
        </p:nvSpPr>
        <p:spPr>
          <a:xfrm>
            <a:off x="6187288" y="3808650"/>
            <a:ext cx="5455768" cy="1343406"/>
          </a:xfrm>
          <a:prstGeom prst="roundRect">
            <a:avLst>
              <a:gd name="adj" fmla="val 5560"/>
            </a:avLst>
          </a:prstGeom>
          <a:solidFill>
            <a:srgbClr val="FFFFFF"/>
          </a:solidFill>
          <a:ln w="9525">
            <a:solidFill>
              <a:srgbClr val="D0D7DE"/>
            </a:solidFill>
            <a:prstDash val="solid"/>
          </a:ln>
        </p:spPr>
      </p:sp>
      <p:sp>
        <p:nvSpPr>
          <p:cNvPr id="14" name="Shape 10"/>
          <p:cNvSpPr/>
          <p:nvPr/>
        </p:nvSpPr>
        <p:spPr>
          <a:xfrm>
            <a:off x="6388456" y="4251753"/>
            <a:ext cx="457200" cy="457200"/>
          </a:xfrm>
          <a:prstGeom prst="ellipse">
            <a:avLst/>
          </a:prstGeom>
          <a:solidFill>
            <a:srgbClr val="8250DF"/>
          </a:solidFill>
          <a:ln/>
        </p:spPr>
      </p:sp>
      <p:sp>
        <p:nvSpPr>
          <p:cNvPr id="15" name="Text 11"/>
          <p:cNvSpPr txBox="1"/>
          <p:nvPr/>
        </p:nvSpPr>
        <p:spPr>
          <a:xfrm>
            <a:off x="6388456" y="425175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18378"/>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set karena otomatis membuang data kembar dan cepat menjawab “ada atau tidak”</a:t>
            </a:r>
            <a:endParaRPr lang="id-ID" sz="2300" dirty="0"/>
          </a:p>
        </p:txBody>
      </p:sp>
      <p:sp>
        <p:nvSpPr>
          <p:cNvPr id="17" name="Shape 13"/>
          <p:cNvSpPr/>
          <p:nvPr/>
        </p:nvSpPr>
        <p:spPr>
          <a:xfrm>
            <a:off x="548640" y="5334936"/>
            <a:ext cx="5455768" cy="757123"/>
          </a:xfrm>
          <a:prstGeom prst="roundRect">
            <a:avLst>
              <a:gd name="adj" fmla="val 17503"/>
            </a:avLst>
          </a:prstGeom>
          <a:solidFill>
            <a:srgbClr val="FFFFFF"/>
          </a:solidFill>
          <a:ln w="9525">
            <a:solidFill>
              <a:srgbClr val="D0D7DE"/>
            </a:solidFill>
            <a:prstDash val="solid"/>
          </a:ln>
        </p:spPr>
      </p:sp>
      <p:sp>
        <p:nvSpPr>
          <p:cNvPr id="18" name="Shape 14"/>
          <p:cNvSpPr/>
          <p:nvPr/>
        </p:nvSpPr>
        <p:spPr>
          <a:xfrm>
            <a:off x="749808" y="5484897"/>
            <a:ext cx="457200" cy="457200"/>
          </a:xfrm>
          <a:prstGeom prst="ellipse">
            <a:avLst/>
          </a:prstGeom>
          <a:solidFill>
            <a:srgbClr val="8250DF"/>
          </a:solidFill>
          <a:ln/>
        </p:spPr>
      </p:sp>
      <p:sp>
        <p:nvSpPr>
          <p:cNvPr id="19" name="Text 15"/>
          <p:cNvSpPr txBox="1"/>
          <p:nvPr/>
        </p:nvSpPr>
        <p:spPr>
          <a:xfrm>
            <a:off x="749808" y="548489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444664"/>
            <a:ext cx="4541368" cy="537667"/>
          </a:xfrm>
          <a:prstGeom prst="rect">
            <a:avLst/>
          </a:prstGeom>
          <a:noFill/>
          <a:ln/>
        </p:spPr>
        <p:txBody>
          <a:bodyPr wrap="square" lIns="0" tIns="0" rIns="0" bIns="0" rtlCol="0" anchor="ctr"/>
          <a:lstStyle/>
          <a:p>
            <a:pPr indent="0" marL="0">
              <a:buNone/>
            </a:pPr>
            <a:r>
              <a:rPr lang="id-ID" altLang="en-US" sz="2300" i="1" dirty="0">
                <a:solidFill>
                  <a:srgbClr val="1F2328"/>
                </a:solidFill>
              </a:rPr>
              <a:t>tuple</a:t>
            </a:r>
            <a:r>
              <a:rPr lang="id-ID" altLang="en-US" sz="2300" dirty="0">
                <a:solidFill>
                  <a:srgbClr val="1F2328"/>
                </a:solidFill>
              </a:rPr>
              <a:t> karena isinya tidak bisa diubah</a:t>
            </a:r>
            <a:endParaRPr lang="id-ID" sz="2300" dirty="0"/>
          </a:p>
        </p:txBody>
      </p:sp>
      <p:sp>
        <p:nvSpPr>
          <p:cNvPr id="21" name="Shape 17"/>
          <p:cNvSpPr/>
          <p:nvPr/>
        </p:nvSpPr>
        <p:spPr>
          <a:xfrm>
            <a:off x="6187288" y="5334936"/>
            <a:ext cx="5455768" cy="757123"/>
          </a:xfrm>
          <a:prstGeom prst="roundRect">
            <a:avLst>
              <a:gd name="adj" fmla="val 17503"/>
            </a:avLst>
          </a:prstGeom>
          <a:solidFill>
            <a:srgbClr val="FFFFFF"/>
          </a:solidFill>
          <a:ln w="9525">
            <a:solidFill>
              <a:srgbClr val="D0D7DE"/>
            </a:solidFill>
            <a:prstDash val="solid"/>
          </a:ln>
        </p:spPr>
      </p:sp>
      <p:sp>
        <p:nvSpPr>
          <p:cNvPr id="22" name="Shape 18"/>
          <p:cNvSpPr/>
          <p:nvPr/>
        </p:nvSpPr>
        <p:spPr>
          <a:xfrm>
            <a:off x="6388456" y="5484897"/>
            <a:ext cx="457200" cy="457200"/>
          </a:xfrm>
          <a:prstGeom prst="ellipse">
            <a:avLst/>
          </a:prstGeom>
          <a:solidFill>
            <a:srgbClr val="8250DF"/>
          </a:solidFill>
          <a:ln/>
        </p:spPr>
      </p:sp>
      <p:sp>
        <p:nvSpPr>
          <p:cNvPr id="23" name="Text 19"/>
          <p:cNvSpPr txBox="1"/>
          <p:nvPr/>
        </p:nvSpPr>
        <p:spPr>
          <a:xfrm>
            <a:off x="6388456" y="548489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444664"/>
            <a:ext cx="4541368" cy="537667"/>
          </a:xfrm>
          <a:prstGeom prst="rect">
            <a:avLst/>
          </a:prstGeom>
          <a:noFill/>
          <a:ln/>
        </p:spPr>
        <p:txBody>
          <a:bodyPr wrap="square" lIns="0" tIns="0" rIns="0" bIns="0" rtlCol="0" anchor="ctr"/>
          <a:lstStyle/>
          <a:p>
            <a:pPr indent="0" marL="0">
              <a:buNone/>
            </a:pPr>
            <a:r>
              <a:rPr lang="id-ID" altLang="en-US" sz="2300" dirty="0">
                <a:solidFill>
                  <a:srgbClr val="1F2328"/>
                </a:solidFill>
              </a:rPr>
              <a:t>map dengan kunci nomor urut pindai</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62723"/>
            <a:ext cx="11094415" cy="801116"/>
          </a:xfrm>
          <a:prstGeom prst="roundRect">
            <a:avLst>
              <a:gd name="adj" fmla="val 15634"/>
            </a:avLst>
          </a:prstGeom>
          <a:solidFill>
            <a:srgbClr val="F6F8FA"/>
          </a:solidFill>
          <a:ln w="9525">
            <a:solidFill>
              <a:srgbClr val="D0D7DE"/>
            </a:solidFill>
            <a:prstDash val="solid"/>
          </a:ln>
        </p:spPr>
      </p:sp>
      <p:sp>
        <p:nvSpPr>
          <p:cNvPr id="6" name="Text 3"/>
          <p:cNvSpPr txBox="1"/>
          <p:nvPr/>
        </p:nvSpPr>
        <p:spPr>
          <a:xfrm>
            <a:off x="822960" y="1599883"/>
            <a:ext cx="10545775" cy="526796"/>
          </a:xfrm>
          <a:prstGeom prst="rect">
            <a:avLst/>
          </a:prstGeom>
          <a:noFill/>
          <a:ln/>
        </p:spPr>
        <p:txBody>
          <a:bodyPr wrap="square" lIns="0" tIns="0" rIns="0" bIns="0" rtlCol="0" anchor="t"/>
          <a:lstStyle/>
          <a:p>
            <a:pPr indent="0" marL="0">
              <a:buNone/>
            </a:pPr>
            <a:r>
              <a:rPr lang="id-ID" altLang="en-US" sz="1700" dirty="0">
                <a:solidFill>
                  <a:srgbClr val="57606A"/>
                </a:solidFill>
              </a:rPr>
              <a:t>Panitia seminar mencatat NIM peserta yang memindai QR di pintu masuk. Yang memindai dua kali tetap dihitung </a:t>
            </a:r>
            <a:r>
              <a:rPr lang="id-ID" altLang="en-US" sz="1700" b="1" dirty="0">
                <a:solidFill>
                  <a:srgbClr val="57606A"/>
                </a:solidFill>
              </a:rPr>
              <a:t>sekali</a:t>
            </a:r>
            <a:r>
              <a:rPr lang="id-ID" altLang="en-US" sz="1700" dirty="0">
                <a:solidFill>
                  <a:srgbClr val="57606A"/>
                </a:solidFill>
              </a:rPr>
              <a:t>, dan panitia sering bertanya “apakah NIM ini sudah tercatat?”. Koleksi yang paling tepat adalah ...</a:t>
            </a:r>
            <a:endParaRPr lang="id-ID" sz="1700" dirty="0"/>
          </a:p>
        </p:txBody>
      </p:sp>
      <p:sp>
        <p:nvSpPr>
          <p:cNvPr id="7" name="Shape 4"/>
          <p:cNvSpPr/>
          <p:nvPr/>
        </p:nvSpPr>
        <p:spPr>
          <a:xfrm>
            <a:off x="548640" y="2446719"/>
            <a:ext cx="5455768" cy="863092"/>
          </a:xfrm>
          <a:prstGeom prst="roundRect">
            <a:avLst>
              <a:gd name="adj" fmla="val 13469"/>
            </a:avLst>
          </a:prstGeom>
          <a:solidFill>
            <a:srgbClr val="FFFFFF"/>
          </a:solidFill>
          <a:ln w="9525">
            <a:solidFill>
              <a:srgbClr val="D0D7DE"/>
            </a:solidFill>
            <a:prstDash val="solid"/>
          </a:ln>
        </p:spPr>
      </p:sp>
      <p:sp>
        <p:nvSpPr>
          <p:cNvPr id="8" name="Shape 5"/>
          <p:cNvSpPr/>
          <p:nvPr/>
        </p:nvSpPr>
        <p:spPr>
          <a:xfrm>
            <a:off x="749808" y="2661095"/>
            <a:ext cx="434340" cy="434340"/>
          </a:xfrm>
          <a:prstGeom prst="ellipse">
            <a:avLst/>
          </a:prstGeom>
          <a:solidFill>
            <a:srgbClr val="8C959F"/>
          </a:solidFill>
          <a:ln/>
        </p:spPr>
      </p:sp>
      <p:sp>
        <p:nvSpPr>
          <p:cNvPr id="9" name="Text 6"/>
          <p:cNvSpPr txBox="1"/>
          <p:nvPr/>
        </p:nvSpPr>
        <p:spPr>
          <a:xfrm>
            <a:off x="749808" y="2661095"/>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A</a:t>
            </a:r>
            <a:endParaRPr lang="id-ID" sz="1700" dirty="0"/>
          </a:p>
        </p:txBody>
      </p:sp>
      <p:sp>
        <p:nvSpPr>
          <p:cNvPr id="10" name="Text 7"/>
          <p:cNvSpPr txBox="1"/>
          <p:nvPr/>
        </p:nvSpPr>
        <p:spPr>
          <a:xfrm>
            <a:off x="1353312" y="2556447"/>
            <a:ext cx="4541368" cy="643636"/>
          </a:xfrm>
          <a:prstGeom prst="rect">
            <a:avLst/>
          </a:prstGeom>
          <a:noFill/>
          <a:ln/>
        </p:spPr>
        <p:txBody>
          <a:bodyPr wrap="square" lIns="0" tIns="0" rIns="0" bIns="0" rtlCol="0" anchor="ctr"/>
          <a:lstStyle/>
          <a:p>
            <a:pPr indent="0" marL="0">
              <a:buNone/>
            </a:pPr>
            <a:r>
              <a:rPr lang="id-ID" altLang="en-US" sz="1900" i="1" dirty="0">
                <a:solidFill>
                  <a:srgbClr val="57606A"/>
                </a:solidFill>
              </a:rPr>
              <a:t>list</a:t>
            </a:r>
            <a:r>
              <a:rPr lang="id-ID" altLang="en-US" sz="1900" dirty="0">
                <a:solidFill>
                  <a:srgbClr val="57606A"/>
                </a:solidFill>
              </a:rPr>
              <a:t> karena bisa menampung data kembar</a:t>
            </a:r>
            <a:endParaRPr lang="id-ID" sz="1900" dirty="0"/>
          </a:p>
        </p:txBody>
      </p:sp>
      <p:sp>
        <p:nvSpPr>
          <p:cNvPr id="11" name="Shape 8"/>
          <p:cNvSpPr/>
          <p:nvPr/>
        </p:nvSpPr>
        <p:spPr>
          <a:xfrm>
            <a:off x="6187288" y="2446719"/>
            <a:ext cx="5455768" cy="863092"/>
          </a:xfrm>
          <a:prstGeom prst="roundRect">
            <a:avLst>
              <a:gd name="adj" fmla="val 13469"/>
            </a:avLst>
          </a:prstGeom>
          <a:solidFill>
            <a:srgbClr val="DAFBE1"/>
          </a:solidFill>
          <a:ln w="22225">
            <a:solidFill>
              <a:srgbClr val="1A7F37"/>
            </a:solidFill>
            <a:prstDash val="solid"/>
          </a:ln>
        </p:spPr>
      </p:sp>
      <p:sp>
        <p:nvSpPr>
          <p:cNvPr id="12" name="Shape 9"/>
          <p:cNvSpPr/>
          <p:nvPr/>
        </p:nvSpPr>
        <p:spPr>
          <a:xfrm>
            <a:off x="6388456" y="2661095"/>
            <a:ext cx="434340" cy="43434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84010" y="2756650"/>
            <a:ext cx="243230" cy="243230"/>
          </a:xfrm>
          <a:prstGeom prst="rect">
            <a:avLst/>
          </a:prstGeom>
        </p:spPr>
      </p:pic>
      <p:sp>
        <p:nvSpPr>
          <p:cNvPr id="14" name="Text 10"/>
          <p:cNvSpPr txBox="1"/>
          <p:nvPr/>
        </p:nvSpPr>
        <p:spPr>
          <a:xfrm>
            <a:off x="6991960" y="2556447"/>
            <a:ext cx="4541368" cy="643636"/>
          </a:xfrm>
          <a:prstGeom prst="rect">
            <a:avLst/>
          </a:prstGeom>
          <a:noFill/>
          <a:ln/>
        </p:spPr>
        <p:txBody>
          <a:bodyPr wrap="square" lIns="0" tIns="0" rIns="0" bIns="0" rtlCol="0" anchor="ctr"/>
          <a:lstStyle/>
          <a:p>
            <a:pPr indent="0" marL="0">
              <a:buNone/>
            </a:pPr>
            <a:r>
              <a:rPr lang="id-ID" altLang="en-US" sz="1900" dirty="0">
                <a:solidFill>
                  <a:srgbClr val="1F2328"/>
                </a:solidFill>
              </a:rPr>
              <a:t>set karena otomatis membuang data kembar dan cepat menjawab “ada atau tidak”</a:t>
            </a:r>
            <a:endParaRPr lang="id-ID" sz="1900" dirty="0"/>
          </a:p>
        </p:txBody>
      </p:sp>
      <p:sp>
        <p:nvSpPr>
          <p:cNvPr id="15" name="Shape 11"/>
          <p:cNvSpPr/>
          <p:nvPr/>
        </p:nvSpPr>
        <p:spPr>
          <a:xfrm>
            <a:off x="548640" y="3492691"/>
            <a:ext cx="5455768" cy="625450"/>
          </a:xfrm>
          <a:prstGeom prst="roundRect">
            <a:avLst>
              <a:gd name="adj" fmla="val 25649"/>
            </a:avLst>
          </a:prstGeom>
          <a:solidFill>
            <a:srgbClr val="FFFFFF"/>
          </a:solidFill>
          <a:ln w="9525">
            <a:solidFill>
              <a:srgbClr val="D0D7DE"/>
            </a:solidFill>
            <a:prstDash val="solid"/>
          </a:ln>
        </p:spPr>
      </p:sp>
      <p:sp>
        <p:nvSpPr>
          <p:cNvPr id="16" name="Shape 12"/>
          <p:cNvSpPr/>
          <p:nvPr/>
        </p:nvSpPr>
        <p:spPr>
          <a:xfrm>
            <a:off x="749808" y="3588246"/>
            <a:ext cx="434340" cy="434340"/>
          </a:xfrm>
          <a:prstGeom prst="ellipse">
            <a:avLst/>
          </a:prstGeom>
          <a:solidFill>
            <a:srgbClr val="8C959F"/>
          </a:solidFill>
          <a:ln/>
        </p:spPr>
      </p:sp>
      <p:sp>
        <p:nvSpPr>
          <p:cNvPr id="17" name="Text 13"/>
          <p:cNvSpPr txBox="1"/>
          <p:nvPr/>
        </p:nvSpPr>
        <p:spPr>
          <a:xfrm>
            <a:off x="749808" y="3588246"/>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C</a:t>
            </a:r>
            <a:endParaRPr lang="id-ID" sz="1700" dirty="0"/>
          </a:p>
        </p:txBody>
      </p:sp>
      <p:sp>
        <p:nvSpPr>
          <p:cNvPr id="18" name="Text 14"/>
          <p:cNvSpPr txBox="1"/>
          <p:nvPr/>
        </p:nvSpPr>
        <p:spPr>
          <a:xfrm>
            <a:off x="1353312" y="3602419"/>
            <a:ext cx="4541368" cy="405994"/>
          </a:xfrm>
          <a:prstGeom prst="rect">
            <a:avLst/>
          </a:prstGeom>
          <a:noFill/>
          <a:ln/>
        </p:spPr>
        <p:txBody>
          <a:bodyPr wrap="square" lIns="0" tIns="0" rIns="0" bIns="0" rtlCol="0" anchor="ctr"/>
          <a:lstStyle/>
          <a:p>
            <a:pPr indent="0" marL="0">
              <a:buNone/>
            </a:pPr>
            <a:r>
              <a:rPr lang="id-ID" altLang="en-US" sz="1900" i="1" dirty="0">
                <a:solidFill>
                  <a:srgbClr val="57606A"/>
                </a:solidFill>
              </a:rPr>
              <a:t>tuple</a:t>
            </a:r>
            <a:r>
              <a:rPr lang="id-ID" altLang="en-US" sz="1900" dirty="0">
                <a:solidFill>
                  <a:srgbClr val="57606A"/>
                </a:solidFill>
              </a:rPr>
              <a:t> karena isinya tidak bisa diubah</a:t>
            </a:r>
            <a:endParaRPr lang="id-ID" sz="1900" dirty="0"/>
          </a:p>
        </p:txBody>
      </p:sp>
      <p:sp>
        <p:nvSpPr>
          <p:cNvPr id="19" name="Shape 15"/>
          <p:cNvSpPr/>
          <p:nvPr/>
        </p:nvSpPr>
        <p:spPr>
          <a:xfrm>
            <a:off x="6187288" y="3492691"/>
            <a:ext cx="5455768" cy="625450"/>
          </a:xfrm>
          <a:prstGeom prst="roundRect">
            <a:avLst>
              <a:gd name="adj" fmla="val 25649"/>
            </a:avLst>
          </a:prstGeom>
          <a:solidFill>
            <a:srgbClr val="FFFFFF"/>
          </a:solidFill>
          <a:ln w="9525">
            <a:solidFill>
              <a:srgbClr val="D0D7DE"/>
            </a:solidFill>
            <a:prstDash val="solid"/>
          </a:ln>
        </p:spPr>
      </p:sp>
      <p:sp>
        <p:nvSpPr>
          <p:cNvPr id="20" name="Shape 16"/>
          <p:cNvSpPr/>
          <p:nvPr/>
        </p:nvSpPr>
        <p:spPr>
          <a:xfrm>
            <a:off x="6388456" y="3588246"/>
            <a:ext cx="434340" cy="434340"/>
          </a:xfrm>
          <a:prstGeom prst="ellipse">
            <a:avLst/>
          </a:prstGeom>
          <a:solidFill>
            <a:srgbClr val="8C959F"/>
          </a:solidFill>
          <a:ln/>
        </p:spPr>
      </p:sp>
      <p:sp>
        <p:nvSpPr>
          <p:cNvPr id="21" name="Text 17"/>
          <p:cNvSpPr txBox="1"/>
          <p:nvPr/>
        </p:nvSpPr>
        <p:spPr>
          <a:xfrm>
            <a:off x="6388456" y="3588246"/>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D</a:t>
            </a:r>
            <a:endParaRPr lang="id-ID" sz="1700" dirty="0"/>
          </a:p>
        </p:txBody>
      </p:sp>
      <p:sp>
        <p:nvSpPr>
          <p:cNvPr id="22" name="Text 18"/>
          <p:cNvSpPr txBox="1"/>
          <p:nvPr/>
        </p:nvSpPr>
        <p:spPr>
          <a:xfrm>
            <a:off x="6991960" y="3602419"/>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map dengan kunci nomor urut pindai</a:t>
            </a:r>
            <a:endParaRPr lang="id-ID" sz="1900" dirty="0"/>
          </a:p>
        </p:txBody>
      </p:sp>
      <p:sp>
        <p:nvSpPr>
          <p:cNvPr id="23" name="Shape 19"/>
          <p:cNvSpPr/>
          <p:nvPr/>
        </p:nvSpPr>
        <p:spPr>
          <a:xfrm>
            <a:off x="548640" y="4319309"/>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502189"/>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02773"/>
            <a:ext cx="256032" cy="256032"/>
          </a:xfrm>
          <a:prstGeom prst="rect">
            <a:avLst/>
          </a:prstGeom>
        </p:spPr>
      </p:pic>
      <p:sp>
        <p:nvSpPr>
          <p:cNvPr id="26" name="Text 21"/>
          <p:cNvSpPr txBox="1"/>
          <p:nvPr/>
        </p:nvSpPr>
        <p:spPr>
          <a:xfrm>
            <a:off x="1417320" y="4456469"/>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794797"/>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Set menolak data kembar dan memeriksa keanggotaan dengan cepat lewat kode </a:t>
            </a:r>
            <a:r>
              <a:rPr lang="id-ID" altLang="en-US" sz="1900" i="1" dirty="0">
                <a:solidFill>
                  <a:srgbClr val="1F2328"/>
                </a:solidFill>
              </a:rPr>
              <a:t>hash</a:t>
            </a:r>
            <a:r>
              <a:rPr lang="id-ID" altLang="en-US" sz="1900" dirty="0">
                <a:solidFill>
                  <a:srgbClr val="1F2328"/>
                </a:solidFill>
              </a:rPr>
              <a:t>. </a:t>
            </a:r>
            <a:r>
              <a:rPr lang="id-ID" altLang="en-US" sz="1900" i="1" dirty="0">
                <a:solidFill>
                  <a:srgbClr val="1F2328"/>
                </a:solidFill>
              </a:rPr>
              <a:t>List</a:t>
            </a:r>
            <a:r>
              <a:rPr lang="id-ID" altLang="en-US" sz="1900" dirty="0">
                <a:solidFill>
                  <a:srgbClr val="1F2328"/>
                </a:solidFill>
              </a:rPr>
              <a:t> (A) menyimpan hasil pindai ganda sehingga peserta dihitung dua kali, dan pemeriksaannya satu per satu. </a:t>
            </a:r>
            <a:r>
              <a:rPr lang="id-ID" altLang="en-US" sz="1900" i="1" dirty="0">
                <a:solidFill>
                  <a:srgbClr val="1F2328"/>
                </a:solidFill>
              </a:rPr>
              <a:t>Tuple</a:t>
            </a:r>
            <a:r>
              <a:rPr lang="id-ID" altLang="en-US" sz="1900" dirty="0">
                <a:solidFill>
                  <a:srgbClr val="1F2328"/>
                </a:solidFill>
              </a:rPr>
              <a:t> (C) tidak bisa ditambah saat peserta baru datang. Map dengan kunci nomor urut pindai (D) tetap menyimpan NIM yang sama berkali-⁠kali.</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24681"/>
            <a:ext cx="11094415" cy="1712214"/>
          </a:xfrm>
          <a:prstGeom prst="roundRect">
            <a:avLst>
              <a:gd name="adj" fmla="val 3422"/>
            </a:avLst>
          </a:prstGeom>
          <a:solidFill>
            <a:srgbClr val="FBEFFF"/>
          </a:solidFill>
          <a:ln w="9525">
            <a:solidFill>
              <a:srgbClr val="C297FF"/>
            </a:solidFill>
            <a:prstDash val="solid"/>
          </a:ln>
        </p:spPr>
      </p:sp>
      <p:sp>
        <p:nvSpPr>
          <p:cNvPr id="6" name="Shape 3"/>
          <p:cNvSpPr/>
          <p:nvPr/>
        </p:nvSpPr>
        <p:spPr>
          <a:xfrm>
            <a:off x="777240" y="205218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152772"/>
            <a:ext cx="256032" cy="256032"/>
          </a:xfrm>
          <a:prstGeom prst="rect">
            <a:avLst/>
          </a:prstGeom>
        </p:spPr>
      </p:pic>
      <p:sp>
        <p:nvSpPr>
          <p:cNvPr id="8" name="Text 4"/>
          <p:cNvSpPr txBox="1"/>
          <p:nvPr/>
        </p:nvSpPr>
        <p:spPr>
          <a:xfrm>
            <a:off x="1417320" y="1653281"/>
            <a:ext cx="9951415" cy="1437894"/>
          </a:xfrm>
          <a:prstGeom prst="rect">
            <a:avLst/>
          </a:prstGeom>
          <a:noFill/>
          <a:ln/>
        </p:spPr>
        <p:txBody>
          <a:bodyPr wrap="square" lIns="0" tIns="0" rIns="0" bIns="0" rtlCol="0" anchor="t"/>
          <a:lstStyle/>
          <a:p>
            <a:pPr indent="0" marL="0">
              <a:buNone/>
            </a:pPr>
            <a:r>
              <a:rPr lang="id-ID" altLang="en-US" sz="2700" dirty="0">
                <a:solidFill>
                  <a:srgbClr val="1F2328"/>
                </a:solidFill>
              </a:rPr>
              <a:t>Kelas </a:t>
            </a:r>
            <a:r>
              <a:rPr lang="id-ID" altLang="en-US" sz="2700" dirty="0">
                <a:solidFill>
                  <a:srgbClr val="0A3069"/>
                </a:solidFill>
                <a:latin typeface="Consolas" pitchFamily="34" charset="0"/>
                <a:ea typeface="Consolas" pitchFamily="34" charset="-122"/>
                <a:cs typeface="Consolas" pitchFamily="34" charset="-120"/>
              </a:rPr>
              <a:t>Mahasiswa</a:t>
            </a:r>
            <a:r>
              <a:rPr lang="id-ID" altLang="en-US" sz="2700" dirty="0">
                <a:solidFill>
                  <a:srgbClr val="1F2328"/>
                </a:solidFill>
              </a:rPr>
              <a:t> sudah punya urutan alami berdasarkan NIM. Dosen meminta daftar mahasiswa diurutkan dari IPK tertinggi, </a:t>
            </a:r>
            <a:r>
              <a:rPr lang="id-ID" altLang="en-US" sz="2700" b="1" dirty="0">
                <a:solidFill>
                  <a:srgbClr val="1F2328"/>
                </a:solidFill>
              </a:rPr>
              <a:t>tanpa</a:t>
            </a:r>
            <a:r>
              <a:rPr lang="id-ID" altLang="en-US" sz="2700" dirty="0">
                <a:solidFill>
                  <a:srgbClr val="1F2328"/>
                </a:solidFill>
              </a:rPr>
              <a:t> mengubah urutan alami itu. Cara yang paling tepat adalah ...</a:t>
            </a:r>
            <a:endParaRPr lang="id-ID" sz="2700" dirty="0"/>
          </a:p>
        </p:txBody>
      </p:sp>
      <p:sp>
        <p:nvSpPr>
          <p:cNvPr id="9" name="Shape 5"/>
          <p:cNvSpPr/>
          <p:nvPr/>
        </p:nvSpPr>
        <p:spPr>
          <a:xfrm>
            <a:off x="548640" y="3319775"/>
            <a:ext cx="5455768" cy="1343406"/>
          </a:xfrm>
          <a:prstGeom prst="roundRect">
            <a:avLst>
              <a:gd name="adj" fmla="val 5560"/>
            </a:avLst>
          </a:prstGeom>
          <a:solidFill>
            <a:srgbClr val="FFFFFF"/>
          </a:solidFill>
          <a:ln w="9525">
            <a:solidFill>
              <a:srgbClr val="D0D7DE"/>
            </a:solidFill>
            <a:prstDash val="solid"/>
          </a:ln>
        </p:spPr>
      </p:sp>
      <p:sp>
        <p:nvSpPr>
          <p:cNvPr id="10" name="Shape 6"/>
          <p:cNvSpPr/>
          <p:nvPr/>
        </p:nvSpPr>
        <p:spPr>
          <a:xfrm>
            <a:off x="749808" y="3762878"/>
            <a:ext cx="457200" cy="457200"/>
          </a:xfrm>
          <a:prstGeom prst="ellipse">
            <a:avLst/>
          </a:prstGeom>
          <a:solidFill>
            <a:srgbClr val="8250DF"/>
          </a:solidFill>
          <a:ln/>
        </p:spPr>
      </p:sp>
      <p:sp>
        <p:nvSpPr>
          <p:cNvPr id="11" name="Text 7"/>
          <p:cNvSpPr txBox="1"/>
          <p:nvPr/>
        </p:nvSpPr>
        <p:spPr>
          <a:xfrm>
            <a:off x="749808" y="376287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429503"/>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Mengubah </a:t>
            </a:r>
            <a:r>
              <a:rPr lang="id-ID" altLang="en-US" sz="2300" dirty="0">
                <a:solidFill>
                  <a:srgbClr val="0A3069"/>
                </a:solidFill>
                <a:latin typeface="Consolas" pitchFamily="34" charset="0"/>
                <a:ea typeface="Consolas" pitchFamily="34" charset="-122"/>
                <a:cs typeface="Consolas" pitchFamily="34" charset="-120"/>
              </a:rPr>
              <a:t>__lt__</a:t>
            </a:r>
            <a:r>
              <a:rPr lang="id-ID" altLang="en-US" sz="2300" dirty="0">
                <a:solidFill>
                  <a:srgbClr val="1F2328"/>
                </a:solidFill>
              </a:rPr>
              <a:t>/</a:t>
            </a:r>
            <a:r>
              <a:rPr lang="id-ID" altLang="en-US" sz="2300" dirty="0">
                <a:solidFill>
                  <a:srgbClr val="0A3069"/>
                </a:solidFill>
                <a:latin typeface="Consolas" pitchFamily="34" charset="0"/>
                <a:ea typeface="Consolas" pitchFamily="34" charset="-122"/>
                <a:cs typeface="Consolas" pitchFamily="34" charset="-120"/>
              </a:rPr>
              <a:t>compareTo</a:t>
            </a:r>
            <a:r>
              <a:rPr lang="id-ID" altLang="en-US" sz="2300" dirty="0">
                <a:solidFill>
                  <a:srgbClr val="1F2328"/>
                </a:solidFill>
              </a:rPr>
              <a:t> agar membandingkan IPK</a:t>
            </a:r>
            <a:endParaRPr lang="id-ID" sz="2300" dirty="0"/>
          </a:p>
        </p:txBody>
      </p:sp>
      <p:sp>
        <p:nvSpPr>
          <p:cNvPr id="13" name="Shape 9"/>
          <p:cNvSpPr/>
          <p:nvPr/>
        </p:nvSpPr>
        <p:spPr>
          <a:xfrm>
            <a:off x="6187288" y="3319775"/>
            <a:ext cx="5455768" cy="1343406"/>
          </a:xfrm>
          <a:prstGeom prst="roundRect">
            <a:avLst>
              <a:gd name="adj" fmla="val 5560"/>
            </a:avLst>
          </a:prstGeom>
          <a:solidFill>
            <a:srgbClr val="FFFFFF"/>
          </a:solidFill>
          <a:ln w="9525">
            <a:solidFill>
              <a:srgbClr val="D0D7DE"/>
            </a:solidFill>
            <a:prstDash val="solid"/>
          </a:ln>
        </p:spPr>
      </p:sp>
      <p:sp>
        <p:nvSpPr>
          <p:cNvPr id="14" name="Shape 10"/>
          <p:cNvSpPr/>
          <p:nvPr/>
        </p:nvSpPr>
        <p:spPr>
          <a:xfrm>
            <a:off x="6388456" y="3762878"/>
            <a:ext cx="457200" cy="457200"/>
          </a:xfrm>
          <a:prstGeom prst="ellipse">
            <a:avLst/>
          </a:prstGeom>
          <a:solidFill>
            <a:srgbClr val="8250DF"/>
          </a:solidFill>
          <a:ln/>
        </p:spPr>
      </p:sp>
      <p:sp>
        <p:nvSpPr>
          <p:cNvPr id="15" name="Text 11"/>
          <p:cNvSpPr txBox="1"/>
          <p:nvPr/>
        </p:nvSpPr>
        <p:spPr>
          <a:xfrm>
            <a:off x="6388456" y="376287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429503"/>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Memberikan </a:t>
            </a:r>
            <a:r>
              <a:rPr lang="id-ID" altLang="en-US" sz="2300" dirty="0">
                <a:solidFill>
                  <a:srgbClr val="0A3069"/>
                </a:solidFill>
                <a:latin typeface="Consolas" pitchFamily="34" charset="0"/>
                <a:ea typeface="Consolas" pitchFamily="34" charset="-122"/>
                <a:cs typeface="Consolas" pitchFamily="34" charset="-120"/>
              </a:rPr>
              <a:t>key=</a:t>
            </a:r>
            <a:r>
              <a:rPr lang="id-ID" altLang="en-US" sz="2300" dirty="0">
                <a:solidFill>
                  <a:srgbClr val="1F2328"/>
                </a:solidFill>
              </a:rPr>
              <a:t> (Python) atau </a:t>
            </a:r>
            <a:r>
              <a:rPr lang="id-ID" altLang="en-US" sz="2300" dirty="0">
                <a:solidFill>
                  <a:srgbClr val="0A3069"/>
                </a:solidFill>
                <a:latin typeface="Consolas" pitchFamily="34" charset="0"/>
                <a:ea typeface="Consolas" pitchFamily="34" charset="-122"/>
                <a:cs typeface="Consolas" pitchFamily="34" charset="-120"/>
              </a:rPr>
              <a:t>Comparator</a:t>
            </a:r>
            <a:r>
              <a:rPr lang="id-ID" altLang="en-US" sz="2300" dirty="0">
                <a:solidFill>
                  <a:srgbClr val="1F2328"/>
                </a:solidFill>
              </a:rPr>
              <a:t> (Java) berisi aturan IPK saat mengurutkan</a:t>
            </a:r>
            <a:endParaRPr lang="id-ID" sz="2300" dirty="0"/>
          </a:p>
        </p:txBody>
      </p:sp>
      <p:sp>
        <p:nvSpPr>
          <p:cNvPr id="17" name="Shape 13"/>
          <p:cNvSpPr/>
          <p:nvPr/>
        </p:nvSpPr>
        <p:spPr>
          <a:xfrm>
            <a:off x="548640" y="4846061"/>
            <a:ext cx="5455768" cy="1343406"/>
          </a:xfrm>
          <a:prstGeom prst="roundRect">
            <a:avLst>
              <a:gd name="adj" fmla="val 5560"/>
            </a:avLst>
          </a:prstGeom>
          <a:solidFill>
            <a:srgbClr val="FFFFFF"/>
          </a:solidFill>
          <a:ln w="9525">
            <a:solidFill>
              <a:srgbClr val="D0D7DE"/>
            </a:solidFill>
            <a:prstDash val="solid"/>
          </a:ln>
        </p:spPr>
      </p:sp>
      <p:sp>
        <p:nvSpPr>
          <p:cNvPr id="18" name="Shape 14"/>
          <p:cNvSpPr/>
          <p:nvPr/>
        </p:nvSpPr>
        <p:spPr>
          <a:xfrm>
            <a:off x="749808" y="5289164"/>
            <a:ext cx="457200" cy="457200"/>
          </a:xfrm>
          <a:prstGeom prst="ellipse">
            <a:avLst/>
          </a:prstGeom>
          <a:solidFill>
            <a:srgbClr val="8250DF"/>
          </a:solidFill>
          <a:ln/>
        </p:spPr>
      </p:sp>
      <p:sp>
        <p:nvSpPr>
          <p:cNvPr id="19" name="Text 15"/>
          <p:cNvSpPr txBox="1"/>
          <p:nvPr/>
        </p:nvSpPr>
        <p:spPr>
          <a:xfrm>
            <a:off x="749808" y="528916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95578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Membuat kelas baru </a:t>
            </a:r>
            <a:r>
              <a:rPr lang="id-ID" altLang="en-US" sz="2300" dirty="0">
                <a:solidFill>
                  <a:srgbClr val="0A3069"/>
                </a:solidFill>
                <a:latin typeface="Consolas" pitchFamily="34" charset="0"/>
                <a:ea typeface="Consolas" pitchFamily="34" charset="-122"/>
                <a:cs typeface="Consolas" pitchFamily="34" charset="-120"/>
              </a:rPr>
              <a:t>MahasiswaIPK</a:t>
            </a:r>
            <a:r>
              <a:rPr lang="id-ID" altLang="en-US" sz="2300" dirty="0">
                <a:solidFill>
                  <a:srgbClr val="1F2328"/>
                </a:solidFill>
              </a:rPr>
              <a:t> yang menyalin semua atribut</a:t>
            </a:r>
            <a:endParaRPr lang="id-ID" sz="2300" dirty="0"/>
          </a:p>
        </p:txBody>
      </p:sp>
      <p:sp>
        <p:nvSpPr>
          <p:cNvPr id="21" name="Shape 17"/>
          <p:cNvSpPr/>
          <p:nvPr/>
        </p:nvSpPr>
        <p:spPr>
          <a:xfrm>
            <a:off x="6187288" y="4846061"/>
            <a:ext cx="5455768" cy="1343406"/>
          </a:xfrm>
          <a:prstGeom prst="roundRect">
            <a:avLst>
              <a:gd name="adj" fmla="val 5560"/>
            </a:avLst>
          </a:prstGeom>
          <a:solidFill>
            <a:srgbClr val="FFFFFF"/>
          </a:solidFill>
          <a:ln w="9525">
            <a:solidFill>
              <a:srgbClr val="D0D7DE"/>
            </a:solidFill>
            <a:prstDash val="solid"/>
          </a:ln>
        </p:spPr>
      </p:sp>
      <p:sp>
        <p:nvSpPr>
          <p:cNvPr id="22" name="Shape 18"/>
          <p:cNvSpPr/>
          <p:nvPr/>
        </p:nvSpPr>
        <p:spPr>
          <a:xfrm>
            <a:off x="6388456" y="5289164"/>
            <a:ext cx="457200" cy="457200"/>
          </a:xfrm>
          <a:prstGeom prst="ellipse">
            <a:avLst/>
          </a:prstGeom>
          <a:solidFill>
            <a:srgbClr val="8250DF"/>
          </a:solidFill>
          <a:ln/>
        </p:spPr>
      </p:sp>
      <p:sp>
        <p:nvSpPr>
          <p:cNvPr id="23" name="Text 19"/>
          <p:cNvSpPr txBox="1"/>
          <p:nvPr/>
        </p:nvSpPr>
        <p:spPr>
          <a:xfrm>
            <a:off x="6388456" y="528916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95578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Mengurutkan dengan urutan alami, lalu membalik hasilnya</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80048"/>
            <a:ext cx="11094415" cy="770128"/>
          </a:xfrm>
          <a:prstGeom prst="roundRect">
            <a:avLst>
              <a:gd name="adj" fmla="val 16917"/>
            </a:avLst>
          </a:prstGeom>
          <a:solidFill>
            <a:srgbClr val="F6F8FA"/>
          </a:solidFill>
          <a:ln w="9525">
            <a:solidFill>
              <a:srgbClr val="D0D7DE"/>
            </a:solidFill>
            <a:prstDash val="solid"/>
          </a:ln>
        </p:spPr>
      </p:sp>
      <p:sp>
        <p:nvSpPr>
          <p:cNvPr id="6" name="Text 3"/>
          <p:cNvSpPr txBox="1"/>
          <p:nvPr/>
        </p:nvSpPr>
        <p:spPr>
          <a:xfrm>
            <a:off x="822960" y="1617208"/>
            <a:ext cx="10545775" cy="495808"/>
          </a:xfrm>
          <a:prstGeom prst="rect">
            <a:avLst/>
          </a:prstGeom>
          <a:noFill/>
          <a:ln/>
        </p:spPr>
        <p:txBody>
          <a:bodyPr wrap="square" lIns="0" tIns="0" rIns="0" bIns="0" rtlCol="0" anchor="t"/>
          <a:lstStyle/>
          <a:p>
            <a:pPr indent="0" marL="0">
              <a:buNone/>
            </a:pPr>
            <a:r>
              <a:rPr lang="id-ID" altLang="en-US" sz="1600" dirty="0">
                <a:solidFill>
                  <a:srgbClr val="57606A"/>
                </a:solidFill>
              </a:rPr>
              <a:t>Kelas </a:t>
            </a:r>
            <a:r>
              <a:rPr lang="id-ID" altLang="en-US" sz="1600" dirty="0">
                <a:solidFill>
                  <a:srgbClr val="0A3069"/>
                </a:solidFill>
                <a:latin typeface="Consolas" pitchFamily="34" charset="0"/>
                <a:ea typeface="Consolas" pitchFamily="34" charset="-122"/>
                <a:cs typeface="Consolas" pitchFamily="34" charset="-120"/>
              </a:rPr>
              <a:t>Mahasiswa</a:t>
            </a:r>
            <a:r>
              <a:rPr lang="id-ID" altLang="en-US" sz="1600" dirty="0">
                <a:solidFill>
                  <a:srgbClr val="57606A"/>
                </a:solidFill>
              </a:rPr>
              <a:t> sudah punya urutan alami berdasarkan NIM. Dosen meminta daftar mahasiswa diurutkan dari IPK tertinggi, </a:t>
            </a:r>
            <a:r>
              <a:rPr lang="id-ID" altLang="en-US" sz="1600" b="1" dirty="0">
                <a:solidFill>
                  <a:srgbClr val="57606A"/>
                </a:solidFill>
              </a:rPr>
              <a:t>tanpa</a:t>
            </a:r>
            <a:r>
              <a:rPr lang="id-ID" altLang="en-US" sz="1600" dirty="0">
                <a:solidFill>
                  <a:srgbClr val="57606A"/>
                </a:solidFill>
              </a:rPr>
              <a:t> mengubah urutan alami itu. Cara yang paling tepat adalah ...</a:t>
            </a:r>
            <a:endParaRPr lang="id-ID" sz="1600" dirty="0"/>
          </a:p>
        </p:txBody>
      </p:sp>
      <p:sp>
        <p:nvSpPr>
          <p:cNvPr id="7" name="Shape 4"/>
          <p:cNvSpPr/>
          <p:nvPr/>
        </p:nvSpPr>
        <p:spPr>
          <a:xfrm>
            <a:off x="548640" y="2433056"/>
            <a:ext cx="5455768" cy="801116"/>
          </a:xfrm>
          <a:prstGeom prst="roundRect">
            <a:avLst>
              <a:gd name="adj" fmla="val 15634"/>
            </a:avLst>
          </a:prstGeom>
          <a:solidFill>
            <a:srgbClr val="FFFFFF"/>
          </a:solidFill>
          <a:ln w="9525">
            <a:solidFill>
              <a:srgbClr val="D0D7DE"/>
            </a:solidFill>
            <a:prstDash val="solid"/>
          </a:ln>
        </p:spPr>
      </p:sp>
      <p:sp>
        <p:nvSpPr>
          <p:cNvPr id="8" name="Shape 5"/>
          <p:cNvSpPr/>
          <p:nvPr/>
        </p:nvSpPr>
        <p:spPr>
          <a:xfrm>
            <a:off x="749808" y="2639304"/>
            <a:ext cx="388620" cy="388620"/>
          </a:xfrm>
          <a:prstGeom prst="ellipse">
            <a:avLst/>
          </a:prstGeom>
          <a:solidFill>
            <a:srgbClr val="8C959F"/>
          </a:solidFill>
          <a:ln/>
        </p:spPr>
      </p:sp>
      <p:sp>
        <p:nvSpPr>
          <p:cNvPr id="9" name="Text 6"/>
          <p:cNvSpPr txBox="1"/>
          <p:nvPr/>
        </p:nvSpPr>
        <p:spPr>
          <a:xfrm>
            <a:off x="749808" y="2639304"/>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A</a:t>
            </a:r>
            <a:endParaRPr lang="id-ID" sz="1500" dirty="0"/>
          </a:p>
        </p:txBody>
      </p:sp>
      <p:sp>
        <p:nvSpPr>
          <p:cNvPr id="10" name="Text 7"/>
          <p:cNvSpPr txBox="1"/>
          <p:nvPr/>
        </p:nvSpPr>
        <p:spPr>
          <a:xfrm>
            <a:off x="1353312" y="2542784"/>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Mengubah </a:t>
            </a:r>
            <a:r>
              <a:rPr lang="id-ID" altLang="en-US" sz="1700" dirty="0">
                <a:solidFill>
                  <a:srgbClr val="0A3069"/>
                </a:solidFill>
                <a:latin typeface="Consolas" pitchFamily="34" charset="0"/>
                <a:ea typeface="Consolas" pitchFamily="34" charset="-122"/>
                <a:cs typeface="Consolas" pitchFamily="34" charset="-120"/>
              </a:rPr>
              <a:t>__lt__</a:t>
            </a:r>
            <a:r>
              <a:rPr lang="id-ID" altLang="en-US" sz="1700" dirty="0">
                <a:solidFill>
                  <a:srgbClr val="57606A"/>
                </a:solidFill>
              </a:rPr>
              <a:t>/</a:t>
            </a:r>
            <a:r>
              <a:rPr lang="id-ID" altLang="en-US" sz="1700" dirty="0">
                <a:solidFill>
                  <a:srgbClr val="0A3069"/>
                </a:solidFill>
                <a:latin typeface="Consolas" pitchFamily="34" charset="0"/>
                <a:ea typeface="Consolas" pitchFamily="34" charset="-122"/>
                <a:cs typeface="Consolas" pitchFamily="34" charset="-120"/>
              </a:rPr>
              <a:t>compareTo</a:t>
            </a:r>
            <a:r>
              <a:rPr lang="id-ID" altLang="en-US" sz="1700" dirty="0">
                <a:solidFill>
                  <a:srgbClr val="57606A"/>
                </a:solidFill>
              </a:rPr>
              <a:t> agar membandingkan IPK</a:t>
            </a:r>
            <a:endParaRPr lang="id-ID" sz="1700" dirty="0"/>
          </a:p>
        </p:txBody>
      </p:sp>
      <p:sp>
        <p:nvSpPr>
          <p:cNvPr id="11" name="Shape 8"/>
          <p:cNvSpPr/>
          <p:nvPr/>
        </p:nvSpPr>
        <p:spPr>
          <a:xfrm>
            <a:off x="6187288" y="2433056"/>
            <a:ext cx="5455768" cy="801116"/>
          </a:xfrm>
          <a:prstGeom prst="roundRect">
            <a:avLst>
              <a:gd name="adj" fmla="val 15634"/>
            </a:avLst>
          </a:prstGeom>
          <a:solidFill>
            <a:srgbClr val="DAFBE1"/>
          </a:solidFill>
          <a:ln w="22225">
            <a:solidFill>
              <a:srgbClr val="1A7F37"/>
            </a:solidFill>
            <a:prstDash val="solid"/>
          </a:ln>
        </p:spPr>
      </p:sp>
      <p:sp>
        <p:nvSpPr>
          <p:cNvPr id="12" name="Shape 9"/>
          <p:cNvSpPr/>
          <p:nvPr/>
        </p:nvSpPr>
        <p:spPr>
          <a:xfrm>
            <a:off x="6388456" y="2639304"/>
            <a:ext cx="388620" cy="38862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73952" y="2724800"/>
            <a:ext cx="217627" cy="217627"/>
          </a:xfrm>
          <a:prstGeom prst="rect">
            <a:avLst/>
          </a:prstGeom>
        </p:spPr>
      </p:pic>
      <p:sp>
        <p:nvSpPr>
          <p:cNvPr id="14" name="Text 10"/>
          <p:cNvSpPr txBox="1"/>
          <p:nvPr/>
        </p:nvSpPr>
        <p:spPr>
          <a:xfrm>
            <a:off x="6991960" y="2542784"/>
            <a:ext cx="4541368" cy="581660"/>
          </a:xfrm>
          <a:prstGeom prst="rect">
            <a:avLst/>
          </a:prstGeom>
          <a:noFill/>
          <a:ln/>
        </p:spPr>
        <p:txBody>
          <a:bodyPr wrap="square" lIns="0" tIns="0" rIns="0" bIns="0" rtlCol="0" anchor="ctr"/>
          <a:lstStyle/>
          <a:p>
            <a:pPr indent="0" marL="0">
              <a:buNone/>
            </a:pPr>
            <a:r>
              <a:rPr lang="id-ID" altLang="en-US" sz="1700" dirty="0">
                <a:solidFill>
                  <a:srgbClr val="1F2328"/>
                </a:solidFill>
              </a:rPr>
              <a:t>Memberikan </a:t>
            </a:r>
            <a:r>
              <a:rPr lang="id-ID" altLang="en-US" sz="1700" dirty="0">
                <a:solidFill>
                  <a:srgbClr val="0A3069"/>
                </a:solidFill>
                <a:latin typeface="Consolas" pitchFamily="34" charset="0"/>
                <a:ea typeface="Consolas" pitchFamily="34" charset="-122"/>
                <a:cs typeface="Consolas" pitchFamily="34" charset="-120"/>
              </a:rPr>
              <a:t>key=</a:t>
            </a:r>
            <a:r>
              <a:rPr lang="id-ID" altLang="en-US" sz="1700" dirty="0">
                <a:solidFill>
                  <a:srgbClr val="1F2328"/>
                </a:solidFill>
              </a:rPr>
              <a:t> (Python) atau </a:t>
            </a:r>
            <a:r>
              <a:rPr lang="id-ID" altLang="en-US" sz="1700" dirty="0">
                <a:solidFill>
                  <a:srgbClr val="0A3069"/>
                </a:solidFill>
                <a:latin typeface="Consolas" pitchFamily="34" charset="0"/>
                <a:ea typeface="Consolas" pitchFamily="34" charset="-122"/>
                <a:cs typeface="Consolas" pitchFamily="34" charset="-120"/>
              </a:rPr>
              <a:t>Comparator</a:t>
            </a:r>
            <a:r>
              <a:rPr lang="id-ID" altLang="en-US" sz="1700" dirty="0">
                <a:solidFill>
                  <a:srgbClr val="1F2328"/>
                </a:solidFill>
              </a:rPr>
              <a:t> (Java) berisi aturan IPK saat mengurutkan</a:t>
            </a:r>
            <a:endParaRPr lang="id-ID" sz="1700" dirty="0"/>
          </a:p>
        </p:txBody>
      </p:sp>
      <p:sp>
        <p:nvSpPr>
          <p:cNvPr id="15" name="Shape 11"/>
          <p:cNvSpPr/>
          <p:nvPr/>
        </p:nvSpPr>
        <p:spPr>
          <a:xfrm>
            <a:off x="548640" y="3417052"/>
            <a:ext cx="5455768" cy="801116"/>
          </a:xfrm>
          <a:prstGeom prst="roundRect">
            <a:avLst>
              <a:gd name="adj" fmla="val 15634"/>
            </a:avLst>
          </a:prstGeom>
          <a:solidFill>
            <a:srgbClr val="FFFFFF"/>
          </a:solidFill>
          <a:ln w="9525">
            <a:solidFill>
              <a:srgbClr val="D0D7DE"/>
            </a:solidFill>
            <a:prstDash val="solid"/>
          </a:ln>
        </p:spPr>
      </p:sp>
      <p:sp>
        <p:nvSpPr>
          <p:cNvPr id="16" name="Shape 12"/>
          <p:cNvSpPr/>
          <p:nvPr/>
        </p:nvSpPr>
        <p:spPr>
          <a:xfrm>
            <a:off x="749808" y="3623300"/>
            <a:ext cx="388620" cy="388620"/>
          </a:xfrm>
          <a:prstGeom prst="ellipse">
            <a:avLst/>
          </a:prstGeom>
          <a:solidFill>
            <a:srgbClr val="8C959F"/>
          </a:solidFill>
          <a:ln/>
        </p:spPr>
      </p:sp>
      <p:sp>
        <p:nvSpPr>
          <p:cNvPr id="17" name="Text 13"/>
          <p:cNvSpPr txBox="1"/>
          <p:nvPr/>
        </p:nvSpPr>
        <p:spPr>
          <a:xfrm>
            <a:off x="749808" y="3623300"/>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C</a:t>
            </a:r>
            <a:endParaRPr lang="id-ID" sz="1500" dirty="0"/>
          </a:p>
        </p:txBody>
      </p:sp>
      <p:sp>
        <p:nvSpPr>
          <p:cNvPr id="18" name="Text 14"/>
          <p:cNvSpPr txBox="1"/>
          <p:nvPr/>
        </p:nvSpPr>
        <p:spPr>
          <a:xfrm>
            <a:off x="1353312" y="3526780"/>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Membuat kelas baru </a:t>
            </a:r>
            <a:r>
              <a:rPr lang="id-ID" altLang="en-US" sz="1700" dirty="0">
                <a:solidFill>
                  <a:srgbClr val="0A3069"/>
                </a:solidFill>
                <a:latin typeface="Consolas" pitchFamily="34" charset="0"/>
                <a:ea typeface="Consolas" pitchFamily="34" charset="-122"/>
                <a:cs typeface="Consolas" pitchFamily="34" charset="-120"/>
              </a:rPr>
              <a:t>MahasiswaIPK</a:t>
            </a:r>
            <a:r>
              <a:rPr lang="id-ID" altLang="en-US" sz="1700" dirty="0">
                <a:solidFill>
                  <a:srgbClr val="57606A"/>
                </a:solidFill>
              </a:rPr>
              <a:t> yang menyalin semua atribut</a:t>
            </a:r>
            <a:endParaRPr lang="id-ID" sz="1700" dirty="0"/>
          </a:p>
        </p:txBody>
      </p:sp>
      <p:sp>
        <p:nvSpPr>
          <p:cNvPr id="19" name="Shape 15"/>
          <p:cNvSpPr/>
          <p:nvPr/>
        </p:nvSpPr>
        <p:spPr>
          <a:xfrm>
            <a:off x="6187288" y="3417052"/>
            <a:ext cx="5455768" cy="801116"/>
          </a:xfrm>
          <a:prstGeom prst="roundRect">
            <a:avLst>
              <a:gd name="adj" fmla="val 15634"/>
            </a:avLst>
          </a:prstGeom>
          <a:solidFill>
            <a:srgbClr val="FFFFFF"/>
          </a:solidFill>
          <a:ln w="9525">
            <a:solidFill>
              <a:srgbClr val="D0D7DE"/>
            </a:solidFill>
            <a:prstDash val="solid"/>
          </a:ln>
        </p:spPr>
      </p:sp>
      <p:sp>
        <p:nvSpPr>
          <p:cNvPr id="20" name="Shape 16"/>
          <p:cNvSpPr/>
          <p:nvPr/>
        </p:nvSpPr>
        <p:spPr>
          <a:xfrm>
            <a:off x="6388456" y="3623300"/>
            <a:ext cx="388620" cy="388620"/>
          </a:xfrm>
          <a:prstGeom prst="ellipse">
            <a:avLst/>
          </a:prstGeom>
          <a:solidFill>
            <a:srgbClr val="8C959F"/>
          </a:solidFill>
          <a:ln/>
        </p:spPr>
      </p:sp>
      <p:sp>
        <p:nvSpPr>
          <p:cNvPr id="21" name="Text 17"/>
          <p:cNvSpPr txBox="1"/>
          <p:nvPr/>
        </p:nvSpPr>
        <p:spPr>
          <a:xfrm>
            <a:off x="6388456" y="3623300"/>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2" name="Text 18"/>
          <p:cNvSpPr txBox="1"/>
          <p:nvPr/>
        </p:nvSpPr>
        <p:spPr>
          <a:xfrm>
            <a:off x="6991960" y="3526780"/>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Mengurutkan dengan urutan alami, lalu membalik hasilnya</a:t>
            </a:r>
            <a:endParaRPr lang="id-ID" sz="1700" dirty="0"/>
          </a:p>
        </p:txBody>
      </p:sp>
      <p:sp>
        <p:nvSpPr>
          <p:cNvPr id="23" name="Shape 19"/>
          <p:cNvSpPr/>
          <p:nvPr/>
        </p:nvSpPr>
        <p:spPr>
          <a:xfrm>
            <a:off x="548640" y="4419336"/>
            <a:ext cx="11094415" cy="1693672"/>
          </a:xfrm>
          <a:prstGeom prst="roundRect">
            <a:avLst>
              <a:gd name="adj" fmla="val 3498"/>
            </a:avLst>
          </a:prstGeom>
          <a:solidFill>
            <a:srgbClr val="FFF8C5"/>
          </a:solidFill>
          <a:ln w="9525">
            <a:solidFill>
              <a:srgbClr val="D4A72C"/>
            </a:solidFill>
            <a:prstDash val="solid"/>
          </a:ln>
        </p:spPr>
      </p:sp>
      <p:sp>
        <p:nvSpPr>
          <p:cNvPr id="24" name="Shape 20"/>
          <p:cNvSpPr/>
          <p:nvPr/>
        </p:nvSpPr>
        <p:spPr>
          <a:xfrm>
            <a:off x="777240" y="4602216"/>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02800"/>
            <a:ext cx="256032" cy="256032"/>
          </a:xfrm>
          <a:prstGeom prst="rect">
            <a:avLst/>
          </a:prstGeom>
        </p:spPr>
      </p:pic>
      <p:sp>
        <p:nvSpPr>
          <p:cNvPr id="26" name="Text 21"/>
          <p:cNvSpPr txBox="1"/>
          <p:nvPr/>
        </p:nvSpPr>
        <p:spPr>
          <a:xfrm>
            <a:off x="1417320" y="4556496"/>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894824"/>
            <a:ext cx="9951415" cy="1145032"/>
          </a:xfrm>
          <a:prstGeom prst="rect">
            <a:avLst/>
          </a:prstGeom>
          <a:noFill/>
          <a:ln/>
        </p:spPr>
        <p:txBody>
          <a:bodyPr wrap="square" lIns="0" tIns="0" rIns="0" bIns="0" rtlCol="0" anchor="t"/>
          <a:lstStyle/>
          <a:p>
            <a:pPr indent="0" marL="0">
              <a:buNone/>
            </a:pPr>
            <a:r>
              <a:rPr lang="id-ID" altLang="en-US" sz="1700" dirty="0">
                <a:solidFill>
                  <a:srgbClr val="1F2328"/>
                </a:solidFill>
              </a:rPr>
              <a:t>Urutan khusus diberikan dari luar kelas, dan jumlahnya boleh sebanyak yang dibutuhkan, misalnya </a:t>
            </a:r>
            <a:r>
              <a:rPr lang="id-ID" altLang="en-US" sz="1700" dirty="0">
                <a:solidFill>
                  <a:srgbClr val="0A3069"/>
                </a:solidFill>
                <a:latin typeface="Consolas" pitchFamily="34" charset="0"/>
                <a:ea typeface="Consolas" pitchFamily="34" charset="-122"/>
                <a:cs typeface="Consolas" pitchFamily="34" charset="-120"/>
              </a:rPr>
              <a:t>sorted(daftar, key=lambda m: m.ipk, reverse=True)</a:t>
            </a:r>
            <a:r>
              <a:rPr lang="id-ID" altLang="en-US" sz="1700" dirty="0">
                <a:solidFill>
                  <a:srgbClr val="1F2328"/>
                </a:solidFill>
              </a:rPr>
              <a:t> atau </a:t>
            </a:r>
            <a:r>
              <a:rPr lang="id-ID" altLang="en-US" sz="1700" dirty="0">
                <a:solidFill>
                  <a:srgbClr val="0A3069"/>
                </a:solidFill>
                <a:latin typeface="Consolas" pitchFamily="34" charset="0"/>
                <a:ea typeface="Consolas" pitchFamily="34" charset="-122"/>
                <a:cs typeface="Consolas" pitchFamily="34" charset="-120"/>
              </a:rPr>
              <a:t>Comparator.comparing(Mahasiswa::getIpk).reversed()</a:t>
            </a:r>
            <a:r>
              <a:rPr lang="id-ID" altLang="en-US" sz="1700" dirty="0">
                <a:solidFill>
                  <a:srgbClr val="1F2328"/>
                </a:solidFill>
              </a:rPr>
              <a:t>. Pilihan A merusak urutan alami yang dipakai bagian program lain. Pilihan C berlebihan. Pilihan D hanya membalik urutan NIM.</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340106"/>
          </a:xfrm>
          <a:prstGeom prst="rect">
            <a:avLst/>
          </a:prstGeom>
          <a:noFill/>
          <a:ln/>
        </p:spPr>
        <p:txBody>
          <a:bodyPr wrap="square" lIns="0" tIns="0" rIns="0" bIns="0" rtlCol="0" anchor="t"/>
          <a:lstStyle/>
          <a:p>
            <a:pPr indent="0" marL="0">
              <a:buNone/>
            </a:pPr>
            <a:r>
              <a:rPr lang="id-ID" altLang="en-US" sz="1900" b="1" dirty="0">
                <a:solidFill>
                  <a:srgbClr val="1F2328"/>
                </a:solidFill>
              </a:rPr>
              <a:t>Koleksi</a:t>
            </a:r>
            <a:r>
              <a:rPr lang="id-ID" altLang="en-US" sz="1900" dirty="0">
                <a:solidFill>
                  <a:srgbClr val="1F2328"/>
                </a:solidFill>
              </a:rPr>
              <a:t> adalah objek yang menyimpan dan mengelola sekumpulan objek lain.</a:t>
            </a:r>
            <a:endParaRPr lang="id-ID" sz="1900" dirty="0"/>
          </a:p>
        </p:txBody>
      </p:sp>
      <p:sp>
        <p:nvSpPr>
          <p:cNvPr id="8" name="Shape 4"/>
          <p:cNvSpPr/>
          <p:nvPr/>
        </p:nvSpPr>
        <p:spPr>
          <a:xfrm>
            <a:off x="548640" y="1965954"/>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027480"/>
            <a:ext cx="156613" cy="156613"/>
          </a:xfrm>
          <a:prstGeom prst="rect">
            <a:avLst/>
          </a:prstGeom>
        </p:spPr>
      </p:pic>
      <p:sp>
        <p:nvSpPr>
          <p:cNvPr id="10" name="Text 5"/>
          <p:cNvSpPr txBox="1"/>
          <p:nvPr/>
        </p:nvSpPr>
        <p:spPr>
          <a:xfrm>
            <a:off x="1051560" y="1958594"/>
            <a:ext cx="10591495" cy="340106"/>
          </a:xfrm>
          <a:prstGeom prst="rect">
            <a:avLst/>
          </a:prstGeom>
          <a:noFill/>
          <a:ln/>
        </p:spPr>
        <p:txBody>
          <a:bodyPr wrap="square" lIns="0" tIns="0" rIns="0" bIns="0" rtlCol="0" anchor="t"/>
          <a:lstStyle/>
          <a:p>
            <a:pPr indent="0" marL="0">
              <a:buNone/>
            </a:pPr>
            <a:r>
              <a:rPr lang="id-ID" altLang="en-US" sz="1900" b="1" i="1" dirty="0">
                <a:solidFill>
                  <a:srgbClr val="1F2328"/>
                </a:solidFill>
              </a:rPr>
              <a:t>List</a:t>
            </a:r>
            <a:r>
              <a:rPr lang="id-ID" altLang="en-US" sz="1900" dirty="0">
                <a:solidFill>
                  <a:srgbClr val="1F2328"/>
                </a:solidFill>
              </a:rPr>
              <a:t> berurutan dan boleh kembar, </a:t>
            </a:r>
            <a:r>
              <a:rPr lang="id-ID" altLang="en-US" sz="1900" b="1" i="1" dirty="0">
                <a:solidFill>
                  <a:srgbClr val="1F2328"/>
                </a:solidFill>
              </a:rPr>
              <a:t>tuple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List.of</a:t>
            </a:r>
            <a:r>
              <a:rPr lang="id-ID" altLang="en-US" sz="1900" dirty="0">
                <a:solidFill>
                  <a:srgbClr val="1F2328"/>
                </a:solidFill>
              </a:rPr>
              <a:t> tetap, </a:t>
            </a:r>
            <a:r>
              <a:rPr lang="id-ID" altLang="en-US" sz="1900" b="1" dirty="0">
                <a:solidFill>
                  <a:srgbClr val="1F2328"/>
                </a:solidFill>
              </a:rPr>
              <a:t>set</a:t>
            </a:r>
            <a:r>
              <a:rPr lang="id-ID" altLang="en-US" sz="1900" dirty="0">
                <a:solidFill>
                  <a:srgbClr val="1F2328"/>
                </a:solidFill>
              </a:rPr>
              <a:t> membuang kembar, </a:t>
            </a:r>
            <a:r>
              <a:rPr lang="id-ID" altLang="en-US" sz="1900" b="1" dirty="0">
                <a:solidFill>
                  <a:srgbClr val="1F2328"/>
                </a:solidFill>
              </a:rPr>
              <a:t>map/dict</a:t>
            </a:r>
            <a:r>
              <a:rPr lang="id-ID" altLang="en-US" sz="1900" dirty="0">
                <a:solidFill>
                  <a:srgbClr val="1F2328"/>
                </a:solidFill>
              </a:rPr>
              <a:t> berkunci unik.</a:t>
            </a:r>
            <a:endParaRPr lang="id-ID" sz="1900" dirty="0"/>
          </a:p>
        </p:txBody>
      </p:sp>
      <p:sp>
        <p:nvSpPr>
          <p:cNvPr id="11" name="Shape 6"/>
          <p:cNvSpPr/>
          <p:nvPr/>
        </p:nvSpPr>
        <p:spPr>
          <a:xfrm>
            <a:off x="548640" y="2461508"/>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2523034"/>
            <a:ext cx="156613" cy="156613"/>
          </a:xfrm>
          <a:prstGeom prst="rect">
            <a:avLst/>
          </a:prstGeom>
        </p:spPr>
      </p:pic>
      <p:sp>
        <p:nvSpPr>
          <p:cNvPr id="13" name="Text 7"/>
          <p:cNvSpPr txBox="1"/>
          <p:nvPr/>
        </p:nvSpPr>
        <p:spPr>
          <a:xfrm>
            <a:off x="1051560" y="2454148"/>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Di Java, </a:t>
            </a:r>
            <a:r>
              <a:rPr lang="id-ID" altLang="en-US" sz="1900" dirty="0">
                <a:solidFill>
                  <a:srgbClr val="1F2328"/>
                </a:solidFill>
                <a:latin typeface="Consolas" pitchFamily="34" charset="0"/>
                <a:ea typeface="Consolas" pitchFamily="34" charset="-122"/>
                <a:cs typeface="Consolas" pitchFamily="34" charset="-120"/>
              </a:rPr>
              <a:t>List</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Set</a:t>
            </a:r>
            <a:r>
              <a:rPr lang="id-ID" altLang="en-US" sz="1900" dirty="0">
                <a:solidFill>
                  <a:srgbClr val="1F2328"/>
                </a:solidFill>
              </a:rPr>
              <a:t>, dan </a:t>
            </a:r>
            <a:r>
              <a:rPr lang="id-ID" altLang="en-US" sz="1900" dirty="0">
                <a:solidFill>
                  <a:srgbClr val="1F2328"/>
                </a:solidFill>
                <a:latin typeface="Consolas" pitchFamily="34" charset="0"/>
                <a:ea typeface="Consolas" pitchFamily="34" charset="-122"/>
                <a:cs typeface="Consolas" pitchFamily="34" charset="-120"/>
              </a:rPr>
              <a:t>Map</a:t>
            </a:r>
            <a:r>
              <a:rPr lang="id-ID" altLang="en-US" sz="1900" dirty="0">
                <a:solidFill>
                  <a:srgbClr val="1F2328"/>
                </a:solidFill>
              </a:rPr>
              <a:t> adalah </a:t>
            </a:r>
            <a:r>
              <a:rPr lang="id-ID" altLang="en-US" sz="1900" i="1" dirty="0">
                <a:solidFill>
                  <a:srgbClr val="1F2328"/>
                </a:solidFill>
              </a:rPr>
              <a:t>interface</a:t>
            </a:r>
            <a:r>
              <a:rPr lang="id-ID" altLang="en-US" sz="1900" dirty="0">
                <a:solidFill>
                  <a:srgbClr val="1F2328"/>
                </a:solidFill>
              </a:rPr>
              <a:t>; tulis tipe kontrak di kiri dan wujud di kanan.</a:t>
            </a:r>
            <a:endParaRPr lang="id-ID" sz="1900" dirty="0"/>
          </a:p>
        </p:txBody>
      </p:sp>
      <p:sp>
        <p:nvSpPr>
          <p:cNvPr id="14" name="Shape 8"/>
          <p:cNvSpPr/>
          <p:nvPr/>
        </p:nvSpPr>
        <p:spPr>
          <a:xfrm>
            <a:off x="548640" y="2957062"/>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018588"/>
            <a:ext cx="156613" cy="156613"/>
          </a:xfrm>
          <a:prstGeom prst="rect">
            <a:avLst/>
          </a:prstGeom>
        </p:spPr>
      </p:pic>
      <p:sp>
        <p:nvSpPr>
          <p:cNvPr id="16" name="Text 9"/>
          <p:cNvSpPr txBox="1"/>
          <p:nvPr/>
        </p:nvSpPr>
        <p:spPr>
          <a:xfrm>
            <a:off x="1051560" y="294970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Urutan isi </a:t>
            </a:r>
            <a:r>
              <a:rPr lang="id-ID" altLang="en-US" sz="1900" dirty="0">
                <a:solidFill>
                  <a:srgbClr val="1F2328"/>
                </a:solidFill>
                <a:latin typeface="Consolas" pitchFamily="34" charset="0"/>
                <a:ea typeface="Consolas" pitchFamily="34" charset="-122"/>
                <a:cs typeface="Consolas" pitchFamily="34" charset="-120"/>
              </a:rPr>
              <a:t>set</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HashSet</a:t>
            </a:r>
            <a:r>
              <a:rPr lang="id-ID" altLang="en-US" sz="1900" dirty="0">
                <a:solidFill>
                  <a:srgbClr val="1F2328"/>
                </a:solidFill>
              </a:rPr>
              <a:t>, dan </a:t>
            </a:r>
            <a:r>
              <a:rPr lang="id-ID" altLang="en-US" sz="1900" dirty="0">
                <a:solidFill>
                  <a:srgbClr val="1F2328"/>
                </a:solidFill>
                <a:latin typeface="Consolas" pitchFamily="34" charset="0"/>
                <a:ea typeface="Consolas" pitchFamily="34" charset="-122"/>
                <a:cs typeface="Consolas" pitchFamily="34" charset="-120"/>
              </a:rPr>
              <a:t>HashMap</a:t>
            </a:r>
            <a:r>
              <a:rPr lang="id-ID" altLang="en-US" sz="1900" dirty="0">
                <a:solidFill>
                  <a:srgbClr val="1F2328"/>
                </a:solidFill>
              </a:rPr>
              <a:t> </a:t>
            </a:r>
            <a:r>
              <a:rPr lang="id-ID" altLang="en-US" sz="1900" b="1" dirty="0">
                <a:solidFill>
                  <a:srgbClr val="1F2328"/>
                </a:solidFill>
              </a:rPr>
              <a:t>tidak dijamin</a:t>
            </a:r>
            <a:r>
              <a:rPr lang="id-ID" altLang="en-US" sz="1900" dirty="0">
                <a:solidFill>
                  <a:srgbClr val="1F2328"/>
                </a:solidFill>
              </a:rPr>
              <a:t>; pakai </a:t>
            </a:r>
            <a:r>
              <a:rPr lang="id-ID" altLang="en-US" sz="1900" dirty="0">
                <a:solidFill>
                  <a:srgbClr val="1F2328"/>
                </a:solidFill>
                <a:latin typeface="Consolas" pitchFamily="34" charset="0"/>
                <a:ea typeface="Consolas" pitchFamily="34" charset="-122"/>
                <a:cs typeface="Consolas" pitchFamily="34" charset="-120"/>
              </a:rPr>
              <a:t>dict</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LinkedHashMap</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TreeMap</a:t>
            </a:r>
            <a:r>
              <a:rPr lang="id-ID" altLang="en-US" sz="1900" dirty="0">
                <a:solidFill>
                  <a:srgbClr val="1F2328"/>
                </a:solidFill>
              </a:rPr>
              <a:t>, atau urutkan dulu.</a:t>
            </a:r>
            <a:endParaRPr lang="id-ID" sz="1900" dirty="0"/>
          </a:p>
        </p:txBody>
      </p:sp>
      <p:sp>
        <p:nvSpPr>
          <p:cNvPr id="17" name="Shape 10"/>
          <p:cNvSpPr/>
          <p:nvPr/>
        </p:nvSpPr>
        <p:spPr>
          <a:xfrm>
            <a:off x="548640" y="3747002"/>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3808528"/>
            <a:ext cx="156613" cy="156613"/>
          </a:xfrm>
          <a:prstGeom prst="rect">
            <a:avLst/>
          </a:prstGeom>
        </p:spPr>
      </p:pic>
      <p:sp>
        <p:nvSpPr>
          <p:cNvPr id="19" name="Text 11"/>
          <p:cNvSpPr txBox="1"/>
          <p:nvPr/>
        </p:nvSpPr>
        <p:spPr>
          <a:xfrm>
            <a:off x="1051560" y="3739642"/>
            <a:ext cx="10591495" cy="634492"/>
          </a:xfrm>
          <a:prstGeom prst="rect">
            <a:avLst/>
          </a:prstGeom>
          <a:noFill/>
          <a:ln/>
        </p:spPr>
        <p:txBody>
          <a:bodyPr wrap="square" lIns="0" tIns="0" rIns="0" bIns="0" rtlCol="0" anchor="t"/>
          <a:lstStyle/>
          <a:p>
            <a:pPr indent="0" marL="0">
              <a:buNone/>
            </a:pPr>
            <a:r>
              <a:rPr lang="id-ID" altLang="en-US" sz="1900" b="1" dirty="0">
                <a:solidFill>
                  <a:srgbClr val="1F2328"/>
                </a:solidFill>
              </a:rPr>
              <a:t>Urutan alami</a:t>
            </a:r>
            <a:r>
              <a:rPr lang="id-ID" altLang="en-US" sz="1900" dirty="0">
                <a:solidFill>
                  <a:srgbClr val="1F2328"/>
                </a:solidFill>
              </a:rPr>
              <a:t> ditulis di dalam kelas (</a:t>
            </a:r>
            <a:r>
              <a:rPr lang="id-ID" altLang="en-US" sz="1900" dirty="0">
                <a:solidFill>
                  <a:srgbClr val="1F2328"/>
                </a:solidFill>
                <a:latin typeface="Consolas" pitchFamily="34" charset="0"/>
                <a:ea typeface="Consolas" pitchFamily="34" charset="-122"/>
                <a:cs typeface="Consolas" pitchFamily="34" charset="-120"/>
              </a:rPr>
              <a:t>__lt__</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Comparable</a:t>
            </a:r>
            <a:r>
              <a:rPr lang="id-ID" altLang="en-US" sz="1900" dirty="0">
                <a:solidFill>
                  <a:srgbClr val="1F2328"/>
                </a:solidFill>
              </a:rPr>
              <a:t>); </a:t>
            </a:r>
            <a:r>
              <a:rPr lang="id-ID" altLang="en-US" sz="1900" b="1" dirty="0">
                <a:solidFill>
                  <a:srgbClr val="1F2328"/>
                </a:solidFill>
              </a:rPr>
              <a:t>urutan khusus</a:t>
            </a:r>
            <a:r>
              <a:rPr lang="id-ID" altLang="en-US" sz="1900" dirty="0">
                <a:solidFill>
                  <a:srgbClr val="1F2328"/>
                </a:solidFill>
              </a:rPr>
              <a:t> diberikan dari luar (</a:t>
            </a:r>
            <a:r>
              <a:rPr lang="id-ID" altLang="en-US" sz="1900" dirty="0">
                <a:solidFill>
                  <a:srgbClr val="1F2328"/>
                </a:solidFill>
                <a:latin typeface="Consolas" pitchFamily="34" charset="0"/>
                <a:ea typeface="Consolas" pitchFamily="34" charset="-122"/>
                <a:cs typeface="Consolas" pitchFamily="34" charset="-120"/>
              </a:rPr>
              <a:t>key=</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Comparator</a:t>
            </a:r>
            <a:r>
              <a:rPr lang="id-ID" altLang="en-US" sz="1900" dirty="0">
                <a:solidFill>
                  <a:srgbClr val="1F2328"/>
                </a:solidFill>
              </a:rPr>
              <a:t>).</a:t>
            </a:r>
            <a:endParaRPr lang="id-ID" sz="1900" dirty="0"/>
          </a:p>
        </p:txBody>
      </p:sp>
      <p:sp>
        <p:nvSpPr>
          <p:cNvPr id="20" name="Shape 12"/>
          <p:cNvSpPr/>
          <p:nvPr/>
        </p:nvSpPr>
        <p:spPr>
          <a:xfrm>
            <a:off x="548640" y="4536942"/>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598468"/>
            <a:ext cx="156613" cy="156613"/>
          </a:xfrm>
          <a:prstGeom prst="rect">
            <a:avLst/>
          </a:prstGeom>
        </p:spPr>
      </p:pic>
      <p:sp>
        <p:nvSpPr>
          <p:cNvPr id="22" name="Text 13"/>
          <p:cNvSpPr txBox="1"/>
          <p:nvPr/>
        </p:nvSpPr>
        <p:spPr>
          <a:xfrm>
            <a:off x="1051560" y="452958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__eq__</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equals()</a:t>
            </a:r>
            <a:r>
              <a:rPr lang="id-ID" altLang="en-US" sz="1900" dirty="0">
                <a:solidFill>
                  <a:srgbClr val="1F2328"/>
                </a:solidFill>
              </a:rPr>
              <a:t> </a:t>
            </a:r>
            <a:r>
              <a:rPr lang="id-ID" altLang="en-US" sz="1900" b="1" dirty="0">
                <a:solidFill>
                  <a:srgbClr val="1F2328"/>
                </a:solidFill>
              </a:rPr>
              <a:t>wajib</a:t>
            </a:r>
            <a:r>
              <a:rPr lang="id-ID" altLang="en-US" sz="1900" dirty="0">
                <a:solidFill>
                  <a:srgbClr val="1F2328"/>
                </a:solidFill>
              </a:rPr>
              <a:t> berpasangan dengan </a:t>
            </a:r>
            <a:r>
              <a:rPr lang="id-ID" altLang="en-US" sz="1900" dirty="0">
                <a:solidFill>
                  <a:srgbClr val="1F2328"/>
                </a:solidFill>
                <a:latin typeface="Consolas" pitchFamily="34" charset="0"/>
                <a:ea typeface="Consolas" pitchFamily="34" charset="-122"/>
                <a:cs typeface="Consolas" pitchFamily="34" charset="-120"/>
              </a:rPr>
              <a:t>__hash__</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hashCode()</a:t>
            </a:r>
            <a:r>
              <a:rPr lang="id-ID" altLang="en-US" sz="1900" dirty="0">
                <a:solidFill>
                  <a:srgbClr val="1F2328"/>
                </a:solidFill>
              </a:rPr>
              <a:t> yang dihitung dari data yang sama.</a:t>
            </a:r>
            <a:endParaRPr lang="id-ID" sz="1900" dirty="0"/>
          </a:p>
        </p:txBody>
      </p:sp>
      <p:sp>
        <p:nvSpPr>
          <p:cNvPr id="23" name="Shape 14"/>
          <p:cNvSpPr/>
          <p:nvPr/>
        </p:nvSpPr>
        <p:spPr>
          <a:xfrm>
            <a:off x="548640" y="5326882"/>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5388408"/>
            <a:ext cx="156613" cy="156613"/>
          </a:xfrm>
          <a:prstGeom prst="rect">
            <a:avLst/>
          </a:prstGeom>
        </p:spPr>
      </p:pic>
      <p:sp>
        <p:nvSpPr>
          <p:cNvPr id="25" name="Text 15"/>
          <p:cNvSpPr txBox="1"/>
          <p:nvPr/>
        </p:nvSpPr>
        <p:spPr>
          <a:xfrm>
            <a:off x="1051560" y="5319522"/>
            <a:ext cx="10591495" cy="634492"/>
          </a:xfrm>
          <a:prstGeom prst="rect">
            <a:avLst/>
          </a:prstGeom>
          <a:noFill/>
          <a:ln/>
        </p:spPr>
        <p:txBody>
          <a:bodyPr wrap="square" lIns="0" tIns="0" rIns="0" bIns="0" rtlCol="0" anchor="t"/>
          <a:lstStyle/>
          <a:p>
            <a:pPr indent="0" marL="0">
              <a:buNone/>
            </a:pPr>
            <a:r>
              <a:rPr lang="id-ID" altLang="en-US" sz="1900" b="1" i="1" dirty="0">
                <a:solidFill>
                  <a:srgbClr val="1F2328"/>
                </a:solidFill>
              </a:rPr>
              <a:t>Generics</a:t>
            </a:r>
            <a:r>
              <a:rPr lang="id-ID" altLang="en-US" sz="1900" dirty="0">
                <a:solidFill>
                  <a:srgbClr val="1F2328"/>
                </a:solidFill>
              </a:rPr>
              <a:t> memberi label tipe pada wadah. Java memeriksanya saat kompilasi, Python hanya menjadikannya petunjuk.</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03680"/>
            <a:ext cx="137160" cy="137160"/>
          </a:xfrm>
          <a:prstGeom prst="roundRect">
            <a:avLst>
              <a:gd name="adj" fmla="val 166667"/>
            </a:avLst>
          </a:prstGeom>
          <a:solidFill>
            <a:srgbClr val="FB8F44"/>
          </a:solidFill>
          <a:ln/>
        </p:spPr>
      </p:sp>
      <p:sp>
        <p:nvSpPr>
          <p:cNvPr id="6" name="Text 3"/>
          <p:cNvSpPr txBox="1"/>
          <p:nvPr/>
        </p:nvSpPr>
        <p:spPr>
          <a:xfrm>
            <a:off x="932688" y="141732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Jalankan contoh di jalur pilihanmu (Python 01⁠—⁠08, Java 01⁠—⁠09) dan studi kasus KedaiKita.</a:t>
            </a:r>
            <a:endParaRPr lang="id-ID" sz="2000" dirty="0"/>
          </a:p>
        </p:txBody>
      </p:sp>
      <p:sp>
        <p:nvSpPr>
          <p:cNvPr id="7" name="Shape 4"/>
          <p:cNvSpPr/>
          <p:nvPr/>
        </p:nvSpPr>
        <p:spPr>
          <a:xfrm>
            <a:off x="603504" y="2306320"/>
            <a:ext cx="137160" cy="137160"/>
          </a:xfrm>
          <a:prstGeom prst="roundRect">
            <a:avLst>
              <a:gd name="adj" fmla="val 166667"/>
            </a:avLst>
          </a:prstGeom>
          <a:solidFill>
            <a:srgbClr val="FB8F44"/>
          </a:solidFill>
          <a:ln/>
        </p:spPr>
      </p:sp>
      <p:sp>
        <p:nvSpPr>
          <p:cNvPr id="8" name="Text 5"/>
          <p:cNvSpPr txBox="1"/>
          <p:nvPr/>
        </p:nvSpPr>
        <p:spPr>
          <a:xfrm>
            <a:off x="932688" y="221996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Jalankan </a:t>
            </a:r>
            <a:r>
              <a:rPr lang="id-ID" altLang="en-US" sz="2000" dirty="0">
                <a:solidFill>
                  <a:srgbClr val="DDF4FF"/>
                </a:solidFill>
                <a:latin typeface="Consolas" pitchFamily="34" charset="0"/>
                <a:ea typeface="Consolas" pitchFamily="34" charset="-122"/>
                <a:cs typeface="Consolas" pitchFamily="34" charset="-120"/>
              </a:rPr>
              <a:t>hari.py</a:t>
            </a:r>
            <a:r>
              <a:rPr lang="id-ID" altLang="en-US" sz="2000" dirty="0">
                <a:solidFill>
                  <a:srgbClr val="FFFFFF"/>
                </a:solidFill>
              </a:rPr>
              <a:t> atau </a:t>
            </a:r>
            <a:r>
              <a:rPr lang="id-ID" altLang="en-US" sz="2000" dirty="0">
                <a:solidFill>
                  <a:srgbClr val="DDF4FF"/>
                </a:solidFill>
                <a:latin typeface="Consolas" pitchFamily="34" charset="0"/>
                <a:ea typeface="Consolas" pitchFamily="34" charset="-122"/>
                <a:cs typeface="Consolas" pitchFamily="34" charset="-120"/>
              </a:rPr>
              <a:t>Hari.java</a:t>
            </a:r>
            <a:r>
              <a:rPr lang="id-ID" altLang="en-US" sz="2000" dirty="0">
                <a:solidFill>
                  <a:srgbClr val="FFFFFF"/>
                </a:solidFill>
              </a:rPr>
              <a:t> tiga kali di folder </a:t>
            </a:r>
            <a:r>
              <a:rPr lang="id-ID" altLang="en-US" sz="2000" dirty="0">
                <a:solidFill>
                  <a:srgbClr val="DDF4FF"/>
                </a:solidFill>
                <a:latin typeface="Consolas" pitchFamily="34" charset="0"/>
                <a:ea typeface="Consolas" pitchFamily="34" charset="-122"/>
                <a:cs typeface="Consolas" pitchFamily="34" charset="-120"/>
              </a:rPr>
              <a:t>PBO-latihan-saya/pertemuan-12</a:t>
            </a:r>
            <a:r>
              <a:rPr lang="id-ID" altLang="en-US" sz="2000" dirty="0">
                <a:solidFill>
                  <a:srgbClr val="FFFFFF"/>
                </a:solidFill>
              </a:rPr>
              <a:t>, lalu amati urutannya.</a:t>
            </a:r>
            <a:endParaRPr lang="id-ID" sz="2000" dirty="0"/>
          </a:p>
        </p:txBody>
      </p:sp>
      <p:sp>
        <p:nvSpPr>
          <p:cNvPr id="9" name="Shape 6"/>
          <p:cNvSpPr/>
          <p:nvPr/>
        </p:nvSpPr>
        <p:spPr>
          <a:xfrm>
            <a:off x="603504" y="3108960"/>
            <a:ext cx="137160" cy="137160"/>
          </a:xfrm>
          <a:prstGeom prst="roundRect">
            <a:avLst>
              <a:gd name="adj" fmla="val 166667"/>
            </a:avLst>
          </a:prstGeom>
          <a:solidFill>
            <a:srgbClr val="FB8F44"/>
          </a:solidFill>
          <a:ln/>
        </p:spPr>
      </p:sp>
      <p:sp>
        <p:nvSpPr>
          <p:cNvPr id="10" name="Text 7"/>
          <p:cNvSpPr txBox="1"/>
          <p:nvPr/>
        </p:nvSpPr>
        <p:spPr>
          <a:xfrm>
            <a:off x="932688" y="3022600"/>
            <a:ext cx="7114032" cy="355600"/>
          </a:xfrm>
          <a:prstGeom prst="rect">
            <a:avLst/>
          </a:prstGeom>
          <a:noFill/>
          <a:ln/>
        </p:spPr>
        <p:txBody>
          <a:bodyPr wrap="square" lIns="0" tIns="0" rIns="0" bIns="0" rtlCol="0" anchor="t"/>
          <a:lstStyle/>
          <a:p>
            <a:pPr indent="0" marL="0">
              <a:buNone/>
            </a:pPr>
            <a:r>
              <a:rPr lang="id-ID" altLang="en-US" sz="2000" dirty="0">
                <a:solidFill>
                  <a:srgbClr val="FFFFFF"/>
                </a:solidFill>
              </a:rPr>
              <a:t>Kerjakan latihan, lalu cek pemahamanmu dengan kuis 10 soal.</a:t>
            </a:r>
            <a:endParaRPr lang="id-ID" sz="2000" dirty="0"/>
          </a:p>
        </p:txBody>
      </p:sp>
      <p:sp>
        <p:nvSpPr>
          <p:cNvPr id="11" name="Text 8"/>
          <p:cNvSpPr txBox="1"/>
          <p:nvPr/>
        </p:nvSpPr>
        <p:spPr>
          <a:xfrm>
            <a:off x="548640" y="365252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0972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10304"/>
            <a:ext cx="256032" cy="256032"/>
          </a:xfrm>
          <a:prstGeom prst="rect">
            <a:avLst/>
          </a:prstGeom>
        </p:spPr>
      </p:pic>
      <p:sp>
        <p:nvSpPr>
          <p:cNvPr id="14" name="Text 10"/>
          <p:cNvSpPr txBox="1"/>
          <p:nvPr/>
        </p:nvSpPr>
        <p:spPr>
          <a:xfrm>
            <a:off x="1051560"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5" name="Shape 11"/>
          <p:cNvSpPr/>
          <p:nvPr/>
        </p:nvSpPr>
        <p:spPr>
          <a:xfrm>
            <a:off x="4379976" y="410972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4210304"/>
            <a:ext cx="256032" cy="256032"/>
          </a:xfrm>
          <a:prstGeom prst="rect">
            <a:avLst/>
          </a:prstGeom>
        </p:spPr>
      </p:pic>
      <p:sp>
        <p:nvSpPr>
          <p:cNvPr id="17" name="Text 12"/>
          <p:cNvSpPr txBox="1"/>
          <p:nvPr/>
        </p:nvSpPr>
        <p:spPr>
          <a:xfrm>
            <a:off x="4882896"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69493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795520"/>
            <a:ext cx="256032" cy="256032"/>
          </a:xfrm>
          <a:prstGeom prst="rect">
            <a:avLst/>
          </a:prstGeom>
        </p:spPr>
      </p:pic>
      <p:sp>
        <p:nvSpPr>
          <p:cNvPr id="20" name="Text 14"/>
          <p:cNvSpPr txBox="1"/>
          <p:nvPr/>
        </p:nvSpPr>
        <p:spPr>
          <a:xfrm>
            <a:off x="1051560"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69493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795520"/>
            <a:ext cx="256032" cy="256032"/>
          </a:xfrm>
          <a:prstGeom prst="rect">
            <a:avLst/>
          </a:prstGeom>
        </p:spPr>
      </p:pic>
      <p:sp>
        <p:nvSpPr>
          <p:cNvPr id="23" name="Text 16"/>
          <p:cNvSpPr txBox="1"/>
          <p:nvPr/>
        </p:nvSpPr>
        <p:spPr>
          <a:xfrm>
            <a:off x="4882896"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4" name="Shape 17"/>
          <p:cNvSpPr/>
          <p:nvPr/>
        </p:nvSpPr>
        <p:spPr>
          <a:xfrm>
            <a:off x="548640" y="528015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380736"/>
            <a:ext cx="256032" cy="256032"/>
          </a:xfrm>
          <a:prstGeom prst="rect">
            <a:avLst/>
          </a:prstGeom>
        </p:spPr>
      </p:pic>
      <p:sp>
        <p:nvSpPr>
          <p:cNvPr id="26" name="Text 18"/>
          <p:cNvSpPr txBox="1"/>
          <p:nvPr/>
        </p:nvSpPr>
        <p:spPr>
          <a:xfrm>
            <a:off x="1051560"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7" name="Shape 19"/>
          <p:cNvSpPr/>
          <p:nvPr/>
        </p:nvSpPr>
        <p:spPr>
          <a:xfrm>
            <a:off x="4379976" y="5280152"/>
            <a:ext cx="3666744" cy="457200"/>
          </a:xfrm>
          <a:prstGeom prst="roundRect">
            <a:avLst>
              <a:gd name="adj" fmla="val 100000"/>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4526280" y="5380736"/>
            <a:ext cx="256032" cy="256032"/>
          </a:xfrm>
          <a:prstGeom prst="rect">
            <a:avLst/>
          </a:prstGeom>
        </p:spPr>
      </p:pic>
      <p:sp>
        <p:nvSpPr>
          <p:cNvPr id="29" name="Text 20"/>
          <p:cNvSpPr txBox="1"/>
          <p:nvPr/>
        </p:nvSpPr>
        <p:spPr>
          <a:xfrm>
            <a:off x="4882896"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30" name="Shape 21"/>
          <p:cNvSpPr/>
          <p:nvPr/>
        </p:nvSpPr>
        <p:spPr>
          <a:xfrm>
            <a:off x="8503920" y="1280160"/>
            <a:ext cx="2880360" cy="2880360"/>
          </a:xfrm>
          <a:prstGeom prst="roundRect">
            <a:avLst>
              <a:gd name="adj" fmla="val 1411"/>
            </a:avLst>
          </a:prstGeom>
          <a:solidFill>
            <a:srgbClr val="FFFFFF"/>
          </a:solidFill>
          <a:ln/>
        </p:spPr>
      </p:sp>
      <p:pic>
        <p:nvPicPr>
          <p:cNvPr id="31"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2" name="Text 22"/>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3" name="Text 23"/>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github.com/antonprafanto/PBO2026/tree/master/Pertemuan-12-Koleksi-dan-Generics</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12: Koleksi dan Generics</dc:title>
  <dc:subject>Pemrograman Berorientasi Objek 2026</dc:subject>
  <dc:creator>PBO 2026 UNMUL</dc:creator>
  <cp:lastModifiedBy>PBO 2026 UNMUL</cp:lastModifiedBy>
  <cp:revision>1</cp:revision>
  <dcterms:created xsi:type="dcterms:W3CDTF">2026-10-15T02:18:34Z</dcterms:created>
  <dcterms:modified xsi:type="dcterms:W3CDTF">2026-10-15T02:18:34Z</dcterms:modified>
</cp:coreProperties>
</file>