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0532c37f-b0cf-b929-369c-522c3ac0d44c}">
          <p14:sldIdLst>
            <p14:sldId id="256"/>
            <p14:sldId id="257"/>
            <p14:sldId id="258"/>
            <p14:sldId id="259"/>
          </p14:sldIdLst>
        </p14:section>
        <p14:section name="Peta Sebelum Membangun" id="{62d7a9c8-c1de-4385-bb54-12e255a0d6e5}">
          <p14:sldIdLst>
            <p14:sldId id="260"/>
            <p14:sldId id="261"/>
            <p14:sldId id="262"/>
          </p14:sldIdLst>
        </p14:section>
        <p14:section name="Anatomi Kotak Kelas" id="{aadea24e-e1b3-5e34-51ba-53e2aa469d4a}">
          <p14:sldIdLst>
            <p14:sldId id="263"/>
            <p14:sldId id="264"/>
            <p14:sldId id="265"/>
            <p14:sldId id="266"/>
            <p14:sldId id="267"/>
          </p14:sldIdLst>
        </p14:section>
        <p14:section name="Garis Relasi dan Multiplisitas" id="{42fcd551-c0db-c9e3-6476-387d5fde12f7}">
          <p14:sldIdLst>
            <p14:sldId id="268"/>
            <p14:sldId id="269"/>
            <p14:sldId id="270"/>
            <p14:sldId id="271"/>
            <p14:sldId id="272"/>
          </p14:sldIdLst>
        </p14:section>
        <p14:section name="Mermaid serta Forward dan Reverse Engineering" id="{e486e514-b4ea-5617-e088-46224274fbed}">
          <p14:sldIdLst>
            <p14:sldId id="273"/>
            <p14:sldId id="274"/>
            <p14:sldId id="275"/>
            <p14:sldId id="276"/>
          </p14:sldIdLst>
        </p14:section>
        <p14:section name="Studi Kasus KedaiKita" id="{7bcc7dd3-a63c-bb33-da52-79baec806f6b}">
          <p14:sldIdLst>
            <p14:sldId id="277"/>
            <p14:sldId id="278"/>
            <p14:sldId id="279"/>
            <p14:sldId id="280"/>
          </p14:sldIdLst>
        </p14:section>
        <p14:section name="Cek Pemahaman" id="{7ece7fdf-b0af-67f1-427c-2e88369ea252}">
          <p14:sldIdLst>
            <p14:sldId id="281"/>
            <p14:sldId id="282"/>
            <p14:sldId id="283"/>
            <p14:sldId id="284"/>
            <p14:sldId id="285"/>
          </p14:sldIdLst>
        </p14:section>
        <p14:section name="Penutup" id="{fb270aa5-e901-1fc5-1357-00e12f629533}">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di Pertemuan 06. KedaiKita kini terdiri atas lima kelas utama yang tersebar di beberapa </a:t>
            </a:r>
            <a:r>
              <a:rPr lang="id-ID" dirty="0" i="1"/>
              <a:t>file</a:t>
            </a:r>
            <a:r>
              <a:rPr lang="id-ID" dirty="0"/>
              <a:t>. Hari ini kita belajar diagram kelas UML, bahasa gambar standar untuk memetakan semua kelas beserta hubungannya. Dengan diagram ini, kamu bisa memahami program besar dalam sekali lihat, dan merancang program sebelum menulis satu baris kode pun. Semua materi, kode, latihan, dan kuis pertemuan ini ada di folder Pertemuan-06-UML-Class-Diagram di repositori GitHub mata kuliah.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enam kemampuan yang kita kejar hari ini. Pertemuan ini banyak berisi gambar, dan setiap gambar selalu kita cocokkan dengan kode Python dan Java. Di akhir pertemuan, cek lagi: bisakah kamu membaca diagram kelas KedaiKita dan menjelaskan arti setiap kotak dan garisnya? Urutan belajarnya sama seperti biasa: konsep di </a:t>
            </a:r>
            <a:r>
              <a:rPr lang="id-ID" dirty="0" i="1"/>
              <a:t>slide</a:t>
            </a:r>
            <a:r>
              <a:rPr lang="id-ID" dirty="0"/>
              <a:t> ini, praktik di halaman Python atau Java, halaman Jembatan Python ↔ Java, latihan, lalu kuis.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Pertemuan 05 kita belajar bahwa objek-objek saling terhubung, dari yang paling longgar sampai yang paling erat, dan kita juga belajar menghitung berapa banyak objek yang terhubung. KedaiKita pun dipecah menjadi beberapa </a:t>
            </a:r>
            <a:r>
              <a:rPr lang="id-ID" dirty="0" i="1"/>
              <a:t>file</a:t>
            </a:r>
            <a:r>
              <a:rPr lang="id-ID" dirty="0"/>
              <a:t> berisi kelas </a:t>
            </a:r>
            <a:r>
              <a:rPr lang="en-US" dirty="0">
                <a:latin typeface="Consolas"/>
              </a:rPr>
              <a:t>Menu</a:t>
            </a:r>
            <a:r>
              <a:rPr lang="id-ID" dirty="0"/>
              <a:t>, </a:t>
            </a:r>
            <a:r>
              <a:rPr lang="en-US" dirty="0">
                <a:latin typeface="Consolas"/>
              </a:rPr>
              <a:t>Pelanggan</a:t>
            </a:r>
            <a:r>
              <a:rPr lang="id-ID" dirty="0"/>
              <a:t>, </a:t>
            </a:r>
            <a:r>
              <a:rPr lang="en-US" dirty="0">
                <a:latin typeface="Consolas"/>
              </a:rPr>
              <a:t>ItemPesanan</a:t>
            </a:r>
            <a:r>
              <a:rPr lang="id-ID" dirty="0"/>
              <a:t>, </a:t>
            </a:r>
            <a:r>
              <a:rPr lang="en-US" dirty="0">
                <a:latin typeface="Consolas"/>
              </a:rPr>
              <a:t>Pesanan</a:t>
            </a:r>
            <a:r>
              <a:rPr lang="id-ID" dirty="0"/>
              <a:t>, dan </a:t>
            </a:r>
            <a:r>
              <a:rPr lang="en-US" dirty="0">
                <a:latin typeface="Consolas"/>
              </a:rPr>
              <a:t>Kedai</a:t>
            </a:r>
            <a:r>
              <a:rPr lang="id-ID" dirty="0"/>
              <a:t>, lalu dirangkai oleh program utama. Hari ini kita belajar cara menggambar semua hubungan itu dengan notasi standar yang dipahami pemrogram di seluruh dunia.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alasan pemrogram butuh peta, lalu membedah isi sebuah kotak kelas. Setelah itu kita mempelajari enam jenis garis relasi beserta angka multiplisitasnya. Kita juga belajar menulis diagram dengan Mermaid, serta berpindah dari diagram ke kode dan sebaliknya. Di akhir, kita menggambar diagram kelas KedaiKita dan merencanakan perubahan untuk Pertemuan 07.</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mulai dengan cerita tentang Dimas, anggota baru tim KedaiKita, yang kebingungan saat membuka banyak </a:t>
            </a:r>
            <a:r>
              <a:rPr lang="id-ID" dirty="0" i="1"/>
              <a:t>file</a:t>
            </a:r>
            <a:r>
              <a:rPr lang="id-ID" dirty="0"/>
              <a:t> sekaligus.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Dimas baru bergabung dengan tim yang mengembangkan KedaiKita. Ia membuka folder studi kasus dan menemukan banyak </a:t>
            </a:r>
            <a:r>
              <a:rPr lang="id-ID" dirty="0" i="1"/>
              <a:t>file</a:t>
            </a:r>
            <a:r>
              <a:rPr lang="id-ID" dirty="0"/>
              <a:t>. Untuk menjawab pertanyaannya, ia harus membaca ratusan baris kode satu per satu. Melelahkan, bukan? Saat pertama kali datang ke Samarinda, kamu tidak menyusuri setiap jalan; kamu membuka peta. Peta tidak menampilkan setiap batu di jalan, tetapi cukup untuk memahami letak setiap tempat dan cara menuju ke sana. Pemrogram juga punya peta, yaitu diagram kelas. Diagram juga berguna sebelum kode ditulis: menghapus satu garis di diagram jauh lebih mudah daripada merombak lima </a:t>
            </a:r>
            <a:r>
              <a:rPr lang="id-ID" dirty="0" i="1"/>
              <a:t>file</a:t>
            </a:r>
            <a:r>
              <a:rPr lang="id-ID" dirty="0"/>
              <a:t> kode.</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Perhatikan dua hal. Pertama, bahasa di sini bukan bahasa pemrograman; UML adalah kumpulan simbol dengan arti yang disepakati bersama. Kedua, karena standar, diagram buatanmu bisa dibaca pemrogram mana pun, apa pun bahasa pemrogramannya. UML 2 mendefinisikan 14 jenis diagram yang terbagi menjadi dua kelompok: diagram struktur, yaitu gambaran statis seperti denah, dan diagram perilaku, yaitu gambaran saat berjalan seperti video. Contoh diagram perilaku adalah </a:t>
            </a:r>
            <a:r>
              <a:rPr lang="id-ID" dirty="0" i="1"/>
              <a:t>use case diagram</a:t>
            </a:r>
            <a:r>
              <a:rPr lang="id-ID" dirty="0"/>
              <a:t>, </a:t>
            </a:r>
            <a:r>
              <a:rPr lang="id-ID" dirty="0" i="1"/>
              <a:t>activity diagram</a:t>
            </a:r>
            <a:r>
              <a:rPr lang="id-ID" dirty="0"/>
              <a:t>, dan </a:t>
            </a:r>
            <a:r>
              <a:rPr lang="id-ID" dirty="0" i="1"/>
              <a:t>sequence diagram</a:t>
            </a:r>
            <a:r>
              <a:rPr lang="id-ID" dirty="0"/>
              <a:t>. Kamu tidak perlu menghafal semuanya. Di mata kuliah ini kita fokus pada diagram kelas karena berpadanan langsung dengan kode.</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Pertemuan 02 kamu sudah mengenal kotak tiga bagian: nama kelas, atribut, dan </a:t>
            </a:r>
            <a:r>
              <a:rPr lang="id-ID" dirty="0" i="1"/>
              <a:t>method</a:t>
            </a:r>
            <a:r>
              <a:rPr lang="id-ID" dirty="0"/>
              <a:t>. Sekarang kita lengkapi dengan visibilitas dan tipe.</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kelas </a:t>
            </a:r>
            <a:r>
              <a:rPr lang="en-US" dirty="0">
                <a:latin typeface="Consolas"/>
              </a:rPr>
              <a:t>Paket</a:t>
            </a:r>
            <a:r>
              <a:rPr lang="id-ID" dirty="0"/>
              <a:t> milik sebuah jasa ekspedisi. Setiap baris mengikuti pola tetap. Atribut ditulis dengan visibilitas, nama, titik dua, tipe, lalu nilai awal jika ada. </a:t>
            </a:r>
            <a:r>
              <a:rPr lang="id-ID" dirty="0" i="1"/>
              <a:t>Method</a:t>
            </a:r>
            <a:r>
              <a:rPr lang="id-ID" dirty="0"/>
              <a:t> ditulis dengan visibilitas, nama, parameter beserta tipenya, lalu tipe kembalian. Perhatikan </a:t>
            </a:r>
            <a:r>
              <a:rPr lang="en-US" dirty="0">
                <a:latin typeface="Consolas"/>
              </a:rPr>
              <a:t>TARIF_PER_KG</a:t>
            </a:r>
            <a:r>
              <a:rPr lang="id-ID" dirty="0"/>
              <a:t> dan </a:t>
            </a:r>
            <a:r>
              <a:rPr lang="en-US" dirty="0">
                <a:latin typeface="Consolas"/>
              </a:rPr>
              <a:t>penghitung</a:t>
            </a:r>
            <a:r>
              <a:rPr lang="id-ID" dirty="0"/>
              <a:t> yang bergaris bawah: keduanya milik kelas, bukan milik objek. Konstruktor </a:t>
            </a:r>
            <a:r>
              <a:rPr lang="en-US" dirty="0">
                <a:latin typeface="Consolas"/>
              </a:rPr>
              <a:t>Paket(...)</a:t>
            </a:r>
            <a:r>
              <a:rPr lang="id-ID" dirty="0"/>
              <a:t> ditulis dengan nama kelas dan tanpa tipe kembalian. Diagram di halaman konsep memakai kebiasaan umum UML: nama </a:t>
            </a:r>
            <a:r>
              <a:rPr lang="id-ID" dirty="0" i="1"/>
              <a:t>camelCase</a:t>
            </a:r>
            <a:r>
              <a:rPr lang="id-ID" dirty="0"/>
              <a:t> dan tipe </a:t>
            </a:r>
            <a:r>
              <a:rPr lang="en-US" dirty="0">
                <a:latin typeface="Consolas"/>
              </a:rPr>
              <a:t>String</a:t>
            </a:r>
            <a:r>
              <a:rPr lang="id-ID" dirty="0"/>
              <a:t>, </a:t>
            </a:r>
            <a:r>
              <a:rPr lang="en-US" dirty="0">
                <a:latin typeface="Consolas"/>
              </a:rPr>
              <a:t>int</a:t>
            </a:r>
            <a:r>
              <a:rPr lang="id-ID" dirty="0"/>
              <a:t>, </a:t>
            </a:r>
            <a:r>
              <a:rPr lang="en-US" dirty="0">
                <a:latin typeface="Consolas"/>
              </a:rPr>
              <a:t>boolean</a:t>
            </a:r>
            <a:r>
              <a:rPr lang="id-ID" dirty="0"/>
              <a:t>. Saat diterjemahkan ke Python, nama ditulis </a:t>
            </a:r>
            <a:r>
              <a:rPr lang="id-ID" dirty="0" i="1"/>
              <a:t>snake_case</a:t>
            </a:r>
            <a:r>
              <a:rPr lang="id-ID" dirty="0"/>
              <a:t> dan tipenya </a:t>
            </a:r>
            <a:r>
              <a:rPr lang="en-US" dirty="0">
                <a:latin typeface="Consolas"/>
              </a:rPr>
              <a:t>str</a:t>
            </a:r>
            <a:r>
              <a:rPr lang="id-ID" dirty="0"/>
              <a:t>, </a:t>
            </a:r>
            <a:r>
              <a:rPr lang="en-US" dirty="0">
                <a:latin typeface="Consolas"/>
              </a:rPr>
              <a:t>int</a:t>
            </a:r>
            <a:r>
              <a:rPr lang="id-ID" dirty="0"/>
              <a:t>, </a:t>
            </a:r>
            <a:r>
              <a:rPr lang="en-US" dirty="0">
                <a:latin typeface="Consolas"/>
              </a:rPr>
              <a:t>bool</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Tabel ini membantu membaca setiap baris. Ada beberapa aturan tambahan. </a:t>
            </a:r>
            <a:r>
              <a:rPr lang="id-ID" dirty="0" i="1"/>
              <a:t>Method</a:t>
            </a:r>
            <a:r>
              <a:rPr lang="id-ID" dirty="0"/>
              <a:t> yang tidak mengembalikan apa pun cukup ditulis tanpa tipe kembalian, misalnya </a:t>
            </a:r>
            <a:r>
              <a:rPr lang="en-US" dirty="0">
                <a:latin typeface="Consolas"/>
              </a:rPr>
              <a:t>+cetakStruk()</a:t>
            </a:r>
            <a:r>
              <a:rPr lang="id-ID" dirty="0"/>
              <a:t>. Anggota </a:t>
            </a:r>
            <a:r>
              <a:rPr lang="id-ID" dirty="0" i="1"/>
              <a:t>static</a:t>
            </a:r>
            <a:r>
              <a:rPr lang="id-ID" dirty="0"/>
              <a:t> digambar bergaris bawah, sedangkan anggota abstrak digambar miring; kelas abstrak dibahas di Pertemuan 10. Penanda di atas nama kelas, seperti </a:t>
            </a:r>
            <a:r>
              <a:rPr lang="en-US" dirty="0">
                <a:latin typeface="Consolas"/>
              </a:rPr>
              <a:t>&lt;&lt;interface&gt;&gt;</a:t>
            </a:r>
            <a:r>
              <a:rPr lang="id-ID" dirty="0"/>
              <a:t> atau </a:t>
            </a:r>
            <a:r>
              <a:rPr lang="en-US" dirty="0">
                <a:latin typeface="Consolas"/>
              </a:rPr>
              <a:t>&lt;&lt;utility&gt;&gt;</a:t>
            </a:r>
            <a:r>
              <a:rPr lang="id-ID" dirty="0"/>
              <a:t>, disebut stereotip. Diagram juga boleh disederhanakan sesuai tujuannya. Untuk diskusi awal, nama kelas dan garis relasi saja sudah cukup. Untuk rancangan yang siap dikodekan, tulis atribut, </a:t>
            </a:r>
            <a:r>
              <a:rPr lang="id-ID" dirty="0" i="1"/>
              <a:t>method</a:t>
            </a:r>
            <a:r>
              <a:rPr lang="id-ID" dirty="0"/>
              <a:t> penting, tipe, visibilitas, relasi, dan multiplisitas.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sebuah rumah di kompleks perumahan. Teras boleh disinggahi siapa saja. Kamar tidur hanya untuk pemiliknya. Ruang keluarga terbuka untuk anggota keluarga. Taman kompleks boleh dipakai semua warga kompleks itu. Begitulah empat simbol visibilitas. Di Java, </a:t>
            </a:r>
            <a:r>
              <a:rPr lang="en-US" dirty="0">
                <a:latin typeface="Consolas"/>
              </a:rPr>
              <a:t>private</a:t>
            </a:r>
            <a:r>
              <a:rPr lang="id-ID" dirty="0"/>
              <a:t> benar-benar dijaga oleh </a:t>
            </a:r>
            <a:r>
              <a:rPr lang="id-ID" dirty="0" i="1"/>
              <a:t>compiler</a:t>
            </a:r>
            <a:r>
              <a:rPr lang="id-ID" dirty="0"/>
              <a:t>. Di Python, tanda </a:t>
            </a:r>
            <a:r>
              <a:rPr lang="en-US" dirty="0">
                <a:latin typeface="Consolas"/>
              </a:rPr>
              <a:t>-</a:t>
            </a:r>
            <a:r>
              <a:rPr lang="id-ID" dirty="0"/>
              <a:t> dan </a:t>
            </a:r>
            <a:r>
              <a:rPr lang="en-US" dirty="0">
                <a:latin typeface="Consolas"/>
              </a:rPr>
              <a:t>#</a:t>
            </a:r>
            <a:r>
              <a:rPr lang="id-ID" dirty="0"/>
              <a:t> sama-sama ditulis dengan awalan </a:t>
            </a:r>
            <a:r>
              <a:rPr lang="en-US" dirty="0">
                <a:latin typeface="Consolas"/>
              </a:rPr>
              <a:t>_</a:t>
            </a:r>
            <a:r>
              <a:rPr lang="id-ID" dirty="0"/>
              <a:t> karena Python mengandalkan kesepakatan. Diagram tetap memakai simbol yang tepat agar maksud perancangnya jelas. Jika diagrammu penuh atribut bertanda </a:t>
            </a:r>
            <a:r>
              <a:rPr lang="en-US" dirty="0">
                <a:latin typeface="Consolas"/>
              </a:rPr>
              <a:t>+</a:t>
            </a:r>
            <a:r>
              <a:rPr lang="id-ID" dirty="0"/>
              <a:t>, periksa lagi enkapsulasinya.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wujud kode kotak </a:t>
            </a:r>
            <a:r>
              <a:rPr lang="en-US" dirty="0">
                <a:latin typeface="Consolas"/>
              </a:rPr>
              <a:t>Paket</a:t>
            </a:r>
            <a:r>
              <a:rPr lang="id-ID" dirty="0"/>
              <a:t>. Di Python, </a:t>
            </a:r>
            <a:r>
              <a:rPr lang="en-US" dirty="0">
                <a:latin typeface="Consolas"/>
              </a:rPr>
              <a:t>TARIF_PER_KG</a:t>
            </a:r>
            <a:r>
              <a:rPr lang="id-ID" dirty="0"/>
              <a:t> dan </a:t>
            </a:r>
            <a:r>
              <a:rPr lang="en-US" dirty="0">
                <a:latin typeface="Consolas"/>
              </a:rPr>
              <a:t>_penghitung</a:t>
            </a:r>
            <a:r>
              <a:rPr lang="id-ID" dirty="0"/>
              <a:t> ditulis langsung di badan kelas sehingga menjadi milik kelas. Di Java, keduanya ditandai </a:t>
            </a:r>
            <a:r>
              <a:rPr lang="en-US" dirty="0">
                <a:latin typeface="Consolas"/>
              </a:rPr>
              <a:t>static</a:t>
            </a:r>
            <a:r>
              <a:rPr lang="id-ID" dirty="0"/>
              <a:t>, dan </a:t>
            </a:r>
            <a:r>
              <a:rPr lang="en-US" dirty="0">
                <a:latin typeface="Consolas"/>
              </a:rPr>
              <a:t>TARIF_PER_KG</a:t>
            </a:r>
            <a:r>
              <a:rPr lang="id-ID" dirty="0"/>
              <a:t> diberi </a:t>
            </a:r>
            <a:r>
              <a:rPr lang="en-US" dirty="0">
                <a:latin typeface="Consolas"/>
              </a:rPr>
              <a:t>final</a:t>
            </a:r>
            <a:r>
              <a:rPr lang="id-ID" dirty="0"/>
              <a:t> sehingga menjadi konstanta. Konstruktor digambar sebagai </a:t>
            </a:r>
            <a:r>
              <a:rPr lang="en-US" dirty="0">
                <a:latin typeface="Consolas"/>
              </a:rPr>
              <a:t>+Paket(...)</a:t>
            </a:r>
            <a:r>
              <a:rPr lang="id-ID" dirty="0"/>
              <a:t>; parameter </a:t>
            </a:r>
            <a:r>
              <a:rPr lang="en-US" dirty="0">
                <a:latin typeface="Consolas"/>
              </a:rPr>
              <a:t>self</a:t>
            </a:r>
            <a:r>
              <a:rPr lang="id-ID" dirty="0"/>
              <a:t> tidak pernah ditulis di diagram. </a:t>
            </a:r>
            <a:r>
              <a:rPr lang="id-ID" dirty="0" i="1"/>
              <a:t>Method</a:t>
            </a:r>
            <a:r>
              <a:rPr lang="id-ID" dirty="0"/>
              <a:t> berawalan </a:t>
            </a:r>
            <a:r>
              <a:rPr lang="en-US" dirty="0">
                <a:latin typeface="Consolas"/>
              </a:rPr>
              <a:t>_</a:t>
            </a:r>
            <a:r>
              <a:rPr lang="id-ID" dirty="0"/>
              <a:t> di Python, atau </a:t>
            </a:r>
            <a:r>
              <a:rPr lang="en-US" dirty="0">
                <a:latin typeface="Consolas"/>
              </a:rPr>
              <a:t>private</a:t>
            </a:r>
            <a:r>
              <a:rPr lang="id-ID" dirty="0"/>
              <a:t> di Java, menjadi baris bertanda </a:t>
            </a:r>
            <a:r>
              <a:rPr lang="en-US" dirty="0">
                <a:latin typeface="Consolas"/>
              </a:rPr>
              <a:t>-</a:t>
            </a:r>
            <a:r>
              <a:rPr lang="id-ID" dirty="0"/>
              <a:t>. </a:t>
            </a:r>
            <a:r>
              <a:rPr lang="en-US" dirty="0">
                <a:latin typeface="Consolas"/>
              </a:rPr>
              <a:t>@classmethod</a:t>
            </a:r>
            <a:r>
              <a:rPr lang="id-ID" dirty="0"/>
              <a:t> di Python dan </a:t>
            </a:r>
            <a:r>
              <a:rPr lang="id-ID" dirty="0" i="1"/>
              <a:t>method</a:t>
            </a:r>
            <a:r>
              <a:rPr lang="id-ID" dirty="0"/>
              <a:t> </a:t>
            </a:r>
            <a:r>
              <a:rPr lang="en-US" dirty="0">
                <a:latin typeface="Consolas"/>
              </a:rPr>
              <a:t>static</a:t>
            </a:r>
            <a:r>
              <a:rPr lang="id-ID" dirty="0"/>
              <a:t> di Java sama-sama digambar bergaris bawah. Di diagram versi Python, </a:t>
            </a:r>
            <a:r>
              <a:rPr lang="id-ID" dirty="0" i="1"/>
              <a:t>property</a:t>
            </a:r>
            <a:r>
              <a:rPr lang="id-ID" dirty="0"/>
              <a:t> </a:t>
            </a:r>
            <a:r>
              <a:rPr lang="en-US" dirty="0">
                <a:latin typeface="Consolas"/>
              </a:rPr>
              <a:t>resi</a:t>
            </a:r>
            <a:r>
              <a:rPr lang="id-ID" dirty="0"/>
              <a:t> ditulis di bagian atribut sebagai </a:t>
            </a:r>
            <a:r>
              <a:rPr lang="en-US" dirty="0">
                <a:latin typeface="Consolas"/>
              </a:rPr>
              <a:t>+resi : str</a:t>
            </a:r>
            <a:r>
              <a:rPr lang="id-ID" dirty="0"/>
              <a:t>, sedangkan </a:t>
            </a:r>
            <a:r>
              <a:rPr lang="id-ID" dirty="0" i="1"/>
              <a:t>getter</a:t>
            </a:r>
            <a:r>
              <a:rPr lang="id-ID" dirty="0"/>
              <a:t> Java </a:t>
            </a:r>
            <a:r>
              <a:rPr lang="en-US" dirty="0">
                <a:latin typeface="Consolas"/>
              </a:rPr>
              <a:t>getResi()</a:t>
            </a:r>
            <a:r>
              <a:rPr lang="id-ID" dirty="0"/>
              <a:t> masuk bagian </a:t>
            </a:r>
            <a:r>
              <a:rPr lang="id-ID" dirty="0" i="1"/>
              <a:t>method</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Kotak menjelaskan isi kelas, sedangkan garis menjelaskan hubungan antarkelas. Ada enam jenis garis yang paling sering dipakai, ditambah angka multiplisitas di ujung-ujungnya.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Gambar ini merangkum enam garis dalam notasi UML resmi, lengkap dengan sintaks Mermaid-nya. Asosiasi digambar dengan garis penuh berpanah terbuka. Agregasi memakai belah ketupat kosong di sisi keseluruhan, sedangkan komposisi memakai belah ketupat penuh. Dependensi adalah garis putus-putus berpanah. Generalisasi memakai segitiga kosong yang menunjuk ke induk, dan realisasi adalah garis putus-putus dengan segitiga kosong yang menunjuk ke </a:t>
            </a:r>
            <a:r>
              <a:rPr lang="id-ID" dirty="0" i="1"/>
              <a:t>interface</a:t>
            </a:r>
            <a:r>
              <a:rPr lang="id-ID" dirty="0"/>
              <a:t>. Generalisasi dibahas tuntas di Pertemuan 07 dan realisasi di Pertemuan 10. Satu catatan: Mermaid menggambar ujung panah asosiasi dan dependensi sebagai kepala panah kecil yang terisi, tetapi artinya tetap sama.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Motor memakai SPBU saat mengisi bensin, tetapi tidak membawa SPBU ke mana-mana. Di kode, objek </a:t>
            </a:r>
            <a:r>
              <a:rPr lang="en-US" dirty="0">
                <a:latin typeface="Consolas"/>
              </a:rPr>
              <a:t>SPBU</a:t>
            </a:r>
            <a:r>
              <a:rPr lang="id-ID" dirty="0"/>
              <a:t> masuk lewat parameter </a:t>
            </a:r>
            <a:r>
              <a:rPr lang="en-US" dirty="0">
                <a:latin typeface="Consolas"/>
              </a:rPr>
              <a:t>isi_bensin()</a:t>
            </a:r>
            <a:r>
              <a:rPr lang="id-ID" dirty="0"/>
              <a:t>, dipakai untuk membaca harga per liter, lalu dilepas begitu </a:t>
            </a:r>
            <a:r>
              <a:rPr lang="id-ID" dirty="0" i="1"/>
              <a:t>method</a:t>
            </a:r>
            <a:r>
              <a:rPr lang="id-ID" dirty="0"/>
              <a:t> selesai. Tidak ada </a:t>
            </a:r>
            <a:r>
              <a:rPr lang="en-US" dirty="0">
                <a:latin typeface="Consolas"/>
              </a:rPr>
              <a:t>self._spbu = spbu</a:t>
            </a:r>
            <a:r>
              <a:rPr lang="id-ID" dirty="0"/>
              <a:t> dan tidak ada </a:t>
            </a:r>
            <a:r>
              <a:rPr lang="id-ID" dirty="0" i="1"/>
              <a:t>field</a:t>
            </a:r>
            <a:r>
              <a:rPr lang="id-ID" dirty="0"/>
              <a:t> bertipe </a:t>
            </a:r>
            <a:r>
              <a:rPr lang="en-US" dirty="0">
                <a:latin typeface="Consolas"/>
              </a:rPr>
              <a:t>SPBU</a:t>
            </a:r>
            <a:r>
              <a:rPr lang="id-ID" dirty="0"/>
              <a:t>. Karena itu relasinya dependensi, digambar dengan garis putus-putus. Tes paling cepat untuk membedakan asosiasi dan dependensi: apakah objeknya disimpan di atribut atau </a:t>
            </a:r>
            <a:r>
              <a:rPr lang="id-ID" dirty="0" i="1"/>
              <a:t>field</a:t>
            </a:r>
            <a:r>
              <a:rPr lang="id-ID" dirty="0"/>
              <a:t>? Jika ya, asosiasi, agregasi, atau komposisi. Jika hanya parameter atau variabel lokal, dependensi. Setiap kali mengisi bensin, motor boleh memakai SPBU yang berbeda.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Multiplisitas ditulis di ujung garis dan menjawab pertanyaan: satu objek di ujung sini terhubung dengan berapa banyak objek di ujung sana? Tanda </a:t>
            </a:r>
            <a:r>
              <a:rPr lang="en-US" dirty="0">
                <a:latin typeface="Consolas"/>
              </a:rPr>
              <a:t>*</a:t>
            </a:r>
            <a:r>
              <a:rPr lang="id-ID" dirty="0"/>
              <a:t> sama dengan </a:t>
            </a:r>
            <a:r>
              <a:rPr lang="en-US" dirty="0">
                <a:latin typeface="Consolas"/>
              </a:rPr>
              <a:t>0..*</a:t>
            </a:r>
            <a:r>
              <a:rPr lang="id-ID" dirty="0"/>
              <a:t>, dan </a:t>
            </a:r>
            <a:r>
              <a:rPr lang="en-US" dirty="0">
                <a:latin typeface="Consolas"/>
              </a:rPr>
              <a:t>2..4</a:t>
            </a:r>
            <a:r>
              <a:rPr lang="id-ID" dirty="0"/>
              <a:t> berarti dua sampai empat. Kuncinya, angka yang dipakai selalu yang berada di ujung seberang. Dibaca dari kiri, setiap pesanan terhubung dengan satu pelanggan. Dibaca dari kanan, setiap pelanggan terhubung dengan banyak pesanan. Multiplisitas berlaku di kedua ujung walaupun panahnya satu arah; panah satu arah hanya berarti pelanggan tidak menyimpan daftar pesanannya. Kolom paling kanan menunjukkan wujudnya di kode.</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Aplikasi ojek daring: setiap pesanan wajib punya penumpang, sedangkan pengemudinya baru ditetapkan setelah ditemukan. Di diagram, ini ditulis </a:t>
            </a:r>
            <a:r>
              <a:rPr lang="en-US" dirty="0">
                <a:latin typeface="Consolas"/>
              </a:rPr>
              <a:t>PesananOjek "*" --&gt; "1" Penumpang</a:t>
            </a:r>
            <a:r>
              <a:rPr lang="id-ID" dirty="0"/>
              <a:t> dan </a:t>
            </a:r>
            <a:r>
              <a:rPr lang="en-US" dirty="0">
                <a:latin typeface="Consolas"/>
              </a:rPr>
              <a:t>PesananOjek "*" --&gt; "0..1" Pengemudi</a:t>
            </a:r>
            <a:r>
              <a:rPr lang="id-ID" dirty="0"/>
              <a:t>. Multiplisitas </a:t>
            </a:r>
            <a:r>
              <a:rPr lang="en-US" dirty="0">
                <a:latin typeface="Consolas"/>
              </a:rPr>
              <a:t>1</a:t>
            </a:r>
            <a:r>
              <a:rPr lang="id-ID" dirty="0"/>
              <a:t> paling aman dijamin dengan meminta objek penumpang di konstruktor. Multiplisitas </a:t>
            </a:r>
            <a:r>
              <a:rPr lang="en-US" dirty="0">
                <a:latin typeface="Consolas"/>
              </a:rPr>
              <a:t>0..1</a:t>
            </a:r>
            <a:r>
              <a:rPr lang="id-ID" dirty="0"/>
              <a:t> berarti atribut dimulai dengan </a:t>
            </a:r>
            <a:r>
              <a:rPr lang="en-US" dirty="0">
                <a:latin typeface="Consolas"/>
              </a:rPr>
              <a:t>None</a:t>
            </a:r>
            <a:r>
              <a:rPr lang="id-ID" dirty="0"/>
              <a:t> atau </a:t>
            </a:r>
            <a:r>
              <a:rPr lang="en-US" dirty="0">
                <a:latin typeface="Consolas"/>
              </a:rPr>
              <a:t>null</a:t>
            </a:r>
            <a:r>
              <a:rPr lang="id-ID" dirty="0"/>
              <a:t>, dan setiap kode yang memakainya wajib memeriksa dulu. Label setelah titik dua, misalnya </a:t>
            </a:r>
            <a:r>
              <a:rPr lang="en-US" dirty="0">
                <a:latin typeface="Consolas"/>
              </a:rPr>
              <a:t>_penumpang</a:t>
            </a:r>
            <a:r>
              <a:rPr lang="id-ID" dirty="0"/>
              <a:t>, adalah nama peran: biasanya sama dengan nama atribut yang menyimpan referensinya. Arah panahnya satu: pesanan tahu penumpangnya, tetapi </a:t>
            </a:r>
            <a:r>
              <a:rPr lang="en-US" dirty="0">
                <a:latin typeface="Consolas"/>
              </a:rPr>
              <a:t>Penumpang</a:t>
            </a:r>
            <a:r>
              <a:rPr lang="id-ID" dirty="0"/>
              <a:t> tidak punya atribut apa pun tentang pesanan.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Sekarang kita belajar menulis diagram sendiri dengan Mermaid, lalu memakai diagram dalam dua arah: dari diagram ke kode, dan dari kode ke diagram.</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Mermaid mengubah teks menjadi diagram, dan GitHub otomatis menampilkan blok kode berlabel mermaid sebagai gambar. Diagram berupa teks sehingga mudah diedit, disimpan bersama kode, dan setiap perubahannya tercatat di riwayat Git. Perhatikan bahwa tipe kembalian </a:t>
            </a:r>
            <a:r>
              <a:rPr lang="id-ID" dirty="0" i="1"/>
              <a:t>method</a:t>
            </a:r>
            <a:r>
              <a:rPr lang="id-ID" dirty="0"/>
              <a:t> ditulis setelah tanda kurung tanpa titik dua; Mermaid sendiri yang menambahkannya. Ada beberapa jebakan. Jangan ikut menyalin baris pembuka ke Mermaid Live Editor. Kurung kurawal seperti </a:t>
            </a:r>
            <a:r>
              <a:rPr lang="en-US" dirty="0">
                <a:latin typeface="Consolas"/>
              </a:rPr>
              <a:t>{readOnly}</a:t>
            </a:r>
            <a:r>
              <a:rPr lang="id-ID" dirty="0"/>
              <a:t> di dalam badan kelas membuat diagram gagal digambar. Di VS Code, pasang ekstensi Markdown Preview Mermaid Support jika diagram hanya tampil sebagai teks. Alat lain seperti draw.io, PlantUML, dan StarUML juga bisa dipakai karena notasinya tetap UML.</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Ada dua arah perjalanan antara diagram dan kode. </a:t>
            </a:r>
            <a:r>
              <a:rPr lang="id-ID" dirty="0" i="1"/>
              <a:t>Forward engineering</a:t>
            </a:r>
            <a:r>
              <a:rPr lang="id-ID" dirty="0"/>
              <a:t> membuat kode dari diagram: di Java setiap kelas publik berada di </a:t>
            </a:r>
            <a:r>
              <a:rPr lang="id-ID" dirty="0" i="1"/>
              <a:t>file</a:t>
            </a:r>
            <a:r>
              <a:rPr lang="id-ID" dirty="0"/>
              <a:t>-nya sendiri, atribut menjadi atribut privat, dan multiplisitas dijaga oleh kode, misalnya konstruktor menolak gedung tanpa lantai. </a:t>
            </a:r>
            <a:r>
              <a:rPr lang="id-ID" dirty="0" i="1"/>
              <a:t>Reverse engineering</a:t>
            </a:r>
            <a:r>
              <a:rPr lang="id-ID" dirty="0"/>
              <a:t> membuat diagram dari kode yang sudah ada. Langkahnya: setiap kelas menjadi kotak, lalu tulis atribut dan </a:t>
            </a:r>
            <a:r>
              <a:rPr lang="id-ID" dirty="0" i="1"/>
              <a:t>method</a:t>
            </a:r>
            <a:r>
              <a:rPr lang="id-ID" dirty="0"/>
              <a:t> beserta tipe dan visibilitasnya. Setelah itu, tarik garis dari atribut yang bertipe kelas lain, dan lihat siapa yang membuat objeknya: dibuat di dalam berarti komposisi, diterima dari luar berarti agregasi atau asosiasi. Terakhir, cari dependensi dari parameter dan variabel lokal.</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Tabel ini akan sering kamu pakai saat berpindah dari diagram ke kode. Dua baris pertama menunjukkan atribut dan </a:t>
            </a:r>
            <a:r>
              <a:rPr lang="id-ID" dirty="0" i="1"/>
              <a:t>method</a:t>
            </a:r>
            <a:r>
              <a:rPr lang="id-ID" dirty="0"/>
              <a:t>. Empat baris berikutnya menunjukkan wujud setiap garis. Perhatikan beda agregasi dan komposisi: keduanya sama-sama </a:t>
            </a:r>
            <a:r>
              <a:rPr lang="id-ID" dirty="0" i="1"/>
              <a:t>list</a:t>
            </a:r>
            <a:r>
              <a:rPr lang="id-ID" dirty="0"/>
              <a:t>, tetapi pada agregasi objek bagian diterima lewat parameter, sedangkan pada komposisi objek bagian dibuat di dalam pemiliknya. Untuk generalisasi, </a:t>
            </a:r>
            <a:r>
              <a:rPr lang="en-US" dirty="0">
                <a:latin typeface="Consolas"/>
              </a:rPr>
              <a:t>A &lt;|-- B</a:t>
            </a:r>
            <a:r>
              <a:rPr lang="id-ID" dirty="0"/>
              <a:t> menjadi </a:t>
            </a:r>
            <a:r>
              <a:rPr lang="en-US" dirty="0">
                <a:latin typeface="Consolas"/>
              </a:rPr>
              <a:t>class B(A):</a:t>
            </a:r>
            <a:r>
              <a:rPr lang="id-ID" dirty="0"/>
              <a:t> di Python dan </a:t>
            </a:r>
            <a:r>
              <a:rPr lang="en-US" dirty="0">
                <a:latin typeface="Consolas"/>
              </a:rPr>
              <a:t>class B extends A</a:t>
            </a:r>
            <a:r>
              <a:rPr lang="id-ID" dirty="0"/>
              <a:t> di Java; detailnya di Pertemuan 07. Nama juga diterjemahkan: </a:t>
            </a:r>
            <a:r>
              <a:rPr lang="id-ID" dirty="0" i="1"/>
              <a:t>camelCase</a:t>
            </a:r>
            <a:r>
              <a:rPr lang="id-ID" dirty="0"/>
              <a:t> di diagram konsep menjadi </a:t>
            </a:r>
            <a:r>
              <a:rPr lang="id-ID" dirty="0" i="1"/>
              <a:t>snake_case</a:t>
            </a:r>
            <a:r>
              <a:rPr lang="id-ID" dirty="0"/>
              <a:t> di Python.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Kode KedaiKita di pertemuan ini sama persis dengan Pertemuan 05. Tugas kita ada dua: menggambarkannya sebagai diagram kelas, lalu memakai diagram untuk merencanakan perubahan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t>
            </a:r>
            <a:r>
              <a:rPr lang="id-ID" dirty="0" i="1"/>
              <a:t>reverse engineering</a:t>
            </a:r>
            <a:r>
              <a:rPr lang="id-ID" dirty="0"/>
              <a:t> pada kelas </a:t>
            </a:r>
            <a:r>
              <a:rPr lang="en-US" dirty="0">
                <a:latin typeface="Consolas"/>
              </a:rPr>
              <a:t>Pesanan</a:t>
            </a:r>
            <a:r>
              <a:rPr lang="id-ID" dirty="0"/>
              <a:t>. Atribut </a:t>
            </a:r>
            <a:r>
              <a:rPr lang="en-US" dirty="0">
                <a:latin typeface="Consolas"/>
              </a:rPr>
              <a:t>pelanggan</a:t>
            </a:r>
            <a:r>
              <a:rPr lang="id-ID" dirty="0"/>
              <a:t> bertipe </a:t>
            </a:r>
            <a:r>
              <a:rPr lang="en-US" dirty="0">
                <a:latin typeface="Consolas"/>
              </a:rPr>
              <a:t>Pelanggan</a:t>
            </a:r>
            <a:r>
              <a:rPr lang="id-ID" dirty="0"/>
              <a:t> dan wajib diisi lewat konstruktor, jadi garisnya asosiasi dengan multiplisitas </a:t>
            </a:r>
            <a:r>
              <a:rPr lang="en-US" dirty="0">
                <a:latin typeface="Consolas"/>
              </a:rPr>
              <a:t>1</a:t>
            </a:r>
            <a:r>
              <a:rPr lang="id-ID" dirty="0"/>
              <a:t> di ujung </a:t>
            </a:r>
            <a:r>
              <a:rPr lang="en-US" dirty="0">
                <a:latin typeface="Consolas"/>
              </a:rPr>
              <a:t>Pelanggan</a:t>
            </a:r>
            <a:r>
              <a:rPr lang="id-ID" dirty="0"/>
              <a:t>. Atribut </a:t>
            </a:r>
            <a:r>
              <a:rPr lang="en-US" dirty="0">
                <a:latin typeface="Consolas"/>
              </a:rPr>
              <a:t>daftar_item</a:t>
            </a:r>
            <a:r>
              <a:rPr lang="id-ID" dirty="0"/>
              <a:t> adalah </a:t>
            </a:r>
            <a:r>
              <a:rPr lang="id-ID" dirty="0" i="1"/>
              <a:t>list</a:t>
            </a:r>
            <a:r>
              <a:rPr lang="id-ID" dirty="0"/>
              <a:t> berisi </a:t>
            </a:r>
            <a:r>
              <a:rPr lang="en-US" dirty="0">
                <a:latin typeface="Consolas"/>
              </a:rPr>
              <a:t>ItemPesanan</a:t>
            </a:r>
            <a:r>
              <a:rPr lang="id-ID" dirty="0"/>
              <a:t>, dan objek item dibuat di dalam </a:t>
            </a:r>
            <a:r>
              <a:rPr lang="en-US" dirty="0">
                <a:latin typeface="Consolas"/>
              </a:rPr>
              <a:t>tambah_item()</a:t>
            </a:r>
            <a:r>
              <a:rPr lang="id-ID" dirty="0"/>
              <a:t>, jadi garisnya komposisi. Parameter </a:t>
            </a:r>
            <a:r>
              <a:rPr lang="en-US" dirty="0">
                <a:latin typeface="Consolas"/>
              </a:rPr>
              <a:t>menu</a:t>
            </a:r>
            <a:r>
              <a:rPr lang="id-ID" dirty="0"/>
              <a:t> diterima lalu dipakai untuk memanggil </a:t>
            </a:r>
            <a:r>
              <a:rPr lang="en-US" dirty="0">
                <a:latin typeface="Consolas"/>
              </a:rPr>
              <a:t>kurangi_stok()</a:t>
            </a:r>
            <a:r>
              <a:rPr lang="id-ID" dirty="0"/>
              <a:t>, jadi </a:t>
            </a:r>
            <a:r>
              <a:rPr lang="en-US" dirty="0">
                <a:latin typeface="Consolas"/>
              </a:rPr>
              <a:t>Pesanan</a:t>
            </a:r>
            <a:r>
              <a:rPr lang="id-ID" dirty="0"/>
              <a:t> bergantung pada </a:t>
            </a:r>
            <a:r>
              <a:rPr lang="en-US" dirty="0">
                <a:latin typeface="Consolas"/>
              </a:rPr>
              <a:t>Menu</a:t>
            </a:r>
            <a:r>
              <a:rPr lang="id-ID" dirty="0"/>
              <a:t>: garis putus-putus. Penghitung nomor milik kelas sehingga digambar bergaris bawah: </a:t>
            </a:r>
            <a:r>
              <a:rPr lang="en-US" dirty="0">
                <a:latin typeface="Consolas"/>
              </a:rPr>
              <a:t>-_nomor_terakhir : int = 0$</a:t>
            </a:r>
            <a:r>
              <a:rPr lang="id-ID" dirty="0"/>
              <a:t>. Di Java, konstanta </a:t>
            </a:r>
            <a:r>
              <a:rPr lang="en-US" dirty="0">
                <a:latin typeface="Consolas"/>
              </a:rPr>
              <a:t>LEBAR_STRUK</a:t>
            </a:r>
            <a:r>
              <a:rPr lang="id-ID" dirty="0"/>
              <a:t> juga </a:t>
            </a:r>
            <a:r>
              <a:rPr lang="id-ID" dirty="0" i="1"/>
              <a:t>static</a:t>
            </a:r>
            <a:r>
              <a:rPr lang="id-ID" dirty="0"/>
              <a:t> dan ikut digambar, sedangkan di Python konstanta itu milik modul, bukan milik kelas.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Gabungkan semua garis dari atribut, dan inilah peta KedaiKita. Kedai menyimpan menu: agregasi, karena menu dibuat di luar lalu didaftarkan. Kedai mencatat pesanan: asosiasi, bukan komposisi, karena objek pesanan juga diserahkan ke program utama untuk dipakai. Pesanan milik tepat satu pelanggan dan berisi item. Multiplisitas item adalah </a:t>
            </a:r>
            <a:r>
              <a:rPr lang="en-US" dirty="0">
                <a:latin typeface="Consolas"/>
              </a:rPr>
              <a:t>*</a:t>
            </a:r>
            <a:r>
              <a:rPr lang="id-ID" dirty="0"/>
              <a:t>, bukan </a:t>
            </a:r>
            <a:r>
              <a:rPr lang="en-US" dirty="0">
                <a:latin typeface="Consolas"/>
              </a:rPr>
              <a:t>1..*</a:t>
            </a:r>
            <a:r>
              <a:rPr lang="id-ID" dirty="0"/>
              <a:t>, karena kodenya membolehkan pesanan yang baru dibuat masih kosong. </a:t>
            </a:r>
            <a:r>
              <a:rPr lang="id-ID" dirty="0" i="1"/>
              <a:t>Reverse engineering</a:t>
            </a:r>
            <a:r>
              <a:rPr lang="id-ID" dirty="0"/>
              <a:t> menggambar apa yang dilakukan kode, bukan apa yang kita harapkan. Perhatikan juga </a:t>
            </a:r>
            <a:r>
              <a:rPr lang="en-US" dirty="0">
                <a:latin typeface="Consolas"/>
              </a:rPr>
              <a:t>Menu</a:t>
            </a:r>
            <a:r>
              <a:rPr lang="id-ID" dirty="0"/>
              <a:t> yang menerima dua garis: objek kopi yang sama disimpan kedai dan ditunjuk item pesanan Budi sehingga stoknya berkurang saat Budi memesan.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Diagram juga dipakai sebelum kode ditulis. Makanan punya level pedas, sedangkan minuman bisa disajikan dingin atau panas. Rencananya, kita membuat dua kelas anak dari </a:t>
            </a:r>
            <a:r>
              <a:rPr lang="en-US" dirty="0">
                <a:latin typeface="Consolas"/>
              </a:rPr>
              <a:t>Menu</a:t>
            </a:r>
            <a:r>
              <a:rPr lang="id-ID" dirty="0"/>
              <a:t>. Segitiga kosong menempel pada induk, yaitu </a:t>
            </a:r>
            <a:r>
              <a:rPr lang="en-US" dirty="0">
                <a:latin typeface="Consolas"/>
              </a:rPr>
              <a:t>Menu</a:t>
            </a:r>
            <a:r>
              <a:rPr lang="id-ID" dirty="0"/>
              <a:t>. Kotak </a:t>
            </a:r>
            <a:r>
              <a:rPr lang="en-US" dirty="0">
                <a:latin typeface="Consolas"/>
              </a:rPr>
              <a:t>Makanan</a:t>
            </a:r>
            <a:r>
              <a:rPr lang="id-ID" dirty="0"/>
              <a:t> dan </a:t>
            </a:r>
            <a:r>
              <a:rPr lang="en-US" dirty="0">
                <a:latin typeface="Consolas"/>
              </a:rPr>
              <a:t>Minuman</a:t>
            </a:r>
            <a:r>
              <a:rPr lang="id-ID" dirty="0"/>
              <a:t> hanya berisi anggota baru; nama, harga, dan lainnya diwarisi sehingga tidak ditulis ulang. Di halaman konsep, kedua kotak anak juga memuat konstruktor yang tidak meminta kategori karena kategorinya otomatis. Garis </a:t>
            </a:r>
            <a:r>
              <a:rPr lang="en-US" dirty="0">
                <a:latin typeface="Consolas"/>
              </a:rPr>
              <a:t>ItemPesanan --&gt; Menu</a:t>
            </a:r>
            <a:r>
              <a:rPr lang="id-ID" dirty="0"/>
              <a:t> tidak perlu diubah karena makanan adalah menu. Simpan diagram rencana ini, lalu bandingkan dengan kode yang kita tulis di Pertemuan 07. Begitulah </a:t>
            </a:r>
            <a:r>
              <a:rPr lang="id-ID" dirty="0" i="1"/>
              <a:t>forward engineering</a:t>
            </a:r>
            <a:r>
              <a:rPr lang="id-ID" dirty="0"/>
              <a:t> dipakai di dunia kerja.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anggapan keliru ini sering muncul saat pemula menggambar diagram kelas. Ajak kelas memeriksa diagram KedaiKita tadi dengan daftar ini. Pegangan mudahnya: anak yang menunjuk ke induk, belah ketupat menempel di keseluruhan, dan garis utuh hanya untuk referensi yang disimpan. Empat miskonsepsi lainnya, misalnya letak angka multiplisitas dan objek Budi yang digambar sebagai kotak kelas, ada di bagian 11 halaman konsep.</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Beri waktu sekitar 30 detik untuk berpikir, lalu minta mahasiswa mengangkat tangan sesuai pilihannya. Ingatkan kelas pada analogi rumah tadi: teras, kamar tidur, ruang keluarga, dan taman kompleks. Jawaban dan pembahasannya ada di </a:t>
            </a:r>
            <a:r>
              <a:rPr lang="id-ID" dirty="0" i="1"/>
              <a:t>slide</a:t>
            </a:r>
            <a:r>
              <a:rPr lang="id-ID" dirty="0"/>
              <a:t> berikutnya.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C. </a:t>
            </a:r>
            <a:r>
              <a:rPr lang="en-US" dirty="0">
                <a:latin typeface="Consolas"/>
              </a:rPr>
              <a:t>#</a:t>
            </a:r>
            <a:r>
              <a:rPr lang="id-ID" dirty="0"/>
              <a:t> berarti </a:t>
            </a:r>
            <a:r>
              <a:rPr lang="id-ID" dirty="0" i="1"/>
              <a:t>protected</a:t>
            </a:r>
            <a:r>
              <a:rPr lang="id-ID" dirty="0"/>
              <a:t>. Publik ditulis </a:t>
            </a:r>
            <a:r>
              <a:rPr lang="en-US" dirty="0">
                <a:latin typeface="Consolas"/>
              </a:rPr>
              <a:t>+</a:t>
            </a:r>
            <a:r>
              <a:rPr lang="id-ID" dirty="0"/>
              <a:t> (A), dan akses satu paket ditulis </a:t>
            </a:r>
            <a:r>
              <a:rPr lang="en-US" dirty="0">
                <a:latin typeface="Consolas"/>
              </a:rPr>
              <a:t>~</a:t>
            </a:r>
            <a:r>
              <a:rPr lang="id-ID" dirty="0"/>
              <a:t> (D). Anggota </a:t>
            </a:r>
            <a:r>
              <a:rPr lang="id-ID" dirty="0" i="1"/>
              <a:t>static</a:t>
            </a:r>
            <a:r>
              <a:rPr lang="id-ID" dirty="0"/>
              <a:t> tidak ditandai simbol di depan, tetapi dengan garis bawah (di Mermaid: </a:t>
            </a:r>
            <a:r>
              <a:rPr lang="en-US" dirty="0">
                <a:latin typeface="Consolas"/>
              </a:rPr>
              <a:t>$</a:t>
            </a:r>
            <a:r>
              <a:rPr lang="id-ID" dirty="0"/>
              <a:t> di akhir baris) sehingga B salah.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menggabungkan dua keterampilan: membaca multiplisitas dan mengenali komposisi. Ingatkan kelas untuk membaca relasi dari kedua arah, dan selalu memakai angka di ujung seberang, persis seperti latihan membaca </a:t>
            </a:r>
            <a:r>
              <a:rPr lang="en-US" dirty="0">
                <a:latin typeface="Consolas"/>
              </a:rPr>
              <a:t>Pesanan</a:t>
            </a:r>
            <a:r>
              <a:rPr lang="id-ID" dirty="0"/>
              <a:t> dan </a:t>
            </a:r>
            <a:r>
              <a:rPr lang="en-US" dirty="0">
                <a:latin typeface="Consolas"/>
              </a:rPr>
              <a:t>Pelanggan</a:t>
            </a:r>
            <a:r>
              <a:rPr lang="id-ID" dirty="0"/>
              <a:t> tadi. Jawabannya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A. Dibaca dari </a:t>
            </a:r>
            <a:r>
              <a:rPr lang="en-US" dirty="0">
                <a:latin typeface="Consolas"/>
              </a:rPr>
              <a:t>Pesanan</a:t>
            </a:r>
            <a:r>
              <a:rPr lang="id-ID" dirty="0"/>
              <a:t>, angka di ujung seberang adalah </a:t>
            </a:r>
            <a:r>
              <a:rPr lang="en-US" dirty="0">
                <a:latin typeface="Consolas"/>
              </a:rPr>
              <a:t>*</a:t>
            </a:r>
            <a:r>
              <a:rPr lang="id-ID" dirty="0"/>
              <a:t>: satu pesanan berisi nol atau lebih item. Dibaca dari </a:t>
            </a:r>
            <a:r>
              <a:rPr lang="en-US" dirty="0">
                <a:latin typeface="Consolas"/>
              </a:rPr>
              <a:t>ItemPesanan</a:t>
            </a:r>
            <a:r>
              <a:rPr lang="id-ID" dirty="0"/>
              <a:t>, angkanya </a:t>
            </a:r>
            <a:r>
              <a:rPr lang="en-US" dirty="0">
                <a:latin typeface="Consolas"/>
              </a:rPr>
              <a:t>1</a:t>
            </a:r>
            <a:r>
              <a:rPr lang="id-ID" dirty="0"/>
              <a:t>: setiap item milik tepat satu pesanan, jadi B dan C salah. Belah ketupat penuh berarti komposisi: item tidak berarti tanpa pesanannya sehingga D juga salah.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tujuh hal yang perlu kamu bawa pulang hari ini. Kalau ada yang masih terasa samar, buka lagi halaman konsep, lalu cocokkan setiap contoh di halaman praktik dengan diagramnya. Ingat juga bahwa diagram yang usang lebih menyesatkan daripada tidak ada diagram sama sekali, jadi perbarui diagram setiap kali kodenya berubah. Pertemuan berikutnya kita mewujudkan garis generalisasi lewat pewarisan.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Pertemuan-06-UML-Class-Diagram di GitHub. Di halaman praktik, setiap contoh dimulai dengan diagram: baca diagramnya dulu, tebak kodenya, baru bandingkan dengan kode aslinya. Simpan diagram rencana </a:t>
            </a:r>
            <a:r>
              <a:rPr lang="en-US" dirty="0">
                <a:latin typeface="Consolas"/>
              </a:rPr>
              <a:t>Makanan</a:t>
            </a:r>
            <a:r>
              <a:rPr lang="id-ID" dirty="0"/>
              <a:t> dan </a:t>
            </a:r>
            <a:r>
              <a:rPr lang="en-US" dirty="0">
                <a:latin typeface="Consolas"/>
              </a:rPr>
              <a:t>Minuman</a:t>
            </a:r>
            <a:r>
              <a:rPr lang="id-ID" dirty="0"/>
              <a:t>, karena di Pertemuan 07 kita akan mewujudkannya dengan pewarisan. Sampai jumpa di Pertemuan 07.</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06 · UML </a:t>
            </a:r>
            <a:r>
              <a:rPr lang="en-US" sz="1100" dirty="0" i="1">
                <a:solidFill>
                  <a:srgbClr val="9FB3C8"/>
                </a:solidFill>
              </a:rPr>
              <a:t>Class Diagram</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06 · UML </a:t>
            </a:r>
            <a:r>
              <a:rPr lang="en-US" sz="1100" dirty="0" i="1">
                <a:solidFill>
                  <a:srgbClr val="57606A"/>
                </a:solidFill>
              </a:rPr>
              <a:t>Class Diagram</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06 · UML </a:t>
            </a:r>
            <a:r>
              <a:rPr lang="en-US" sz="1100" dirty="0" i="1">
                <a:solidFill>
                  <a:srgbClr val="9FB3C8"/>
                </a:solidFill>
              </a:rPr>
              <a:t>Class Diagram</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8-3.png"/><Relationship Id="rId2" Type="http://schemas.openxmlformats.org/officeDocument/2006/relationships/image" Target="../media/image-28-3.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image" Target="../media/image-26-3.png"/><Relationship Id="rId7" Type="http://schemas.openxmlformats.org/officeDocument/2006/relationships/image" Target="../media/image-26-3.png"/><Relationship Id="rId8" Type="http://schemas.openxmlformats.org/officeDocument/2006/relationships/image" Target="../media/image-26-3.png"/><Relationship Id="rId9" Type="http://schemas.openxmlformats.org/officeDocument/2006/relationships/slideLayout" Target="../slideLayouts/slideLayout4.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antonprafanto/PBO2026/blob/master/Pertemuan-06-UML-Class-Diagram/README.md" TargetMode="External"/><Relationship Id="rId5" Type="http://schemas.openxmlformats.org/officeDocument/2006/relationships/hyperlink" Target="https://github.com/antonprafanto/PBO2026/blob/master/Pertemuan-06-UML-Class-Diagram/python/README.md" TargetMode="External"/><Relationship Id="rId7" Type="http://schemas.openxmlformats.org/officeDocument/2006/relationships/hyperlink" Target="https://github.com/antonprafanto/PBO2026/blob/master/Pertemuan-06-UML-Class-Diagram/java/README.md" TargetMode="External"/><Relationship Id="rId9" Type="http://schemas.openxmlformats.org/officeDocument/2006/relationships/hyperlink" Target="https://github.com/antonprafanto/PBO2026/blob/master/Pertemuan-06-UML-Class-Diagram/jembatan-python-java.md" TargetMode="External"/><Relationship Id="rId11" Type="http://schemas.openxmlformats.org/officeDocument/2006/relationships/hyperlink" Target="https://github.com/antonprafanto/PBO2026/blob/master/Pertemuan-06-UML-Class-Diagram/latihan.md" TargetMode="External"/><Relationship Id="rId13" Type="http://schemas.openxmlformats.org/officeDocument/2006/relationships/hyperlink" Target="https://github.com/antonprafanto/PBO2026/blob/master/Pertemuan-06-UML-Class-Diagram/kuis.md" TargetMode="External"/><Relationship Id="rId15" Type="http://schemas.openxmlformats.org/officeDocument/2006/relationships/hyperlink" Target="https://github.com/antonprafanto/PBO2026/tree/master/Pertemuan-06-UML-Class-Diagram" TargetMode="External"/><Relationship Id="rId1" Type="http://schemas.openxmlformats.org/officeDocument/2006/relationships/image" Target="../media/image-32-1.png"/><Relationship Id="rId2" Type="http://schemas.openxmlformats.org/officeDocument/2006/relationships/image" Target="../media/image-32-2.png"/><Relationship Id="rId4" Type="http://schemas.openxmlformats.org/officeDocument/2006/relationships/image" Target="../media/image-32-3.png"/><Relationship Id="rId6" Type="http://schemas.openxmlformats.org/officeDocument/2006/relationships/image" Target="../media/image-32-3.png"/><Relationship Id="rId8" Type="http://schemas.openxmlformats.org/officeDocument/2006/relationships/image" Target="../media/image-32-5.png"/><Relationship Id="rId10" Type="http://schemas.openxmlformats.org/officeDocument/2006/relationships/image" Target="../media/image-32-6.png"/><Relationship Id="rId12" Type="http://schemas.openxmlformats.org/officeDocument/2006/relationships/image" Target="../media/image-32-7.png"/><Relationship Id="rId14" Type="http://schemas.openxmlformats.org/officeDocument/2006/relationships/image" Target="../media/image-32-8.png"/><Relationship Id="rId16" Type="http://schemas.openxmlformats.org/officeDocument/2006/relationships/slideLayout" Target="../slideLayouts/slideLayout5.xml"/><Relationship Id="rId17"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dirty="0">
                <a:solidFill>
                  <a:srgbClr val="FFFFFF"/>
                </a:solidFill>
              </a:rPr>
              <a:t>UML </a:t>
            </a:r>
            <a:r>
              <a:rPr lang="id-ID" altLang="en-US" sz="4800" b="1" i="1" dirty="0">
                <a:solidFill>
                  <a:srgbClr val="FFFFFF"/>
                </a:solidFill>
              </a:rPr>
              <a:t>Class Diagram</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Bahasa gambar standar untuk memetakan kelas beserta hubungannya, sebelum dan sesudah kode ditulis</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06</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165860"/>
          </a:xfrm>
          <a:prstGeom prst="roundRect">
            <a:avLst>
              <a:gd name="adj" fmla="val 7382"/>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891540"/>
          </a:xfrm>
          <a:prstGeom prst="rect">
            <a:avLst/>
          </a:prstGeom>
          <a:noFill/>
          <a:ln/>
        </p:spPr>
        <p:txBody>
          <a:bodyPr wrap="square" lIns="0" tIns="0" rIns="0" bIns="0" rtlCol="0" anchor="t"/>
          <a:lstStyle/>
          <a:p>
            <a:pPr indent="0" marL="0">
              <a:buNone/>
            </a:pPr>
            <a:r>
              <a:rPr lang="id-ID" altLang="en-US" sz="1800" dirty="0">
                <a:solidFill>
                  <a:srgbClr val="1F2328"/>
                </a:solidFill>
              </a:rPr>
              <a:t>Menjelaskan apa itu </a:t>
            </a:r>
            <a:r>
              <a:rPr lang="id-ID" altLang="en-US" sz="1800" b="1" dirty="0">
                <a:solidFill>
                  <a:srgbClr val="1F2328"/>
                </a:solidFill>
              </a:rPr>
              <a:t>UML</a:t>
            </a:r>
            <a:r>
              <a:rPr lang="id-ID" altLang="en-US" sz="1800" dirty="0">
                <a:solidFill>
                  <a:srgbClr val="1F2328"/>
                </a:solidFill>
              </a:rPr>
              <a:t> dan posisi diagram kelas di antara jenis diagram UML lainnya.</a:t>
            </a:r>
            <a:endParaRPr lang="id-ID" sz="1800" dirty="0"/>
          </a:p>
        </p:txBody>
      </p:sp>
      <p:sp>
        <p:nvSpPr>
          <p:cNvPr id="10" name="Shape 7"/>
          <p:cNvSpPr/>
          <p:nvPr/>
        </p:nvSpPr>
        <p:spPr>
          <a:xfrm>
            <a:off x="6210148" y="1920240"/>
            <a:ext cx="5432908" cy="1165860"/>
          </a:xfrm>
          <a:prstGeom prst="roundRect">
            <a:avLst>
              <a:gd name="adj" fmla="val 7382"/>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891540"/>
          </a:xfrm>
          <a:prstGeom prst="rect">
            <a:avLst/>
          </a:prstGeom>
          <a:noFill/>
          <a:ln/>
        </p:spPr>
        <p:txBody>
          <a:bodyPr wrap="square" lIns="0" tIns="0" rIns="0" bIns="0" rtlCol="0" anchor="t"/>
          <a:lstStyle/>
          <a:p>
            <a:pPr indent="0" marL="0">
              <a:buNone/>
            </a:pPr>
            <a:r>
              <a:rPr lang="id-ID" altLang="en-US" sz="1800" dirty="0">
                <a:solidFill>
                  <a:srgbClr val="1F2328"/>
                </a:solidFill>
              </a:rPr>
              <a:t>Membaca dan menulis kotak kelas lengkap: visibilitas (</a:t>
            </a:r>
            <a:r>
              <a:rPr lang="id-ID" altLang="en-US" sz="1800" dirty="0">
                <a:solidFill>
                  <a:srgbClr val="1F2328"/>
                </a:solidFill>
                <a:latin typeface="Consolas" pitchFamily="34" charset="0"/>
                <a:ea typeface="Consolas" pitchFamily="34" charset="-122"/>
                <a:cs typeface="Consolas" pitchFamily="34" charset="-120"/>
              </a:rPr>
              <a:t>+ - # ~</a:t>
            </a:r>
            <a:r>
              <a:rPr lang="id-ID" altLang="en-US" sz="1800" dirty="0">
                <a:solidFill>
                  <a:srgbClr val="1F2328"/>
                </a:solidFill>
              </a:rPr>
              <a:t>), tipe data, parameter, nilai kembalian, dan anggota </a:t>
            </a:r>
            <a:r>
              <a:rPr lang="id-ID" altLang="en-US" sz="1800" i="1" dirty="0">
                <a:solidFill>
                  <a:srgbClr val="1F2328"/>
                </a:solidFill>
              </a:rPr>
              <a:t>static</a:t>
            </a:r>
            <a:r>
              <a:rPr lang="id-ID" altLang="en-US" sz="1800" dirty="0">
                <a:solidFill>
                  <a:srgbClr val="1F2328"/>
                </a:solidFill>
              </a:rPr>
              <a:t>.</a:t>
            </a:r>
            <a:endParaRPr lang="id-ID" sz="1800" dirty="0"/>
          </a:p>
        </p:txBody>
      </p:sp>
      <p:sp>
        <p:nvSpPr>
          <p:cNvPr id="14" name="Shape 11"/>
          <p:cNvSpPr/>
          <p:nvPr/>
        </p:nvSpPr>
        <p:spPr>
          <a:xfrm>
            <a:off x="548640" y="3268980"/>
            <a:ext cx="5432908" cy="1165860"/>
          </a:xfrm>
          <a:prstGeom prst="roundRect">
            <a:avLst>
              <a:gd name="adj" fmla="val 7382"/>
            </a:avLst>
          </a:prstGeom>
          <a:solidFill>
            <a:srgbClr val="F6F8FA"/>
          </a:solidFill>
          <a:ln w="9525">
            <a:solidFill>
              <a:srgbClr val="D0D7DE"/>
            </a:solidFill>
            <a:prstDash val="solid"/>
          </a:ln>
        </p:spPr>
      </p:sp>
      <p:sp>
        <p:nvSpPr>
          <p:cNvPr id="15" name="Shape 12"/>
          <p:cNvSpPr/>
          <p:nvPr/>
        </p:nvSpPr>
        <p:spPr>
          <a:xfrm>
            <a:off x="777240" y="3433572"/>
            <a:ext cx="457200" cy="457200"/>
          </a:xfrm>
          <a:prstGeom prst="ellipse">
            <a:avLst/>
          </a:prstGeom>
          <a:solidFill>
            <a:srgbClr val="0969DA"/>
          </a:solidFill>
          <a:ln/>
        </p:spPr>
      </p:sp>
      <p:sp>
        <p:nvSpPr>
          <p:cNvPr id="16" name="Text 13"/>
          <p:cNvSpPr txBox="1"/>
          <p:nvPr/>
        </p:nvSpPr>
        <p:spPr>
          <a:xfrm>
            <a:off x="777240" y="343357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433572"/>
            <a:ext cx="4381348" cy="891540"/>
          </a:xfrm>
          <a:prstGeom prst="rect">
            <a:avLst/>
          </a:prstGeom>
          <a:noFill/>
          <a:ln/>
        </p:spPr>
        <p:txBody>
          <a:bodyPr wrap="square" lIns="0" tIns="0" rIns="0" bIns="0" rtlCol="0" anchor="t"/>
          <a:lstStyle/>
          <a:p>
            <a:pPr indent="0" marL="0">
              <a:buNone/>
            </a:pPr>
            <a:r>
              <a:rPr lang="id-ID" altLang="en-US" sz="1800" dirty="0">
                <a:solidFill>
                  <a:srgbClr val="1F2328"/>
                </a:solidFill>
              </a:rPr>
              <a:t>Membedakan </a:t>
            </a:r>
            <a:r>
              <a:rPr lang="id-ID" altLang="en-US" sz="1800" b="1" dirty="0">
                <a:solidFill>
                  <a:srgbClr val="1F2328"/>
                </a:solidFill>
              </a:rPr>
              <a:t>enam jenis relasi</a:t>
            </a:r>
            <a:r>
              <a:rPr lang="id-ID" altLang="en-US" sz="1800" dirty="0">
                <a:solidFill>
                  <a:srgbClr val="1F2328"/>
                </a:solidFill>
              </a:rPr>
              <a:t> dari bentuk garisnya: asosiasi, agregasi, komposisi, dependensi, generalisasi, dan realisasi.</a:t>
            </a:r>
            <a:endParaRPr lang="id-ID" sz="1800" dirty="0"/>
          </a:p>
        </p:txBody>
      </p:sp>
      <p:sp>
        <p:nvSpPr>
          <p:cNvPr id="18" name="Shape 15"/>
          <p:cNvSpPr/>
          <p:nvPr/>
        </p:nvSpPr>
        <p:spPr>
          <a:xfrm>
            <a:off x="6210148" y="3268980"/>
            <a:ext cx="5432908" cy="1165860"/>
          </a:xfrm>
          <a:prstGeom prst="roundRect">
            <a:avLst>
              <a:gd name="adj" fmla="val 7382"/>
            </a:avLst>
          </a:prstGeom>
          <a:solidFill>
            <a:srgbClr val="F6F8FA"/>
          </a:solidFill>
          <a:ln w="9525">
            <a:solidFill>
              <a:srgbClr val="D0D7DE"/>
            </a:solidFill>
            <a:prstDash val="solid"/>
          </a:ln>
        </p:spPr>
      </p:sp>
      <p:sp>
        <p:nvSpPr>
          <p:cNvPr id="19" name="Shape 16"/>
          <p:cNvSpPr/>
          <p:nvPr/>
        </p:nvSpPr>
        <p:spPr>
          <a:xfrm>
            <a:off x="6438748" y="3433572"/>
            <a:ext cx="457200" cy="457200"/>
          </a:xfrm>
          <a:prstGeom prst="ellipse">
            <a:avLst/>
          </a:prstGeom>
          <a:solidFill>
            <a:srgbClr val="0969DA"/>
          </a:solidFill>
          <a:ln/>
        </p:spPr>
      </p:sp>
      <p:sp>
        <p:nvSpPr>
          <p:cNvPr id="20" name="Text 17"/>
          <p:cNvSpPr txBox="1"/>
          <p:nvPr/>
        </p:nvSpPr>
        <p:spPr>
          <a:xfrm>
            <a:off x="6438748" y="343357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433572"/>
            <a:ext cx="4381348" cy="891540"/>
          </a:xfrm>
          <a:prstGeom prst="rect">
            <a:avLst/>
          </a:prstGeom>
          <a:noFill/>
          <a:ln/>
        </p:spPr>
        <p:txBody>
          <a:bodyPr wrap="square" lIns="0" tIns="0" rIns="0" bIns="0" rtlCol="0" anchor="t"/>
          <a:lstStyle/>
          <a:p>
            <a:pPr indent="0" marL="0">
              <a:buNone/>
            </a:pPr>
            <a:r>
              <a:rPr lang="id-ID" altLang="en-US" sz="1800" dirty="0">
                <a:solidFill>
                  <a:srgbClr val="1F2328"/>
                </a:solidFill>
              </a:rPr>
              <a:t>Membaca dan menuliskan </a:t>
            </a:r>
            <a:r>
              <a:rPr lang="id-ID" altLang="en-US" sz="1800" b="1" dirty="0">
                <a:solidFill>
                  <a:srgbClr val="1F2328"/>
                </a:solidFill>
              </a:rPr>
              <a:t>multiplisitas</a:t>
            </a:r>
            <a:r>
              <a:rPr lang="id-ID" altLang="en-US" sz="1800" dirty="0">
                <a:solidFill>
                  <a:srgbClr val="1F2328"/>
                </a:solidFill>
              </a:rPr>
              <a:t> serta </a:t>
            </a:r>
            <a:r>
              <a:rPr lang="id-ID" altLang="en-US" sz="1800" b="1" dirty="0">
                <a:solidFill>
                  <a:srgbClr val="1F2328"/>
                </a:solidFill>
              </a:rPr>
              <a:t>nama peran</a:t>
            </a:r>
            <a:r>
              <a:rPr lang="id-ID" altLang="en-US" sz="1800" dirty="0">
                <a:solidFill>
                  <a:srgbClr val="1F2328"/>
                </a:solidFill>
              </a:rPr>
              <a:t> pada sebuah relasi.</a:t>
            </a:r>
            <a:endParaRPr lang="id-ID" sz="1800" dirty="0"/>
          </a:p>
        </p:txBody>
      </p:sp>
      <p:sp>
        <p:nvSpPr>
          <p:cNvPr id="22" name="Shape 19"/>
          <p:cNvSpPr/>
          <p:nvPr/>
        </p:nvSpPr>
        <p:spPr>
          <a:xfrm>
            <a:off x="548640" y="4617720"/>
            <a:ext cx="5432908" cy="1165860"/>
          </a:xfrm>
          <a:prstGeom prst="roundRect">
            <a:avLst>
              <a:gd name="adj" fmla="val 7382"/>
            </a:avLst>
          </a:prstGeom>
          <a:solidFill>
            <a:srgbClr val="F6F8FA"/>
          </a:solidFill>
          <a:ln w="9525">
            <a:solidFill>
              <a:srgbClr val="D0D7DE"/>
            </a:solidFill>
            <a:prstDash val="solid"/>
          </a:ln>
        </p:spPr>
      </p:sp>
      <p:sp>
        <p:nvSpPr>
          <p:cNvPr id="23" name="Shape 20"/>
          <p:cNvSpPr/>
          <p:nvPr/>
        </p:nvSpPr>
        <p:spPr>
          <a:xfrm>
            <a:off x="777240" y="4782312"/>
            <a:ext cx="457200" cy="457200"/>
          </a:xfrm>
          <a:prstGeom prst="ellipse">
            <a:avLst/>
          </a:prstGeom>
          <a:solidFill>
            <a:srgbClr val="0969DA"/>
          </a:solidFill>
          <a:ln/>
        </p:spPr>
      </p:sp>
      <p:sp>
        <p:nvSpPr>
          <p:cNvPr id="24" name="Text 21"/>
          <p:cNvSpPr txBox="1"/>
          <p:nvPr/>
        </p:nvSpPr>
        <p:spPr>
          <a:xfrm>
            <a:off x="777240" y="478231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782312"/>
            <a:ext cx="4381348" cy="891540"/>
          </a:xfrm>
          <a:prstGeom prst="rect">
            <a:avLst/>
          </a:prstGeom>
          <a:noFill/>
          <a:ln/>
        </p:spPr>
        <p:txBody>
          <a:bodyPr wrap="square" lIns="0" tIns="0" rIns="0" bIns="0" rtlCol="0" anchor="t"/>
          <a:lstStyle/>
          <a:p>
            <a:pPr indent="0" marL="0">
              <a:buNone/>
            </a:pPr>
            <a:r>
              <a:rPr lang="id-ID" altLang="en-US" sz="1800" dirty="0">
                <a:solidFill>
                  <a:srgbClr val="1F2328"/>
                </a:solidFill>
              </a:rPr>
              <a:t>Menerjemahkan diagram menjadi kode (</a:t>
            </a:r>
            <a:r>
              <a:rPr lang="id-ID" altLang="en-US" sz="1800" i="1" dirty="0">
                <a:solidFill>
                  <a:srgbClr val="1F2328"/>
                </a:solidFill>
              </a:rPr>
              <a:t>forward engineering</a:t>
            </a:r>
            <a:r>
              <a:rPr lang="id-ID" altLang="en-US" sz="1800" dirty="0">
                <a:solidFill>
                  <a:srgbClr val="1F2328"/>
                </a:solidFill>
              </a:rPr>
              <a:t>) dan kode menjadi diagram (</a:t>
            </a:r>
            <a:r>
              <a:rPr lang="id-ID" altLang="en-US" sz="1800" i="1" dirty="0">
                <a:solidFill>
                  <a:srgbClr val="1F2328"/>
                </a:solidFill>
              </a:rPr>
              <a:t>reverse engineering</a:t>
            </a:r>
            <a:r>
              <a:rPr lang="id-ID" altLang="en-US" sz="1800" dirty="0">
                <a:solidFill>
                  <a:srgbClr val="1F2328"/>
                </a:solidFill>
              </a:rPr>
              <a:t>).</a:t>
            </a:r>
            <a:endParaRPr lang="id-ID" sz="1800" dirty="0"/>
          </a:p>
        </p:txBody>
      </p:sp>
      <p:sp>
        <p:nvSpPr>
          <p:cNvPr id="26" name="Shape 23"/>
          <p:cNvSpPr/>
          <p:nvPr/>
        </p:nvSpPr>
        <p:spPr>
          <a:xfrm>
            <a:off x="6210148" y="4617720"/>
            <a:ext cx="5432908" cy="1165860"/>
          </a:xfrm>
          <a:prstGeom prst="roundRect">
            <a:avLst>
              <a:gd name="adj" fmla="val 7382"/>
            </a:avLst>
          </a:prstGeom>
          <a:solidFill>
            <a:srgbClr val="F6F8FA"/>
          </a:solidFill>
          <a:ln w="9525">
            <a:solidFill>
              <a:srgbClr val="D0D7DE"/>
            </a:solidFill>
            <a:prstDash val="solid"/>
          </a:ln>
        </p:spPr>
      </p:sp>
      <p:sp>
        <p:nvSpPr>
          <p:cNvPr id="27" name="Shape 24"/>
          <p:cNvSpPr/>
          <p:nvPr/>
        </p:nvSpPr>
        <p:spPr>
          <a:xfrm>
            <a:off x="6438748" y="4782312"/>
            <a:ext cx="457200" cy="457200"/>
          </a:xfrm>
          <a:prstGeom prst="ellipse">
            <a:avLst/>
          </a:prstGeom>
          <a:solidFill>
            <a:srgbClr val="0969DA"/>
          </a:solidFill>
          <a:ln/>
        </p:spPr>
      </p:sp>
      <p:sp>
        <p:nvSpPr>
          <p:cNvPr id="28" name="Text 25"/>
          <p:cNvSpPr txBox="1"/>
          <p:nvPr/>
        </p:nvSpPr>
        <p:spPr>
          <a:xfrm>
            <a:off x="6438748" y="478231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6</a:t>
            </a:r>
            <a:endParaRPr lang="id-ID" sz="1800" dirty="0"/>
          </a:p>
        </p:txBody>
      </p:sp>
      <p:sp>
        <p:nvSpPr>
          <p:cNvPr id="29" name="Text 26"/>
          <p:cNvSpPr txBox="1"/>
          <p:nvPr/>
        </p:nvSpPr>
        <p:spPr>
          <a:xfrm>
            <a:off x="7078828" y="4782312"/>
            <a:ext cx="4381348" cy="891540"/>
          </a:xfrm>
          <a:prstGeom prst="rect">
            <a:avLst/>
          </a:prstGeom>
          <a:noFill/>
          <a:ln/>
        </p:spPr>
        <p:txBody>
          <a:bodyPr wrap="square" lIns="0" tIns="0" rIns="0" bIns="0" rtlCol="0" anchor="t"/>
          <a:lstStyle/>
          <a:p>
            <a:pPr indent="0" marL="0">
              <a:buNone/>
            </a:pPr>
            <a:r>
              <a:rPr lang="id-ID" altLang="en-US" sz="1800" dirty="0">
                <a:solidFill>
                  <a:srgbClr val="1F2328"/>
                </a:solidFill>
              </a:rPr>
              <a:t>Menulis diagram kelas dengan sintaks </a:t>
            </a:r>
            <a:r>
              <a:rPr lang="id-ID" altLang="en-US" sz="1800" b="1" dirty="0">
                <a:solidFill>
                  <a:srgbClr val="1F2328"/>
                </a:solidFill>
              </a:rPr>
              <a:t>Mermaid</a:t>
            </a:r>
            <a:r>
              <a:rPr lang="id-ID" altLang="en-US" sz="1800" dirty="0">
                <a:solidFill>
                  <a:srgbClr val="1F2328"/>
                </a:solidFill>
              </a:rPr>
              <a:t>, lalu menampilkannya di Mermaid Live Editor, VS Code, atau GitHub.</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Mengingat Kembali</a:t>
            </a:r>
            <a:endParaRPr lang="id-ID" sz="3200" dirty="0"/>
          </a:p>
        </p:txBody>
      </p:sp>
      <p:sp>
        <p:nvSpPr>
          <p:cNvPr id="5" name="Shape 2"/>
          <p:cNvSpPr/>
          <p:nvPr/>
        </p:nvSpPr>
        <p:spPr>
          <a:xfrm>
            <a:off x="548640" y="1600383"/>
            <a:ext cx="2377440" cy="4346448"/>
          </a:xfrm>
          <a:prstGeom prst="roundRect">
            <a:avLst>
              <a:gd name="adj" fmla="val 2663"/>
            </a:avLst>
          </a:prstGeom>
          <a:solidFill>
            <a:srgbClr val="DDF4FF"/>
          </a:solidFill>
          <a:ln w="9525">
            <a:solidFill>
              <a:srgbClr val="54AEFF"/>
            </a:solidFill>
            <a:prstDash val="solid"/>
          </a:ln>
        </p:spPr>
      </p:sp>
      <p:sp>
        <p:nvSpPr>
          <p:cNvPr id="6" name="Shape 3"/>
          <p:cNvSpPr/>
          <p:nvPr/>
        </p:nvSpPr>
        <p:spPr>
          <a:xfrm>
            <a:off x="1188720" y="2813487"/>
            <a:ext cx="1097280" cy="1097280"/>
          </a:xfrm>
          <a:prstGeom prst="ellipse">
            <a:avLst/>
          </a:prstGeom>
          <a:solidFill>
            <a:srgbClr val="0969DA"/>
          </a:solidFill>
          <a:ln/>
        </p:spPr>
      </p:sp>
      <p:pic>
        <p:nvPicPr>
          <p:cNvPr id="7" name="Image 1" descr="preencoded.png">    </p:cNvPr>
          <p:cNvPicPr>
            <a:picLocks noChangeAspect="1"/>
          </p:cNvPicPr>
          <p:nvPr/>
        </p:nvPicPr>
        <p:blipFill>
          <a:blip r:embed="rId2"/>
          <a:stretch>
            <a:fillRect/>
          </a:stretch>
        </p:blipFill>
        <p:spPr>
          <a:xfrm>
            <a:off x="1430122" y="3054888"/>
            <a:ext cx="614477" cy="614477"/>
          </a:xfrm>
          <a:prstGeom prst="rect">
            <a:avLst/>
          </a:prstGeom>
        </p:spPr>
      </p:pic>
      <p:sp>
        <p:nvSpPr>
          <p:cNvPr id="8" name="Text 4"/>
          <p:cNvSpPr txBox="1"/>
          <p:nvPr/>
        </p:nvSpPr>
        <p:spPr>
          <a:xfrm>
            <a:off x="731520" y="4093647"/>
            <a:ext cx="2011680" cy="640080"/>
          </a:xfrm>
          <a:prstGeom prst="rect">
            <a:avLst/>
          </a:prstGeom>
          <a:noFill/>
          <a:ln/>
        </p:spPr>
        <p:txBody>
          <a:bodyPr wrap="square" lIns="0" tIns="0" rIns="0" bIns="0" rtlCol="0" anchor="t"/>
          <a:lstStyle/>
          <a:p>
            <a:pPr algn="ctr" indent="0" marL="0">
              <a:buNone/>
            </a:pPr>
            <a:r>
              <a:rPr lang="id-ID" altLang="en-US" sz="1600" b="1" dirty="0">
                <a:solidFill>
                  <a:srgbClr val="0A3069"/>
                </a:solidFill>
              </a:rPr>
              <a:t>Dari pertemuan sebelumnya</a:t>
            </a:r>
            <a:endParaRPr lang="id-ID" sz="1600" dirty="0"/>
          </a:p>
        </p:txBody>
      </p:sp>
      <p:sp>
        <p:nvSpPr>
          <p:cNvPr id="9" name="Shape 5"/>
          <p:cNvSpPr/>
          <p:nvPr/>
        </p:nvSpPr>
        <p:spPr>
          <a:xfrm>
            <a:off x="3346704" y="1992051"/>
            <a:ext cx="137160" cy="137160"/>
          </a:xfrm>
          <a:prstGeom prst="roundRect">
            <a:avLst>
              <a:gd name="adj" fmla="val 166667"/>
            </a:avLst>
          </a:prstGeom>
          <a:solidFill>
            <a:srgbClr val="0969DA"/>
          </a:solidFill>
          <a:ln/>
        </p:spPr>
      </p:sp>
      <p:sp>
        <p:nvSpPr>
          <p:cNvPr id="10" name="Text 6"/>
          <p:cNvSpPr txBox="1"/>
          <p:nvPr/>
        </p:nvSpPr>
        <p:spPr>
          <a:xfrm>
            <a:off x="3675888" y="1874703"/>
            <a:ext cx="7967167" cy="789432"/>
          </a:xfrm>
          <a:prstGeom prst="rect">
            <a:avLst/>
          </a:prstGeom>
          <a:noFill/>
          <a:ln/>
        </p:spPr>
        <p:txBody>
          <a:bodyPr wrap="square" lIns="0" tIns="0" rIns="0" bIns="0" rtlCol="0" anchor="t"/>
          <a:lstStyle/>
          <a:p>
            <a:pPr indent="0" marL="0">
              <a:buNone/>
            </a:pPr>
            <a:r>
              <a:rPr lang="id-ID" altLang="en-US" sz="2400" b="1" dirty="0">
                <a:solidFill>
                  <a:srgbClr val="1F2328"/>
                </a:solidFill>
              </a:rPr>
              <a:t>Dependensi</a:t>
            </a:r>
            <a:r>
              <a:rPr lang="id-ID" altLang="en-US" sz="2400" dirty="0">
                <a:solidFill>
                  <a:srgbClr val="1F2328"/>
                </a:solidFill>
              </a:rPr>
              <a:t>: memakai kelas lain sebentar saja, misalnya lewat parameter </a:t>
            </a:r>
            <a:r>
              <a:rPr lang="id-ID" altLang="en-US" sz="2400" i="1" dirty="0">
                <a:solidFill>
                  <a:srgbClr val="1F2328"/>
                </a:solidFill>
              </a:rPr>
              <a:t>method</a:t>
            </a:r>
            <a:r>
              <a:rPr lang="id-ID" altLang="en-US" sz="2400" dirty="0">
                <a:solidFill>
                  <a:srgbClr val="1F2328"/>
                </a:solidFill>
              </a:rPr>
              <a:t>.</a:t>
            </a:r>
            <a:endParaRPr lang="id-ID" sz="2400" dirty="0"/>
          </a:p>
        </p:txBody>
      </p:sp>
      <p:sp>
        <p:nvSpPr>
          <p:cNvPr id="11" name="Shape 7"/>
          <p:cNvSpPr/>
          <p:nvPr/>
        </p:nvSpPr>
        <p:spPr>
          <a:xfrm>
            <a:off x="3346704" y="3010083"/>
            <a:ext cx="137160" cy="137160"/>
          </a:xfrm>
          <a:prstGeom prst="roundRect">
            <a:avLst>
              <a:gd name="adj" fmla="val 166667"/>
            </a:avLst>
          </a:prstGeom>
          <a:solidFill>
            <a:srgbClr val="0969DA"/>
          </a:solidFill>
          <a:ln/>
        </p:spPr>
      </p:sp>
      <p:sp>
        <p:nvSpPr>
          <p:cNvPr id="12" name="Text 8"/>
          <p:cNvSpPr txBox="1"/>
          <p:nvPr/>
        </p:nvSpPr>
        <p:spPr>
          <a:xfrm>
            <a:off x="3675888" y="2892735"/>
            <a:ext cx="7967167" cy="789432"/>
          </a:xfrm>
          <a:prstGeom prst="rect">
            <a:avLst/>
          </a:prstGeom>
          <a:noFill/>
          <a:ln/>
        </p:spPr>
        <p:txBody>
          <a:bodyPr wrap="square" lIns="0" tIns="0" rIns="0" bIns="0" rtlCol="0" anchor="t"/>
          <a:lstStyle/>
          <a:p>
            <a:pPr indent="0" marL="0">
              <a:buNone/>
            </a:pPr>
            <a:r>
              <a:rPr lang="id-ID" altLang="en-US" sz="2400" b="1" dirty="0">
                <a:solidFill>
                  <a:srgbClr val="1F2328"/>
                </a:solidFill>
              </a:rPr>
              <a:t>Asosiasi</a:t>
            </a:r>
            <a:r>
              <a:rPr lang="id-ID" altLang="en-US" sz="2400" dirty="0">
                <a:solidFill>
                  <a:srgbClr val="1F2328"/>
                </a:solidFill>
              </a:rPr>
              <a:t>: objek mengenal objek lain dan menyimpan referensinya di atribut.</a:t>
            </a:r>
            <a:endParaRPr lang="id-ID" sz="2400" dirty="0"/>
          </a:p>
        </p:txBody>
      </p:sp>
      <p:sp>
        <p:nvSpPr>
          <p:cNvPr id="13" name="Shape 9"/>
          <p:cNvSpPr/>
          <p:nvPr/>
        </p:nvSpPr>
        <p:spPr>
          <a:xfrm>
            <a:off x="3346704" y="4028115"/>
            <a:ext cx="137160" cy="137160"/>
          </a:xfrm>
          <a:prstGeom prst="roundRect">
            <a:avLst>
              <a:gd name="adj" fmla="val 166667"/>
            </a:avLst>
          </a:prstGeom>
          <a:solidFill>
            <a:srgbClr val="0969DA"/>
          </a:solidFill>
          <a:ln/>
        </p:spPr>
      </p:sp>
      <p:sp>
        <p:nvSpPr>
          <p:cNvPr id="14" name="Text 10"/>
          <p:cNvSpPr txBox="1"/>
          <p:nvPr/>
        </p:nvSpPr>
        <p:spPr>
          <a:xfrm>
            <a:off x="3675888" y="3910767"/>
            <a:ext cx="7967167" cy="789432"/>
          </a:xfrm>
          <a:prstGeom prst="rect">
            <a:avLst/>
          </a:prstGeom>
          <a:noFill/>
          <a:ln/>
        </p:spPr>
        <p:txBody>
          <a:bodyPr wrap="square" lIns="0" tIns="0" rIns="0" bIns="0" rtlCol="0" anchor="t"/>
          <a:lstStyle/>
          <a:p>
            <a:pPr indent="0" marL="0">
              <a:buNone/>
            </a:pPr>
            <a:r>
              <a:rPr lang="id-ID" altLang="en-US" sz="2400" b="1" dirty="0">
                <a:solidFill>
                  <a:srgbClr val="1F2328"/>
                </a:solidFill>
              </a:rPr>
              <a:t>Agregasi</a:t>
            </a:r>
            <a:r>
              <a:rPr lang="id-ID" altLang="en-US" sz="2400" dirty="0">
                <a:solidFill>
                  <a:srgbClr val="1F2328"/>
                </a:solidFill>
              </a:rPr>
              <a:t> dan </a:t>
            </a:r>
            <a:r>
              <a:rPr lang="id-ID" altLang="en-US" sz="2400" b="1" dirty="0">
                <a:solidFill>
                  <a:srgbClr val="1F2328"/>
                </a:solidFill>
              </a:rPr>
              <a:t>komposisi</a:t>
            </a:r>
            <a:r>
              <a:rPr lang="id-ID" altLang="en-US" sz="2400" dirty="0">
                <a:solidFill>
                  <a:srgbClr val="1F2328"/>
                </a:solidFill>
              </a:rPr>
              <a:t>: hubungan punya; bagian komposisi dibuat oleh keseluruhan dan ikut berakhir bersamanya.</a:t>
            </a:r>
            <a:endParaRPr lang="id-ID" sz="2400" dirty="0"/>
          </a:p>
        </p:txBody>
      </p:sp>
      <p:sp>
        <p:nvSpPr>
          <p:cNvPr id="15" name="Shape 11"/>
          <p:cNvSpPr/>
          <p:nvPr/>
        </p:nvSpPr>
        <p:spPr>
          <a:xfrm>
            <a:off x="3346704" y="5046147"/>
            <a:ext cx="137160" cy="137160"/>
          </a:xfrm>
          <a:prstGeom prst="roundRect">
            <a:avLst>
              <a:gd name="adj" fmla="val 166667"/>
            </a:avLst>
          </a:prstGeom>
          <a:solidFill>
            <a:srgbClr val="0969DA"/>
          </a:solidFill>
          <a:ln/>
        </p:spPr>
      </p:sp>
      <p:sp>
        <p:nvSpPr>
          <p:cNvPr id="16" name="Text 12"/>
          <p:cNvSpPr txBox="1"/>
          <p:nvPr/>
        </p:nvSpPr>
        <p:spPr>
          <a:xfrm>
            <a:off x="3675888" y="4928799"/>
            <a:ext cx="7967167" cy="789432"/>
          </a:xfrm>
          <a:prstGeom prst="rect">
            <a:avLst/>
          </a:prstGeom>
          <a:noFill/>
          <a:ln/>
        </p:spPr>
        <p:txBody>
          <a:bodyPr wrap="square" lIns="0" tIns="0" rIns="0" bIns="0" rtlCol="0" anchor="t"/>
          <a:lstStyle/>
          <a:p>
            <a:pPr indent="0" marL="0">
              <a:buNone/>
            </a:pPr>
            <a:r>
              <a:rPr lang="id-ID" altLang="en-US" sz="2400" b="1" dirty="0">
                <a:solidFill>
                  <a:srgbClr val="1F2328"/>
                </a:solidFill>
              </a:rPr>
              <a:t>Multiplisitas</a:t>
            </a:r>
            <a:r>
              <a:rPr lang="id-ID" altLang="en-US" sz="2400" dirty="0">
                <a:solidFill>
                  <a:srgbClr val="1F2328"/>
                </a:solidFill>
              </a:rPr>
              <a:t> (</a:t>
            </a:r>
            <a:r>
              <a:rPr lang="id-ID" altLang="en-US" sz="2400" dirty="0">
                <a:solidFill>
                  <a:srgbClr val="1F2328"/>
                </a:solidFill>
                <a:latin typeface="Consolas" pitchFamily="34" charset="0"/>
                <a:ea typeface="Consolas" pitchFamily="34" charset="-122"/>
                <a:cs typeface="Consolas" pitchFamily="34" charset="-120"/>
              </a:rPr>
              <a:t>1</a:t>
            </a:r>
            <a:r>
              <a:rPr lang="id-ID" altLang="en-US" sz="2400" dirty="0">
                <a:solidFill>
                  <a:srgbClr val="1F2328"/>
                </a:solidFill>
              </a:rPr>
              <a:t>, </a:t>
            </a:r>
            <a:r>
              <a:rPr lang="id-ID" altLang="en-US" sz="2400" dirty="0">
                <a:solidFill>
                  <a:srgbClr val="1F2328"/>
                </a:solidFill>
                <a:latin typeface="Consolas" pitchFamily="34" charset="0"/>
                <a:ea typeface="Consolas" pitchFamily="34" charset="-122"/>
                <a:cs typeface="Consolas" pitchFamily="34" charset="-120"/>
              </a:rPr>
              <a:t>0..1</a:t>
            </a:r>
            <a:r>
              <a:rPr lang="id-ID" altLang="en-US" sz="2400" dirty="0">
                <a:solidFill>
                  <a:srgbClr val="1F2328"/>
                </a:solidFill>
              </a:rPr>
              <a:t>, </a:t>
            </a:r>
            <a:r>
              <a:rPr lang="id-ID" altLang="en-US" sz="2400" dirty="0">
                <a:solidFill>
                  <a:srgbClr val="1F2328"/>
                </a:solidFill>
                <a:latin typeface="Consolas" pitchFamily="34" charset="0"/>
                <a:ea typeface="Consolas" pitchFamily="34" charset="-122"/>
                <a:cs typeface="Consolas" pitchFamily="34" charset="-120"/>
              </a:rPr>
              <a:t>*</a:t>
            </a:r>
            <a:r>
              <a:rPr lang="id-ID" altLang="en-US" sz="2400" dirty="0">
                <a:solidFill>
                  <a:srgbClr val="1F2328"/>
                </a:solidFill>
              </a:rPr>
              <a:t>, </a:t>
            </a:r>
            <a:r>
              <a:rPr lang="id-ID" altLang="en-US" sz="2400" dirty="0">
                <a:solidFill>
                  <a:srgbClr val="1F2328"/>
                </a:solidFill>
                <a:latin typeface="Consolas" pitchFamily="34" charset="0"/>
                <a:ea typeface="Consolas" pitchFamily="34" charset="-122"/>
                <a:cs typeface="Consolas" pitchFamily="34" charset="-120"/>
              </a:rPr>
              <a:t>1..*</a:t>
            </a:r>
            <a:r>
              <a:rPr lang="id-ID" altLang="en-US" sz="2400" dirty="0">
                <a:solidFill>
                  <a:srgbClr val="1F2328"/>
                </a:solidFill>
              </a:rPr>
              <a:t>) menjawab pertanyaan “berapa banyak”.</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554480"/>
            <a:ext cx="3515258" cy="2165604"/>
          </a:xfrm>
          <a:prstGeom prst="roundRect">
            <a:avLst>
              <a:gd name="adj" fmla="val 2139"/>
            </a:avLst>
          </a:prstGeom>
          <a:solidFill>
            <a:srgbClr val="F6F8FA"/>
          </a:solidFill>
          <a:ln w="9525">
            <a:solidFill>
              <a:srgbClr val="D0D7DE"/>
            </a:solidFill>
            <a:prstDash val="solid"/>
          </a:ln>
        </p:spPr>
      </p:sp>
      <p:sp>
        <p:nvSpPr>
          <p:cNvPr id="6" name="Shape 3"/>
          <p:cNvSpPr/>
          <p:nvPr/>
        </p:nvSpPr>
        <p:spPr>
          <a:xfrm>
            <a:off x="777240" y="1783080"/>
            <a:ext cx="512064" cy="512064"/>
          </a:xfrm>
          <a:prstGeom prst="ellipse">
            <a:avLst/>
          </a:prstGeom>
          <a:solidFill>
            <a:srgbClr val="0969DA"/>
          </a:solidFill>
          <a:ln/>
        </p:spPr>
      </p:sp>
      <p:sp>
        <p:nvSpPr>
          <p:cNvPr id="7" name="Text 4"/>
          <p:cNvSpPr txBox="1"/>
          <p:nvPr/>
        </p:nvSpPr>
        <p:spPr>
          <a:xfrm>
            <a:off x="777240" y="178308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423160"/>
            <a:ext cx="3058058" cy="1114044"/>
          </a:xfrm>
          <a:prstGeom prst="rect">
            <a:avLst/>
          </a:prstGeom>
          <a:noFill/>
          <a:ln/>
        </p:spPr>
        <p:txBody>
          <a:bodyPr wrap="square" lIns="0" tIns="0" rIns="0" bIns="0" rtlCol="0" anchor="t"/>
          <a:lstStyle/>
          <a:p>
            <a:pPr indent="0" marL="0">
              <a:buNone/>
            </a:pPr>
            <a:r>
              <a:rPr lang="id-ID" altLang="en-US" sz="2200" dirty="0">
                <a:solidFill>
                  <a:srgbClr val="1F2328"/>
                </a:solidFill>
              </a:rPr>
              <a:t>Peta sebelum membangun: apa itu UML?</a:t>
            </a:r>
            <a:endParaRPr lang="id-ID" sz="2200" dirty="0"/>
          </a:p>
        </p:txBody>
      </p:sp>
      <p:sp>
        <p:nvSpPr>
          <p:cNvPr id="9" name="Shape 6"/>
          <p:cNvSpPr/>
          <p:nvPr/>
        </p:nvSpPr>
        <p:spPr>
          <a:xfrm>
            <a:off x="4338218" y="1554480"/>
            <a:ext cx="3515258" cy="2165604"/>
          </a:xfrm>
          <a:prstGeom prst="roundRect">
            <a:avLst>
              <a:gd name="adj" fmla="val 2139"/>
            </a:avLst>
          </a:prstGeom>
          <a:solidFill>
            <a:srgbClr val="F6F8FA"/>
          </a:solidFill>
          <a:ln w="9525">
            <a:solidFill>
              <a:srgbClr val="D0D7DE"/>
            </a:solidFill>
            <a:prstDash val="solid"/>
          </a:ln>
        </p:spPr>
      </p:sp>
      <p:sp>
        <p:nvSpPr>
          <p:cNvPr id="10" name="Shape 7"/>
          <p:cNvSpPr/>
          <p:nvPr/>
        </p:nvSpPr>
        <p:spPr>
          <a:xfrm>
            <a:off x="4566818" y="1783080"/>
            <a:ext cx="512064" cy="512064"/>
          </a:xfrm>
          <a:prstGeom prst="ellipse">
            <a:avLst/>
          </a:prstGeom>
          <a:solidFill>
            <a:srgbClr val="0969DA"/>
          </a:solidFill>
          <a:ln/>
        </p:spPr>
      </p:sp>
      <p:sp>
        <p:nvSpPr>
          <p:cNvPr id="11" name="Text 8"/>
          <p:cNvSpPr txBox="1"/>
          <p:nvPr/>
        </p:nvSpPr>
        <p:spPr>
          <a:xfrm>
            <a:off x="4566818" y="178308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423160"/>
            <a:ext cx="3058058" cy="1114044"/>
          </a:xfrm>
          <a:prstGeom prst="rect">
            <a:avLst/>
          </a:prstGeom>
          <a:noFill/>
          <a:ln/>
        </p:spPr>
        <p:txBody>
          <a:bodyPr wrap="square" lIns="0" tIns="0" rIns="0" bIns="0" rtlCol="0" anchor="t"/>
          <a:lstStyle/>
          <a:p>
            <a:pPr indent="0" marL="0">
              <a:buNone/>
            </a:pPr>
            <a:r>
              <a:rPr lang="id-ID" altLang="en-US" sz="2200" dirty="0">
                <a:solidFill>
                  <a:srgbClr val="1F2328"/>
                </a:solidFill>
              </a:rPr>
              <a:t>Anatomi kotak kelas dan visibilitas</a:t>
            </a:r>
            <a:endParaRPr lang="id-ID" sz="2200" dirty="0"/>
          </a:p>
        </p:txBody>
      </p:sp>
      <p:sp>
        <p:nvSpPr>
          <p:cNvPr id="13" name="Shape 10"/>
          <p:cNvSpPr/>
          <p:nvPr/>
        </p:nvSpPr>
        <p:spPr>
          <a:xfrm>
            <a:off x="8127797" y="1554480"/>
            <a:ext cx="3515258" cy="2165604"/>
          </a:xfrm>
          <a:prstGeom prst="roundRect">
            <a:avLst>
              <a:gd name="adj" fmla="val 2139"/>
            </a:avLst>
          </a:prstGeom>
          <a:solidFill>
            <a:srgbClr val="F6F8FA"/>
          </a:solidFill>
          <a:ln w="9525">
            <a:solidFill>
              <a:srgbClr val="D0D7DE"/>
            </a:solidFill>
            <a:prstDash val="solid"/>
          </a:ln>
        </p:spPr>
      </p:sp>
      <p:sp>
        <p:nvSpPr>
          <p:cNvPr id="14" name="Shape 11"/>
          <p:cNvSpPr/>
          <p:nvPr/>
        </p:nvSpPr>
        <p:spPr>
          <a:xfrm>
            <a:off x="8356397" y="1783080"/>
            <a:ext cx="512064" cy="512064"/>
          </a:xfrm>
          <a:prstGeom prst="ellipse">
            <a:avLst/>
          </a:prstGeom>
          <a:solidFill>
            <a:srgbClr val="0969DA"/>
          </a:solidFill>
          <a:ln/>
        </p:spPr>
      </p:sp>
      <p:sp>
        <p:nvSpPr>
          <p:cNvPr id="15" name="Text 12"/>
          <p:cNvSpPr txBox="1"/>
          <p:nvPr/>
        </p:nvSpPr>
        <p:spPr>
          <a:xfrm>
            <a:off x="8356397" y="178308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423160"/>
            <a:ext cx="3058058" cy="1114044"/>
          </a:xfrm>
          <a:prstGeom prst="rect">
            <a:avLst/>
          </a:prstGeom>
          <a:noFill/>
          <a:ln/>
        </p:spPr>
        <p:txBody>
          <a:bodyPr wrap="square" lIns="0" tIns="0" rIns="0" bIns="0" rtlCol="0" anchor="t"/>
          <a:lstStyle/>
          <a:p>
            <a:pPr indent="0" marL="0">
              <a:buNone/>
            </a:pPr>
            <a:r>
              <a:rPr lang="id-ID" altLang="en-US" sz="2200" dirty="0">
                <a:solidFill>
                  <a:srgbClr val="1F2328"/>
                </a:solidFill>
              </a:rPr>
              <a:t>Enam garis relasi</a:t>
            </a:r>
            <a:endParaRPr lang="id-ID" sz="2200" dirty="0"/>
          </a:p>
        </p:txBody>
      </p:sp>
      <p:sp>
        <p:nvSpPr>
          <p:cNvPr id="17" name="Shape 14"/>
          <p:cNvSpPr/>
          <p:nvPr/>
        </p:nvSpPr>
        <p:spPr>
          <a:xfrm>
            <a:off x="548640" y="3994404"/>
            <a:ext cx="3515258" cy="2165604"/>
          </a:xfrm>
          <a:prstGeom prst="roundRect">
            <a:avLst>
              <a:gd name="adj" fmla="val 2139"/>
            </a:avLst>
          </a:prstGeom>
          <a:solidFill>
            <a:srgbClr val="F6F8FA"/>
          </a:solidFill>
          <a:ln w="9525">
            <a:solidFill>
              <a:srgbClr val="D0D7DE"/>
            </a:solidFill>
            <a:prstDash val="solid"/>
          </a:ln>
        </p:spPr>
      </p:sp>
      <p:sp>
        <p:nvSpPr>
          <p:cNvPr id="18" name="Shape 15"/>
          <p:cNvSpPr/>
          <p:nvPr/>
        </p:nvSpPr>
        <p:spPr>
          <a:xfrm>
            <a:off x="777240" y="4223004"/>
            <a:ext cx="512064" cy="512064"/>
          </a:xfrm>
          <a:prstGeom prst="ellipse">
            <a:avLst/>
          </a:prstGeom>
          <a:solidFill>
            <a:srgbClr val="0969DA"/>
          </a:solidFill>
          <a:ln/>
        </p:spPr>
      </p:sp>
      <p:sp>
        <p:nvSpPr>
          <p:cNvPr id="19" name="Text 16"/>
          <p:cNvSpPr txBox="1"/>
          <p:nvPr/>
        </p:nvSpPr>
        <p:spPr>
          <a:xfrm>
            <a:off x="777240" y="4223004"/>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863084"/>
            <a:ext cx="3058058" cy="1114044"/>
          </a:xfrm>
          <a:prstGeom prst="rect">
            <a:avLst/>
          </a:prstGeom>
          <a:noFill/>
          <a:ln/>
        </p:spPr>
        <p:txBody>
          <a:bodyPr wrap="square" lIns="0" tIns="0" rIns="0" bIns="0" rtlCol="0" anchor="t"/>
          <a:lstStyle/>
          <a:p>
            <a:pPr indent="0" marL="0">
              <a:buNone/>
            </a:pPr>
            <a:r>
              <a:rPr lang="id-ID" altLang="en-US" sz="2200" dirty="0">
                <a:solidFill>
                  <a:srgbClr val="1F2328"/>
                </a:solidFill>
              </a:rPr>
              <a:t>Multiplisitas dan nama peran</a:t>
            </a:r>
            <a:endParaRPr lang="id-ID" sz="2200" dirty="0"/>
          </a:p>
        </p:txBody>
      </p:sp>
      <p:sp>
        <p:nvSpPr>
          <p:cNvPr id="21" name="Shape 18"/>
          <p:cNvSpPr/>
          <p:nvPr/>
        </p:nvSpPr>
        <p:spPr>
          <a:xfrm>
            <a:off x="4338218" y="3994404"/>
            <a:ext cx="3515258" cy="2165604"/>
          </a:xfrm>
          <a:prstGeom prst="roundRect">
            <a:avLst>
              <a:gd name="adj" fmla="val 2139"/>
            </a:avLst>
          </a:prstGeom>
          <a:solidFill>
            <a:srgbClr val="F6F8FA"/>
          </a:solidFill>
          <a:ln w="9525">
            <a:solidFill>
              <a:srgbClr val="D0D7DE"/>
            </a:solidFill>
            <a:prstDash val="solid"/>
          </a:ln>
        </p:spPr>
      </p:sp>
      <p:sp>
        <p:nvSpPr>
          <p:cNvPr id="22" name="Shape 19"/>
          <p:cNvSpPr/>
          <p:nvPr/>
        </p:nvSpPr>
        <p:spPr>
          <a:xfrm>
            <a:off x="4566818" y="4223004"/>
            <a:ext cx="512064" cy="512064"/>
          </a:xfrm>
          <a:prstGeom prst="ellipse">
            <a:avLst/>
          </a:prstGeom>
          <a:solidFill>
            <a:srgbClr val="0969DA"/>
          </a:solidFill>
          <a:ln/>
        </p:spPr>
      </p:sp>
      <p:sp>
        <p:nvSpPr>
          <p:cNvPr id="23" name="Text 20"/>
          <p:cNvSpPr txBox="1"/>
          <p:nvPr/>
        </p:nvSpPr>
        <p:spPr>
          <a:xfrm>
            <a:off x="4566818" y="4223004"/>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863084"/>
            <a:ext cx="3058058" cy="1114044"/>
          </a:xfrm>
          <a:prstGeom prst="rect">
            <a:avLst/>
          </a:prstGeom>
          <a:noFill/>
          <a:ln/>
        </p:spPr>
        <p:txBody>
          <a:bodyPr wrap="square" lIns="0" tIns="0" rIns="0" bIns="0" rtlCol="0" anchor="t"/>
          <a:lstStyle/>
          <a:p>
            <a:pPr indent="0" marL="0">
              <a:buNone/>
            </a:pPr>
            <a:r>
              <a:rPr lang="id-ID" altLang="en-US" sz="2200" dirty="0">
                <a:solidFill>
                  <a:srgbClr val="1F2328"/>
                </a:solidFill>
              </a:rPr>
              <a:t>Mermaid, </a:t>
            </a:r>
            <a:r>
              <a:rPr lang="id-ID" altLang="en-US" sz="2200" i="1" dirty="0">
                <a:solidFill>
                  <a:srgbClr val="1F2328"/>
                </a:solidFill>
              </a:rPr>
              <a:t>forward</a:t>
            </a:r>
            <a:r>
              <a:rPr lang="id-ID" altLang="en-US" sz="2200" dirty="0">
                <a:solidFill>
                  <a:srgbClr val="1F2328"/>
                </a:solidFill>
              </a:rPr>
              <a:t>, dan </a:t>
            </a:r>
            <a:r>
              <a:rPr lang="id-ID" altLang="en-US" sz="2200" i="1" dirty="0">
                <a:solidFill>
                  <a:srgbClr val="1F2328"/>
                </a:solidFill>
              </a:rPr>
              <a:t>reverse engineering</a:t>
            </a:r>
            <a:endParaRPr lang="id-ID" sz="2200" dirty="0"/>
          </a:p>
        </p:txBody>
      </p:sp>
      <p:sp>
        <p:nvSpPr>
          <p:cNvPr id="25" name="Shape 22"/>
          <p:cNvSpPr/>
          <p:nvPr/>
        </p:nvSpPr>
        <p:spPr>
          <a:xfrm>
            <a:off x="8127797" y="3994404"/>
            <a:ext cx="3515258" cy="2165604"/>
          </a:xfrm>
          <a:prstGeom prst="roundRect">
            <a:avLst>
              <a:gd name="adj" fmla="val 2139"/>
            </a:avLst>
          </a:prstGeom>
          <a:solidFill>
            <a:srgbClr val="F6F8FA"/>
          </a:solidFill>
          <a:ln w="9525">
            <a:solidFill>
              <a:srgbClr val="D0D7DE"/>
            </a:solidFill>
            <a:prstDash val="solid"/>
          </a:ln>
        </p:spPr>
      </p:sp>
      <p:sp>
        <p:nvSpPr>
          <p:cNvPr id="26" name="Shape 23"/>
          <p:cNvSpPr/>
          <p:nvPr/>
        </p:nvSpPr>
        <p:spPr>
          <a:xfrm>
            <a:off x="8356397" y="4223004"/>
            <a:ext cx="512064" cy="512064"/>
          </a:xfrm>
          <a:prstGeom prst="ellipse">
            <a:avLst/>
          </a:prstGeom>
          <a:solidFill>
            <a:srgbClr val="0969DA"/>
          </a:solidFill>
          <a:ln/>
        </p:spPr>
      </p:sp>
      <p:sp>
        <p:nvSpPr>
          <p:cNvPr id="27" name="Text 24"/>
          <p:cNvSpPr txBox="1"/>
          <p:nvPr/>
        </p:nvSpPr>
        <p:spPr>
          <a:xfrm>
            <a:off x="8356397" y="4223004"/>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6</a:t>
            </a:r>
            <a:endParaRPr lang="id-ID" sz="2000" dirty="0"/>
          </a:p>
        </p:txBody>
      </p:sp>
      <p:sp>
        <p:nvSpPr>
          <p:cNvPr id="28" name="Text 25"/>
          <p:cNvSpPr txBox="1"/>
          <p:nvPr/>
        </p:nvSpPr>
        <p:spPr>
          <a:xfrm>
            <a:off x="8356397" y="4863084"/>
            <a:ext cx="3058058" cy="1114044"/>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Peta Sebelum Membangun</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Mengapa pemrogram butuh gambar, dan apa itu UML.</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Dimas Butuh Peta</a:t>
            </a:r>
            <a:endParaRPr lang="id-ID" sz="3200" dirty="0"/>
          </a:p>
        </p:txBody>
      </p:sp>
      <p:sp>
        <p:nvSpPr>
          <p:cNvPr id="5" name="Shape 2"/>
          <p:cNvSpPr/>
          <p:nvPr/>
        </p:nvSpPr>
        <p:spPr>
          <a:xfrm>
            <a:off x="548640" y="1511412"/>
            <a:ext cx="5074920" cy="4558284"/>
          </a:xfrm>
          <a:prstGeom prst="roundRect">
            <a:avLst>
              <a:gd name="adj" fmla="val 644"/>
            </a:avLst>
          </a:prstGeom>
          <a:solidFill>
            <a:srgbClr val="FFF8C5"/>
          </a:solidFill>
          <a:ln w="9525">
            <a:solidFill>
              <a:srgbClr val="D4A72C"/>
            </a:solidFill>
            <a:prstDash val="solid"/>
          </a:ln>
        </p:spPr>
      </p:sp>
      <p:sp>
        <p:nvSpPr>
          <p:cNvPr id="6" name="Shape 3"/>
          <p:cNvSpPr/>
          <p:nvPr/>
        </p:nvSpPr>
        <p:spPr>
          <a:xfrm>
            <a:off x="822960" y="1740012"/>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1840596"/>
            <a:ext cx="256032" cy="256032"/>
          </a:xfrm>
          <a:prstGeom prst="rect">
            <a:avLst/>
          </a:prstGeom>
        </p:spPr>
      </p:pic>
      <p:sp>
        <p:nvSpPr>
          <p:cNvPr id="8" name="Text 4"/>
          <p:cNvSpPr txBox="1"/>
          <p:nvPr/>
        </p:nvSpPr>
        <p:spPr>
          <a:xfrm>
            <a:off x="1417320" y="1785732"/>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450958"/>
            <a:ext cx="137160" cy="137160"/>
          </a:xfrm>
          <a:prstGeom prst="roundRect">
            <a:avLst>
              <a:gd name="adj" fmla="val 166667"/>
            </a:avLst>
          </a:prstGeom>
          <a:solidFill>
            <a:srgbClr val="9A6700"/>
          </a:solidFill>
          <a:ln/>
        </p:spPr>
      </p:sp>
      <p:sp>
        <p:nvSpPr>
          <p:cNvPr id="10" name="Text 6"/>
          <p:cNvSpPr txBox="1"/>
          <p:nvPr/>
        </p:nvSpPr>
        <p:spPr>
          <a:xfrm>
            <a:off x="1252728" y="2380092"/>
            <a:ext cx="3867912" cy="1161288"/>
          </a:xfrm>
          <a:prstGeom prst="rect">
            <a:avLst/>
          </a:prstGeom>
          <a:noFill/>
          <a:ln/>
        </p:spPr>
        <p:txBody>
          <a:bodyPr wrap="square" lIns="0" tIns="0" rIns="0" bIns="0" rtlCol="0" anchor="t"/>
          <a:lstStyle/>
          <a:p>
            <a:pPr indent="0" marL="0">
              <a:buNone/>
            </a:pPr>
            <a:r>
              <a:rPr lang="id-ID" altLang="en-US" sz="1800" dirty="0">
                <a:solidFill>
                  <a:srgbClr val="1F2328"/>
                </a:solidFill>
              </a:rPr>
              <a:t>Dimas baru bergabung dengan tim KedaiKita. Siapa yang membuat </a:t>
            </a:r>
            <a:r>
              <a:rPr lang="id-ID" altLang="en-US" sz="1800" dirty="0">
                <a:solidFill>
                  <a:srgbClr val="1F2328"/>
                </a:solidFill>
                <a:latin typeface="Consolas" pitchFamily="34" charset="0"/>
                <a:ea typeface="Consolas" pitchFamily="34" charset="-122"/>
                <a:cs typeface="Consolas" pitchFamily="34" charset="-120"/>
              </a:rPr>
              <a:t>ItemPesanan</a:t>
            </a:r>
            <a:r>
              <a:rPr lang="id-ID" altLang="en-US" sz="1800" dirty="0">
                <a:solidFill>
                  <a:srgbClr val="1F2328"/>
                </a:solidFill>
              </a:rPr>
              <a:t>? Jika pesanan dihapus, apakah pelanggannya ikut hilang?</a:t>
            </a:r>
            <a:endParaRPr lang="id-ID" sz="1800" dirty="0"/>
          </a:p>
        </p:txBody>
      </p:sp>
      <p:sp>
        <p:nvSpPr>
          <p:cNvPr id="11" name="Shape 7"/>
          <p:cNvSpPr/>
          <p:nvPr/>
        </p:nvSpPr>
        <p:spPr>
          <a:xfrm>
            <a:off x="923544" y="3785982"/>
            <a:ext cx="137160" cy="137160"/>
          </a:xfrm>
          <a:prstGeom prst="roundRect">
            <a:avLst>
              <a:gd name="adj" fmla="val 166667"/>
            </a:avLst>
          </a:prstGeom>
          <a:solidFill>
            <a:srgbClr val="9A6700"/>
          </a:solidFill>
          <a:ln/>
        </p:spPr>
      </p:sp>
      <p:sp>
        <p:nvSpPr>
          <p:cNvPr id="12" name="Text 8"/>
          <p:cNvSpPr txBox="1"/>
          <p:nvPr/>
        </p:nvSpPr>
        <p:spPr>
          <a:xfrm>
            <a:off x="1252728" y="3715116"/>
            <a:ext cx="3867912" cy="882396"/>
          </a:xfrm>
          <a:prstGeom prst="rect">
            <a:avLst/>
          </a:prstGeom>
          <a:noFill/>
          <a:ln/>
        </p:spPr>
        <p:txBody>
          <a:bodyPr wrap="square" lIns="0" tIns="0" rIns="0" bIns="0" rtlCol="0" anchor="t"/>
          <a:lstStyle/>
          <a:p>
            <a:pPr indent="0" marL="0">
              <a:buNone/>
            </a:pPr>
            <a:r>
              <a:rPr lang="id-ID" altLang="en-US" sz="1800" dirty="0">
                <a:solidFill>
                  <a:srgbClr val="1F2328"/>
                </a:solidFill>
              </a:rPr>
              <a:t>Pertama kali ke Samarinda dan ingin ke Tepian Mahakam? Kamu membuka </a:t>
            </a:r>
            <a:r>
              <a:rPr lang="id-ID" altLang="en-US" sz="1800" b="1" dirty="0">
                <a:solidFill>
                  <a:srgbClr val="1F2328"/>
                </a:solidFill>
              </a:rPr>
              <a:t>peta</a:t>
            </a:r>
            <a:r>
              <a:rPr lang="id-ID" altLang="en-US" sz="1800" dirty="0">
                <a:solidFill>
                  <a:srgbClr val="1F2328"/>
                </a:solidFill>
              </a:rPr>
              <a:t>, bukan menyusuri setiap jalan.</a:t>
            </a:r>
            <a:endParaRPr lang="id-ID" sz="1800" dirty="0"/>
          </a:p>
        </p:txBody>
      </p:sp>
      <p:sp>
        <p:nvSpPr>
          <p:cNvPr id="13" name="Shape 9"/>
          <p:cNvSpPr/>
          <p:nvPr/>
        </p:nvSpPr>
        <p:spPr>
          <a:xfrm>
            <a:off x="923544" y="4842114"/>
            <a:ext cx="137160" cy="137160"/>
          </a:xfrm>
          <a:prstGeom prst="roundRect">
            <a:avLst>
              <a:gd name="adj" fmla="val 166667"/>
            </a:avLst>
          </a:prstGeom>
          <a:solidFill>
            <a:srgbClr val="9A6700"/>
          </a:solidFill>
          <a:ln/>
        </p:spPr>
      </p:sp>
      <p:sp>
        <p:nvSpPr>
          <p:cNvPr id="14" name="Text 10"/>
          <p:cNvSpPr txBox="1"/>
          <p:nvPr/>
        </p:nvSpPr>
        <p:spPr>
          <a:xfrm>
            <a:off x="1252728" y="4771248"/>
            <a:ext cx="3867912" cy="1161288"/>
          </a:xfrm>
          <a:prstGeom prst="rect">
            <a:avLst/>
          </a:prstGeom>
          <a:noFill/>
          <a:ln/>
        </p:spPr>
        <p:txBody>
          <a:bodyPr wrap="square" lIns="0" tIns="0" rIns="0" bIns="0" rtlCol="0" anchor="t"/>
          <a:lstStyle/>
          <a:p>
            <a:pPr indent="0" marL="0">
              <a:buNone/>
            </a:pPr>
            <a:r>
              <a:rPr lang="id-ID" altLang="en-US" sz="1800" dirty="0">
                <a:solidFill>
                  <a:srgbClr val="1F2328"/>
                </a:solidFill>
              </a:rPr>
              <a:t>Arsitek menggambar </a:t>
            </a:r>
            <a:r>
              <a:rPr lang="id-ID" altLang="en-US" sz="1800" b="1" dirty="0">
                <a:solidFill>
                  <a:srgbClr val="1F2328"/>
                </a:solidFill>
              </a:rPr>
              <a:t>denah</a:t>
            </a:r>
            <a:r>
              <a:rPr lang="id-ID" altLang="en-US" sz="1800" dirty="0">
                <a:solidFill>
                  <a:srgbClr val="1F2328"/>
                </a:solidFill>
              </a:rPr>
              <a:t> sebelum tukang membangun. Mengubah denah jauh lebih murah daripada membongkar tembok.</a:t>
            </a:r>
            <a:endParaRPr lang="id-ID"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0" y="2185274"/>
          <a:ext cx="5699455" cy="914400"/>
        </p:xfrm>
        <a:graphic>
          <a:graphicData uri="http://schemas.openxmlformats.org/drawingml/2006/table">
            <a:tbl>
              <a:tblPr/>
              <a:tblGrid>
                <a:gridCol w="2990352"/>
                <a:gridCol w="2709103"/>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Dunia nyata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Dunia PBO</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Peta kota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Diagram kelas</a:t>
                      </a:r>
                      <a:r>
                        <a:rPr lang="id-ID" altLang="en-US" sz="2000" dirty="0">
                          <a:solidFill>
                            <a:srgbClr val="1F2328"/>
                          </a:solidFill>
                          <a:latin typeface="Calibri" pitchFamily="34" charset="0"/>
                          <a:ea typeface="Calibri" pitchFamily="34" charset="-122"/>
                          <a:cs typeface="Calibri" pitchFamily="34" charset="-120"/>
                        </a:rPr>
                        <a:t> (</a:t>
                      </a:r>
                      <a:r>
                        <a:rPr lang="id-ID" altLang="en-US" sz="2000" i="1" dirty="0">
                          <a:solidFill>
                            <a:srgbClr val="1F2328"/>
                          </a:solidFill>
                          <a:latin typeface="Calibri" pitchFamily="34" charset="0"/>
                          <a:ea typeface="Calibri" pitchFamily="34" charset="-122"/>
                          <a:cs typeface="Calibri" pitchFamily="34" charset="-120"/>
                        </a:rPr>
                        <a:t>class diagram</a:t>
                      </a:r>
                      <a:r>
                        <a:rPr lang="id-ID" altLang="en-US" sz="2000" dirty="0">
                          <a:solidFill>
                            <a:srgbClr val="1F2328"/>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111252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Peta tidak menampilkan setiap batu di jalan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Diagram tidak menampilkan setiap baris kode</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Denah sebelum membangun rumah</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Rancangan sebelum menulis kode</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Apa Itu UML?</a:t>
            </a:r>
            <a:endParaRPr lang="id-ID" sz="3200" dirty="0"/>
          </a:p>
        </p:txBody>
      </p:sp>
      <p:sp>
        <p:nvSpPr>
          <p:cNvPr id="5" name="Text 2"/>
          <p:cNvSpPr txBox="1"/>
          <p:nvPr/>
        </p:nvSpPr>
        <p:spPr>
          <a:xfrm>
            <a:off x="548640" y="1521546"/>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UML (</a:t>
            </a:r>
            <a:r>
              <a:rPr lang="id-ID" altLang="en-US" sz="3000" b="1" i="1" dirty="0">
                <a:solidFill>
                  <a:srgbClr val="0969DA"/>
                </a:solidFill>
              </a:rPr>
              <a:t>Unified Modeling Language</a:t>
            </a:r>
            <a:r>
              <a:rPr lang="id-ID" altLang="en-US" sz="3000" b="1" dirty="0">
                <a:solidFill>
                  <a:srgbClr val="0969DA"/>
                </a:solidFill>
              </a:rPr>
              <a:t>)</a:t>
            </a:r>
            <a:endParaRPr lang="id-ID" sz="3000" dirty="0"/>
          </a:p>
        </p:txBody>
      </p:sp>
      <p:sp>
        <p:nvSpPr>
          <p:cNvPr id="6" name="Shape 3"/>
          <p:cNvSpPr/>
          <p:nvPr/>
        </p:nvSpPr>
        <p:spPr>
          <a:xfrm>
            <a:off x="548640" y="2234778"/>
            <a:ext cx="11094415" cy="1261364"/>
          </a:xfrm>
          <a:prstGeom prst="roundRect">
            <a:avLst>
              <a:gd name="adj" fmla="val 6306"/>
            </a:avLst>
          </a:prstGeom>
          <a:solidFill>
            <a:srgbClr val="DDF4FF"/>
          </a:solidFill>
          <a:ln w="9525">
            <a:solidFill>
              <a:srgbClr val="54AEFF"/>
            </a:solidFill>
            <a:prstDash val="solid"/>
          </a:ln>
        </p:spPr>
      </p:sp>
      <p:sp>
        <p:nvSpPr>
          <p:cNvPr id="7" name="Shape 4"/>
          <p:cNvSpPr/>
          <p:nvPr/>
        </p:nvSpPr>
        <p:spPr>
          <a:xfrm>
            <a:off x="804672" y="2591140"/>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711841"/>
            <a:ext cx="307238" cy="307238"/>
          </a:xfrm>
          <a:prstGeom prst="rect">
            <a:avLst/>
          </a:prstGeom>
        </p:spPr>
      </p:pic>
      <p:sp>
        <p:nvSpPr>
          <p:cNvPr id="9" name="Text 5"/>
          <p:cNvSpPr txBox="1"/>
          <p:nvPr/>
        </p:nvSpPr>
        <p:spPr>
          <a:xfrm>
            <a:off x="1554480" y="2509098"/>
            <a:ext cx="9859975" cy="895604"/>
          </a:xfrm>
          <a:prstGeom prst="rect">
            <a:avLst/>
          </a:prstGeom>
          <a:noFill/>
          <a:ln/>
        </p:spPr>
        <p:txBody>
          <a:bodyPr wrap="square" lIns="0" tIns="0" rIns="0" bIns="0" rtlCol="0" anchor="t"/>
          <a:lstStyle/>
          <a:p>
            <a:pPr indent="0" marL="0">
              <a:buNone/>
            </a:pPr>
            <a:r>
              <a:rPr lang="id-ID" altLang="en-US" sz="2300" dirty="0">
                <a:solidFill>
                  <a:srgbClr val="1F2328"/>
                </a:solidFill>
              </a:rPr>
              <a:t>Bahasa pemodelan visual yang </a:t>
            </a:r>
            <a:r>
              <a:rPr lang="id-ID" altLang="en-US" sz="2300" b="1" dirty="0">
                <a:solidFill>
                  <a:srgbClr val="1F2328"/>
                </a:solidFill>
              </a:rPr>
              <a:t>standar</a:t>
            </a:r>
            <a:r>
              <a:rPr lang="id-ID" altLang="en-US" sz="2300" dirty="0">
                <a:solidFill>
                  <a:srgbClr val="1F2328"/>
                </a:solidFill>
              </a:rPr>
              <a:t> untuk menggambarkan, merancang, dan mendokumentasikan perangkat lunak.</a:t>
            </a:r>
            <a:endParaRPr lang="id-ID" sz="2300" dirty="0"/>
          </a:p>
        </p:txBody>
      </p:sp>
      <p:sp>
        <p:nvSpPr>
          <p:cNvPr id="10" name="Shape 6"/>
          <p:cNvSpPr/>
          <p:nvPr/>
        </p:nvSpPr>
        <p:spPr>
          <a:xfrm>
            <a:off x="603504" y="4047449"/>
            <a:ext cx="137160" cy="137160"/>
          </a:xfrm>
          <a:prstGeom prst="roundRect">
            <a:avLst>
              <a:gd name="adj" fmla="val 166667"/>
            </a:avLst>
          </a:prstGeom>
          <a:solidFill>
            <a:srgbClr val="0969DA"/>
          </a:solidFill>
          <a:ln/>
        </p:spPr>
      </p:sp>
      <p:sp>
        <p:nvSpPr>
          <p:cNvPr id="11" name="Text 7"/>
          <p:cNvSpPr txBox="1"/>
          <p:nvPr/>
        </p:nvSpPr>
        <p:spPr>
          <a:xfrm>
            <a:off x="932688" y="3953342"/>
            <a:ext cx="10710367" cy="696468"/>
          </a:xfrm>
          <a:prstGeom prst="rect">
            <a:avLst/>
          </a:prstGeom>
          <a:noFill/>
          <a:ln/>
        </p:spPr>
        <p:txBody>
          <a:bodyPr wrap="square" lIns="0" tIns="0" rIns="0" bIns="0" rtlCol="0" anchor="t"/>
          <a:lstStyle/>
          <a:p>
            <a:pPr indent="0" marL="0">
              <a:buNone/>
            </a:pPr>
            <a:r>
              <a:rPr lang="id-ID" altLang="en-US" sz="2100" b="1" dirty="0">
                <a:solidFill>
                  <a:srgbClr val="1F2328"/>
                </a:solidFill>
              </a:rPr>
              <a:t>Bukan</a:t>
            </a:r>
            <a:r>
              <a:rPr lang="id-ID" altLang="en-US" sz="2100" dirty="0">
                <a:solidFill>
                  <a:srgbClr val="1F2328"/>
                </a:solidFill>
              </a:rPr>
              <a:t> bahasa pemrograman: UML tidak bisa dijalankan. Simbolnya disepakati bersama, mirip rambu lalu lintas.</a:t>
            </a:r>
            <a:endParaRPr lang="id-ID" sz="2100" dirty="0"/>
          </a:p>
        </p:txBody>
      </p:sp>
      <p:sp>
        <p:nvSpPr>
          <p:cNvPr id="12" name="Shape 8"/>
          <p:cNvSpPr/>
          <p:nvPr/>
        </p:nvSpPr>
        <p:spPr>
          <a:xfrm>
            <a:off x="603504" y="4935941"/>
            <a:ext cx="137160" cy="137160"/>
          </a:xfrm>
          <a:prstGeom prst="roundRect">
            <a:avLst>
              <a:gd name="adj" fmla="val 166667"/>
            </a:avLst>
          </a:prstGeom>
          <a:solidFill>
            <a:srgbClr val="0969DA"/>
          </a:solidFill>
          <a:ln/>
        </p:spPr>
      </p:sp>
      <p:sp>
        <p:nvSpPr>
          <p:cNvPr id="13" name="Text 9"/>
          <p:cNvSpPr txBox="1"/>
          <p:nvPr/>
        </p:nvSpPr>
        <p:spPr>
          <a:xfrm>
            <a:off x="932688" y="4841834"/>
            <a:ext cx="10710367" cy="371094"/>
          </a:xfrm>
          <a:prstGeom prst="rect">
            <a:avLst/>
          </a:prstGeom>
          <a:noFill/>
          <a:ln/>
        </p:spPr>
        <p:txBody>
          <a:bodyPr wrap="square" lIns="0" tIns="0" rIns="0" bIns="0" rtlCol="0" anchor="t"/>
          <a:lstStyle/>
          <a:p>
            <a:pPr indent="0" marL="0">
              <a:buNone/>
            </a:pPr>
            <a:r>
              <a:rPr lang="id-ID" altLang="en-US" sz="2100" dirty="0">
                <a:solidFill>
                  <a:srgbClr val="1F2328"/>
                </a:solidFill>
              </a:rPr>
              <a:t>Disatukan oleh Booch, Rumbaugh, dan Jacobson, lalu diadopsi </a:t>
            </a:r>
            <a:r>
              <a:rPr lang="id-ID" altLang="en-US" sz="2100" b="1" dirty="0">
                <a:solidFill>
                  <a:srgbClr val="1F2328"/>
                </a:solidFill>
              </a:rPr>
              <a:t>OMG</a:t>
            </a:r>
            <a:r>
              <a:rPr lang="id-ID" altLang="en-US" sz="2100" dirty="0">
                <a:solidFill>
                  <a:srgbClr val="1F2328"/>
                </a:solidFill>
              </a:rPr>
              <a:t> sebagai standar pada 1997.</a:t>
            </a:r>
            <a:endParaRPr lang="id-ID" sz="2100" dirty="0"/>
          </a:p>
        </p:txBody>
      </p:sp>
      <p:sp>
        <p:nvSpPr>
          <p:cNvPr id="14" name="Shape 10"/>
          <p:cNvSpPr/>
          <p:nvPr/>
        </p:nvSpPr>
        <p:spPr>
          <a:xfrm>
            <a:off x="603504" y="5499059"/>
            <a:ext cx="137160" cy="137160"/>
          </a:xfrm>
          <a:prstGeom prst="roundRect">
            <a:avLst>
              <a:gd name="adj" fmla="val 166667"/>
            </a:avLst>
          </a:prstGeom>
          <a:solidFill>
            <a:srgbClr val="0969DA"/>
          </a:solidFill>
          <a:ln/>
        </p:spPr>
      </p:sp>
      <p:sp>
        <p:nvSpPr>
          <p:cNvPr id="15" name="Text 11"/>
          <p:cNvSpPr txBox="1"/>
          <p:nvPr/>
        </p:nvSpPr>
        <p:spPr>
          <a:xfrm>
            <a:off x="932688" y="5404952"/>
            <a:ext cx="10710367" cy="696468"/>
          </a:xfrm>
          <a:prstGeom prst="rect">
            <a:avLst/>
          </a:prstGeom>
          <a:noFill/>
          <a:ln/>
        </p:spPr>
        <p:txBody>
          <a:bodyPr wrap="square" lIns="0" tIns="0" rIns="0" bIns="0" rtlCol="0" anchor="t"/>
          <a:lstStyle/>
          <a:p>
            <a:pPr indent="0" marL="0">
              <a:buNone/>
            </a:pPr>
            <a:r>
              <a:rPr lang="id-ID" altLang="en-US" sz="2100" dirty="0">
                <a:solidFill>
                  <a:srgbClr val="1F2328"/>
                </a:solidFill>
              </a:rPr>
              <a:t>Diagram kelas termasuk diagram struktur dan paling sering dipakai dalam PBO: </a:t>
            </a:r>
            <a:r>
              <a:rPr lang="id-ID" altLang="en-US" sz="2100" b="1" dirty="0">
                <a:solidFill>
                  <a:srgbClr val="1F2328"/>
                </a:solidFill>
              </a:rPr>
              <a:t>satu kotak = satu kelas</a:t>
            </a:r>
            <a:r>
              <a:rPr lang="id-ID" altLang="en-US" sz="2100" dirty="0">
                <a:solidFill>
                  <a:srgbClr val="1F2328"/>
                </a:solidFill>
              </a:rPr>
              <a:t>.</a:t>
            </a:r>
            <a:endParaRPr lang="id-ID" sz="2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Anatomi Kotak Kelas</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Nama, atribut, dan </a:t>
            </a:r>
            <a:r>
              <a:rPr lang="id-ID" altLang="en-US" sz="2200" i="1" dirty="0">
                <a:solidFill>
                  <a:srgbClr val="C9D7E8"/>
                </a:solidFill>
              </a:rPr>
              <a:t>method</a:t>
            </a:r>
            <a:r>
              <a:rPr lang="id-ID" altLang="en-US" sz="2200" dirty="0">
                <a:solidFill>
                  <a:srgbClr val="C9D7E8"/>
                </a:solidFill>
              </a:rPr>
              <a:t>, ditambah visibilitas dan tipe.</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Kotak Kelas Lengkap: Kelas </a:t>
            </a:r>
            <a:r>
              <a:rPr lang="id-ID" altLang="en-US" sz="3200" b="1" dirty="0">
                <a:solidFill>
                  <a:srgbClr val="0A3069"/>
                </a:solidFill>
                <a:latin typeface="Consolas" pitchFamily="34" charset="0"/>
                <a:ea typeface="Consolas" pitchFamily="34" charset="-122"/>
                <a:cs typeface="Consolas" pitchFamily="34" charset="-120"/>
              </a:rPr>
              <a:t>Paket</a:t>
            </a:r>
            <a:endParaRPr lang="id-ID" sz="3200" dirty="0"/>
          </a:p>
        </p:txBody>
      </p:sp>
      <p:pic>
        <p:nvPicPr>
          <p:cNvPr id="5" name="Image 1" descr="Baris bergaris bawah adalah anggota static (milik kelas). Di Mermaid, barisnya diakhiri $.">    </p:cNvPr>
          <p:cNvPicPr>
            <a:picLocks noChangeAspect="1"/>
          </p:cNvPicPr>
          <p:nvPr/>
        </p:nvPicPr>
        <p:blipFill>
          <a:blip r:embed="rId2"/>
          <a:stretch>
            <a:fillRect/>
          </a:stretch>
        </p:blipFill>
        <p:spPr>
          <a:xfrm>
            <a:off x="4047041" y="1417320"/>
            <a:ext cx="4097614" cy="4308602"/>
          </a:xfrm>
          <a:prstGeom prst="rect">
            <a:avLst/>
          </a:prstGeom>
        </p:spPr>
      </p:pic>
      <p:sp>
        <p:nvSpPr>
          <p:cNvPr id="6" name="Text 2"/>
          <p:cNvSpPr txBox="1"/>
          <p:nvPr/>
        </p:nvSpPr>
        <p:spPr>
          <a:xfrm>
            <a:off x="1005840" y="5835650"/>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Baris bergaris bawah adalah anggota </a:t>
            </a:r>
            <a:r>
              <a:rPr lang="id-ID" altLang="en-US" sz="1700" i="1" dirty="0">
                <a:solidFill>
                  <a:srgbClr val="57606A"/>
                </a:solidFill>
              </a:rPr>
              <a:t>static</a:t>
            </a:r>
            <a:r>
              <a:rPr lang="id-ID" altLang="en-US" sz="1700" dirty="0">
                <a:solidFill>
                  <a:srgbClr val="57606A"/>
                </a:solidFill>
              </a:rPr>
              <a:t> (milik kelas). Di Mermaid, barisnya diakhiri </a:t>
            </a:r>
            <a:r>
              <a:rPr lang="id-ID" altLang="en-US" sz="1700" dirty="0">
                <a:solidFill>
                  <a:srgbClr val="57606A"/>
                </a:solidFill>
                <a:latin typeface="Consolas" pitchFamily="34" charset="0"/>
                <a:ea typeface="Consolas" pitchFamily="34" charset="-122"/>
                <a:cs typeface="Consolas" pitchFamily="34" charset="-120"/>
              </a:rPr>
              <a:t>$</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Cara Membaca Baris Kotak Kelas</a:t>
            </a:r>
            <a:endParaRPr lang="id-ID"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25001"/>
          <a:ext cx="11094415" cy="914400"/>
        </p:xfrm>
        <a:graphic>
          <a:graphicData uri="http://schemas.openxmlformats.org/drawingml/2006/table">
            <a:tbl>
              <a:tblPr/>
              <a:tblGrid>
                <a:gridCol w="5439328"/>
                <a:gridCol w="5655087"/>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Baris di kotak</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Cara membacanya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9276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-resi : String</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atribut </a:t>
                      </a:r>
                      <a:r>
                        <a:rPr lang="id-ID" altLang="en-US" sz="2000" b="1" dirty="0">
                          <a:solidFill>
                            <a:srgbClr val="1F2328"/>
                          </a:solidFill>
                          <a:latin typeface="Calibri" pitchFamily="34" charset="0"/>
                          <a:ea typeface="Calibri" pitchFamily="34" charset="-122"/>
                          <a:cs typeface="Calibri" pitchFamily="34" charset="-120"/>
                        </a:rPr>
                        <a:t>privat</a:t>
                      </a:r>
                      <a:r>
                        <a:rPr lang="id-ID" altLang="en-US" sz="2000" dirty="0">
                          <a:solidFill>
                            <a:srgbClr val="1F2328"/>
                          </a:solidFill>
                          <a:latin typeface="Calibri" pitchFamily="34" charset="0"/>
                          <a:ea typeface="Calibri" pitchFamily="34" charset="-122"/>
                          <a:cs typeface="Calibri" pitchFamily="34" charset="-120"/>
                        </a:rPr>
                        <a:t> bernama </a:t>
                      </a:r>
                      <a:r>
                        <a:rPr lang="id-ID" altLang="en-US" sz="2000" dirty="0">
                          <a:solidFill>
                            <a:srgbClr val="0A3069"/>
                          </a:solidFill>
                          <a:latin typeface="Consolas" pitchFamily="34" charset="0"/>
                          <a:ea typeface="Consolas" pitchFamily="34" charset="-122"/>
                          <a:cs typeface="Consolas" pitchFamily="34" charset="-120"/>
                        </a:rPr>
                        <a:t>resi</a:t>
                      </a:r>
                      <a:r>
                        <a:rPr lang="id-ID" altLang="en-US" sz="2000" dirty="0">
                          <a:solidFill>
                            <a:srgbClr val="1F2328"/>
                          </a:solidFill>
                          <a:latin typeface="Calibri" pitchFamily="34" charset="0"/>
                          <a:ea typeface="Calibri" pitchFamily="34" charset="-122"/>
                          <a:cs typeface="Calibri" pitchFamily="34" charset="-120"/>
                        </a:rPr>
                        <a:t>, bertipe teks</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+TARIF_PER_KG : int = 8000</a:t>
                      </a:r>
                      <a:r>
                        <a:rPr lang="id-ID" altLang="en-US" sz="2000" dirty="0">
                          <a:solidFill>
                            <a:srgbClr val="1F2328"/>
                          </a:solidFill>
                          <a:latin typeface="Calibri" pitchFamily="34" charset="0"/>
                          <a:ea typeface="Calibri" pitchFamily="34" charset="-122"/>
                          <a:cs typeface="Calibri" pitchFamily="34" charset="-120"/>
                        </a:rPr>
                        <a:t> (bergaris bawah)</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atribut </a:t>
                      </a:r>
                      <a:r>
                        <a:rPr lang="id-ID" altLang="en-US" sz="2000" b="1" dirty="0">
                          <a:solidFill>
                            <a:srgbClr val="1F2328"/>
                          </a:solidFill>
                          <a:latin typeface="Calibri" pitchFamily="34" charset="0"/>
                          <a:ea typeface="Calibri" pitchFamily="34" charset="-122"/>
                          <a:cs typeface="Calibri" pitchFamily="34" charset="-120"/>
                        </a:rPr>
                        <a:t>publik</a:t>
                      </a:r>
                      <a:r>
                        <a:rPr lang="id-ID" altLang="en-US" sz="2000" dirty="0">
                          <a:solidFill>
                            <a:srgbClr val="1F2328"/>
                          </a:solidFill>
                          <a:latin typeface="Calibri" pitchFamily="34" charset="0"/>
                          <a:ea typeface="Calibri" pitchFamily="34" charset="-122"/>
                          <a:cs typeface="Calibri" pitchFamily="34" charset="-120"/>
                        </a:rPr>
                        <a:t> milik </a:t>
                      </a:r>
                      <a:r>
                        <a:rPr lang="id-ID" altLang="en-US" sz="2000" b="1" dirty="0">
                          <a:solidFill>
                            <a:srgbClr val="1F2328"/>
                          </a:solidFill>
                          <a:latin typeface="Calibri" pitchFamily="34" charset="0"/>
                          <a:ea typeface="Calibri" pitchFamily="34" charset="-122"/>
                          <a:cs typeface="Calibri" pitchFamily="34" charset="-120"/>
                        </a:rPr>
                        <a:t>kelas</a:t>
                      </a:r>
                      <a:r>
                        <a:rPr lang="id-ID" altLang="en-US" sz="2000" dirty="0">
                          <a:solidFill>
                            <a:srgbClr val="1F2328"/>
                          </a:solidFill>
                          <a:latin typeface="Calibri" pitchFamily="34" charset="0"/>
                          <a:ea typeface="Calibri" pitchFamily="34" charset="-122"/>
                          <a:cs typeface="Calibri" pitchFamily="34" charset="-120"/>
                        </a:rPr>
                        <a:t> (</a:t>
                      </a:r>
                      <a:r>
                        <a:rPr lang="id-ID" altLang="en-US" sz="2000" i="1" dirty="0">
                          <a:solidFill>
                            <a:srgbClr val="1F2328"/>
                          </a:solidFill>
                          <a:latin typeface="Calibri" pitchFamily="34" charset="0"/>
                          <a:ea typeface="Calibri" pitchFamily="34" charset="-122"/>
                          <a:cs typeface="Calibri" pitchFamily="34" charset="-120"/>
                        </a:rPr>
                        <a:t>static</a:t>
                      </a:r>
                      <a:r>
                        <a:rPr lang="id-ID" altLang="en-US" sz="2000" dirty="0">
                          <a:solidFill>
                            <a:srgbClr val="1F2328"/>
                          </a:solidFill>
                          <a:latin typeface="Calibri" pitchFamily="34" charset="0"/>
                          <a:ea typeface="Calibri" pitchFamily="34" charset="-122"/>
                          <a:cs typeface="Calibri" pitchFamily="34" charset="-120"/>
                        </a:rPr>
                        <a:t>), nilai awalnya 8000</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+Paket(tujuan: String, beratGram: int)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konstruktor</a:t>
                      </a:r>
                      <a:r>
                        <a:rPr lang="id-ID" altLang="en-US" sz="2000" dirty="0">
                          <a:solidFill>
                            <a:srgbClr val="1F2328"/>
                          </a:solidFill>
                          <a:latin typeface="Calibri" pitchFamily="34" charset="0"/>
                          <a:ea typeface="Calibri" pitchFamily="34" charset="-122"/>
                          <a:cs typeface="Calibri" pitchFamily="34" charset="-120"/>
                        </a:rPr>
                        <a:t>: namanya sama dengan nama kelas, tanpa tipe kembalian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-beratKg() : int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i="1" dirty="0">
                          <a:solidFill>
                            <a:srgbClr val="1F2328"/>
                          </a:solidFill>
                          <a:latin typeface="Calibri" pitchFamily="34" charset="0"/>
                          <a:ea typeface="Calibri" pitchFamily="34" charset="-122"/>
                          <a:cs typeface="Calibri" pitchFamily="34" charset="-120"/>
                        </a:rPr>
                        <a:t>method</a:t>
                      </a:r>
                      <a:r>
                        <a:rPr lang="id-ID" altLang="en-US" sz="2000" dirty="0">
                          <a:solidFill>
                            <a:srgbClr val="1F2328"/>
                          </a:solidFill>
                          <a:latin typeface="Calibri" pitchFamily="34" charset="0"/>
                          <a:ea typeface="Calibri" pitchFamily="34" charset="-122"/>
                          <a:cs typeface="Calibri" pitchFamily="34" charset="-120"/>
                        </a:rPr>
                        <a:t> privat tanpa parameter, mengembalikan </a:t>
                      </a:r>
                      <a:r>
                        <a:rPr lang="id-ID" altLang="en-US" sz="2000" dirty="0">
                          <a:solidFill>
                            <a:srgbClr val="0A3069"/>
                          </a:solidFill>
                          <a:latin typeface="Consolas" pitchFamily="34" charset="0"/>
                          <a:ea typeface="Consolas" pitchFamily="34" charset="-122"/>
                          <a:cs typeface="Consolas" pitchFamily="34" charset="-120"/>
                        </a:rPr>
                        <a:t>int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9276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+jumlahPaket() : int</a:t>
                      </a:r>
                      <a:r>
                        <a:rPr lang="id-ID" altLang="en-US" sz="2000" dirty="0">
                          <a:solidFill>
                            <a:srgbClr val="1F2328"/>
                          </a:solidFill>
                          <a:latin typeface="Calibri" pitchFamily="34" charset="0"/>
                          <a:ea typeface="Calibri" pitchFamily="34" charset="-122"/>
                          <a:cs typeface="Calibri" pitchFamily="34" charset="-120"/>
                        </a:rPr>
                        <a:t> (bergaris bawah)</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i="1" dirty="0">
                          <a:solidFill>
                            <a:srgbClr val="1F2328"/>
                          </a:solidFill>
                          <a:latin typeface="Calibri" pitchFamily="34" charset="0"/>
                          <a:ea typeface="Calibri" pitchFamily="34" charset="-122"/>
                          <a:cs typeface="Calibri" pitchFamily="34" charset="-120"/>
                        </a:rPr>
                        <a:t>method</a:t>
                      </a:r>
                      <a:r>
                        <a:rPr lang="id-ID" altLang="en-US" sz="2000" dirty="0">
                          <a:solidFill>
                            <a:srgbClr val="1F2328"/>
                          </a:solidFill>
                          <a:latin typeface="Calibri" pitchFamily="34" charset="0"/>
                          <a:ea typeface="Calibri" pitchFamily="34" charset="-122"/>
                          <a:cs typeface="Calibri" pitchFamily="34" charset="-120"/>
                        </a:rPr>
                        <a:t> milik kelas (</a:t>
                      </a:r>
                      <a:r>
                        <a:rPr lang="id-ID" altLang="en-US" sz="2000" i="1" dirty="0">
                          <a:solidFill>
                            <a:srgbClr val="1F2328"/>
                          </a:solidFill>
                          <a:latin typeface="Calibri" pitchFamily="34" charset="0"/>
                          <a:ea typeface="Calibri" pitchFamily="34" charset="-122"/>
                          <a:cs typeface="Calibri" pitchFamily="34" charset="-120"/>
                        </a:rPr>
                        <a:t>static</a:t>
                      </a:r>
                      <a:r>
                        <a:rPr lang="id-ID" altLang="en-US" sz="2000" dirty="0">
                          <a:solidFill>
                            <a:srgbClr val="1F2328"/>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55808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30509"/>
            <a:ext cx="184343" cy="184343"/>
          </a:xfrm>
          <a:prstGeom prst="rect">
            <a:avLst/>
          </a:prstGeom>
        </p:spPr>
      </p:pic>
      <p:sp>
        <p:nvSpPr>
          <p:cNvPr id="8" name="Text 3"/>
          <p:cNvSpPr txBox="1"/>
          <p:nvPr/>
        </p:nvSpPr>
        <p:spPr>
          <a:xfrm>
            <a:off x="1005840" y="5539801"/>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Pola: </a:t>
            </a:r>
            <a:r>
              <a:rPr lang="id-ID" altLang="en-US" sz="1800" dirty="0">
                <a:solidFill>
                  <a:srgbClr val="57606A"/>
                </a:solidFill>
                <a:latin typeface="Consolas" pitchFamily="34" charset="0"/>
                <a:ea typeface="Consolas" pitchFamily="34" charset="-122"/>
                <a:cs typeface="Consolas" pitchFamily="34" charset="-120"/>
              </a:rPr>
              <a:t>visibilitas nama : Tipe</a:t>
            </a:r>
            <a:r>
              <a:rPr lang="id-ID" altLang="en-US" sz="1800" dirty="0">
                <a:solidFill>
                  <a:srgbClr val="57606A"/>
                </a:solidFill>
              </a:rPr>
              <a:t> untuk atribut dan </a:t>
            </a:r>
            <a:r>
              <a:rPr lang="id-ID" altLang="en-US" sz="1800" dirty="0">
                <a:solidFill>
                  <a:srgbClr val="57606A"/>
                </a:solidFill>
                <a:latin typeface="Consolas" pitchFamily="34" charset="0"/>
                <a:ea typeface="Consolas" pitchFamily="34" charset="-122"/>
                <a:cs typeface="Consolas" pitchFamily="34" charset="-120"/>
              </a:rPr>
              <a:t>visibilitas nama(parameter: Tipe) : TipeKembalian</a:t>
            </a:r>
            <a:r>
              <a:rPr lang="id-ID" altLang="en-US" sz="1800" dirty="0">
                <a:solidFill>
                  <a:srgbClr val="57606A"/>
                </a:solidFill>
              </a:rPr>
              <a:t> untuk </a:t>
            </a:r>
            <a:r>
              <a:rPr lang="id-ID" altLang="en-US" sz="1800" i="1" dirty="0">
                <a:solidFill>
                  <a:srgbClr val="57606A"/>
                </a:solidFill>
              </a:rPr>
              <a:t>method</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Visibilitas: Siapa Boleh Mengakses?</a:t>
            </a:r>
            <a:endParaRPr lang="id-ID"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77513"/>
          <a:ext cx="11094415" cy="914400"/>
        </p:xfrm>
        <a:graphic>
          <a:graphicData uri="http://schemas.openxmlformats.org/drawingml/2006/table">
            <a:tbl>
              <a:tblPr/>
              <a:tblGrid>
                <a:gridCol w="1224332"/>
                <a:gridCol w="2448531"/>
                <a:gridCol w="3203528"/>
                <a:gridCol w="4218023"/>
              </a:tblGrid>
              <a:tr h="709676">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Simbol</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Siapa yang boleh mengakses</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Python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Java</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46278">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a:t>
                      </a:r>
                      <a:r>
                        <a:rPr lang="id-ID" altLang="en-US" sz="1700" dirty="0">
                          <a:solidFill>
                            <a:srgbClr val="1F2328"/>
                          </a:solidFill>
                          <a:latin typeface="Calibri" pitchFamily="34" charset="0"/>
                          <a:ea typeface="Calibri" pitchFamily="34" charset="-122"/>
                          <a:cs typeface="Calibri" pitchFamily="34" charset="-120"/>
                        </a:rPr>
                        <a:t> </a:t>
                      </a:r>
                      <a:r>
                        <a:rPr lang="id-ID" altLang="en-US" sz="1700" i="1" dirty="0">
                          <a:solidFill>
                            <a:srgbClr val="1F2328"/>
                          </a:solidFill>
                          <a:latin typeface="Calibri" pitchFamily="34" charset="0"/>
                          <a:ea typeface="Calibri" pitchFamily="34" charset="-122"/>
                          <a:cs typeface="Calibri" pitchFamily="34" charset="-120"/>
                        </a:rPr>
                        <a:t>public</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semua kelas (teras)</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nama biasa: </a:t>
                      </a:r>
                      <a:r>
                        <a:rPr lang="id-ID" altLang="en-US" sz="1700" dirty="0">
                          <a:solidFill>
                            <a:srgbClr val="0A3069"/>
                          </a:solidFill>
                          <a:latin typeface="Consolas" pitchFamily="34" charset="0"/>
                          <a:ea typeface="Consolas" pitchFamily="34" charset="-122"/>
                          <a:cs typeface="Consolas" pitchFamily="34" charset="-120"/>
                        </a:rPr>
                        <a:t>harga</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public</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09676">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a:t>
                      </a:r>
                      <a:r>
                        <a:rPr lang="id-ID" altLang="en-US" sz="1700" dirty="0">
                          <a:solidFill>
                            <a:srgbClr val="1F2328"/>
                          </a:solidFill>
                          <a:latin typeface="Calibri" pitchFamily="34" charset="0"/>
                          <a:ea typeface="Calibri" pitchFamily="34" charset="-122"/>
                          <a:cs typeface="Calibri" pitchFamily="34" charset="-120"/>
                        </a:rPr>
                        <a:t> </a:t>
                      </a:r>
                      <a:r>
                        <a:rPr lang="id-ID" altLang="en-US" sz="1700" i="1" dirty="0">
                          <a:solidFill>
                            <a:srgbClr val="1F2328"/>
                          </a:solidFill>
                          <a:latin typeface="Calibri" pitchFamily="34" charset="0"/>
                          <a:ea typeface="Calibri" pitchFamily="34" charset="-122"/>
                          <a:cs typeface="Calibri" pitchFamily="34" charset="-120"/>
                        </a:rPr>
                        <a:t>private</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hanya kelas itu sendiri (kamar tidur)</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awalan </a:t>
                      </a:r>
                      <a:r>
                        <a:rPr lang="id-ID" altLang="en-US" sz="1700" dirty="0">
                          <a:solidFill>
                            <a:srgbClr val="0A3069"/>
                          </a:solidFill>
                          <a:latin typeface="Consolas" pitchFamily="34" charset="0"/>
                          <a:ea typeface="Consolas" pitchFamily="34" charset="-122"/>
                          <a:cs typeface="Consolas" pitchFamily="34" charset="-120"/>
                        </a:rPr>
                        <a:t>_</a:t>
                      </a:r>
                      <a:r>
                        <a:rPr lang="id-ID" altLang="en-US" sz="1700" dirty="0">
                          <a:solidFill>
                            <a:srgbClr val="1F2328"/>
                          </a:solidFill>
                          <a:latin typeface="Calibri" pitchFamily="34" charset="0"/>
                          <a:ea typeface="Calibri" pitchFamily="34" charset="-122"/>
                          <a:cs typeface="Calibri" pitchFamily="34" charset="-120"/>
                        </a:rPr>
                        <a:t>: </a:t>
                      </a:r>
                      <a:r>
                        <a:rPr lang="id-ID" altLang="en-US" sz="1700" dirty="0">
                          <a:solidFill>
                            <a:srgbClr val="0A3069"/>
                          </a:solidFill>
                          <a:latin typeface="Consolas" pitchFamily="34" charset="0"/>
                          <a:ea typeface="Consolas" pitchFamily="34" charset="-122"/>
                          <a:cs typeface="Consolas" pitchFamily="34" charset="-120"/>
                        </a:rPr>
                        <a:t>_harga</a:t>
                      </a:r>
                      <a:r>
                        <a:rPr lang="id-ID" altLang="en-US" sz="1700" dirty="0">
                          <a:solidFill>
                            <a:srgbClr val="1F2328"/>
                          </a:solidFill>
                          <a:latin typeface="Calibri" pitchFamily="34" charset="0"/>
                          <a:ea typeface="Calibri" pitchFamily="34" charset="-122"/>
                          <a:cs typeface="Calibri" pitchFamily="34" charset="-120"/>
                        </a:rPr>
                        <a:t> (kesepakatan)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private</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09676">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a:t>
                      </a:r>
                      <a:r>
                        <a:rPr lang="id-ID" altLang="en-US" sz="1700" dirty="0">
                          <a:solidFill>
                            <a:srgbClr val="1F2328"/>
                          </a:solidFill>
                          <a:latin typeface="Calibri" pitchFamily="34" charset="0"/>
                          <a:ea typeface="Calibri" pitchFamily="34" charset="-122"/>
                          <a:cs typeface="Calibri" pitchFamily="34" charset="-120"/>
                        </a:rPr>
                        <a:t> </a:t>
                      </a:r>
                      <a:r>
                        <a:rPr lang="id-ID" altLang="en-US" sz="1700" i="1" dirty="0">
                          <a:solidFill>
                            <a:srgbClr val="1F2328"/>
                          </a:solidFill>
                          <a:latin typeface="Calibri" pitchFamily="34" charset="0"/>
                          <a:ea typeface="Calibri" pitchFamily="34" charset="-122"/>
                          <a:cs typeface="Calibri" pitchFamily="34" charset="-120"/>
                        </a:rPr>
                        <a:t>protected</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kelas itu dan kelas anaknya (ruang keluarga)</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awalan </a:t>
                      </a:r>
                      <a:r>
                        <a:rPr lang="id-ID" altLang="en-US" sz="1700" dirty="0">
                          <a:solidFill>
                            <a:srgbClr val="0A3069"/>
                          </a:solidFill>
                          <a:latin typeface="Consolas" pitchFamily="34" charset="0"/>
                          <a:ea typeface="Consolas" pitchFamily="34" charset="-122"/>
                          <a:cs typeface="Consolas" pitchFamily="34" charset="-120"/>
                        </a:rPr>
                        <a:t>_</a:t>
                      </a:r>
                      <a:r>
                        <a:rPr lang="id-ID" altLang="en-US" sz="1700" dirty="0">
                          <a:solidFill>
                            <a:srgbClr val="1F2328"/>
                          </a:solidFill>
                          <a:latin typeface="Calibri" pitchFamily="34" charset="0"/>
                          <a:ea typeface="Calibri" pitchFamily="34" charset="-122"/>
                          <a:cs typeface="Calibri" pitchFamily="34" charset="-120"/>
                        </a:rPr>
                        <a:t> juga (kesepakatan)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protected</a:t>
                      </a:r>
                      <a:r>
                        <a:rPr lang="id-ID" altLang="en-US" sz="1700" dirty="0">
                          <a:solidFill>
                            <a:srgbClr val="1F2328"/>
                          </a:solidFill>
                          <a:latin typeface="Calibri" pitchFamily="34" charset="0"/>
                          <a:ea typeface="Calibri" pitchFamily="34" charset="-122"/>
                          <a:cs typeface="Calibri" pitchFamily="34" charset="-120"/>
                        </a:rPr>
                        <a:t> (juga terbuka untuk satu paket)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09676">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a:t>
                      </a:r>
                      <a:r>
                        <a:rPr lang="id-ID" altLang="en-US" sz="1700" dirty="0">
                          <a:solidFill>
                            <a:srgbClr val="1F2328"/>
                          </a:solidFill>
                          <a:latin typeface="Calibri" pitchFamily="34" charset="0"/>
                          <a:ea typeface="Calibri" pitchFamily="34" charset="-122"/>
                          <a:cs typeface="Calibri" pitchFamily="34" charset="-120"/>
                        </a:rPr>
                        <a:t> </a:t>
                      </a:r>
                      <a:r>
                        <a:rPr lang="id-ID" altLang="en-US" sz="1700" i="1" dirty="0">
                          <a:solidFill>
                            <a:srgbClr val="1F2328"/>
                          </a:solidFill>
                          <a:latin typeface="Calibri" pitchFamily="34" charset="0"/>
                          <a:ea typeface="Calibri" pitchFamily="34" charset="-122"/>
                          <a:cs typeface="Calibri" pitchFamily="34" charset="-120"/>
                        </a:rPr>
                        <a:t>package</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kelas-⁠kelas dalam satu paket (taman kompleks)</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tidak ada padanan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tanpa kata kunci (</a:t>
                      </a:r>
                      <a:r>
                        <a:rPr lang="id-ID" altLang="en-US" sz="1700" i="1" dirty="0">
                          <a:solidFill>
                            <a:srgbClr val="1F2328"/>
                          </a:solidFill>
                          <a:latin typeface="Calibri" pitchFamily="34" charset="0"/>
                          <a:ea typeface="Calibri" pitchFamily="34" charset="-122"/>
                          <a:cs typeface="Calibri" pitchFamily="34" charset="-120"/>
                        </a:rPr>
                        <a:t>default</a:t>
                      </a:r>
                      <a:r>
                        <a:rPr lang="id-ID" altLang="en-US" sz="1700" dirty="0">
                          <a:solidFill>
                            <a:srgbClr val="1F2328"/>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209383"/>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281803"/>
            <a:ext cx="184343" cy="184343"/>
          </a:xfrm>
          <a:prstGeom prst="rect">
            <a:avLst/>
          </a:prstGeom>
        </p:spPr>
      </p:pic>
      <p:sp>
        <p:nvSpPr>
          <p:cNvPr id="8" name="Text 3"/>
          <p:cNvSpPr txBox="1"/>
          <p:nvPr/>
        </p:nvSpPr>
        <p:spPr>
          <a:xfrm>
            <a:off x="1005840" y="5191095"/>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Kebiasaan baik dari Pertemuan 04 tetap berlaku: atribut umumnya </a:t>
            </a:r>
            <a:r>
              <a:rPr lang="id-ID" altLang="en-US" sz="1800" dirty="0">
                <a:solidFill>
                  <a:srgbClr val="57606A"/>
                </a:solidFill>
                <a:latin typeface="Consolas" pitchFamily="34" charset="0"/>
                <a:ea typeface="Consolas" pitchFamily="34" charset="-122"/>
                <a:cs typeface="Consolas" pitchFamily="34" charset="-120"/>
              </a:rPr>
              <a:t>-</a:t>
            </a:r>
            <a:r>
              <a:rPr lang="id-ID" altLang="en-US" sz="1800" dirty="0">
                <a:solidFill>
                  <a:srgbClr val="57606A"/>
                </a:solidFill>
              </a:rPr>
              <a:t>, </a:t>
            </a:r>
            <a:r>
              <a:rPr lang="id-ID" altLang="en-US" sz="1800" i="1" dirty="0">
                <a:solidFill>
                  <a:srgbClr val="57606A"/>
                </a:solidFill>
              </a:rPr>
              <a:t>method</a:t>
            </a:r>
            <a:r>
              <a:rPr lang="id-ID" altLang="en-US" sz="1800" dirty="0">
                <a:solidFill>
                  <a:srgbClr val="57606A"/>
                </a:solidFill>
              </a:rPr>
              <a:t> layanan </a:t>
            </a:r>
            <a:r>
              <a:rPr lang="id-ID" altLang="en-US" sz="1800" dirty="0">
                <a:solidFill>
                  <a:srgbClr val="57606A"/>
                </a:solidFill>
                <a:latin typeface="Consolas" pitchFamily="34" charset="0"/>
                <a:ea typeface="Consolas" pitchFamily="34" charset="-122"/>
                <a:cs typeface="Consolas" pitchFamily="34" charset="-120"/>
              </a:rPr>
              <a:t>+</a:t>
            </a:r>
            <a:r>
              <a:rPr lang="id-ID" altLang="en-US" sz="1800" dirty="0">
                <a:solidFill>
                  <a:srgbClr val="57606A"/>
                </a:solidFill>
              </a:rPr>
              <a:t>, dan </a:t>
            </a:r>
            <a:r>
              <a:rPr lang="id-ID" altLang="en-US" sz="1800" i="1" dirty="0">
                <a:solidFill>
                  <a:srgbClr val="57606A"/>
                </a:solidFill>
              </a:rPr>
              <a:t>method</a:t>
            </a:r>
            <a:r>
              <a:rPr lang="id-ID" altLang="en-US" sz="1800" dirty="0">
                <a:solidFill>
                  <a:srgbClr val="57606A"/>
                </a:solidFill>
              </a:rPr>
              <a:t> pembantu internal </a:t>
            </a:r>
            <a:r>
              <a:rPr lang="id-ID" altLang="en-US" sz="1800" dirty="0">
                <a:solidFill>
                  <a:srgbClr val="57606A"/>
                </a:solidFill>
                <a:latin typeface="Consolas" pitchFamily="34" charset="0"/>
                <a:ea typeface="Consolas" pitchFamily="34" charset="-122"/>
                <a:cs typeface="Consolas" pitchFamily="34" charset="-120"/>
              </a:rPr>
              <a:t>-</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Kotak </a:t>
            </a:r>
            <a:r>
              <a:rPr lang="id-ID" altLang="en-US" sz="3200" b="1" dirty="0">
                <a:solidFill>
                  <a:srgbClr val="0A3069"/>
                </a:solidFill>
                <a:latin typeface="Consolas" pitchFamily="34" charset="0"/>
                <a:ea typeface="Consolas" pitchFamily="34" charset="-122"/>
                <a:cs typeface="Consolas" pitchFamily="34" charset="-120"/>
              </a:rPr>
              <a:t>Paket</a:t>
            </a:r>
            <a:r>
              <a:rPr lang="id-ID" altLang="en-US" sz="3200" b="1" dirty="0">
                <a:solidFill>
                  <a:srgbClr val="0A3069"/>
                </a:solidFill>
              </a:rPr>
              <a:t> Menjadi Kode</a:t>
            </a:r>
            <a:endParaRPr lang="id-ID" sz="3200" dirty="0"/>
          </a:p>
        </p:txBody>
      </p:sp>
      <p:sp>
        <p:nvSpPr>
          <p:cNvPr id="5" name="Text 2"/>
          <p:cNvSpPr txBox="1"/>
          <p:nvPr/>
        </p:nvSpPr>
        <p:spPr>
          <a:xfrm>
            <a:off x="548640" y="1629872"/>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Baris bergaris bawah menjadi anggota milik kelas: atribut kelas dan </a:t>
            </a:r>
            <a:r>
              <a:rPr lang="id-ID" altLang="en-US" sz="1800" dirty="0">
                <a:solidFill>
                  <a:srgbClr val="0A3069"/>
                </a:solidFill>
                <a:latin typeface="Consolas" pitchFamily="34" charset="0"/>
                <a:ea typeface="Consolas" pitchFamily="34" charset="-122"/>
                <a:cs typeface="Consolas" pitchFamily="34" charset="-120"/>
              </a:rPr>
              <a:t>@classmethod</a:t>
            </a:r>
            <a:r>
              <a:rPr lang="id-ID" altLang="en-US" sz="1800" dirty="0">
                <a:solidFill>
                  <a:srgbClr val="57606A"/>
                </a:solidFill>
              </a:rPr>
              <a:t> di Python, </a:t>
            </a:r>
            <a:r>
              <a:rPr lang="id-ID" altLang="en-US" sz="1800" dirty="0">
                <a:solidFill>
                  <a:srgbClr val="0A3069"/>
                </a:solidFill>
                <a:latin typeface="Consolas" pitchFamily="34" charset="0"/>
                <a:ea typeface="Consolas" pitchFamily="34" charset="-122"/>
                <a:cs typeface="Consolas" pitchFamily="34" charset="-120"/>
              </a:rPr>
              <a:t>static</a:t>
            </a:r>
            <a:r>
              <a:rPr lang="id-ID" altLang="en-US" sz="1800" dirty="0">
                <a:solidFill>
                  <a:srgbClr val="57606A"/>
                </a:solidFill>
              </a:rPr>
              <a:t> di Java.</a:t>
            </a:r>
            <a:endParaRPr lang="id-ID" sz="1800" dirty="0"/>
          </a:p>
        </p:txBody>
      </p:sp>
      <p:sp>
        <p:nvSpPr>
          <p:cNvPr id="6" name="Shape 3"/>
          <p:cNvSpPr/>
          <p:nvPr/>
        </p:nvSpPr>
        <p:spPr>
          <a:xfrm>
            <a:off x="548640" y="2064212"/>
            <a:ext cx="1051560" cy="329184"/>
          </a:xfrm>
          <a:prstGeom prst="roundRect">
            <a:avLst>
              <a:gd name="adj" fmla="val 138889"/>
            </a:avLst>
          </a:prstGeom>
          <a:solidFill>
            <a:srgbClr val="3572A5"/>
          </a:solidFill>
          <a:ln/>
        </p:spPr>
      </p:sp>
      <p:sp>
        <p:nvSpPr>
          <p:cNvPr id="7" name="Text 4"/>
          <p:cNvSpPr txBox="1"/>
          <p:nvPr/>
        </p:nvSpPr>
        <p:spPr>
          <a:xfrm>
            <a:off x="548640" y="2064212"/>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064212"/>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python/contoh/contoh01_kotak_kelas.py</a:t>
            </a:r>
            <a:endParaRPr lang="id-ID" sz="1100" dirty="0"/>
          </a:p>
        </p:txBody>
      </p:sp>
      <p:sp>
        <p:nvSpPr>
          <p:cNvPr id="9" name="Shape 6"/>
          <p:cNvSpPr/>
          <p:nvPr/>
        </p:nvSpPr>
        <p:spPr>
          <a:xfrm>
            <a:off x="548640" y="2484836"/>
            <a:ext cx="5432908" cy="3358134"/>
          </a:xfrm>
          <a:prstGeom prst="roundRect">
            <a:avLst>
              <a:gd name="adj" fmla="val 741"/>
            </a:avLst>
          </a:prstGeom>
          <a:solidFill>
            <a:srgbClr val="F6F8FA"/>
          </a:solidFill>
          <a:ln w="9525">
            <a:solidFill>
              <a:srgbClr val="D0D7DE"/>
            </a:solidFill>
            <a:prstDash val="solid"/>
          </a:ln>
        </p:spPr>
      </p:sp>
      <p:sp>
        <p:nvSpPr>
          <p:cNvPr id="10" name="Text 7"/>
          <p:cNvSpPr txBox="1"/>
          <p:nvPr/>
        </p:nvSpPr>
        <p:spPr>
          <a:xfrm>
            <a:off x="658368" y="2576276"/>
            <a:ext cx="5213452" cy="3175254"/>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Paket</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TARIF_PER_KG = </a:t>
            </a:r>
            <a:r>
              <a:rPr lang="en-US" altLang="en-US" sz="1150" dirty="0">
                <a:solidFill>
                  <a:srgbClr val="0550AE"/>
                </a:solidFill>
                <a:latin typeface="Consolas" pitchFamily="34" charset="0"/>
                <a:ea typeface="Consolas" pitchFamily="34" charset="-122"/>
                <a:cs typeface="Consolas" pitchFamily="34" charset="-120"/>
              </a:rPr>
              <a:t>8000</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_penghitung = </a:t>
            </a:r>
            <a:r>
              <a:rPr lang="en-US" altLang="en-US" sz="1150" dirty="0">
                <a:solidFill>
                  <a:srgbClr val="0550AE"/>
                </a:solidFill>
                <a:latin typeface="Consolas" pitchFamily="34" charset="0"/>
                <a:ea typeface="Consolas" pitchFamily="34" charset="-122"/>
                <a:cs typeface="Consolas" pitchFamily="34" charset="-120"/>
              </a:rPr>
              <a:t>0</a:t>
            </a:r>
            <a:endParaRPr lang="en-US" sz="1150" dirty="0"/>
          </a:p>
          <a:p>
            <a:pPr indent="0" marL="0">
              <a:buNone/>
            </a:pPr>
            <a:r>
              <a:rPr lang="en-US" altLang="en-US" sz="1150" dirty="0">
                <a:solidFill>
                  <a:srgbClr val="000000"/>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__init__</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 tujuan: </a:t>
            </a:r>
            <a:r>
              <a:rPr lang="en-US" altLang="en-US" sz="1150" dirty="0">
                <a:solidFill>
                  <a:srgbClr val="0550AE"/>
                </a:solidFill>
                <a:latin typeface="Consolas" pitchFamily="34" charset="0"/>
                <a:ea typeface="Consolas" pitchFamily="34" charset="-122"/>
                <a:cs typeface="Consolas" pitchFamily="34" charset="-120"/>
              </a:rPr>
              <a:t>str</a:t>
            </a:r>
            <a:r>
              <a:rPr lang="en-US" altLang="en-US" sz="1150" dirty="0">
                <a:solidFill>
                  <a:srgbClr val="1F2328"/>
                </a:solidFill>
                <a:latin typeface="Consolas" pitchFamily="34" charset="0"/>
                <a:ea typeface="Consolas" pitchFamily="34" charset="-122"/>
                <a:cs typeface="Consolas" pitchFamily="34" charset="-120"/>
              </a:rPr>
              <a:t>, berat_gram: </a:t>
            </a:r>
            <a:r>
              <a:rPr lang="en-US" altLang="en-US" sz="1150" dirty="0">
                <a:solidFill>
                  <a:srgbClr val="0550A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Paket._penghitung += </a:t>
            </a:r>
            <a:r>
              <a:rPr lang="en-US" altLang="en-US" sz="1150" dirty="0">
                <a:solidFill>
                  <a:srgbClr val="0550AE"/>
                </a:solidFill>
                <a:latin typeface="Consolas" pitchFamily="34" charset="0"/>
                <a:ea typeface="Consolas" pitchFamily="34" charset="-122"/>
                <a:cs typeface="Consolas" pitchFamily="34" charset="-120"/>
              </a:rPr>
              <a:t>1</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._resi = </a:t>
            </a:r>
            <a:r>
              <a:rPr lang="en-US" altLang="en-US" sz="1150" dirty="0">
                <a:solidFill>
                  <a:srgbClr val="0A3069"/>
                </a:solidFill>
                <a:latin typeface="Consolas" pitchFamily="34" charset="0"/>
                <a:ea typeface="Consolas" pitchFamily="34" charset="-122"/>
                <a:cs typeface="Consolas" pitchFamily="34" charset="-120"/>
              </a:rPr>
              <a:t>f"KRM{</a:t>
            </a:r>
            <a:r>
              <a:rPr lang="en-US" altLang="en-US" sz="1150" dirty="0">
                <a:solidFill>
                  <a:srgbClr val="1F2328"/>
                </a:solidFill>
                <a:latin typeface="Consolas" pitchFamily="34" charset="0"/>
                <a:ea typeface="Consolas" pitchFamily="34" charset="-122"/>
                <a:cs typeface="Consolas" pitchFamily="34" charset="-120"/>
              </a:rPr>
              <a:t>Paket._penghitung</a:t>
            </a:r>
            <a:r>
              <a:rPr lang="en-US" altLang="en-US" sz="1150" dirty="0">
                <a:solidFill>
                  <a:srgbClr val="0A3069"/>
                </a:solidFill>
                <a:latin typeface="Consolas" pitchFamily="34" charset="0"/>
                <a:ea typeface="Consolas" pitchFamily="34" charset="-122"/>
                <a:cs typeface="Consolas" pitchFamily="34" charset="-120"/>
              </a:rPr>
              <a:t>:03d}"</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_berat_kg</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 -&gt; </a:t>
            </a:r>
            <a:r>
              <a:rPr lang="en-US" altLang="en-US" sz="1150" dirty="0">
                <a:solidFill>
                  <a:srgbClr val="0550A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return</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._berat_gram + </a:t>
            </a:r>
            <a:r>
              <a:rPr lang="en-US" altLang="en-US" sz="1150" dirty="0">
                <a:solidFill>
                  <a:srgbClr val="0550AE"/>
                </a:solidFill>
                <a:latin typeface="Consolas" pitchFamily="34" charset="0"/>
                <a:ea typeface="Consolas" pitchFamily="34" charset="-122"/>
                <a:cs typeface="Consolas" pitchFamily="34" charset="-120"/>
              </a:rPr>
              <a:t>999</a:t>
            </a:r>
            <a:r>
              <a:rPr lang="en-US" altLang="en-US" sz="1150" dirty="0">
                <a:solidFill>
                  <a:srgbClr val="1F2328"/>
                </a:solidFill>
                <a:latin typeface="Consolas" pitchFamily="34" charset="0"/>
                <a:ea typeface="Consolas" pitchFamily="34" charset="-122"/>
                <a:cs typeface="Consolas" pitchFamily="34" charset="-120"/>
              </a:rPr>
              <a:t>) // </a:t>
            </a:r>
            <a:r>
              <a:rPr lang="en-US" altLang="en-US" sz="1150" dirty="0">
                <a:solidFill>
                  <a:srgbClr val="0550AE"/>
                </a:solidFill>
                <a:latin typeface="Consolas" pitchFamily="34" charset="0"/>
                <a:ea typeface="Consolas" pitchFamily="34" charset="-122"/>
                <a:cs typeface="Consolas" pitchFamily="34" charset="-120"/>
              </a:rPr>
              <a:t>1000</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@classmethod</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jumlah_paket</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cls</a:t>
            </a:r>
            <a:r>
              <a:rPr lang="en-US" altLang="en-US" sz="1150" dirty="0">
                <a:solidFill>
                  <a:srgbClr val="1F2328"/>
                </a:solidFill>
                <a:latin typeface="Consolas" pitchFamily="34" charset="0"/>
                <a:ea typeface="Consolas" pitchFamily="34" charset="-122"/>
                <a:cs typeface="Consolas" pitchFamily="34" charset="-120"/>
              </a:rPr>
              <a:t>) -&gt; </a:t>
            </a:r>
            <a:r>
              <a:rPr lang="en-US" altLang="en-US" sz="1150" dirty="0">
                <a:solidFill>
                  <a:srgbClr val="0550A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return</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cls</a:t>
            </a:r>
            <a:r>
              <a:rPr lang="en-US" altLang="en-US" sz="1150" dirty="0">
                <a:solidFill>
                  <a:srgbClr val="1F2328"/>
                </a:solidFill>
                <a:latin typeface="Consolas" pitchFamily="34" charset="0"/>
                <a:ea typeface="Consolas" pitchFamily="34" charset="-122"/>
                <a:cs typeface="Consolas" pitchFamily="34" charset="-120"/>
              </a:rPr>
              <a:t>._penghitung</a:t>
            </a:r>
            <a:endParaRPr lang="en-US" sz="1150" dirty="0"/>
          </a:p>
        </p:txBody>
      </p:sp>
      <p:sp>
        <p:nvSpPr>
          <p:cNvPr id="11" name="Shape 8"/>
          <p:cNvSpPr/>
          <p:nvPr/>
        </p:nvSpPr>
        <p:spPr>
          <a:xfrm>
            <a:off x="6210148" y="2064212"/>
            <a:ext cx="1051560" cy="329184"/>
          </a:xfrm>
          <a:prstGeom prst="roundRect">
            <a:avLst>
              <a:gd name="adj" fmla="val 138889"/>
            </a:avLst>
          </a:prstGeom>
          <a:solidFill>
            <a:srgbClr val="B07219"/>
          </a:solidFill>
          <a:ln/>
        </p:spPr>
      </p:sp>
      <p:sp>
        <p:nvSpPr>
          <p:cNvPr id="12" name="Text 9"/>
          <p:cNvSpPr txBox="1"/>
          <p:nvPr/>
        </p:nvSpPr>
        <p:spPr>
          <a:xfrm>
            <a:off x="6210148" y="2064212"/>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064212"/>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java/contoh/Contoh01KotakKelas.java</a:t>
            </a:r>
            <a:endParaRPr lang="id-ID" sz="1100" dirty="0"/>
          </a:p>
        </p:txBody>
      </p:sp>
      <p:sp>
        <p:nvSpPr>
          <p:cNvPr id="14" name="Shape 11"/>
          <p:cNvSpPr/>
          <p:nvPr/>
        </p:nvSpPr>
        <p:spPr>
          <a:xfrm>
            <a:off x="6210148" y="2484836"/>
            <a:ext cx="5432908" cy="3358134"/>
          </a:xfrm>
          <a:prstGeom prst="roundRect">
            <a:avLst>
              <a:gd name="adj" fmla="val 741"/>
            </a:avLst>
          </a:prstGeom>
          <a:solidFill>
            <a:srgbClr val="F6F8FA"/>
          </a:solidFill>
          <a:ln w="9525">
            <a:solidFill>
              <a:srgbClr val="D0D7DE"/>
            </a:solidFill>
            <a:prstDash val="solid"/>
          </a:ln>
        </p:spPr>
      </p:sp>
      <p:sp>
        <p:nvSpPr>
          <p:cNvPr id="15" name="Text 12"/>
          <p:cNvSpPr txBox="1"/>
          <p:nvPr/>
        </p:nvSpPr>
        <p:spPr>
          <a:xfrm>
            <a:off x="6319876" y="2576276"/>
            <a:ext cx="5213452" cy="3175254"/>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Paket</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static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final</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TARIF_PER_KG = </a:t>
            </a:r>
            <a:r>
              <a:rPr lang="en-US" altLang="en-US" sz="1150" dirty="0">
                <a:solidFill>
                  <a:srgbClr val="0550AE"/>
                </a:solidFill>
                <a:latin typeface="Consolas" pitchFamily="34" charset="0"/>
                <a:ea typeface="Consolas" pitchFamily="34" charset="-122"/>
                <a:cs typeface="Consolas" pitchFamily="34" charset="-120"/>
              </a:rPr>
              <a:t>8000</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private</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static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penghitung = </a:t>
            </a:r>
            <a:r>
              <a:rPr lang="en-US" altLang="en-US" sz="1150" dirty="0">
                <a:solidFill>
                  <a:srgbClr val="0550AE"/>
                </a:solidFill>
                <a:latin typeface="Consolas" pitchFamily="34" charset="0"/>
                <a:ea typeface="Consolas" pitchFamily="34" charset="-122"/>
                <a:cs typeface="Consolas" pitchFamily="34" charset="-120"/>
              </a:rPr>
              <a:t>0</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Paket</a:t>
            </a:r>
            <a:r>
              <a:rPr lang="en-US" altLang="en-US" sz="1150" dirty="0">
                <a:solidFill>
                  <a:srgbClr val="1F2328"/>
                </a:solidFill>
                <a:latin typeface="Consolas" pitchFamily="34" charset="0"/>
                <a:ea typeface="Consolas" pitchFamily="34" charset="-122"/>
                <a:cs typeface="Consolas" pitchFamily="34" charset="-120"/>
              </a:rPr>
              <a:t>(String tujuan,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beratGram)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penghitung++;</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this</a:t>
            </a:r>
            <a:r>
              <a:rPr lang="en-US" altLang="en-US" sz="1150" dirty="0">
                <a:solidFill>
                  <a:srgbClr val="1F2328"/>
                </a:solidFill>
                <a:latin typeface="Consolas" pitchFamily="34" charset="0"/>
                <a:ea typeface="Consolas" pitchFamily="34" charset="-122"/>
                <a:cs typeface="Consolas" pitchFamily="34" charset="-120"/>
              </a:rPr>
              <a:t>.resi = String.format(</a:t>
            </a:r>
            <a:r>
              <a:rPr lang="en-US" altLang="en-US" sz="1150" dirty="0">
                <a:solidFill>
                  <a:srgbClr val="0A3069"/>
                </a:solidFill>
                <a:latin typeface="Consolas" pitchFamily="34" charset="0"/>
                <a:ea typeface="Consolas" pitchFamily="34" charset="-122"/>
                <a:cs typeface="Consolas" pitchFamily="34" charset="-120"/>
              </a:rPr>
              <a:t>"KRM%03d"</a:t>
            </a:r>
            <a:r>
              <a:rPr lang="en-US" altLang="en-US" sz="1150" dirty="0">
                <a:solidFill>
                  <a:srgbClr val="1F2328"/>
                </a:solidFill>
                <a:latin typeface="Consolas" pitchFamily="34" charset="0"/>
                <a:ea typeface="Consolas" pitchFamily="34" charset="-122"/>
                <a:cs typeface="Consolas" pitchFamily="34" charset="-120"/>
              </a:rPr>
              <a:t>, penghitung);</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private</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beratKg</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return</a:t>
            </a:r>
            <a:r>
              <a:rPr lang="en-US" altLang="en-US" sz="1150" dirty="0">
                <a:solidFill>
                  <a:srgbClr val="1F2328"/>
                </a:solidFill>
                <a:latin typeface="Consolas" pitchFamily="34" charset="0"/>
                <a:ea typeface="Consolas" pitchFamily="34" charset="-122"/>
                <a:cs typeface="Consolas" pitchFamily="34" charset="-120"/>
              </a:rPr>
              <a:t> (beratGram + </a:t>
            </a:r>
            <a:r>
              <a:rPr lang="en-US" altLang="en-US" sz="1150" dirty="0">
                <a:solidFill>
                  <a:srgbClr val="0550AE"/>
                </a:solidFill>
                <a:latin typeface="Consolas" pitchFamily="34" charset="0"/>
                <a:ea typeface="Consolas" pitchFamily="34" charset="-122"/>
                <a:cs typeface="Consolas" pitchFamily="34" charset="-120"/>
              </a:rPr>
              <a:t>999</a:t>
            </a:r>
            <a:r>
              <a:rPr lang="en-US" altLang="en-US" sz="1150" dirty="0">
                <a:solidFill>
                  <a:srgbClr val="1F2328"/>
                </a:solidFill>
                <a:latin typeface="Consolas" pitchFamily="34" charset="0"/>
                <a:ea typeface="Consolas" pitchFamily="34" charset="-122"/>
                <a:cs typeface="Consolas" pitchFamily="34" charset="-120"/>
              </a:rPr>
              <a:t>) / </a:t>
            </a:r>
            <a:r>
              <a:rPr lang="en-US" altLang="en-US" sz="1150" dirty="0">
                <a:solidFill>
                  <a:srgbClr val="0550AE"/>
                </a:solidFill>
                <a:latin typeface="Consolas" pitchFamily="34" charset="0"/>
                <a:ea typeface="Consolas" pitchFamily="34" charset="-122"/>
                <a:cs typeface="Consolas" pitchFamily="34" charset="-120"/>
              </a:rPr>
              <a:t>1000</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static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jumlahPaket</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return</a:t>
            </a:r>
            <a:r>
              <a:rPr lang="en-US" altLang="en-US" sz="1150" dirty="0">
                <a:solidFill>
                  <a:srgbClr val="1F2328"/>
                </a:solidFill>
                <a:latin typeface="Consolas" pitchFamily="34" charset="0"/>
                <a:ea typeface="Consolas" pitchFamily="34" charset="-122"/>
                <a:cs typeface="Consolas" pitchFamily="34" charset="-120"/>
              </a:rPr>
              <a:t> penghitung;</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a:t>
            </a:r>
            <a:endParaRPr lang="en-US" sz="11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Garis Relasi dan Multiplisitas</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Bentuk garis, bentuk ujungnya, dan angka di kedua ujungnya.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Enam Garis Relasi UML</a:t>
            </a:r>
            <a:endParaRPr lang="id-ID" sz="3200" dirty="0"/>
          </a:p>
        </p:txBody>
      </p:sp>
      <p:pic>
        <p:nvPicPr>
          <p:cNvPr id="5" name="Image 1" descr="Baca tiga hal: garis penuh atau putus-putus, bentuk ujung, dan sisi tempelnya. Belah ketupat di sisi keseluruhan; segitiga di sisi induk.">    </p:cNvPr>
          <p:cNvPicPr>
            <a:picLocks noChangeAspect="1"/>
          </p:cNvPicPr>
          <p:nvPr/>
        </p:nvPicPr>
        <p:blipFill>
          <a:blip r:embed="rId2"/>
          <a:stretch>
            <a:fillRect/>
          </a:stretch>
        </p:blipFill>
        <p:spPr>
          <a:xfrm>
            <a:off x="1871672" y="1417320"/>
            <a:ext cx="8448352" cy="4072636"/>
          </a:xfrm>
          <a:prstGeom prst="rect">
            <a:avLst/>
          </a:prstGeom>
        </p:spPr>
      </p:pic>
      <p:sp>
        <p:nvSpPr>
          <p:cNvPr id="6" name="Text 2"/>
          <p:cNvSpPr txBox="1"/>
          <p:nvPr/>
        </p:nvSpPr>
        <p:spPr>
          <a:xfrm>
            <a:off x="1005840" y="5599684"/>
            <a:ext cx="10180015" cy="663956"/>
          </a:xfrm>
          <a:prstGeom prst="rect">
            <a:avLst/>
          </a:prstGeom>
          <a:noFill/>
          <a:ln/>
        </p:spPr>
        <p:txBody>
          <a:bodyPr wrap="square" lIns="0" tIns="0" rIns="0" bIns="0" rtlCol="0" anchor="t"/>
          <a:lstStyle/>
          <a:p>
            <a:pPr algn="ctr" indent="0" marL="0">
              <a:buNone/>
            </a:pPr>
            <a:r>
              <a:rPr lang="id-ID" altLang="en-US" sz="1700" dirty="0">
                <a:solidFill>
                  <a:srgbClr val="57606A"/>
                </a:solidFill>
              </a:rPr>
              <a:t>Baca tiga hal: garis penuh atau putus-⁠putus, bentuk ujung, dan sisi tempelnya. Belah ketupat di sisi keseluruhan; segitiga di sisi induk.</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Dependensi: Cukup Lewat Parameter</a:t>
            </a:r>
            <a:endParaRPr lang="id-ID" sz="3200" dirty="0"/>
          </a:p>
        </p:txBody>
      </p:sp>
      <p:sp>
        <p:nvSpPr>
          <p:cNvPr id="5" name="Text 2"/>
          <p:cNvSpPr txBox="1"/>
          <p:nvPr/>
        </p:nvSpPr>
        <p:spPr>
          <a:xfrm>
            <a:off x="548640" y="1774637"/>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Di kotak </a:t>
            </a:r>
            <a:r>
              <a:rPr lang="id-ID" altLang="en-US" sz="1800" dirty="0">
                <a:solidFill>
                  <a:srgbClr val="0A3069"/>
                </a:solidFill>
                <a:latin typeface="Consolas" pitchFamily="34" charset="0"/>
                <a:ea typeface="Consolas" pitchFamily="34" charset="-122"/>
                <a:cs typeface="Consolas" pitchFamily="34" charset="-120"/>
              </a:rPr>
              <a:t>Motor</a:t>
            </a:r>
            <a:r>
              <a:rPr lang="id-ID" altLang="en-US" sz="1800" dirty="0">
                <a:solidFill>
                  <a:srgbClr val="57606A"/>
                </a:solidFill>
              </a:rPr>
              <a:t> tidak ada atribut bertipe </a:t>
            </a:r>
            <a:r>
              <a:rPr lang="id-ID" altLang="en-US" sz="1800" dirty="0">
                <a:solidFill>
                  <a:srgbClr val="0A3069"/>
                </a:solidFill>
                <a:latin typeface="Consolas" pitchFamily="34" charset="0"/>
                <a:ea typeface="Consolas" pitchFamily="34" charset="-122"/>
                <a:cs typeface="Consolas" pitchFamily="34" charset="-120"/>
              </a:rPr>
              <a:t>SPBU</a:t>
            </a:r>
            <a:r>
              <a:rPr lang="id-ID" altLang="en-US" sz="1800" dirty="0">
                <a:solidFill>
                  <a:srgbClr val="57606A"/>
                </a:solidFill>
              </a:rPr>
              <a:t>. </a:t>
            </a:r>
            <a:r>
              <a:rPr lang="id-ID" altLang="en-US" sz="1800" dirty="0">
                <a:solidFill>
                  <a:srgbClr val="0A3069"/>
                </a:solidFill>
                <a:latin typeface="Consolas" pitchFamily="34" charset="0"/>
                <a:ea typeface="Consolas" pitchFamily="34" charset="-122"/>
                <a:cs typeface="Consolas" pitchFamily="34" charset="-120"/>
              </a:rPr>
              <a:t>SPBU</a:t>
            </a:r>
            <a:r>
              <a:rPr lang="id-ID" altLang="en-US" sz="1800" dirty="0">
                <a:solidFill>
                  <a:srgbClr val="57606A"/>
                </a:solidFill>
              </a:rPr>
              <a:t> hanya datang sebagai parameter: </a:t>
            </a:r>
            <a:r>
              <a:rPr lang="id-ID" altLang="en-US" sz="1800" dirty="0">
                <a:solidFill>
                  <a:srgbClr val="0A3069"/>
                </a:solidFill>
                <a:latin typeface="Consolas" pitchFamily="34" charset="0"/>
                <a:ea typeface="Consolas" pitchFamily="34" charset="-122"/>
                <a:cs typeface="Consolas" pitchFamily="34" charset="-120"/>
              </a:rPr>
              <a:t>Motor ..&gt; SPBU</a:t>
            </a:r>
            <a:r>
              <a:rPr lang="id-ID" altLang="en-US" sz="1800" dirty="0">
                <a:solidFill>
                  <a:srgbClr val="57606A"/>
                </a:solidFill>
              </a:rPr>
              <a:t>.</a:t>
            </a:r>
            <a:endParaRPr lang="id-ID" sz="1800" dirty="0"/>
          </a:p>
        </p:txBody>
      </p:sp>
      <p:sp>
        <p:nvSpPr>
          <p:cNvPr id="6" name="Shape 3"/>
          <p:cNvSpPr/>
          <p:nvPr/>
        </p:nvSpPr>
        <p:spPr>
          <a:xfrm>
            <a:off x="548640" y="2208977"/>
            <a:ext cx="1051560" cy="329184"/>
          </a:xfrm>
          <a:prstGeom prst="roundRect">
            <a:avLst>
              <a:gd name="adj" fmla="val 138889"/>
            </a:avLst>
          </a:prstGeom>
          <a:solidFill>
            <a:srgbClr val="3572A5"/>
          </a:solidFill>
          <a:ln/>
        </p:spPr>
      </p:sp>
      <p:sp>
        <p:nvSpPr>
          <p:cNvPr id="7" name="Text 4"/>
          <p:cNvSpPr txBox="1"/>
          <p:nvPr/>
        </p:nvSpPr>
        <p:spPr>
          <a:xfrm>
            <a:off x="548640" y="2208977"/>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208977"/>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python/contoh/contoh05_dependensi.py</a:t>
            </a:r>
            <a:endParaRPr lang="id-ID" sz="1100" dirty="0"/>
          </a:p>
        </p:txBody>
      </p:sp>
      <p:sp>
        <p:nvSpPr>
          <p:cNvPr id="9" name="Shape 6"/>
          <p:cNvSpPr/>
          <p:nvPr/>
        </p:nvSpPr>
        <p:spPr>
          <a:xfrm>
            <a:off x="548640" y="2629601"/>
            <a:ext cx="5432908" cy="3013456"/>
          </a:xfrm>
          <a:prstGeom prst="roundRect">
            <a:avLst>
              <a:gd name="adj" fmla="val 921"/>
            </a:avLst>
          </a:prstGeom>
          <a:solidFill>
            <a:srgbClr val="F6F8FA"/>
          </a:solidFill>
          <a:ln w="9525">
            <a:solidFill>
              <a:srgbClr val="D0D7DE"/>
            </a:solidFill>
            <a:prstDash val="solid"/>
          </a:ln>
        </p:spPr>
      </p:sp>
      <p:sp>
        <p:nvSpPr>
          <p:cNvPr id="10" name="Text 7"/>
          <p:cNvSpPr txBox="1"/>
          <p:nvPr/>
        </p:nvSpPr>
        <p:spPr>
          <a:xfrm>
            <a:off x="658368" y="2721041"/>
            <a:ext cx="5213452" cy="2830576"/>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Motor</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__init__</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 plat: </a:t>
            </a:r>
            <a:r>
              <a:rPr lang="en-US" altLang="en-US" sz="1150" dirty="0">
                <a:solidFill>
                  <a:srgbClr val="0550AE"/>
                </a:solidFill>
                <a:latin typeface="Consolas" pitchFamily="34" charset="0"/>
                <a:ea typeface="Consolas" pitchFamily="34" charset="-122"/>
                <a:cs typeface="Consolas" pitchFamily="34" charset="-120"/>
              </a:rPr>
              <a:t>str</a:t>
            </a:r>
            <a:r>
              <a:rPr lang="en-US" altLang="en-US" sz="1150" dirty="0">
                <a:solidFill>
                  <a:srgbClr val="1F2328"/>
                </a:solidFill>
                <a:latin typeface="Consolas" pitchFamily="34" charset="0"/>
                <a:ea typeface="Consolas" pitchFamily="34" charset="-122"/>
                <a:cs typeface="Consolas" pitchFamily="34" charset="-120"/>
              </a:rPr>
              <a:t>, kapasitas_tangki: </a:t>
            </a:r>
            <a:r>
              <a:rPr lang="en-US" altLang="en-US" sz="1150" dirty="0">
                <a:solidFill>
                  <a:srgbClr val="0550A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._plat = plat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._kapasitas_tangki = kapasitas_tangki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._isi_tangki = </a:t>
            </a:r>
            <a:r>
              <a:rPr lang="en-US" altLang="en-US" sz="1150" dirty="0">
                <a:solidFill>
                  <a:srgbClr val="0550AE"/>
                </a:solidFill>
                <a:latin typeface="Consolas" pitchFamily="34" charset="0"/>
                <a:ea typeface="Consolas" pitchFamily="34" charset="-122"/>
                <a:cs typeface="Consolas" pitchFamily="34" charset="-120"/>
              </a:rPr>
              <a:t>0</a:t>
            </a:r>
            <a:endParaRPr lang="en-US" sz="1150" dirty="0"/>
          </a:p>
          <a:p>
            <a:pPr indent="0" marL="0">
              <a:buNone/>
            </a:pPr>
            <a:r>
              <a:rPr lang="en-US" altLang="en-US" sz="1150" dirty="0">
                <a:solidFill>
                  <a:srgbClr val="000000"/>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isi_bensin</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 spbu: SPBU, liter: </a:t>
            </a:r>
            <a:r>
              <a:rPr lang="en-US" altLang="en-US" sz="1150" dirty="0">
                <a:solidFill>
                  <a:srgbClr val="0550A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-&gt; </a:t>
            </a:r>
            <a:r>
              <a:rPr lang="en-US" altLang="en-US" sz="1150" dirty="0">
                <a:solidFill>
                  <a:srgbClr val="0550A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biaya = liter_masuk * spbu.harga_per_liter</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return</a:t>
            </a:r>
            <a:r>
              <a:rPr lang="en-US" altLang="en-US" sz="1150" dirty="0">
                <a:solidFill>
                  <a:srgbClr val="1F2328"/>
                </a:solidFill>
                <a:latin typeface="Consolas" pitchFamily="34" charset="0"/>
                <a:ea typeface="Consolas" pitchFamily="34" charset="-122"/>
                <a:cs typeface="Consolas" pitchFamily="34" charset="-120"/>
              </a:rPr>
              <a:t> biaya</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di dalam main()</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total += motor.isi_bensin(spbu_juanda, </a:t>
            </a:r>
            <a:r>
              <a:rPr lang="en-US" altLang="en-US" sz="1150" dirty="0">
                <a:solidFill>
                  <a:srgbClr val="0550AE"/>
                </a:solidFill>
                <a:latin typeface="Consolas" pitchFamily="34" charset="0"/>
                <a:ea typeface="Consolas" pitchFamily="34" charset="-122"/>
                <a:cs typeface="Consolas" pitchFamily="34" charset="-120"/>
              </a:rPr>
              <a:t>3</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total += motor.isi_bensin(spbu_pahlawan, </a:t>
            </a:r>
            <a:r>
              <a:rPr lang="en-US" altLang="en-US" sz="1150" dirty="0">
                <a:solidFill>
                  <a:srgbClr val="0550AE"/>
                </a:solidFill>
                <a:latin typeface="Consolas" pitchFamily="34" charset="0"/>
                <a:ea typeface="Consolas" pitchFamily="34" charset="-122"/>
                <a:cs typeface="Consolas" pitchFamily="34" charset="-120"/>
              </a:rPr>
              <a:t>4</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p:txBody>
      </p:sp>
      <p:sp>
        <p:nvSpPr>
          <p:cNvPr id="11" name="Shape 8"/>
          <p:cNvSpPr/>
          <p:nvPr/>
        </p:nvSpPr>
        <p:spPr>
          <a:xfrm>
            <a:off x="6210148" y="2208977"/>
            <a:ext cx="1051560" cy="329184"/>
          </a:xfrm>
          <a:prstGeom prst="roundRect">
            <a:avLst>
              <a:gd name="adj" fmla="val 138889"/>
            </a:avLst>
          </a:prstGeom>
          <a:solidFill>
            <a:srgbClr val="B07219"/>
          </a:solidFill>
          <a:ln/>
        </p:spPr>
      </p:sp>
      <p:sp>
        <p:nvSpPr>
          <p:cNvPr id="12" name="Text 9"/>
          <p:cNvSpPr txBox="1"/>
          <p:nvPr/>
        </p:nvSpPr>
        <p:spPr>
          <a:xfrm>
            <a:off x="6210148" y="2208977"/>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208977"/>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java/contoh/Contoh05Dependensi.java</a:t>
            </a:r>
            <a:endParaRPr lang="id-ID" sz="1100" dirty="0"/>
          </a:p>
        </p:txBody>
      </p:sp>
      <p:sp>
        <p:nvSpPr>
          <p:cNvPr id="14" name="Shape 11"/>
          <p:cNvSpPr/>
          <p:nvPr/>
        </p:nvSpPr>
        <p:spPr>
          <a:xfrm>
            <a:off x="6210148" y="2629601"/>
            <a:ext cx="5432908" cy="3013456"/>
          </a:xfrm>
          <a:prstGeom prst="roundRect">
            <a:avLst>
              <a:gd name="adj" fmla="val 921"/>
            </a:avLst>
          </a:prstGeom>
          <a:solidFill>
            <a:srgbClr val="F6F8FA"/>
          </a:solidFill>
          <a:ln w="9525">
            <a:solidFill>
              <a:srgbClr val="D0D7DE"/>
            </a:solidFill>
            <a:prstDash val="solid"/>
          </a:ln>
        </p:spPr>
      </p:sp>
      <p:sp>
        <p:nvSpPr>
          <p:cNvPr id="15" name="Text 12"/>
          <p:cNvSpPr txBox="1"/>
          <p:nvPr/>
        </p:nvSpPr>
        <p:spPr>
          <a:xfrm>
            <a:off x="6319876" y="2721041"/>
            <a:ext cx="5213452" cy="2830576"/>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Motor</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private</a:t>
            </a:r>
            <a:r>
              <a:rPr lang="en-US" altLang="en-US" sz="1150" dirty="0">
                <a:solidFill>
                  <a:srgbClr val="1F2328"/>
                </a:solidFill>
                <a:latin typeface="Consolas" pitchFamily="34" charset="0"/>
                <a:ea typeface="Consolas" pitchFamily="34" charset="-122"/>
                <a:cs typeface="Consolas" pitchFamily="34" charset="-120"/>
              </a:rPr>
              <a:t> String plat;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private</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kapasitasTangki;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private</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isiTangki;</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isiBensin</a:t>
            </a:r>
            <a:r>
              <a:rPr lang="en-US" altLang="en-US" sz="1150" dirty="0">
                <a:solidFill>
                  <a:srgbClr val="1F2328"/>
                </a:solidFill>
                <a:latin typeface="Consolas" pitchFamily="34" charset="0"/>
                <a:ea typeface="Consolas" pitchFamily="34" charset="-122"/>
                <a:cs typeface="Consolas" pitchFamily="34" charset="-120"/>
              </a:rPr>
              <a:t>(SPBU spbu,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liter)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biaya = literMasuk * spbu.getHargaPerLiter();</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return</a:t>
            </a:r>
            <a:r>
              <a:rPr lang="en-US" altLang="en-US" sz="1150" dirty="0">
                <a:solidFill>
                  <a:srgbClr val="1F2328"/>
                </a:solidFill>
                <a:latin typeface="Consolas" pitchFamily="34" charset="0"/>
                <a:ea typeface="Consolas" pitchFamily="34" charset="-122"/>
                <a:cs typeface="Consolas" pitchFamily="34" charset="-120"/>
              </a:rPr>
              <a:t> biaya;</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di dalam main</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total += motor.isiBensin(spbuJuanda, </a:t>
            </a:r>
            <a:r>
              <a:rPr lang="en-US" altLang="en-US" sz="1150" dirty="0">
                <a:solidFill>
                  <a:srgbClr val="0550AE"/>
                </a:solidFill>
                <a:latin typeface="Consolas" pitchFamily="34" charset="0"/>
                <a:ea typeface="Consolas" pitchFamily="34" charset="-122"/>
                <a:cs typeface="Consolas" pitchFamily="34" charset="-120"/>
              </a:rPr>
              <a:t>3</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total += motor.isiBensin(spbuPahlawan, </a:t>
            </a:r>
            <a:r>
              <a:rPr lang="en-US" altLang="en-US" sz="1150" dirty="0">
                <a:solidFill>
                  <a:srgbClr val="0550AE"/>
                </a:solidFill>
                <a:latin typeface="Consolas" pitchFamily="34" charset="0"/>
                <a:ea typeface="Consolas" pitchFamily="34" charset="-122"/>
                <a:cs typeface="Consolas" pitchFamily="34" charset="-120"/>
              </a:rPr>
              <a:t>4</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Multiplisitas: Berapa Banyak?</a:t>
            </a:r>
            <a:endParaRPr lang="id-ID"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01811"/>
          <a:ext cx="11094415" cy="914400"/>
        </p:xfrm>
        <a:graphic>
          <a:graphicData uri="http://schemas.openxmlformats.org/drawingml/2006/table">
            <a:tbl>
              <a:tblPr/>
              <a:tblGrid>
                <a:gridCol w="943961"/>
                <a:gridCol w="1257211"/>
                <a:gridCol w="3618447"/>
                <a:gridCol w="5274796"/>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Tulisan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Arti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Contoh</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Wujud di kelas 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0264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1</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tepat satu</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setiap pesanan milik tepat satu pelanggan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atribut bertipe B yang </a:t>
                      </a:r>
                      <a:r>
                        <a:rPr lang="id-ID" altLang="en-US" sz="2000" b="1" dirty="0">
                          <a:solidFill>
                            <a:srgbClr val="1F2328"/>
                          </a:solidFill>
                          <a:latin typeface="Calibri" pitchFamily="34" charset="0"/>
                          <a:ea typeface="Calibri" pitchFamily="34" charset="-122"/>
                          <a:cs typeface="Calibri" pitchFamily="34" charset="-120"/>
                        </a:rPr>
                        <a:t>wajib</a:t>
                      </a:r>
                      <a:r>
                        <a:rPr lang="id-ID" altLang="en-US" sz="2000" dirty="0">
                          <a:solidFill>
                            <a:srgbClr val="1F2328"/>
                          </a:solidFill>
                          <a:latin typeface="Calibri" pitchFamily="34" charset="0"/>
                          <a:ea typeface="Calibri" pitchFamily="34" charset="-122"/>
                          <a:cs typeface="Calibri" pitchFamily="34" charset="-120"/>
                        </a:rPr>
                        <a:t> diisi, biasanya lewat konstruktor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0..1</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nol atau satu</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pesanan ojek punya nol atau satu pengemudi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atribut yang boleh kosong (</a:t>
                      </a:r>
                      <a:r>
                        <a:rPr lang="id-ID" altLang="en-US" sz="2000" dirty="0">
                          <a:solidFill>
                            <a:srgbClr val="0A3069"/>
                          </a:solidFill>
                          <a:latin typeface="Consolas" pitchFamily="34" charset="0"/>
                          <a:ea typeface="Consolas" pitchFamily="34" charset="-122"/>
                          <a:cs typeface="Consolas" pitchFamily="34" charset="-120"/>
                        </a:rPr>
                        <a:t>None</a:t>
                      </a:r>
                      <a:r>
                        <a:rPr lang="id-ID" altLang="en-US" sz="2000" dirty="0">
                          <a:solidFill>
                            <a:srgbClr val="1F2328"/>
                          </a:solidFill>
                          <a:latin typeface="Calibri" pitchFamily="34" charset="0"/>
                          <a:ea typeface="Calibri" pitchFamily="34" charset="-122"/>
                          <a:cs typeface="Calibri" pitchFamily="34" charset="-120"/>
                        </a:rPr>
                        <a:t>/</a:t>
                      </a:r>
                      <a:r>
                        <a:rPr lang="id-ID" altLang="en-US" sz="2000" dirty="0">
                          <a:solidFill>
                            <a:srgbClr val="0A3069"/>
                          </a:solidFill>
                          <a:latin typeface="Consolas" pitchFamily="34" charset="0"/>
                          <a:ea typeface="Consolas" pitchFamily="34" charset="-122"/>
                          <a:cs typeface="Consolas" pitchFamily="34" charset="-120"/>
                        </a:rPr>
                        <a:t>null</a:t>
                      </a:r>
                      <a:r>
                        <a:rPr lang="id-ID" altLang="en-US" sz="2000" dirty="0">
                          <a:solidFill>
                            <a:srgbClr val="1F2328"/>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nol atau lebih</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pelanggan boleh punya banyak pesanan, atau belum punya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i="1" dirty="0">
                          <a:solidFill>
                            <a:srgbClr val="1F2328"/>
                          </a:solidFill>
                          <a:latin typeface="Calibri" pitchFamily="34" charset="0"/>
                          <a:ea typeface="Calibri" pitchFamily="34" charset="-122"/>
                          <a:cs typeface="Calibri" pitchFamily="34" charset="-120"/>
                        </a:rPr>
                        <a:t>list</a:t>
                      </a:r>
                      <a:r>
                        <a:rPr lang="id-ID" altLang="en-US" sz="2000" dirty="0">
                          <a:solidFill>
                            <a:srgbClr val="1F2328"/>
                          </a:solidFill>
                          <a:latin typeface="Calibri" pitchFamily="34" charset="0"/>
                          <a:ea typeface="Calibri" pitchFamily="34" charset="-122"/>
                          <a:cs typeface="Calibri" pitchFamily="34" charset="-120"/>
                        </a:rPr>
                        <a:t> berisi objek B</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1..*</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minimal satu</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gedung punya minimal satu lantai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i="1" dirty="0">
                          <a:solidFill>
                            <a:srgbClr val="1F2328"/>
                          </a:solidFill>
                          <a:latin typeface="Calibri" pitchFamily="34" charset="0"/>
                          <a:ea typeface="Calibri" pitchFamily="34" charset="-122"/>
                          <a:cs typeface="Calibri" pitchFamily="34" charset="-120"/>
                        </a:rPr>
                        <a:t>list</a:t>
                      </a:r>
                      <a:r>
                        <a:rPr lang="id-ID" altLang="en-US" sz="2000" dirty="0">
                          <a:solidFill>
                            <a:srgbClr val="1F2328"/>
                          </a:solidFill>
                          <a:latin typeface="Calibri" pitchFamily="34" charset="0"/>
                          <a:ea typeface="Calibri" pitchFamily="34" charset="-122"/>
                          <a:cs typeface="Calibri" pitchFamily="34" charset="-120"/>
                        </a:rPr>
                        <a:t> yang dijamin kode berisi minimal satu objek</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45201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524439"/>
            <a:ext cx="184343" cy="184343"/>
          </a:xfrm>
          <a:prstGeom prst="rect">
            <a:avLst/>
          </a:prstGeom>
        </p:spPr>
      </p:pic>
      <p:sp>
        <p:nvSpPr>
          <p:cNvPr id="8" name="Text 3"/>
          <p:cNvSpPr txBox="1"/>
          <p:nvPr/>
        </p:nvSpPr>
        <p:spPr>
          <a:xfrm>
            <a:off x="1005840" y="5433731"/>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Angka yang dipakai selalu yang di </a:t>
            </a:r>
            <a:r>
              <a:rPr lang="id-ID" altLang="en-US" sz="1800" b="1" dirty="0">
                <a:solidFill>
                  <a:srgbClr val="57606A"/>
                </a:solidFill>
              </a:rPr>
              <a:t>ujung seberang</a:t>
            </a:r>
            <a:r>
              <a:rPr lang="id-ID" altLang="en-US" sz="1800" dirty="0">
                <a:solidFill>
                  <a:srgbClr val="57606A"/>
                </a:solidFill>
              </a:rPr>
              <a:t>: </a:t>
            </a:r>
            <a:r>
              <a:rPr lang="id-ID" altLang="en-US" sz="1800" dirty="0">
                <a:solidFill>
                  <a:srgbClr val="57606A"/>
                </a:solidFill>
                <a:latin typeface="Consolas" pitchFamily="34" charset="0"/>
                <a:ea typeface="Consolas" pitchFamily="34" charset="-122"/>
                <a:cs typeface="Consolas" pitchFamily="34" charset="-120"/>
              </a:rPr>
              <a:t>Pesanan "*" --&gt; "1" Pelanggan</a:t>
            </a:r>
            <a:r>
              <a:rPr lang="id-ID" altLang="en-US" sz="1800" dirty="0">
                <a:solidFill>
                  <a:srgbClr val="57606A"/>
                </a:solidFill>
              </a:rPr>
              <a:t> berarti setiap pesanan punya satu pelanggan.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Asosiasi Berarah: </a:t>
            </a:r>
            <a:r>
              <a:rPr lang="id-ID" altLang="en-US" sz="3200" b="1" dirty="0">
                <a:solidFill>
                  <a:srgbClr val="0A3069"/>
                </a:solidFill>
                <a:latin typeface="Consolas" pitchFamily="34" charset="0"/>
                <a:ea typeface="Consolas" pitchFamily="34" charset="-122"/>
                <a:cs typeface="Consolas" pitchFamily="34" charset="-120"/>
              </a:rPr>
              <a:t>1</a:t>
            </a:r>
            <a:r>
              <a:rPr lang="id-ID" altLang="en-US" sz="3200" b="1" dirty="0">
                <a:solidFill>
                  <a:srgbClr val="0A3069"/>
                </a:solidFill>
              </a:rPr>
              <a:t> dan </a:t>
            </a:r>
            <a:r>
              <a:rPr lang="id-ID" altLang="en-US" sz="3200" b="1" dirty="0">
                <a:solidFill>
                  <a:srgbClr val="0A3069"/>
                </a:solidFill>
                <a:latin typeface="Consolas" pitchFamily="34" charset="0"/>
                <a:ea typeface="Consolas" pitchFamily="34" charset="-122"/>
                <a:cs typeface="Consolas" pitchFamily="34" charset="-120"/>
              </a:rPr>
              <a:t>0..1</a:t>
            </a:r>
            <a:r>
              <a:rPr lang="id-ID" altLang="en-US" sz="3200" b="1" dirty="0">
                <a:solidFill>
                  <a:srgbClr val="0A3069"/>
                </a:solidFill>
              </a:rPr>
              <a:t> di Kode</a:t>
            </a:r>
            <a:endParaRPr lang="id-ID" sz="3200" dirty="0"/>
          </a:p>
        </p:txBody>
      </p:sp>
      <p:sp>
        <p:nvSpPr>
          <p:cNvPr id="5" name="Text 2"/>
          <p:cNvSpPr txBox="1"/>
          <p:nvPr/>
        </p:nvSpPr>
        <p:spPr>
          <a:xfrm>
            <a:off x="548640" y="1824990"/>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Penumpang wajib ada sejak pesanan lahir (</a:t>
            </a:r>
            <a:r>
              <a:rPr lang="id-ID" altLang="en-US" sz="1800" dirty="0">
                <a:solidFill>
                  <a:srgbClr val="0A3069"/>
                </a:solidFill>
                <a:latin typeface="Consolas" pitchFamily="34" charset="0"/>
                <a:ea typeface="Consolas" pitchFamily="34" charset="-122"/>
                <a:cs typeface="Consolas" pitchFamily="34" charset="-120"/>
              </a:rPr>
              <a:t>1</a:t>
            </a:r>
            <a:r>
              <a:rPr lang="id-ID" altLang="en-US" sz="1800" dirty="0">
                <a:solidFill>
                  <a:srgbClr val="57606A"/>
                </a:solidFill>
              </a:rPr>
              <a:t>). Pengemudi boleh menyusul (</a:t>
            </a:r>
            <a:r>
              <a:rPr lang="id-ID" altLang="en-US" sz="1800" dirty="0">
                <a:solidFill>
                  <a:srgbClr val="0A3069"/>
                </a:solidFill>
                <a:latin typeface="Consolas" pitchFamily="34" charset="0"/>
                <a:ea typeface="Consolas" pitchFamily="34" charset="-122"/>
                <a:cs typeface="Consolas" pitchFamily="34" charset="-120"/>
              </a:rPr>
              <a:t>0..1</a:t>
            </a:r>
            <a:r>
              <a:rPr lang="id-ID" altLang="en-US" sz="1800" dirty="0">
                <a:solidFill>
                  <a:srgbClr val="57606A"/>
                </a:solidFill>
              </a:rPr>
              <a:t>).</a:t>
            </a:r>
            <a:endParaRPr lang="id-ID" sz="1800" dirty="0"/>
          </a:p>
        </p:txBody>
      </p:sp>
      <p:sp>
        <p:nvSpPr>
          <p:cNvPr id="6" name="Shape 3"/>
          <p:cNvSpPr/>
          <p:nvPr/>
        </p:nvSpPr>
        <p:spPr>
          <a:xfrm>
            <a:off x="548640" y="2259330"/>
            <a:ext cx="1051560" cy="329184"/>
          </a:xfrm>
          <a:prstGeom prst="roundRect">
            <a:avLst>
              <a:gd name="adj" fmla="val 138889"/>
            </a:avLst>
          </a:prstGeom>
          <a:solidFill>
            <a:srgbClr val="3572A5"/>
          </a:solidFill>
          <a:ln/>
        </p:spPr>
      </p:sp>
      <p:sp>
        <p:nvSpPr>
          <p:cNvPr id="7" name="Text 4"/>
          <p:cNvSpPr txBox="1"/>
          <p:nvPr/>
        </p:nvSpPr>
        <p:spPr>
          <a:xfrm>
            <a:off x="548640" y="2259330"/>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259330"/>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python/contoh/contoh02_asosiasi.py</a:t>
            </a:r>
            <a:endParaRPr lang="id-ID" sz="1100" dirty="0"/>
          </a:p>
        </p:txBody>
      </p:sp>
      <p:sp>
        <p:nvSpPr>
          <p:cNvPr id="9" name="Shape 6"/>
          <p:cNvSpPr/>
          <p:nvPr/>
        </p:nvSpPr>
        <p:spPr>
          <a:xfrm>
            <a:off x="548640" y="2679954"/>
            <a:ext cx="5432908" cy="2893568"/>
          </a:xfrm>
          <a:prstGeom prst="roundRect">
            <a:avLst>
              <a:gd name="adj" fmla="val 999"/>
            </a:avLst>
          </a:prstGeom>
          <a:solidFill>
            <a:srgbClr val="F6F8FA"/>
          </a:solidFill>
          <a:ln w="9525">
            <a:solidFill>
              <a:srgbClr val="D0D7DE"/>
            </a:solidFill>
            <a:prstDash val="solid"/>
          </a:ln>
        </p:spPr>
      </p:sp>
      <p:sp>
        <p:nvSpPr>
          <p:cNvPr id="10" name="Text 7"/>
          <p:cNvSpPr txBox="1"/>
          <p:nvPr/>
        </p:nvSpPr>
        <p:spPr>
          <a:xfrm>
            <a:off x="658368" y="2771394"/>
            <a:ext cx="5213452" cy="2710688"/>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PesananOjek</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__init__</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penumpang: Penumpang, tujuan: </a:t>
            </a:r>
            <a:r>
              <a:rPr lang="en-US" altLang="en-US" sz="1100" dirty="0">
                <a:solidFill>
                  <a:srgbClr val="0550AE"/>
                </a:solidFill>
                <a:latin typeface="Consolas" pitchFamily="34" charset="0"/>
                <a:ea typeface="Consolas" pitchFamily="34" charset="-122"/>
                <a:cs typeface="Consolas" pitchFamily="34" charset="-120"/>
              </a:rPr>
              <a:t>str</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._penumpang = penumpang</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._tujuan = tujuan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._pengemudi: Pengemudi | </a:t>
            </a:r>
            <a:r>
              <a:rPr lang="en-US" altLang="en-US" sz="1100" dirty="0">
                <a:solidFill>
                  <a:srgbClr val="CF222E"/>
                </a:solidFill>
                <a:latin typeface="Consolas" pitchFamily="34" charset="0"/>
                <a:ea typeface="Consolas" pitchFamily="34" charset="-122"/>
                <a:cs typeface="Consolas" pitchFamily="34" charset="-120"/>
              </a:rPr>
              <a:t>None</a:t>
            </a:r>
            <a:r>
              <a:rPr lang="en-US" altLang="en-US" sz="1100" dirty="0">
                <a:solidFill>
                  <a:srgbClr val="1F2328"/>
                </a:solidFill>
                <a:latin typeface="Consolas" pitchFamily="34" charset="0"/>
                <a:ea typeface="Consolas" pitchFamily="34" charset="-122"/>
                <a:cs typeface="Consolas" pitchFamily="34" charset="-120"/>
              </a:rPr>
              <a:t> = </a:t>
            </a:r>
            <a:r>
              <a:rPr lang="en-US" altLang="en-US" sz="1100" dirty="0">
                <a:solidFill>
                  <a:srgbClr val="CF222E"/>
                </a:solidFill>
                <a:latin typeface="Consolas" pitchFamily="34" charset="0"/>
                <a:ea typeface="Consolas" pitchFamily="34" charset="-122"/>
                <a:cs typeface="Consolas" pitchFamily="34" charset="-120"/>
              </a:rPr>
              <a:t>None</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tetapkan_pengemudi</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pengemudi: Pengemudi):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._pengemudi = pengemudi</a:t>
            </a:r>
            <a:endParaRPr lang="en-US" sz="1100" dirty="0"/>
          </a:p>
        </p:txBody>
      </p:sp>
      <p:sp>
        <p:nvSpPr>
          <p:cNvPr id="11" name="Shape 8"/>
          <p:cNvSpPr/>
          <p:nvPr/>
        </p:nvSpPr>
        <p:spPr>
          <a:xfrm>
            <a:off x="6210148" y="2259330"/>
            <a:ext cx="1051560" cy="329184"/>
          </a:xfrm>
          <a:prstGeom prst="roundRect">
            <a:avLst>
              <a:gd name="adj" fmla="val 138889"/>
            </a:avLst>
          </a:prstGeom>
          <a:solidFill>
            <a:srgbClr val="B07219"/>
          </a:solidFill>
          <a:ln/>
        </p:spPr>
      </p:sp>
      <p:sp>
        <p:nvSpPr>
          <p:cNvPr id="12" name="Text 9"/>
          <p:cNvSpPr txBox="1"/>
          <p:nvPr/>
        </p:nvSpPr>
        <p:spPr>
          <a:xfrm>
            <a:off x="6210148" y="2259330"/>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259330"/>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java/contoh/Contoh02Asosiasi.java</a:t>
            </a:r>
            <a:endParaRPr lang="id-ID" sz="1100" dirty="0"/>
          </a:p>
        </p:txBody>
      </p:sp>
      <p:sp>
        <p:nvSpPr>
          <p:cNvPr id="14" name="Shape 11"/>
          <p:cNvSpPr/>
          <p:nvPr/>
        </p:nvSpPr>
        <p:spPr>
          <a:xfrm>
            <a:off x="6210148" y="2679954"/>
            <a:ext cx="5432908" cy="2893568"/>
          </a:xfrm>
          <a:prstGeom prst="roundRect">
            <a:avLst>
              <a:gd name="adj" fmla="val 999"/>
            </a:avLst>
          </a:prstGeom>
          <a:solidFill>
            <a:srgbClr val="F6F8FA"/>
          </a:solidFill>
          <a:ln w="9525">
            <a:solidFill>
              <a:srgbClr val="D0D7DE"/>
            </a:solidFill>
            <a:prstDash val="solid"/>
          </a:ln>
        </p:spPr>
      </p:sp>
      <p:sp>
        <p:nvSpPr>
          <p:cNvPr id="15" name="Text 12"/>
          <p:cNvSpPr txBox="1"/>
          <p:nvPr/>
        </p:nvSpPr>
        <p:spPr>
          <a:xfrm>
            <a:off x="6319876" y="2771394"/>
            <a:ext cx="5213452" cy="2710688"/>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PesananOjek</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private</a:t>
            </a:r>
            <a:r>
              <a:rPr lang="en-US" altLang="en-US" sz="1100" dirty="0">
                <a:solidFill>
                  <a:srgbClr val="1F2328"/>
                </a:solidFill>
                <a:latin typeface="Consolas" pitchFamily="34" charset="0"/>
                <a:ea typeface="Consolas" pitchFamily="34" charset="-122"/>
                <a:cs typeface="Consolas" pitchFamily="34" charset="-120"/>
              </a:rPr>
              <a:t> Penumpang penumpang;</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private</a:t>
            </a:r>
            <a:r>
              <a:rPr lang="en-US" altLang="en-US" sz="1100" dirty="0">
                <a:solidFill>
                  <a:srgbClr val="1F2328"/>
                </a:solidFill>
                <a:latin typeface="Consolas" pitchFamily="34" charset="0"/>
                <a:ea typeface="Consolas" pitchFamily="34" charset="-122"/>
                <a:cs typeface="Consolas" pitchFamily="34" charset="-120"/>
              </a:rPr>
              <a:t> String tujuan;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private</a:t>
            </a:r>
            <a:r>
              <a:rPr lang="en-US" altLang="en-US" sz="1100" dirty="0">
                <a:solidFill>
                  <a:srgbClr val="1F2328"/>
                </a:solidFill>
                <a:latin typeface="Consolas" pitchFamily="34" charset="0"/>
                <a:ea typeface="Consolas" pitchFamily="34" charset="-122"/>
                <a:cs typeface="Consolas" pitchFamily="34" charset="-120"/>
              </a:rPr>
              <a:t> Pengemudi pengemudi;</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PesananOjek</a:t>
            </a:r>
            <a:r>
              <a:rPr lang="en-US" altLang="en-US" sz="1100" dirty="0">
                <a:solidFill>
                  <a:srgbClr val="1F2328"/>
                </a:solidFill>
                <a:latin typeface="Consolas" pitchFamily="34" charset="0"/>
                <a:ea typeface="Consolas" pitchFamily="34" charset="-122"/>
                <a:cs typeface="Consolas" pitchFamily="34" charset="-120"/>
              </a:rPr>
              <a:t>(Penumpang penumpang, String tujuan)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this</a:t>
            </a:r>
            <a:r>
              <a:rPr lang="en-US" altLang="en-US" sz="1100" dirty="0">
                <a:solidFill>
                  <a:srgbClr val="1F2328"/>
                </a:solidFill>
                <a:latin typeface="Consolas" pitchFamily="34" charset="0"/>
                <a:ea typeface="Consolas" pitchFamily="34" charset="-122"/>
                <a:cs typeface="Consolas" pitchFamily="34" charset="-120"/>
              </a:rPr>
              <a:t>.penumpang = penumpang;</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this</a:t>
            </a:r>
            <a:r>
              <a:rPr lang="en-US" altLang="en-US" sz="1100" dirty="0">
                <a:solidFill>
                  <a:srgbClr val="1F2328"/>
                </a:solidFill>
                <a:latin typeface="Consolas" pitchFamily="34" charset="0"/>
                <a:ea typeface="Consolas" pitchFamily="34" charset="-122"/>
                <a:cs typeface="Consolas" pitchFamily="34" charset="-120"/>
              </a:rPr>
              <a:t>.tujuan = tujuan;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this</a:t>
            </a:r>
            <a:r>
              <a:rPr lang="en-US" altLang="en-US" sz="1100" dirty="0">
                <a:solidFill>
                  <a:srgbClr val="1F2328"/>
                </a:solidFill>
                <a:latin typeface="Consolas" pitchFamily="34" charset="0"/>
                <a:ea typeface="Consolas" pitchFamily="34" charset="-122"/>
                <a:cs typeface="Consolas" pitchFamily="34" charset="-120"/>
              </a:rPr>
              <a:t>.pengemudi = </a:t>
            </a:r>
            <a:r>
              <a:rPr lang="en-US" altLang="en-US" sz="1100" dirty="0">
                <a:solidFill>
                  <a:srgbClr val="CF222E"/>
                </a:solidFill>
                <a:latin typeface="Consolas" pitchFamily="34" charset="0"/>
                <a:ea typeface="Consolas" pitchFamily="34" charset="-122"/>
                <a:cs typeface="Consolas" pitchFamily="34" charset="-120"/>
              </a:rPr>
              <a:t>null</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void</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tetapkanPengemudi</a:t>
            </a:r>
            <a:r>
              <a:rPr lang="en-US" altLang="en-US" sz="1100" dirty="0">
                <a:solidFill>
                  <a:srgbClr val="1F2328"/>
                </a:solidFill>
                <a:latin typeface="Consolas" pitchFamily="34" charset="0"/>
                <a:ea typeface="Consolas" pitchFamily="34" charset="-122"/>
                <a:cs typeface="Consolas" pitchFamily="34" charset="-120"/>
              </a:rPr>
              <a:t>(Pengemudi pengemudi)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this</a:t>
            </a:r>
            <a:r>
              <a:rPr lang="en-US" altLang="en-US" sz="1100" dirty="0">
                <a:solidFill>
                  <a:srgbClr val="1F2328"/>
                </a:solidFill>
                <a:latin typeface="Consolas" pitchFamily="34" charset="0"/>
                <a:ea typeface="Consolas" pitchFamily="34" charset="-122"/>
                <a:cs typeface="Consolas" pitchFamily="34" charset="-120"/>
              </a:rPr>
              <a:t>.pengemudi = pengemudi;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3200" b="1" dirty="0">
                <a:solidFill>
                  <a:srgbClr val="FFFFFF"/>
                </a:solidFill>
              </a:rPr>
              <a:t>Mermaid serta </a:t>
            </a:r>
            <a:r>
              <a:rPr lang="id-ID" altLang="en-US" sz="3200" b="1" i="1" dirty="0">
                <a:solidFill>
                  <a:srgbClr val="FFFFFF"/>
                </a:solidFill>
              </a:rPr>
              <a:t>Forward</a:t>
            </a:r>
            <a:endParaRPr lang="id-ID" sz="3200" dirty="0"/>
          </a:p>
          <a:p>
            <a:pPr algn="l" indent="0" marL="0">
              <a:buNone/>
            </a:pPr>
            <a:r>
              <a:rPr lang="id-ID" altLang="en-US" sz="3200" b="1" dirty="0">
                <a:solidFill>
                  <a:srgbClr val="FFFFFF"/>
                </a:solidFill>
              </a:rPr>
              <a:t>dan </a:t>
            </a:r>
            <a:r>
              <a:rPr lang="id-ID" altLang="en-US" sz="3200" b="1" i="1" dirty="0">
                <a:solidFill>
                  <a:srgbClr val="FFFFFF"/>
                </a:solidFill>
              </a:rPr>
              <a:t>Reverse Engineering</a:t>
            </a:r>
            <a:endParaRPr lang="id-ID" sz="3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Menulis diagram sebagai teks, lalu berpindah dari diagram ke kode dan sebaliknya.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Menulis Diagram Kelas dengan Mermaid</a:t>
            </a:r>
            <a:endParaRPr lang="id-ID"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41028"/>
          <a:ext cx="11094415" cy="914400"/>
        </p:xfrm>
        <a:graphic>
          <a:graphicData uri="http://schemas.openxmlformats.org/drawingml/2006/table">
            <a:tbl>
              <a:tblPr/>
              <a:tblGrid>
                <a:gridCol w="1641753"/>
                <a:gridCol w="5187113"/>
                <a:gridCol w="4265549"/>
              </a:tblGrid>
              <a:tr h="709676">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Yang ingin digambar</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Tulis di Mermaid</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Tampil sebagai</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Kelas dengan isi</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class Menu { ... }</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kotak tiga bagian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46278">
                <a:tc>
                  <a:txBody>
                    <a:bodyPr/>
                    <a:lstStyle/>
                    <a:p>
                      <a:pPr indent="0" marL="0">
                        <a:buNone/>
                      </a:pPr>
                      <a:r>
                        <a:rPr lang="id-ID" altLang="en-US" sz="1700" i="1" dirty="0">
                          <a:solidFill>
                            <a:srgbClr val="1F2328"/>
                          </a:solidFill>
                          <a:latin typeface="Calibri" pitchFamily="34" charset="0"/>
                          <a:ea typeface="Calibri" pitchFamily="34" charset="-122"/>
                          <a:cs typeface="Calibri" pitchFamily="34" charset="-120"/>
                        </a:rPr>
                        <a:t>Method</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+hitungTotal(jumlah: int) int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+hitungTotal(jumlah: int) : int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Anggota </a:t>
                      </a:r>
                      <a:r>
                        <a:rPr lang="id-ID" altLang="en-US" sz="1700" i="1" dirty="0">
                          <a:solidFill>
                            <a:srgbClr val="1F2328"/>
                          </a:solidFill>
                          <a:latin typeface="Calibri" pitchFamily="34" charset="0"/>
                          <a:ea typeface="Calibri" pitchFamily="34" charset="-122"/>
                          <a:cs typeface="Calibri" pitchFamily="34" charset="-120"/>
                        </a:rPr>
                        <a:t>static</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akhiri baris dengan </a:t>
                      </a:r>
                      <a:r>
                        <a:rPr lang="id-ID" altLang="en-US" sz="1700" dirty="0">
                          <a:solidFill>
                            <a:srgbClr val="0A3069"/>
                          </a:solidFill>
                          <a:latin typeface="Consolas" pitchFamily="34" charset="0"/>
                          <a:ea typeface="Consolas" pitchFamily="34" charset="-122"/>
                          <a:cs typeface="Consolas" pitchFamily="34" charset="-120"/>
                        </a:rPr>
                        <a: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bergaris bawah</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Anggota abstrak</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akhiri baris dengan </a:t>
                      </a:r>
                      <a:r>
                        <a:rPr lang="id-ID" altLang="en-US" sz="1700" dirty="0">
                          <a:solidFill>
                            <a:srgbClr val="0A3069"/>
                          </a:solidFill>
                          <a:latin typeface="Consolas" pitchFamily="34" charset="0"/>
                          <a:ea typeface="Consolas" pitchFamily="34" charset="-122"/>
                          <a:cs typeface="Consolas" pitchFamily="34" charset="-120"/>
                        </a:rPr>
                        <a: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miring</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Tipe generik</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List~Menu~</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List&lt;Menu&gt;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09676">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Relasi lengkap</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Pesanan "1" *-- "*" ItemPesanan : daftarItem</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garis, multiplisitas, dan label</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538658"/>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11078"/>
            <a:ext cx="184343" cy="184343"/>
          </a:xfrm>
          <a:prstGeom prst="rect">
            <a:avLst/>
          </a:prstGeom>
        </p:spPr>
      </p:pic>
      <p:sp>
        <p:nvSpPr>
          <p:cNvPr id="8" name="Text 3"/>
          <p:cNvSpPr txBox="1"/>
          <p:nvPr/>
        </p:nvSpPr>
        <p:spPr>
          <a:xfrm>
            <a:off x="1005840" y="5520370"/>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Coba di Mermaid Live Editor (mermaid.live): tempel teks mulai dari baris </a:t>
            </a:r>
            <a:r>
              <a:rPr lang="id-ID" altLang="en-US" sz="1800" dirty="0">
                <a:solidFill>
                  <a:srgbClr val="57606A"/>
                </a:solidFill>
                <a:latin typeface="Consolas" pitchFamily="34" charset="0"/>
                <a:ea typeface="Consolas" pitchFamily="34" charset="-122"/>
                <a:cs typeface="Consolas" pitchFamily="34" charset="-120"/>
              </a:rPr>
              <a:t>classDiagram</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Forward</a:t>
            </a:r>
            <a:r>
              <a:rPr lang="id-ID" altLang="en-US" sz="3200" b="1" dirty="0">
                <a:solidFill>
                  <a:srgbClr val="0A3069"/>
                </a:solidFill>
              </a:rPr>
              <a:t> dan </a:t>
            </a:r>
            <a:r>
              <a:rPr lang="id-ID" altLang="en-US" sz="3200" b="1" i="1" dirty="0">
                <a:solidFill>
                  <a:srgbClr val="0A3069"/>
                </a:solidFill>
              </a:rPr>
              <a:t>Reverse Engineering</a:t>
            </a:r>
            <a:endParaRPr lang="id-ID" sz="3200" dirty="0"/>
          </a:p>
        </p:txBody>
      </p:sp>
      <p:sp>
        <p:nvSpPr>
          <p:cNvPr id="5" name="Shape 2"/>
          <p:cNvSpPr/>
          <p:nvPr/>
        </p:nvSpPr>
        <p:spPr>
          <a:xfrm>
            <a:off x="548640" y="1570086"/>
            <a:ext cx="5364328" cy="4418584"/>
          </a:xfrm>
          <a:prstGeom prst="roundRect">
            <a:avLst>
              <a:gd name="adj" fmla="val 600"/>
            </a:avLst>
          </a:prstGeom>
          <a:solidFill>
            <a:srgbClr val="FFFFFF"/>
          </a:solidFill>
          <a:ln w="12700">
            <a:solidFill>
              <a:srgbClr val="54AEFF"/>
            </a:solidFill>
            <a:prstDash val="solid"/>
          </a:ln>
        </p:spPr>
      </p:sp>
      <p:sp>
        <p:nvSpPr>
          <p:cNvPr id="6" name="Shape 3"/>
          <p:cNvSpPr/>
          <p:nvPr/>
        </p:nvSpPr>
        <p:spPr>
          <a:xfrm>
            <a:off x="548640" y="1570086"/>
            <a:ext cx="5364328" cy="658368"/>
          </a:xfrm>
          <a:prstGeom prst="roundRect">
            <a:avLst>
              <a:gd name="adj" fmla="val 27006"/>
            </a:avLst>
          </a:prstGeom>
          <a:solidFill>
            <a:srgbClr val="0969DA"/>
          </a:solidFill>
          <a:ln/>
        </p:spPr>
      </p:sp>
      <p:sp>
        <p:nvSpPr>
          <p:cNvPr id="7" name="Shape 4"/>
          <p:cNvSpPr/>
          <p:nvPr/>
        </p:nvSpPr>
        <p:spPr>
          <a:xfrm>
            <a:off x="548640" y="1899270"/>
            <a:ext cx="5364328" cy="329184"/>
          </a:xfrm>
          <a:prstGeom prst="rect">
            <a:avLst/>
          </a:prstGeom>
          <a:solidFill>
            <a:srgbClr val="0969DA"/>
          </a:solidFill>
          <a:ln/>
        </p:spPr>
      </p:sp>
      <p:sp>
        <p:nvSpPr>
          <p:cNvPr id="8" name="Text 5"/>
          <p:cNvSpPr txBox="1"/>
          <p:nvPr/>
        </p:nvSpPr>
        <p:spPr>
          <a:xfrm>
            <a:off x="822960" y="1570086"/>
            <a:ext cx="4815688" cy="658368"/>
          </a:xfrm>
          <a:prstGeom prst="rect">
            <a:avLst/>
          </a:prstGeom>
          <a:noFill/>
          <a:ln/>
        </p:spPr>
        <p:txBody>
          <a:bodyPr wrap="square" lIns="0" tIns="0" rIns="0" bIns="0" rtlCol="0" anchor="ctr"/>
          <a:lstStyle/>
          <a:p>
            <a:pPr indent="0" marL="0">
              <a:buNone/>
            </a:pPr>
            <a:r>
              <a:rPr lang="id-ID" altLang="en-US" sz="2200" b="1" i="1" dirty="0">
                <a:solidFill>
                  <a:srgbClr val="FFFFFF"/>
                </a:solidFill>
              </a:rPr>
              <a:t>Forward engineering</a:t>
            </a:r>
            <a:endParaRPr lang="id-ID" sz="2200" dirty="0"/>
          </a:p>
        </p:txBody>
      </p:sp>
      <p:sp>
        <p:nvSpPr>
          <p:cNvPr id="9" name="Shape 6"/>
          <p:cNvSpPr/>
          <p:nvPr/>
        </p:nvSpPr>
        <p:spPr>
          <a:xfrm>
            <a:off x="877824" y="2604628"/>
            <a:ext cx="137160" cy="137160"/>
          </a:xfrm>
          <a:prstGeom prst="roundRect">
            <a:avLst>
              <a:gd name="adj" fmla="val 166667"/>
            </a:avLst>
          </a:prstGeom>
          <a:solidFill>
            <a:srgbClr val="0969DA"/>
          </a:solidFill>
          <a:ln/>
        </p:spPr>
      </p:sp>
      <p:sp>
        <p:nvSpPr>
          <p:cNvPr id="10" name="Text 7"/>
          <p:cNvSpPr txBox="1"/>
          <p:nvPr/>
        </p:nvSpPr>
        <p:spPr>
          <a:xfrm>
            <a:off x="1207008" y="2502774"/>
            <a:ext cx="4431640" cy="727456"/>
          </a:xfrm>
          <a:prstGeom prst="rect">
            <a:avLst/>
          </a:prstGeom>
          <a:noFill/>
          <a:ln/>
        </p:spPr>
        <p:txBody>
          <a:bodyPr wrap="square" lIns="0" tIns="0" rIns="0" bIns="0" rtlCol="0" anchor="t"/>
          <a:lstStyle/>
          <a:p>
            <a:pPr indent="0" marL="0">
              <a:buNone/>
            </a:pPr>
            <a:r>
              <a:rPr lang="id-ID" altLang="en-US" sz="2200" dirty="0">
                <a:solidFill>
                  <a:srgbClr val="1F2328"/>
                </a:solidFill>
              </a:rPr>
              <a:t>Membuat kode </a:t>
            </a:r>
            <a:r>
              <a:rPr lang="id-ID" altLang="en-US" sz="2200" b="1" dirty="0">
                <a:solidFill>
                  <a:srgbClr val="1F2328"/>
                </a:solidFill>
              </a:rPr>
              <a:t>dari</a:t>
            </a:r>
            <a:r>
              <a:rPr lang="id-ID" altLang="en-US" sz="2200" dirty="0">
                <a:solidFill>
                  <a:srgbClr val="1F2328"/>
                </a:solidFill>
              </a:rPr>
              <a:t> diagram: rancang dulu, baru tulis kodenya.</a:t>
            </a:r>
            <a:endParaRPr lang="id-ID" sz="2200" dirty="0"/>
          </a:p>
        </p:txBody>
      </p:sp>
      <p:sp>
        <p:nvSpPr>
          <p:cNvPr id="11" name="Shape 8"/>
          <p:cNvSpPr/>
          <p:nvPr/>
        </p:nvSpPr>
        <p:spPr>
          <a:xfrm>
            <a:off x="877824" y="3505820"/>
            <a:ext cx="137160" cy="137160"/>
          </a:xfrm>
          <a:prstGeom prst="roundRect">
            <a:avLst>
              <a:gd name="adj" fmla="val 166667"/>
            </a:avLst>
          </a:prstGeom>
          <a:solidFill>
            <a:srgbClr val="0969DA"/>
          </a:solidFill>
          <a:ln/>
        </p:spPr>
      </p:sp>
      <p:sp>
        <p:nvSpPr>
          <p:cNvPr id="12" name="Text 9"/>
          <p:cNvSpPr txBox="1"/>
          <p:nvPr/>
        </p:nvSpPr>
        <p:spPr>
          <a:xfrm>
            <a:off x="1207008" y="3403966"/>
            <a:ext cx="4431640" cy="727456"/>
          </a:xfrm>
          <a:prstGeom prst="rect">
            <a:avLst/>
          </a:prstGeom>
          <a:noFill/>
          <a:ln/>
        </p:spPr>
        <p:txBody>
          <a:bodyPr wrap="square" lIns="0" tIns="0" rIns="0" bIns="0" rtlCol="0" anchor="t"/>
          <a:lstStyle/>
          <a:p>
            <a:pPr indent="0" marL="0">
              <a:buNone/>
            </a:pPr>
            <a:r>
              <a:rPr lang="id-ID" altLang="en-US" sz="2200" dirty="0">
                <a:solidFill>
                  <a:srgbClr val="1F2328"/>
                </a:solidFill>
              </a:rPr>
              <a:t>Seperti membangun rumah baru dari denah arsitek.</a:t>
            </a:r>
            <a:endParaRPr lang="id-ID" sz="2200" dirty="0"/>
          </a:p>
        </p:txBody>
      </p:sp>
      <p:sp>
        <p:nvSpPr>
          <p:cNvPr id="13" name="Shape 10"/>
          <p:cNvSpPr/>
          <p:nvPr/>
        </p:nvSpPr>
        <p:spPr>
          <a:xfrm>
            <a:off x="877824" y="4407012"/>
            <a:ext cx="137160" cy="137160"/>
          </a:xfrm>
          <a:prstGeom prst="roundRect">
            <a:avLst>
              <a:gd name="adj" fmla="val 166667"/>
            </a:avLst>
          </a:prstGeom>
          <a:solidFill>
            <a:srgbClr val="0969DA"/>
          </a:solidFill>
          <a:ln/>
        </p:spPr>
      </p:sp>
      <p:sp>
        <p:nvSpPr>
          <p:cNvPr id="14" name="Text 11"/>
          <p:cNvSpPr txBox="1"/>
          <p:nvPr/>
        </p:nvSpPr>
        <p:spPr>
          <a:xfrm>
            <a:off x="1207008" y="4305158"/>
            <a:ext cx="4431640" cy="1068324"/>
          </a:xfrm>
          <a:prstGeom prst="rect">
            <a:avLst/>
          </a:prstGeom>
          <a:noFill/>
          <a:ln/>
        </p:spPr>
        <p:txBody>
          <a:bodyPr wrap="square" lIns="0" tIns="0" rIns="0" bIns="0" rtlCol="0" anchor="t"/>
          <a:lstStyle/>
          <a:p>
            <a:pPr indent="0" marL="0">
              <a:buNone/>
            </a:pPr>
            <a:r>
              <a:rPr lang="id-ID" altLang="en-US" sz="2200" dirty="0">
                <a:solidFill>
                  <a:srgbClr val="1F2328"/>
                </a:solidFill>
              </a:rPr>
              <a:t>Setiap kotak menjadi kelas; setiap garis menjadi atribut, </a:t>
            </a:r>
            <a:r>
              <a:rPr lang="id-ID" altLang="en-US" sz="2200" i="1" dirty="0">
                <a:solidFill>
                  <a:srgbClr val="1F2328"/>
                </a:solidFill>
              </a:rPr>
              <a:t>list</a:t>
            </a:r>
            <a:r>
              <a:rPr lang="id-ID" altLang="en-US" sz="2200" dirty="0">
                <a:solidFill>
                  <a:srgbClr val="1F2328"/>
                </a:solidFill>
              </a:rPr>
              <a:t>, atau parameter.</a:t>
            </a:r>
            <a:endParaRPr lang="id-ID" sz="2200" dirty="0"/>
          </a:p>
        </p:txBody>
      </p:sp>
      <p:sp>
        <p:nvSpPr>
          <p:cNvPr id="15" name="Shape 12"/>
          <p:cNvSpPr/>
          <p:nvPr/>
        </p:nvSpPr>
        <p:spPr>
          <a:xfrm>
            <a:off x="6278728" y="1570086"/>
            <a:ext cx="5364328" cy="4418584"/>
          </a:xfrm>
          <a:prstGeom prst="roundRect">
            <a:avLst>
              <a:gd name="adj" fmla="val 600"/>
            </a:avLst>
          </a:prstGeom>
          <a:solidFill>
            <a:srgbClr val="FFFFFF"/>
          </a:solidFill>
          <a:ln w="12700">
            <a:solidFill>
              <a:srgbClr val="4AC26B"/>
            </a:solidFill>
            <a:prstDash val="solid"/>
          </a:ln>
        </p:spPr>
      </p:sp>
      <p:sp>
        <p:nvSpPr>
          <p:cNvPr id="16" name="Shape 13"/>
          <p:cNvSpPr/>
          <p:nvPr/>
        </p:nvSpPr>
        <p:spPr>
          <a:xfrm>
            <a:off x="6278728" y="1570086"/>
            <a:ext cx="5364328" cy="658368"/>
          </a:xfrm>
          <a:prstGeom prst="roundRect">
            <a:avLst>
              <a:gd name="adj" fmla="val 27006"/>
            </a:avLst>
          </a:prstGeom>
          <a:solidFill>
            <a:srgbClr val="1A7F37"/>
          </a:solidFill>
          <a:ln/>
        </p:spPr>
      </p:sp>
      <p:sp>
        <p:nvSpPr>
          <p:cNvPr id="17" name="Shape 14"/>
          <p:cNvSpPr/>
          <p:nvPr/>
        </p:nvSpPr>
        <p:spPr>
          <a:xfrm>
            <a:off x="6278728" y="1899270"/>
            <a:ext cx="5364328" cy="329184"/>
          </a:xfrm>
          <a:prstGeom prst="rect">
            <a:avLst/>
          </a:prstGeom>
          <a:solidFill>
            <a:srgbClr val="1A7F37"/>
          </a:solidFill>
          <a:ln/>
        </p:spPr>
      </p:sp>
      <p:sp>
        <p:nvSpPr>
          <p:cNvPr id="18" name="Text 15"/>
          <p:cNvSpPr txBox="1"/>
          <p:nvPr/>
        </p:nvSpPr>
        <p:spPr>
          <a:xfrm>
            <a:off x="6553048" y="1570086"/>
            <a:ext cx="4815688" cy="658368"/>
          </a:xfrm>
          <a:prstGeom prst="rect">
            <a:avLst/>
          </a:prstGeom>
          <a:noFill/>
          <a:ln/>
        </p:spPr>
        <p:txBody>
          <a:bodyPr wrap="square" lIns="0" tIns="0" rIns="0" bIns="0" rtlCol="0" anchor="ctr"/>
          <a:lstStyle/>
          <a:p>
            <a:pPr indent="0" marL="0">
              <a:buNone/>
            </a:pPr>
            <a:r>
              <a:rPr lang="id-ID" altLang="en-US" sz="2200" b="1" i="1" dirty="0">
                <a:solidFill>
                  <a:srgbClr val="FFFFFF"/>
                </a:solidFill>
              </a:rPr>
              <a:t>Reverse engineering</a:t>
            </a:r>
            <a:endParaRPr lang="id-ID" sz="2200" dirty="0"/>
          </a:p>
        </p:txBody>
      </p:sp>
      <p:sp>
        <p:nvSpPr>
          <p:cNvPr id="19" name="Shape 16"/>
          <p:cNvSpPr/>
          <p:nvPr/>
        </p:nvSpPr>
        <p:spPr>
          <a:xfrm>
            <a:off x="6607912" y="2604628"/>
            <a:ext cx="137160" cy="137160"/>
          </a:xfrm>
          <a:prstGeom prst="roundRect">
            <a:avLst>
              <a:gd name="adj" fmla="val 166667"/>
            </a:avLst>
          </a:prstGeom>
          <a:solidFill>
            <a:srgbClr val="1A7F37"/>
          </a:solidFill>
          <a:ln/>
        </p:spPr>
      </p:sp>
      <p:sp>
        <p:nvSpPr>
          <p:cNvPr id="20" name="Text 17"/>
          <p:cNvSpPr txBox="1"/>
          <p:nvPr/>
        </p:nvSpPr>
        <p:spPr>
          <a:xfrm>
            <a:off x="6937096" y="2502774"/>
            <a:ext cx="4431640" cy="727456"/>
          </a:xfrm>
          <a:prstGeom prst="rect">
            <a:avLst/>
          </a:prstGeom>
          <a:noFill/>
          <a:ln/>
        </p:spPr>
        <p:txBody>
          <a:bodyPr wrap="square" lIns="0" tIns="0" rIns="0" bIns="0" rtlCol="0" anchor="t"/>
          <a:lstStyle/>
          <a:p>
            <a:pPr indent="0" marL="0">
              <a:buNone/>
            </a:pPr>
            <a:r>
              <a:rPr lang="id-ID" altLang="en-US" sz="2200" dirty="0">
                <a:solidFill>
                  <a:srgbClr val="1F2328"/>
                </a:solidFill>
              </a:rPr>
              <a:t>Membuat diagram </a:t>
            </a:r>
            <a:r>
              <a:rPr lang="id-ID" altLang="en-US" sz="2200" b="1" dirty="0">
                <a:solidFill>
                  <a:srgbClr val="1F2328"/>
                </a:solidFill>
              </a:rPr>
              <a:t>dari</a:t>
            </a:r>
            <a:r>
              <a:rPr lang="id-ID" altLang="en-US" sz="2200" dirty="0">
                <a:solidFill>
                  <a:srgbClr val="1F2328"/>
                </a:solidFill>
              </a:rPr>
              <a:t> kode yang sudah ada: pahami dulu, baru ubah.</a:t>
            </a:r>
            <a:endParaRPr lang="id-ID" sz="2200" dirty="0"/>
          </a:p>
        </p:txBody>
      </p:sp>
      <p:sp>
        <p:nvSpPr>
          <p:cNvPr id="21" name="Shape 18"/>
          <p:cNvSpPr/>
          <p:nvPr/>
        </p:nvSpPr>
        <p:spPr>
          <a:xfrm>
            <a:off x="6607912" y="3505820"/>
            <a:ext cx="137160" cy="137160"/>
          </a:xfrm>
          <a:prstGeom prst="roundRect">
            <a:avLst>
              <a:gd name="adj" fmla="val 166667"/>
            </a:avLst>
          </a:prstGeom>
          <a:solidFill>
            <a:srgbClr val="1A7F37"/>
          </a:solidFill>
          <a:ln/>
        </p:spPr>
      </p:sp>
      <p:sp>
        <p:nvSpPr>
          <p:cNvPr id="22" name="Text 19"/>
          <p:cNvSpPr txBox="1"/>
          <p:nvPr/>
        </p:nvSpPr>
        <p:spPr>
          <a:xfrm>
            <a:off x="6937096" y="3403966"/>
            <a:ext cx="4431640" cy="1068324"/>
          </a:xfrm>
          <a:prstGeom prst="rect">
            <a:avLst/>
          </a:prstGeom>
          <a:noFill/>
          <a:ln/>
        </p:spPr>
        <p:txBody>
          <a:bodyPr wrap="square" lIns="0" tIns="0" rIns="0" bIns="0" rtlCol="0" anchor="t"/>
          <a:lstStyle/>
          <a:p>
            <a:pPr indent="0" marL="0">
              <a:buNone/>
            </a:pPr>
            <a:r>
              <a:rPr lang="id-ID" altLang="en-US" sz="2200" dirty="0">
                <a:solidFill>
                  <a:srgbClr val="1F2328"/>
                </a:solidFill>
              </a:rPr>
              <a:t>Seperti mengukur rumah tua yang denahnya hilang, lalu menggambar ulang denahnya.</a:t>
            </a:r>
            <a:endParaRPr lang="id-ID" sz="2200" dirty="0"/>
          </a:p>
        </p:txBody>
      </p:sp>
      <p:sp>
        <p:nvSpPr>
          <p:cNvPr id="23" name="Shape 20"/>
          <p:cNvSpPr/>
          <p:nvPr/>
        </p:nvSpPr>
        <p:spPr>
          <a:xfrm>
            <a:off x="6607912" y="4747880"/>
            <a:ext cx="137160" cy="137160"/>
          </a:xfrm>
          <a:prstGeom prst="roundRect">
            <a:avLst>
              <a:gd name="adj" fmla="val 166667"/>
            </a:avLst>
          </a:prstGeom>
          <a:solidFill>
            <a:srgbClr val="1A7F37"/>
          </a:solidFill>
          <a:ln/>
        </p:spPr>
      </p:sp>
      <p:sp>
        <p:nvSpPr>
          <p:cNvPr id="24" name="Text 21"/>
          <p:cNvSpPr txBox="1"/>
          <p:nvPr/>
        </p:nvSpPr>
        <p:spPr>
          <a:xfrm>
            <a:off x="6937096" y="4646026"/>
            <a:ext cx="4431640" cy="1068324"/>
          </a:xfrm>
          <a:prstGeom prst="rect">
            <a:avLst/>
          </a:prstGeom>
          <a:noFill/>
          <a:ln/>
        </p:spPr>
        <p:txBody>
          <a:bodyPr wrap="square" lIns="0" tIns="0" rIns="0" bIns="0" rtlCol="0" anchor="t"/>
          <a:lstStyle/>
          <a:p>
            <a:pPr indent="0" marL="0">
              <a:buNone/>
            </a:pPr>
            <a:r>
              <a:rPr lang="id-ID" altLang="en-US" sz="2200" dirty="0">
                <a:solidFill>
                  <a:srgbClr val="1F2328"/>
                </a:solidFill>
              </a:rPr>
              <a:t>Atribut bertipe kelas lain menjadi garis; kelas yang hanya jadi parameter menjadi garis putus-⁠putus.</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Dari Diagram ke Kode Python dan Java</a:t>
            </a:r>
            <a:endParaRPr lang="id-ID"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78341"/>
          <a:ext cx="11094415" cy="914400"/>
        </p:xfrm>
        <a:graphic>
          <a:graphicData uri="http://schemas.openxmlformats.org/drawingml/2006/table">
            <a:tbl>
              <a:tblPr/>
              <a:tblGrid>
                <a:gridCol w="3337144"/>
                <a:gridCol w="4289638"/>
                <a:gridCol w="3467633"/>
              </a:tblGrid>
              <a:tr h="430784">
                <a:tc>
                  <a:txBody>
                    <a:bodyPr/>
                    <a:lstStyle/>
                    <a:p>
                      <a:pPr indent="0" marL="0">
                        <a:buNone/>
                      </a:pPr>
                      <a:r>
                        <a:rPr lang="id-ID" altLang="en-US" sz="1600" b="1" dirty="0">
                          <a:solidFill>
                            <a:srgbClr val="FFFFFF"/>
                          </a:solidFill>
                          <a:latin typeface="Calibri" pitchFamily="34" charset="0"/>
                          <a:ea typeface="Calibri" pitchFamily="34" charset="-122"/>
                          <a:cs typeface="Calibri" pitchFamily="34" charset="-120"/>
                        </a:rPr>
                        <a:t>Elemen diagram</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600" b="1" dirty="0">
                          <a:solidFill>
                            <a:srgbClr val="FFFFFF"/>
                          </a:solidFill>
                          <a:latin typeface="Calibri" pitchFamily="34" charset="0"/>
                          <a:ea typeface="Calibri" pitchFamily="34" charset="-122"/>
                          <a:cs typeface="Calibri" pitchFamily="34" charset="-120"/>
                        </a:rPr>
                        <a:t>Python</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600" b="1" dirty="0">
                          <a:solidFill>
                            <a:srgbClr val="FFFFFF"/>
                          </a:solidFill>
                          <a:latin typeface="Calibri" pitchFamily="34" charset="0"/>
                          <a:ea typeface="Calibri" pitchFamily="34" charset="-122"/>
                          <a:cs typeface="Calibri" pitchFamily="34" charset="-120"/>
                        </a:rPr>
                        <a:t>Java</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30784">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-harga : int</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self._harga = harga</a:t>
                      </a:r>
                      <a:r>
                        <a:rPr lang="id-ID" altLang="en-US" sz="1600" dirty="0">
                          <a:solidFill>
                            <a:srgbClr val="1F2328"/>
                          </a:solidFill>
                          <a:latin typeface="Calibri" pitchFamily="34" charset="0"/>
                          <a:ea typeface="Calibri" pitchFamily="34" charset="-122"/>
                          <a:cs typeface="Calibri" pitchFamily="34" charset="-120"/>
                        </a:rPr>
                        <a:t> di </a:t>
                      </a:r>
                      <a:r>
                        <a:rPr lang="id-ID" altLang="en-US" sz="1600" dirty="0">
                          <a:solidFill>
                            <a:srgbClr val="0A3069"/>
                          </a:solidFill>
                          <a:latin typeface="Consolas" pitchFamily="34" charset="0"/>
                          <a:ea typeface="Consolas" pitchFamily="34" charset="-122"/>
                          <a:cs typeface="Consolas" pitchFamily="34" charset="-120"/>
                        </a:rPr>
                        <a:t>__init__</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private int harga;</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678688">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+hitungTotal(jumlah: int) int</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def hitung_total(self, jumlah: int) -&gt; int:</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public int hitungTotal(int jumlah)</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678688">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A --&gt; "0..1" B</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self._b: B | None = None</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i="1" dirty="0">
                          <a:solidFill>
                            <a:srgbClr val="1F2328"/>
                          </a:solidFill>
                          <a:latin typeface="Calibri" pitchFamily="34" charset="0"/>
                          <a:ea typeface="Calibri" pitchFamily="34" charset="-122"/>
                          <a:cs typeface="Calibri" pitchFamily="34" charset="-120"/>
                        </a:rPr>
                        <a:t>field</a:t>
                      </a:r>
                      <a:r>
                        <a:rPr lang="id-ID" altLang="en-US" sz="1600" dirty="0">
                          <a:solidFill>
                            <a:srgbClr val="1F2328"/>
                          </a:solidFill>
                          <a:latin typeface="Calibri" pitchFamily="34" charset="0"/>
                          <a:ea typeface="Calibri" pitchFamily="34" charset="-122"/>
                          <a:cs typeface="Calibri" pitchFamily="34" charset="-120"/>
                        </a:rPr>
                        <a:t> </a:t>
                      </a:r>
                      <a:r>
                        <a:rPr lang="id-ID" altLang="en-US" sz="1600" dirty="0">
                          <a:solidFill>
                            <a:srgbClr val="0A3069"/>
                          </a:solidFill>
                          <a:latin typeface="Consolas" pitchFamily="34" charset="0"/>
                          <a:ea typeface="Consolas" pitchFamily="34" charset="-122"/>
                          <a:cs typeface="Consolas" pitchFamily="34" charset="-120"/>
                        </a:rPr>
                        <a:t>private B b;</a:t>
                      </a:r>
                      <a:r>
                        <a:rPr lang="id-ID" altLang="en-US" sz="1600" dirty="0">
                          <a:solidFill>
                            <a:srgbClr val="1F2328"/>
                          </a:solidFill>
                          <a:latin typeface="Calibri" pitchFamily="34" charset="0"/>
                          <a:ea typeface="Calibri" pitchFamily="34" charset="-122"/>
                          <a:cs typeface="Calibri" pitchFamily="34" charset="-120"/>
                        </a:rPr>
                        <a:t> yang boleh </a:t>
                      </a:r>
                      <a:r>
                        <a:rPr lang="id-ID" altLang="en-US" sz="1600" dirty="0">
                          <a:solidFill>
                            <a:srgbClr val="0A3069"/>
                          </a:solidFill>
                          <a:latin typeface="Consolas" pitchFamily="34" charset="0"/>
                          <a:ea typeface="Consolas" pitchFamily="34" charset="-122"/>
                          <a:cs typeface="Consolas" pitchFamily="34" charset="-120"/>
                        </a:rPr>
                        <a:t>null</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678688">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A o-- "*" B</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i="1" dirty="0">
                          <a:solidFill>
                            <a:srgbClr val="1F2328"/>
                          </a:solidFill>
                          <a:latin typeface="Calibri" pitchFamily="34" charset="0"/>
                          <a:ea typeface="Calibri" pitchFamily="34" charset="-122"/>
                          <a:cs typeface="Calibri" pitchFamily="34" charset="-120"/>
                        </a:rPr>
                        <a:t>list</a:t>
                      </a:r>
                      <a:r>
                        <a:rPr lang="id-ID" altLang="en-US" sz="1600" dirty="0">
                          <a:solidFill>
                            <a:srgbClr val="1F2328"/>
                          </a:solidFill>
                          <a:latin typeface="Calibri" pitchFamily="34" charset="0"/>
                          <a:ea typeface="Calibri" pitchFamily="34" charset="-122"/>
                          <a:cs typeface="Calibri" pitchFamily="34" charset="-120"/>
                        </a:rPr>
                        <a:t>; objek </a:t>
                      </a:r>
                      <a:r>
                        <a:rPr lang="id-ID" altLang="en-US" sz="1600" dirty="0">
                          <a:solidFill>
                            <a:srgbClr val="0A3069"/>
                          </a:solidFill>
                          <a:latin typeface="Consolas" pitchFamily="34" charset="0"/>
                          <a:ea typeface="Consolas" pitchFamily="34" charset="-122"/>
                          <a:cs typeface="Consolas" pitchFamily="34" charset="-120"/>
                        </a:rPr>
                        <a:t>B</a:t>
                      </a:r>
                      <a:r>
                        <a:rPr lang="id-ID" altLang="en-US" sz="1600" dirty="0">
                          <a:solidFill>
                            <a:srgbClr val="1F2328"/>
                          </a:solidFill>
                          <a:latin typeface="Calibri" pitchFamily="34" charset="0"/>
                          <a:ea typeface="Calibri" pitchFamily="34" charset="-122"/>
                          <a:cs typeface="Calibri" pitchFamily="34" charset="-120"/>
                        </a:rPr>
                        <a:t> diterima lewat parameter</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List&lt;B&gt;</a:t>
                      </a:r>
                      <a:r>
                        <a:rPr lang="id-ID" altLang="en-US" sz="1600" dirty="0">
                          <a:solidFill>
                            <a:srgbClr val="1F2328"/>
                          </a:solidFill>
                          <a:latin typeface="Calibri" pitchFamily="34" charset="0"/>
                          <a:ea typeface="Calibri" pitchFamily="34" charset="-122"/>
                          <a:cs typeface="Calibri" pitchFamily="34" charset="-120"/>
                        </a:rPr>
                        <a:t>; objek </a:t>
                      </a:r>
                      <a:r>
                        <a:rPr lang="id-ID" altLang="en-US" sz="1600" dirty="0">
                          <a:solidFill>
                            <a:srgbClr val="0A3069"/>
                          </a:solidFill>
                          <a:latin typeface="Consolas" pitchFamily="34" charset="0"/>
                          <a:ea typeface="Consolas" pitchFamily="34" charset="-122"/>
                          <a:cs typeface="Consolas" pitchFamily="34" charset="-120"/>
                        </a:rPr>
                        <a:t>B</a:t>
                      </a:r>
                      <a:r>
                        <a:rPr lang="id-ID" altLang="en-US" sz="1600" dirty="0">
                          <a:solidFill>
                            <a:srgbClr val="1F2328"/>
                          </a:solidFill>
                          <a:latin typeface="Calibri" pitchFamily="34" charset="0"/>
                          <a:ea typeface="Calibri" pitchFamily="34" charset="-122"/>
                          <a:cs typeface="Calibri" pitchFamily="34" charset="-120"/>
                        </a:rPr>
                        <a:t> diterima lewat parameter</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30784">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A *-- "*" B</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i="1" dirty="0">
                          <a:solidFill>
                            <a:srgbClr val="1F2328"/>
                          </a:solidFill>
                          <a:latin typeface="Calibri" pitchFamily="34" charset="0"/>
                          <a:ea typeface="Calibri" pitchFamily="34" charset="-122"/>
                          <a:cs typeface="Calibri" pitchFamily="34" charset="-120"/>
                        </a:rPr>
                        <a:t>list</a:t>
                      </a:r>
                      <a:r>
                        <a:rPr lang="id-ID" altLang="en-US" sz="1600" dirty="0">
                          <a:solidFill>
                            <a:srgbClr val="1F2328"/>
                          </a:solidFill>
                          <a:latin typeface="Calibri" pitchFamily="34" charset="0"/>
                          <a:ea typeface="Calibri" pitchFamily="34" charset="-122"/>
                          <a:cs typeface="Calibri" pitchFamily="34" charset="-120"/>
                        </a:rPr>
                        <a:t>; objek </a:t>
                      </a:r>
                      <a:r>
                        <a:rPr lang="id-ID" altLang="en-US" sz="1600" dirty="0">
                          <a:solidFill>
                            <a:srgbClr val="0A3069"/>
                          </a:solidFill>
                          <a:latin typeface="Consolas" pitchFamily="34" charset="0"/>
                          <a:ea typeface="Consolas" pitchFamily="34" charset="-122"/>
                          <a:cs typeface="Consolas" pitchFamily="34" charset="-120"/>
                        </a:rPr>
                        <a:t>B</a:t>
                      </a:r>
                      <a:r>
                        <a:rPr lang="id-ID" altLang="en-US" sz="1600" dirty="0">
                          <a:solidFill>
                            <a:srgbClr val="1F2328"/>
                          </a:solidFill>
                          <a:latin typeface="Calibri" pitchFamily="34" charset="0"/>
                          <a:ea typeface="Calibri" pitchFamily="34" charset="-122"/>
                          <a:cs typeface="Calibri" pitchFamily="34" charset="-120"/>
                        </a:rPr>
                        <a:t> dibuat di dalam </a:t>
                      </a:r>
                      <a:r>
                        <a:rPr lang="id-ID" altLang="en-US" sz="1600" dirty="0">
                          <a:solidFill>
                            <a:srgbClr val="0A3069"/>
                          </a:solidFill>
                          <a:latin typeface="Consolas" pitchFamily="34" charset="0"/>
                          <a:ea typeface="Consolas" pitchFamily="34" charset="-122"/>
                          <a:cs typeface="Consolas" pitchFamily="34" charset="-120"/>
                        </a:rPr>
                        <a:t>A</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List&lt;B&gt;</a:t>
                      </a:r>
                      <a:r>
                        <a:rPr lang="id-ID" altLang="en-US" sz="1600" dirty="0">
                          <a:solidFill>
                            <a:srgbClr val="1F2328"/>
                          </a:solidFill>
                          <a:latin typeface="Calibri" pitchFamily="34" charset="0"/>
                          <a:ea typeface="Calibri" pitchFamily="34" charset="-122"/>
                          <a:cs typeface="Calibri" pitchFamily="34" charset="-120"/>
                        </a:rPr>
                        <a:t>; </a:t>
                      </a:r>
                      <a:r>
                        <a:rPr lang="id-ID" altLang="en-US" sz="1600" dirty="0">
                          <a:solidFill>
                            <a:srgbClr val="0A3069"/>
                          </a:solidFill>
                          <a:latin typeface="Consolas" pitchFamily="34" charset="0"/>
                          <a:ea typeface="Consolas" pitchFamily="34" charset="-122"/>
                          <a:cs typeface="Consolas" pitchFamily="34" charset="-120"/>
                        </a:rPr>
                        <a:t>new B(...)</a:t>
                      </a:r>
                      <a:r>
                        <a:rPr lang="id-ID" altLang="en-US" sz="1600" dirty="0">
                          <a:solidFill>
                            <a:srgbClr val="1F2328"/>
                          </a:solidFill>
                          <a:latin typeface="Calibri" pitchFamily="34" charset="0"/>
                          <a:ea typeface="Calibri" pitchFamily="34" charset="-122"/>
                          <a:cs typeface="Calibri" pitchFamily="34" charset="-120"/>
                        </a:rPr>
                        <a:t> di dalam </a:t>
                      </a:r>
                      <a:r>
                        <a:rPr lang="id-ID" altLang="en-US" sz="1600" dirty="0">
                          <a:solidFill>
                            <a:srgbClr val="0A3069"/>
                          </a:solidFill>
                          <a:latin typeface="Consolas" pitchFamily="34" charset="0"/>
                          <a:ea typeface="Consolas" pitchFamily="34" charset="-122"/>
                          <a:cs typeface="Consolas" pitchFamily="34" charset="-120"/>
                        </a:rPr>
                        <a:t>A</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30784">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A ..&gt; B</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B</a:t>
                      </a:r>
                      <a:r>
                        <a:rPr lang="id-ID" altLang="en-US" sz="1600" dirty="0">
                          <a:solidFill>
                            <a:srgbClr val="1F2328"/>
                          </a:solidFill>
                          <a:latin typeface="Calibri" pitchFamily="34" charset="0"/>
                          <a:ea typeface="Calibri" pitchFamily="34" charset="-122"/>
                          <a:cs typeface="Calibri" pitchFamily="34" charset="-120"/>
                        </a:rPr>
                        <a:t> hanya parameter atau variabel lokal</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B</a:t>
                      </a:r>
                      <a:r>
                        <a:rPr lang="id-ID" altLang="en-US" sz="1600" dirty="0">
                          <a:solidFill>
                            <a:srgbClr val="1F2328"/>
                          </a:solidFill>
                          <a:latin typeface="Calibri" pitchFamily="34" charset="0"/>
                          <a:ea typeface="Calibri" pitchFamily="34" charset="-122"/>
                          <a:cs typeface="Calibri" pitchFamily="34" charset="-120"/>
                        </a:rPr>
                        <a:t> hanya parameter atau variabel lokal</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48442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556849"/>
            <a:ext cx="184343" cy="184343"/>
          </a:xfrm>
          <a:prstGeom prst="rect">
            <a:avLst/>
          </a:prstGeom>
        </p:spPr>
      </p:pic>
      <p:sp>
        <p:nvSpPr>
          <p:cNvPr id="8" name="Text 3"/>
          <p:cNvSpPr txBox="1"/>
          <p:nvPr/>
        </p:nvSpPr>
        <p:spPr>
          <a:xfrm>
            <a:off x="1005840" y="5466141"/>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Padanan tipe di Python: </a:t>
            </a:r>
            <a:r>
              <a:rPr lang="id-ID" altLang="en-US" sz="1800" dirty="0">
                <a:solidFill>
                  <a:srgbClr val="57606A"/>
                </a:solidFill>
                <a:latin typeface="Consolas" pitchFamily="34" charset="0"/>
                <a:ea typeface="Consolas" pitchFamily="34" charset="-122"/>
                <a:cs typeface="Consolas" pitchFamily="34" charset="-120"/>
              </a:rPr>
              <a:t>String</a:t>
            </a:r>
            <a:r>
              <a:rPr lang="id-ID" altLang="en-US" sz="1800" dirty="0">
                <a:solidFill>
                  <a:srgbClr val="57606A"/>
                </a:solidFill>
              </a:rPr>
              <a:t> menjadi </a:t>
            </a:r>
            <a:r>
              <a:rPr lang="id-ID" altLang="en-US" sz="1800" dirty="0">
                <a:solidFill>
                  <a:srgbClr val="57606A"/>
                </a:solidFill>
                <a:latin typeface="Consolas" pitchFamily="34" charset="0"/>
                <a:ea typeface="Consolas" pitchFamily="34" charset="-122"/>
                <a:cs typeface="Consolas" pitchFamily="34" charset="-120"/>
              </a:rPr>
              <a:t>str</a:t>
            </a:r>
            <a:r>
              <a:rPr lang="id-ID" altLang="en-US" sz="1800" dirty="0">
                <a:solidFill>
                  <a:srgbClr val="57606A"/>
                </a:solidFill>
              </a:rPr>
              <a:t>, </a:t>
            </a:r>
            <a:r>
              <a:rPr lang="id-ID" altLang="en-US" sz="1800" dirty="0">
                <a:solidFill>
                  <a:srgbClr val="57606A"/>
                </a:solidFill>
                <a:latin typeface="Consolas" pitchFamily="34" charset="0"/>
                <a:ea typeface="Consolas" pitchFamily="34" charset="-122"/>
                <a:cs typeface="Consolas" pitchFamily="34" charset="-120"/>
              </a:rPr>
              <a:t>boolean</a:t>
            </a:r>
            <a:r>
              <a:rPr lang="id-ID" altLang="en-US" sz="1800" dirty="0">
                <a:solidFill>
                  <a:srgbClr val="57606A"/>
                </a:solidFill>
              </a:rPr>
              <a:t> menjadi </a:t>
            </a:r>
            <a:r>
              <a:rPr lang="id-ID" altLang="en-US" sz="1800" dirty="0">
                <a:solidFill>
                  <a:srgbClr val="57606A"/>
                </a:solidFill>
                <a:latin typeface="Consolas" pitchFamily="34" charset="0"/>
                <a:ea typeface="Consolas" pitchFamily="34" charset="-122"/>
                <a:cs typeface="Consolas" pitchFamily="34" charset="-120"/>
              </a:rPr>
              <a:t>bool</a:t>
            </a:r>
            <a:r>
              <a:rPr lang="id-ID" altLang="en-US" sz="1800" dirty="0">
                <a:solidFill>
                  <a:srgbClr val="57606A"/>
                </a:solidFill>
              </a:rPr>
              <a:t>, dan </a:t>
            </a:r>
            <a:r>
              <a:rPr lang="id-ID" altLang="en-US" sz="1800" dirty="0">
                <a:solidFill>
                  <a:srgbClr val="57606A"/>
                </a:solidFill>
                <a:latin typeface="Consolas" pitchFamily="34" charset="0"/>
                <a:ea typeface="Consolas" pitchFamily="34" charset="-122"/>
                <a:cs typeface="Consolas" pitchFamily="34" charset="-120"/>
              </a:rPr>
              <a:t>List~Menu~</a:t>
            </a:r>
            <a:r>
              <a:rPr lang="id-ID" altLang="en-US" sz="1800" dirty="0">
                <a:solidFill>
                  <a:srgbClr val="57606A"/>
                </a:solidFill>
              </a:rPr>
              <a:t> menjadi </a:t>
            </a:r>
            <a:r>
              <a:rPr lang="id-ID" altLang="en-US" sz="1800" dirty="0">
                <a:solidFill>
                  <a:srgbClr val="57606A"/>
                </a:solidFill>
                <a:latin typeface="Consolas" pitchFamily="34" charset="0"/>
                <a:ea typeface="Consolas" pitchFamily="34" charset="-122"/>
                <a:cs typeface="Consolas" pitchFamily="34" charset="-120"/>
              </a:rPr>
              <a:t>list[Menu]</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Studi Kasus KedaiKita</a:t>
            </a:r>
            <a:endParaRPr lang="id-ID" sz="4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i="1" dirty="0">
                <a:solidFill>
                  <a:srgbClr val="C9D7E8"/>
                </a:solidFill>
              </a:rPr>
              <a:t>Reverse engineering</a:t>
            </a:r>
            <a:r>
              <a:rPr lang="id-ID" altLang="en-US" sz="2200" dirty="0">
                <a:solidFill>
                  <a:srgbClr val="C9D7E8"/>
                </a:solidFill>
              </a:rPr>
              <a:t> kode KedaiKita, lalu merencanakan Pertemuan 07.</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Atribut </a:t>
            </a:r>
            <a:r>
              <a:rPr lang="id-ID" altLang="en-US" sz="3200" b="1" dirty="0">
                <a:solidFill>
                  <a:srgbClr val="0A3069"/>
                </a:solidFill>
                <a:latin typeface="Consolas" pitchFamily="34" charset="0"/>
                <a:ea typeface="Consolas" pitchFamily="34" charset="-122"/>
                <a:cs typeface="Consolas" pitchFamily="34" charset="-120"/>
              </a:rPr>
              <a:t>Pesanan</a:t>
            </a:r>
            <a:r>
              <a:rPr lang="id-ID" altLang="en-US" sz="3200" b="1" dirty="0">
                <a:solidFill>
                  <a:srgbClr val="0A3069"/>
                </a:solidFill>
              </a:rPr>
              <a:t> Menjadi Garis</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847019"/>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Setiap atribut yang tipenya kelas lain menjadi satu garis. Siapa yang membuat objeknya menentukan jenis garisnya.</a:t>
            </a:r>
            <a:endParaRPr lang="id-ID" sz="1800" dirty="0"/>
          </a:p>
        </p:txBody>
      </p:sp>
      <p:sp>
        <p:nvSpPr>
          <p:cNvPr id="8" name="Shape 5"/>
          <p:cNvSpPr/>
          <p:nvPr/>
        </p:nvSpPr>
        <p:spPr>
          <a:xfrm>
            <a:off x="548640" y="2281359"/>
            <a:ext cx="1051560" cy="329184"/>
          </a:xfrm>
          <a:prstGeom prst="roundRect">
            <a:avLst>
              <a:gd name="adj" fmla="val 138889"/>
            </a:avLst>
          </a:prstGeom>
          <a:solidFill>
            <a:srgbClr val="3572A5"/>
          </a:solidFill>
          <a:ln/>
        </p:spPr>
      </p:sp>
      <p:sp>
        <p:nvSpPr>
          <p:cNvPr id="9" name="Text 6"/>
          <p:cNvSpPr txBox="1"/>
          <p:nvPr/>
        </p:nvSpPr>
        <p:spPr>
          <a:xfrm>
            <a:off x="548640" y="2281359"/>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281359"/>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python/studi-kasus/pesanan.py</a:t>
            </a:r>
            <a:endParaRPr lang="id-ID" sz="1100" dirty="0"/>
          </a:p>
        </p:txBody>
      </p:sp>
      <p:sp>
        <p:nvSpPr>
          <p:cNvPr id="11" name="Shape 8"/>
          <p:cNvSpPr/>
          <p:nvPr/>
        </p:nvSpPr>
        <p:spPr>
          <a:xfrm>
            <a:off x="548640" y="2701983"/>
            <a:ext cx="5432908" cy="2841117"/>
          </a:xfrm>
          <a:prstGeom prst="roundRect">
            <a:avLst>
              <a:gd name="adj" fmla="val 1036"/>
            </a:avLst>
          </a:prstGeom>
          <a:solidFill>
            <a:srgbClr val="F6F8FA"/>
          </a:solidFill>
          <a:ln w="9525">
            <a:solidFill>
              <a:srgbClr val="D0D7DE"/>
            </a:solidFill>
            <a:prstDash val="solid"/>
          </a:ln>
        </p:spPr>
      </p:sp>
      <p:sp>
        <p:nvSpPr>
          <p:cNvPr id="12" name="Text 9"/>
          <p:cNvSpPr txBox="1"/>
          <p:nvPr/>
        </p:nvSpPr>
        <p:spPr>
          <a:xfrm>
            <a:off x="658368" y="2793423"/>
            <a:ext cx="5213452" cy="2658237"/>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Pesanan</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_nomor_terakhir = </a:t>
            </a:r>
            <a:r>
              <a:rPr lang="en-US" altLang="en-US" sz="1150" dirty="0">
                <a:solidFill>
                  <a:srgbClr val="0550AE"/>
                </a:solidFill>
                <a:latin typeface="Consolas" pitchFamily="34" charset="0"/>
                <a:ea typeface="Consolas" pitchFamily="34" charset="-122"/>
                <a:cs typeface="Consolas" pitchFamily="34" charset="-120"/>
              </a:rPr>
              <a:t>0</a:t>
            </a:r>
            <a:endParaRPr lang="en-US" sz="1150" dirty="0"/>
          </a:p>
          <a:p>
            <a:pPr indent="0" marL="0">
              <a:buNone/>
            </a:pPr>
            <a:r>
              <a:rPr lang="en-US" altLang="en-US" sz="1150" dirty="0">
                <a:solidFill>
                  <a:srgbClr val="000000"/>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__init__</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 pelanggan: Pelanggan):</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Pesanan._nomor_terakhir += </a:t>
            </a:r>
            <a:r>
              <a:rPr lang="en-US" altLang="en-US" sz="1150" dirty="0">
                <a:solidFill>
                  <a:srgbClr val="0550AE"/>
                </a:solidFill>
                <a:latin typeface="Consolas" pitchFamily="34" charset="0"/>
                <a:ea typeface="Consolas" pitchFamily="34" charset="-122"/>
                <a:cs typeface="Consolas" pitchFamily="34" charset="-120"/>
              </a:rPr>
              <a:t>1</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._nomor = </a:t>
            </a:r>
            <a:r>
              <a:rPr lang="en-US" altLang="en-US" sz="1150" dirty="0">
                <a:solidFill>
                  <a:srgbClr val="0A3069"/>
                </a:solidFill>
                <a:latin typeface="Consolas" pitchFamily="34" charset="0"/>
                <a:ea typeface="Consolas" pitchFamily="34" charset="-122"/>
                <a:cs typeface="Consolas" pitchFamily="34" charset="-120"/>
              </a:rPr>
              <a:t>f"P{</a:t>
            </a:r>
            <a:r>
              <a:rPr lang="en-US" altLang="en-US" sz="1150" dirty="0">
                <a:solidFill>
                  <a:srgbClr val="1F2328"/>
                </a:solidFill>
                <a:latin typeface="Consolas" pitchFamily="34" charset="0"/>
                <a:ea typeface="Consolas" pitchFamily="34" charset="-122"/>
                <a:cs typeface="Consolas" pitchFamily="34" charset="-120"/>
              </a:rPr>
              <a:t>Pesanan._nomor_terakhir</a:t>
            </a:r>
            <a:r>
              <a:rPr lang="en-US" altLang="en-US" sz="1150" dirty="0">
                <a:solidFill>
                  <a:srgbClr val="0A3069"/>
                </a:solidFill>
                <a:latin typeface="Consolas" pitchFamily="34" charset="0"/>
                <a:ea typeface="Consolas" pitchFamily="34" charset="-122"/>
                <a:cs typeface="Consolas" pitchFamily="34" charset="-120"/>
              </a:rPr>
              <a:t>:03d}"</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._pelanggan = pelanggan</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._daftar_item: </a:t>
            </a:r>
            <a:r>
              <a:rPr lang="en-US" altLang="en-US" sz="1150" dirty="0">
                <a:solidFill>
                  <a:srgbClr val="0550AE"/>
                </a:solidFill>
                <a:latin typeface="Consolas" pitchFamily="34" charset="0"/>
                <a:ea typeface="Consolas" pitchFamily="34" charset="-122"/>
                <a:cs typeface="Consolas" pitchFamily="34" charset="-120"/>
              </a:rPr>
              <a:t>list</a:t>
            </a:r>
            <a:r>
              <a:rPr lang="en-US" altLang="en-US" sz="1150" dirty="0">
                <a:solidFill>
                  <a:srgbClr val="1F2328"/>
                </a:solidFill>
                <a:latin typeface="Consolas" pitchFamily="34" charset="0"/>
                <a:ea typeface="Consolas" pitchFamily="34" charset="-122"/>
                <a:cs typeface="Consolas" pitchFamily="34" charset="-120"/>
              </a:rPr>
              <a:t>[ItemPesanan] =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tambah_item</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 menu: Menu, jumlah: </a:t>
            </a:r>
            <a:r>
              <a:rPr lang="en-US" altLang="en-US" sz="1150" dirty="0">
                <a:solidFill>
                  <a:srgbClr val="0550A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item = ItemPesanan(menu, jumlah)</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menu.kurangi_stok(jumlah)</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._daftar_item.append(item)</a:t>
            </a:r>
            <a:endParaRPr lang="en-US" sz="1150" dirty="0"/>
          </a:p>
        </p:txBody>
      </p:sp>
      <p:sp>
        <p:nvSpPr>
          <p:cNvPr id="13" name="Shape 10"/>
          <p:cNvSpPr/>
          <p:nvPr/>
        </p:nvSpPr>
        <p:spPr>
          <a:xfrm>
            <a:off x="6210148" y="2281359"/>
            <a:ext cx="1051560" cy="329184"/>
          </a:xfrm>
          <a:prstGeom prst="roundRect">
            <a:avLst>
              <a:gd name="adj" fmla="val 138889"/>
            </a:avLst>
          </a:prstGeom>
          <a:solidFill>
            <a:srgbClr val="B07219"/>
          </a:solidFill>
          <a:ln/>
        </p:spPr>
      </p:sp>
      <p:sp>
        <p:nvSpPr>
          <p:cNvPr id="14" name="Text 11"/>
          <p:cNvSpPr txBox="1"/>
          <p:nvPr/>
        </p:nvSpPr>
        <p:spPr>
          <a:xfrm>
            <a:off x="6210148" y="2281359"/>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281359"/>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java/studi-kasus/Pesanan.java</a:t>
            </a:r>
            <a:endParaRPr lang="id-ID" sz="1100" dirty="0"/>
          </a:p>
        </p:txBody>
      </p:sp>
      <p:sp>
        <p:nvSpPr>
          <p:cNvPr id="16" name="Shape 13"/>
          <p:cNvSpPr/>
          <p:nvPr/>
        </p:nvSpPr>
        <p:spPr>
          <a:xfrm>
            <a:off x="6210148" y="2701983"/>
            <a:ext cx="5432908" cy="2841117"/>
          </a:xfrm>
          <a:prstGeom prst="roundRect">
            <a:avLst>
              <a:gd name="adj" fmla="val 1036"/>
            </a:avLst>
          </a:prstGeom>
          <a:solidFill>
            <a:srgbClr val="F6F8FA"/>
          </a:solidFill>
          <a:ln w="9525">
            <a:solidFill>
              <a:srgbClr val="D0D7DE"/>
            </a:solidFill>
            <a:prstDash val="solid"/>
          </a:ln>
        </p:spPr>
      </p:sp>
      <p:sp>
        <p:nvSpPr>
          <p:cNvPr id="17" name="Text 14"/>
          <p:cNvSpPr txBox="1"/>
          <p:nvPr/>
        </p:nvSpPr>
        <p:spPr>
          <a:xfrm>
            <a:off x="6319876" y="2793423"/>
            <a:ext cx="5213452" cy="2658237"/>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Pesanan</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private</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static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final</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LEBAR_STRUK = </a:t>
            </a:r>
            <a:r>
              <a:rPr lang="en-US" altLang="en-US" sz="1150" dirty="0">
                <a:solidFill>
                  <a:srgbClr val="0550AE"/>
                </a:solidFill>
                <a:latin typeface="Consolas" pitchFamily="34" charset="0"/>
                <a:ea typeface="Consolas" pitchFamily="34" charset="-122"/>
                <a:cs typeface="Consolas" pitchFamily="34" charset="-120"/>
              </a:rPr>
              <a:t>40</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private</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static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nomorTerakhir = </a:t>
            </a:r>
            <a:r>
              <a:rPr lang="en-US" altLang="en-US" sz="1150" dirty="0">
                <a:solidFill>
                  <a:srgbClr val="0550AE"/>
                </a:solidFill>
                <a:latin typeface="Consolas" pitchFamily="34" charset="0"/>
                <a:ea typeface="Consolas" pitchFamily="34" charset="-122"/>
                <a:cs typeface="Consolas" pitchFamily="34" charset="-120"/>
              </a:rPr>
              <a:t>0</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000000"/>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private</a:t>
            </a:r>
            <a:r>
              <a:rPr lang="en-US" altLang="en-US" sz="1150" dirty="0">
                <a:solidFill>
                  <a:srgbClr val="1F2328"/>
                </a:solidFill>
                <a:latin typeface="Consolas" pitchFamily="34" charset="0"/>
                <a:ea typeface="Consolas" pitchFamily="34" charset="-122"/>
                <a:cs typeface="Consolas" pitchFamily="34" charset="-120"/>
              </a:rPr>
              <a:t> String nomor;</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private</a:t>
            </a:r>
            <a:r>
              <a:rPr lang="en-US" altLang="en-US" sz="1150" dirty="0">
                <a:solidFill>
                  <a:srgbClr val="1F2328"/>
                </a:solidFill>
                <a:latin typeface="Consolas" pitchFamily="34" charset="0"/>
                <a:ea typeface="Consolas" pitchFamily="34" charset="-122"/>
                <a:cs typeface="Consolas" pitchFamily="34" charset="-120"/>
              </a:rPr>
              <a:t> Pelanggan pelanggan;</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private</a:t>
            </a:r>
            <a:r>
              <a:rPr lang="en-US" altLang="en-US" sz="1150" dirty="0">
                <a:solidFill>
                  <a:srgbClr val="1F2328"/>
                </a:solidFill>
                <a:latin typeface="Consolas" pitchFamily="34" charset="0"/>
                <a:ea typeface="Consolas" pitchFamily="34" charset="-122"/>
                <a:cs typeface="Consolas" pitchFamily="34" charset="-120"/>
              </a:rPr>
              <a:t> List&lt;ItemPesanan&gt; daftarItem;</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void</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tambahItem</a:t>
            </a:r>
            <a:r>
              <a:rPr lang="en-US" altLang="en-US" sz="1150" dirty="0">
                <a:solidFill>
                  <a:srgbClr val="1F2328"/>
                </a:solidFill>
                <a:latin typeface="Consolas" pitchFamily="34" charset="0"/>
                <a:ea typeface="Consolas" pitchFamily="34" charset="-122"/>
                <a:cs typeface="Consolas" pitchFamily="34" charset="-120"/>
              </a:rPr>
              <a:t>(Menu menu,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jumlah)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ItemPesanan item = </a:t>
            </a:r>
            <a:r>
              <a:rPr lang="en-US" altLang="en-US" sz="1150" dirty="0">
                <a:solidFill>
                  <a:srgbClr val="CF222E"/>
                </a:solidFill>
                <a:latin typeface="Consolas" pitchFamily="34" charset="0"/>
                <a:ea typeface="Consolas" pitchFamily="34" charset="-122"/>
                <a:cs typeface="Consolas" pitchFamily="34" charset="-120"/>
              </a:rPr>
              <a:t>new</a:t>
            </a:r>
            <a:r>
              <a:rPr lang="en-US" altLang="en-US" sz="1150" dirty="0">
                <a:solidFill>
                  <a:srgbClr val="1F2328"/>
                </a:solidFill>
                <a:latin typeface="Consolas" pitchFamily="34" charset="0"/>
                <a:ea typeface="Consolas" pitchFamily="34" charset="-122"/>
                <a:cs typeface="Consolas" pitchFamily="34" charset="-120"/>
              </a:rPr>
              <a:t> ItemPesanan(menu, jumlah);</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menu.kurangiStok(jumlah);</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daftarItem.add(item);</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a:t>
            </a:r>
            <a:endParaRPr lang="en-US" sz="11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Peta KedaiKita: Garis dari Atribut</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pic>
        <p:nvPicPr>
          <p:cNvPr id="7" name="Image 1" descr="Label garis adalah nama peran, sama dengan nama atribut di kode. Diagram lengkap beserta dependensinya ada di halaman konsep.">    </p:cNvPr>
          <p:cNvPicPr>
            <a:picLocks noChangeAspect="1"/>
          </p:cNvPicPr>
          <p:nvPr/>
        </p:nvPicPr>
        <p:blipFill>
          <a:blip r:embed="rId2"/>
          <a:stretch>
            <a:fillRect/>
          </a:stretch>
        </p:blipFill>
        <p:spPr>
          <a:xfrm>
            <a:off x="663521" y="1417320"/>
            <a:ext cx="10864653" cy="4045204"/>
          </a:xfrm>
          <a:prstGeom prst="rect">
            <a:avLst/>
          </a:prstGeom>
        </p:spPr>
      </p:pic>
      <p:sp>
        <p:nvSpPr>
          <p:cNvPr id="8" name="Text 4"/>
          <p:cNvSpPr txBox="1"/>
          <p:nvPr/>
        </p:nvSpPr>
        <p:spPr>
          <a:xfrm>
            <a:off x="1005840" y="5572252"/>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Label garis adalah nama peran, sama dengan nama atribut di kode. Diagram lengkap beserta dependensinya ada di halaman konsep.</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2800" b="1" dirty="0">
                <a:solidFill>
                  <a:srgbClr val="0A3069"/>
                </a:solidFill>
              </a:rPr>
              <a:t>Merencanakan Pertemuan 07:</a:t>
            </a:r>
            <a:endParaRPr lang="id-ID" sz="2800" dirty="0"/>
          </a:p>
          <a:p>
            <a:pPr algn="l" indent="0" marL="0">
              <a:buNone/>
            </a:pPr>
            <a:r>
              <a:rPr lang="id-ID" altLang="en-US" sz="2800" b="1" dirty="0">
                <a:solidFill>
                  <a:srgbClr val="0A3069"/>
                </a:solidFill>
                <a:latin typeface="Consolas" pitchFamily="34" charset="0"/>
                <a:ea typeface="Consolas" pitchFamily="34" charset="-122"/>
                <a:cs typeface="Consolas" pitchFamily="34" charset="-120"/>
              </a:rPr>
              <a:t>Makanan</a:t>
            </a:r>
            <a:r>
              <a:rPr lang="id-ID" altLang="en-US" sz="2800" b="1" dirty="0">
                <a:solidFill>
                  <a:srgbClr val="0A3069"/>
                </a:solidFill>
              </a:rPr>
              <a:t> dan </a:t>
            </a:r>
            <a:r>
              <a:rPr lang="id-ID" altLang="en-US" sz="2800" b="1" dirty="0">
                <a:solidFill>
                  <a:srgbClr val="0A3069"/>
                </a:solidFill>
                <a:latin typeface="Consolas" pitchFamily="34" charset="0"/>
                <a:ea typeface="Consolas" pitchFamily="34" charset="-122"/>
                <a:cs typeface="Consolas" pitchFamily="34" charset="-120"/>
              </a:rPr>
              <a:t>Minuman</a:t>
            </a:r>
            <a:endParaRPr lang="id-ID" sz="28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pic>
        <p:nvPicPr>
          <p:cNvPr id="7" name="Image 1" descr="Kotak anak hanya berisi anggota baru; isi Menu diwarisi. Konstruktor kedua kelas anak tidak digambar di sini.">    </p:cNvPr>
          <p:cNvPicPr>
            <a:picLocks noChangeAspect="1"/>
          </p:cNvPicPr>
          <p:nvPr/>
        </p:nvPicPr>
        <p:blipFill>
          <a:blip r:embed="rId2"/>
          <a:stretch>
            <a:fillRect/>
          </a:stretch>
        </p:blipFill>
        <p:spPr>
          <a:xfrm>
            <a:off x="2479233" y="1417320"/>
            <a:ext cx="7233229" cy="4308602"/>
          </a:xfrm>
          <a:prstGeom prst="rect">
            <a:avLst/>
          </a:prstGeom>
        </p:spPr>
      </p:pic>
      <p:sp>
        <p:nvSpPr>
          <p:cNvPr id="8" name="Text 4"/>
          <p:cNvSpPr txBox="1"/>
          <p:nvPr/>
        </p:nvSpPr>
        <p:spPr>
          <a:xfrm>
            <a:off x="1005840" y="5835650"/>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Kotak anak hanya berisi anggota </a:t>
            </a:r>
            <a:r>
              <a:rPr lang="id-ID" altLang="en-US" sz="1700" b="1" dirty="0">
                <a:solidFill>
                  <a:srgbClr val="57606A"/>
                </a:solidFill>
              </a:rPr>
              <a:t>baru</a:t>
            </a:r>
            <a:r>
              <a:rPr lang="id-ID" altLang="en-US" sz="1700" dirty="0">
                <a:solidFill>
                  <a:srgbClr val="57606A"/>
                </a:solidFill>
              </a:rPr>
              <a:t>; isi </a:t>
            </a:r>
            <a:r>
              <a:rPr lang="id-ID" altLang="en-US" sz="1700" dirty="0">
                <a:solidFill>
                  <a:srgbClr val="57606A"/>
                </a:solidFill>
                <a:latin typeface="Consolas" pitchFamily="34" charset="0"/>
                <a:ea typeface="Consolas" pitchFamily="34" charset="-122"/>
                <a:cs typeface="Consolas" pitchFamily="34" charset="-120"/>
              </a:rPr>
              <a:t>Menu</a:t>
            </a:r>
            <a:r>
              <a:rPr lang="id-ID" altLang="en-US" sz="1700" dirty="0">
                <a:solidFill>
                  <a:srgbClr val="57606A"/>
                </a:solidFill>
              </a:rPr>
              <a:t> diwarisi. Konstruktor kedua kelas anak tidak digambar di sini.</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999153"/>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2071573"/>
            <a:ext cx="184343" cy="184343"/>
          </a:xfrm>
          <a:prstGeom prst="rect">
            <a:avLst/>
          </a:prstGeom>
        </p:spPr>
      </p:pic>
      <p:sp>
        <p:nvSpPr>
          <p:cNvPr id="7" name="Text 3"/>
          <p:cNvSpPr txBox="1"/>
          <p:nvPr/>
        </p:nvSpPr>
        <p:spPr>
          <a:xfrm>
            <a:off x="987552" y="1999153"/>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999153"/>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2071573"/>
            <a:ext cx="184343" cy="184343"/>
          </a:xfrm>
          <a:prstGeom prst="rect">
            <a:avLst/>
          </a:prstGeom>
        </p:spPr>
      </p:pic>
      <p:sp>
        <p:nvSpPr>
          <p:cNvPr id="10" name="Text 5"/>
          <p:cNvSpPr txBox="1"/>
          <p:nvPr/>
        </p:nvSpPr>
        <p:spPr>
          <a:xfrm>
            <a:off x="5605272" y="1999153"/>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2502073"/>
            <a:ext cx="4343400" cy="830580"/>
          </a:xfrm>
          <a:prstGeom prst="roundRect">
            <a:avLst>
              <a:gd name="adj" fmla="val 14544"/>
            </a:avLst>
          </a:prstGeom>
          <a:solidFill>
            <a:srgbClr val="FFEBE9"/>
          </a:solidFill>
          <a:ln w="9525">
            <a:solidFill>
              <a:srgbClr val="FF8182"/>
            </a:solidFill>
            <a:prstDash val="solid"/>
          </a:ln>
        </p:spPr>
      </p:sp>
      <p:sp>
        <p:nvSpPr>
          <p:cNvPr id="12" name="Text 7"/>
          <p:cNvSpPr txBox="1"/>
          <p:nvPr/>
        </p:nvSpPr>
        <p:spPr>
          <a:xfrm>
            <a:off x="777240" y="2684953"/>
            <a:ext cx="3886200" cy="556260"/>
          </a:xfrm>
          <a:prstGeom prst="rect">
            <a:avLst/>
          </a:prstGeom>
          <a:noFill/>
          <a:ln/>
        </p:spPr>
        <p:txBody>
          <a:bodyPr wrap="square" lIns="0" tIns="0" rIns="0" bIns="0" rtlCol="0" anchor="t"/>
          <a:lstStyle/>
          <a:p>
            <a:pPr indent="0" marL="0">
              <a:buNone/>
            </a:pPr>
            <a:r>
              <a:rPr lang="id-ID" altLang="en-US" sz="1500" dirty="0">
                <a:solidFill>
                  <a:srgbClr val="1F2328"/>
                </a:solidFill>
              </a:rPr>
              <a:t>“</a:t>
            </a:r>
            <a:r>
              <a:rPr lang="id-ID" altLang="en-US" sz="1500" dirty="0">
                <a:solidFill>
                  <a:srgbClr val="1F2328"/>
                </a:solidFill>
                <a:latin typeface="Consolas" pitchFamily="34" charset="0"/>
                <a:ea typeface="Consolas" pitchFamily="34" charset="-122"/>
                <a:cs typeface="Consolas" pitchFamily="34" charset="-120"/>
              </a:rPr>
              <a:t>Makanan &lt;|-- Menu</a:t>
            </a:r>
            <a:r>
              <a:rPr lang="id-ID" altLang="en-US" sz="1500" dirty="0">
                <a:solidFill>
                  <a:srgbClr val="1F2328"/>
                </a:solidFill>
              </a:rPr>
              <a:t> berarti makanan adalah menu.”</a:t>
            </a:r>
            <a:endParaRPr lang="id-ID" sz="1500" dirty="0"/>
          </a:p>
        </p:txBody>
      </p:sp>
      <p:sp>
        <p:nvSpPr>
          <p:cNvPr id="13" name="Shape 8"/>
          <p:cNvSpPr/>
          <p:nvPr/>
        </p:nvSpPr>
        <p:spPr>
          <a:xfrm>
            <a:off x="5166360" y="2502073"/>
            <a:ext cx="6476695" cy="830580"/>
          </a:xfrm>
          <a:prstGeom prst="roundRect">
            <a:avLst>
              <a:gd name="adj" fmla="val 14544"/>
            </a:avLst>
          </a:prstGeom>
          <a:solidFill>
            <a:srgbClr val="DAFBE1"/>
          </a:solidFill>
          <a:ln w="9525">
            <a:solidFill>
              <a:srgbClr val="4AC26B"/>
            </a:solidFill>
            <a:prstDash val="solid"/>
          </a:ln>
        </p:spPr>
      </p:sp>
      <p:sp>
        <p:nvSpPr>
          <p:cNvPr id="14" name="Text 9"/>
          <p:cNvSpPr txBox="1"/>
          <p:nvPr/>
        </p:nvSpPr>
        <p:spPr>
          <a:xfrm>
            <a:off x="5394960" y="2684953"/>
            <a:ext cx="6019495" cy="556260"/>
          </a:xfrm>
          <a:prstGeom prst="rect">
            <a:avLst/>
          </a:prstGeom>
          <a:noFill/>
          <a:ln/>
        </p:spPr>
        <p:txBody>
          <a:bodyPr wrap="square" lIns="0" tIns="0" rIns="0" bIns="0" rtlCol="0" anchor="t"/>
          <a:lstStyle/>
          <a:p>
            <a:pPr indent="0" marL="0">
              <a:buNone/>
            </a:pPr>
            <a:r>
              <a:rPr lang="id-ID" altLang="en-US" sz="1500" dirty="0">
                <a:solidFill>
                  <a:srgbClr val="1F2328"/>
                </a:solidFill>
              </a:rPr>
              <a:t>Segitiga menempel pada </a:t>
            </a:r>
            <a:r>
              <a:rPr lang="id-ID" altLang="en-US" sz="1500" b="1" dirty="0">
                <a:solidFill>
                  <a:srgbClr val="1F2328"/>
                </a:solidFill>
              </a:rPr>
              <a:t>induk</a:t>
            </a:r>
            <a:r>
              <a:rPr lang="id-ID" altLang="en-US" sz="1500" dirty="0">
                <a:solidFill>
                  <a:srgbClr val="1F2328"/>
                </a:solidFill>
              </a:rPr>
              <a:t>: tulis </a:t>
            </a:r>
            <a:r>
              <a:rPr lang="id-ID" altLang="en-US" sz="1500" dirty="0">
                <a:solidFill>
                  <a:srgbClr val="1F2328"/>
                </a:solidFill>
                <a:latin typeface="Consolas" pitchFamily="34" charset="0"/>
                <a:ea typeface="Consolas" pitchFamily="34" charset="-122"/>
                <a:cs typeface="Consolas" pitchFamily="34" charset="-120"/>
              </a:rPr>
              <a:t>Menu &lt;|-- Makanan</a:t>
            </a:r>
            <a:r>
              <a:rPr lang="id-ID" altLang="en-US" sz="1500" dirty="0">
                <a:solidFill>
                  <a:srgbClr val="1F2328"/>
                </a:solidFill>
              </a:rPr>
              <a:t>. Penulisan </a:t>
            </a:r>
            <a:r>
              <a:rPr lang="id-ID" altLang="en-US" sz="1500" dirty="0">
                <a:solidFill>
                  <a:srgbClr val="1F2328"/>
                </a:solidFill>
                <a:latin typeface="Consolas" pitchFamily="34" charset="0"/>
                <a:ea typeface="Consolas" pitchFamily="34" charset="-122"/>
                <a:cs typeface="Consolas" pitchFamily="34" charset="-120"/>
              </a:rPr>
              <a:t>Makanan &lt;|-- Menu</a:t>
            </a:r>
            <a:r>
              <a:rPr lang="id-ID" altLang="en-US" sz="1500" dirty="0">
                <a:solidFill>
                  <a:srgbClr val="1F2328"/>
                </a:solidFill>
              </a:rPr>
              <a:t> justru berarti menu adalah makanan.</a:t>
            </a:r>
            <a:endParaRPr lang="id-ID" sz="1500" dirty="0"/>
          </a:p>
        </p:txBody>
      </p:sp>
      <p:sp>
        <p:nvSpPr>
          <p:cNvPr id="15" name="Shape 10"/>
          <p:cNvSpPr/>
          <p:nvPr/>
        </p:nvSpPr>
        <p:spPr>
          <a:xfrm>
            <a:off x="548640" y="3533821"/>
            <a:ext cx="4343400" cy="830580"/>
          </a:xfrm>
          <a:prstGeom prst="roundRect">
            <a:avLst>
              <a:gd name="adj" fmla="val 14544"/>
            </a:avLst>
          </a:prstGeom>
          <a:solidFill>
            <a:srgbClr val="FFEBE9"/>
          </a:solidFill>
          <a:ln w="9525">
            <a:solidFill>
              <a:srgbClr val="FF8182"/>
            </a:solidFill>
            <a:prstDash val="solid"/>
          </a:ln>
        </p:spPr>
      </p:sp>
      <p:sp>
        <p:nvSpPr>
          <p:cNvPr id="16" name="Text 11"/>
          <p:cNvSpPr txBox="1"/>
          <p:nvPr/>
        </p:nvSpPr>
        <p:spPr>
          <a:xfrm>
            <a:off x="777240" y="3716701"/>
            <a:ext cx="3886200" cy="556260"/>
          </a:xfrm>
          <a:prstGeom prst="rect">
            <a:avLst/>
          </a:prstGeom>
          <a:noFill/>
          <a:ln/>
        </p:spPr>
        <p:txBody>
          <a:bodyPr wrap="square" lIns="0" tIns="0" rIns="0" bIns="0" rtlCol="0" anchor="t"/>
          <a:lstStyle/>
          <a:p>
            <a:pPr indent="0" marL="0">
              <a:buNone/>
            </a:pPr>
            <a:r>
              <a:rPr lang="id-ID" altLang="en-US" sz="1500" dirty="0">
                <a:solidFill>
                  <a:srgbClr val="1F2328"/>
                </a:solidFill>
              </a:rPr>
              <a:t>“Belah ketupat boleh ditaruh di ujung mana saja, misalnya </a:t>
            </a:r>
            <a:r>
              <a:rPr lang="id-ID" altLang="en-US" sz="1500" dirty="0">
                <a:solidFill>
                  <a:srgbClr val="1F2328"/>
                </a:solidFill>
                <a:latin typeface="Consolas" pitchFamily="34" charset="0"/>
                <a:ea typeface="Consolas" pitchFamily="34" charset="-122"/>
                <a:cs typeface="Consolas" pitchFamily="34" charset="-120"/>
              </a:rPr>
              <a:t>ItemPesanan *-- Pesanan</a:t>
            </a:r>
            <a:r>
              <a:rPr lang="id-ID" altLang="en-US" sz="1500" dirty="0">
                <a:solidFill>
                  <a:srgbClr val="1F2328"/>
                </a:solidFill>
              </a:rPr>
              <a:t>.”</a:t>
            </a:r>
            <a:endParaRPr lang="id-ID" sz="1500" dirty="0"/>
          </a:p>
        </p:txBody>
      </p:sp>
      <p:sp>
        <p:nvSpPr>
          <p:cNvPr id="17" name="Shape 12"/>
          <p:cNvSpPr/>
          <p:nvPr/>
        </p:nvSpPr>
        <p:spPr>
          <a:xfrm>
            <a:off x="5166360" y="3533821"/>
            <a:ext cx="6476695" cy="830580"/>
          </a:xfrm>
          <a:prstGeom prst="roundRect">
            <a:avLst>
              <a:gd name="adj" fmla="val 14544"/>
            </a:avLst>
          </a:prstGeom>
          <a:solidFill>
            <a:srgbClr val="DAFBE1"/>
          </a:solidFill>
          <a:ln w="9525">
            <a:solidFill>
              <a:srgbClr val="4AC26B"/>
            </a:solidFill>
            <a:prstDash val="solid"/>
          </a:ln>
        </p:spPr>
      </p:sp>
      <p:sp>
        <p:nvSpPr>
          <p:cNvPr id="18" name="Text 13"/>
          <p:cNvSpPr txBox="1"/>
          <p:nvPr/>
        </p:nvSpPr>
        <p:spPr>
          <a:xfrm>
            <a:off x="5394960" y="3716701"/>
            <a:ext cx="6019495" cy="556260"/>
          </a:xfrm>
          <a:prstGeom prst="rect">
            <a:avLst/>
          </a:prstGeom>
          <a:noFill/>
          <a:ln/>
        </p:spPr>
        <p:txBody>
          <a:bodyPr wrap="square" lIns="0" tIns="0" rIns="0" bIns="0" rtlCol="0" anchor="t"/>
          <a:lstStyle/>
          <a:p>
            <a:pPr indent="0" marL="0">
              <a:buNone/>
            </a:pPr>
            <a:r>
              <a:rPr lang="id-ID" altLang="en-US" sz="1500" dirty="0">
                <a:solidFill>
                  <a:srgbClr val="1F2328"/>
                </a:solidFill>
              </a:rPr>
              <a:t>Belah ketupat selalu menempel pada </a:t>
            </a:r>
            <a:r>
              <a:rPr lang="id-ID" altLang="en-US" sz="1500" b="1" dirty="0">
                <a:solidFill>
                  <a:srgbClr val="1F2328"/>
                </a:solidFill>
              </a:rPr>
              <a:t>keseluruhan</a:t>
            </a:r>
            <a:r>
              <a:rPr lang="id-ID" altLang="en-US" sz="1500" dirty="0">
                <a:solidFill>
                  <a:srgbClr val="1F2328"/>
                </a:solidFill>
              </a:rPr>
              <a:t>. Yang benar adalah </a:t>
            </a:r>
            <a:r>
              <a:rPr lang="id-ID" altLang="en-US" sz="1500" dirty="0">
                <a:solidFill>
                  <a:srgbClr val="1F2328"/>
                </a:solidFill>
                <a:latin typeface="Consolas" pitchFamily="34" charset="0"/>
                <a:ea typeface="Consolas" pitchFamily="34" charset="-122"/>
                <a:cs typeface="Consolas" pitchFamily="34" charset="-120"/>
              </a:rPr>
              <a:t>Pesanan *-- ItemPesanan</a:t>
            </a:r>
            <a:r>
              <a:rPr lang="id-ID" altLang="en-US" sz="1500" dirty="0">
                <a:solidFill>
                  <a:srgbClr val="1F2328"/>
                </a:solidFill>
              </a:rPr>
              <a:t>.</a:t>
            </a:r>
            <a:endParaRPr lang="id-ID" sz="1500" dirty="0"/>
          </a:p>
        </p:txBody>
      </p:sp>
      <p:sp>
        <p:nvSpPr>
          <p:cNvPr id="19" name="Shape 14"/>
          <p:cNvSpPr/>
          <p:nvPr/>
        </p:nvSpPr>
        <p:spPr>
          <a:xfrm>
            <a:off x="548640" y="4565569"/>
            <a:ext cx="4343400" cy="830580"/>
          </a:xfrm>
          <a:prstGeom prst="roundRect">
            <a:avLst>
              <a:gd name="adj" fmla="val 14544"/>
            </a:avLst>
          </a:prstGeom>
          <a:solidFill>
            <a:srgbClr val="FFEBE9"/>
          </a:solidFill>
          <a:ln w="9525">
            <a:solidFill>
              <a:srgbClr val="FF8182"/>
            </a:solidFill>
            <a:prstDash val="solid"/>
          </a:ln>
        </p:spPr>
      </p:sp>
      <p:sp>
        <p:nvSpPr>
          <p:cNvPr id="20" name="Text 15"/>
          <p:cNvSpPr txBox="1"/>
          <p:nvPr/>
        </p:nvSpPr>
        <p:spPr>
          <a:xfrm>
            <a:off x="777240" y="4748449"/>
            <a:ext cx="3886200" cy="556260"/>
          </a:xfrm>
          <a:prstGeom prst="rect">
            <a:avLst/>
          </a:prstGeom>
          <a:noFill/>
          <a:ln/>
        </p:spPr>
        <p:txBody>
          <a:bodyPr wrap="square" lIns="0" tIns="0" rIns="0" bIns="0" rtlCol="0" anchor="t"/>
          <a:lstStyle/>
          <a:p>
            <a:pPr indent="0" marL="0">
              <a:buNone/>
            </a:pPr>
            <a:r>
              <a:rPr lang="id-ID" altLang="en-US" sz="1500" dirty="0">
                <a:solidFill>
                  <a:srgbClr val="1F2328"/>
                </a:solidFill>
              </a:rPr>
              <a:t>“Setiap kelas lain yang disebut di dalam kode digambar sebagai asosiasi.”</a:t>
            </a:r>
            <a:endParaRPr lang="id-ID" sz="1500" dirty="0"/>
          </a:p>
        </p:txBody>
      </p:sp>
      <p:sp>
        <p:nvSpPr>
          <p:cNvPr id="21" name="Shape 16"/>
          <p:cNvSpPr/>
          <p:nvPr/>
        </p:nvSpPr>
        <p:spPr>
          <a:xfrm>
            <a:off x="5166360" y="4565569"/>
            <a:ext cx="6476695" cy="830580"/>
          </a:xfrm>
          <a:prstGeom prst="roundRect">
            <a:avLst>
              <a:gd name="adj" fmla="val 14544"/>
            </a:avLst>
          </a:prstGeom>
          <a:solidFill>
            <a:srgbClr val="DAFBE1"/>
          </a:solidFill>
          <a:ln w="9525">
            <a:solidFill>
              <a:srgbClr val="4AC26B"/>
            </a:solidFill>
            <a:prstDash val="solid"/>
          </a:ln>
        </p:spPr>
      </p:sp>
      <p:sp>
        <p:nvSpPr>
          <p:cNvPr id="22" name="Text 17"/>
          <p:cNvSpPr txBox="1"/>
          <p:nvPr/>
        </p:nvSpPr>
        <p:spPr>
          <a:xfrm>
            <a:off x="5394960" y="4748449"/>
            <a:ext cx="6019495" cy="556260"/>
          </a:xfrm>
          <a:prstGeom prst="rect">
            <a:avLst/>
          </a:prstGeom>
          <a:noFill/>
          <a:ln/>
        </p:spPr>
        <p:txBody>
          <a:bodyPr wrap="square" lIns="0" tIns="0" rIns="0" bIns="0" rtlCol="0" anchor="t"/>
          <a:lstStyle/>
          <a:p>
            <a:pPr indent="0" marL="0">
              <a:buNone/>
            </a:pPr>
            <a:r>
              <a:rPr lang="id-ID" altLang="en-US" sz="1500" dirty="0">
                <a:solidFill>
                  <a:srgbClr val="1F2328"/>
                </a:solidFill>
              </a:rPr>
              <a:t>Asosiasi hanya untuk objek yang </a:t>
            </a:r>
            <a:r>
              <a:rPr lang="id-ID" altLang="en-US" sz="1500" b="1" dirty="0">
                <a:solidFill>
                  <a:srgbClr val="1F2328"/>
                </a:solidFill>
              </a:rPr>
              <a:t>disimpan di atribut</a:t>
            </a:r>
            <a:r>
              <a:rPr lang="id-ID" altLang="en-US" sz="1500" dirty="0">
                <a:solidFill>
                  <a:srgbClr val="1F2328"/>
                </a:solidFill>
              </a:rPr>
              <a:t>. Kelas yang hanya muncul sebagai parameter atau variabel lokal adalah dependensi (</a:t>
            </a:r>
            <a:r>
              <a:rPr lang="id-ID" altLang="en-US" sz="1500" dirty="0">
                <a:solidFill>
                  <a:srgbClr val="1F2328"/>
                </a:solidFill>
                <a:latin typeface="Consolas" pitchFamily="34" charset="0"/>
                <a:ea typeface="Consolas" pitchFamily="34" charset="-122"/>
                <a:cs typeface="Consolas" pitchFamily="34" charset="-120"/>
              </a:rPr>
              <a:t>..&gt;</a:t>
            </a:r>
            <a:r>
              <a:rPr lang="id-ID" altLang="en-US" sz="1500" dirty="0">
                <a:solidFill>
                  <a:srgbClr val="1F2328"/>
                </a:solidFill>
              </a:rPr>
              <a:t>).</a:t>
            </a:r>
            <a:endParaRPr lang="id-ID"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2042892"/>
            <a:ext cx="11094415" cy="891032"/>
          </a:xfrm>
          <a:prstGeom prst="roundRect">
            <a:avLst>
              <a:gd name="adj" fmla="val 12638"/>
            </a:avLst>
          </a:prstGeom>
          <a:solidFill>
            <a:srgbClr val="FBEFFF"/>
          </a:solidFill>
          <a:ln w="9525">
            <a:solidFill>
              <a:srgbClr val="C297FF"/>
            </a:solidFill>
            <a:prstDash val="solid"/>
          </a:ln>
        </p:spPr>
      </p:sp>
      <p:sp>
        <p:nvSpPr>
          <p:cNvPr id="6" name="Shape 3"/>
          <p:cNvSpPr/>
          <p:nvPr/>
        </p:nvSpPr>
        <p:spPr>
          <a:xfrm>
            <a:off x="777240" y="2259808"/>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360392"/>
            <a:ext cx="256032" cy="256032"/>
          </a:xfrm>
          <a:prstGeom prst="rect">
            <a:avLst/>
          </a:prstGeom>
        </p:spPr>
      </p:pic>
      <p:sp>
        <p:nvSpPr>
          <p:cNvPr id="8" name="Text 4"/>
          <p:cNvSpPr txBox="1"/>
          <p:nvPr/>
        </p:nvSpPr>
        <p:spPr>
          <a:xfrm>
            <a:off x="1417320" y="2271492"/>
            <a:ext cx="9951415" cy="616712"/>
          </a:xfrm>
          <a:prstGeom prst="rect">
            <a:avLst/>
          </a:prstGeom>
          <a:noFill/>
          <a:ln/>
        </p:spPr>
        <p:txBody>
          <a:bodyPr wrap="square" lIns="0" tIns="0" rIns="0" bIns="0" rtlCol="0" anchor="t"/>
          <a:lstStyle/>
          <a:p>
            <a:pPr indent="0" marL="0">
              <a:buNone/>
            </a:pPr>
            <a:r>
              <a:rPr lang="id-ID" altLang="en-US" sz="2800" dirty="0">
                <a:solidFill>
                  <a:srgbClr val="1F2328"/>
                </a:solidFill>
              </a:rPr>
              <a:t>Di sebuah kotak kelas tertulis </a:t>
            </a:r>
            <a:r>
              <a:rPr lang="id-ID" altLang="en-US" sz="2800" dirty="0">
                <a:solidFill>
                  <a:srgbClr val="0A3069"/>
                </a:solidFill>
                <a:latin typeface="Consolas" pitchFamily="34" charset="0"/>
                <a:ea typeface="Consolas" pitchFamily="34" charset="-122"/>
                <a:cs typeface="Consolas" pitchFamily="34" charset="-120"/>
              </a:rPr>
              <a:t>#biayaAdmin : int</a:t>
            </a:r>
            <a:r>
              <a:rPr lang="id-ID" altLang="en-US" sz="2800" dirty="0">
                <a:solidFill>
                  <a:srgbClr val="1F2328"/>
                </a:solidFill>
              </a:rPr>
              <a:t>. Artinya ...</a:t>
            </a:r>
            <a:endParaRPr lang="id-ID" sz="2800" dirty="0"/>
          </a:p>
        </p:txBody>
      </p:sp>
      <p:sp>
        <p:nvSpPr>
          <p:cNvPr id="9" name="Shape 5"/>
          <p:cNvSpPr/>
          <p:nvPr/>
        </p:nvSpPr>
        <p:spPr>
          <a:xfrm>
            <a:off x="548640" y="3116804"/>
            <a:ext cx="5455768" cy="1018032"/>
          </a:xfrm>
          <a:prstGeom prst="roundRect">
            <a:avLst>
              <a:gd name="adj" fmla="val 9681"/>
            </a:avLst>
          </a:prstGeom>
          <a:solidFill>
            <a:srgbClr val="FFFFFF"/>
          </a:solidFill>
          <a:ln w="9525">
            <a:solidFill>
              <a:srgbClr val="D0D7DE"/>
            </a:solidFill>
            <a:prstDash val="solid"/>
          </a:ln>
        </p:spPr>
      </p:sp>
      <p:sp>
        <p:nvSpPr>
          <p:cNvPr id="10" name="Shape 6"/>
          <p:cNvSpPr/>
          <p:nvPr/>
        </p:nvSpPr>
        <p:spPr>
          <a:xfrm>
            <a:off x="749808" y="3397220"/>
            <a:ext cx="457200" cy="457200"/>
          </a:xfrm>
          <a:prstGeom prst="ellipse">
            <a:avLst/>
          </a:prstGeom>
          <a:solidFill>
            <a:srgbClr val="8250DF"/>
          </a:solidFill>
          <a:ln/>
        </p:spPr>
      </p:sp>
      <p:sp>
        <p:nvSpPr>
          <p:cNvPr id="11" name="Text 7"/>
          <p:cNvSpPr txBox="1"/>
          <p:nvPr/>
        </p:nvSpPr>
        <p:spPr>
          <a:xfrm>
            <a:off x="749808" y="339722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226532"/>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atribut publik bertipe </a:t>
            </a:r>
            <a:r>
              <a:rPr lang="id-ID" altLang="en-US" sz="2400" dirty="0">
                <a:solidFill>
                  <a:srgbClr val="0A3069"/>
                </a:solidFill>
                <a:latin typeface="Consolas" pitchFamily="34" charset="0"/>
                <a:ea typeface="Consolas" pitchFamily="34" charset="-122"/>
                <a:cs typeface="Consolas" pitchFamily="34" charset="-120"/>
              </a:rPr>
              <a:t>int</a:t>
            </a:r>
            <a:endParaRPr lang="id-ID" sz="2400" dirty="0"/>
          </a:p>
        </p:txBody>
      </p:sp>
      <p:sp>
        <p:nvSpPr>
          <p:cNvPr id="13" name="Shape 9"/>
          <p:cNvSpPr/>
          <p:nvPr/>
        </p:nvSpPr>
        <p:spPr>
          <a:xfrm>
            <a:off x="6187288" y="3116804"/>
            <a:ext cx="5455768" cy="1018032"/>
          </a:xfrm>
          <a:prstGeom prst="roundRect">
            <a:avLst>
              <a:gd name="adj" fmla="val 9681"/>
            </a:avLst>
          </a:prstGeom>
          <a:solidFill>
            <a:srgbClr val="FFFFFF"/>
          </a:solidFill>
          <a:ln w="9525">
            <a:solidFill>
              <a:srgbClr val="D0D7DE"/>
            </a:solidFill>
            <a:prstDash val="solid"/>
          </a:ln>
        </p:spPr>
      </p:sp>
      <p:sp>
        <p:nvSpPr>
          <p:cNvPr id="14" name="Shape 10"/>
          <p:cNvSpPr/>
          <p:nvPr/>
        </p:nvSpPr>
        <p:spPr>
          <a:xfrm>
            <a:off x="6388456" y="3397220"/>
            <a:ext cx="457200" cy="457200"/>
          </a:xfrm>
          <a:prstGeom prst="ellipse">
            <a:avLst/>
          </a:prstGeom>
          <a:solidFill>
            <a:srgbClr val="8250DF"/>
          </a:solidFill>
          <a:ln/>
        </p:spPr>
      </p:sp>
      <p:sp>
        <p:nvSpPr>
          <p:cNvPr id="15" name="Text 11"/>
          <p:cNvSpPr txBox="1"/>
          <p:nvPr/>
        </p:nvSpPr>
        <p:spPr>
          <a:xfrm>
            <a:off x="6388456" y="339722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226532"/>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atribut milik kelas (</a:t>
            </a:r>
            <a:r>
              <a:rPr lang="id-ID" altLang="en-US" sz="2400" i="1" dirty="0">
                <a:solidFill>
                  <a:srgbClr val="1F2328"/>
                </a:solidFill>
              </a:rPr>
              <a:t>static</a:t>
            </a:r>
            <a:r>
              <a:rPr lang="id-ID" altLang="en-US" sz="2400" dirty="0">
                <a:solidFill>
                  <a:srgbClr val="1F2328"/>
                </a:solidFill>
              </a:rPr>
              <a:t>) bernama </a:t>
            </a:r>
            <a:r>
              <a:rPr lang="id-ID" altLang="en-US" sz="2400" dirty="0">
                <a:solidFill>
                  <a:srgbClr val="0A3069"/>
                </a:solidFill>
                <a:latin typeface="Consolas" pitchFamily="34" charset="0"/>
                <a:ea typeface="Consolas" pitchFamily="34" charset="-122"/>
                <a:cs typeface="Consolas" pitchFamily="34" charset="-120"/>
              </a:rPr>
              <a:t>biayaAdmin</a:t>
            </a:r>
            <a:endParaRPr lang="id-ID" sz="2400" dirty="0"/>
          </a:p>
        </p:txBody>
      </p:sp>
      <p:sp>
        <p:nvSpPr>
          <p:cNvPr id="17" name="Shape 13"/>
          <p:cNvSpPr/>
          <p:nvPr/>
        </p:nvSpPr>
        <p:spPr>
          <a:xfrm>
            <a:off x="548640" y="4317716"/>
            <a:ext cx="5455768" cy="1018032"/>
          </a:xfrm>
          <a:prstGeom prst="roundRect">
            <a:avLst>
              <a:gd name="adj" fmla="val 9681"/>
            </a:avLst>
          </a:prstGeom>
          <a:solidFill>
            <a:srgbClr val="FFFFFF"/>
          </a:solidFill>
          <a:ln w="9525">
            <a:solidFill>
              <a:srgbClr val="D0D7DE"/>
            </a:solidFill>
            <a:prstDash val="solid"/>
          </a:ln>
        </p:spPr>
      </p:sp>
      <p:sp>
        <p:nvSpPr>
          <p:cNvPr id="18" name="Shape 14"/>
          <p:cNvSpPr/>
          <p:nvPr/>
        </p:nvSpPr>
        <p:spPr>
          <a:xfrm>
            <a:off x="749808" y="4598132"/>
            <a:ext cx="457200" cy="457200"/>
          </a:xfrm>
          <a:prstGeom prst="ellipse">
            <a:avLst/>
          </a:prstGeom>
          <a:solidFill>
            <a:srgbClr val="8250DF"/>
          </a:solidFill>
          <a:ln/>
        </p:spPr>
      </p:sp>
      <p:sp>
        <p:nvSpPr>
          <p:cNvPr id="19" name="Text 15"/>
          <p:cNvSpPr txBox="1"/>
          <p:nvPr/>
        </p:nvSpPr>
        <p:spPr>
          <a:xfrm>
            <a:off x="749808" y="45981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427444"/>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atribut </a:t>
            </a:r>
            <a:r>
              <a:rPr lang="id-ID" altLang="en-US" sz="2400" i="1" dirty="0">
                <a:solidFill>
                  <a:srgbClr val="1F2328"/>
                </a:solidFill>
              </a:rPr>
              <a:t>protected</a:t>
            </a:r>
            <a:r>
              <a:rPr lang="id-ID" altLang="en-US" sz="2400" dirty="0">
                <a:solidFill>
                  <a:srgbClr val="1F2328"/>
                </a:solidFill>
              </a:rPr>
              <a:t>: boleh diakses kelas itu sendiri dan kelas anaknya</a:t>
            </a:r>
            <a:endParaRPr lang="id-ID" sz="2400" dirty="0"/>
          </a:p>
        </p:txBody>
      </p:sp>
      <p:sp>
        <p:nvSpPr>
          <p:cNvPr id="21" name="Shape 17"/>
          <p:cNvSpPr/>
          <p:nvPr/>
        </p:nvSpPr>
        <p:spPr>
          <a:xfrm>
            <a:off x="6187288" y="4317716"/>
            <a:ext cx="5455768" cy="1018032"/>
          </a:xfrm>
          <a:prstGeom prst="roundRect">
            <a:avLst>
              <a:gd name="adj" fmla="val 9681"/>
            </a:avLst>
          </a:prstGeom>
          <a:solidFill>
            <a:srgbClr val="FFFFFF"/>
          </a:solidFill>
          <a:ln w="9525">
            <a:solidFill>
              <a:srgbClr val="D0D7DE"/>
            </a:solidFill>
            <a:prstDash val="solid"/>
          </a:ln>
        </p:spPr>
      </p:sp>
      <p:sp>
        <p:nvSpPr>
          <p:cNvPr id="22" name="Shape 18"/>
          <p:cNvSpPr/>
          <p:nvPr/>
        </p:nvSpPr>
        <p:spPr>
          <a:xfrm>
            <a:off x="6388456" y="4598132"/>
            <a:ext cx="457200" cy="457200"/>
          </a:xfrm>
          <a:prstGeom prst="ellipse">
            <a:avLst/>
          </a:prstGeom>
          <a:solidFill>
            <a:srgbClr val="8250DF"/>
          </a:solidFill>
          <a:ln/>
        </p:spPr>
      </p:sp>
      <p:sp>
        <p:nvSpPr>
          <p:cNvPr id="23" name="Text 19"/>
          <p:cNvSpPr txBox="1"/>
          <p:nvPr/>
        </p:nvSpPr>
        <p:spPr>
          <a:xfrm>
            <a:off x="6388456" y="45981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427444"/>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atribut yang hanya boleh diakses kelas-⁠kelas dalam satu paket</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545123"/>
            <a:ext cx="11094415" cy="553212"/>
          </a:xfrm>
          <a:prstGeom prst="roundRect">
            <a:avLst>
              <a:gd name="adj" fmla="val 32785"/>
            </a:avLst>
          </a:prstGeom>
          <a:solidFill>
            <a:srgbClr val="F6F8FA"/>
          </a:solidFill>
          <a:ln w="9525">
            <a:solidFill>
              <a:srgbClr val="D0D7DE"/>
            </a:solidFill>
            <a:prstDash val="solid"/>
          </a:ln>
        </p:spPr>
      </p:sp>
      <p:sp>
        <p:nvSpPr>
          <p:cNvPr id="6" name="Text 3"/>
          <p:cNvSpPr txBox="1"/>
          <p:nvPr/>
        </p:nvSpPr>
        <p:spPr>
          <a:xfrm>
            <a:off x="822960" y="1682283"/>
            <a:ext cx="10545775" cy="278892"/>
          </a:xfrm>
          <a:prstGeom prst="rect">
            <a:avLst/>
          </a:prstGeom>
          <a:noFill/>
          <a:ln/>
        </p:spPr>
        <p:txBody>
          <a:bodyPr wrap="square" lIns="0" tIns="0" rIns="0" bIns="0" rtlCol="0" anchor="t"/>
          <a:lstStyle/>
          <a:p>
            <a:pPr indent="0" marL="0">
              <a:buNone/>
            </a:pPr>
            <a:r>
              <a:rPr lang="id-ID" altLang="en-US" sz="1800" dirty="0">
                <a:solidFill>
                  <a:srgbClr val="57606A"/>
                </a:solidFill>
              </a:rPr>
              <a:t>Di sebuah kotak kelas tertulis </a:t>
            </a:r>
            <a:r>
              <a:rPr lang="id-ID" altLang="en-US" sz="1800" dirty="0">
                <a:solidFill>
                  <a:srgbClr val="0A3069"/>
                </a:solidFill>
                <a:latin typeface="Consolas" pitchFamily="34" charset="0"/>
                <a:ea typeface="Consolas" pitchFamily="34" charset="-122"/>
                <a:cs typeface="Consolas" pitchFamily="34" charset="-120"/>
              </a:rPr>
              <a:t>#biayaAdmin : int</a:t>
            </a:r>
            <a:r>
              <a:rPr lang="id-ID" altLang="en-US" sz="1800" dirty="0">
                <a:solidFill>
                  <a:srgbClr val="57606A"/>
                </a:solidFill>
              </a:rPr>
              <a:t>. Artinya ...</a:t>
            </a:r>
            <a:endParaRPr lang="id-ID" sz="1800" dirty="0"/>
          </a:p>
        </p:txBody>
      </p:sp>
      <p:sp>
        <p:nvSpPr>
          <p:cNvPr id="7" name="Shape 4"/>
          <p:cNvSpPr/>
          <p:nvPr/>
        </p:nvSpPr>
        <p:spPr>
          <a:xfrm>
            <a:off x="548640" y="2281215"/>
            <a:ext cx="5455768" cy="894080"/>
          </a:xfrm>
          <a:prstGeom prst="roundRect">
            <a:avLst>
              <a:gd name="adj" fmla="val 12552"/>
            </a:avLst>
          </a:prstGeom>
          <a:solidFill>
            <a:srgbClr val="FFFFFF"/>
          </a:solidFill>
          <a:ln w="9525">
            <a:solidFill>
              <a:srgbClr val="D0D7DE"/>
            </a:solidFill>
            <a:prstDash val="solid"/>
          </a:ln>
        </p:spPr>
      </p:sp>
      <p:sp>
        <p:nvSpPr>
          <p:cNvPr id="8" name="Shape 5"/>
          <p:cNvSpPr/>
          <p:nvPr/>
        </p:nvSpPr>
        <p:spPr>
          <a:xfrm>
            <a:off x="749808" y="2499655"/>
            <a:ext cx="457200" cy="457200"/>
          </a:xfrm>
          <a:prstGeom prst="ellipse">
            <a:avLst/>
          </a:prstGeom>
          <a:solidFill>
            <a:srgbClr val="8C959F"/>
          </a:solidFill>
          <a:ln/>
        </p:spPr>
      </p:sp>
      <p:sp>
        <p:nvSpPr>
          <p:cNvPr id="9" name="Text 6"/>
          <p:cNvSpPr txBox="1"/>
          <p:nvPr/>
        </p:nvSpPr>
        <p:spPr>
          <a:xfrm>
            <a:off x="749808" y="2499655"/>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0" name="Text 7"/>
          <p:cNvSpPr txBox="1"/>
          <p:nvPr/>
        </p:nvSpPr>
        <p:spPr>
          <a:xfrm>
            <a:off x="1353312" y="2390943"/>
            <a:ext cx="4541368" cy="674624"/>
          </a:xfrm>
          <a:prstGeom prst="rect">
            <a:avLst/>
          </a:prstGeom>
          <a:noFill/>
          <a:ln/>
        </p:spPr>
        <p:txBody>
          <a:bodyPr wrap="square" lIns="0" tIns="0" rIns="0" bIns="0" rtlCol="0" anchor="ctr"/>
          <a:lstStyle/>
          <a:p>
            <a:pPr indent="0" marL="0">
              <a:buNone/>
            </a:pPr>
            <a:r>
              <a:rPr lang="id-ID" altLang="en-US" sz="2000" dirty="0">
                <a:solidFill>
                  <a:srgbClr val="57606A"/>
                </a:solidFill>
              </a:rPr>
              <a:t>atribut publik bertipe </a:t>
            </a:r>
            <a:r>
              <a:rPr lang="id-ID" altLang="en-US" sz="2000" dirty="0">
                <a:solidFill>
                  <a:srgbClr val="0A3069"/>
                </a:solidFill>
                <a:latin typeface="Consolas" pitchFamily="34" charset="0"/>
                <a:ea typeface="Consolas" pitchFamily="34" charset="-122"/>
                <a:cs typeface="Consolas" pitchFamily="34" charset="-120"/>
              </a:rPr>
              <a:t>int</a:t>
            </a:r>
            <a:endParaRPr lang="id-ID" sz="2000" dirty="0"/>
          </a:p>
        </p:txBody>
      </p:sp>
      <p:sp>
        <p:nvSpPr>
          <p:cNvPr id="11" name="Shape 8"/>
          <p:cNvSpPr/>
          <p:nvPr/>
        </p:nvSpPr>
        <p:spPr>
          <a:xfrm>
            <a:off x="6187288" y="2281215"/>
            <a:ext cx="5455768" cy="894080"/>
          </a:xfrm>
          <a:prstGeom prst="roundRect">
            <a:avLst>
              <a:gd name="adj" fmla="val 12552"/>
            </a:avLst>
          </a:prstGeom>
          <a:solidFill>
            <a:srgbClr val="FFFFFF"/>
          </a:solidFill>
          <a:ln w="9525">
            <a:solidFill>
              <a:srgbClr val="D0D7DE"/>
            </a:solidFill>
            <a:prstDash val="solid"/>
          </a:ln>
        </p:spPr>
      </p:sp>
      <p:sp>
        <p:nvSpPr>
          <p:cNvPr id="12" name="Shape 9"/>
          <p:cNvSpPr/>
          <p:nvPr/>
        </p:nvSpPr>
        <p:spPr>
          <a:xfrm>
            <a:off x="6388456" y="2499655"/>
            <a:ext cx="457200" cy="457200"/>
          </a:xfrm>
          <a:prstGeom prst="ellipse">
            <a:avLst/>
          </a:prstGeom>
          <a:solidFill>
            <a:srgbClr val="8C959F"/>
          </a:solidFill>
          <a:ln/>
        </p:spPr>
      </p:sp>
      <p:sp>
        <p:nvSpPr>
          <p:cNvPr id="13" name="Text 10"/>
          <p:cNvSpPr txBox="1"/>
          <p:nvPr/>
        </p:nvSpPr>
        <p:spPr>
          <a:xfrm>
            <a:off x="6388456" y="2499655"/>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4" name="Text 11"/>
          <p:cNvSpPr txBox="1"/>
          <p:nvPr/>
        </p:nvSpPr>
        <p:spPr>
          <a:xfrm>
            <a:off x="6991960" y="2390943"/>
            <a:ext cx="4541368" cy="674624"/>
          </a:xfrm>
          <a:prstGeom prst="rect">
            <a:avLst/>
          </a:prstGeom>
          <a:noFill/>
          <a:ln/>
        </p:spPr>
        <p:txBody>
          <a:bodyPr wrap="square" lIns="0" tIns="0" rIns="0" bIns="0" rtlCol="0" anchor="ctr"/>
          <a:lstStyle/>
          <a:p>
            <a:pPr indent="0" marL="0">
              <a:buNone/>
            </a:pPr>
            <a:r>
              <a:rPr lang="id-ID" altLang="en-US" sz="2000" dirty="0">
                <a:solidFill>
                  <a:srgbClr val="57606A"/>
                </a:solidFill>
              </a:rPr>
              <a:t>atribut milik kelas (</a:t>
            </a:r>
            <a:r>
              <a:rPr lang="id-ID" altLang="en-US" sz="2000" i="1" dirty="0">
                <a:solidFill>
                  <a:srgbClr val="57606A"/>
                </a:solidFill>
              </a:rPr>
              <a:t>static</a:t>
            </a:r>
            <a:r>
              <a:rPr lang="id-ID" altLang="en-US" sz="2000" dirty="0">
                <a:solidFill>
                  <a:srgbClr val="57606A"/>
                </a:solidFill>
              </a:rPr>
              <a:t>) bernama </a:t>
            </a:r>
            <a:r>
              <a:rPr lang="id-ID" altLang="en-US" sz="2000" dirty="0">
                <a:solidFill>
                  <a:srgbClr val="0A3069"/>
                </a:solidFill>
                <a:latin typeface="Consolas" pitchFamily="34" charset="0"/>
                <a:ea typeface="Consolas" pitchFamily="34" charset="-122"/>
                <a:cs typeface="Consolas" pitchFamily="34" charset="-120"/>
              </a:rPr>
              <a:t>biayaAdmin</a:t>
            </a:r>
            <a:endParaRPr lang="id-ID" sz="2000" dirty="0"/>
          </a:p>
        </p:txBody>
      </p:sp>
      <p:sp>
        <p:nvSpPr>
          <p:cNvPr id="15" name="Shape 12"/>
          <p:cNvSpPr/>
          <p:nvPr/>
        </p:nvSpPr>
        <p:spPr>
          <a:xfrm>
            <a:off x="548640" y="3358175"/>
            <a:ext cx="5455768" cy="894080"/>
          </a:xfrm>
          <a:prstGeom prst="roundRect">
            <a:avLst>
              <a:gd name="adj" fmla="val 12552"/>
            </a:avLst>
          </a:prstGeom>
          <a:solidFill>
            <a:srgbClr val="DAFBE1"/>
          </a:solidFill>
          <a:ln w="22225">
            <a:solidFill>
              <a:srgbClr val="1A7F37"/>
            </a:solidFill>
            <a:prstDash val="solid"/>
          </a:ln>
        </p:spPr>
      </p:sp>
      <p:sp>
        <p:nvSpPr>
          <p:cNvPr id="16" name="Shape 13"/>
          <p:cNvSpPr/>
          <p:nvPr/>
        </p:nvSpPr>
        <p:spPr>
          <a:xfrm>
            <a:off x="749808" y="3576615"/>
            <a:ext cx="457200" cy="457200"/>
          </a:xfrm>
          <a:prstGeom prst="ellipse">
            <a:avLst/>
          </a:prstGeom>
          <a:solidFill>
            <a:srgbClr val="1A7F37"/>
          </a:solidFill>
          <a:ln/>
        </p:spPr>
      </p:sp>
      <p:pic>
        <p:nvPicPr>
          <p:cNvPr id="17" name="Image 1" descr="preencoded.png">    </p:cNvPr>
          <p:cNvPicPr>
            <a:picLocks noChangeAspect="1"/>
          </p:cNvPicPr>
          <p:nvPr/>
        </p:nvPicPr>
        <p:blipFill>
          <a:blip r:embed="rId2"/>
          <a:stretch>
            <a:fillRect/>
          </a:stretch>
        </p:blipFill>
        <p:spPr>
          <a:xfrm>
            <a:off x="850392" y="3677199"/>
            <a:ext cx="256032" cy="256032"/>
          </a:xfrm>
          <a:prstGeom prst="rect">
            <a:avLst/>
          </a:prstGeom>
        </p:spPr>
      </p:pic>
      <p:sp>
        <p:nvSpPr>
          <p:cNvPr id="18" name="Text 14"/>
          <p:cNvSpPr txBox="1"/>
          <p:nvPr/>
        </p:nvSpPr>
        <p:spPr>
          <a:xfrm>
            <a:off x="1353312" y="3467903"/>
            <a:ext cx="4541368" cy="674624"/>
          </a:xfrm>
          <a:prstGeom prst="rect">
            <a:avLst/>
          </a:prstGeom>
          <a:noFill/>
          <a:ln/>
        </p:spPr>
        <p:txBody>
          <a:bodyPr wrap="square" lIns="0" tIns="0" rIns="0" bIns="0" rtlCol="0" anchor="ctr"/>
          <a:lstStyle/>
          <a:p>
            <a:pPr indent="0" marL="0">
              <a:buNone/>
            </a:pPr>
            <a:r>
              <a:rPr lang="id-ID" altLang="en-US" sz="2000" dirty="0">
                <a:solidFill>
                  <a:srgbClr val="1F2328"/>
                </a:solidFill>
              </a:rPr>
              <a:t>atribut </a:t>
            </a:r>
            <a:r>
              <a:rPr lang="id-ID" altLang="en-US" sz="2000" i="1" dirty="0">
                <a:solidFill>
                  <a:srgbClr val="1F2328"/>
                </a:solidFill>
              </a:rPr>
              <a:t>protected</a:t>
            </a:r>
            <a:r>
              <a:rPr lang="id-ID" altLang="en-US" sz="2000" dirty="0">
                <a:solidFill>
                  <a:srgbClr val="1F2328"/>
                </a:solidFill>
              </a:rPr>
              <a:t>: boleh diakses kelas itu sendiri dan kelas anaknya</a:t>
            </a:r>
            <a:endParaRPr lang="id-ID" sz="2000" dirty="0"/>
          </a:p>
        </p:txBody>
      </p:sp>
      <p:sp>
        <p:nvSpPr>
          <p:cNvPr id="19" name="Shape 15"/>
          <p:cNvSpPr/>
          <p:nvPr/>
        </p:nvSpPr>
        <p:spPr>
          <a:xfrm>
            <a:off x="6187288" y="3358175"/>
            <a:ext cx="5455768" cy="894080"/>
          </a:xfrm>
          <a:prstGeom prst="roundRect">
            <a:avLst>
              <a:gd name="adj" fmla="val 12552"/>
            </a:avLst>
          </a:prstGeom>
          <a:solidFill>
            <a:srgbClr val="FFFFFF"/>
          </a:solidFill>
          <a:ln w="9525">
            <a:solidFill>
              <a:srgbClr val="D0D7DE"/>
            </a:solidFill>
            <a:prstDash val="solid"/>
          </a:ln>
        </p:spPr>
      </p:sp>
      <p:sp>
        <p:nvSpPr>
          <p:cNvPr id="20" name="Shape 16"/>
          <p:cNvSpPr/>
          <p:nvPr/>
        </p:nvSpPr>
        <p:spPr>
          <a:xfrm>
            <a:off x="6388456" y="3576615"/>
            <a:ext cx="457200" cy="457200"/>
          </a:xfrm>
          <a:prstGeom prst="ellipse">
            <a:avLst/>
          </a:prstGeom>
          <a:solidFill>
            <a:srgbClr val="8C959F"/>
          </a:solidFill>
          <a:ln/>
        </p:spPr>
      </p:sp>
      <p:sp>
        <p:nvSpPr>
          <p:cNvPr id="21" name="Text 17"/>
          <p:cNvSpPr txBox="1"/>
          <p:nvPr/>
        </p:nvSpPr>
        <p:spPr>
          <a:xfrm>
            <a:off x="6388456" y="3576615"/>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2" name="Text 18"/>
          <p:cNvSpPr txBox="1"/>
          <p:nvPr/>
        </p:nvSpPr>
        <p:spPr>
          <a:xfrm>
            <a:off x="6991960" y="3467903"/>
            <a:ext cx="4541368" cy="674624"/>
          </a:xfrm>
          <a:prstGeom prst="rect">
            <a:avLst/>
          </a:prstGeom>
          <a:noFill/>
          <a:ln/>
        </p:spPr>
        <p:txBody>
          <a:bodyPr wrap="square" lIns="0" tIns="0" rIns="0" bIns="0" rtlCol="0" anchor="ctr"/>
          <a:lstStyle/>
          <a:p>
            <a:pPr indent="0" marL="0">
              <a:buNone/>
            </a:pPr>
            <a:r>
              <a:rPr lang="id-ID" altLang="en-US" sz="2000" dirty="0">
                <a:solidFill>
                  <a:srgbClr val="57606A"/>
                </a:solidFill>
              </a:rPr>
              <a:t>atribut yang hanya boleh diakses kelas-⁠kelas dalam satu paket</a:t>
            </a:r>
            <a:endParaRPr lang="id-ID" sz="2000" dirty="0"/>
          </a:p>
        </p:txBody>
      </p:sp>
      <p:sp>
        <p:nvSpPr>
          <p:cNvPr id="23" name="Shape 19"/>
          <p:cNvSpPr/>
          <p:nvPr/>
        </p:nvSpPr>
        <p:spPr>
          <a:xfrm>
            <a:off x="548640" y="4453423"/>
            <a:ext cx="11094415" cy="1569720"/>
          </a:xfrm>
          <a:prstGeom prst="roundRect">
            <a:avLst>
              <a:gd name="adj" fmla="val 4072"/>
            </a:avLst>
          </a:prstGeom>
          <a:solidFill>
            <a:srgbClr val="FFF8C5"/>
          </a:solidFill>
          <a:ln w="9525">
            <a:solidFill>
              <a:srgbClr val="D4A72C"/>
            </a:solidFill>
            <a:prstDash val="solid"/>
          </a:ln>
        </p:spPr>
      </p:sp>
      <p:sp>
        <p:nvSpPr>
          <p:cNvPr id="24" name="Shape 20"/>
          <p:cNvSpPr/>
          <p:nvPr/>
        </p:nvSpPr>
        <p:spPr>
          <a:xfrm>
            <a:off x="777240" y="4636303"/>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736887"/>
            <a:ext cx="256032" cy="256032"/>
          </a:xfrm>
          <a:prstGeom prst="rect">
            <a:avLst/>
          </a:prstGeom>
        </p:spPr>
      </p:pic>
      <p:sp>
        <p:nvSpPr>
          <p:cNvPr id="26" name="Text 21"/>
          <p:cNvSpPr txBox="1"/>
          <p:nvPr/>
        </p:nvSpPr>
        <p:spPr>
          <a:xfrm>
            <a:off x="1417320" y="4590583"/>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C</a:t>
            </a:r>
            <a:endParaRPr lang="id-ID" sz="1600" dirty="0"/>
          </a:p>
        </p:txBody>
      </p:sp>
      <p:sp>
        <p:nvSpPr>
          <p:cNvPr id="27" name="Text 22"/>
          <p:cNvSpPr txBox="1"/>
          <p:nvPr/>
        </p:nvSpPr>
        <p:spPr>
          <a:xfrm>
            <a:off x="1417320" y="4928911"/>
            <a:ext cx="9951415" cy="1021080"/>
          </a:xfrm>
          <a:prstGeom prst="rect">
            <a:avLst/>
          </a:prstGeom>
          <a:noFill/>
          <a:ln/>
        </p:spPr>
        <p:txBody>
          <a:bodyPr wrap="square" lIns="0" tIns="0" rIns="0" bIns="0" rtlCol="0" anchor="t"/>
          <a:lstStyle/>
          <a:p>
            <a:pPr indent="0" marL="0">
              <a:buNone/>
            </a:pPr>
            <a:r>
              <a:rPr lang="id-ID" altLang="en-US" sz="2000" dirty="0">
                <a:solidFill>
                  <a:srgbClr val="0A3069"/>
                </a:solidFill>
                <a:latin typeface="Consolas" pitchFamily="34" charset="0"/>
                <a:ea typeface="Consolas" pitchFamily="34" charset="-122"/>
                <a:cs typeface="Consolas" pitchFamily="34" charset="-120"/>
              </a:rPr>
              <a:t>#</a:t>
            </a:r>
            <a:r>
              <a:rPr lang="id-ID" altLang="en-US" sz="2000" dirty="0">
                <a:solidFill>
                  <a:srgbClr val="1F2328"/>
                </a:solidFill>
              </a:rPr>
              <a:t> berarti </a:t>
            </a:r>
            <a:r>
              <a:rPr lang="id-ID" altLang="en-US" sz="2000" i="1" dirty="0">
                <a:solidFill>
                  <a:srgbClr val="1F2328"/>
                </a:solidFill>
              </a:rPr>
              <a:t>protected</a:t>
            </a:r>
            <a:r>
              <a:rPr lang="id-ID" altLang="en-US" sz="2000" dirty="0">
                <a:solidFill>
                  <a:srgbClr val="1F2328"/>
                </a:solidFill>
              </a:rPr>
              <a:t>. Publik ditulis </a:t>
            </a:r>
            <a:r>
              <a:rPr lang="id-ID" altLang="en-US" sz="2000" dirty="0">
                <a:solidFill>
                  <a:srgbClr val="0A3069"/>
                </a:solidFill>
                <a:latin typeface="Consolas" pitchFamily="34" charset="0"/>
                <a:ea typeface="Consolas" pitchFamily="34" charset="-122"/>
                <a:cs typeface="Consolas" pitchFamily="34" charset="-120"/>
              </a:rPr>
              <a:t>+</a:t>
            </a:r>
            <a:r>
              <a:rPr lang="id-ID" altLang="en-US" sz="2000" dirty="0">
                <a:solidFill>
                  <a:srgbClr val="1F2328"/>
                </a:solidFill>
              </a:rPr>
              <a:t> (A), dan akses satu paket ditulis </a:t>
            </a:r>
            <a:r>
              <a:rPr lang="id-ID" altLang="en-US" sz="2000" dirty="0">
                <a:solidFill>
                  <a:srgbClr val="0A3069"/>
                </a:solidFill>
                <a:latin typeface="Consolas" pitchFamily="34" charset="0"/>
                <a:ea typeface="Consolas" pitchFamily="34" charset="-122"/>
                <a:cs typeface="Consolas" pitchFamily="34" charset="-120"/>
              </a:rPr>
              <a:t>~</a:t>
            </a:r>
            <a:r>
              <a:rPr lang="id-ID" altLang="en-US" sz="2000" dirty="0">
                <a:solidFill>
                  <a:srgbClr val="1F2328"/>
                </a:solidFill>
              </a:rPr>
              <a:t> (D). Anggota </a:t>
            </a:r>
            <a:r>
              <a:rPr lang="id-ID" altLang="en-US" sz="2000" i="1" dirty="0">
                <a:solidFill>
                  <a:srgbClr val="1F2328"/>
                </a:solidFill>
              </a:rPr>
              <a:t>static</a:t>
            </a:r>
            <a:r>
              <a:rPr lang="id-ID" altLang="en-US" sz="2000" dirty="0">
                <a:solidFill>
                  <a:srgbClr val="1F2328"/>
                </a:solidFill>
              </a:rPr>
              <a:t> tidak ditandai simbol di depan, tetapi dengan garis bawah (di Mermaid: </a:t>
            </a:r>
            <a:r>
              <a:rPr lang="id-ID" altLang="en-US" sz="2000" dirty="0">
                <a:solidFill>
                  <a:srgbClr val="0A3069"/>
                </a:solidFill>
                <a:latin typeface="Consolas" pitchFamily="34" charset="0"/>
                <a:ea typeface="Consolas" pitchFamily="34" charset="-122"/>
                <a:cs typeface="Consolas" pitchFamily="34" charset="-120"/>
              </a:rPr>
              <a:t>$</a:t>
            </a:r>
            <a:r>
              <a:rPr lang="id-ID" altLang="en-US" sz="2000" dirty="0">
                <a:solidFill>
                  <a:srgbClr val="1F2328"/>
                </a:solidFill>
              </a:rPr>
              <a:t> di akhir baris) sehingga B salah.</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704503"/>
            <a:ext cx="11094415" cy="1324864"/>
          </a:xfrm>
          <a:prstGeom prst="roundRect">
            <a:avLst>
              <a:gd name="adj" fmla="val 5716"/>
            </a:avLst>
          </a:prstGeom>
          <a:solidFill>
            <a:srgbClr val="FBEFFF"/>
          </a:solidFill>
          <a:ln w="9525">
            <a:solidFill>
              <a:srgbClr val="C297FF"/>
            </a:solidFill>
            <a:prstDash val="solid"/>
          </a:ln>
        </p:spPr>
      </p:sp>
      <p:sp>
        <p:nvSpPr>
          <p:cNvPr id="6" name="Shape 3"/>
          <p:cNvSpPr/>
          <p:nvPr/>
        </p:nvSpPr>
        <p:spPr>
          <a:xfrm>
            <a:off x="777240" y="2138335"/>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238919"/>
            <a:ext cx="256032" cy="256032"/>
          </a:xfrm>
          <a:prstGeom prst="rect">
            <a:avLst/>
          </a:prstGeom>
        </p:spPr>
      </p:pic>
      <p:sp>
        <p:nvSpPr>
          <p:cNvPr id="8" name="Text 4"/>
          <p:cNvSpPr txBox="1"/>
          <p:nvPr/>
        </p:nvSpPr>
        <p:spPr>
          <a:xfrm>
            <a:off x="1417320" y="1933103"/>
            <a:ext cx="9951415" cy="1050544"/>
          </a:xfrm>
          <a:prstGeom prst="rect">
            <a:avLst/>
          </a:prstGeom>
          <a:noFill/>
          <a:ln/>
        </p:spPr>
        <p:txBody>
          <a:bodyPr wrap="square" lIns="0" tIns="0" rIns="0" bIns="0" rtlCol="0" anchor="t"/>
          <a:lstStyle/>
          <a:p>
            <a:pPr indent="0" marL="0">
              <a:buNone/>
            </a:pPr>
            <a:r>
              <a:rPr lang="id-ID" altLang="en-US" sz="2800" dirty="0">
                <a:solidFill>
                  <a:srgbClr val="1F2328"/>
                </a:solidFill>
              </a:rPr>
              <a:t>Perhatikan relasi </a:t>
            </a:r>
            <a:r>
              <a:rPr lang="id-ID" altLang="en-US" sz="2800" dirty="0">
                <a:solidFill>
                  <a:srgbClr val="0A3069"/>
                </a:solidFill>
                <a:latin typeface="Consolas" pitchFamily="34" charset="0"/>
                <a:ea typeface="Consolas" pitchFamily="34" charset="-122"/>
                <a:cs typeface="Consolas" pitchFamily="34" charset="-120"/>
              </a:rPr>
              <a:t>Pesanan "1" *-- "*" ItemPesanan</a:t>
            </a:r>
            <a:r>
              <a:rPr lang="id-ID" altLang="en-US" sz="2800" dirty="0">
                <a:solidFill>
                  <a:srgbClr val="1F2328"/>
                </a:solidFill>
              </a:rPr>
              <a:t>. Pernyataan yang benar adalah ...</a:t>
            </a:r>
            <a:endParaRPr lang="id-ID" sz="2800" dirty="0"/>
          </a:p>
        </p:txBody>
      </p:sp>
      <p:sp>
        <p:nvSpPr>
          <p:cNvPr id="9" name="Shape 5"/>
          <p:cNvSpPr/>
          <p:nvPr/>
        </p:nvSpPr>
        <p:spPr>
          <a:xfrm>
            <a:off x="548640" y="3212247"/>
            <a:ext cx="5455768" cy="1389888"/>
          </a:xfrm>
          <a:prstGeom prst="roundRect">
            <a:avLst>
              <a:gd name="adj" fmla="val 5194"/>
            </a:avLst>
          </a:prstGeom>
          <a:solidFill>
            <a:srgbClr val="FFFFFF"/>
          </a:solidFill>
          <a:ln w="9525">
            <a:solidFill>
              <a:srgbClr val="D0D7DE"/>
            </a:solidFill>
            <a:prstDash val="solid"/>
          </a:ln>
        </p:spPr>
      </p:sp>
      <p:sp>
        <p:nvSpPr>
          <p:cNvPr id="10" name="Shape 6"/>
          <p:cNvSpPr/>
          <p:nvPr/>
        </p:nvSpPr>
        <p:spPr>
          <a:xfrm>
            <a:off x="749808" y="3678591"/>
            <a:ext cx="457200" cy="457200"/>
          </a:xfrm>
          <a:prstGeom prst="ellipse">
            <a:avLst/>
          </a:prstGeom>
          <a:solidFill>
            <a:srgbClr val="8250DF"/>
          </a:solidFill>
          <a:ln/>
        </p:spPr>
      </p:sp>
      <p:sp>
        <p:nvSpPr>
          <p:cNvPr id="11" name="Text 7"/>
          <p:cNvSpPr txBox="1"/>
          <p:nvPr/>
        </p:nvSpPr>
        <p:spPr>
          <a:xfrm>
            <a:off x="749808" y="367859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321975"/>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Setiap pesanan berisi nol atau lebih item, dan setiap item milik tepat satu pesanan</a:t>
            </a:r>
            <a:endParaRPr lang="id-ID" sz="2400" dirty="0"/>
          </a:p>
        </p:txBody>
      </p:sp>
      <p:sp>
        <p:nvSpPr>
          <p:cNvPr id="13" name="Shape 9"/>
          <p:cNvSpPr/>
          <p:nvPr/>
        </p:nvSpPr>
        <p:spPr>
          <a:xfrm>
            <a:off x="6187288" y="3212247"/>
            <a:ext cx="5455768" cy="1389888"/>
          </a:xfrm>
          <a:prstGeom prst="roundRect">
            <a:avLst>
              <a:gd name="adj" fmla="val 5194"/>
            </a:avLst>
          </a:prstGeom>
          <a:solidFill>
            <a:srgbClr val="FFFFFF"/>
          </a:solidFill>
          <a:ln w="9525">
            <a:solidFill>
              <a:srgbClr val="D0D7DE"/>
            </a:solidFill>
            <a:prstDash val="solid"/>
          </a:ln>
        </p:spPr>
      </p:sp>
      <p:sp>
        <p:nvSpPr>
          <p:cNvPr id="14" name="Shape 10"/>
          <p:cNvSpPr/>
          <p:nvPr/>
        </p:nvSpPr>
        <p:spPr>
          <a:xfrm>
            <a:off x="6388456" y="3678591"/>
            <a:ext cx="457200" cy="457200"/>
          </a:xfrm>
          <a:prstGeom prst="ellipse">
            <a:avLst/>
          </a:prstGeom>
          <a:solidFill>
            <a:srgbClr val="8250DF"/>
          </a:solidFill>
          <a:ln/>
        </p:spPr>
      </p:sp>
      <p:sp>
        <p:nvSpPr>
          <p:cNvPr id="15" name="Text 11"/>
          <p:cNvSpPr txBox="1"/>
          <p:nvPr/>
        </p:nvSpPr>
        <p:spPr>
          <a:xfrm>
            <a:off x="6388456" y="367859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321975"/>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Setiap item boleh dimiliki banyak pesanan sekaligus</a:t>
            </a:r>
            <a:endParaRPr lang="id-ID" sz="2400" dirty="0"/>
          </a:p>
        </p:txBody>
      </p:sp>
      <p:sp>
        <p:nvSpPr>
          <p:cNvPr id="17" name="Shape 13"/>
          <p:cNvSpPr/>
          <p:nvPr/>
        </p:nvSpPr>
        <p:spPr>
          <a:xfrm>
            <a:off x="548640" y="4785015"/>
            <a:ext cx="5455768" cy="1018032"/>
          </a:xfrm>
          <a:prstGeom prst="roundRect">
            <a:avLst>
              <a:gd name="adj" fmla="val 9681"/>
            </a:avLst>
          </a:prstGeom>
          <a:solidFill>
            <a:srgbClr val="FFFFFF"/>
          </a:solidFill>
          <a:ln w="9525">
            <a:solidFill>
              <a:srgbClr val="D0D7DE"/>
            </a:solidFill>
            <a:prstDash val="solid"/>
          </a:ln>
        </p:spPr>
      </p:sp>
      <p:sp>
        <p:nvSpPr>
          <p:cNvPr id="18" name="Shape 14"/>
          <p:cNvSpPr/>
          <p:nvPr/>
        </p:nvSpPr>
        <p:spPr>
          <a:xfrm>
            <a:off x="749808" y="5065431"/>
            <a:ext cx="457200" cy="457200"/>
          </a:xfrm>
          <a:prstGeom prst="ellipse">
            <a:avLst/>
          </a:prstGeom>
          <a:solidFill>
            <a:srgbClr val="8250DF"/>
          </a:solidFill>
          <a:ln/>
        </p:spPr>
      </p:sp>
      <p:sp>
        <p:nvSpPr>
          <p:cNvPr id="19" name="Text 15"/>
          <p:cNvSpPr txBox="1"/>
          <p:nvPr/>
        </p:nvSpPr>
        <p:spPr>
          <a:xfrm>
            <a:off x="749808" y="506543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894743"/>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Setiap pesanan berisi tepat satu item</a:t>
            </a:r>
            <a:endParaRPr lang="id-ID" sz="2400" dirty="0"/>
          </a:p>
        </p:txBody>
      </p:sp>
      <p:sp>
        <p:nvSpPr>
          <p:cNvPr id="21" name="Shape 17"/>
          <p:cNvSpPr/>
          <p:nvPr/>
        </p:nvSpPr>
        <p:spPr>
          <a:xfrm>
            <a:off x="6187288" y="4785015"/>
            <a:ext cx="5455768" cy="1018032"/>
          </a:xfrm>
          <a:prstGeom prst="roundRect">
            <a:avLst>
              <a:gd name="adj" fmla="val 9681"/>
            </a:avLst>
          </a:prstGeom>
          <a:solidFill>
            <a:srgbClr val="FFFFFF"/>
          </a:solidFill>
          <a:ln w="9525">
            <a:solidFill>
              <a:srgbClr val="D0D7DE"/>
            </a:solidFill>
            <a:prstDash val="solid"/>
          </a:ln>
        </p:spPr>
      </p:sp>
      <p:sp>
        <p:nvSpPr>
          <p:cNvPr id="22" name="Shape 18"/>
          <p:cNvSpPr/>
          <p:nvPr/>
        </p:nvSpPr>
        <p:spPr>
          <a:xfrm>
            <a:off x="6388456" y="5065431"/>
            <a:ext cx="457200" cy="457200"/>
          </a:xfrm>
          <a:prstGeom prst="ellipse">
            <a:avLst/>
          </a:prstGeom>
          <a:solidFill>
            <a:srgbClr val="8250DF"/>
          </a:solidFill>
          <a:ln/>
        </p:spPr>
      </p:sp>
      <p:sp>
        <p:nvSpPr>
          <p:cNvPr id="23" name="Text 19"/>
          <p:cNvSpPr txBox="1"/>
          <p:nvPr/>
        </p:nvSpPr>
        <p:spPr>
          <a:xfrm>
            <a:off x="6388456" y="506543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894743"/>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Pesanan dan item bisa hidup terpisah tanpa saling bergantung</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597182"/>
            <a:ext cx="11094415" cy="537718"/>
          </a:xfrm>
          <a:prstGeom prst="roundRect">
            <a:avLst>
              <a:gd name="adj" fmla="val 34701"/>
            </a:avLst>
          </a:prstGeom>
          <a:solidFill>
            <a:srgbClr val="F6F8FA"/>
          </a:solidFill>
          <a:ln w="9525">
            <a:solidFill>
              <a:srgbClr val="D0D7DE"/>
            </a:solidFill>
            <a:prstDash val="solid"/>
          </a:ln>
        </p:spPr>
      </p:sp>
      <p:sp>
        <p:nvSpPr>
          <p:cNvPr id="6" name="Text 3"/>
          <p:cNvSpPr txBox="1"/>
          <p:nvPr/>
        </p:nvSpPr>
        <p:spPr>
          <a:xfrm>
            <a:off x="822960" y="1734342"/>
            <a:ext cx="10545775" cy="263398"/>
          </a:xfrm>
          <a:prstGeom prst="rect">
            <a:avLst/>
          </a:prstGeom>
          <a:noFill/>
          <a:ln/>
        </p:spPr>
        <p:txBody>
          <a:bodyPr wrap="square" lIns="0" tIns="0" rIns="0" bIns="0" rtlCol="0" anchor="t"/>
          <a:lstStyle/>
          <a:p>
            <a:pPr indent="0" marL="0">
              <a:buNone/>
            </a:pPr>
            <a:r>
              <a:rPr lang="id-ID" altLang="en-US" sz="1700" dirty="0">
                <a:solidFill>
                  <a:srgbClr val="57606A"/>
                </a:solidFill>
              </a:rPr>
              <a:t>Perhatikan relasi </a:t>
            </a:r>
            <a:r>
              <a:rPr lang="id-ID" altLang="en-US" sz="1700" dirty="0">
                <a:solidFill>
                  <a:srgbClr val="0A3069"/>
                </a:solidFill>
                <a:latin typeface="Consolas" pitchFamily="34" charset="0"/>
                <a:ea typeface="Consolas" pitchFamily="34" charset="-122"/>
                <a:cs typeface="Consolas" pitchFamily="34" charset="-120"/>
              </a:rPr>
              <a:t>Pesanan "1" *-- "*" ItemPesanan</a:t>
            </a:r>
            <a:r>
              <a:rPr lang="id-ID" altLang="en-US" sz="1700" dirty="0">
                <a:solidFill>
                  <a:srgbClr val="57606A"/>
                </a:solidFill>
              </a:rPr>
              <a:t>. Pernyataan yang benar adalah ...</a:t>
            </a:r>
            <a:endParaRPr lang="id-ID" sz="1700" dirty="0"/>
          </a:p>
        </p:txBody>
      </p:sp>
      <p:sp>
        <p:nvSpPr>
          <p:cNvPr id="7" name="Shape 4"/>
          <p:cNvSpPr/>
          <p:nvPr/>
        </p:nvSpPr>
        <p:spPr>
          <a:xfrm>
            <a:off x="548640" y="2317780"/>
            <a:ext cx="5455768" cy="863092"/>
          </a:xfrm>
          <a:prstGeom prst="roundRect">
            <a:avLst>
              <a:gd name="adj" fmla="val 13469"/>
            </a:avLst>
          </a:prstGeom>
          <a:solidFill>
            <a:srgbClr val="DAFBE1"/>
          </a:solidFill>
          <a:ln w="22225">
            <a:solidFill>
              <a:srgbClr val="1A7F37"/>
            </a:solidFill>
            <a:prstDash val="solid"/>
          </a:ln>
        </p:spPr>
      </p:sp>
      <p:sp>
        <p:nvSpPr>
          <p:cNvPr id="8" name="Shape 5"/>
          <p:cNvSpPr/>
          <p:nvPr/>
        </p:nvSpPr>
        <p:spPr>
          <a:xfrm>
            <a:off x="749808" y="2532156"/>
            <a:ext cx="434340" cy="434340"/>
          </a:xfrm>
          <a:prstGeom prst="ellipse">
            <a:avLst/>
          </a:prstGeom>
          <a:solidFill>
            <a:srgbClr val="1A7F37"/>
          </a:solidFill>
          <a:ln/>
        </p:spPr>
      </p:sp>
      <p:pic>
        <p:nvPicPr>
          <p:cNvPr id="9" name="Image 1" descr="preencoded.png">    </p:cNvPr>
          <p:cNvPicPr>
            <a:picLocks noChangeAspect="1"/>
          </p:cNvPicPr>
          <p:nvPr/>
        </p:nvPicPr>
        <p:blipFill>
          <a:blip r:embed="rId2"/>
          <a:stretch>
            <a:fillRect/>
          </a:stretch>
        </p:blipFill>
        <p:spPr>
          <a:xfrm>
            <a:off x="845363" y="2627711"/>
            <a:ext cx="243230" cy="243230"/>
          </a:xfrm>
          <a:prstGeom prst="rect">
            <a:avLst/>
          </a:prstGeom>
        </p:spPr>
      </p:pic>
      <p:sp>
        <p:nvSpPr>
          <p:cNvPr id="10" name="Text 6"/>
          <p:cNvSpPr txBox="1"/>
          <p:nvPr/>
        </p:nvSpPr>
        <p:spPr>
          <a:xfrm>
            <a:off x="1353312" y="2427508"/>
            <a:ext cx="4541368" cy="643636"/>
          </a:xfrm>
          <a:prstGeom prst="rect">
            <a:avLst/>
          </a:prstGeom>
          <a:noFill/>
          <a:ln/>
        </p:spPr>
        <p:txBody>
          <a:bodyPr wrap="square" lIns="0" tIns="0" rIns="0" bIns="0" rtlCol="0" anchor="ctr"/>
          <a:lstStyle/>
          <a:p>
            <a:pPr indent="0" marL="0">
              <a:buNone/>
            </a:pPr>
            <a:r>
              <a:rPr lang="id-ID" altLang="en-US" sz="1900" dirty="0">
                <a:solidFill>
                  <a:srgbClr val="1F2328"/>
                </a:solidFill>
              </a:rPr>
              <a:t>Setiap pesanan berisi nol atau lebih item, dan setiap item milik tepat satu pesanan</a:t>
            </a:r>
            <a:endParaRPr lang="id-ID" sz="1900" dirty="0"/>
          </a:p>
        </p:txBody>
      </p:sp>
      <p:sp>
        <p:nvSpPr>
          <p:cNvPr id="11" name="Shape 7"/>
          <p:cNvSpPr/>
          <p:nvPr/>
        </p:nvSpPr>
        <p:spPr>
          <a:xfrm>
            <a:off x="6187288" y="2317780"/>
            <a:ext cx="5455768" cy="863092"/>
          </a:xfrm>
          <a:prstGeom prst="roundRect">
            <a:avLst>
              <a:gd name="adj" fmla="val 13469"/>
            </a:avLst>
          </a:prstGeom>
          <a:solidFill>
            <a:srgbClr val="FFFFFF"/>
          </a:solidFill>
          <a:ln w="9525">
            <a:solidFill>
              <a:srgbClr val="D0D7DE"/>
            </a:solidFill>
            <a:prstDash val="solid"/>
          </a:ln>
        </p:spPr>
      </p:sp>
      <p:sp>
        <p:nvSpPr>
          <p:cNvPr id="12" name="Shape 8"/>
          <p:cNvSpPr/>
          <p:nvPr/>
        </p:nvSpPr>
        <p:spPr>
          <a:xfrm>
            <a:off x="6388456" y="2532156"/>
            <a:ext cx="434340" cy="434340"/>
          </a:xfrm>
          <a:prstGeom prst="ellipse">
            <a:avLst/>
          </a:prstGeom>
          <a:solidFill>
            <a:srgbClr val="8C959F"/>
          </a:solidFill>
          <a:ln/>
        </p:spPr>
      </p:sp>
      <p:sp>
        <p:nvSpPr>
          <p:cNvPr id="13" name="Text 9"/>
          <p:cNvSpPr txBox="1"/>
          <p:nvPr/>
        </p:nvSpPr>
        <p:spPr>
          <a:xfrm>
            <a:off x="6388456" y="2532156"/>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B</a:t>
            </a:r>
            <a:endParaRPr lang="id-ID" sz="1700" dirty="0"/>
          </a:p>
        </p:txBody>
      </p:sp>
      <p:sp>
        <p:nvSpPr>
          <p:cNvPr id="14" name="Text 10"/>
          <p:cNvSpPr txBox="1"/>
          <p:nvPr/>
        </p:nvSpPr>
        <p:spPr>
          <a:xfrm>
            <a:off x="6991960" y="2427508"/>
            <a:ext cx="4541368" cy="643636"/>
          </a:xfrm>
          <a:prstGeom prst="rect">
            <a:avLst/>
          </a:prstGeom>
          <a:noFill/>
          <a:ln/>
        </p:spPr>
        <p:txBody>
          <a:bodyPr wrap="square" lIns="0" tIns="0" rIns="0" bIns="0" rtlCol="0" anchor="ctr"/>
          <a:lstStyle/>
          <a:p>
            <a:pPr indent="0" marL="0">
              <a:buNone/>
            </a:pPr>
            <a:r>
              <a:rPr lang="id-ID" altLang="en-US" sz="1900" dirty="0">
                <a:solidFill>
                  <a:srgbClr val="57606A"/>
                </a:solidFill>
              </a:rPr>
              <a:t>Setiap item boleh dimiliki banyak pesanan sekaligus</a:t>
            </a:r>
            <a:endParaRPr lang="id-ID" sz="1900" dirty="0"/>
          </a:p>
        </p:txBody>
      </p:sp>
      <p:sp>
        <p:nvSpPr>
          <p:cNvPr id="15" name="Shape 11"/>
          <p:cNvSpPr/>
          <p:nvPr/>
        </p:nvSpPr>
        <p:spPr>
          <a:xfrm>
            <a:off x="548640" y="3363752"/>
            <a:ext cx="5455768" cy="863092"/>
          </a:xfrm>
          <a:prstGeom prst="roundRect">
            <a:avLst>
              <a:gd name="adj" fmla="val 13469"/>
            </a:avLst>
          </a:prstGeom>
          <a:solidFill>
            <a:srgbClr val="FFFFFF"/>
          </a:solidFill>
          <a:ln w="9525">
            <a:solidFill>
              <a:srgbClr val="D0D7DE"/>
            </a:solidFill>
            <a:prstDash val="solid"/>
          </a:ln>
        </p:spPr>
      </p:sp>
      <p:sp>
        <p:nvSpPr>
          <p:cNvPr id="16" name="Shape 12"/>
          <p:cNvSpPr/>
          <p:nvPr/>
        </p:nvSpPr>
        <p:spPr>
          <a:xfrm>
            <a:off x="749808" y="3578128"/>
            <a:ext cx="434340" cy="434340"/>
          </a:xfrm>
          <a:prstGeom prst="ellipse">
            <a:avLst/>
          </a:prstGeom>
          <a:solidFill>
            <a:srgbClr val="8C959F"/>
          </a:solidFill>
          <a:ln/>
        </p:spPr>
      </p:sp>
      <p:sp>
        <p:nvSpPr>
          <p:cNvPr id="17" name="Text 13"/>
          <p:cNvSpPr txBox="1"/>
          <p:nvPr/>
        </p:nvSpPr>
        <p:spPr>
          <a:xfrm>
            <a:off x="749808" y="3578128"/>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C</a:t>
            </a:r>
            <a:endParaRPr lang="id-ID" sz="1700" dirty="0"/>
          </a:p>
        </p:txBody>
      </p:sp>
      <p:sp>
        <p:nvSpPr>
          <p:cNvPr id="18" name="Text 14"/>
          <p:cNvSpPr txBox="1"/>
          <p:nvPr/>
        </p:nvSpPr>
        <p:spPr>
          <a:xfrm>
            <a:off x="1353312" y="3473480"/>
            <a:ext cx="4541368" cy="643636"/>
          </a:xfrm>
          <a:prstGeom prst="rect">
            <a:avLst/>
          </a:prstGeom>
          <a:noFill/>
          <a:ln/>
        </p:spPr>
        <p:txBody>
          <a:bodyPr wrap="square" lIns="0" tIns="0" rIns="0" bIns="0" rtlCol="0" anchor="ctr"/>
          <a:lstStyle/>
          <a:p>
            <a:pPr indent="0" marL="0">
              <a:buNone/>
            </a:pPr>
            <a:r>
              <a:rPr lang="id-ID" altLang="en-US" sz="1900" dirty="0">
                <a:solidFill>
                  <a:srgbClr val="57606A"/>
                </a:solidFill>
              </a:rPr>
              <a:t>Setiap pesanan berisi tepat satu item</a:t>
            </a:r>
            <a:endParaRPr lang="id-ID" sz="1900" dirty="0"/>
          </a:p>
        </p:txBody>
      </p:sp>
      <p:sp>
        <p:nvSpPr>
          <p:cNvPr id="19" name="Shape 15"/>
          <p:cNvSpPr/>
          <p:nvPr/>
        </p:nvSpPr>
        <p:spPr>
          <a:xfrm>
            <a:off x="6187288" y="3363752"/>
            <a:ext cx="5455768" cy="863092"/>
          </a:xfrm>
          <a:prstGeom prst="roundRect">
            <a:avLst>
              <a:gd name="adj" fmla="val 13469"/>
            </a:avLst>
          </a:prstGeom>
          <a:solidFill>
            <a:srgbClr val="FFFFFF"/>
          </a:solidFill>
          <a:ln w="9525">
            <a:solidFill>
              <a:srgbClr val="D0D7DE"/>
            </a:solidFill>
            <a:prstDash val="solid"/>
          </a:ln>
        </p:spPr>
      </p:sp>
      <p:sp>
        <p:nvSpPr>
          <p:cNvPr id="20" name="Shape 16"/>
          <p:cNvSpPr/>
          <p:nvPr/>
        </p:nvSpPr>
        <p:spPr>
          <a:xfrm>
            <a:off x="6388456" y="3578128"/>
            <a:ext cx="434340" cy="434340"/>
          </a:xfrm>
          <a:prstGeom prst="ellipse">
            <a:avLst/>
          </a:prstGeom>
          <a:solidFill>
            <a:srgbClr val="8C959F"/>
          </a:solidFill>
          <a:ln/>
        </p:spPr>
      </p:sp>
      <p:sp>
        <p:nvSpPr>
          <p:cNvPr id="21" name="Text 17"/>
          <p:cNvSpPr txBox="1"/>
          <p:nvPr/>
        </p:nvSpPr>
        <p:spPr>
          <a:xfrm>
            <a:off x="6388456" y="3578128"/>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D</a:t>
            </a:r>
            <a:endParaRPr lang="id-ID" sz="1700" dirty="0"/>
          </a:p>
        </p:txBody>
      </p:sp>
      <p:sp>
        <p:nvSpPr>
          <p:cNvPr id="22" name="Text 18"/>
          <p:cNvSpPr txBox="1"/>
          <p:nvPr/>
        </p:nvSpPr>
        <p:spPr>
          <a:xfrm>
            <a:off x="6991960" y="3473480"/>
            <a:ext cx="4541368" cy="643636"/>
          </a:xfrm>
          <a:prstGeom prst="rect">
            <a:avLst/>
          </a:prstGeom>
          <a:noFill/>
          <a:ln/>
        </p:spPr>
        <p:txBody>
          <a:bodyPr wrap="square" lIns="0" tIns="0" rIns="0" bIns="0" rtlCol="0" anchor="ctr"/>
          <a:lstStyle/>
          <a:p>
            <a:pPr indent="0" marL="0">
              <a:buNone/>
            </a:pPr>
            <a:r>
              <a:rPr lang="id-ID" altLang="en-US" sz="1900" dirty="0">
                <a:solidFill>
                  <a:srgbClr val="57606A"/>
                </a:solidFill>
              </a:rPr>
              <a:t>Pesanan dan item bisa hidup terpisah tanpa saling bergantung</a:t>
            </a:r>
            <a:endParaRPr lang="id-ID" sz="1900" dirty="0"/>
          </a:p>
        </p:txBody>
      </p:sp>
      <p:sp>
        <p:nvSpPr>
          <p:cNvPr id="23" name="Shape 19"/>
          <p:cNvSpPr/>
          <p:nvPr/>
        </p:nvSpPr>
        <p:spPr>
          <a:xfrm>
            <a:off x="548640" y="4428012"/>
            <a:ext cx="11094415" cy="1523238"/>
          </a:xfrm>
          <a:prstGeom prst="roundRect">
            <a:avLst>
              <a:gd name="adj" fmla="val 4324"/>
            </a:avLst>
          </a:prstGeom>
          <a:solidFill>
            <a:srgbClr val="FFF8C5"/>
          </a:solidFill>
          <a:ln w="9525">
            <a:solidFill>
              <a:srgbClr val="D4A72C"/>
            </a:solidFill>
            <a:prstDash val="solid"/>
          </a:ln>
        </p:spPr>
      </p:sp>
      <p:sp>
        <p:nvSpPr>
          <p:cNvPr id="24" name="Shape 20"/>
          <p:cNvSpPr/>
          <p:nvPr/>
        </p:nvSpPr>
        <p:spPr>
          <a:xfrm>
            <a:off x="777240" y="4610892"/>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711476"/>
            <a:ext cx="256032" cy="256032"/>
          </a:xfrm>
          <a:prstGeom prst="rect">
            <a:avLst/>
          </a:prstGeom>
        </p:spPr>
      </p:pic>
      <p:sp>
        <p:nvSpPr>
          <p:cNvPr id="26" name="Text 21"/>
          <p:cNvSpPr txBox="1"/>
          <p:nvPr/>
        </p:nvSpPr>
        <p:spPr>
          <a:xfrm>
            <a:off x="1417320" y="4565172"/>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A</a:t>
            </a:r>
            <a:endParaRPr lang="id-ID" sz="1600" dirty="0"/>
          </a:p>
        </p:txBody>
      </p:sp>
      <p:sp>
        <p:nvSpPr>
          <p:cNvPr id="27" name="Text 22"/>
          <p:cNvSpPr txBox="1"/>
          <p:nvPr/>
        </p:nvSpPr>
        <p:spPr>
          <a:xfrm>
            <a:off x="1417320" y="4903500"/>
            <a:ext cx="9951415" cy="974598"/>
          </a:xfrm>
          <a:prstGeom prst="rect">
            <a:avLst/>
          </a:prstGeom>
          <a:noFill/>
          <a:ln/>
        </p:spPr>
        <p:txBody>
          <a:bodyPr wrap="square" lIns="0" tIns="0" rIns="0" bIns="0" rtlCol="0" anchor="t"/>
          <a:lstStyle/>
          <a:p>
            <a:pPr indent="0" marL="0">
              <a:buNone/>
            </a:pPr>
            <a:r>
              <a:rPr lang="id-ID" altLang="en-US" sz="1900" dirty="0">
                <a:solidFill>
                  <a:srgbClr val="1F2328"/>
                </a:solidFill>
              </a:rPr>
              <a:t>Dibaca dari </a:t>
            </a:r>
            <a:r>
              <a:rPr lang="id-ID" altLang="en-US" sz="1900" dirty="0">
                <a:solidFill>
                  <a:srgbClr val="0A3069"/>
                </a:solidFill>
                <a:latin typeface="Consolas" pitchFamily="34" charset="0"/>
                <a:ea typeface="Consolas" pitchFamily="34" charset="-122"/>
                <a:cs typeface="Consolas" pitchFamily="34" charset="-120"/>
              </a:rPr>
              <a:t>Pesanan</a:t>
            </a:r>
            <a:r>
              <a:rPr lang="id-ID" altLang="en-US" sz="1900" dirty="0">
                <a:solidFill>
                  <a:srgbClr val="1F2328"/>
                </a:solidFill>
              </a:rPr>
              <a:t>, angka di ujung seberang adalah </a:t>
            </a:r>
            <a:r>
              <a:rPr lang="id-ID" altLang="en-US" sz="1900" dirty="0">
                <a:solidFill>
                  <a:srgbClr val="0A3069"/>
                </a:solidFill>
                <a:latin typeface="Consolas" pitchFamily="34" charset="0"/>
                <a:ea typeface="Consolas" pitchFamily="34" charset="-122"/>
                <a:cs typeface="Consolas" pitchFamily="34" charset="-120"/>
              </a:rPr>
              <a:t>*</a:t>
            </a:r>
            <a:r>
              <a:rPr lang="id-ID" altLang="en-US" sz="1900" dirty="0">
                <a:solidFill>
                  <a:srgbClr val="1F2328"/>
                </a:solidFill>
              </a:rPr>
              <a:t>: satu pesanan berisi nol atau lebih item. Dibaca dari </a:t>
            </a:r>
            <a:r>
              <a:rPr lang="id-ID" altLang="en-US" sz="1900" dirty="0">
                <a:solidFill>
                  <a:srgbClr val="0A3069"/>
                </a:solidFill>
                <a:latin typeface="Consolas" pitchFamily="34" charset="0"/>
                <a:ea typeface="Consolas" pitchFamily="34" charset="-122"/>
                <a:cs typeface="Consolas" pitchFamily="34" charset="-120"/>
              </a:rPr>
              <a:t>ItemPesanan</a:t>
            </a:r>
            <a:r>
              <a:rPr lang="id-ID" altLang="en-US" sz="1900" dirty="0">
                <a:solidFill>
                  <a:srgbClr val="1F2328"/>
                </a:solidFill>
              </a:rPr>
              <a:t>, angkanya </a:t>
            </a:r>
            <a:r>
              <a:rPr lang="id-ID" altLang="en-US" sz="1900" dirty="0">
                <a:solidFill>
                  <a:srgbClr val="0A3069"/>
                </a:solidFill>
                <a:latin typeface="Consolas" pitchFamily="34" charset="0"/>
                <a:ea typeface="Consolas" pitchFamily="34" charset="-122"/>
                <a:cs typeface="Consolas" pitchFamily="34" charset="-120"/>
              </a:rPr>
              <a:t>1</a:t>
            </a:r>
            <a:r>
              <a:rPr lang="id-ID" altLang="en-US" sz="1900" dirty="0">
                <a:solidFill>
                  <a:srgbClr val="1F2328"/>
                </a:solidFill>
              </a:rPr>
              <a:t>: setiap item milik tepat satu pesanan, jadi B dan C salah. Belah ketupat penuh berarti komposisi: item tidak berarti tanpa pesanannya sehingga D juga salah.</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0787"/>
            <a:ext cx="294386" cy="294386"/>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3405" y="1535552"/>
            <a:ext cx="164856" cy="164856"/>
          </a:xfrm>
          <a:prstGeom prst="rect">
            <a:avLst/>
          </a:prstGeom>
        </p:spPr>
      </p:pic>
      <p:sp>
        <p:nvSpPr>
          <p:cNvPr id="7" name="Text 3"/>
          <p:cNvSpPr txBox="1"/>
          <p:nvPr/>
        </p:nvSpPr>
        <p:spPr>
          <a:xfrm>
            <a:off x="1051560" y="1463040"/>
            <a:ext cx="10591495" cy="665480"/>
          </a:xfrm>
          <a:prstGeom prst="rect">
            <a:avLst/>
          </a:prstGeom>
          <a:noFill/>
          <a:ln/>
        </p:spPr>
        <p:txBody>
          <a:bodyPr wrap="square" lIns="0" tIns="0" rIns="0" bIns="0" rtlCol="0" anchor="t"/>
          <a:lstStyle/>
          <a:p>
            <a:pPr indent="0" marL="0">
              <a:buNone/>
            </a:pPr>
            <a:r>
              <a:rPr lang="id-ID" altLang="en-US" sz="2000" b="1" dirty="0">
                <a:solidFill>
                  <a:srgbClr val="1F2328"/>
                </a:solidFill>
              </a:rPr>
              <a:t>UML</a:t>
            </a:r>
            <a:r>
              <a:rPr lang="id-ID" altLang="en-US" sz="2000" dirty="0">
                <a:solidFill>
                  <a:srgbClr val="1F2328"/>
                </a:solidFill>
              </a:rPr>
              <a:t> adalah bahasa pemodelan visual standar (OMG, 1997); diagram kelas paling sering dipakai dalam PBO.</a:t>
            </a:r>
            <a:endParaRPr lang="id-ID" sz="2000" dirty="0"/>
          </a:p>
        </p:txBody>
      </p:sp>
      <p:sp>
        <p:nvSpPr>
          <p:cNvPr id="8" name="Shape 4"/>
          <p:cNvSpPr/>
          <p:nvPr/>
        </p:nvSpPr>
        <p:spPr>
          <a:xfrm>
            <a:off x="548640" y="2291715"/>
            <a:ext cx="294386" cy="294386"/>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3405" y="2356480"/>
            <a:ext cx="164856" cy="164856"/>
          </a:xfrm>
          <a:prstGeom prst="rect">
            <a:avLst/>
          </a:prstGeom>
        </p:spPr>
      </p:pic>
      <p:sp>
        <p:nvSpPr>
          <p:cNvPr id="10" name="Text 5"/>
          <p:cNvSpPr txBox="1"/>
          <p:nvPr/>
        </p:nvSpPr>
        <p:spPr>
          <a:xfrm>
            <a:off x="1051560" y="2283968"/>
            <a:ext cx="10591495" cy="665480"/>
          </a:xfrm>
          <a:prstGeom prst="rect">
            <a:avLst/>
          </a:prstGeom>
          <a:noFill/>
          <a:ln/>
        </p:spPr>
        <p:txBody>
          <a:bodyPr wrap="square" lIns="0" tIns="0" rIns="0" bIns="0" rtlCol="0" anchor="t"/>
          <a:lstStyle/>
          <a:p>
            <a:pPr indent="0" marL="0">
              <a:buNone/>
            </a:pPr>
            <a:r>
              <a:rPr lang="id-ID" altLang="en-US" sz="2000" dirty="0">
                <a:solidFill>
                  <a:srgbClr val="1F2328"/>
                </a:solidFill>
              </a:rPr>
              <a:t>Kotak kelas: </a:t>
            </a:r>
            <a:r>
              <a:rPr lang="id-ID" altLang="en-US" sz="2000" dirty="0">
                <a:solidFill>
                  <a:srgbClr val="1F2328"/>
                </a:solidFill>
                <a:latin typeface="Consolas" pitchFamily="34" charset="0"/>
                <a:ea typeface="Consolas" pitchFamily="34" charset="-122"/>
                <a:cs typeface="Consolas" pitchFamily="34" charset="-120"/>
              </a:rPr>
              <a:t>visibilitas nama : Tipe</a:t>
            </a:r>
            <a:r>
              <a:rPr lang="id-ID" altLang="en-US" sz="2000" dirty="0">
                <a:solidFill>
                  <a:srgbClr val="1F2328"/>
                </a:solidFill>
              </a:rPr>
              <a:t> untuk atribut dan </a:t>
            </a:r>
            <a:r>
              <a:rPr lang="id-ID" altLang="en-US" sz="2000" dirty="0">
                <a:solidFill>
                  <a:srgbClr val="1F2328"/>
                </a:solidFill>
                <a:latin typeface="Consolas" pitchFamily="34" charset="0"/>
                <a:ea typeface="Consolas" pitchFamily="34" charset="-122"/>
                <a:cs typeface="Consolas" pitchFamily="34" charset="-120"/>
              </a:rPr>
              <a:t>visibilitas nama(parameter : Tipe) : TipeKembalian</a:t>
            </a:r>
            <a:r>
              <a:rPr lang="id-ID" altLang="en-US" sz="2000" dirty="0">
                <a:solidFill>
                  <a:srgbClr val="1F2328"/>
                </a:solidFill>
              </a:rPr>
              <a:t> untuk </a:t>
            </a:r>
            <a:r>
              <a:rPr lang="id-ID" altLang="en-US" sz="2000" i="1" dirty="0">
                <a:solidFill>
                  <a:srgbClr val="1F2328"/>
                </a:solidFill>
              </a:rPr>
              <a:t>method</a:t>
            </a:r>
            <a:r>
              <a:rPr lang="id-ID" altLang="en-US" sz="2000" dirty="0">
                <a:solidFill>
                  <a:srgbClr val="1F2328"/>
                </a:solidFill>
              </a:rPr>
              <a:t>.</a:t>
            </a:r>
            <a:endParaRPr lang="id-ID" sz="2000" dirty="0"/>
          </a:p>
        </p:txBody>
      </p:sp>
      <p:sp>
        <p:nvSpPr>
          <p:cNvPr id="11" name="Shape 6"/>
          <p:cNvSpPr/>
          <p:nvPr/>
        </p:nvSpPr>
        <p:spPr>
          <a:xfrm>
            <a:off x="548640" y="3112643"/>
            <a:ext cx="294386" cy="294386"/>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3405" y="3177408"/>
            <a:ext cx="164856" cy="164856"/>
          </a:xfrm>
          <a:prstGeom prst="rect">
            <a:avLst/>
          </a:prstGeom>
        </p:spPr>
      </p:pic>
      <p:sp>
        <p:nvSpPr>
          <p:cNvPr id="13" name="Text 7"/>
          <p:cNvSpPr txBox="1"/>
          <p:nvPr/>
        </p:nvSpPr>
        <p:spPr>
          <a:xfrm>
            <a:off x="1051560" y="3104896"/>
            <a:ext cx="10591495" cy="355600"/>
          </a:xfrm>
          <a:prstGeom prst="rect">
            <a:avLst/>
          </a:prstGeom>
          <a:noFill/>
          <a:ln/>
        </p:spPr>
        <p:txBody>
          <a:bodyPr wrap="square" lIns="0" tIns="0" rIns="0" bIns="0" rtlCol="0" anchor="t"/>
          <a:lstStyle/>
          <a:p>
            <a:pPr indent="0" marL="0">
              <a:buNone/>
            </a:pPr>
            <a:r>
              <a:rPr lang="id-ID" altLang="en-US" sz="2000" dirty="0">
                <a:solidFill>
                  <a:srgbClr val="1F2328"/>
                </a:solidFill>
              </a:rPr>
              <a:t>Visibilitas: </a:t>
            </a:r>
            <a:r>
              <a:rPr lang="id-ID" altLang="en-US" sz="2000" dirty="0">
                <a:solidFill>
                  <a:srgbClr val="1F2328"/>
                </a:solidFill>
                <a:latin typeface="Consolas" pitchFamily="34" charset="0"/>
                <a:ea typeface="Consolas" pitchFamily="34" charset="-122"/>
                <a:cs typeface="Consolas" pitchFamily="34" charset="-120"/>
              </a:rPr>
              <a:t>+</a:t>
            </a:r>
            <a:r>
              <a:rPr lang="id-ID" altLang="en-US" sz="2000" dirty="0">
                <a:solidFill>
                  <a:srgbClr val="1F2328"/>
                </a:solidFill>
              </a:rPr>
              <a:t> </a:t>
            </a:r>
            <a:r>
              <a:rPr lang="id-ID" altLang="en-US" sz="2000" i="1" dirty="0">
                <a:solidFill>
                  <a:srgbClr val="1F2328"/>
                </a:solidFill>
              </a:rPr>
              <a:t>public</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a:t>
            </a:r>
            <a:r>
              <a:rPr lang="id-ID" altLang="en-US" sz="2000" dirty="0">
                <a:solidFill>
                  <a:srgbClr val="1F2328"/>
                </a:solidFill>
              </a:rPr>
              <a:t> </a:t>
            </a:r>
            <a:r>
              <a:rPr lang="id-ID" altLang="en-US" sz="2000" i="1" dirty="0">
                <a:solidFill>
                  <a:srgbClr val="1F2328"/>
                </a:solidFill>
              </a:rPr>
              <a:t>private</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a:t>
            </a:r>
            <a:r>
              <a:rPr lang="id-ID" altLang="en-US" sz="2000" dirty="0">
                <a:solidFill>
                  <a:srgbClr val="1F2328"/>
                </a:solidFill>
              </a:rPr>
              <a:t> </a:t>
            </a:r>
            <a:r>
              <a:rPr lang="id-ID" altLang="en-US" sz="2000" i="1" dirty="0">
                <a:solidFill>
                  <a:srgbClr val="1F2328"/>
                </a:solidFill>
              </a:rPr>
              <a:t>protected</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a:t>
            </a:r>
            <a:r>
              <a:rPr lang="id-ID" altLang="en-US" sz="2000" dirty="0">
                <a:solidFill>
                  <a:srgbClr val="1F2328"/>
                </a:solidFill>
              </a:rPr>
              <a:t> </a:t>
            </a:r>
            <a:r>
              <a:rPr lang="id-ID" altLang="en-US" sz="2000" i="1" dirty="0">
                <a:solidFill>
                  <a:srgbClr val="1F2328"/>
                </a:solidFill>
              </a:rPr>
              <a:t>package</a:t>
            </a:r>
            <a:r>
              <a:rPr lang="id-ID" altLang="en-US" sz="2000" dirty="0">
                <a:solidFill>
                  <a:srgbClr val="1F2328"/>
                </a:solidFill>
              </a:rPr>
              <a:t>. Anggota </a:t>
            </a:r>
            <a:r>
              <a:rPr lang="id-ID" altLang="en-US" sz="2000" i="1" dirty="0">
                <a:solidFill>
                  <a:srgbClr val="1F2328"/>
                </a:solidFill>
              </a:rPr>
              <a:t>static</a:t>
            </a:r>
            <a:r>
              <a:rPr lang="id-ID" altLang="en-US" sz="2000" dirty="0">
                <a:solidFill>
                  <a:srgbClr val="1F2328"/>
                </a:solidFill>
              </a:rPr>
              <a:t> digarisbawahi.</a:t>
            </a:r>
            <a:endParaRPr lang="id-ID" sz="2000" dirty="0"/>
          </a:p>
        </p:txBody>
      </p:sp>
      <p:sp>
        <p:nvSpPr>
          <p:cNvPr id="14" name="Shape 8"/>
          <p:cNvSpPr/>
          <p:nvPr/>
        </p:nvSpPr>
        <p:spPr>
          <a:xfrm>
            <a:off x="548640" y="3623691"/>
            <a:ext cx="294386" cy="294386"/>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3405" y="3688456"/>
            <a:ext cx="164856" cy="164856"/>
          </a:xfrm>
          <a:prstGeom prst="rect">
            <a:avLst/>
          </a:prstGeom>
        </p:spPr>
      </p:pic>
      <p:sp>
        <p:nvSpPr>
          <p:cNvPr id="16" name="Text 9"/>
          <p:cNvSpPr txBox="1"/>
          <p:nvPr/>
        </p:nvSpPr>
        <p:spPr>
          <a:xfrm>
            <a:off x="1051560" y="3615944"/>
            <a:ext cx="10591495" cy="665480"/>
          </a:xfrm>
          <a:prstGeom prst="rect">
            <a:avLst/>
          </a:prstGeom>
          <a:noFill/>
          <a:ln/>
        </p:spPr>
        <p:txBody>
          <a:bodyPr wrap="square" lIns="0" tIns="0" rIns="0" bIns="0" rtlCol="0" anchor="t"/>
          <a:lstStyle/>
          <a:p>
            <a:pPr indent="0" marL="0">
              <a:buNone/>
            </a:pPr>
            <a:r>
              <a:rPr lang="id-ID" altLang="en-US" sz="2000" dirty="0">
                <a:solidFill>
                  <a:srgbClr val="1F2328"/>
                </a:solidFill>
              </a:rPr>
              <a:t>Enam relasi: </a:t>
            </a:r>
            <a:r>
              <a:rPr lang="id-ID" altLang="en-US" sz="2000" dirty="0">
                <a:solidFill>
                  <a:srgbClr val="1F2328"/>
                </a:solidFill>
                <a:latin typeface="Consolas" pitchFamily="34" charset="0"/>
                <a:ea typeface="Consolas" pitchFamily="34" charset="-122"/>
                <a:cs typeface="Consolas" pitchFamily="34" charset="-120"/>
              </a:rPr>
              <a:t>--&gt;</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o--</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..&gt;</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&lt;|--</a:t>
            </a:r>
            <a:r>
              <a:rPr lang="id-ID" altLang="en-US" sz="2000" dirty="0">
                <a:solidFill>
                  <a:srgbClr val="1F2328"/>
                </a:solidFill>
              </a:rPr>
              <a:t>, dan </a:t>
            </a:r>
            <a:r>
              <a:rPr lang="id-ID" altLang="en-US" sz="2000" dirty="0">
                <a:solidFill>
                  <a:srgbClr val="1F2328"/>
                </a:solidFill>
                <a:latin typeface="Consolas" pitchFamily="34" charset="0"/>
                <a:ea typeface="Consolas" pitchFamily="34" charset="-122"/>
                <a:cs typeface="Consolas" pitchFamily="34" charset="-120"/>
              </a:rPr>
              <a:t>&lt;|..</a:t>
            </a:r>
            <a:r>
              <a:rPr lang="id-ID" altLang="en-US" sz="2000" dirty="0">
                <a:solidFill>
                  <a:srgbClr val="1F2328"/>
                </a:solidFill>
              </a:rPr>
              <a:t> (realisasi). Belah ketupat di keseluruhan, segitiga di induk.</a:t>
            </a:r>
            <a:endParaRPr lang="id-ID" sz="2000" dirty="0"/>
          </a:p>
        </p:txBody>
      </p:sp>
      <p:sp>
        <p:nvSpPr>
          <p:cNvPr id="17" name="Shape 10"/>
          <p:cNvSpPr/>
          <p:nvPr/>
        </p:nvSpPr>
        <p:spPr>
          <a:xfrm>
            <a:off x="548640" y="4444619"/>
            <a:ext cx="294386" cy="294386"/>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3405" y="4509384"/>
            <a:ext cx="164856" cy="164856"/>
          </a:xfrm>
          <a:prstGeom prst="rect">
            <a:avLst/>
          </a:prstGeom>
        </p:spPr>
      </p:pic>
      <p:sp>
        <p:nvSpPr>
          <p:cNvPr id="19" name="Text 11"/>
          <p:cNvSpPr txBox="1"/>
          <p:nvPr/>
        </p:nvSpPr>
        <p:spPr>
          <a:xfrm>
            <a:off x="1051560" y="4436872"/>
            <a:ext cx="10591495" cy="355600"/>
          </a:xfrm>
          <a:prstGeom prst="rect">
            <a:avLst/>
          </a:prstGeom>
          <a:noFill/>
          <a:ln/>
        </p:spPr>
        <p:txBody>
          <a:bodyPr wrap="square" lIns="0" tIns="0" rIns="0" bIns="0" rtlCol="0" anchor="t"/>
          <a:lstStyle/>
          <a:p>
            <a:pPr indent="0" marL="0">
              <a:buNone/>
            </a:pPr>
            <a:r>
              <a:rPr lang="id-ID" altLang="en-US" sz="2000" b="1" dirty="0">
                <a:solidFill>
                  <a:srgbClr val="1F2328"/>
                </a:solidFill>
              </a:rPr>
              <a:t>Multiplisitas</a:t>
            </a:r>
            <a:r>
              <a:rPr lang="id-ID" altLang="en-US" sz="2000" dirty="0">
                <a:solidFill>
                  <a:srgbClr val="1F2328"/>
                </a:solidFill>
              </a:rPr>
              <a:t> dibaca dari angka di ujung seberang; </a:t>
            </a:r>
            <a:r>
              <a:rPr lang="id-ID" altLang="en-US" sz="2000" b="1" dirty="0">
                <a:solidFill>
                  <a:srgbClr val="1F2328"/>
                </a:solidFill>
              </a:rPr>
              <a:t>nama peran</a:t>
            </a:r>
            <a:r>
              <a:rPr lang="id-ID" altLang="en-US" sz="2000" dirty="0">
                <a:solidFill>
                  <a:srgbClr val="1F2328"/>
                </a:solidFill>
              </a:rPr>
              <a:t> biasanya sama dengan nama atribut.</a:t>
            </a:r>
            <a:endParaRPr lang="id-ID" sz="2000" dirty="0"/>
          </a:p>
        </p:txBody>
      </p:sp>
      <p:sp>
        <p:nvSpPr>
          <p:cNvPr id="20" name="Shape 12"/>
          <p:cNvSpPr/>
          <p:nvPr/>
        </p:nvSpPr>
        <p:spPr>
          <a:xfrm>
            <a:off x="548640" y="4955667"/>
            <a:ext cx="294386" cy="294386"/>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3405" y="5020432"/>
            <a:ext cx="164856" cy="164856"/>
          </a:xfrm>
          <a:prstGeom prst="rect">
            <a:avLst/>
          </a:prstGeom>
        </p:spPr>
      </p:pic>
      <p:sp>
        <p:nvSpPr>
          <p:cNvPr id="22" name="Text 13"/>
          <p:cNvSpPr txBox="1"/>
          <p:nvPr/>
        </p:nvSpPr>
        <p:spPr>
          <a:xfrm>
            <a:off x="1051560" y="4947920"/>
            <a:ext cx="10591495" cy="665480"/>
          </a:xfrm>
          <a:prstGeom prst="rect">
            <a:avLst/>
          </a:prstGeom>
          <a:noFill/>
          <a:ln/>
        </p:spPr>
        <p:txBody>
          <a:bodyPr wrap="square" lIns="0" tIns="0" rIns="0" bIns="0" rtlCol="0" anchor="t"/>
          <a:lstStyle/>
          <a:p>
            <a:pPr indent="0" marL="0">
              <a:buNone/>
            </a:pPr>
            <a:r>
              <a:rPr lang="id-ID" altLang="en-US" sz="2000" b="1" dirty="0">
                <a:solidFill>
                  <a:srgbClr val="1F2328"/>
                </a:solidFill>
              </a:rPr>
              <a:t>Mermaid</a:t>
            </a:r>
            <a:r>
              <a:rPr lang="id-ID" altLang="en-US" sz="2000" dirty="0">
                <a:solidFill>
                  <a:srgbClr val="1F2328"/>
                </a:solidFill>
              </a:rPr>
              <a:t> mengubah teks menjadi diagram: </a:t>
            </a:r>
            <a:r>
              <a:rPr lang="id-ID" altLang="en-US" sz="2000" dirty="0">
                <a:solidFill>
                  <a:srgbClr val="1F2328"/>
                </a:solidFill>
                <a:latin typeface="Consolas" pitchFamily="34" charset="0"/>
                <a:ea typeface="Consolas" pitchFamily="34" charset="-122"/>
                <a:cs typeface="Consolas" pitchFamily="34" charset="-120"/>
              </a:rPr>
              <a:t>$</a:t>
            </a:r>
            <a:r>
              <a:rPr lang="id-ID" altLang="en-US" sz="2000" dirty="0">
                <a:solidFill>
                  <a:srgbClr val="1F2328"/>
                </a:solidFill>
              </a:rPr>
              <a:t> untuk </a:t>
            </a:r>
            <a:r>
              <a:rPr lang="id-ID" altLang="en-US" sz="2000" i="1" dirty="0">
                <a:solidFill>
                  <a:srgbClr val="1F2328"/>
                </a:solidFill>
              </a:rPr>
              <a:t>static</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a:t>
            </a:r>
            <a:r>
              <a:rPr lang="id-ID" altLang="en-US" sz="2000" dirty="0">
                <a:solidFill>
                  <a:srgbClr val="1F2328"/>
                </a:solidFill>
              </a:rPr>
              <a:t> untuk abstrak, </a:t>
            </a:r>
            <a:r>
              <a:rPr lang="id-ID" altLang="en-US" sz="2000" dirty="0">
                <a:solidFill>
                  <a:srgbClr val="1F2328"/>
                </a:solidFill>
                <a:latin typeface="Consolas" pitchFamily="34" charset="0"/>
                <a:ea typeface="Consolas" pitchFamily="34" charset="-122"/>
                <a:cs typeface="Consolas" pitchFamily="34" charset="-120"/>
              </a:rPr>
              <a:t>List~Menu~</a:t>
            </a:r>
            <a:r>
              <a:rPr lang="id-ID" altLang="en-US" sz="2000" dirty="0">
                <a:solidFill>
                  <a:srgbClr val="1F2328"/>
                </a:solidFill>
              </a:rPr>
              <a:t> untuk tipe generik.</a:t>
            </a:r>
            <a:endParaRPr lang="id-ID" sz="2000" dirty="0"/>
          </a:p>
        </p:txBody>
      </p:sp>
      <p:sp>
        <p:nvSpPr>
          <p:cNvPr id="23" name="Shape 14"/>
          <p:cNvSpPr/>
          <p:nvPr/>
        </p:nvSpPr>
        <p:spPr>
          <a:xfrm>
            <a:off x="548640" y="5776595"/>
            <a:ext cx="294386" cy="294386"/>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3405" y="5841360"/>
            <a:ext cx="164856" cy="164856"/>
          </a:xfrm>
          <a:prstGeom prst="rect">
            <a:avLst/>
          </a:prstGeom>
        </p:spPr>
      </p:pic>
      <p:sp>
        <p:nvSpPr>
          <p:cNvPr id="25" name="Text 15"/>
          <p:cNvSpPr txBox="1"/>
          <p:nvPr/>
        </p:nvSpPr>
        <p:spPr>
          <a:xfrm>
            <a:off x="1051560" y="5768848"/>
            <a:ext cx="10591495" cy="355600"/>
          </a:xfrm>
          <a:prstGeom prst="rect">
            <a:avLst/>
          </a:prstGeom>
          <a:noFill/>
          <a:ln/>
        </p:spPr>
        <p:txBody>
          <a:bodyPr wrap="square" lIns="0" tIns="0" rIns="0" bIns="0" rtlCol="0" anchor="t"/>
          <a:lstStyle/>
          <a:p>
            <a:pPr indent="0" marL="0">
              <a:buNone/>
            </a:pPr>
            <a:r>
              <a:rPr lang="id-ID" altLang="en-US" sz="2000" b="1" i="1" dirty="0">
                <a:solidFill>
                  <a:srgbClr val="1F2328"/>
                </a:solidFill>
              </a:rPr>
              <a:t>Forward engineering</a:t>
            </a:r>
            <a:r>
              <a:rPr lang="id-ID" altLang="en-US" sz="2000" dirty="0">
                <a:solidFill>
                  <a:srgbClr val="1F2328"/>
                </a:solidFill>
              </a:rPr>
              <a:t>: kode dari diagram. </a:t>
            </a:r>
            <a:r>
              <a:rPr lang="id-ID" altLang="en-US" sz="2000" b="1" i="1" dirty="0">
                <a:solidFill>
                  <a:srgbClr val="1F2328"/>
                </a:solidFill>
              </a:rPr>
              <a:t>Reverse engineering</a:t>
            </a:r>
            <a:r>
              <a:rPr lang="id-ID" altLang="en-US" sz="2000" dirty="0">
                <a:solidFill>
                  <a:srgbClr val="1F2328"/>
                </a:solidFill>
              </a:rPr>
              <a:t>: diagram dari kode.</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19174"/>
            <a:ext cx="137160" cy="137160"/>
          </a:xfrm>
          <a:prstGeom prst="roundRect">
            <a:avLst>
              <a:gd name="adj" fmla="val 166667"/>
            </a:avLst>
          </a:prstGeom>
          <a:solidFill>
            <a:srgbClr val="FB8F44"/>
          </a:solidFill>
          <a:ln/>
        </p:spPr>
      </p:sp>
      <p:sp>
        <p:nvSpPr>
          <p:cNvPr id="6" name="Text 3"/>
          <p:cNvSpPr txBox="1"/>
          <p:nvPr/>
        </p:nvSpPr>
        <p:spPr>
          <a:xfrm>
            <a:off x="932688" y="1417320"/>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Jalankan contoh 01⁠—⁠06 dan cocokkan setiap kodenya dengan diagram di halaman praktik.</a:t>
            </a:r>
            <a:endParaRPr lang="id-ID" sz="2200" dirty="0"/>
          </a:p>
        </p:txBody>
      </p:sp>
      <p:sp>
        <p:nvSpPr>
          <p:cNvPr id="7" name="Shape 4"/>
          <p:cNvSpPr/>
          <p:nvPr/>
        </p:nvSpPr>
        <p:spPr>
          <a:xfrm>
            <a:off x="603504" y="2383790"/>
            <a:ext cx="137160" cy="137160"/>
          </a:xfrm>
          <a:prstGeom prst="roundRect">
            <a:avLst>
              <a:gd name="adj" fmla="val 166667"/>
            </a:avLst>
          </a:prstGeom>
          <a:solidFill>
            <a:srgbClr val="FB8F44"/>
          </a:solidFill>
          <a:ln/>
        </p:spPr>
      </p:sp>
      <p:sp>
        <p:nvSpPr>
          <p:cNvPr id="8" name="Text 5"/>
          <p:cNvSpPr txBox="1"/>
          <p:nvPr/>
        </p:nvSpPr>
        <p:spPr>
          <a:xfrm>
            <a:off x="932688" y="2281936"/>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Coba tulis diagrammu sendiri di Mermaid Live Editor, lalu kerjakan latihan dan kuis 10 soal.</a:t>
            </a:r>
            <a:endParaRPr lang="id-ID" sz="2200" dirty="0"/>
          </a:p>
        </p:txBody>
      </p:sp>
      <p:sp>
        <p:nvSpPr>
          <p:cNvPr id="9" name="Text 6"/>
          <p:cNvSpPr txBox="1"/>
          <p:nvPr/>
        </p:nvSpPr>
        <p:spPr>
          <a:xfrm>
            <a:off x="548640" y="3283712"/>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0" name="Shape 7"/>
          <p:cNvSpPr/>
          <p:nvPr/>
        </p:nvSpPr>
        <p:spPr>
          <a:xfrm>
            <a:off x="548640" y="3740912"/>
            <a:ext cx="3666744" cy="457200"/>
          </a:xfrm>
          <a:prstGeom prst="roundRect">
            <a:avLst>
              <a:gd name="adj" fmla="val 100000"/>
            </a:avLst>
          </a:prstGeom>
          <a:solidFill>
            <a:srgbClr val="12407F"/>
          </a:solidFill>
          <a:ln w="12700">
            <a:solidFill>
              <a:srgbClr val="2F6FB5"/>
            </a:solidFill>
            <a:prstDash val="solid"/>
          </a:ln>
        </p:spPr>
      </p:sp>
      <p:pic>
        <p:nvPicPr>
          <p:cNvPr id="11" name="Image 1" descr="preencoded.png">    </p:cNvPr>
          <p:cNvPicPr>
            <a:picLocks noChangeAspect="1"/>
          </p:cNvPicPr>
          <p:nvPr/>
        </p:nvPicPr>
        <p:blipFill>
          <a:blip r:embed="rId2"/>
          <a:stretch>
            <a:fillRect/>
          </a:stretch>
        </p:blipFill>
        <p:spPr>
          <a:xfrm>
            <a:off x="694944" y="3841496"/>
            <a:ext cx="256032" cy="256032"/>
          </a:xfrm>
          <a:prstGeom prst="rect">
            <a:avLst/>
          </a:prstGeom>
        </p:spPr>
      </p:pic>
      <p:sp>
        <p:nvSpPr>
          <p:cNvPr id="12" name="Text 8"/>
          <p:cNvSpPr txBox="1"/>
          <p:nvPr/>
        </p:nvSpPr>
        <p:spPr>
          <a:xfrm>
            <a:off x="1051560"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600" dirty="0"/>
          </a:p>
        </p:txBody>
      </p:sp>
      <p:sp>
        <p:nvSpPr>
          <p:cNvPr id="13" name="Shape 9"/>
          <p:cNvSpPr/>
          <p:nvPr/>
        </p:nvSpPr>
        <p:spPr>
          <a:xfrm>
            <a:off x="4379976" y="3740912"/>
            <a:ext cx="3666744" cy="457200"/>
          </a:xfrm>
          <a:prstGeom prst="roundRect">
            <a:avLst>
              <a:gd name="adj" fmla="val 100000"/>
            </a:avLst>
          </a:prstGeom>
          <a:solidFill>
            <a:srgbClr val="12407F"/>
          </a:solidFill>
          <a:ln w="12700">
            <a:solidFill>
              <a:srgbClr val="2F6FB5"/>
            </a:solidFill>
            <a:prstDash val="solid"/>
          </a:ln>
        </p:spPr>
      </p:sp>
      <p:pic>
        <p:nvPicPr>
          <p:cNvPr id="14" name="Image 2" descr="preencoded.png">    </p:cNvPr>
          <p:cNvPicPr>
            <a:picLocks noChangeAspect="1"/>
          </p:cNvPicPr>
          <p:nvPr/>
        </p:nvPicPr>
        <p:blipFill>
          <a:blip r:embed="rId4"/>
          <a:stretch>
            <a:fillRect/>
          </a:stretch>
        </p:blipFill>
        <p:spPr>
          <a:xfrm>
            <a:off x="4526280" y="3841496"/>
            <a:ext cx="256032" cy="256032"/>
          </a:xfrm>
          <a:prstGeom prst="rect">
            <a:avLst/>
          </a:prstGeom>
        </p:spPr>
      </p:pic>
      <p:sp>
        <p:nvSpPr>
          <p:cNvPr id="15" name="Text 10"/>
          <p:cNvSpPr txBox="1"/>
          <p:nvPr/>
        </p:nvSpPr>
        <p:spPr>
          <a:xfrm>
            <a:off x="4882896"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6" name="Shape 11"/>
          <p:cNvSpPr/>
          <p:nvPr/>
        </p:nvSpPr>
        <p:spPr>
          <a:xfrm>
            <a:off x="548640" y="4326128"/>
            <a:ext cx="3666744" cy="457200"/>
          </a:xfrm>
          <a:prstGeom prst="roundRect">
            <a:avLst>
              <a:gd name="adj" fmla="val 100000"/>
            </a:avLst>
          </a:prstGeom>
          <a:solidFill>
            <a:srgbClr val="12407F"/>
          </a:solidFill>
          <a:ln w="12700">
            <a:solidFill>
              <a:srgbClr val="2F6FB5"/>
            </a:solidFill>
            <a:prstDash val="solid"/>
          </a:ln>
        </p:spPr>
      </p:sp>
      <p:pic>
        <p:nvPicPr>
          <p:cNvPr id="17" name="Image 3" descr="preencoded.png">    </p:cNvPr>
          <p:cNvPicPr>
            <a:picLocks noChangeAspect="1"/>
          </p:cNvPicPr>
          <p:nvPr/>
        </p:nvPicPr>
        <p:blipFill>
          <a:blip r:embed="rId6"/>
          <a:stretch>
            <a:fillRect/>
          </a:stretch>
        </p:blipFill>
        <p:spPr>
          <a:xfrm>
            <a:off x="694944" y="4426712"/>
            <a:ext cx="256032" cy="256032"/>
          </a:xfrm>
          <a:prstGeom prst="rect">
            <a:avLst/>
          </a:prstGeom>
        </p:spPr>
      </p:pic>
      <p:sp>
        <p:nvSpPr>
          <p:cNvPr id="18" name="Text 12"/>
          <p:cNvSpPr txBox="1"/>
          <p:nvPr/>
        </p:nvSpPr>
        <p:spPr>
          <a:xfrm>
            <a:off x="1051560"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19" name="Shape 13"/>
          <p:cNvSpPr/>
          <p:nvPr/>
        </p:nvSpPr>
        <p:spPr>
          <a:xfrm>
            <a:off x="4379976" y="4326128"/>
            <a:ext cx="3666744" cy="457200"/>
          </a:xfrm>
          <a:prstGeom prst="roundRect">
            <a:avLst>
              <a:gd name="adj" fmla="val 100000"/>
            </a:avLst>
          </a:prstGeom>
          <a:solidFill>
            <a:srgbClr val="12407F"/>
          </a:solidFill>
          <a:ln w="12700">
            <a:solidFill>
              <a:srgbClr val="2F6FB5"/>
            </a:solidFill>
            <a:prstDash val="solid"/>
          </a:ln>
        </p:spPr>
      </p:sp>
      <p:pic>
        <p:nvPicPr>
          <p:cNvPr id="20" name="Image 4" descr="preencoded.png">    </p:cNvPr>
          <p:cNvPicPr>
            <a:picLocks noChangeAspect="1"/>
          </p:cNvPicPr>
          <p:nvPr/>
        </p:nvPicPr>
        <p:blipFill>
          <a:blip r:embed="rId8"/>
          <a:stretch>
            <a:fillRect/>
          </a:stretch>
        </p:blipFill>
        <p:spPr>
          <a:xfrm>
            <a:off x="4526280" y="4426712"/>
            <a:ext cx="256032" cy="256032"/>
          </a:xfrm>
          <a:prstGeom prst="rect">
            <a:avLst/>
          </a:prstGeom>
        </p:spPr>
      </p:pic>
      <p:sp>
        <p:nvSpPr>
          <p:cNvPr id="21" name="Text 14"/>
          <p:cNvSpPr txBox="1"/>
          <p:nvPr/>
        </p:nvSpPr>
        <p:spPr>
          <a:xfrm>
            <a:off x="4882896"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600" dirty="0"/>
          </a:p>
        </p:txBody>
      </p:sp>
      <p:sp>
        <p:nvSpPr>
          <p:cNvPr id="22" name="Shape 15"/>
          <p:cNvSpPr/>
          <p:nvPr/>
        </p:nvSpPr>
        <p:spPr>
          <a:xfrm>
            <a:off x="548640" y="4911344"/>
            <a:ext cx="3666744" cy="457200"/>
          </a:xfrm>
          <a:prstGeom prst="roundRect">
            <a:avLst>
              <a:gd name="adj" fmla="val 100000"/>
            </a:avLst>
          </a:prstGeom>
          <a:solidFill>
            <a:srgbClr val="12407F"/>
          </a:solidFill>
          <a:ln w="12700">
            <a:solidFill>
              <a:srgbClr val="2F6FB5"/>
            </a:solidFill>
            <a:prstDash val="solid"/>
          </a:ln>
        </p:spPr>
      </p:sp>
      <p:pic>
        <p:nvPicPr>
          <p:cNvPr id="23" name="Image 5" descr="preencoded.png">    </p:cNvPr>
          <p:cNvPicPr>
            <a:picLocks noChangeAspect="1"/>
          </p:cNvPicPr>
          <p:nvPr/>
        </p:nvPicPr>
        <p:blipFill>
          <a:blip r:embed="rId10"/>
          <a:stretch>
            <a:fillRect/>
          </a:stretch>
        </p:blipFill>
        <p:spPr>
          <a:xfrm>
            <a:off x="694944" y="5011928"/>
            <a:ext cx="256032" cy="256032"/>
          </a:xfrm>
          <a:prstGeom prst="rect">
            <a:avLst/>
          </a:prstGeom>
        </p:spPr>
      </p:pic>
      <p:sp>
        <p:nvSpPr>
          <p:cNvPr id="24" name="Text 16"/>
          <p:cNvSpPr txBox="1"/>
          <p:nvPr/>
        </p:nvSpPr>
        <p:spPr>
          <a:xfrm>
            <a:off x="1051560"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600" dirty="0"/>
          </a:p>
        </p:txBody>
      </p:sp>
      <p:sp>
        <p:nvSpPr>
          <p:cNvPr id="25" name="Shape 17"/>
          <p:cNvSpPr/>
          <p:nvPr/>
        </p:nvSpPr>
        <p:spPr>
          <a:xfrm>
            <a:off x="4379976" y="4911344"/>
            <a:ext cx="3666744" cy="457200"/>
          </a:xfrm>
          <a:prstGeom prst="roundRect">
            <a:avLst>
              <a:gd name="adj" fmla="val 100000"/>
            </a:avLst>
          </a:prstGeom>
          <a:solidFill>
            <a:srgbClr val="12407F"/>
          </a:solidFill>
          <a:ln w="12700">
            <a:solidFill>
              <a:srgbClr val="2F6FB5"/>
            </a:solidFill>
            <a:prstDash val="solid"/>
          </a:ln>
        </p:spPr>
      </p:sp>
      <p:pic>
        <p:nvPicPr>
          <p:cNvPr id="26" name="Image 6" descr="preencoded.png">    </p:cNvPr>
          <p:cNvPicPr>
            <a:picLocks noChangeAspect="1"/>
          </p:cNvPicPr>
          <p:nvPr/>
        </p:nvPicPr>
        <p:blipFill>
          <a:blip r:embed="rId12"/>
          <a:stretch>
            <a:fillRect/>
          </a:stretch>
        </p:blipFill>
        <p:spPr>
          <a:xfrm>
            <a:off x="4526280" y="5011928"/>
            <a:ext cx="256032" cy="256032"/>
          </a:xfrm>
          <a:prstGeom prst="rect">
            <a:avLst/>
          </a:prstGeom>
        </p:spPr>
      </p:pic>
      <p:sp>
        <p:nvSpPr>
          <p:cNvPr id="27" name="Text 18"/>
          <p:cNvSpPr txBox="1"/>
          <p:nvPr/>
        </p:nvSpPr>
        <p:spPr>
          <a:xfrm>
            <a:off x="4882896"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600" dirty="0"/>
          </a:p>
        </p:txBody>
      </p:sp>
      <p:sp>
        <p:nvSpPr>
          <p:cNvPr id="28" name="Shape 19"/>
          <p:cNvSpPr/>
          <p:nvPr/>
        </p:nvSpPr>
        <p:spPr>
          <a:xfrm>
            <a:off x="8503920" y="1280160"/>
            <a:ext cx="2880360" cy="2880360"/>
          </a:xfrm>
          <a:prstGeom prst="roundRect">
            <a:avLst>
              <a:gd name="adj" fmla="val 1411"/>
            </a:avLst>
          </a:prstGeom>
          <a:solidFill>
            <a:srgbClr val="FFFFFF"/>
          </a:solidFill>
          <a:ln/>
        </p:spPr>
      </p:sp>
      <p:pic>
        <p:nvPicPr>
          <p:cNvPr id="29" name="Image 7" descr="Kode QR menuju folder pertemuan di GitHub">    </p:cNvPr>
          <p:cNvPicPr>
            <a:picLocks noChangeAspect="1"/>
          </p:cNvPicPr>
          <p:nvPr/>
        </p:nvPicPr>
        <p:blipFill>
          <a:blip r:embed="rId14"/>
          <a:stretch>
            <a:fillRect/>
          </a:stretch>
        </p:blipFill>
        <p:spPr>
          <a:xfrm>
            <a:off x="8641080" y="1417320"/>
            <a:ext cx="2606040" cy="2606040"/>
          </a:xfrm>
          <a:prstGeom prst="rect">
            <a:avLst/>
          </a:prstGeom>
        </p:spPr>
      </p:pic>
      <p:sp>
        <p:nvSpPr>
          <p:cNvPr id="30" name="Text 20"/>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1" name="Text 21"/>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5"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github.com/antonprafanto/PBO2026/tree/master/Pertemuan-06-UML-Class-Diagram</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06: UML Class Diagram</dc:title>
  <dc:subject>Pemrograman Berorientasi Objek 2026</dc:subject>
  <dc:creator>PBO 2026 UNMUL</dc:creator>
  <cp:lastModifiedBy>PBO 2026 UNMUL</cp:lastModifiedBy>
  <cp:revision>1</cp:revision>
  <dcterms:created xsi:type="dcterms:W3CDTF">2026-10-15T02:18:33Z</dcterms:created>
  <dcterms:modified xsi:type="dcterms:W3CDTF">2026-10-15T02:18:33Z</dcterms:modified>
</cp:coreProperties>
</file>