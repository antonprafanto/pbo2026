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0ffbb3a2-1af3-1059-f92d-7631796094a2}">
          <p14:sldIdLst>
            <p14:sldId id="256"/>
            <p14:sldId id="257"/>
            <p14:sldId id="258"/>
            <p14:sldId id="259"/>
          </p14:sldIdLst>
        </p14:section>
        <p14:section name="Objek Tidak Bisa Bekerja Sendirian" id="{8611527a-f682-e324-8b8e-acb455764729}">
          <p14:sldIdLst>
            <p14:sldId id="260"/>
            <p14:sldId id="261"/>
            <p14:sldId id="262"/>
          </p14:sldIdLst>
        </p14:section>
        <p14:section name="Empat Jenis Hubungan Antarobjek" id="{5b3427a2-6d62-1be6-72e7-a48df248ce53}">
          <p14:sldIdLst>
            <p14:sldId id="263"/>
            <p14:sldId id="264"/>
            <p14:sldId id="265"/>
            <p14:sldId id="266"/>
            <p14:sldId id="267"/>
          </p14:sldIdLst>
        </p14:section>
        <p14:section name="Agregasi dan Komposisi" id="{24f1dd70-5138-23d6-f5ba-40b4f9d0fdc4}">
          <p14:sldIdLst>
            <p14:sldId id="268"/>
            <p14:sldId id="269"/>
            <p14:sldId id="270"/>
            <p14:sldId id="271"/>
          </p14:sldIdLst>
        </p14:section>
        <p14:section name="Multiplisitas, Salinan List, dan Pencarian" id="{4b151123-75d5-8327-a84b-5658d4bdda50}">
          <p14:sldIdLst>
            <p14:sldId id="272"/>
            <p14:sldId id="273"/>
            <p14:sldId id="274"/>
          </p14:sldIdLst>
        </p14:section>
        <p14:section name="Program Banyak File" id="{f5579f54-05f1-bcf0-4354-6aeb4511245d}">
          <p14:sldIdLst>
            <p14:sldId id="275"/>
            <p14:sldId id="276"/>
          </p14:sldIdLst>
        </p14:section>
        <p14:section name="Studi Kasus KedaiKita" id="{366e789d-7949-9e9b-6349-fc3ec021e816}">
          <p14:sldIdLst>
            <p14:sldId id="277"/>
            <p14:sldId id="278"/>
            <p14:sldId id="279"/>
            <p14:sldId id="280"/>
          </p14:sldIdLst>
        </p14:section>
        <p14:section name="Cek Pemahaman" id="{88e4555f-ec9d-4918-307e-a573dfa56aff}">
          <p14:sldIdLst>
            <p14:sldId id="281"/>
            <p14:sldId id="282"/>
            <p14:sldId id="283"/>
            <p14:sldId id="284"/>
            <p14:sldId id="285"/>
          </p14:sldIdLst>
        </p14:section>
        <p14:section name="Penutup" id="{1e848324-0470-d490-5cf1-15514460e867}">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datang di Pertemuan 05. Sampai Pertemuan 04, setiap objek KedaiKita hidup sendiri-sendiri: menu tidak tahu siapa yang memesannya, dan pelanggan tidak punya pesanan. Hari ini kita belajar menghubungkan objek: kapan sebuah objek cukup memakai objek lain, kapan ia mengenal, dan kapan ia memiliki. Kita juga mulai memecah program menjadi beberapa </a:t>
            </a:r>
            <a:r>
              <a:rPr lang="id-ID" dirty="0" i="1"/>
              <a:t>file</a:t>
            </a:r>
            <a:r>
              <a:rPr lang="id-ID" dirty="0"/>
              <a:t>, seperti program sungguhan. Semua materi, kode, latihan, dan kuis pertemuan ini ada di folder Pertemuan-05-Relasi-Antarkelas di repositori GitHub mata kuliah.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enam kemampuan yang kita kejar hari ini. Inti pertemuan ini ada di butir kedua: empat jenis hubungan antarobjek, dari yang paling longgar sampai yang paling erat. Setiap jenis hubungan punya wujud yang berbeda di dalam kode, dan itulah yang kita latih di butir keempat. Urutan belajarnya sama seperti biasa: konsep di </a:t>
            </a:r>
            <a:r>
              <a:rPr lang="id-ID" dirty="0" i="1"/>
              <a:t>slide</a:t>
            </a:r>
            <a:r>
              <a:rPr lang="id-ID" dirty="0"/>
              <a:t> ini, lalu praktik di halaman Python atau Java, kemudian halaman Jembatan Python ↔ Java, latihan, dan kuis. Di akhir pertemuan, cek lagi setiap butir dengan kata-katamu sendiri.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Mari ingat lagi Pertemuan 04. Kelas </a:t>
            </a:r>
            <a:r>
              <a:rPr lang="en-US" dirty="0">
                <a:latin typeface="Consolas"/>
              </a:rPr>
              <a:t>Menu</a:t>
            </a:r>
            <a:r>
              <a:rPr lang="id-ID" dirty="0"/>
              <a:t> dan </a:t>
            </a:r>
            <a:r>
              <a:rPr lang="en-US" dirty="0">
                <a:latin typeface="Consolas"/>
              </a:rPr>
              <a:t>Pelanggan</a:t>
            </a:r>
            <a:r>
              <a:rPr lang="id-ID" dirty="0"/>
              <a:t> sudah rapi: datanya tersembunyi dan hanya diubah lewat pintu resmi, misalnya </a:t>
            </a:r>
            <a:r>
              <a:rPr lang="en-US" dirty="0">
                <a:latin typeface="Consolas"/>
              </a:rPr>
              <a:t>kurangi_stok()</a:t>
            </a:r>
            <a:r>
              <a:rPr lang="id-ID" dirty="0"/>
              <a:t>. Data yang tidak masuk akal ditolak di </a:t>
            </a:r>
            <a:r>
              <a:rPr lang="id-ID" dirty="0" i="1"/>
              <a:t>setter</a:t>
            </a:r>
            <a:r>
              <a:rPr lang="id-ID" dirty="0"/>
              <a:t> maupun di konstruktor. Kita juga belajar prinsip </a:t>
            </a:r>
            <a:r>
              <a:rPr lang="id-ID" dirty="0" i="1"/>
              <a:t>tell, don't ask</a:t>
            </a:r>
            <a:r>
              <a:rPr lang="id-ID" dirty="0"/>
              <a:t>. Satu lagi dari Pertemuan 03 yang sangat penting hari ini: variabel hanya menyimpan referensi ke objek, dan objek bisa dikirim ke </a:t>
            </a:r>
            <a:r>
              <a:rPr lang="id-ID" dirty="0" i="1"/>
              <a:t>method</a:t>
            </a:r>
            <a:r>
              <a:rPr lang="id-ID" dirty="0"/>
              <a:t> lain sebagai parameter. Referensi inilah tali yang akan kita pakai untuk menghubungkan objek satu dengan objek lainnya.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kita hari ini. Kita mulai dari pertanyaan sederhana yang belum bisa dijawab KedaiKita: Budi memesan apa? Lalu kita berkenalan dengan empat jenis hubungan antarobjek beserta kodenya di Python dan Java. Setelah itu kita belajar menghitung berapa banyak objek yang terhubung, menjaga isi </a:t>
            </a:r>
            <a:r>
              <a:rPr lang="id-ID" dirty="0" i="1"/>
              <a:t>list</a:t>
            </a:r>
            <a:r>
              <a:rPr lang="id-ID" dirty="0"/>
              <a:t>, dan memecah program menjadi beberapa </a:t>
            </a:r>
            <a:r>
              <a:rPr lang="id-ID" dirty="0" i="1"/>
              <a:t>file</a:t>
            </a:r>
            <a:r>
              <a:rPr lang="id-ID" dirty="0"/>
              <a:t>. Di akhir, KedaiKita akhirnya bisa mencatat siapa memesan apa.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Kita mulai dari masalah nyata di KedaiKita versi Pertemuan 04. Kelas-kelasnya sudah rapi dan aman, tetapi ada satu pertanyaan sederhana yang belum bisa dijawab programnya.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Coba jawab pertanyaan ini: Budi memesan apa? Program Pertemuan 04 tidak bisa menjawabnya. Objek Budi dan objek kopi hidup terpisah, seperti dua orang asing yang kebetulan berada di kafe yang sama. Di kafe sungguhan, semua pihak saling terhubung: pesanan milik seorang pelanggan, pesanan berisi beberapa baris, setiap baris merujuk sebuah menu, dan kafe mencatat semua pesanan hari itu. Satu kelas tidak mungkin mengerjakan semuanya. Program yang baik terdiri atas banyak kelas kecil yang bekerja sama. Cara objek A mendapatkan dan menyimpan referensi ke B itulah yang membedakan jenis-jenis relasi.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Perhatikan apa yang terjadi saat Ayu menarik uang di ATM. Mesin ATM tidak menyimpan saldo siapa pun; ia hanya mengurus uang tunai di dalam mesin. Kartu ATM tahu PIN-nya dan tahu rekening mana yang menjadi miliknya. Rekening menjaga saldonya sendiri. Setiap objek hanya mengerjakan bagiannya, lalu meneruskan pesan ke objek yang ia kenal. Inilah wujud nyata </a:t>
            </a:r>
            <a:r>
              <a:rPr lang="id-ID" dirty="0" i="1"/>
              <a:t>tell, don't ask</a:t>
            </a:r>
            <a:r>
              <a:rPr lang="id-ID" dirty="0"/>
              <a:t>: mesin tidak membaca saldo lalu menguranginya sendiri, tetapi menyuruh kartu, lalu kartu menyuruh rekening. Kode lengkapnya adalah contoh 07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Hubungan di sekitar kita punya tingkat kedekatan yang berbeda. Ada yang hanya bertemu sebentar, ada yang saling kenal lama, ada yang tergabung dalam satu kelompok, dan ada yang tidak terpisahkan. Hubungan antarobjek juga begitu.</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empat jenis hubungan yang akan kita pelajari satu per satu. Dependensi berarti memakai sebentar, seperti mahasiswa yang memesan ojek. Asosiasi berarti mengenal dalam waktu lama, seperti mahasiswa dan dosen walinya. Agregasi dan komposisi sama-sama hubungan punya. Bedanya, pemain futsal tetap ada walaupun timnya bubar, sedangkan kamar ikut hilang jika rumahnya dirobohkan. Kolom paling kanan menunjukkan bahwa keempatnya muncul di KedaiKita hari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Dalam diagram kelas (</a:t>
            </a:r>
            <a:r>
              <a:rPr lang="id-ID" dirty="0" i="1"/>
              <a:t>class diagram</a:t>
            </a:r>
            <a:r>
              <a:rPr lang="id-ID" dirty="0"/>
              <a:t>), yaitu gambar kotak-kotak kelas beserta garis hubungannya, setiap jenis relasi digambar dengan garis yang berbeda. Garis putus-putus berpanah berarti dependensi. Garis utuh berpanah berarti asosiasi, dan panahnya menunjuk objek yang dikenal. Belah ketupat kosong di sisi pemilik berarti agregasi, sedangkan belah ketupat penuh berarti komposisi. Hari ini cukup kenali bentuk garisnya. Aturan lengkap menggambar diagram kelas, termasuk simbol-simbol lainnya, kita pelajari di Pertemuan 06.</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dependensi: objek A membutuhkan objek B hanya selama sebuah </a:t>
            </a:r>
            <a:r>
              <a:rPr lang="id-ID" dirty="0" i="1"/>
              <a:t>method</a:t>
            </a:r>
            <a:r>
              <a:rPr lang="id-ID" dirty="0"/>
              <a:t> berjalan. Di kode, cirinya ada dua: B datang sebagai parameter atau dibuat sebagai variabel lokal, dan B tidak disimpan sebagai atribut A. Di contoh 01 halaman praktik, </a:t>
            </a:r>
            <a:r>
              <a:rPr lang="en-US" dirty="0">
                <a:latin typeface="Consolas"/>
              </a:rPr>
              <a:t>ayu.pesan_ojek(ojek_rudi, ...)</a:t>
            </a:r>
            <a:r>
              <a:rPr lang="id-ID" dirty="0"/>
              <a:t> memakai ojek Pak Rudi untuk perjalanan pertama, lalu perjalanan kedua memakai ojek Bang Dedi. Setelah </a:t>
            </a:r>
            <a:r>
              <a:rPr lang="id-ID" dirty="0" i="1"/>
              <a:t>method</a:t>
            </a:r>
            <a:r>
              <a:rPr lang="id-ID" dirty="0"/>
              <a:t> selesai, penumpang tidak lagi memegang ojek mana pun. Kenapa disebut ketergantungan? Karena A bergantung pada B: jika </a:t>
            </a:r>
            <a:r>
              <a:rPr lang="id-ID" dirty="0" i="1"/>
              <a:t>method</a:t>
            </a:r>
            <a:r>
              <a:rPr lang="id-ID" dirty="0"/>
              <a:t> </a:t>
            </a:r>
            <a:r>
              <a:rPr lang="en-US" dirty="0">
                <a:latin typeface="Consolas"/>
              </a:rPr>
              <a:t>antar()</a:t>
            </a:r>
            <a:r>
              <a:rPr lang="id-ID" dirty="0"/>
              <a:t> milik ojek diganti nama, kode penumpang juga harus diubah.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Setiap mahasiswa punya dosen wali. Hubungan ini bertahan lama, tetapi keduanya tetap pribadi yang berdiri sendiri. Inilah asosiasi: objek A menyimpan referensi ke objek B sebagai atribut sehingga bisa mengirim pesan kapan saja. Atribut dosen wali awalnya </a:t>
            </a:r>
            <a:r>
              <a:rPr lang="en-US" dirty="0">
                <a:latin typeface="Consolas"/>
              </a:rPr>
              <a:t>None</a:t>
            </a:r>
            <a:r>
              <a:rPr lang="id-ID" dirty="0"/>
              <a:t> di Python atau </a:t>
            </a:r>
            <a:r>
              <a:rPr lang="en-US" dirty="0">
                <a:latin typeface="Consolas"/>
              </a:rPr>
              <a:t>null</a:t>
            </a:r>
            <a:r>
              <a:rPr lang="id-ID" dirty="0"/>
              <a:t> di Java, artinya mahasiswa baru boleh belum punya dosen wali. Karena yang disimpan referensi, Ayu dan Bima mengenal objek dosen yang sama. Saat Bu Rina pindah ke ruang D-105, keduanya langsung melihat ruangan baru. Hubungan ini satu arah: mahasiswa tahu dosennya, tetapi dosen tidak menyimpan daftar mahasiswa. Mulailah dari satu arah, dan tambahkan arah kedua hanya jika memang dibutuhkan.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Agregasi dan komposisi adalah hubungan keseluruhan dan bagian. Yang satu longgar, yang lain erat. Perbedaannya terlihat jelas dari siapa yang membuat objek bagian.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Tim futsal punya pemain, tetapi para pemain sudah ada sebelum tim dibentuk. Inilah agregasi: hubungan keseluruhan dan bagian yang longgar. Di kode, objek keseluruhan menyimpan </a:t>
            </a:r>
            <a:r>
              <a:rPr lang="id-ID" dirty="0" i="1"/>
              <a:t>list</a:t>
            </a:r>
            <a:r>
              <a:rPr lang="id-ID" dirty="0"/>
              <a:t> berisi objek bagian yang dibuat di luar, lalu diserahkan lewat parameter. Objek </a:t>
            </a:r>
            <a:r>
              <a:rPr lang="en-US" dirty="0">
                <a:latin typeface="Consolas"/>
              </a:rPr>
              <a:t>bayu</a:t>
            </a:r>
            <a:r>
              <a:rPr lang="id-ID" dirty="0"/>
              <a:t> yang sama tersimpan di dua </a:t>
            </a:r>
            <a:r>
              <a:rPr lang="id-ID" dirty="0" i="1"/>
              <a:t>list</a:t>
            </a:r>
            <a:r>
              <a:rPr lang="id-ID" dirty="0"/>
              <a:t> sekaligus, dan itu wajar. Jika tim kelas dibubarkan, para pemain tetap ada. Di Java, kita mulai memakai </a:t>
            </a:r>
            <a:r>
              <a:rPr lang="en-US" dirty="0">
                <a:latin typeface="Consolas"/>
              </a:rPr>
              <a:t>ArrayList</a:t>
            </a:r>
            <a:r>
              <a:rPr lang="id-ID" dirty="0"/>
              <a:t>, yaitu </a:t>
            </a:r>
            <a:r>
              <a:rPr lang="id-ID" dirty="0" i="1"/>
              <a:t>list</a:t>
            </a:r>
            <a:r>
              <a:rPr lang="id-ID" dirty="0"/>
              <a:t> yang ukurannya bisa bertambah, tidak seperti </a:t>
            </a:r>
            <a:r>
              <a:rPr lang="id-ID" dirty="0" i="1"/>
              <a:t>array</a:t>
            </a:r>
            <a:r>
              <a:rPr lang="id-ID" dirty="0"/>
              <a:t> biasa. Tulis </a:t>
            </a:r>
            <a:r>
              <a:rPr lang="en-US" dirty="0">
                <a:latin typeface="Consolas"/>
              </a:rPr>
              <a:t>import java.util.ArrayList;</a:t>
            </a:r>
            <a:r>
              <a:rPr lang="id-ID" dirty="0"/>
              <a:t> dan </a:t>
            </a:r>
            <a:r>
              <a:rPr lang="en-US" dirty="0">
                <a:latin typeface="Consolas"/>
              </a:rPr>
              <a:t>import java.util.List;</a:t>
            </a:r>
            <a:r>
              <a:rPr lang="id-ID" dirty="0"/>
              <a:t> di bagian atas </a:t>
            </a:r>
            <a:r>
              <a:rPr lang="id-ID" dirty="0" i="1"/>
              <a:t>file</a:t>
            </a:r>
            <a:r>
              <a:rPr lang="id-ID" dirty="0"/>
              <a:t>. </a:t>
            </a:r>
            <a:r>
              <a:rPr lang="en-US" dirty="0">
                <a:latin typeface="Consolas"/>
              </a:rPr>
              <a:t>List&lt;Pemain&gt;</a:t>
            </a:r>
            <a:r>
              <a:rPr lang="id-ID" dirty="0"/>
              <a:t> dibaca </a:t>
            </a:r>
            <a:r>
              <a:rPr lang="id-ID" dirty="0" i="1"/>
              <a:t>list</a:t>
            </a:r>
            <a:r>
              <a:rPr lang="id-ID" dirty="0"/>
              <a:t> berisi Pemain; pembahasan lengkap koleksi ada di Pertemuan 12.</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Rumah punya ruang tamu, kamar tidur, dan dapur. Kamar tidak bisa dipindahkan ke rumah lain, dan jika rumah dirobohkan, kamar-kamarnya ikut hilang. Inilah komposisi: bagian dibuat dan dimiliki penuh oleh keseluruhannya, tidak dibagi dengan pemilik lain, dan siklus hidupnya ikut pemiliknya. Objek </a:t>
            </a:r>
            <a:r>
              <a:rPr lang="en-US" dirty="0">
                <a:latin typeface="Consolas"/>
              </a:rPr>
              <a:t>Ruangan</a:t>
            </a:r>
            <a:r>
              <a:rPr lang="id-ID" dirty="0"/>
              <a:t> dibuat di dalam </a:t>
            </a:r>
            <a:r>
              <a:rPr lang="id-ID" dirty="0" i="1"/>
              <a:t>method</a:t>
            </a:r>
            <a:r>
              <a:rPr lang="id-ID" dirty="0"/>
              <a:t> </a:t>
            </a:r>
            <a:r>
              <a:rPr lang="en-US" dirty="0">
                <a:latin typeface="Consolas"/>
              </a:rPr>
              <a:t>bangun_ruangan(nama, panjang, lebar)</a:t>
            </a:r>
            <a:r>
              <a:rPr lang="id-ID" dirty="0"/>
              <a:t> milik rumah; baris kepala </a:t>
            </a:r>
            <a:r>
              <a:rPr lang="id-ID" dirty="0" i="1"/>
              <a:t>method</a:t>
            </a:r>
            <a:r>
              <a:rPr lang="id-ID" dirty="0"/>
              <a:t> itu dilompati di </a:t>
            </a:r>
            <a:r>
              <a:rPr lang="id-ID" dirty="0" i="1"/>
              <a:t>slide</a:t>
            </a:r>
            <a:r>
              <a:rPr lang="id-ID" dirty="0"/>
              <a:t> ini karena terlalu panjang. Perhatikan pemanggilannya: kode luar hanya mengirim data, dan tidak ada satu baris pun di program utama yang membuat </a:t>
            </a:r>
            <a:r>
              <a:rPr lang="en-US" dirty="0">
                <a:latin typeface="Consolas"/>
              </a:rPr>
              <a:t>Ruangan</a:t>
            </a:r>
            <a:r>
              <a:rPr lang="id-ID" dirty="0"/>
              <a:t>. Bandingkan dengan </a:t>
            </a:r>
            <a:r>
              <a:rPr lang="en-US" dirty="0">
                <a:latin typeface="Consolas"/>
              </a:rPr>
              <a:t>tim.rekrut(pemain)</a:t>
            </a:r>
            <a:r>
              <a:rPr lang="id-ID" dirty="0"/>
              <a:t> yang menerima objek jadi.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Agregasi dan komposisi sama-sama hubungan punya. Untuk membedakannya, ajukan tiga pertanyaan ini. Jika masih ragu, pikirkan siklus hidup: kalau pemiliknya hilang, apakah objek bagian ini masih masuk akal untuk ada? Jika ya, agregasi. Jika tidak, komposisi. Ingat juga bahwa garis batas asosiasi, agregasi, dan komposisi kadang memang samar, dan para perancang perangkat lunak pun bisa berbeda pendapat untuk kasus tertentu. Yang terpenting, alasanmu jelas dan kodenya konsisten dengan alasan itu.</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Selain jenis hubungan, kita perlu tahu berapa banyak objek yang terlibat. Kita juga belajar dua kebiasaan penting saat sebuah objek menyimpan banyak objek lain.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Multiplisitas adalah keterangan berapa banyak objek di satu sisi hubungan yang boleh terhubung dengan satu objek di sisi lainnya. Notasi lain mengikuti pola yang sama, misalnya </a:t>
            </a:r>
            <a:r>
              <a:rPr lang="en-US" dirty="0">
                <a:latin typeface="Consolas"/>
              </a:rPr>
              <a:t>2..4</a:t>
            </a:r>
            <a:r>
              <a:rPr lang="id-ID" dirty="0"/>
              <a:t> berarti dua sampai empat. Di diagram, multiplisitas ditulis di kedua ujung garis: satu pesanan terhubung dengan satu pelanggan, sedangkan satu pelanggan boleh punya banyak pesanan. Multiplisitas bukan sekadar hiasan diagram; kode kita harus benar-benar menjaganya. Contoh 05 di halaman praktik menunjukkan kelas </a:t>
            </a:r>
            <a:r>
              <a:rPr lang="en-US" dirty="0">
                <a:latin typeface="Consolas"/>
              </a:rPr>
              <a:t>GrupBelajar</a:t>
            </a:r>
            <a:r>
              <a:rPr lang="id-ID" dirty="0"/>
              <a:t> yang menolak grup tanpa ketua dan langsung memasukkan ketua sebagai anggota pertama. Itu penerapan enkapsulasi dari Pertemuan 04.</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Dua kebiasaan ini dibahas di bagian 10 halaman konsep. Di kiri, bayangkan garasi berkapasitas dua motor. Aturannya dijaga </a:t>
            </a:r>
            <a:r>
              <a:rPr lang="id-ID" dirty="0" i="1"/>
              <a:t>method</a:t>
            </a:r>
            <a:r>
              <a:rPr lang="id-ID" dirty="0"/>
              <a:t> </a:t>
            </a:r>
            <a:r>
              <a:rPr lang="en-US" dirty="0">
                <a:latin typeface="Consolas"/>
              </a:rPr>
              <a:t>parkir()</a:t>
            </a:r>
            <a:r>
              <a:rPr lang="id-ID" dirty="0"/>
              <a:t>, tetapi </a:t>
            </a:r>
            <a:r>
              <a:rPr lang="id-ID" dirty="0" i="1"/>
              <a:t>getter</a:t>
            </a:r>
            <a:r>
              <a:rPr lang="id-ID" dirty="0"/>
              <a:t>-nya menyerahkan </a:t>
            </a:r>
            <a:r>
              <a:rPr lang="id-ID" dirty="0" i="1"/>
              <a:t>list</a:t>
            </a:r>
            <a:r>
              <a:rPr lang="id-ID" dirty="0"/>
              <a:t> asli. Pihak luar bisa menyelinapkan motor ketiga langsung ke </a:t>
            </a:r>
            <a:r>
              <a:rPr lang="id-ID" dirty="0" i="1"/>
              <a:t>list</a:t>
            </a:r>
            <a:r>
              <a:rPr lang="id-ID" dirty="0"/>
              <a:t> itu, dan garasi berisi tiga motor. Pintu depan dijaga ketat, tetapi kunci gudangnya diserahkan begitu saja. Solusinya, </a:t>
            </a:r>
            <a:r>
              <a:rPr lang="id-ID" dirty="0" i="1"/>
              <a:t>getter</a:t>
            </a:r>
            <a:r>
              <a:rPr lang="id-ID" dirty="0"/>
              <a:t> mengembalikan salinan. Di kanan, </a:t>
            </a:r>
            <a:r>
              <a:rPr lang="id-ID" dirty="0" i="1"/>
              <a:t>method</a:t>
            </a:r>
            <a:r>
              <a:rPr lang="id-ID" dirty="0"/>
              <a:t> pencarian tetap harus mengembalikan sesuatu walaupun kodenya tidak ada, yaitu </a:t>
            </a:r>
            <a:r>
              <a:rPr lang="en-US" dirty="0">
                <a:latin typeface="Consolas"/>
              </a:rPr>
              <a:t>None</a:t>
            </a:r>
            <a:r>
              <a:rPr lang="id-ID" dirty="0"/>
              <a:t> atau </a:t>
            </a:r>
            <a:r>
              <a:rPr lang="en-US" dirty="0">
                <a:latin typeface="Consolas"/>
              </a:rPr>
              <a:t>null</a:t>
            </a:r>
            <a:r>
              <a:rPr lang="id-ID" dirty="0"/>
              <a:t>. </a:t>
            </a:r>
            <a:r>
              <a:rPr lang="id-ID" dirty="0" i="1"/>
              <a:t>Error</a:t>
            </a:r>
            <a:r>
              <a:rPr lang="id-ID" dirty="0"/>
              <a:t> baru muncul jika pemanggil memakai hasil itu tanpa memeriksanya. Contohnya ada di contoh 05 dan 06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KedaiKita sudah terlalu besar untuk satu </a:t>
            </a:r>
            <a:r>
              <a:rPr lang="id-ID" dirty="0" i="1"/>
              <a:t>file</a:t>
            </a:r>
            <a:r>
              <a:rPr lang="id-ID" dirty="0"/>
              <a:t>. Mulai hari ini, program kita dipecah menjadi beberapa </a:t>
            </a:r>
            <a:r>
              <a:rPr lang="id-ID" dirty="0" i="1"/>
              <a:t>file</a:t>
            </a:r>
            <a:r>
              <a:rPr lang="id-ID" dirty="0"/>
              <a:t>, seperti program sungguhan.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KedaiKita kini punya lima kelas inti, ditambah pembantu format Rupiah dan program utama. Jika semuanya ditulis dalam satu </a:t>
            </a:r>
            <a:r>
              <a:rPr lang="id-ID" dirty="0" i="1"/>
              <a:t>file</a:t>
            </a:r>
            <a:r>
              <a:rPr lang="id-ID" dirty="0"/>
              <a:t>, panjangnya ratusan baris, seperti buku masak tebal tanpa daftar isi. Pemrogram memecahnya menjadi beberapa </a:t>
            </a:r>
            <a:r>
              <a:rPr lang="id-ID" dirty="0" i="1"/>
              <a:t>file</a:t>
            </a:r>
            <a:r>
              <a:rPr lang="id-ID" dirty="0"/>
              <a:t>, mirip dapur kafe yang punya stasiun minuman, stasiun gorengan, dan meja kasir. Hasilnya mudah dicari, mudah dikerjakan bersama, dan mudah dipakai ulang. Program tetap punya satu pintu masuk: </a:t>
            </a:r>
            <a:r>
              <a:rPr lang="en-US" dirty="0">
                <a:latin typeface="Consolas"/>
              </a:rPr>
              <a:t>main.py</a:t>
            </a:r>
            <a:r>
              <a:rPr lang="id-ID" dirty="0"/>
              <a:t> di Python dan kelas </a:t>
            </a:r>
            <a:r>
              <a:rPr lang="en-US" dirty="0">
                <a:latin typeface="Consolas"/>
              </a:rPr>
              <a:t>Main</a:t>
            </a:r>
            <a:r>
              <a:rPr lang="id-ID" dirty="0"/>
              <a:t> di Java. </a:t>
            </a:r>
            <a:r>
              <a:rPr lang="id-ID" dirty="0" i="1"/>
              <a:t>File</a:t>
            </a:r>
            <a:r>
              <a:rPr lang="id-ID" dirty="0"/>
              <a:t> lain hanya berisi kelas. Perintah di terminal mencari </a:t>
            </a:r>
            <a:r>
              <a:rPr lang="id-ID" dirty="0" i="1"/>
              <a:t>file</a:t>
            </a:r>
            <a:r>
              <a:rPr lang="id-ID" dirty="0"/>
              <a:t> di folder aktif, jadi masuklah dulu ke folder </a:t>
            </a:r>
            <a:r>
              <a:rPr lang="en-US" dirty="0">
                <a:latin typeface="Consolas"/>
              </a:rPr>
              <a:t>studi-kasus</a:t>
            </a:r>
            <a:r>
              <a:rPr lang="id-ID" dirty="0"/>
              <a:t>. Langkah lengkapnya, termasuk tombol di VS Code, ada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Saatnya menerapkan semua relasi tadi ke KedaiKita. Hari ini program kita mendapat tiga kelas baru dan dipecah menjadi beberapa </a:t>
            </a:r>
            <a:r>
              <a:rPr lang="id-ID" dirty="0" i="1"/>
              <a:t>file</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tiga kelas baru di KedaiKita. </a:t>
            </a:r>
            <a:r>
              <a:rPr lang="en-US" dirty="0">
                <a:latin typeface="Consolas"/>
              </a:rPr>
              <a:t>ItemPesanan</a:t>
            </a:r>
            <a:r>
              <a:rPr lang="id-ID" dirty="0"/>
              <a:t> mewakili satu baris struk, misalnya dua Kopi Susu Gula Aren. </a:t>
            </a:r>
            <a:r>
              <a:rPr lang="en-US" dirty="0">
                <a:latin typeface="Consolas"/>
              </a:rPr>
              <a:t>Pesanan</a:t>
            </a:r>
            <a:r>
              <a:rPr lang="id-ID" dirty="0"/>
              <a:t> dimiliki seorang pelanggan, diberi nomor otomatis P001, P002, dan seterusnya, lalu berisi beberapa item dan bisa menghitung totalnya. </a:t>
            </a:r>
            <a:r>
              <a:rPr lang="en-US" dirty="0">
                <a:latin typeface="Consolas"/>
              </a:rPr>
              <a:t>Kedai</a:t>
            </a:r>
            <a:r>
              <a:rPr lang="id-ID" dirty="0"/>
              <a:t> menjadi pusat yang menyimpan daftar menu dan mencatat pesanan. Ada satu perubahan penting di kelas </a:t>
            </a:r>
            <a:r>
              <a:rPr lang="en-US" dirty="0">
                <a:latin typeface="Consolas"/>
              </a:rPr>
              <a:t>Menu</a:t>
            </a:r>
            <a:r>
              <a:rPr lang="id-ID" dirty="0"/>
              <a:t>: penghitung jumlah menu dihapus. Sekarang objek </a:t>
            </a:r>
            <a:r>
              <a:rPr lang="en-US" dirty="0">
                <a:latin typeface="Consolas"/>
              </a:rPr>
              <a:t>Kedai</a:t>
            </a:r>
            <a:r>
              <a:rPr lang="id-ID" dirty="0"/>
              <a:t> yang memegang daftar menu, jadi jumlahnya cukup dihitung dari daftar itu. Tugas menghitung pindah ke objek yang memang memegang datanya. Susunan </a:t>
            </a:r>
            <a:r>
              <a:rPr lang="id-ID" dirty="0" i="1"/>
              <a:t>file</a:t>
            </a:r>
            <a:r>
              <a:rPr lang="id-ID" dirty="0"/>
              <a:t>-nya pun berubah: enam </a:t>
            </a:r>
            <a:r>
              <a:rPr lang="id-ID" dirty="0" i="1"/>
              <a:t>file</a:t>
            </a:r>
            <a:r>
              <a:rPr lang="id-ID" dirty="0"/>
              <a:t> di Python dan tujuh </a:t>
            </a:r>
            <a:r>
              <a:rPr lang="id-ID" dirty="0" i="1"/>
              <a:t>file</a:t>
            </a:r>
            <a:r>
              <a:rPr lang="id-ID" dirty="0"/>
              <a:t> di Java.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Mari baca alasan setiap garis. </a:t>
            </a:r>
            <a:r>
              <a:rPr lang="en-US" dirty="0">
                <a:latin typeface="Consolas"/>
              </a:rPr>
              <a:t>Kedai</a:t>
            </a:r>
            <a:r>
              <a:rPr lang="id-ID" dirty="0"/>
              <a:t> dan </a:t>
            </a:r>
            <a:r>
              <a:rPr lang="en-US" dirty="0">
                <a:latin typeface="Consolas"/>
              </a:rPr>
              <a:t>Menu</a:t>
            </a:r>
            <a:r>
              <a:rPr lang="id-ID" dirty="0"/>
              <a:t> adalah agregasi karena menu dibuat di luar lalu didaftarkan, dan menu tetap ada walau tidak terdaftar di kedai. </a:t>
            </a:r>
            <a:r>
              <a:rPr lang="en-US" dirty="0">
                <a:latin typeface="Consolas"/>
              </a:rPr>
              <a:t>Pesanan</a:t>
            </a:r>
            <a:r>
              <a:rPr lang="id-ID" dirty="0"/>
              <a:t> dan </a:t>
            </a:r>
            <a:r>
              <a:rPr lang="en-US" dirty="0">
                <a:latin typeface="Consolas"/>
              </a:rPr>
              <a:t>ItemPesanan</a:t>
            </a:r>
            <a:r>
              <a:rPr lang="id-ID" dirty="0"/>
              <a:t> adalah komposisi karena item dibuat oleh pesanan dan tidak bermakna tanpa pesanannya. Pesanan mengenal pelanggan pemiliknya, dan item menunjuk menu yang dipesan: keduanya asosiasi. </a:t>
            </a:r>
            <a:r>
              <a:rPr lang="en-US" dirty="0">
                <a:latin typeface="Consolas"/>
              </a:rPr>
              <a:t>Kedai</a:t>
            </a:r>
            <a:r>
              <a:rPr lang="id-ID" dirty="0"/>
              <a:t> memang membuat objek </a:t>
            </a:r>
            <a:r>
              <a:rPr lang="en-US" dirty="0">
                <a:latin typeface="Consolas"/>
              </a:rPr>
              <a:t>Pesanan</a:t>
            </a:r>
            <a:r>
              <a:rPr lang="id-ID" dirty="0"/>
              <a:t>, tetapi pesanan itu langsung diserahkan ke kasir untuk diisi, jadi kedai sekadar mencatatnya: asosiasi. Terakhir, pelanggan hanya lewat sebagai parameter </a:t>
            </a:r>
            <a:r>
              <a:rPr lang="en-US" dirty="0">
                <a:latin typeface="Consolas"/>
              </a:rPr>
              <a:t>buat_pesanan(pelanggan)</a:t>
            </a:r>
            <a:r>
              <a:rPr lang="id-ID" dirty="0"/>
              <a:t>, jadi dependensi. Di Java, nama </a:t>
            </a:r>
            <a:r>
              <a:rPr lang="id-ID" dirty="0" i="1"/>
              <a:t>method</a:t>
            </a:r>
            <a:r>
              <a:rPr lang="id-ID" dirty="0"/>
              <a:t>-nya memakai </a:t>
            </a:r>
            <a:r>
              <a:rPr lang="id-ID" dirty="0" i="1"/>
              <a:t>camelCase</a:t>
            </a:r>
            <a:r>
              <a:rPr lang="id-ID" dirty="0"/>
              <a:t>, misalnya </a:t>
            </a:r>
            <a:r>
              <a:rPr lang="en-US" dirty="0">
                <a:latin typeface="Consolas"/>
              </a:rPr>
              <a:t>buatPesanan()</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inti studi kasus hari ini. </a:t>
            </a:r>
            <a:r>
              <a:rPr lang="id-ID" dirty="0" i="1"/>
              <a:t>Method</a:t>
            </a:r>
            <a:r>
              <a:rPr lang="id-ID" dirty="0"/>
              <a:t> </a:t>
            </a:r>
            <a:r>
              <a:rPr lang="en-US" dirty="0">
                <a:latin typeface="Consolas"/>
              </a:rPr>
              <a:t>tambah_item()</a:t>
            </a:r>
            <a:r>
              <a:rPr lang="id-ID" dirty="0"/>
              <a:t> menerima menu dan jumlah, lalu membuat objek </a:t>
            </a:r>
            <a:r>
              <a:rPr lang="en-US" dirty="0">
                <a:latin typeface="Consolas"/>
              </a:rPr>
              <a:t>ItemPesanan</a:t>
            </a:r>
            <a:r>
              <a:rPr lang="id-ID" dirty="0"/>
              <a:t> sendiri: itulah komposisi. Urutannya penting. Item dibuat dulu sehingga jumlahnya divalidasi, lalu stok dikurangi, baru item dimasukkan ke </a:t>
            </a:r>
            <a:r>
              <a:rPr lang="id-ID" dirty="0" i="1"/>
              <a:t>list</a:t>
            </a:r>
            <a:r>
              <a:rPr lang="id-ID" dirty="0"/>
              <a:t>. Jika stok tidak cukup, </a:t>
            </a:r>
            <a:r>
              <a:rPr lang="en-US" dirty="0">
                <a:latin typeface="Consolas"/>
              </a:rPr>
              <a:t>kurangi_stok()</a:t>
            </a:r>
            <a:r>
              <a:rPr lang="id-ID" dirty="0"/>
              <a:t> melempar </a:t>
            </a:r>
            <a:r>
              <a:rPr lang="id-ID" dirty="0" i="1"/>
              <a:t>exception</a:t>
            </a:r>
            <a:r>
              <a:rPr lang="id-ID" dirty="0"/>
              <a:t>, dan baris </a:t>
            </a:r>
            <a:r>
              <a:rPr lang="en-US" dirty="0">
                <a:latin typeface="Consolas"/>
              </a:rPr>
              <a:t>append</a:t>
            </a:r>
            <a:r>
              <a:rPr lang="id-ID" dirty="0"/>
              <a:t> tidak pernah dijalankan. Itu sebabnya pesanan 20 Mie Goreng Jawa milik Siti ditolak dan tidak masuk struk. </a:t>
            </a:r>
            <a:r>
              <a:rPr lang="en-US" dirty="0">
                <a:latin typeface="Consolas"/>
              </a:rPr>
              <a:t>hitung_total()</a:t>
            </a:r>
            <a:r>
              <a:rPr lang="id-ID" dirty="0"/>
              <a:t> bertanya ke setiap item, dan setiap item bertanya ke menunya. Karena item dan daftar menu kedai menunjuk objek </a:t>
            </a:r>
            <a:r>
              <a:rPr lang="en-US" dirty="0">
                <a:latin typeface="Consolas"/>
              </a:rPr>
              <a:t>Menu</a:t>
            </a:r>
            <a:r>
              <a:rPr lang="id-ID" dirty="0"/>
              <a:t> yang sama, stok kopi di daftar menu ikut turun dari 20 menjadi 18.</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Tiga anggapan keliru ini paling sering muncul saat pertama kali belajar relasi antarkelas. Ajak kelas menebak dulu mengapa anggapan di kiri salah. Contoh untuk butir ketiga ada di KedaiKita: </a:t>
            </a:r>
            <a:r>
              <a:rPr lang="en-US" dirty="0">
                <a:latin typeface="Consolas"/>
              </a:rPr>
              <a:t>ItemPesanan</a:t>
            </a:r>
            <a:r>
              <a:rPr lang="id-ID" dirty="0"/>
              <a:t> mengenal </a:t>
            </a:r>
            <a:r>
              <a:rPr lang="en-US" dirty="0">
                <a:latin typeface="Consolas"/>
              </a:rPr>
              <a:t>Menu</a:t>
            </a:r>
            <a:r>
              <a:rPr lang="id-ID" dirty="0"/>
              <a:t>-nya, tetapi </a:t>
            </a:r>
            <a:r>
              <a:rPr lang="en-US" dirty="0">
                <a:latin typeface="Consolas"/>
              </a:rPr>
              <a:t>Menu</a:t>
            </a:r>
            <a:r>
              <a:rPr lang="id-ID" dirty="0"/>
              <a:t> tidak tahu sedang dipesan di item mana saja, dan itu sudah cukup. Empat miskonsepsi lainnya, termasuk soal salinan </a:t>
            </a:r>
            <a:r>
              <a:rPr lang="id-ID" dirty="0" i="1"/>
              <a:t>list</a:t>
            </a:r>
            <a:r>
              <a:rPr lang="id-ID" dirty="0"/>
              <a:t>, pencarian yang gagal, dan program banyak </a:t>
            </a:r>
            <a:r>
              <a:rPr lang="id-ID" dirty="0" i="1"/>
              <a:t>file</a:t>
            </a:r>
            <a:r>
              <a:rPr lang="id-ID" dirty="0"/>
              <a:t>, ada di bagian 13 halaman konsep.</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Beri waktu sekitar 30 detik untuk berpikir, lalu minta mahasiswa mengangkat tangan sesuai pilihannya. Petunjuknya: cari pasangan yang bagiannya dibuat oleh keseluruhan, hanya milik satu keseluruhan, dan tidak bermakna tanpanya. Jawaban dan pembahasannya ada di </a:t>
            </a:r>
            <a:r>
              <a:rPr lang="id-ID" dirty="0" i="1"/>
              <a:t>slide</a:t>
            </a:r>
            <a:r>
              <a:rPr lang="id-ID" dirty="0"/>
              <a:t> berikutnya. Kuis lengkap berisi 10 soal ada di </a:t>
            </a:r>
            <a:r>
              <a:rPr lang="id-ID" dirty="0" i="1"/>
              <a:t>file</a:t>
            </a:r>
            <a:r>
              <a:rPr lang="id-ID" dirty="0"/>
              <a:t> kuis.md pada folder pertemuan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D. Baris item seperti "2 x Kopi Susu Gula Aren" dibuat oleh pesanannya, hanya milik satu pesanan, dan tidak bermakna tanpanya: komposisi. Pemain (A) dan lagu (B) bisa hidup sendiri sehingga termasuk agregasi. Mahasiswa dan dosen wali (C) saling mengenal tanpa hubungan keseluruhan dan bagian, jadi asosiasi.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Soal ini menguji cara membaca multiplisitas. Ingatkan kelas: ambil satu objek di satu sisi, lalu lihat angka di ujung seberang. Angka </a:t>
            </a:r>
            <a:r>
              <a:rPr lang="en-US" dirty="0">
                <a:latin typeface="Consolas"/>
              </a:rPr>
              <a:t>0..1</a:t>
            </a:r>
            <a:r>
              <a:rPr lang="id-ID" dirty="0"/>
              <a:t> ditulis di ujung </a:t>
            </a:r>
            <a:r>
              <a:rPr lang="en-US" dirty="0">
                <a:latin typeface="Consolas"/>
              </a:rPr>
              <a:t>DosenWali</a:t>
            </a:r>
            <a:r>
              <a:rPr lang="id-ID" dirty="0"/>
              <a:t>, jadi dibaca dari sudut pandang satu mahasiswa. Jawabannya ada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A. </a:t>
            </a:r>
            <a:r>
              <a:rPr lang="en-US" dirty="0">
                <a:latin typeface="Consolas"/>
              </a:rPr>
              <a:t>0..1</a:t>
            </a:r>
            <a:r>
              <a:rPr lang="id-ID" dirty="0"/>
              <a:t> berarti nol atau satu, dibaca dari sudut pandang </a:t>
            </a:r>
            <a:r>
              <a:rPr lang="id-ID" dirty="0" b="1"/>
              <a:t>satu</a:t>
            </a:r>
            <a:r>
              <a:rPr lang="id-ID" dirty="0"/>
              <a:t> mahasiswa karena ditulis di ujung </a:t>
            </a:r>
            <a:r>
              <a:rPr lang="en-US" dirty="0">
                <a:latin typeface="Consolas"/>
              </a:rPr>
              <a:t>DosenWali</a:t>
            </a:r>
            <a:r>
              <a:rPr lang="id-ID" dirty="0"/>
              <a:t>. Di kode, wujudnya atribut yang awalnya </a:t>
            </a:r>
            <a:r>
              <a:rPr lang="en-US" dirty="0">
                <a:latin typeface="Consolas"/>
              </a:rPr>
              <a:t>None</a:t>
            </a:r>
            <a:r>
              <a:rPr lang="id-ID" dirty="0"/>
              <a:t>/</a:t>
            </a:r>
            <a:r>
              <a:rPr lang="en-US" dirty="0">
                <a:latin typeface="Consolas"/>
              </a:rPr>
              <a:t>null</a:t>
            </a:r>
            <a:r>
              <a:rPr lang="id-ID" dirty="0"/>
              <a:t>. B adalah arti </a:t>
            </a:r>
            <a:r>
              <a:rPr lang="en-US" dirty="0">
                <a:latin typeface="Consolas"/>
              </a:rPr>
              <a:t>1</a:t>
            </a:r>
            <a:r>
              <a:rPr lang="id-ID" dirty="0"/>
              <a:t>, C adalah arti </a:t>
            </a:r>
            <a:r>
              <a:rPr lang="en-US" dirty="0">
                <a:latin typeface="Consolas"/>
              </a:rPr>
              <a:t>*</a:t>
            </a:r>
            <a:r>
              <a:rPr lang="id-ID" dirty="0"/>
              <a:t>, dan D membicarakan sudut pandang dosen, yang ditentukan angka di ujung </a:t>
            </a:r>
            <a:r>
              <a:rPr lang="en-US" dirty="0">
                <a:latin typeface="Consolas"/>
              </a:rPr>
              <a:t>Mahasiswa</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tujuh hal yang perlu kamu bawa pulang hari ini. Kalau ada yang masih terasa samar, baca lagi bagian yang sesuai di halaman konsep, lalu jalankan contohnya di halaman praktik. Pertemuan berikutnya kita belajar menggambar semua hubungan ini dengan notasi standar, yaitu diagram kelas UML, lengkap dengan visibilitas, tipe, dan multiplisitasnya.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pertemuan ini ada di folder Pertemuan-05-Relasi-Antarkelas di GitHub. Untuk program banyak </a:t>
            </a:r>
            <a:r>
              <a:rPr lang="id-ID" dirty="0" i="1"/>
              <a:t>file</a:t>
            </a:r>
            <a:r>
              <a:rPr lang="id-ID" dirty="0"/>
              <a:t>, salin seluruh folder </a:t>
            </a:r>
            <a:r>
              <a:rPr lang="en-US" dirty="0">
                <a:latin typeface="Consolas"/>
              </a:rPr>
              <a:t>studi-kasus</a:t>
            </a:r>
            <a:r>
              <a:rPr lang="id-ID" dirty="0"/>
              <a:t> ke folder PBO-latihan-saya/pertemuan-05 sebelum mencoba mengubahnya, karena </a:t>
            </a:r>
            <a:r>
              <a:rPr lang="id-ID" dirty="0" i="1"/>
              <a:t>file-file</a:t>
            </a:r>
            <a:r>
              <a:rPr lang="id-ID" dirty="0"/>
              <a:t> di dalamnya saling membutuhkan. Pertemuan berikutnya kita belajar menggambar semua hubungan ini dengan diagram kelas UML. Sampai jumpa di Pertemuan 06.</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05 · Relasi Antarkelas</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05 · Relasi Antarkelas</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05 · Relasi Antarkelas</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11-1.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11-1.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image" Target="../media/image-26-3.png"/><Relationship Id="rId6" Type="http://schemas.openxmlformats.org/officeDocument/2006/relationships/image" Target="../media/image-26-3.png"/><Relationship Id="rId7" Type="http://schemas.openxmlformats.org/officeDocument/2006/relationships/image" Target="../media/image-26-3.png"/><Relationship Id="rId8" Type="http://schemas.openxmlformats.org/officeDocument/2006/relationships/image" Target="../media/image-26-3.png"/><Relationship Id="rId9" Type="http://schemas.openxmlformats.org/officeDocument/2006/relationships/slideLayout" Target="../slideLayouts/slideLayout4.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antonprafanto/PBO2026/blob/master/Pertemuan-05-Relasi-Antarkelas/README.md" TargetMode="External"/><Relationship Id="rId5" Type="http://schemas.openxmlformats.org/officeDocument/2006/relationships/hyperlink" Target="https://github.com/antonprafanto/PBO2026/blob/master/Pertemuan-05-Relasi-Antarkelas/python/README.md" TargetMode="External"/><Relationship Id="rId7" Type="http://schemas.openxmlformats.org/officeDocument/2006/relationships/hyperlink" Target="https://github.com/antonprafanto/PBO2026/blob/master/Pertemuan-05-Relasi-Antarkelas/java/README.md" TargetMode="External"/><Relationship Id="rId9" Type="http://schemas.openxmlformats.org/officeDocument/2006/relationships/hyperlink" Target="https://github.com/antonprafanto/PBO2026/blob/master/Pertemuan-05-Relasi-Antarkelas/jembatan-python-java.md" TargetMode="External"/><Relationship Id="rId11" Type="http://schemas.openxmlformats.org/officeDocument/2006/relationships/hyperlink" Target="https://github.com/antonprafanto/PBO2026/blob/master/Pertemuan-05-Relasi-Antarkelas/latihan.md" TargetMode="External"/><Relationship Id="rId13" Type="http://schemas.openxmlformats.org/officeDocument/2006/relationships/hyperlink" Target="https://github.com/antonprafanto/PBO2026/blob/master/Pertemuan-05-Relasi-Antarkelas/kuis.md" TargetMode="External"/><Relationship Id="rId15" Type="http://schemas.openxmlformats.org/officeDocument/2006/relationships/hyperlink" Target="https://github.com/antonprafanto/PBO2026/tree/master/Pertemuan-05-Relasi-Antarkelas" TargetMode="External"/><Relationship Id="rId1" Type="http://schemas.openxmlformats.org/officeDocument/2006/relationships/image" Target="../media/image-32-1.png"/><Relationship Id="rId2" Type="http://schemas.openxmlformats.org/officeDocument/2006/relationships/image" Target="../media/image-32-2.png"/><Relationship Id="rId4" Type="http://schemas.openxmlformats.org/officeDocument/2006/relationships/image" Target="../media/image-32-3.png"/><Relationship Id="rId6" Type="http://schemas.openxmlformats.org/officeDocument/2006/relationships/image" Target="../media/image-32-3.png"/><Relationship Id="rId8" Type="http://schemas.openxmlformats.org/officeDocument/2006/relationships/image" Target="../media/image-32-5.png"/><Relationship Id="rId10" Type="http://schemas.openxmlformats.org/officeDocument/2006/relationships/image" Target="../media/image-32-6.png"/><Relationship Id="rId12" Type="http://schemas.openxmlformats.org/officeDocument/2006/relationships/image" Target="../media/image-32-7.png"/><Relationship Id="rId14" Type="http://schemas.openxmlformats.org/officeDocument/2006/relationships/image" Target="../media/image-32-8.png"/><Relationship Id="rId16" Type="http://schemas.openxmlformats.org/officeDocument/2006/relationships/slideLayout" Target="../slideLayouts/slideLayout5.xml"/><Relationship Id="rId17"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800" b="1" dirty="0">
                <a:solidFill>
                  <a:srgbClr val="FFFFFF"/>
                </a:solidFill>
              </a:rPr>
              <a:t>Relasi Antarkelas</a:t>
            </a:r>
            <a:endParaRPr lang="id-ID" sz="4800" dirty="0"/>
          </a:p>
        </p:txBody>
      </p:sp>
      <p:sp>
        <p:nvSpPr>
          <p:cNvPr id="4" name="Text 2"/>
          <p:cNvSpPr txBox="1"/>
          <p:nvPr/>
        </p:nvSpPr>
        <p:spPr>
          <a:xfrm>
            <a:off x="731520" y="266395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Memakai, mengenal, atau memiliki: cara objek bekerja sama, dan program mulai terdiri atas banyak </a:t>
            </a:r>
            <a:r>
              <a:rPr lang="id-ID" altLang="en-US" sz="2200" i="1" dirty="0">
                <a:solidFill>
                  <a:srgbClr val="C9D7E8"/>
                </a:solidFill>
              </a:rPr>
              <a:t>file</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05</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886968"/>
          </a:xfrm>
          <a:prstGeom prst="roundRect">
            <a:avLst>
              <a:gd name="adj" fmla="val 12754"/>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612648"/>
          </a:xfrm>
          <a:prstGeom prst="rect">
            <a:avLst/>
          </a:prstGeom>
          <a:noFill/>
          <a:ln/>
        </p:spPr>
        <p:txBody>
          <a:bodyPr wrap="square" lIns="0" tIns="0" rIns="0" bIns="0" rtlCol="0" anchor="t"/>
          <a:lstStyle/>
          <a:p>
            <a:pPr indent="0" marL="0">
              <a:buNone/>
            </a:pPr>
            <a:r>
              <a:rPr lang="id-ID" altLang="en-US" sz="1800" dirty="0">
                <a:solidFill>
                  <a:srgbClr val="1F2328"/>
                </a:solidFill>
              </a:rPr>
              <a:t>Menjelaskan mengapa objek perlu saling berhubungan dan saling </a:t>
            </a:r>
            <a:r>
              <a:rPr lang="id-ID" altLang="en-US" sz="1800" b="1" dirty="0">
                <a:solidFill>
                  <a:srgbClr val="1F2328"/>
                </a:solidFill>
              </a:rPr>
              <a:t>mengirim pesan</a:t>
            </a:r>
            <a:r>
              <a:rPr lang="id-ID" altLang="en-US" sz="1800" dirty="0">
                <a:solidFill>
                  <a:srgbClr val="1F2328"/>
                </a:solidFill>
              </a:rPr>
              <a:t>.</a:t>
            </a:r>
            <a:endParaRPr lang="id-ID" sz="1800" dirty="0"/>
          </a:p>
        </p:txBody>
      </p:sp>
      <p:sp>
        <p:nvSpPr>
          <p:cNvPr id="10" name="Shape 7"/>
          <p:cNvSpPr/>
          <p:nvPr/>
        </p:nvSpPr>
        <p:spPr>
          <a:xfrm>
            <a:off x="6210148" y="1920240"/>
            <a:ext cx="5432908" cy="886968"/>
          </a:xfrm>
          <a:prstGeom prst="roundRect">
            <a:avLst>
              <a:gd name="adj" fmla="val 12754"/>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612648"/>
          </a:xfrm>
          <a:prstGeom prst="rect">
            <a:avLst/>
          </a:prstGeom>
          <a:noFill/>
          <a:ln/>
        </p:spPr>
        <p:txBody>
          <a:bodyPr wrap="square" lIns="0" tIns="0" rIns="0" bIns="0" rtlCol="0" anchor="t"/>
          <a:lstStyle/>
          <a:p>
            <a:pPr indent="0" marL="0">
              <a:buNone/>
            </a:pPr>
            <a:r>
              <a:rPr lang="id-ID" altLang="en-US" sz="1800" dirty="0">
                <a:solidFill>
                  <a:srgbClr val="1F2328"/>
                </a:solidFill>
              </a:rPr>
              <a:t>Membedakan </a:t>
            </a:r>
            <a:r>
              <a:rPr lang="id-ID" altLang="en-US" sz="1800" b="1" dirty="0">
                <a:solidFill>
                  <a:srgbClr val="1F2328"/>
                </a:solidFill>
              </a:rPr>
              <a:t>dependensi</a:t>
            </a:r>
            <a:r>
              <a:rPr lang="id-ID" altLang="en-US" sz="1800" dirty="0">
                <a:solidFill>
                  <a:srgbClr val="1F2328"/>
                </a:solidFill>
              </a:rPr>
              <a:t>, </a:t>
            </a:r>
            <a:r>
              <a:rPr lang="id-ID" altLang="en-US" sz="1800" b="1" dirty="0">
                <a:solidFill>
                  <a:srgbClr val="1F2328"/>
                </a:solidFill>
              </a:rPr>
              <a:t>asosiasi</a:t>
            </a:r>
            <a:r>
              <a:rPr lang="id-ID" altLang="en-US" sz="1800" dirty="0">
                <a:solidFill>
                  <a:srgbClr val="1F2328"/>
                </a:solidFill>
              </a:rPr>
              <a:t>, </a:t>
            </a:r>
            <a:r>
              <a:rPr lang="id-ID" altLang="en-US" sz="1800" b="1" dirty="0">
                <a:solidFill>
                  <a:srgbClr val="1F2328"/>
                </a:solidFill>
              </a:rPr>
              <a:t>agregasi</a:t>
            </a:r>
            <a:r>
              <a:rPr lang="id-ID" altLang="en-US" sz="1800" dirty="0">
                <a:solidFill>
                  <a:srgbClr val="1F2328"/>
                </a:solidFill>
              </a:rPr>
              <a:t>, dan </a:t>
            </a:r>
            <a:r>
              <a:rPr lang="id-ID" altLang="en-US" sz="1800" b="1" dirty="0">
                <a:solidFill>
                  <a:srgbClr val="1F2328"/>
                </a:solidFill>
              </a:rPr>
              <a:t>komposisi</a:t>
            </a:r>
            <a:r>
              <a:rPr lang="id-ID" altLang="en-US" sz="1800" dirty="0">
                <a:solidFill>
                  <a:srgbClr val="1F2328"/>
                </a:solidFill>
              </a:rPr>
              <a:t> dengan analogi sehari-⁠hari.</a:t>
            </a:r>
            <a:endParaRPr lang="id-ID" sz="1800" dirty="0"/>
          </a:p>
        </p:txBody>
      </p:sp>
      <p:sp>
        <p:nvSpPr>
          <p:cNvPr id="14" name="Shape 11"/>
          <p:cNvSpPr/>
          <p:nvPr/>
        </p:nvSpPr>
        <p:spPr>
          <a:xfrm>
            <a:off x="548640" y="2990088"/>
            <a:ext cx="5432908" cy="1444752"/>
          </a:xfrm>
          <a:prstGeom prst="roundRect">
            <a:avLst>
              <a:gd name="adj" fmla="val 4807"/>
            </a:avLst>
          </a:prstGeom>
          <a:solidFill>
            <a:srgbClr val="F6F8FA"/>
          </a:solidFill>
          <a:ln w="9525">
            <a:solidFill>
              <a:srgbClr val="D0D7DE"/>
            </a:solidFill>
            <a:prstDash val="solid"/>
          </a:ln>
        </p:spPr>
      </p:sp>
      <p:sp>
        <p:nvSpPr>
          <p:cNvPr id="15" name="Shape 12"/>
          <p:cNvSpPr/>
          <p:nvPr/>
        </p:nvSpPr>
        <p:spPr>
          <a:xfrm>
            <a:off x="777240" y="3154680"/>
            <a:ext cx="457200" cy="457200"/>
          </a:xfrm>
          <a:prstGeom prst="ellipse">
            <a:avLst/>
          </a:prstGeom>
          <a:solidFill>
            <a:srgbClr val="0969DA"/>
          </a:solidFill>
          <a:ln/>
        </p:spPr>
      </p:sp>
      <p:sp>
        <p:nvSpPr>
          <p:cNvPr id="16" name="Text 13"/>
          <p:cNvSpPr txBox="1"/>
          <p:nvPr/>
        </p:nvSpPr>
        <p:spPr>
          <a:xfrm>
            <a:off x="777240" y="315468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154680"/>
            <a:ext cx="4381348" cy="1170432"/>
          </a:xfrm>
          <a:prstGeom prst="rect">
            <a:avLst/>
          </a:prstGeom>
          <a:noFill/>
          <a:ln/>
        </p:spPr>
        <p:txBody>
          <a:bodyPr wrap="square" lIns="0" tIns="0" rIns="0" bIns="0" rtlCol="0" anchor="t"/>
          <a:lstStyle/>
          <a:p>
            <a:pPr indent="0" marL="0">
              <a:buNone/>
            </a:pPr>
            <a:r>
              <a:rPr lang="id-ID" altLang="en-US" sz="1800" dirty="0">
                <a:solidFill>
                  <a:srgbClr val="1F2328"/>
                </a:solidFill>
              </a:rPr>
              <a:t>Membaca dan menentukan </a:t>
            </a:r>
            <a:r>
              <a:rPr lang="id-ID" altLang="en-US" sz="1800" b="1" dirty="0">
                <a:solidFill>
                  <a:srgbClr val="1F2328"/>
                </a:solidFill>
              </a:rPr>
              <a:t>multiplisitas</a:t>
            </a:r>
            <a:r>
              <a:rPr lang="id-ID" altLang="en-US" sz="1800" dirty="0">
                <a:solidFill>
                  <a:srgbClr val="1F2328"/>
                </a:solidFill>
              </a:rPr>
              <a:t> sebuah hubungan: </a:t>
            </a:r>
            <a:r>
              <a:rPr lang="id-ID" altLang="en-US" sz="1800" dirty="0">
                <a:solidFill>
                  <a:srgbClr val="1F2328"/>
                </a:solidFill>
                <a:latin typeface="Consolas" pitchFamily="34" charset="0"/>
                <a:ea typeface="Consolas" pitchFamily="34" charset="-122"/>
                <a:cs typeface="Consolas" pitchFamily="34" charset="-120"/>
              </a:rPr>
              <a:t>1</a:t>
            </a:r>
            <a:r>
              <a:rPr lang="id-ID" altLang="en-US" sz="1800" dirty="0">
                <a:solidFill>
                  <a:srgbClr val="1F2328"/>
                </a:solidFill>
              </a:rPr>
              <a:t>, </a:t>
            </a:r>
            <a:r>
              <a:rPr lang="id-ID" altLang="en-US" sz="1800" dirty="0">
                <a:solidFill>
                  <a:srgbClr val="1F2328"/>
                </a:solidFill>
                <a:latin typeface="Consolas" pitchFamily="34" charset="0"/>
                <a:ea typeface="Consolas" pitchFamily="34" charset="-122"/>
                <a:cs typeface="Consolas" pitchFamily="34" charset="-120"/>
              </a:rPr>
              <a:t>0..1</a:t>
            </a:r>
            <a:r>
              <a:rPr lang="id-ID" altLang="en-US" sz="1800" dirty="0">
                <a:solidFill>
                  <a:srgbClr val="1F2328"/>
                </a:solidFill>
              </a:rPr>
              <a:t>, </a:t>
            </a:r>
            <a:r>
              <a:rPr lang="id-ID" altLang="en-US" sz="1800" dirty="0">
                <a:solidFill>
                  <a:srgbClr val="1F2328"/>
                </a:solidFill>
                <a:latin typeface="Consolas" pitchFamily="34" charset="0"/>
                <a:ea typeface="Consolas" pitchFamily="34" charset="-122"/>
                <a:cs typeface="Consolas" pitchFamily="34" charset="-120"/>
              </a:rPr>
              <a:t>*</a:t>
            </a:r>
            <a:r>
              <a:rPr lang="id-ID" altLang="en-US" sz="1800" dirty="0">
                <a:solidFill>
                  <a:srgbClr val="1F2328"/>
                </a:solidFill>
              </a:rPr>
              <a:t>, dan </a:t>
            </a:r>
            <a:r>
              <a:rPr lang="id-ID" altLang="en-US" sz="1800" dirty="0">
                <a:solidFill>
                  <a:srgbClr val="1F2328"/>
                </a:solidFill>
                <a:latin typeface="Consolas" pitchFamily="34" charset="0"/>
                <a:ea typeface="Consolas" pitchFamily="34" charset="-122"/>
                <a:cs typeface="Consolas" pitchFamily="34" charset="-120"/>
              </a:rPr>
              <a:t>1..*</a:t>
            </a:r>
            <a:r>
              <a:rPr lang="id-ID" altLang="en-US" sz="1800" dirty="0">
                <a:solidFill>
                  <a:srgbClr val="1F2328"/>
                </a:solidFill>
              </a:rPr>
              <a:t>.</a:t>
            </a:r>
            <a:endParaRPr lang="id-ID" sz="1800" dirty="0"/>
          </a:p>
        </p:txBody>
      </p:sp>
      <p:sp>
        <p:nvSpPr>
          <p:cNvPr id="18" name="Shape 15"/>
          <p:cNvSpPr/>
          <p:nvPr/>
        </p:nvSpPr>
        <p:spPr>
          <a:xfrm>
            <a:off x="6210148" y="2990088"/>
            <a:ext cx="5432908" cy="1444752"/>
          </a:xfrm>
          <a:prstGeom prst="roundRect">
            <a:avLst>
              <a:gd name="adj" fmla="val 4807"/>
            </a:avLst>
          </a:prstGeom>
          <a:solidFill>
            <a:srgbClr val="F6F8FA"/>
          </a:solidFill>
          <a:ln w="9525">
            <a:solidFill>
              <a:srgbClr val="D0D7DE"/>
            </a:solidFill>
            <a:prstDash val="solid"/>
          </a:ln>
        </p:spPr>
      </p:sp>
      <p:sp>
        <p:nvSpPr>
          <p:cNvPr id="19" name="Shape 16"/>
          <p:cNvSpPr/>
          <p:nvPr/>
        </p:nvSpPr>
        <p:spPr>
          <a:xfrm>
            <a:off x="6438748" y="3154680"/>
            <a:ext cx="457200" cy="457200"/>
          </a:xfrm>
          <a:prstGeom prst="ellipse">
            <a:avLst/>
          </a:prstGeom>
          <a:solidFill>
            <a:srgbClr val="0969DA"/>
          </a:solidFill>
          <a:ln/>
        </p:spPr>
      </p:sp>
      <p:sp>
        <p:nvSpPr>
          <p:cNvPr id="20" name="Text 17"/>
          <p:cNvSpPr txBox="1"/>
          <p:nvPr/>
        </p:nvSpPr>
        <p:spPr>
          <a:xfrm>
            <a:off x="6438748" y="315468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154680"/>
            <a:ext cx="4381348" cy="1170432"/>
          </a:xfrm>
          <a:prstGeom prst="rect">
            <a:avLst/>
          </a:prstGeom>
          <a:noFill/>
          <a:ln/>
        </p:spPr>
        <p:txBody>
          <a:bodyPr wrap="square" lIns="0" tIns="0" rIns="0" bIns="0" rtlCol="0" anchor="t"/>
          <a:lstStyle/>
          <a:p>
            <a:pPr indent="0" marL="0">
              <a:buNone/>
            </a:pPr>
            <a:r>
              <a:rPr lang="id-ID" altLang="en-US" sz="1800" dirty="0">
                <a:solidFill>
                  <a:srgbClr val="1F2328"/>
                </a:solidFill>
              </a:rPr>
              <a:t>Menerjemahkan setiap jenis hubungan ke dalam kode: parameter, atribut berisi objek, </a:t>
            </a:r>
            <a:r>
              <a:rPr lang="id-ID" altLang="en-US" sz="1800" i="1" dirty="0">
                <a:solidFill>
                  <a:srgbClr val="1F2328"/>
                </a:solidFill>
              </a:rPr>
              <a:t>list</a:t>
            </a:r>
            <a:r>
              <a:rPr lang="id-ID" altLang="en-US" sz="1800" dirty="0">
                <a:solidFill>
                  <a:srgbClr val="1F2328"/>
                </a:solidFill>
              </a:rPr>
              <a:t> berisi objek, dan objek yang dibuat di dalam objek lain.</a:t>
            </a:r>
            <a:endParaRPr lang="id-ID" sz="1800" dirty="0"/>
          </a:p>
        </p:txBody>
      </p:sp>
      <p:sp>
        <p:nvSpPr>
          <p:cNvPr id="22" name="Shape 19"/>
          <p:cNvSpPr/>
          <p:nvPr/>
        </p:nvSpPr>
        <p:spPr>
          <a:xfrm>
            <a:off x="548640" y="4617720"/>
            <a:ext cx="5432908" cy="1165860"/>
          </a:xfrm>
          <a:prstGeom prst="roundRect">
            <a:avLst>
              <a:gd name="adj" fmla="val 7382"/>
            </a:avLst>
          </a:prstGeom>
          <a:solidFill>
            <a:srgbClr val="F6F8FA"/>
          </a:solidFill>
          <a:ln w="9525">
            <a:solidFill>
              <a:srgbClr val="D0D7DE"/>
            </a:solidFill>
            <a:prstDash val="solid"/>
          </a:ln>
        </p:spPr>
      </p:sp>
      <p:sp>
        <p:nvSpPr>
          <p:cNvPr id="23" name="Shape 20"/>
          <p:cNvSpPr/>
          <p:nvPr/>
        </p:nvSpPr>
        <p:spPr>
          <a:xfrm>
            <a:off x="777240" y="4782312"/>
            <a:ext cx="457200" cy="457200"/>
          </a:xfrm>
          <a:prstGeom prst="ellipse">
            <a:avLst/>
          </a:prstGeom>
          <a:solidFill>
            <a:srgbClr val="0969DA"/>
          </a:solidFill>
          <a:ln/>
        </p:spPr>
      </p:sp>
      <p:sp>
        <p:nvSpPr>
          <p:cNvPr id="24" name="Text 21"/>
          <p:cNvSpPr txBox="1"/>
          <p:nvPr/>
        </p:nvSpPr>
        <p:spPr>
          <a:xfrm>
            <a:off x="777240" y="478231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782312"/>
            <a:ext cx="4381348" cy="891540"/>
          </a:xfrm>
          <a:prstGeom prst="rect">
            <a:avLst/>
          </a:prstGeom>
          <a:noFill/>
          <a:ln/>
        </p:spPr>
        <p:txBody>
          <a:bodyPr wrap="square" lIns="0" tIns="0" rIns="0" bIns="0" rtlCol="0" anchor="t"/>
          <a:lstStyle/>
          <a:p>
            <a:pPr indent="0" marL="0">
              <a:buNone/>
            </a:pPr>
            <a:r>
              <a:rPr lang="id-ID" altLang="en-US" sz="1800" dirty="0">
                <a:solidFill>
                  <a:srgbClr val="1F2328"/>
                </a:solidFill>
              </a:rPr>
              <a:t>Melindungi </a:t>
            </a:r>
            <a:r>
              <a:rPr lang="id-ID" altLang="en-US" sz="1800" i="1" dirty="0">
                <a:solidFill>
                  <a:srgbClr val="1F2328"/>
                </a:solidFill>
              </a:rPr>
              <a:t>list</a:t>
            </a:r>
            <a:r>
              <a:rPr lang="id-ID" altLang="en-US" sz="1800" dirty="0">
                <a:solidFill>
                  <a:srgbClr val="1F2328"/>
                </a:solidFill>
              </a:rPr>
              <a:t> di dalam objek dengan mengembalikan </a:t>
            </a:r>
            <a:r>
              <a:rPr lang="id-ID" altLang="en-US" sz="1800" b="1" dirty="0">
                <a:solidFill>
                  <a:srgbClr val="1F2328"/>
                </a:solidFill>
              </a:rPr>
              <a:t>salinan</a:t>
            </a:r>
            <a:r>
              <a:rPr lang="id-ID" altLang="en-US" sz="1800" dirty="0">
                <a:solidFill>
                  <a:srgbClr val="1F2328"/>
                </a:solidFill>
              </a:rPr>
              <a:t>, serta menangani pencarian yang tidak menemukan apa-⁠apa.</a:t>
            </a:r>
            <a:endParaRPr lang="id-ID" sz="1800" dirty="0"/>
          </a:p>
        </p:txBody>
      </p:sp>
      <p:sp>
        <p:nvSpPr>
          <p:cNvPr id="26" name="Shape 23"/>
          <p:cNvSpPr/>
          <p:nvPr/>
        </p:nvSpPr>
        <p:spPr>
          <a:xfrm>
            <a:off x="6210148" y="4617720"/>
            <a:ext cx="5432908" cy="1165860"/>
          </a:xfrm>
          <a:prstGeom prst="roundRect">
            <a:avLst>
              <a:gd name="adj" fmla="val 7382"/>
            </a:avLst>
          </a:prstGeom>
          <a:solidFill>
            <a:srgbClr val="F6F8FA"/>
          </a:solidFill>
          <a:ln w="9525">
            <a:solidFill>
              <a:srgbClr val="D0D7DE"/>
            </a:solidFill>
            <a:prstDash val="solid"/>
          </a:ln>
        </p:spPr>
      </p:sp>
      <p:sp>
        <p:nvSpPr>
          <p:cNvPr id="27" name="Shape 24"/>
          <p:cNvSpPr/>
          <p:nvPr/>
        </p:nvSpPr>
        <p:spPr>
          <a:xfrm>
            <a:off x="6438748" y="4782312"/>
            <a:ext cx="457200" cy="457200"/>
          </a:xfrm>
          <a:prstGeom prst="ellipse">
            <a:avLst/>
          </a:prstGeom>
          <a:solidFill>
            <a:srgbClr val="0969DA"/>
          </a:solidFill>
          <a:ln/>
        </p:spPr>
      </p:sp>
      <p:sp>
        <p:nvSpPr>
          <p:cNvPr id="28" name="Text 25"/>
          <p:cNvSpPr txBox="1"/>
          <p:nvPr/>
        </p:nvSpPr>
        <p:spPr>
          <a:xfrm>
            <a:off x="6438748" y="478231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6</a:t>
            </a:r>
            <a:endParaRPr lang="id-ID" sz="1800" dirty="0"/>
          </a:p>
        </p:txBody>
      </p:sp>
      <p:sp>
        <p:nvSpPr>
          <p:cNvPr id="29" name="Text 26"/>
          <p:cNvSpPr txBox="1"/>
          <p:nvPr/>
        </p:nvSpPr>
        <p:spPr>
          <a:xfrm>
            <a:off x="7078828" y="4782312"/>
            <a:ext cx="4381348" cy="891540"/>
          </a:xfrm>
          <a:prstGeom prst="rect">
            <a:avLst/>
          </a:prstGeom>
          <a:noFill/>
          <a:ln/>
        </p:spPr>
        <p:txBody>
          <a:bodyPr wrap="square" lIns="0" tIns="0" rIns="0" bIns="0" rtlCol="0" anchor="t"/>
          <a:lstStyle/>
          <a:p>
            <a:pPr indent="0" marL="0">
              <a:buNone/>
            </a:pPr>
            <a:r>
              <a:rPr lang="id-ID" altLang="en-US" sz="1800" dirty="0">
                <a:solidFill>
                  <a:srgbClr val="1F2328"/>
                </a:solidFill>
              </a:rPr>
              <a:t>Menyusun program menjadi beberapa </a:t>
            </a:r>
            <a:r>
              <a:rPr lang="id-ID" altLang="en-US" sz="1800" i="1" dirty="0">
                <a:solidFill>
                  <a:srgbClr val="1F2328"/>
                </a:solidFill>
              </a:rPr>
              <a:t>file</a:t>
            </a:r>
            <a:r>
              <a:rPr lang="id-ID" altLang="en-US" sz="1800" dirty="0">
                <a:solidFill>
                  <a:srgbClr val="1F2328"/>
                </a:solidFill>
              </a:rPr>
              <a:t> dan menjalankannya dari folder yang benar.</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Mengingat Kembali</a:t>
            </a:r>
            <a:endParaRPr lang="id-ID" sz="3200" dirty="0"/>
          </a:p>
        </p:txBody>
      </p:sp>
      <p:sp>
        <p:nvSpPr>
          <p:cNvPr id="5" name="Shape 2"/>
          <p:cNvSpPr/>
          <p:nvPr/>
        </p:nvSpPr>
        <p:spPr>
          <a:xfrm>
            <a:off x="548640" y="1600383"/>
            <a:ext cx="2377440" cy="4346448"/>
          </a:xfrm>
          <a:prstGeom prst="roundRect">
            <a:avLst>
              <a:gd name="adj" fmla="val 2663"/>
            </a:avLst>
          </a:prstGeom>
          <a:solidFill>
            <a:srgbClr val="DDF4FF"/>
          </a:solidFill>
          <a:ln w="9525">
            <a:solidFill>
              <a:srgbClr val="54AEFF"/>
            </a:solidFill>
            <a:prstDash val="solid"/>
          </a:ln>
        </p:spPr>
      </p:sp>
      <p:sp>
        <p:nvSpPr>
          <p:cNvPr id="6" name="Shape 3"/>
          <p:cNvSpPr/>
          <p:nvPr/>
        </p:nvSpPr>
        <p:spPr>
          <a:xfrm>
            <a:off x="1188720" y="2813487"/>
            <a:ext cx="1097280" cy="1097280"/>
          </a:xfrm>
          <a:prstGeom prst="ellipse">
            <a:avLst/>
          </a:prstGeom>
          <a:solidFill>
            <a:srgbClr val="0969DA"/>
          </a:solidFill>
          <a:ln/>
        </p:spPr>
      </p:sp>
      <p:pic>
        <p:nvPicPr>
          <p:cNvPr id="7" name="Image 1" descr="preencoded.png">    </p:cNvPr>
          <p:cNvPicPr>
            <a:picLocks noChangeAspect="1"/>
          </p:cNvPicPr>
          <p:nvPr/>
        </p:nvPicPr>
        <p:blipFill>
          <a:blip r:embed="rId2"/>
          <a:stretch>
            <a:fillRect/>
          </a:stretch>
        </p:blipFill>
        <p:spPr>
          <a:xfrm>
            <a:off x="1430122" y="3054888"/>
            <a:ext cx="614477" cy="614477"/>
          </a:xfrm>
          <a:prstGeom prst="rect">
            <a:avLst/>
          </a:prstGeom>
        </p:spPr>
      </p:pic>
      <p:sp>
        <p:nvSpPr>
          <p:cNvPr id="8" name="Text 4"/>
          <p:cNvSpPr txBox="1"/>
          <p:nvPr/>
        </p:nvSpPr>
        <p:spPr>
          <a:xfrm>
            <a:off x="731520" y="4093647"/>
            <a:ext cx="2011680" cy="640080"/>
          </a:xfrm>
          <a:prstGeom prst="rect">
            <a:avLst/>
          </a:prstGeom>
          <a:noFill/>
          <a:ln/>
        </p:spPr>
        <p:txBody>
          <a:bodyPr wrap="square" lIns="0" tIns="0" rIns="0" bIns="0" rtlCol="0" anchor="t"/>
          <a:lstStyle/>
          <a:p>
            <a:pPr algn="ctr" indent="0" marL="0">
              <a:buNone/>
            </a:pPr>
            <a:r>
              <a:rPr lang="id-ID" altLang="en-US" sz="1600" b="1" dirty="0">
                <a:solidFill>
                  <a:srgbClr val="0A3069"/>
                </a:solidFill>
              </a:rPr>
              <a:t>Dari pertemuan sebelumnya</a:t>
            </a:r>
            <a:endParaRPr lang="id-ID" sz="1600" dirty="0"/>
          </a:p>
        </p:txBody>
      </p:sp>
      <p:sp>
        <p:nvSpPr>
          <p:cNvPr id="9" name="Shape 5"/>
          <p:cNvSpPr/>
          <p:nvPr/>
        </p:nvSpPr>
        <p:spPr>
          <a:xfrm>
            <a:off x="3346704" y="1992051"/>
            <a:ext cx="137160" cy="137160"/>
          </a:xfrm>
          <a:prstGeom prst="roundRect">
            <a:avLst>
              <a:gd name="adj" fmla="val 166667"/>
            </a:avLst>
          </a:prstGeom>
          <a:solidFill>
            <a:srgbClr val="0969DA"/>
          </a:solidFill>
          <a:ln/>
        </p:spPr>
      </p:sp>
      <p:sp>
        <p:nvSpPr>
          <p:cNvPr id="10" name="Text 6"/>
          <p:cNvSpPr txBox="1"/>
          <p:nvPr/>
        </p:nvSpPr>
        <p:spPr>
          <a:xfrm>
            <a:off x="3675888" y="1874703"/>
            <a:ext cx="7967167" cy="789432"/>
          </a:xfrm>
          <a:prstGeom prst="rect">
            <a:avLst/>
          </a:prstGeom>
          <a:noFill/>
          <a:ln/>
        </p:spPr>
        <p:txBody>
          <a:bodyPr wrap="square" lIns="0" tIns="0" rIns="0" bIns="0" rtlCol="0" anchor="t"/>
          <a:lstStyle/>
          <a:p>
            <a:pPr indent="0" marL="0">
              <a:buNone/>
            </a:pPr>
            <a:r>
              <a:rPr lang="id-ID" altLang="en-US" sz="2400" b="1" dirty="0">
                <a:solidFill>
                  <a:srgbClr val="1F2328"/>
                </a:solidFill>
              </a:rPr>
              <a:t>Enkapsulasi</a:t>
            </a:r>
            <a:r>
              <a:rPr lang="id-ID" altLang="en-US" sz="2400" dirty="0">
                <a:solidFill>
                  <a:srgbClr val="1F2328"/>
                </a:solidFill>
              </a:rPr>
              <a:t> menyembunyikan data di dalam kelas; pihak luar memakai pintu resmi seperti </a:t>
            </a:r>
            <a:r>
              <a:rPr lang="id-ID" altLang="en-US" sz="2400" i="1" dirty="0">
                <a:solidFill>
                  <a:srgbClr val="1F2328"/>
                </a:solidFill>
              </a:rPr>
              <a:t>getter</a:t>
            </a:r>
            <a:r>
              <a:rPr lang="id-ID" altLang="en-US" sz="2400" dirty="0">
                <a:solidFill>
                  <a:srgbClr val="1F2328"/>
                </a:solidFill>
              </a:rPr>
              <a:t>, </a:t>
            </a:r>
            <a:r>
              <a:rPr lang="id-ID" altLang="en-US" sz="2400" i="1" dirty="0">
                <a:solidFill>
                  <a:srgbClr val="1F2328"/>
                </a:solidFill>
              </a:rPr>
              <a:t>setter</a:t>
            </a:r>
            <a:r>
              <a:rPr lang="id-ID" altLang="en-US" sz="2400" dirty="0">
                <a:solidFill>
                  <a:srgbClr val="1F2328"/>
                </a:solidFill>
              </a:rPr>
              <a:t>, dan </a:t>
            </a:r>
            <a:r>
              <a:rPr lang="id-ID" altLang="en-US" sz="2400" i="1" dirty="0">
                <a:solidFill>
                  <a:srgbClr val="1F2328"/>
                </a:solidFill>
              </a:rPr>
              <a:t>property</a:t>
            </a:r>
            <a:r>
              <a:rPr lang="id-ID" altLang="en-US" sz="2400" dirty="0">
                <a:solidFill>
                  <a:srgbClr val="1F2328"/>
                </a:solidFill>
              </a:rPr>
              <a:t>.</a:t>
            </a:r>
            <a:endParaRPr lang="id-ID" sz="2400" dirty="0"/>
          </a:p>
        </p:txBody>
      </p:sp>
      <p:sp>
        <p:nvSpPr>
          <p:cNvPr id="11" name="Shape 7"/>
          <p:cNvSpPr/>
          <p:nvPr/>
        </p:nvSpPr>
        <p:spPr>
          <a:xfrm>
            <a:off x="3346704" y="3010083"/>
            <a:ext cx="137160" cy="137160"/>
          </a:xfrm>
          <a:prstGeom prst="roundRect">
            <a:avLst>
              <a:gd name="adj" fmla="val 166667"/>
            </a:avLst>
          </a:prstGeom>
          <a:solidFill>
            <a:srgbClr val="0969DA"/>
          </a:solidFill>
          <a:ln/>
        </p:spPr>
      </p:sp>
      <p:sp>
        <p:nvSpPr>
          <p:cNvPr id="12" name="Text 8"/>
          <p:cNvSpPr txBox="1"/>
          <p:nvPr/>
        </p:nvSpPr>
        <p:spPr>
          <a:xfrm>
            <a:off x="3675888" y="2892735"/>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Data yang tidak masuk akal ditolak sejak di pintu masuk dengan melempar </a:t>
            </a:r>
            <a:r>
              <a:rPr lang="id-ID" altLang="en-US" sz="2400" i="1" dirty="0">
                <a:solidFill>
                  <a:srgbClr val="1F2328"/>
                </a:solidFill>
              </a:rPr>
              <a:t>exception</a:t>
            </a:r>
            <a:r>
              <a:rPr lang="id-ID" altLang="en-US" sz="2400" dirty="0">
                <a:solidFill>
                  <a:srgbClr val="1F2328"/>
                </a:solidFill>
              </a:rPr>
              <a:t>.</a:t>
            </a:r>
            <a:endParaRPr lang="id-ID" sz="2400" dirty="0"/>
          </a:p>
        </p:txBody>
      </p:sp>
      <p:sp>
        <p:nvSpPr>
          <p:cNvPr id="13" name="Shape 9"/>
          <p:cNvSpPr/>
          <p:nvPr/>
        </p:nvSpPr>
        <p:spPr>
          <a:xfrm>
            <a:off x="3346704" y="4028115"/>
            <a:ext cx="137160" cy="137160"/>
          </a:xfrm>
          <a:prstGeom prst="roundRect">
            <a:avLst>
              <a:gd name="adj" fmla="val 166667"/>
            </a:avLst>
          </a:prstGeom>
          <a:solidFill>
            <a:srgbClr val="0969DA"/>
          </a:solidFill>
          <a:ln/>
        </p:spPr>
      </p:sp>
      <p:sp>
        <p:nvSpPr>
          <p:cNvPr id="14" name="Text 10"/>
          <p:cNvSpPr txBox="1"/>
          <p:nvPr/>
        </p:nvSpPr>
        <p:spPr>
          <a:xfrm>
            <a:off x="3675888" y="3910767"/>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Prinsip </a:t>
            </a:r>
            <a:r>
              <a:rPr lang="id-ID" altLang="en-US" sz="2400" b="1" i="1" dirty="0">
                <a:solidFill>
                  <a:srgbClr val="1F2328"/>
                </a:solidFill>
              </a:rPr>
              <a:t>tell, don’t ask</a:t>
            </a:r>
            <a:r>
              <a:rPr lang="id-ID" altLang="en-US" sz="2400" dirty="0">
                <a:solidFill>
                  <a:srgbClr val="1F2328"/>
                </a:solidFill>
              </a:rPr>
              <a:t>: suruh objek mengerjakan tugasnya sendiri.</a:t>
            </a:r>
            <a:endParaRPr lang="id-ID" sz="2400" dirty="0"/>
          </a:p>
        </p:txBody>
      </p:sp>
      <p:sp>
        <p:nvSpPr>
          <p:cNvPr id="15" name="Shape 11"/>
          <p:cNvSpPr/>
          <p:nvPr/>
        </p:nvSpPr>
        <p:spPr>
          <a:xfrm>
            <a:off x="3346704" y="5046147"/>
            <a:ext cx="137160" cy="137160"/>
          </a:xfrm>
          <a:prstGeom prst="roundRect">
            <a:avLst>
              <a:gd name="adj" fmla="val 166667"/>
            </a:avLst>
          </a:prstGeom>
          <a:solidFill>
            <a:srgbClr val="0969DA"/>
          </a:solidFill>
          <a:ln/>
        </p:spPr>
      </p:sp>
      <p:sp>
        <p:nvSpPr>
          <p:cNvPr id="16" name="Text 12"/>
          <p:cNvSpPr txBox="1"/>
          <p:nvPr/>
        </p:nvSpPr>
        <p:spPr>
          <a:xfrm>
            <a:off x="3675888" y="4928799"/>
            <a:ext cx="7967167" cy="789432"/>
          </a:xfrm>
          <a:prstGeom prst="rect">
            <a:avLst/>
          </a:prstGeom>
          <a:noFill/>
          <a:ln/>
        </p:spPr>
        <p:txBody>
          <a:bodyPr wrap="square" lIns="0" tIns="0" rIns="0" bIns="0" rtlCol="0" anchor="t"/>
          <a:lstStyle/>
          <a:p>
            <a:pPr indent="0" marL="0">
              <a:buNone/>
            </a:pPr>
            <a:r>
              <a:rPr lang="id-ID" altLang="en-US" sz="2400" dirty="0">
                <a:solidFill>
                  <a:srgbClr val="1F2328"/>
                </a:solidFill>
              </a:rPr>
              <a:t>Variabel hanya menyimpan </a:t>
            </a:r>
            <a:r>
              <a:rPr lang="id-ID" altLang="en-US" sz="2400" b="1" dirty="0">
                <a:solidFill>
                  <a:srgbClr val="1F2328"/>
                </a:solidFill>
              </a:rPr>
              <a:t>referensi</a:t>
            </a:r>
            <a:r>
              <a:rPr lang="id-ID" altLang="en-US" sz="2400" dirty="0">
                <a:solidFill>
                  <a:srgbClr val="1F2328"/>
                </a:solidFill>
              </a:rPr>
              <a:t> ke objek (Pertemuan 03). Referensi inilah “tali” penghubung antarobjek.</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709420"/>
            <a:ext cx="3515258" cy="1824736"/>
          </a:xfrm>
          <a:prstGeom prst="roundRect">
            <a:avLst>
              <a:gd name="adj" fmla="val 3013"/>
            </a:avLst>
          </a:prstGeom>
          <a:solidFill>
            <a:srgbClr val="F6F8FA"/>
          </a:solidFill>
          <a:ln w="9525">
            <a:solidFill>
              <a:srgbClr val="D0D7DE"/>
            </a:solidFill>
            <a:prstDash val="solid"/>
          </a:ln>
        </p:spPr>
      </p:sp>
      <p:sp>
        <p:nvSpPr>
          <p:cNvPr id="6" name="Shape 3"/>
          <p:cNvSpPr/>
          <p:nvPr/>
        </p:nvSpPr>
        <p:spPr>
          <a:xfrm>
            <a:off x="777240" y="1938020"/>
            <a:ext cx="512064" cy="512064"/>
          </a:xfrm>
          <a:prstGeom prst="ellipse">
            <a:avLst/>
          </a:prstGeom>
          <a:solidFill>
            <a:srgbClr val="0969DA"/>
          </a:solidFill>
          <a:ln/>
        </p:spPr>
      </p:sp>
      <p:sp>
        <p:nvSpPr>
          <p:cNvPr id="7" name="Text 4"/>
          <p:cNvSpPr txBox="1"/>
          <p:nvPr/>
        </p:nvSpPr>
        <p:spPr>
          <a:xfrm>
            <a:off x="777240"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Objek tidak bisa bekerja sendirian</a:t>
            </a:r>
            <a:endParaRPr lang="id-ID" sz="2200" dirty="0"/>
          </a:p>
        </p:txBody>
      </p:sp>
      <p:sp>
        <p:nvSpPr>
          <p:cNvPr id="9" name="Shape 6"/>
          <p:cNvSpPr/>
          <p:nvPr/>
        </p:nvSpPr>
        <p:spPr>
          <a:xfrm>
            <a:off x="4338218" y="1709420"/>
            <a:ext cx="3515258" cy="1824736"/>
          </a:xfrm>
          <a:prstGeom prst="roundRect">
            <a:avLst>
              <a:gd name="adj" fmla="val 3013"/>
            </a:avLst>
          </a:prstGeom>
          <a:solidFill>
            <a:srgbClr val="F6F8FA"/>
          </a:solidFill>
          <a:ln w="9525">
            <a:solidFill>
              <a:srgbClr val="D0D7DE"/>
            </a:solidFill>
            <a:prstDash val="solid"/>
          </a:ln>
        </p:spPr>
      </p:sp>
      <p:sp>
        <p:nvSpPr>
          <p:cNvPr id="10" name="Shape 7"/>
          <p:cNvSpPr/>
          <p:nvPr/>
        </p:nvSpPr>
        <p:spPr>
          <a:xfrm>
            <a:off x="4566818" y="1938020"/>
            <a:ext cx="512064" cy="512064"/>
          </a:xfrm>
          <a:prstGeom prst="ellipse">
            <a:avLst/>
          </a:prstGeom>
          <a:solidFill>
            <a:srgbClr val="0969DA"/>
          </a:solidFill>
          <a:ln/>
        </p:spPr>
      </p:sp>
      <p:sp>
        <p:nvSpPr>
          <p:cNvPr id="11" name="Text 8"/>
          <p:cNvSpPr txBox="1"/>
          <p:nvPr/>
        </p:nvSpPr>
        <p:spPr>
          <a:xfrm>
            <a:off x="4566818"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Empat jenis hubungan antarobjek</a:t>
            </a:r>
            <a:endParaRPr lang="id-ID" sz="2200" dirty="0"/>
          </a:p>
        </p:txBody>
      </p:sp>
      <p:sp>
        <p:nvSpPr>
          <p:cNvPr id="13" name="Shape 10"/>
          <p:cNvSpPr/>
          <p:nvPr/>
        </p:nvSpPr>
        <p:spPr>
          <a:xfrm>
            <a:off x="8127797" y="1709420"/>
            <a:ext cx="3515258" cy="1824736"/>
          </a:xfrm>
          <a:prstGeom prst="roundRect">
            <a:avLst>
              <a:gd name="adj" fmla="val 3013"/>
            </a:avLst>
          </a:prstGeom>
          <a:solidFill>
            <a:srgbClr val="F6F8FA"/>
          </a:solidFill>
          <a:ln w="9525">
            <a:solidFill>
              <a:srgbClr val="D0D7DE"/>
            </a:solidFill>
            <a:prstDash val="solid"/>
          </a:ln>
        </p:spPr>
      </p:sp>
      <p:sp>
        <p:nvSpPr>
          <p:cNvPr id="14" name="Shape 11"/>
          <p:cNvSpPr/>
          <p:nvPr/>
        </p:nvSpPr>
        <p:spPr>
          <a:xfrm>
            <a:off x="8356397" y="1938020"/>
            <a:ext cx="512064" cy="512064"/>
          </a:xfrm>
          <a:prstGeom prst="ellipse">
            <a:avLst/>
          </a:prstGeom>
          <a:solidFill>
            <a:srgbClr val="0969DA"/>
          </a:solidFill>
          <a:ln/>
        </p:spPr>
      </p:sp>
      <p:sp>
        <p:nvSpPr>
          <p:cNvPr id="15" name="Text 12"/>
          <p:cNvSpPr txBox="1"/>
          <p:nvPr/>
        </p:nvSpPr>
        <p:spPr>
          <a:xfrm>
            <a:off x="8356397" y="193802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578100"/>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Agregasi dan komposisi</a:t>
            </a:r>
            <a:endParaRPr lang="id-ID" sz="2200" dirty="0"/>
          </a:p>
        </p:txBody>
      </p:sp>
      <p:sp>
        <p:nvSpPr>
          <p:cNvPr id="17" name="Shape 14"/>
          <p:cNvSpPr/>
          <p:nvPr/>
        </p:nvSpPr>
        <p:spPr>
          <a:xfrm>
            <a:off x="548640" y="3808476"/>
            <a:ext cx="3515258" cy="1824736"/>
          </a:xfrm>
          <a:prstGeom prst="roundRect">
            <a:avLst>
              <a:gd name="adj" fmla="val 3013"/>
            </a:avLst>
          </a:prstGeom>
          <a:solidFill>
            <a:srgbClr val="F6F8FA"/>
          </a:solidFill>
          <a:ln w="9525">
            <a:solidFill>
              <a:srgbClr val="D0D7DE"/>
            </a:solidFill>
            <a:prstDash val="solid"/>
          </a:ln>
        </p:spPr>
      </p:sp>
      <p:sp>
        <p:nvSpPr>
          <p:cNvPr id="18" name="Shape 15"/>
          <p:cNvSpPr/>
          <p:nvPr/>
        </p:nvSpPr>
        <p:spPr>
          <a:xfrm>
            <a:off x="777240" y="4037076"/>
            <a:ext cx="512064" cy="512064"/>
          </a:xfrm>
          <a:prstGeom prst="ellipse">
            <a:avLst/>
          </a:prstGeom>
          <a:solidFill>
            <a:srgbClr val="0969DA"/>
          </a:solidFill>
          <a:ln/>
        </p:spPr>
      </p:sp>
      <p:sp>
        <p:nvSpPr>
          <p:cNvPr id="19" name="Text 16"/>
          <p:cNvSpPr txBox="1"/>
          <p:nvPr/>
        </p:nvSpPr>
        <p:spPr>
          <a:xfrm>
            <a:off x="777240"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Multiplisitas, salinan </a:t>
            </a:r>
            <a:r>
              <a:rPr lang="id-ID" altLang="en-US" sz="2200" i="1" dirty="0">
                <a:solidFill>
                  <a:srgbClr val="1F2328"/>
                </a:solidFill>
              </a:rPr>
              <a:t>list</a:t>
            </a:r>
            <a:r>
              <a:rPr lang="id-ID" altLang="en-US" sz="2200" dirty="0">
                <a:solidFill>
                  <a:srgbClr val="1F2328"/>
                </a:solidFill>
              </a:rPr>
              <a:t>, dan pencarian</a:t>
            </a:r>
            <a:endParaRPr lang="id-ID" sz="2200" dirty="0"/>
          </a:p>
        </p:txBody>
      </p:sp>
      <p:sp>
        <p:nvSpPr>
          <p:cNvPr id="21" name="Shape 18"/>
          <p:cNvSpPr/>
          <p:nvPr/>
        </p:nvSpPr>
        <p:spPr>
          <a:xfrm>
            <a:off x="4338218" y="3808476"/>
            <a:ext cx="3515258" cy="1824736"/>
          </a:xfrm>
          <a:prstGeom prst="roundRect">
            <a:avLst>
              <a:gd name="adj" fmla="val 3013"/>
            </a:avLst>
          </a:prstGeom>
          <a:solidFill>
            <a:srgbClr val="F6F8FA"/>
          </a:solidFill>
          <a:ln w="9525">
            <a:solidFill>
              <a:srgbClr val="D0D7DE"/>
            </a:solidFill>
            <a:prstDash val="solid"/>
          </a:ln>
        </p:spPr>
      </p:sp>
      <p:sp>
        <p:nvSpPr>
          <p:cNvPr id="22" name="Shape 19"/>
          <p:cNvSpPr/>
          <p:nvPr/>
        </p:nvSpPr>
        <p:spPr>
          <a:xfrm>
            <a:off x="4566818" y="4037076"/>
            <a:ext cx="512064" cy="512064"/>
          </a:xfrm>
          <a:prstGeom prst="ellipse">
            <a:avLst/>
          </a:prstGeom>
          <a:solidFill>
            <a:srgbClr val="0969DA"/>
          </a:solidFill>
          <a:ln/>
        </p:spPr>
      </p:sp>
      <p:sp>
        <p:nvSpPr>
          <p:cNvPr id="23" name="Text 20"/>
          <p:cNvSpPr txBox="1"/>
          <p:nvPr/>
        </p:nvSpPr>
        <p:spPr>
          <a:xfrm>
            <a:off x="4566818"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Program banyak </a:t>
            </a:r>
            <a:r>
              <a:rPr lang="id-ID" altLang="en-US" sz="2200" i="1" dirty="0">
                <a:solidFill>
                  <a:srgbClr val="1F2328"/>
                </a:solidFill>
              </a:rPr>
              <a:t>file</a:t>
            </a:r>
            <a:endParaRPr lang="id-ID" sz="2200" dirty="0"/>
          </a:p>
        </p:txBody>
      </p:sp>
      <p:sp>
        <p:nvSpPr>
          <p:cNvPr id="25" name="Shape 22"/>
          <p:cNvSpPr/>
          <p:nvPr/>
        </p:nvSpPr>
        <p:spPr>
          <a:xfrm>
            <a:off x="8127797" y="3808476"/>
            <a:ext cx="3515258" cy="1824736"/>
          </a:xfrm>
          <a:prstGeom prst="roundRect">
            <a:avLst>
              <a:gd name="adj" fmla="val 3013"/>
            </a:avLst>
          </a:prstGeom>
          <a:solidFill>
            <a:srgbClr val="F6F8FA"/>
          </a:solidFill>
          <a:ln w="9525">
            <a:solidFill>
              <a:srgbClr val="D0D7DE"/>
            </a:solidFill>
            <a:prstDash val="solid"/>
          </a:ln>
        </p:spPr>
      </p:sp>
      <p:sp>
        <p:nvSpPr>
          <p:cNvPr id="26" name="Shape 23"/>
          <p:cNvSpPr/>
          <p:nvPr/>
        </p:nvSpPr>
        <p:spPr>
          <a:xfrm>
            <a:off x="8356397" y="4037076"/>
            <a:ext cx="512064" cy="512064"/>
          </a:xfrm>
          <a:prstGeom prst="ellipse">
            <a:avLst/>
          </a:prstGeom>
          <a:solidFill>
            <a:srgbClr val="0969DA"/>
          </a:solidFill>
          <a:ln/>
        </p:spPr>
      </p:sp>
      <p:sp>
        <p:nvSpPr>
          <p:cNvPr id="27" name="Text 24"/>
          <p:cNvSpPr txBox="1"/>
          <p:nvPr/>
        </p:nvSpPr>
        <p:spPr>
          <a:xfrm>
            <a:off x="8356397" y="4037076"/>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6</a:t>
            </a:r>
            <a:endParaRPr lang="id-ID" sz="2000" dirty="0"/>
          </a:p>
        </p:txBody>
      </p:sp>
      <p:sp>
        <p:nvSpPr>
          <p:cNvPr id="28" name="Text 25"/>
          <p:cNvSpPr txBox="1"/>
          <p:nvPr/>
        </p:nvSpPr>
        <p:spPr>
          <a:xfrm>
            <a:off x="8356397" y="4677156"/>
            <a:ext cx="3058058" cy="773176"/>
          </a:xfrm>
          <a:prstGeom prst="rect">
            <a:avLst/>
          </a:prstGeom>
          <a:noFill/>
          <a:ln/>
        </p:spPr>
        <p:txBody>
          <a:bodyPr wrap="square" lIns="0" tIns="0" rIns="0" bIns="0" rtlCol="0" anchor="t"/>
          <a:lstStyle/>
          <a:p>
            <a:pPr indent="0" marL="0">
              <a:buNone/>
            </a:pPr>
            <a:r>
              <a:rPr lang="id-ID" altLang="en-US" sz="2200" dirty="0">
                <a:solidFill>
                  <a:srgbClr val="1F2328"/>
                </a:solidFill>
              </a:rPr>
              <a:t>Studi kasus KedaiKita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Objek Tidak Bisa Bekerja Sendirian</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Program yang baik terdiri atas banyak kelas kecil yang bekerja sama.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Budi Memesan Apa?</a:t>
            </a:r>
            <a:endParaRPr lang="id-ID" sz="3200" dirty="0"/>
          </a:p>
        </p:txBody>
      </p:sp>
      <p:sp>
        <p:nvSpPr>
          <p:cNvPr id="5" name="Text 2"/>
          <p:cNvSpPr txBox="1"/>
          <p:nvPr/>
        </p:nvSpPr>
        <p:spPr>
          <a:xfrm>
            <a:off x="548640" y="1475994"/>
            <a:ext cx="11094415" cy="548640"/>
          </a:xfrm>
          <a:prstGeom prst="rect">
            <a:avLst/>
          </a:prstGeom>
          <a:noFill/>
          <a:ln/>
        </p:spPr>
        <p:txBody>
          <a:bodyPr wrap="square" lIns="0" tIns="0" rIns="0" bIns="0" rtlCol="0" anchor="t"/>
          <a:lstStyle/>
          <a:p>
            <a:pPr indent="0" marL="0">
              <a:buNone/>
            </a:pPr>
            <a:r>
              <a:rPr lang="id-ID" altLang="en-US" sz="3000" b="1" dirty="0">
                <a:solidFill>
                  <a:srgbClr val="0969DA"/>
                </a:solidFill>
              </a:rPr>
              <a:t>Relasi antarkelas</a:t>
            </a:r>
            <a:endParaRPr lang="id-ID" sz="3000" dirty="0"/>
          </a:p>
        </p:txBody>
      </p:sp>
      <p:sp>
        <p:nvSpPr>
          <p:cNvPr id="6" name="Shape 3"/>
          <p:cNvSpPr/>
          <p:nvPr/>
        </p:nvSpPr>
        <p:spPr>
          <a:xfrm>
            <a:off x="548640" y="2189226"/>
            <a:ext cx="11094415" cy="1292352"/>
          </a:xfrm>
          <a:prstGeom prst="roundRect">
            <a:avLst>
              <a:gd name="adj" fmla="val 6007"/>
            </a:avLst>
          </a:prstGeom>
          <a:solidFill>
            <a:srgbClr val="DDF4FF"/>
          </a:solidFill>
          <a:ln w="9525">
            <a:solidFill>
              <a:srgbClr val="54AEFF"/>
            </a:solidFill>
            <a:prstDash val="solid"/>
          </a:ln>
        </p:spPr>
      </p:sp>
      <p:sp>
        <p:nvSpPr>
          <p:cNvPr id="7" name="Shape 4"/>
          <p:cNvSpPr/>
          <p:nvPr/>
        </p:nvSpPr>
        <p:spPr>
          <a:xfrm>
            <a:off x="804672" y="2561082"/>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681783"/>
            <a:ext cx="307238" cy="307238"/>
          </a:xfrm>
          <a:prstGeom prst="rect">
            <a:avLst/>
          </a:prstGeom>
        </p:spPr>
      </p:pic>
      <p:sp>
        <p:nvSpPr>
          <p:cNvPr id="9" name="Text 5"/>
          <p:cNvSpPr txBox="1"/>
          <p:nvPr/>
        </p:nvSpPr>
        <p:spPr>
          <a:xfrm>
            <a:off x="1554480" y="2463546"/>
            <a:ext cx="9859975" cy="926592"/>
          </a:xfrm>
          <a:prstGeom prst="rect">
            <a:avLst/>
          </a:prstGeom>
          <a:noFill/>
          <a:ln/>
        </p:spPr>
        <p:txBody>
          <a:bodyPr wrap="square" lIns="0" tIns="0" rIns="0" bIns="0" rtlCol="0" anchor="t"/>
          <a:lstStyle/>
          <a:p>
            <a:pPr indent="0" marL="0">
              <a:buNone/>
            </a:pPr>
            <a:r>
              <a:rPr lang="id-ID" altLang="en-US" sz="2400" dirty="0">
                <a:solidFill>
                  <a:srgbClr val="1F2328"/>
                </a:solidFill>
              </a:rPr>
              <a:t>Hubungan yang membuat objek dari satu kelas bisa </a:t>
            </a:r>
            <a:r>
              <a:rPr lang="id-ID" altLang="en-US" sz="2400" b="1" dirty="0">
                <a:solidFill>
                  <a:srgbClr val="1F2328"/>
                </a:solidFill>
              </a:rPr>
              <a:t>memakai, mengenal, atau memiliki</a:t>
            </a:r>
            <a:r>
              <a:rPr lang="id-ID" altLang="en-US" sz="2400" dirty="0">
                <a:solidFill>
                  <a:srgbClr val="1F2328"/>
                </a:solidFill>
              </a:rPr>
              <a:t> objek dari kelas lain sehingga objek-⁠objek itu bisa bekerja sama.</a:t>
            </a:r>
            <a:endParaRPr lang="id-ID" sz="2400" dirty="0"/>
          </a:p>
        </p:txBody>
      </p:sp>
      <p:sp>
        <p:nvSpPr>
          <p:cNvPr id="10" name="Shape 6"/>
          <p:cNvSpPr/>
          <p:nvPr/>
        </p:nvSpPr>
        <p:spPr>
          <a:xfrm>
            <a:off x="603504" y="4040632"/>
            <a:ext cx="137160" cy="137160"/>
          </a:xfrm>
          <a:prstGeom prst="roundRect">
            <a:avLst>
              <a:gd name="adj" fmla="val 166667"/>
            </a:avLst>
          </a:prstGeom>
          <a:solidFill>
            <a:srgbClr val="0969DA"/>
          </a:solidFill>
          <a:ln/>
        </p:spPr>
      </p:sp>
      <p:sp>
        <p:nvSpPr>
          <p:cNvPr id="11" name="Text 7"/>
          <p:cNvSpPr txBox="1"/>
          <p:nvPr/>
        </p:nvSpPr>
        <p:spPr>
          <a:xfrm>
            <a:off x="932688" y="3938778"/>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rPr>
              <a:t>Objek Budi dan objek kopi hidup terpisah, jadi tidak ada yang mencatat bahwa Budi memesan 2 kopi.</a:t>
            </a:r>
            <a:endParaRPr lang="id-ID" sz="2200" dirty="0"/>
          </a:p>
        </p:txBody>
      </p:sp>
      <p:sp>
        <p:nvSpPr>
          <p:cNvPr id="12" name="Shape 8"/>
          <p:cNvSpPr/>
          <p:nvPr/>
        </p:nvSpPr>
        <p:spPr>
          <a:xfrm>
            <a:off x="603504" y="4960112"/>
            <a:ext cx="137160" cy="137160"/>
          </a:xfrm>
          <a:prstGeom prst="roundRect">
            <a:avLst>
              <a:gd name="adj" fmla="val 166667"/>
            </a:avLst>
          </a:prstGeom>
          <a:solidFill>
            <a:srgbClr val="0969DA"/>
          </a:solidFill>
          <a:ln/>
        </p:spPr>
      </p:sp>
      <p:sp>
        <p:nvSpPr>
          <p:cNvPr id="13" name="Text 9"/>
          <p:cNvSpPr txBox="1"/>
          <p:nvPr/>
        </p:nvSpPr>
        <p:spPr>
          <a:xfrm>
            <a:off x="932688" y="4858258"/>
            <a:ext cx="10710367" cy="386588"/>
          </a:xfrm>
          <a:prstGeom prst="rect">
            <a:avLst/>
          </a:prstGeom>
          <a:noFill/>
          <a:ln/>
        </p:spPr>
        <p:txBody>
          <a:bodyPr wrap="square" lIns="0" tIns="0" rIns="0" bIns="0" rtlCol="0" anchor="t"/>
          <a:lstStyle/>
          <a:p>
            <a:pPr indent="0" marL="0">
              <a:buNone/>
            </a:pPr>
            <a:r>
              <a:rPr lang="id-ID" altLang="en-US" sz="2200" dirty="0">
                <a:solidFill>
                  <a:srgbClr val="1F2328"/>
                </a:solidFill>
              </a:rPr>
              <a:t>Satu kelas raksasa yang mengerjakan semuanya sulit dibaca, sulit diuji, dan sulit diubah.</a:t>
            </a:r>
            <a:endParaRPr lang="id-ID" sz="2200" dirty="0"/>
          </a:p>
        </p:txBody>
      </p:sp>
      <p:sp>
        <p:nvSpPr>
          <p:cNvPr id="14" name="Shape 10"/>
          <p:cNvSpPr/>
          <p:nvPr/>
        </p:nvSpPr>
        <p:spPr>
          <a:xfrm>
            <a:off x="603504" y="5538724"/>
            <a:ext cx="137160" cy="137160"/>
          </a:xfrm>
          <a:prstGeom prst="roundRect">
            <a:avLst>
              <a:gd name="adj" fmla="val 166667"/>
            </a:avLst>
          </a:prstGeom>
          <a:solidFill>
            <a:srgbClr val="0969DA"/>
          </a:solidFill>
          <a:ln/>
        </p:spPr>
      </p:sp>
      <p:sp>
        <p:nvSpPr>
          <p:cNvPr id="15" name="Text 11"/>
          <p:cNvSpPr txBox="1"/>
          <p:nvPr/>
        </p:nvSpPr>
        <p:spPr>
          <a:xfrm>
            <a:off x="932688" y="5436870"/>
            <a:ext cx="10710367" cy="727456"/>
          </a:xfrm>
          <a:prstGeom prst="rect">
            <a:avLst/>
          </a:prstGeom>
          <a:noFill/>
          <a:ln/>
        </p:spPr>
        <p:txBody>
          <a:bodyPr wrap="square" lIns="0" tIns="0" rIns="0" bIns="0" rtlCol="0" anchor="t"/>
          <a:lstStyle/>
          <a:p>
            <a:pPr indent="0" marL="0">
              <a:buNone/>
            </a:pPr>
            <a:r>
              <a:rPr lang="id-ID" altLang="en-US" sz="2200" dirty="0">
                <a:solidFill>
                  <a:srgbClr val="1F2328"/>
                </a:solidFill>
              </a:rPr>
              <a:t>Syarat objek A bisa mengirim pesan ke B: A </a:t>
            </a:r>
            <a:r>
              <a:rPr lang="id-ID" altLang="en-US" sz="2200" b="1" dirty="0">
                <a:solidFill>
                  <a:srgbClr val="1F2328"/>
                </a:solidFill>
              </a:rPr>
              <a:t>memegang referensi</a:t>
            </a:r>
            <a:r>
              <a:rPr lang="id-ID" altLang="en-US" sz="2200" dirty="0">
                <a:solidFill>
                  <a:srgbClr val="1F2328"/>
                </a:solidFill>
              </a:rPr>
              <a:t> ke B, lewat parameter atau atribut.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Objek Saling Mengirim Pesan</a:t>
            </a:r>
            <a:endParaRPr lang="id-ID" sz="3200" dirty="0"/>
          </a:p>
        </p:txBody>
      </p:sp>
      <p:pic>
        <p:nvPicPr>
          <p:cNvPr id="5" name="Image 1" descr="Panah utuh adalah pesan yang dikirim, panah putus-putus adalah jawaban yang kembali. Angka menunjukkan urutannya.">    </p:cNvPr>
          <p:cNvPicPr>
            <a:picLocks noChangeAspect="1"/>
          </p:cNvPicPr>
          <p:nvPr/>
        </p:nvPicPr>
        <p:blipFill>
          <a:blip r:embed="rId2"/>
          <a:stretch>
            <a:fillRect/>
          </a:stretch>
        </p:blipFill>
        <p:spPr>
          <a:xfrm>
            <a:off x="548640" y="2804442"/>
            <a:ext cx="11094415" cy="1270959"/>
          </a:xfrm>
          <a:prstGeom prst="rect">
            <a:avLst/>
          </a:prstGeom>
        </p:spPr>
      </p:pic>
      <p:sp>
        <p:nvSpPr>
          <p:cNvPr id="6" name="Text 2"/>
          <p:cNvSpPr txBox="1"/>
          <p:nvPr/>
        </p:nvSpPr>
        <p:spPr>
          <a:xfrm>
            <a:off x="1005840" y="4185130"/>
            <a:ext cx="10180015" cy="691388"/>
          </a:xfrm>
          <a:prstGeom prst="rect">
            <a:avLst/>
          </a:prstGeom>
          <a:noFill/>
          <a:ln/>
        </p:spPr>
        <p:txBody>
          <a:bodyPr wrap="square" lIns="0" tIns="0" rIns="0" bIns="0" rtlCol="0" anchor="t"/>
          <a:lstStyle/>
          <a:p>
            <a:pPr algn="ctr" indent="0" marL="0">
              <a:buNone/>
            </a:pPr>
            <a:r>
              <a:rPr lang="id-ID" altLang="en-US" sz="1700" dirty="0">
                <a:solidFill>
                  <a:srgbClr val="57606A"/>
                </a:solidFill>
              </a:rPr>
              <a:t>Panah utuh adalah pesan yang dikirim, panah putus-⁠putus adalah jawaban yang kembali. Angka menunjukkan urutannya.</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Empat Jenis Hubungan Antarobjek</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Dari yang paling longgar sampai yang paling erat.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Empat Jenis Hubungan</a:t>
            </a:r>
            <a:endParaRPr lang="id-ID"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18945"/>
          <a:ext cx="11094415" cy="914400"/>
        </p:xfrm>
        <a:graphic>
          <a:graphicData uri="http://schemas.openxmlformats.org/drawingml/2006/table">
            <a:tbl>
              <a:tblPr/>
              <a:tblGrid>
                <a:gridCol w="1866362"/>
                <a:gridCol w="2322550"/>
                <a:gridCol w="2097717"/>
                <a:gridCol w="4807786"/>
              </a:tblGrid>
              <a:tr h="461772">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Jenis relasi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Arti sederhana</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Contoh sehari-⁠hari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Contoh di KedaiKita</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740664">
                <a:tc>
                  <a:txBody>
                    <a:bodyPr/>
                    <a:lstStyle/>
                    <a:p>
                      <a:pPr indent="0" marL="0">
                        <a:buNone/>
                      </a:pPr>
                      <a:r>
                        <a:rPr lang="id-ID" altLang="en-US" sz="1800" b="1" dirty="0">
                          <a:solidFill>
                            <a:srgbClr val="1F2328"/>
                          </a:solidFill>
                          <a:latin typeface="Calibri" pitchFamily="34" charset="0"/>
                          <a:ea typeface="Calibri" pitchFamily="34" charset="-122"/>
                          <a:cs typeface="Calibri" pitchFamily="34" charset="-120"/>
                        </a:rPr>
                        <a:t>Dependensi</a:t>
                      </a:r>
                      <a:r>
                        <a:rPr lang="id-ID" altLang="en-US" sz="1800" dirty="0">
                          <a:solidFill>
                            <a:srgbClr val="1F2328"/>
                          </a:solidFill>
                          <a:latin typeface="Calibri" pitchFamily="34" charset="0"/>
                          <a:ea typeface="Calibri" pitchFamily="34" charset="-122"/>
                          <a:cs typeface="Calibri" pitchFamily="34" charset="-120"/>
                        </a:rPr>
                        <a:t> (</a:t>
                      </a:r>
                      <a:r>
                        <a:rPr lang="id-ID" altLang="en-US" sz="1800" i="1" dirty="0">
                          <a:solidFill>
                            <a:srgbClr val="1F2328"/>
                          </a:solidFill>
                          <a:latin typeface="Calibri" pitchFamily="34" charset="0"/>
                          <a:ea typeface="Calibri" pitchFamily="34" charset="-122"/>
                          <a:cs typeface="Calibri" pitchFamily="34" charset="-120"/>
                        </a:rPr>
                        <a:t>dependency</a:t>
                      </a:r>
                      <a:r>
                        <a:rPr lang="id-ID" altLang="en-US" sz="1800" dirty="0">
                          <a:solidFill>
                            <a:srgbClr val="1F232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memakai sebentar</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mahasiswa memesan ojek</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Kedai</a:t>
                      </a:r>
                      <a:r>
                        <a:rPr lang="id-ID" altLang="en-US" sz="1800" dirty="0">
                          <a:solidFill>
                            <a:srgbClr val="1F2328"/>
                          </a:solidFill>
                          <a:latin typeface="Calibri" pitchFamily="34" charset="0"/>
                          <a:ea typeface="Calibri" pitchFamily="34" charset="-122"/>
                          <a:cs typeface="Calibri" pitchFamily="34" charset="-120"/>
                        </a:rPr>
                        <a:t> memakai </a:t>
                      </a:r>
                      <a:r>
                        <a:rPr lang="id-ID" altLang="en-US" sz="1800" dirty="0">
                          <a:solidFill>
                            <a:srgbClr val="0A3069"/>
                          </a:solidFill>
                          <a:latin typeface="Consolas" pitchFamily="34" charset="0"/>
                          <a:ea typeface="Consolas" pitchFamily="34" charset="-122"/>
                          <a:cs typeface="Consolas" pitchFamily="34" charset="-120"/>
                        </a:rPr>
                        <a:t>Pelanggan</a:t>
                      </a:r>
                      <a:r>
                        <a:rPr lang="id-ID" altLang="en-US" sz="1800" dirty="0">
                          <a:solidFill>
                            <a:srgbClr val="1F2328"/>
                          </a:solidFill>
                          <a:latin typeface="Calibri" pitchFamily="34" charset="0"/>
                          <a:ea typeface="Calibri" pitchFamily="34" charset="-122"/>
                          <a:cs typeface="Calibri" pitchFamily="34" charset="-120"/>
                        </a:rPr>
                        <a:t> saat membuat pesanan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40664">
                <a:tc>
                  <a:txBody>
                    <a:bodyPr/>
                    <a:lstStyle/>
                    <a:p>
                      <a:pPr indent="0" marL="0">
                        <a:buNone/>
                      </a:pPr>
                      <a:r>
                        <a:rPr lang="id-ID" altLang="en-US" sz="1800" b="1" dirty="0">
                          <a:solidFill>
                            <a:srgbClr val="1F2328"/>
                          </a:solidFill>
                          <a:latin typeface="Calibri" pitchFamily="34" charset="0"/>
                          <a:ea typeface="Calibri" pitchFamily="34" charset="-122"/>
                          <a:cs typeface="Calibri" pitchFamily="34" charset="-120"/>
                        </a:rPr>
                        <a:t>Asosiasi</a:t>
                      </a:r>
                      <a:r>
                        <a:rPr lang="id-ID" altLang="en-US" sz="1800" dirty="0">
                          <a:solidFill>
                            <a:srgbClr val="1F2328"/>
                          </a:solidFill>
                          <a:latin typeface="Calibri" pitchFamily="34" charset="0"/>
                          <a:ea typeface="Calibri" pitchFamily="34" charset="-122"/>
                          <a:cs typeface="Calibri" pitchFamily="34" charset="-120"/>
                        </a:rPr>
                        <a:t> (</a:t>
                      </a:r>
                      <a:r>
                        <a:rPr lang="id-ID" altLang="en-US" sz="1800" i="1" dirty="0">
                          <a:solidFill>
                            <a:srgbClr val="1F2328"/>
                          </a:solidFill>
                          <a:latin typeface="Calibri" pitchFamily="34" charset="0"/>
                          <a:ea typeface="Calibri" pitchFamily="34" charset="-122"/>
                          <a:cs typeface="Calibri" pitchFamily="34" charset="-120"/>
                        </a:rPr>
                        <a:t>association</a:t>
                      </a:r>
                      <a:r>
                        <a:rPr lang="id-ID" altLang="en-US" sz="1800" dirty="0">
                          <a:solidFill>
                            <a:srgbClr val="1F232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mengenal</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mahasiswa dan dosen walinya</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Pesanan</a:t>
                      </a:r>
                      <a:r>
                        <a:rPr lang="id-ID" altLang="en-US" sz="1800" dirty="0">
                          <a:solidFill>
                            <a:srgbClr val="1F2328"/>
                          </a:solidFill>
                          <a:latin typeface="Calibri" pitchFamily="34" charset="0"/>
                          <a:ea typeface="Calibri" pitchFamily="34" charset="-122"/>
                          <a:cs typeface="Calibri" pitchFamily="34" charset="-120"/>
                        </a:rPr>
                        <a:t> mengenal </a:t>
                      </a:r>
                      <a:r>
                        <a:rPr lang="id-ID" altLang="en-US" sz="1800" dirty="0">
                          <a:solidFill>
                            <a:srgbClr val="0A3069"/>
                          </a:solidFill>
                          <a:latin typeface="Consolas" pitchFamily="34" charset="0"/>
                          <a:ea typeface="Consolas" pitchFamily="34" charset="-122"/>
                          <a:cs typeface="Consolas" pitchFamily="34" charset="-120"/>
                        </a:rPr>
                        <a:t>Pelanggan</a:t>
                      </a:r>
                      <a:r>
                        <a:rPr lang="id-ID" altLang="en-US" sz="1800" dirty="0">
                          <a:solidFill>
                            <a:srgbClr val="1F2328"/>
                          </a:solidFill>
                          <a:latin typeface="Calibri" pitchFamily="34" charset="0"/>
                          <a:ea typeface="Calibri" pitchFamily="34" charset="-122"/>
                          <a:cs typeface="Calibri" pitchFamily="34" charset="-120"/>
                        </a:rPr>
                        <a:t> pemiliknya</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1019556">
                <a:tc>
                  <a:txBody>
                    <a:bodyPr/>
                    <a:lstStyle/>
                    <a:p>
                      <a:pPr indent="0" marL="0">
                        <a:buNone/>
                      </a:pPr>
                      <a:r>
                        <a:rPr lang="id-ID" altLang="en-US" sz="1800" b="1" dirty="0">
                          <a:solidFill>
                            <a:srgbClr val="1F2328"/>
                          </a:solidFill>
                          <a:latin typeface="Calibri" pitchFamily="34" charset="0"/>
                          <a:ea typeface="Calibri" pitchFamily="34" charset="-122"/>
                          <a:cs typeface="Calibri" pitchFamily="34" charset="-120"/>
                        </a:rPr>
                        <a:t>Agregasi</a:t>
                      </a:r>
                      <a:r>
                        <a:rPr lang="id-ID" altLang="en-US" sz="1800" dirty="0">
                          <a:solidFill>
                            <a:srgbClr val="1F2328"/>
                          </a:solidFill>
                          <a:latin typeface="Calibri" pitchFamily="34" charset="0"/>
                          <a:ea typeface="Calibri" pitchFamily="34" charset="-122"/>
                          <a:cs typeface="Calibri" pitchFamily="34" charset="-120"/>
                        </a:rPr>
                        <a:t> (</a:t>
                      </a:r>
                      <a:r>
                        <a:rPr lang="id-ID" altLang="en-US" sz="1800" i="1" dirty="0">
                          <a:solidFill>
                            <a:srgbClr val="1F2328"/>
                          </a:solidFill>
                          <a:latin typeface="Calibri" pitchFamily="34" charset="0"/>
                          <a:ea typeface="Calibri" pitchFamily="34" charset="-122"/>
                          <a:cs typeface="Calibri" pitchFamily="34" charset="-120"/>
                        </a:rPr>
                        <a:t>aggregation</a:t>
                      </a:r>
                      <a:r>
                        <a:rPr lang="id-ID" altLang="en-US" sz="1800" dirty="0">
                          <a:solidFill>
                            <a:srgbClr val="1F232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punya, tetapi bagiannya bisa hidup sendiri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tim futsal dan pemainnya</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Kedai</a:t>
                      </a:r>
                      <a:r>
                        <a:rPr lang="id-ID" altLang="en-US" sz="1800" dirty="0">
                          <a:solidFill>
                            <a:srgbClr val="1F2328"/>
                          </a:solidFill>
                          <a:latin typeface="Calibri" pitchFamily="34" charset="0"/>
                          <a:ea typeface="Calibri" pitchFamily="34" charset="-122"/>
                          <a:cs typeface="Calibri" pitchFamily="34" charset="-120"/>
                        </a:rPr>
                        <a:t> punya daftar </a:t>
                      </a:r>
                      <a:r>
                        <a:rPr lang="id-ID" altLang="en-US" sz="1800" dirty="0">
                          <a:solidFill>
                            <a:srgbClr val="0A3069"/>
                          </a:solidFill>
                          <a:latin typeface="Consolas" pitchFamily="34" charset="0"/>
                          <a:ea typeface="Consolas" pitchFamily="34" charset="-122"/>
                          <a:cs typeface="Consolas" pitchFamily="34" charset="-120"/>
                        </a:rPr>
                        <a:t>Menu</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40664">
                <a:tc>
                  <a:txBody>
                    <a:bodyPr/>
                    <a:lstStyle/>
                    <a:p>
                      <a:pPr indent="0" marL="0">
                        <a:buNone/>
                      </a:pPr>
                      <a:r>
                        <a:rPr lang="id-ID" altLang="en-US" sz="1800" b="1" dirty="0">
                          <a:solidFill>
                            <a:srgbClr val="1F2328"/>
                          </a:solidFill>
                          <a:latin typeface="Calibri" pitchFamily="34" charset="0"/>
                          <a:ea typeface="Calibri" pitchFamily="34" charset="-122"/>
                          <a:cs typeface="Calibri" pitchFamily="34" charset="-120"/>
                        </a:rPr>
                        <a:t>Komposisi</a:t>
                      </a:r>
                      <a:r>
                        <a:rPr lang="id-ID" altLang="en-US" sz="1800" dirty="0">
                          <a:solidFill>
                            <a:srgbClr val="1F2328"/>
                          </a:solidFill>
                          <a:latin typeface="Calibri" pitchFamily="34" charset="0"/>
                          <a:ea typeface="Calibri" pitchFamily="34" charset="-122"/>
                          <a:cs typeface="Calibri" pitchFamily="34" charset="-120"/>
                        </a:rPr>
                        <a:t> (</a:t>
                      </a:r>
                      <a:r>
                        <a:rPr lang="id-ID" altLang="en-US" sz="1800" i="1" dirty="0">
                          <a:solidFill>
                            <a:srgbClr val="1F2328"/>
                          </a:solidFill>
                          <a:latin typeface="Calibri" pitchFamily="34" charset="0"/>
                          <a:ea typeface="Calibri" pitchFamily="34" charset="-122"/>
                          <a:cs typeface="Calibri" pitchFamily="34" charset="-120"/>
                        </a:rPr>
                        <a:t>composition</a:t>
                      </a:r>
                      <a:r>
                        <a:rPr lang="id-ID" altLang="en-US" sz="1800" dirty="0">
                          <a:solidFill>
                            <a:srgbClr val="1F232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punya, dan bagiannya ikut hilang</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rumah dan kamarnya</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Pesanan</a:t>
                      </a:r>
                      <a:r>
                        <a:rPr lang="id-ID" altLang="en-US" sz="1800" dirty="0">
                          <a:solidFill>
                            <a:srgbClr val="1F2328"/>
                          </a:solidFill>
                          <a:latin typeface="Calibri" pitchFamily="34" charset="0"/>
                          <a:ea typeface="Calibri" pitchFamily="34" charset="-122"/>
                          <a:cs typeface="Calibri" pitchFamily="34" charset="-120"/>
                        </a:rPr>
                        <a:t> punya </a:t>
                      </a:r>
                      <a:r>
                        <a:rPr lang="id-ID" altLang="en-US" sz="1800" dirty="0">
                          <a:solidFill>
                            <a:srgbClr val="0A3069"/>
                          </a:solidFill>
                          <a:latin typeface="Consolas" pitchFamily="34" charset="0"/>
                          <a:ea typeface="Consolas" pitchFamily="34" charset="-122"/>
                          <a:cs typeface="Consolas" pitchFamily="34" charset="-120"/>
                        </a:rPr>
                        <a:t>ItemPesanan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569153"/>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641574"/>
            <a:ext cx="184343" cy="184343"/>
          </a:xfrm>
          <a:prstGeom prst="rect">
            <a:avLst/>
          </a:prstGeom>
        </p:spPr>
      </p:pic>
      <p:sp>
        <p:nvSpPr>
          <p:cNvPr id="8" name="Text 3"/>
          <p:cNvSpPr txBox="1"/>
          <p:nvPr/>
        </p:nvSpPr>
        <p:spPr>
          <a:xfrm>
            <a:off x="1005840" y="5550865"/>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Urutan dari yang paling longgar ke yang paling erat: dependensi, asosiasi, agregasi, komposisi.</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Setiap Relasi Punya Bentuk Garis</a:t>
            </a:r>
            <a:endParaRPr lang="id-ID" sz="3200" dirty="0"/>
          </a:p>
        </p:txBody>
      </p:sp>
      <p:pic>
        <p:nvPicPr>
          <p:cNvPr id="5" name="Image 1" descr="Putus-putus berpanah: dependensi. Utuh berpanah: asosiasi. Belah ketupat kosong atau penuh di sisi pemilik: agregasi atau komposisi.">    </p:cNvPr>
          <p:cNvPicPr>
            <a:picLocks noChangeAspect="1"/>
          </p:cNvPicPr>
          <p:nvPr/>
        </p:nvPicPr>
        <p:blipFill>
          <a:blip r:embed="rId2"/>
          <a:stretch>
            <a:fillRect/>
          </a:stretch>
        </p:blipFill>
        <p:spPr>
          <a:xfrm>
            <a:off x="1794154" y="1417320"/>
            <a:ext cx="8603387" cy="4045204"/>
          </a:xfrm>
          <a:prstGeom prst="rect">
            <a:avLst/>
          </a:prstGeom>
        </p:spPr>
      </p:pic>
      <p:sp>
        <p:nvSpPr>
          <p:cNvPr id="6" name="Text 2"/>
          <p:cNvSpPr txBox="1"/>
          <p:nvPr/>
        </p:nvSpPr>
        <p:spPr>
          <a:xfrm>
            <a:off x="1005840" y="5572252"/>
            <a:ext cx="10180015" cy="691388"/>
          </a:xfrm>
          <a:prstGeom prst="rect">
            <a:avLst/>
          </a:prstGeom>
          <a:noFill/>
          <a:ln/>
        </p:spPr>
        <p:txBody>
          <a:bodyPr wrap="square" lIns="0" tIns="0" rIns="0" bIns="0" rtlCol="0" anchor="t"/>
          <a:lstStyle/>
          <a:p>
            <a:pPr algn="ctr" indent="0" marL="0">
              <a:buNone/>
            </a:pPr>
            <a:r>
              <a:rPr lang="id-ID" altLang="en-US" sz="1700" dirty="0">
                <a:solidFill>
                  <a:srgbClr val="57606A"/>
                </a:solidFill>
              </a:rPr>
              <a:t>Putus-⁠putus berpanah: dependensi. Utuh berpanah: asosiasi. Belah ketupat kosong atau penuh di sisi pemilik: agregasi atau komposisi.</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9A67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Dependensi: Memakai Sebentar</a:t>
            </a:r>
            <a:endParaRPr lang="id-ID" sz="3200" dirty="0"/>
          </a:p>
        </p:txBody>
      </p:sp>
      <p:sp>
        <p:nvSpPr>
          <p:cNvPr id="5" name="Shape 2"/>
          <p:cNvSpPr/>
          <p:nvPr/>
        </p:nvSpPr>
        <p:spPr>
          <a:xfrm>
            <a:off x="548640" y="1758696"/>
            <a:ext cx="5074920" cy="3969512"/>
          </a:xfrm>
          <a:prstGeom prst="roundRect">
            <a:avLst>
              <a:gd name="adj" fmla="val 849"/>
            </a:avLst>
          </a:prstGeom>
          <a:solidFill>
            <a:srgbClr val="FFF8C5"/>
          </a:solidFill>
          <a:ln w="9525">
            <a:solidFill>
              <a:srgbClr val="D4A72C"/>
            </a:solidFill>
            <a:prstDash val="solid"/>
          </a:ln>
        </p:spPr>
      </p:sp>
      <p:sp>
        <p:nvSpPr>
          <p:cNvPr id="6" name="Shape 3"/>
          <p:cNvSpPr/>
          <p:nvPr/>
        </p:nvSpPr>
        <p:spPr>
          <a:xfrm>
            <a:off x="822960" y="1987296"/>
            <a:ext cx="457200" cy="457200"/>
          </a:xfrm>
          <a:prstGeom prst="ellipse">
            <a:avLst/>
          </a:prstGeom>
          <a:solidFill>
            <a:srgbClr val="9A6700"/>
          </a:solidFill>
          <a:ln/>
        </p:spPr>
      </p:sp>
      <p:pic>
        <p:nvPicPr>
          <p:cNvPr id="7" name="Image 1" descr="preencoded.png">    </p:cNvPr>
          <p:cNvPicPr>
            <a:picLocks noChangeAspect="1"/>
          </p:cNvPicPr>
          <p:nvPr/>
        </p:nvPicPr>
        <p:blipFill>
          <a:blip r:embed="rId2"/>
          <a:stretch>
            <a:fillRect/>
          </a:stretch>
        </p:blipFill>
        <p:spPr>
          <a:xfrm>
            <a:off x="923544" y="2087880"/>
            <a:ext cx="256032" cy="256032"/>
          </a:xfrm>
          <a:prstGeom prst="rect">
            <a:avLst/>
          </a:prstGeom>
        </p:spPr>
      </p:pic>
      <p:sp>
        <p:nvSpPr>
          <p:cNvPr id="8" name="Text 4"/>
          <p:cNvSpPr txBox="1"/>
          <p:nvPr/>
        </p:nvSpPr>
        <p:spPr>
          <a:xfrm>
            <a:off x="1417320" y="2033016"/>
            <a:ext cx="2743200" cy="365760"/>
          </a:xfrm>
          <a:prstGeom prst="rect">
            <a:avLst/>
          </a:prstGeom>
          <a:noFill/>
          <a:ln/>
        </p:spPr>
        <p:txBody>
          <a:bodyPr wrap="square" lIns="0" tIns="0" rIns="0" bIns="0" rtlCol="0" anchor="t"/>
          <a:lstStyle/>
          <a:p>
            <a:pPr indent="0" marL="0">
              <a:buNone/>
            </a:pPr>
            <a:r>
              <a:rPr lang="id-ID" altLang="en-US" sz="1600" b="1" dirty="0">
                <a:solidFill>
                  <a:srgbClr val="9A6700"/>
                </a:solidFill>
              </a:rPr>
              <a:t>Analogi</a:t>
            </a:r>
            <a:endParaRPr lang="id-ID" sz="1600" dirty="0"/>
          </a:p>
        </p:txBody>
      </p:sp>
      <p:sp>
        <p:nvSpPr>
          <p:cNvPr id="9" name="Shape 5"/>
          <p:cNvSpPr/>
          <p:nvPr/>
        </p:nvSpPr>
        <p:spPr>
          <a:xfrm>
            <a:off x="923544" y="2713736"/>
            <a:ext cx="137160" cy="137160"/>
          </a:xfrm>
          <a:prstGeom prst="roundRect">
            <a:avLst>
              <a:gd name="adj" fmla="val 166667"/>
            </a:avLst>
          </a:prstGeom>
          <a:solidFill>
            <a:srgbClr val="9A6700"/>
          </a:solidFill>
          <a:ln/>
        </p:spPr>
      </p:sp>
      <p:sp>
        <p:nvSpPr>
          <p:cNvPr id="10" name="Text 6"/>
          <p:cNvSpPr txBox="1"/>
          <p:nvPr/>
        </p:nvSpPr>
        <p:spPr>
          <a:xfrm>
            <a:off x="1252728" y="2627376"/>
            <a:ext cx="3867912" cy="975360"/>
          </a:xfrm>
          <a:prstGeom prst="rect">
            <a:avLst/>
          </a:prstGeom>
          <a:noFill/>
          <a:ln/>
        </p:spPr>
        <p:txBody>
          <a:bodyPr wrap="square" lIns="0" tIns="0" rIns="0" bIns="0" rtlCol="0" anchor="t"/>
          <a:lstStyle/>
          <a:p>
            <a:pPr indent="0" marL="0">
              <a:buNone/>
            </a:pPr>
            <a:r>
              <a:rPr lang="id-ID" altLang="en-US" sz="2000" dirty="0">
                <a:solidFill>
                  <a:srgbClr val="1F2328"/>
                </a:solidFill>
              </a:rPr>
              <a:t>Ayu memesan ojek daring dari kos ke kampus. Selama perjalanan, Ayu </a:t>
            </a:r>
            <a:r>
              <a:rPr lang="id-ID" altLang="en-US" sz="2000" b="1" dirty="0">
                <a:solidFill>
                  <a:srgbClr val="1F2328"/>
                </a:solidFill>
              </a:rPr>
              <a:t>memakai</a:t>
            </a:r>
            <a:r>
              <a:rPr lang="id-ID" altLang="en-US" sz="2000" dirty="0">
                <a:solidFill>
                  <a:srgbClr val="1F2328"/>
                </a:solidFill>
              </a:rPr>
              <a:t> jasa pengemudi.</a:t>
            </a:r>
            <a:endParaRPr lang="id-ID" sz="2000" dirty="0"/>
          </a:p>
        </p:txBody>
      </p:sp>
      <p:sp>
        <p:nvSpPr>
          <p:cNvPr id="11" name="Shape 7"/>
          <p:cNvSpPr/>
          <p:nvPr/>
        </p:nvSpPr>
        <p:spPr>
          <a:xfrm>
            <a:off x="923544" y="3862832"/>
            <a:ext cx="137160" cy="137160"/>
          </a:xfrm>
          <a:prstGeom prst="roundRect">
            <a:avLst>
              <a:gd name="adj" fmla="val 166667"/>
            </a:avLst>
          </a:prstGeom>
          <a:solidFill>
            <a:srgbClr val="9A6700"/>
          </a:solidFill>
          <a:ln/>
        </p:spPr>
      </p:sp>
      <p:sp>
        <p:nvSpPr>
          <p:cNvPr id="12" name="Text 8"/>
          <p:cNvSpPr txBox="1"/>
          <p:nvPr/>
        </p:nvSpPr>
        <p:spPr>
          <a:xfrm>
            <a:off x="1252728" y="3776472"/>
            <a:ext cx="3867912" cy="975360"/>
          </a:xfrm>
          <a:prstGeom prst="rect">
            <a:avLst/>
          </a:prstGeom>
          <a:noFill/>
          <a:ln/>
        </p:spPr>
        <p:txBody>
          <a:bodyPr wrap="square" lIns="0" tIns="0" rIns="0" bIns="0" rtlCol="0" anchor="t"/>
          <a:lstStyle/>
          <a:p>
            <a:pPr indent="0" marL="0">
              <a:buNone/>
            </a:pPr>
            <a:r>
              <a:rPr lang="id-ID" altLang="en-US" sz="2000" dirty="0">
                <a:solidFill>
                  <a:srgbClr val="1F2328"/>
                </a:solidFill>
              </a:rPr>
              <a:t>Begitu sampai, urusannya selesai. Ayu tidak “menyimpan” pengemudi itu.</a:t>
            </a:r>
            <a:endParaRPr lang="id-ID" sz="2000" dirty="0"/>
          </a:p>
        </p:txBody>
      </p:sp>
      <p:sp>
        <p:nvSpPr>
          <p:cNvPr id="13" name="Shape 9"/>
          <p:cNvSpPr/>
          <p:nvPr/>
        </p:nvSpPr>
        <p:spPr>
          <a:xfrm>
            <a:off x="923544" y="5011928"/>
            <a:ext cx="137160" cy="137160"/>
          </a:xfrm>
          <a:prstGeom prst="roundRect">
            <a:avLst>
              <a:gd name="adj" fmla="val 166667"/>
            </a:avLst>
          </a:prstGeom>
          <a:solidFill>
            <a:srgbClr val="9A6700"/>
          </a:solidFill>
          <a:ln/>
        </p:spPr>
      </p:sp>
      <p:sp>
        <p:nvSpPr>
          <p:cNvPr id="14" name="Text 10"/>
          <p:cNvSpPr txBox="1"/>
          <p:nvPr/>
        </p:nvSpPr>
        <p:spPr>
          <a:xfrm>
            <a:off x="1252728" y="4925568"/>
            <a:ext cx="3867912" cy="665480"/>
          </a:xfrm>
          <a:prstGeom prst="rect">
            <a:avLst/>
          </a:prstGeom>
          <a:noFill/>
          <a:ln/>
        </p:spPr>
        <p:txBody>
          <a:bodyPr wrap="square" lIns="0" tIns="0" rIns="0" bIns="0" rtlCol="0" anchor="t"/>
          <a:lstStyle/>
          <a:p>
            <a:pPr indent="0" marL="0">
              <a:buNone/>
            </a:pPr>
            <a:r>
              <a:rPr lang="id-ID" altLang="en-US" sz="2000" dirty="0">
                <a:solidFill>
                  <a:srgbClr val="1F2328"/>
                </a:solidFill>
              </a:rPr>
              <a:t>Besok Ayu bisa saja diantar </a:t>
            </a:r>
            <a:r>
              <a:rPr lang="id-ID" altLang="en-US" sz="2000" b="1" dirty="0">
                <a:solidFill>
                  <a:srgbClr val="1F2328"/>
                </a:solidFill>
              </a:rPr>
              <a:t>pengemudi lain</a:t>
            </a:r>
            <a:r>
              <a:rPr lang="id-ID" altLang="en-US" sz="2000" dirty="0">
                <a:solidFill>
                  <a:srgbClr val="1F2328"/>
                </a:solidFill>
              </a:rPr>
              <a:t>.</a:t>
            </a:r>
            <a:endParaRPr lang="id-ID" sz="2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0" y="1983232"/>
          <a:ext cx="5699455" cy="914400"/>
        </p:xfrm>
        <a:graphic>
          <a:graphicData uri="http://schemas.openxmlformats.org/drawingml/2006/table">
            <a:tbl>
              <a:tblPr/>
              <a:tblGrid>
                <a:gridCol w="2855064"/>
                <a:gridCol w="2844392"/>
              </a:tblGrid>
              <a:tr h="492760">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Dunia ojek</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000" b="1" dirty="0">
                          <a:solidFill>
                            <a:srgbClr val="FFFFFF"/>
                          </a:solidFill>
                          <a:latin typeface="Calibri" pitchFamily="34" charset="0"/>
                          <a:ea typeface="Calibri" pitchFamily="34" charset="-122"/>
                          <a:cs typeface="Calibri" pitchFamily="34" charset="-120"/>
                        </a:rPr>
                        <a:t>Di kode</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111252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Ayu memakai pengemudi selama perjalanan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B datang sebagai </a:t>
                      </a:r>
                      <a:r>
                        <a:rPr lang="id-ID" altLang="en-US" sz="2000" b="1" dirty="0">
                          <a:solidFill>
                            <a:srgbClr val="1F2328"/>
                          </a:solidFill>
                          <a:latin typeface="Calibri" pitchFamily="34" charset="0"/>
                          <a:ea typeface="Calibri" pitchFamily="34" charset="-122"/>
                          <a:cs typeface="Calibri" pitchFamily="34" charset="-120"/>
                        </a:rPr>
                        <a:t>parameter</a:t>
                      </a:r>
                      <a:r>
                        <a:rPr lang="id-ID" altLang="en-US" sz="2000" dirty="0">
                          <a:solidFill>
                            <a:srgbClr val="1F2328"/>
                          </a:solidFill>
                          <a:latin typeface="Calibri" pitchFamily="34" charset="0"/>
                          <a:ea typeface="Calibri" pitchFamily="34" charset="-122"/>
                          <a:cs typeface="Calibri" pitchFamily="34" charset="-120"/>
                        </a:rPr>
                        <a:t> </a:t>
                      </a:r>
                      <a:r>
                        <a:rPr lang="id-ID" altLang="en-US" sz="2000" i="1" dirty="0">
                          <a:solidFill>
                            <a:srgbClr val="1F2328"/>
                          </a:solidFill>
                          <a:latin typeface="Calibri" pitchFamily="34" charset="0"/>
                          <a:ea typeface="Calibri" pitchFamily="34" charset="-122"/>
                          <a:cs typeface="Calibri" pitchFamily="34" charset="-120"/>
                        </a:rPr>
                        <a:t>method</a:t>
                      </a:r>
                      <a:r>
                        <a:rPr lang="id-ID" altLang="en-US" sz="2000" dirty="0">
                          <a:solidFill>
                            <a:srgbClr val="1F2328"/>
                          </a:solidFill>
                          <a:latin typeface="Calibri" pitchFamily="34" charset="0"/>
                          <a:ea typeface="Calibri" pitchFamily="34" charset="-122"/>
                          <a:cs typeface="Calibri" pitchFamily="34" charset="-120"/>
                        </a:rPr>
                        <a:t> milik 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0264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Urusan selesai begitu sampai</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B </a:t>
                      </a:r>
                      <a:r>
                        <a:rPr lang="id-ID" altLang="en-US" sz="2000" b="1" dirty="0">
                          <a:solidFill>
                            <a:srgbClr val="1F2328"/>
                          </a:solidFill>
                          <a:latin typeface="Calibri" pitchFamily="34" charset="0"/>
                          <a:ea typeface="Calibri" pitchFamily="34" charset="-122"/>
                          <a:cs typeface="Calibri" pitchFamily="34" charset="-120"/>
                        </a:rPr>
                        <a:t>tidak disimpan</a:t>
                      </a:r>
                      <a:r>
                        <a:rPr lang="id-ID" altLang="en-US" sz="2000" dirty="0">
                          <a:solidFill>
                            <a:srgbClr val="1F2328"/>
                          </a:solidFill>
                          <a:latin typeface="Calibri" pitchFamily="34" charset="0"/>
                          <a:ea typeface="Calibri" pitchFamily="34" charset="-122"/>
                          <a:cs typeface="Calibri" pitchFamily="34" charset="-120"/>
                        </a:rPr>
                        <a:t> sebagai atribut 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1112520">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Besok bisa diantar pengemudi lain</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000" dirty="0">
                          <a:solidFill>
                            <a:srgbClr val="1F2328"/>
                          </a:solidFill>
                          <a:latin typeface="Calibri" pitchFamily="34" charset="0"/>
                          <a:ea typeface="Calibri" pitchFamily="34" charset="-122"/>
                          <a:cs typeface="Calibri" pitchFamily="34" charset="-120"/>
                        </a:rPr>
                        <a:t>Setiap pemanggilan boleh memakai objek yang berbeda</a:t>
                      </a:r>
                      <a:endParaRPr lang="en-US" sz="20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Asosiasi: Atribut Berisi Objek Lain</a:t>
            </a:r>
            <a:endParaRPr lang="id-ID" sz="3200" dirty="0"/>
          </a:p>
        </p:txBody>
      </p:sp>
      <p:sp>
        <p:nvSpPr>
          <p:cNvPr id="5" name="Text 2"/>
          <p:cNvSpPr txBox="1"/>
          <p:nvPr/>
        </p:nvSpPr>
        <p:spPr>
          <a:xfrm>
            <a:off x="548640" y="1743166"/>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Mahasiswa menyimpan </a:t>
            </a:r>
            <a:r>
              <a:rPr lang="id-ID" altLang="en-US" sz="1800" b="1" dirty="0">
                <a:solidFill>
                  <a:srgbClr val="57606A"/>
                </a:solidFill>
              </a:rPr>
              <a:t>referensi</a:t>
            </a:r>
            <a:r>
              <a:rPr lang="id-ID" altLang="en-US" sz="1800" dirty="0">
                <a:solidFill>
                  <a:srgbClr val="57606A"/>
                </a:solidFill>
              </a:rPr>
              <a:t> dosen walinya di atribut. Ayu dan Bima mengenal objek dosen yang sama.</a:t>
            </a:r>
            <a:endParaRPr lang="id-ID" sz="1800" dirty="0"/>
          </a:p>
        </p:txBody>
      </p:sp>
      <p:sp>
        <p:nvSpPr>
          <p:cNvPr id="6" name="Shape 3"/>
          <p:cNvSpPr/>
          <p:nvPr/>
        </p:nvSpPr>
        <p:spPr>
          <a:xfrm>
            <a:off x="548640" y="2177506"/>
            <a:ext cx="1051560" cy="329184"/>
          </a:xfrm>
          <a:prstGeom prst="roundRect">
            <a:avLst>
              <a:gd name="adj" fmla="val 138889"/>
            </a:avLst>
          </a:prstGeom>
          <a:solidFill>
            <a:srgbClr val="3572A5"/>
          </a:solidFill>
          <a:ln/>
        </p:spPr>
      </p:sp>
      <p:sp>
        <p:nvSpPr>
          <p:cNvPr id="7" name="Text 4"/>
          <p:cNvSpPr txBox="1"/>
          <p:nvPr/>
        </p:nvSpPr>
        <p:spPr>
          <a:xfrm>
            <a:off x="548640" y="2177506"/>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177506"/>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python/contoh/contoh02_asosiasi.py</a:t>
            </a:r>
            <a:endParaRPr lang="id-ID" sz="1100" dirty="0"/>
          </a:p>
        </p:txBody>
      </p:sp>
      <p:sp>
        <p:nvSpPr>
          <p:cNvPr id="9" name="Shape 6"/>
          <p:cNvSpPr/>
          <p:nvPr/>
        </p:nvSpPr>
        <p:spPr>
          <a:xfrm>
            <a:off x="548640" y="2598130"/>
            <a:ext cx="5432908" cy="3088386"/>
          </a:xfrm>
          <a:prstGeom prst="roundRect">
            <a:avLst>
              <a:gd name="adj" fmla="val 877"/>
            </a:avLst>
          </a:prstGeom>
          <a:solidFill>
            <a:srgbClr val="F6F8FA"/>
          </a:solidFill>
          <a:ln w="9525">
            <a:solidFill>
              <a:srgbClr val="D0D7DE"/>
            </a:solidFill>
            <a:prstDash val="solid"/>
          </a:ln>
        </p:spPr>
      </p:sp>
      <p:sp>
        <p:nvSpPr>
          <p:cNvPr id="10" name="Text 7"/>
          <p:cNvSpPr txBox="1"/>
          <p:nvPr/>
        </p:nvSpPr>
        <p:spPr>
          <a:xfrm>
            <a:off x="658368" y="2689570"/>
            <a:ext cx="5213452" cy="2905506"/>
          </a:xfrm>
          <a:prstGeom prst="rect">
            <a:avLst/>
          </a:prstGeom>
          <a:noFill/>
          <a:ln/>
        </p:spPr>
        <p:txBody>
          <a:bodyPr wrap="square" lIns="0" tIns="0" rIns="0" bIns="0" rtlCol="0" anchor="t"/>
          <a:lstStyle/>
          <a:p>
            <a:pPr indent="0" marL="0">
              <a:buNone/>
            </a:pPr>
            <a:r>
              <a:rPr lang="en-US" altLang="en-US" sz="1350" dirty="0">
                <a:solidFill>
                  <a:srgbClr val="CF222E"/>
                </a:solidFill>
                <a:latin typeface="Consolas" pitchFamily="34" charset="0"/>
                <a:ea typeface="Consolas" pitchFamily="34" charset="-122"/>
                <a:cs typeface="Consolas" pitchFamily="34" charset="-120"/>
              </a:rPr>
              <a:t>class</a:t>
            </a: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953800"/>
                </a:solidFill>
                <a:latin typeface="Consolas" pitchFamily="34" charset="0"/>
                <a:ea typeface="Consolas" pitchFamily="34" charset="-122"/>
                <a:cs typeface="Consolas" pitchFamily="34" charset="-120"/>
              </a:rPr>
              <a:t>Mahasiswa</a:t>
            </a:r>
            <a:r>
              <a:rPr lang="en-US" altLang="en-US" sz="1350" dirty="0">
                <a:solidFill>
                  <a:srgbClr val="1F2328"/>
                </a:solidFill>
                <a:latin typeface="Consolas" pitchFamily="34" charset="0"/>
                <a:ea typeface="Consolas" pitchFamily="34" charset="-122"/>
                <a:cs typeface="Consolas" pitchFamily="34" charset="-120"/>
              </a:rPr>
              <a:t>:</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0A3069"/>
                </a:solidFill>
                <a:latin typeface="Consolas" pitchFamily="34" charset="0"/>
                <a:ea typeface="Consolas" pitchFamily="34" charset="-122"/>
                <a:cs typeface="Consolas" pitchFamily="34" charset="-120"/>
              </a:rPr>
              <a:t>"""Mahasiswa yang mengenal dosen walinya."""</a:t>
            </a:r>
            <a:endParaRPr lang="en-US" sz="1350" dirty="0"/>
          </a:p>
          <a:p>
            <a:pPr indent="0" marL="0">
              <a:buNone/>
            </a:pPr>
            <a:r>
              <a:rPr lang="en-US" altLang="en-US" sz="1350" dirty="0">
                <a:solidFill>
                  <a:srgbClr val="000000"/>
                </a:solidFill>
                <a:latin typeface="Consolas" pitchFamily="34" charset="0"/>
                <a:ea typeface="Consolas" pitchFamily="34" charset="-122"/>
                <a:cs typeface="Consolas" pitchFamily="34" charset="-120"/>
              </a:rPr>
              <a:t> </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CF222E"/>
                </a:solidFill>
                <a:latin typeface="Consolas" pitchFamily="34" charset="0"/>
                <a:ea typeface="Consolas" pitchFamily="34" charset="-122"/>
                <a:cs typeface="Consolas" pitchFamily="34" charset="-120"/>
              </a:rPr>
              <a:t>def</a:t>
            </a: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8250DF"/>
                </a:solidFill>
                <a:latin typeface="Consolas" pitchFamily="34" charset="0"/>
                <a:ea typeface="Consolas" pitchFamily="34" charset="-122"/>
                <a:cs typeface="Consolas" pitchFamily="34" charset="-120"/>
              </a:rPr>
              <a:t>__init__</a:t>
            </a:r>
            <a:r>
              <a:rPr lang="en-US" altLang="en-US" sz="1350" dirty="0">
                <a:solidFill>
                  <a:srgbClr val="1F2328"/>
                </a:solidFill>
                <a:latin typeface="Consolas" pitchFamily="34" charset="0"/>
                <a:ea typeface="Consolas" pitchFamily="34" charset="-122"/>
                <a:cs typeface="Consolas" pitchFamily="34" charset="-120"/>
              </a:rPr>
              <a:t>(</a:t>
            </a:r>
            <a:r>
              <a:rPr lang="en-US" altLang="en-US" sz="1350" dirty="0">
                <a:solidFill>
                  <a:srgbClr val="0550AE"/>
                </a:solidFill>
                <a:latin typeface="Consolas" pitchFamily="34" charset="0"/>
                <a:ea typeface="Consolas" pitchFamily="34" charset="-122"/>
                <a:cs typeface="Consolas" pitchFamily="34" charset="-120"/>
              </a:rPr>
              <a:t>self</a:t>
            </a:r>
            <a:r>
              <a:rPr lang="en-US" altLang="en-US" sz="1350" dirty="0">
                <a:solidFill>
                  <a:srgbClr val="1F2328"/>
                </a:solidFill>
                <a:latin typeface="Consolas" pitchFamily="34" charset="0"/>
                <a:ea typeface="Consolas" pitchFamily="34" charset="-122"/>
                <a:cs typeface="Consolas" pitchFamily="34" charset="-120"/>
              </a:rPr>
              <a:t>, nama: </a:t>
            </a:r>
            <a:r>
              <a:rPr lang="en-US" altLang="en-US" sz="1350" dirty="0">
                <a:solidFill>
                  <a:srgbClr val="0550AE"/>
                </a:solidFill>
                <a:latin typeface="Consolas" pitchFamily="34" charset="0"/>
                <a:ea typeface="Consolas" pitchFamily="34" charset="-122"/>
                <a:cs typeface="Consolas" pitchFamily="34" charset="-120"/>
              </a:rPr>
              <a:t>str</a:t>
            </a:r>
            <a:r>
              <a:rPr lang="en-US" altLang="en-US" sz="1350" dirty="0">
                <a:solidFill>
                  <a:srgbClr val="1F2328"/>
                </a:solidFill>
                <a:latin typeface="Consolas" pitchFamily="34" charset="0"/>
                <a:ea typeface="Consolas" pitchFamily="34" charset="-122"/>
                <a:cs typeface="Consolas" pitchFamily="34" charset="-120"/>
              </a:rPr>
              <a:t>):</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0550AE"/>
                </a:solidFill>
                <a:latin typeface="Consolas" pitchFamily="34" charset="0"/>
                <a:ea typeface="Consolas" pitchFamily="34" charset="-122"/>
                <a:cs typeface="Consolas" pitchFamily="34" charset="-120"/>
              </a:rPr>
              <a:t>self</a:t>
            </a:r>
            <a:r>
              <a:rPr lang="en-US" altLang="en-US" sz="1350" dirty="0">
                <a:solidFill>
                  <a:srgbClr val="1F2328"/>
                </a:solidFill>
                <a:latin typeface="Consolas" pitchFamily="34" charset="0"/>
                <a:ea typeface="Consolas" pitchFamily="34" charset="-122"/>
                <a:cs typeface="Consolas" pitchFamily="34" charset="-120"/>
              </a:rPr>
              <a:t>._nama = nama</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0550AE"/>
                </a:solidFill>
                <a:latin typeface="Consolas" pitchFamily="34" charset="0"/>
                <a:ea typeface="Consolas" pitchFamily="34" charset="-122"/>
                <a:cs typeface="Consolas" pitchFamily="34" charset="-120"/>
              </a:rPr>
              <a:t>self</a:t>
            </a:r>
            <a:r>
              <a:rPr lang="en-US" altLang="en-US" sz="1350" dirty="0">
                <a:solidFill>
                  <a:srgbClr val="1F2328"/>
                </a:solidFill>
                <a:latin typeface="Consolas" pitchFamily="34" charset="0"/>
                <a:ea typeface="Consolas" pitchFamily="34" charset="-122"/>
                <a:cs typeface="Consolas" pitchFamily="34" charset="-120"/>
              </a:rPr>
              <a:t>._dosen_wali: DosenWali | </a:t>
            </a:r>
            <a:r>
              <a:rPr lang="en-US" altLang="en-US" sz="1350" dirty="0">
                <a:solidFill>
                  <a:srgbClr val="CF222E"/>
                </a:solidFill>
                <a:latin typeface="Consolas" pitchFamily="34" charset="0"/>
                <a:ea typeface="Consolas" pitchFamily="34" charset="-122"/>
                <a:cs typeface="Consolas" pitchFamily="34" charset="-120"/>
              </a:rPr>
              <a:t>None</a:t>
            </a:r>
            <a:r>
              <a:rPr lang="en-US" altLang="en-US" sz="1350" dirty="0">
                <a:solidFill>
                  <a:srgbClr val="1F2328"/>
                </a:solidFill>
                <a:latin typeface="Consolas" pitchFamily="34" charset="0"/>
                <a:ea typeface="Consolas" pitchFamily="34" charset="-122"/>
                <a:cs typeface="Consolas" pitchFamily="34" charset="-120"/>
              </a:rPr>
              <a:t> = </a:t>
            </a:r>
            <a:r>
              <a:rPr lang="en-US" altLang="en-US" sz="1350" dirty="0">
                <a:solidFill>
                  <a:srgbClr val="CF222E"/>
                </a:solidFill>
                <a:latin typeface="Consolas" pitchFamily="34" charset="0"/>
                <a:ea typeface="Consolas" pitchFamily="34" charset="-122"/>
                <a:cs typeface="Consolas" pitchFamily="34" charset="-120"/>
              </a:rPr>
              <a:t>None</a:t>
            </a:r>
            <a:endParaRPr lang="en-US" sz="1350" dirty="0"/>
          </a:p>
          <a:p>
            <a:pPr indent="0" marL="0">
              <a:buNone/>
            </a:pPr>
            <a:r>
              <a:rPr lang="en-US" altLang="en-US" sz="1350" dirty="0">
                <a:solidFill>
                  <a:srgbClr val="000000"/>
                </a:solidFill>
                <a:latin typeface="Consolas" pitchFamily="34" charset="0"/>
                <a:ea typeface="Consolas" pitchFamily="34" charset="-122"/>
                <a:cs typeface="Consolas" pitchFamily="34" charset="-120"/>
              </a:rPr>
              <a:t> </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CF222E"/>
                </a:solidFill>
                <a:latin typeface="Consolas" pitchFamily="34" charset="0"/>
                <a:ea typeface="Consolas" pitchFamily="34" charset="-122"/>
                <a:cs typeface="Consolas" pitchFamily="34" charset="-120"/>
              </a:rPr>
              <a:t>def</a:t>
            </a: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8250DF"/>
                </a:solidFill>
                <a:latin typeface="Consolas" pitchFamily="34" charset="0"/>
                <a:ea typeface="Consolas" pitchFamily="34" charset="-122"/>
                <a:cs typeface="Consolas" pitchFamily="34" charset="-120"/>
              </a:rPr>
              <a:t>atur_dosen_wali</a:t>
            </a:r>
            <a:r>
              <a:rPr lang="en-US" altLang="en-US" sz="1350" dirty="0">
                <a:solidFill>
                  <a:srgbClr val="1F2328"/>
                </a:solidFill>
                <a:latin typeface="Consolas" pitchFamily="34" charset="0"/>
                <a:ea typeface="Consolas" pitchFamily="34" charset="-122"/>
                <a:cs typeface="Consolas" pitchFamily="34" charset="-120"/>
              </a:rPr>
              <a:t>(</a:t>
            </a:r>
            <a:r>
              <a:rPr lang="en-US" altLang="en-US" sz="1350" dirty="0">
                <a:solidFill>
                  <a:srgbClr val="0550AE"/>
                </a:solidFill>
                <a:latin typeface="Consolas" pitchFamily="34" charset="0"/>
                <a:ea typeface="Consolas" pitchFamily="34" charset="-122"/>
                <a:cs typeface="Consolas" pitchFamily="34" charset="-120"/>
              </a:rPr>
              <a:t>self</a:t>
            </a:r>
            <a:r>
              <a:rPr lang="en-US" altLang="en-US" sz="1350" dirty="0">
                <a:solidFill>
                  <a:srgbClr val="1F2328"/>
                </a:solidFill>
                <a:latin typeface="Consolas" pitchFamily="34" charset="0"/>
                <a:ea typeface="Consolas" pitchFamily="34" charset="-122"/>
                <a:cs typeface="Consolas" pitchFamily="34" charset="-120"/>
              </a:rPr>
              <a:t>, dosen: DosenWali):</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0550AE"/>
                </a:solidFill>
                <a:latin typeface="Consolas" pitchFamily="34" charset="0"/>
                <a:ea typeface="Consolas" pitchFamily="34" charset="-122"/>
                <a:cs typeface="Consolas" pitchFamily="34" charset="-120"/>
              </a:rPr>
              <a:t>self</a:t>
            </a:r>
            <a:r>
              <a:rPr lang="en-US" altLang="en-US" sz="1350" dirty="0">
                <a:solidFill>
                  <a:srgbClr val="1F2328"/>
                </a:solidFill>
                <a:latin typeface="Consolas" pitchFamily="34" charset="0"/>
                <a:ea typeface="Consolas" pitchFamily="34" charset="-122"/>
                <a:cs typeface="Consolas" pitchFamily="34" charset="-120"/>
              </a:rPr>
              <a:t>._dosen_wali = dosen</a:t>
            </a:r>
            <a:endParaRPr lang="en-US" sz="1350" dirty="0"/>
          </a:p>
          <a:p>
            <a:pPr indent="0" marL="0">
              <a:buNone/>
            </a:pPr>
            <a:r>
              <a:rPr lang="en-US" altLang="en-US" sz="1350" i="1" dirty="0">
                <a:solidFill>
                  <a:srgbClr val="6E7781"/>
                </a:solidFill>
                <a:latin typeface="Consolas" pitchFamily="34" charset="0"/>
                <a:ea typeface="Consolas" pitchFamily="34" charset="-122"/>
                <a:cs typeface="Consolas" pitchFamily="34" charset="-120"/>
              </a:rPr>
              <a:t># ... di dalam main()</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ayu.atur_dosen_wali(bu_rina)</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bima.atur_dosen_wali(bu_rina)</a:t>
            </a:r>
            <a:endParaRPr lang="en-US" sz="1350" dirty="0"/>
          </a:p>
          <a:p>
            <a:pPr indent="0" marL="0">
              <a:buNone/>
            </a:pPr>
            <a:r>
              <a:rPr lang="en-US" altLang="en-US" sz="1350" i="1" dirty="0">
                <a:solidFill>
                  <a:srgbClr val="6E7781"/>
                </a:solidFill>
                <a:latin typeface="Consolas" pitchFamily="34" charset="0"/>
                <a:ea typeface="Consolas" pitchFamily="34" charset="-122"/>
                <a:cs typeface="Consolas" pitchFamily="34" charset="-120"/>
              </a:rPr>
              <a:t># ... (dilewati)</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bu_rina.pindah_ruangan(</a:t>
            </a:r>
            <a:r>
              <a:rPr lang="en-US" altLang="en-US" sz="1350" dirty="0">
                <a:solidFill>
                  <a:srgbClr val="0A3069"/>
                </a:solidFill>
                <a:latin typeface="Consolas" pitchFamily="34" charset="0"/>
                <a:ea typeface="Consolas" pitchFamily="34" charset="-122"/>
                <a:cs typeface="Consolas" pitchFamily="34" charset="-120"/>
              </a:rPr>
              <a:t>"D-105"</a:t>
            </a:r>
            <a:r>
              <a:rPr lang="en-US" altLang="en-US" sz="1350" dirty="0">
                <a:solidFill>
                  <a:srgbClr val="1F2328"/>
                </a:solidFill>
                <a:latin typeface="Consolas" pitchFamily="34" charset="0"/>
                <a:ea typeface="Consolas" pitchFamily="34" charset="-122"/>
                <a:cs typeface="Consolas" pitchFamily="34" charset="-120"/>
              </a:rPr>
              <a:t>)</a:t>
            </a:r>
            <a:endParaRPr lang="en-US" sz="1350" dirty="0"/>
          </a:p>
        </p:txBody>
      </p:sp>
      <p:sp>
        <p:nvSpPr>
          <p:cNvPr id="11" name="Shape 8"/>
          <p:cNvSpPr/>
          <p:nvPr/>
        </p:nvSpPr>
        <p:spPr>
          <a:xfrm>
            <a:off x="6210148" y="2177506"/>
            <a:ext cx="1051560" cy="329184"/>
          </a:xfrm>
          <a:prstGeom prst="roundRect">
            <a:avLst>
              <a:gd name="adj" fmla="val 138889"/>
            </a:avLst>
          </a:prstGeom>
          <a:solidFill>
            <a:srgbClr val="B07219"/>
          </a:solidFill>
          <a:ln/>
        </p:spPr>
      </p:sp>
      <p:sp>
        <p:nvSpPr>
          <p:cNvPr id="12" name="Text 9"/>
          <p:cNvSpPr txBox="1"/>
          <p:nvPr/>
        </p:nvSpPr>
        <p:spPr>
          <a:xfrm>
            <a:off x="6210148" y="2177506"/>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177506"/>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java/contoh/Contoh02Asosiasi.java</a:t>
            </a:r>
            <a:endParaRPr lang="id-ID" sz="1100" dirty="0"/>
          </a:p>
        </p:txBody>
      </p:sp>
      <p:sp>
        <p:nvSpPr>
          <p:cNvPr id="14" name="Shape 11"/>
          <p:cNvSpPr/>
          <p:nvPr/>
        </p:nvSpPr>
        <p:spPr>
          <a:xfrm>
            <a:off x="6210148" y="2598130"/>
            <a:ext cx="5432908" cy="3088386"/>
          </a:xfrm>
          <a:prstGeom prst="roundRect">
            <a:avLst>
              <a:gd name="adj" fmla="val 877"/>
            </a:avLst>
          </a:prstGeom>
          <a:solidFill>
            <a:srgbClr val="F6F8FA"/>
          </a:solidFill>
          <a:ln w="9525">
            <a:solidFill>
              <a:srgbClr val="D0D7DE"/>
            </a:solidFill>
            <a:prstDash val="solid"/>
          </a:ln>
        </p:spPr>
      </p:sp>
      <p:sp>
        <p:nvSpPr>
          <p:cNvPr id="15" name="Text 12"/>
          <p:cNvSpPr txBox="1"/>
          <p:nvPr/>
        </p:nvSpPr>
        <p:spPr>
          <a:xfrm>
            <a:off x="6319876" y="2689570"/>
            <a:ext cx="5213452" cy="2905506"/>
          </a:xfrm>
          <a:prstGeom prst="rect">
            <a:avLst/>
          </a:prstGeom>
          <a:noFill/>
          <a:ln/>
        </p:spPr>
        <p:txBody>
          <a:bodyPr wrap="square" lIns="0" tIns="0" rIns="0" bIns="0" rtlCol="0" anchor="t"/>
          <a:lstStyle/>
          <a:p>
            <a:pPr indent="0" marL="0">
              <a:buNone/>
            </a:pPr>
            <a:r>
              <a:rPr lang="en-US" altLang="en-US" sz="1350" dirty="0">
                <a:solidFill>
                  <a:srgbClr val="CF222E"/>
                </a:solidFill>
                <a:latin typeface="Consolas" pitchFamily="34" charset="0"/>
                <a:ea typeface="Consolas" pitchFamily="34" charset="-122"/>
                <a:cs typeface="Consolas" pitchFamily="34" charset="-120"/>
              </a:rPr>
              <a:t>class</a:t>
            </a: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953800"/>
                </a:solidFill>
                <a:latin typeface="Consolas" pitchFamily="34" charset="0"/>
                <a:ea typeface="Consolas" pitchFamily="34" charset="-122"/>
                <a:cs typeface="Consolas" pitchFamily="34" charset="-120"/>
              </a:rPr>
              <a:t>Mahasiswa</a:t>
            </a:r>
            <a:r>
              <a:rPr lang="en-US" altLang="en-US" sz="1350" dirty="0">
                <a:solidFill>
                  <a:srgbClr val="1F2328"/>
                </a:solidFill>
                <a:latin typeface="Consolas" pitchFamily="34" charset="0"/>
                <a:ea typeface="Consolas" pitchFamily="34" charset="-122"/>
                <a:cs typeface="Consolas" pitchFamily="34" charset="-120"/>
              </a:rPr>
              <a:t> {</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CF222E"/>
                </a:solidFill>
                <a:latin typeface="Consolas" pitchFamily="34" charset="0"/>
                <a:ea typeface="Consolas" pitchFamily="34" charset="-122"/>
                <a:cs typeface="Consolas" pitchFamily="34" charset="-120"/>
              </a:rPr>
              <a:t>private</a:t>
            </a:r>
            <a:r>
              <a:rPr lang="en-US" altLang="en-US" sz="1350" dirty="0">
                <a:solidFill>
                  <a:srgbClr val="1F2328"/>
                </a:solidFill>
                <a:latin typeface="Consolas" pitchFamily="34" charset="0"/>
                <a:ea typeface="Consolas" pitchFamily="34" charset="-122"/>
                <a:cs typeface="Consolas" pitchFamily="34" charset="-120"/>
              </a:rPr>
              <a:t> String nama;</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CF222E"/>
                </a:solidFill>
                <a:latin typeface="Consolas" pitchFamily="34" charset="0"/>
                <a:ea typeface="Consolas" pitchFamily="34" charset="-122"/>
                <a:cs typeface="Consolas" pitchFamily="34" charset="-120"/>
              </a:rPr>
              <a:t>private</a:t>
            </a:r>
            <a:r>
              <a:rPr lang="en-US" altLang="en-US" sz="1350" dirty="0">
                <a:solidFill>
                  <a:srgbClr val="1F2328"/>
                </a:solidFill>
                <a:latin typeface="Consolas" pitchFamily="34" charset="0"/>
                <a:ea typeface="Consolas" pitchFamily="34" charset="-122"/>
                <a:cs typeface="Consolas" pitchFamily="34" charset="-120"/>
              </a:rPr>
              <a:t> DosenWali dosenWali;</a:t>
            </a:r>
            <a:endParaRPr lang="en-US" sz="1350" dirty="0"/>
          </a:p>
          <a:p>
            <a:pPr indent="0" marL="0">
              <a:buNone/>
            </a:pPr>
            <a:r>
              <a:rPr lang="en-US" altLang="en-US" sz="1350" i="1" dirty="0">
                <a:solidFill>
                  <a:srgbClr val="6E7781"/>
                </a:solidFill>
                <a:latin typeface="Consolas" pitchFamily="34" charset="0"/>
                <a:ea typeface="Consolas" pitchFamily="34" charset="-122"/>
                <a:cs typeface="Consolas" pitchFamily="34" charset="-120"/>
              </a:rPr>
              <a:t>    // ... (dilewati)</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CF222E"/>
                </a:solidFill>
                <a:latin typeface="Consolas" pitchFamily="34" charset="0"/>
                <a:ea typeface="Consolas" pitchFamily="34" charset="-122"/>
                <a:cs typeface="Consolas" pitchFamily="34" charset="-120"/>
              </a:rPr>
              <a:t>public</a:t>
            </a: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CF222E"/>
                </a:solidFill>
                <a:latin typeface="Consolas" pitchFamily="34" charset="0"/>
                <a:ea typeface="Consolas" pitchFamily="34" charset="-122"/>
                <a:cs typeface="Consolas" pitchFamily="34" charset="-120"/>
              </a:rPr>
              <a:t>void</a:t>
            </a: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8250DF"/>
                </a:solidFill>
                <a:latin typeface="Consolas" pitchFamily="34" charset="0"/>
                <a:ea typeface="Consolas" pitchFamily="34" charset="-122"/>
                <a:cs typeface="Consolas" pitchFamily="34" charset="-120"/>
              </a:rPr>
              <a:t>aturDosenWali</a:t>
            </a:r>
            <a:r>
              <a:rPr lang="en-US" altLang="en-US" sz="1350" dirty="0">
                <a:solidFill>
                  <a:srgbClr val="1F2328"/>
                </a:solidFill>
                <a:latin typeface="Consolas" pitchFamily="34" charset="0"/>
                <a:ea typeface="Consolas" pitchFamily="34" charset="-122"/>
                <a:cs typeface="Consolas" pitchFamily="34" charset="-120"/>
              </a:rPr>
              <a:t>(DosenWali dosen) {</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        </a:t>
            </a:r>
            <a:r>
              <a:rPr lang="en-US" altLang="en-US" sz="1350" dirty="0">
                <a:solidFill>
                  <a:srgbClr val="CF222E"/>
                </a:solidFill>
                <a:latin typeface="Consolas" pitchFamily="34" charset="0"/>
                <a:ea typeface="Consolas" pitchFamily="34" charset="-122"/>
                <a:cs typeface="Consolas" pitchFamily="34" charset="-120"/>
              </a:rPr>
              <a:t>this</a:t>
            </a:r>
            <a:r>
              <a:rPr lang="en-US" altLang="en-US" sz="1350" dirty="0">
                <a:solidFill>
                  <a:srgbClr val="1F2328"/>
                </a:solidFill>
                <a:latin typeface="Consolas" pitchFamily="34" charset="0"/>
                <a:ea typeface="Consolas" pitchFamily="34" charset="-122"/>
                <a:cs typeface="Consolas" pitchFamily="34" charset="-120"/>
              </a:rPr>
              <a:t>.dosenWali = dosen;</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    }</a:t>
            </a:r>
            <a:endParaRPr lang="en-US" sz="1350" dirty="0"/>
          </a:p>
          <a:p>
            <a:pPr indent="0" marL="0">
              <a:buNone/>
            </a:pPr>
            <a:r>
              <a:rPr lang="en-US" altLang="en-US" sz="1350" i="1" dirty="0">
                <a:solidFill>
                  <a:srgbClr val="6E7781"/>
                </a:solidFill>
                <a:latin typeface="Consolas" pitchFamily="34" charset="0"/>
                <a:ea typeface="Consolas" pitchFamily="34" charset="-122"/>
                <a:cs typeface="Consolas" pitchFamily="34" charset="-120"/>
              </a:rPr>
              <a:t>    // ... (dilewati)</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a:t>
            </a:r>
            <a:endParaRPr lang="en-US" sz="1350" dirty="0"/>
          </a:p>
          <a:p>
            <a:pPr indent="0" marL="0">
              <a:buNone/>
            </a:pPr>
            <a:r>
              <a:rPr lang="en-US" altLang="en-US" sz="1350" i="1" dirty="0">
                <a:solidFill>
                  <a:srgbClr val="6E7781"/>
                </a:solidFill>
                <a:latin typeface="Consolas" pitchFamily="34" charset="0"/>
                <a:ea typeface="Consolas" pitchFamily="34" charset="-122"/>
                <a:cs typeface="Consolas" pitchFamily="34" charset="-120"/>
              </a:rPr>
              <a:t>// ... di dalam main</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ayu.aturDosenWali(buRina);</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bima.aturDosenWali(buRina);</a:t>
            </a:r>
            <a:endParaRPr lang="en-US" sz="1350" dirty="0"/>
          </a:p>
          <a:p>
            <a:pPr indent="0" marL="0">
              <a:buNone/>
            </a:pPr>
            <a:r>
              <a:rPr lang="en-US" altLang="en-US" sz="1350" i="1" dirty="0">
                <a:solidFill>
                  <a:srgbClr val="6E7781"/>
                </a:solidFill>
                <a:latin typeface="Consolas" pitchFamily="34" charset="0"/>
                <a:ea typeface="Consolas" pitchFamily="34" charset="-122"/>
                <a:cs typeface="Consolas" pitchFamily="34" charset="-120"/>
              </a:rPr>
              <a:t>// ... (dilewati)</a:t>
            </a:r>
            <a:endParaRPr lang="en-US" sz="1350" dirty="0"/>
          </a:p>
          <a:p>
            <a:pPr indent="0" marL="0">
              <a:buNone/>
            </a:pPr>
            <a:r>
              <a:rPr lang="en-US" altLang="en-US" sz="1350" dirty="0">
                <a:solidFill>
                  <a:srgbClr val="1F2328"/>
                </a:solidFill>
                <a:latin typeface="Consolas" pitchFamily="34" charset="0"/>
                <a:ea typeface="Consolas" pitchFamily="34" charset="-122"/>
                <a:cs typeface="Consolas" pitchFamily="34" charset="-120"/>
              </a:rPr>
              <a:t>buRina.pindahRuangan(</a:t>
            </a:r>
            <a:r>
              <a:rPr lang="en-US" altLang="en-US" sz="1350" dirty="0">
                <a:solidFill>
                  <a:srgbClr val="0A3069"/>
                </a:solidFill>
                <a:latin typeface="Consolas" pitchFamily="34" charset="0"/>
                <a:ea typeface="Consolas" pitchFamily="34" charset="-122"/>
                <a:cs typeface="Consolas" pitchFamily="34" charset="-120"/>
              </a:rPr>
              <a:t>"D-105"</a:t>
            </a:r>
            <a:r>
              <a:rPr lang="en-US" altLang="en-US" sz="1350" dirty="0">
                <a:solidFill>
                  <a:srgbClr val="1F2328"/>
                </a:solidFill>
                <a:latin typeface="Consolas" pitchFamily="34" charset="0"/>
                <a:ea typeface="Consolas" pitchFamily="34" charset="-122"/>
                <a:cs typeface="Consolas" pitchFamily="34" charset="-120"/>
              </a:rPr>
              <a:t>);</a:t>
            </a:r>
            <a:endParaRPr lang="en-US" sz="13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Agregasi dan Komposisi</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Sama-⁠sama hubungan punya, tetapi siklus hidup bagiannya berbeda.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Agregasi: </a:t>
            </a:r>
            <a:r>
              <a:rPr lang="id-ID" altLang="en-US" sz="3200" b="1" i="1" dirty="0">
                <a:solidFill>
                  <a:srgbClr val="0A3069"/>
                </a:solidFill>
              </a:rPr>
              <a:t>List</a:t>
            </a:r>
            <a:r>
              <a:rPr lang="id-ID" altLang="en-US" sz="3200" b="1" dirty="0">
                <a:solidFill>
                  <a:srgbClr val="0A3069"/>
                </a:solidFill>
              </a:rPr>
              <a:t> Berisi Objek dari Luar</a:t>
            </a:r>
            <a:endParaRPr lang="id-ID" sz="3200" dirty="0"/>
          </a:p>
        </p:txBody>
      </p:sp>
      <p:sp>
        <p:nvSpPr>
          <p:cNvPr id="5" name="Text 2"/>
          <p:cNvSpPr txBox="1"/>
          <p:nvPr/>
        </p:nvSpPr>
        <p:spPr>
          <a:xfrm>
            <a:off x="548640" y="1371600"/>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Pemain dibuat </a:t>
            </a:r>
            <a:r>
              <a:rPr lang="id-ID" altLang="en-US" sz="1800" b="1" dirty="0">
                <a:solidFill>
                  <a:srgbClr val="57606A"/>
                </a:solidFill>
              </a:rPr>
              <a:t>di luar</a:t>
            </a:r>
            <a:r>
              <a:rPr lang="id-ID" altLang="en-US" sz="1800" dirty="0">
                <a:solidFill>
                  <a:srgbClr val="57606A"/>
                </a:solidFill>
              </a:rPr>
              <a:t> tim, lalu diserahkan lewat </a:t>
            </a:r>
            <a:r>
              <a:rPr lang="id-ID" altLang="en-US" sz="1800" dirty="0">
                <a:solidFill>
                  <a:srgbClr val="0A3069"/>
                </a:solidFill>
                <a:latin typeface="Consolas" pitchFamily="34" charset="0"/>
                <a:ea typeface="Consolas" pitchFamily="34" charset="-122"/>
                <a:cs typeface="Consolas" pitchFamily="34" charset="-120"/>
              </a:rPr>
              <a:t>rekrut()</a:t>
            </a:r>
            <a:r>
              <a:rPr lang="id-ID" altLang="en-US" sz="1800" dirty="0">
                <a:solidFill>
                  <a:srgbClr val="57606A"/>
                </a:solidFill>
              </a:rPr>
              <a:t>. Bayu boleh ikut dua tim sekaligus.</a:t>
            </a:r>
            <a:endParaRPr lang="id-ID" sz="1800" dirty="0"/>
          </a:p>
        </p:txBody>
      </p:sp>
      <p:sp>
        <p:nvSpPr>
          <p:cNvPr id="6" name="Shape 3"/>
          <p:cNvSpPr/>
          <p:nvPr/>
        </p:nvSpPr>
        <p:spPr>
          <a:xfrm>
            <a:off x="548640" y="1805940"/>
            <a:ext cx="1051560" cy="329184"/>
          </a:xfrm>
          <a:prstGeom prst="roundRect">
            <a:avLst>
              <a:gd name="adj" fmla="val 138889"/>
            </a:avLst>
          </a:prstGeom>
          <a:solidFill>
            <a:srgbClr val="3572A5"/>
          </a:solidFill>
          <a:ln/>
        </p:spPr>
      </p:sp>
      <p:sp>
        <p:nvSpPr>
          <p:cNvPr id="7" name="Text 4"/>
          <p:cNvSpPr txBox="1"/>
          <p:nvPr/>
        </p:nvSpPr>
        <p:spPr>
          <a:xfrm>
            <a:off x="548640" y="1805940"/>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1805940"/>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python/contoh/contoh03_agregasi.py</a:t>
            </a:r>
            <a:endParaRPr lang="id-ID" sz="1100" dirty="0"/>
          </a:p>
        </p:txBody>
      </p:sp>
      <p:sp>
        <p:nvSpPr>
          <p:cNvPr id="9" name="Shape 6"/>
          <p:cNvSpPr/>
          <p:nvPr/>
        </p:nvSpPr>
        <p:spPr>
          <a:xfrm>
            <a:off x="548640" y="2226564"/>
            <a:ext cx="5432908" cy="3973068"/>
          </a:xfrm>
          <a:prstGeom prst="roundRect">
            <a:avLst>
              <a:gd name="adj" fmla="val 530"/>
            </a:avLst>
          </a:prstGeom>
          <a:solidFill>
            <a:srgbClr val="F6F8FA"/>
          </a:solidFill>
          <a:ln w="9525">
            <a:solidFill>
              <a:srgbClr val="D0D7DE"/>
            </a:solidFill>
            <a:prstDash val="solid"/>
          </a:ln>
        </p:spPr>
      </p:sp>
      <p:sp>
        <p:nvSpPr>
          <p:cNvPr id="10" name="Text 7"/>
          <p:cNvSpPr txBox="1"/>
          <p:nvPr/>
        </p:nvSpPr>
        <p:spPr>
          <a:xfrm>
            <a:off x="658368" y="2318004"/>
            <a:ext cx="5213452" cy="3790188"/>
          </a:xfrm>
          <a:prstGeom prst="rect">
            <a:avLst/>
          </a:prstGeom>
          <a:noFill/>
          <a:ln/>
        </p:spPr>
        <p:txBody>
          <a:bodyPr wrap="square" lIns="0" tIns="0" rIns="0" bIns="0" rtlCol="0" anchor="t"/>
          <a:lstStyle/>
          <a:p>
            <a:pPr indent="0" marL="0">
              <a:buNone/>
            </a:pPr>
            <a:r>
              <a:rPr lang="en-US" altLang="en-US" sz="1400" dirty="0">
                <a:solidFill>
                  <a:srgbClr val="CF222E"/>
                </a:solidFill>
                <a:latin typeface="Consolas" pitchFamily="34" charset="0"/>
                <a:ea typeface="Consolas" pitchFamily="34" charset="-122"/>
                <a:cs typeface="Consolas" pitchFamily="34" charset="-120"/>
              </a:rPr>
              <a:t>class</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953800"/>
                </a:solidFill>
                <a:latin typeface="Consolas" pitchFamily="34" charset="0"/>
                <a:ea typeface="Consolas" pitchFamily="34" charset="-122"/>
                <a:cs typeface="Consolas" pitchFamily="34" charset="-120"/>
              </a:rPr>
              <a:t>Tim</a:t>
            </a:r>
            <a:r>
              <a:rPr lang="en-US" altLang="en-US" sz="1400" dirty="0">
                <a:solidFill>
                  <a:srgbClr val="1F2328"/>
                </a:solidFill>
                <a:latin typeface="Consolas" pitchFamily="34" charset="0"/>
                <a:ea typeface="Consolas" pitchFamily="34" charset="-122"/>
                <a:cs typeface="Consolas" pitchFamily="34" charset="-120"/>
              </a:rPr>
              <a:t>:</a:t>
            </a:r>
            <a:endParaRPr lang="en-US" sz="1400" dirty="0"/>
          </a:p>
          <a:p>
            <a:pPr indent="0" marL="0">
              <a:buNone/>
            </a:pPr>
            <a:r>
              <a:rPr lang="en-US" altLang="en-US" sz="1400" i="1" dirty="0">
                <a:solidFill>
                  <a:srgbClr val="6E7781"/>
                </a:solidFill>
                <a:latin typeface="Consolas" pitchFamily="34" charset="0"/>
                <a:ea typeface="Consolas" pitchFamily="34" charset="-122"/>
                <a:cs typeface="Consolas" pitchFamily="34" charset="-120"/>
              </a:rPr>
              <a:t>    # ... (dilewati)</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def</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8250DF"/>
                </a:solidFill>
                <a:latin typeface="Consolas" pitchFamily="34" charset="0"/>
                <a:ea typeface="Consolas" pitchFamily="34" charset="-122"/>
                <a:cs typeface="Consolas" pitchFamily="34" charset="-120"/>
              </a:rPr>
              <a:t>__init__</a:t>
            </a:r>
            <a:r>
              <a:rPr lang="en-US" altLang="en-US" sz="1400" dirty="0">
                <a:solidFill>
                  <a:srgbClr val="1F2328"/>
                </a:solidFill>
                <a:latin typeface="Consolas" pitchFamily="34" charset="0"/>
                <a:ea typeface="Consolas" pitchFamily="34" charset="-122"/>
                <a:cs typeface="Consolas" pitchFamily="34" charset="-120"/>
              </a:rPr>
              <a:t>(</a:t>
            </a:r>
            <a:r>
              <a:rPr lang="en-US" altLang="en-US" sz="1400" dirty="0">
                <a:solidFill>
                  <a:srgbClr val="0550AE"/>
                </a:solidFill>
                <a:latin typeface="Consolas" pitchFamily="34" charset="0"/>
                <a:ea typeface="Consolas" pitchFamily="34" charset="-122"/>
                <a:cs typeface="Consolas" pitchFamily="34" charset="-120"/>
              </a:rPr>
              <a:t>self</a:t>
            </a:r>
            <a:r>
              <a:rPr lang="en-US" altLang="en-US" sz="1400" dirty="0">
                <a:solidFill>
                  <a:srgbClr val="1F2328"/>
                </a:solidFill>
                <a:latin typeface="Consolas" pitchFamily="34" charset="0"/>
                <a:ea typeface="Consolas" pitchFamily="34" charset="-122"/>
                <a:cs typeface="Consolas" pitchFamily="34" charset="-120"/>
              </a:rPr>
              <a:t>, nama: </a:t>
            </a:r>
            <a:r>
              <a:rPr lang="en-US" altLang="en-US" sz="1400" dirty="0">
                <a:solidFill>
                  <a:srgbClr val="0550AE"/>
                </a:solidFill>
                <a:latin typeface="Consolas" pitchFamily="34" charset="0"/>
                <a:ea typeface="Consolas" pitchFamily="34" charset="-122"/>
                <a:cs typeface="Consolas" pitchFamily="34" charset="-120"/>
              </a:rPr>
              <a:t>str</a:t>
            </a:r>
            <a:r>
              <a:rPr lang="en-US" altLang="en-US" sz="1400" dirty="0">
                <a:solidFill>
                  <a:srgbClr val="1F2328"/>
                </a:solidFill>
                <a:latin typeface="Consolas" pitchFamily="34" charset="0"/>
                <a:ea typeface="Consolas" pitchFamily="34" charset="-122"/>
                <a:cs typeface="Consolas" pitchFamily="34" charset="-120"/>
              </a:rPr>
              <a:t>):</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0550AE"/>
                </a:solidFill>
                <a:latin typeface="Consolas" pitchFamily="34" charset="0"/>
                <a:ea typeface="Consolas" pitchFamily="34" charset="-122"/>
                <a:cs typeface="Consolas" pitchFamily="34" charset="-120"/>
              </a:rPr>
              <a:t>self</a:t>
            </a:r>
            <a:r>
              <a:rPr lang="en-US" altLang="en-US" sz="1400" dirty="0">
                <a:solidFill>
                  <a:srgbClr val="1F2328"/>
                </a:solidFill>
                <a:latin typeface="Consolas" pitchFamily="34" charset="0"/>
                <a:ea typeface="Consolas" pitchFamily="34" charset="-122"/>
                <a:cs typeface="Consolas" pitchFamily="34" charset="-120"/>
              </a:rPr>
              <a:t>._nama = nama</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0550AE"/>
                </a:solidFill>
                <a:latin typeface="Consolas" pitchFamily="34" charset="0"/>
                <a:ea typeface="Consolas" pitchFamily="34" charset="-122"/>
                <a:cs typeface="Consolas" pitchFamily="34" charset="-120"/>
              </a:rPr>
              <a:t>self</a:t>
            </a:r>
            <a:r>
              <a:rPr lang="en-US" altLang="en-US" sz="1400" dirty="0">
                <a:solidFill>
                  <a:srgbClr val="1F2328"/>
                </a:solidFill>
                <a:latin typeface="Consolas" pitchFamily="34" charset="0"/>
                <a:ea typeface="Consolas" pitchFamily="34" charset="-122"/>
                <a:cs typeface="Consolas" pitchFamily="34" charset="-120"/>
              </a:rPr>
              <a:t>._daftar_pemain: </a:t>
            </a:r>
            <a:r>
              <a:rPr lang="en-US" altLang="en-US" sz="1400" dirty="0">
                <a:solidFill>
                  <a:srgbClr val="0550AE"/>
                </a:solidFill>
                <a:latin typeface="Consolas" pitchFamily="34" charset="0"/>
                <a:ea typeface="Consolas" pitchFamily="34" charset="-122"/>
                <a:cs typeface="Consolas" pitchFamily="34" charset="-120"/>
              </a:rPr>
              <a:t>list</a:t>
            </a:r>
            <a:r>
              <a:rPr lang="en-US" altLang="en-US" sz="1400" dirty="0">
                <a:solidFill>
                  <a:srgbClr val="1F2328"/>
                </a:solidFill>
                <a:latin typeface="Consolas" pitchFamily="34" charset="0"/>
                <a:ea typeface="Consolas" pitchFamily="34" charset="-122"/>
                <a:cs typeface="Consolas" pitchFamily="34" charset="-120"/>
              </a:rPr>
              <a:t>[Pemain] = []</a:t>
            </a:r>
            <a:endParaRPr lang="en-US" sz="1400" dirty="0"/>
          </a:p>
          <a:p>
            <a:pPr indent="0" marL="0">
              <a:buNone/>
            </a:pPr>
            <a:r>
              <a:rPr lang="en-US" altLang="en-US" sz="1400" dirty="0">
                <a:solidFill>
                  <a:srgbClr val="000000"/>
                </a:solidFill>
                <a:latin typeface="Consolas" pitchFamily="34" charset="0"/>
                <a:ea typeface="Consolas" pitchFamily="34" charset="-122"/>
                <a:cs typeface="Consolas" pitchFamily="34" charset="-120"/>
              </a:rPr>
              <a:t> </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def</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8250DF"/>
                </a:solidFill>
                <a:latin typeface="Consolas" pitchFamily="34" charset="0"/>
                <a:ea typeface="Consolas" pitchFamily="34" charset="-122"/>
                <a:cs typeface="Consolas" pitchFamily="34" charset="-120"/>
              </a:rPr>
              <a:t>rekrut</a:t>
            </a:r>
            <a:r>
              <a:rPr lang="en-US" altLang="en-US" sz="1400" dirty="0">
                <a:solidFill>
                  <a:srgbClr val="1F2328"/>
                </a:solidFill>
                <a:latin typeface="Consolas" pitchFamily="34" charset="0"/>
                <a:ea typeface="Consolas" pitchFamily="34" charset="-122"/>
                <a:cs typeface="Consolas" pitchFamily="34" charset="-120"/>
              </a:rPr>
              <a:t>(</a:t>
            </a:r>
            <a:r>
              <a:rPr lang="en-US" altLang="en-US" sz="1400" dirty="0">
                <a:solidFill>
                  <a:srgbClr val="0550AE"/>
                </a:solidFill>
                <a:latin typeface="Consolas" pitchFamily="34" charset="0"/>
                <a:ea typeface="Consolas" pitchFamily="34" charset="-122"/>
                <a:cs typeface="Consolas" pitchFamily="34" charset="-120"/>
              </a:rPr>
              <a:t>self</a:t>
            </a:r>
            <a:r>
              <a:rPr lang="en-US" altLang="en-US" sz="1400" dirty="0">
                <a:solidFill>
                  <a:srgbClr val="1F2328"/>
                </a:solidFill>
                <a:latin typeface="Consolas" pitchFamily="34" charset="0"/>
                <a:ea typeface="Consolas" pitchFamily="34" charset="-122"/>
                <a:cs typeface="Consolas" pitchFamily="34" charset="-120"/>
              </a:rPr>
              <a:t>, pemain: Pemain):</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0550AE"/>
                </a:solidFill>
                <a:latin typeface="Consolas" pitchFamily="34" charset="0"/>
                <a:ea typeface="Consolas" pitchFamily="34" charset="-122"/>
                <a:cs typeface="Consolas" pitchFamily="34" charset="-120"/>
              </a:rPr>
              <a:t>self</a:t>
            </a:r>
            <a:r>
              <a:rPr lang="en-US" altLang="en-US" sz="1400" dirty="0">
                <a:solidFill>
                  <a:srgbClr val="1F2328"/>
                </a:solidFill>
                <a:latin typeface="Consolas" pitchFamily="34" charset="0"/>
                <a:ea typeface="Consolas" pitchFamily="34" charset="-122"/>
                <a:cs typeface="Consolas" pitchFamily="34" charset="-120"/>
              </a:rPr>
              <a:t>._daftar_pemain.append(pemain)</a:t>
            </a:r>
            <a:endParaRPr lang="en-US" sz="1400" dirty="0"/>
          </a:p>
          <a:p>
            <a:pPr indent="0" marL="0">
              <a:buNone/>
            </a:pPr>
            <a:r>
              <a:rPr lang="en-US" altLang="en-US" sz="1400" i="1" dirty="0">
                <a:solidFill>
                  <a:srgbClr val="6E7781"/>
                </a:solidFill>
                <a:latin typeface="Consolas" pitchFamily="34" charset="0"/>
                <a:ea typeface="Consolas" pitchFamily="34" charset="-122"/>
                <a:cs typeface="Consolas" pitchFamily="34" charset="-120"/>
              </a:rPr>
              <a:t>        # ... (dilewati)</a:t>
            </a:r>
            <a:endParaRPr lang="en-US" sz="1400" dirty="0"/>
          </a:p>
          <a:p>
            <a:pPr indent="0" marL="0">
              <a:buNone/>
            </a:pPr>
            <a:r>
              <a:rPr lang="en-US" altLang="en-US" sz="1400" i="1" dirty="0">
                <a:solidFill>
                  <a:srgbClr val="6E7781"/>
                </a:solidFill>
                <a:latin typeface="Consolas" pitchFamily="34" charset="0"/>
                <a:ea typeface="Consolas" pitchFamily="34" charset="-122"/>
                <a:cs typeface="Consolas" pitchFamily="34" charset="-120"/>
              </a:rPr>
              <a:t># ... di dalam main()</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tim_kelas.rekrut(andi)</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tim_kelas.rekrut(bayu)</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tim_kelas.rekrut(candra)</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tim_fakultas.rekrut(bayu)</a:t>
            </a:r>
            <a:endParaRPr lang="en-US" sz="1400" dirty="0"/>
          </a:p>
        </p:txBody>
      </p:sp>
      <p:sp>
        <p:nvSpPr>
          <p:cNvPr id="11" name="Shape 8"/>
          <p:cNvSpPr/>
          <p:nvPr/>
        </p:nvSpPr>
        <p:spPr>
          <a:xfrm>
            <a:off x="6210148" y="1805940"/>
            <a:ext cx="1051560" cy="329184"/>
          </a:xfrm>
          <a:prstGeom prst="roundRect">
            <a:avLst>
              <a:gd name="adj" fmla="val 138889"/>
            </a:avLst>
          </a:prstGeom>
          <a:solidFill>
            <a:srgbClr val="B07219"/>
          </a:solidFill>
          <a:ln/>
        </p:spPr>
      </p:sp>
      <p:sp>
        <p:nvSpPr>
          <p:cNvPr id="12" name="Text 9"/>
          <p:cNvSpPr txBox="1"/>
          <p:nvPr/>
        </p:nvSpPr>
        <p:spPr>
          <a:xfrm>
            <a:off x="6210148" y="1805940"/>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1805940"/>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java/contoh/Contoh03Agregasi.java</a:t>
            </a:r>
            <a:endParaRPr lang="id-ID" sz="1100" dirty="0"/>
          </a:p>
        </p:txBody>
      </p:sp>
      <p:sp>
        <p:nvSpPr>
          <p:cNvPr id="14" name="Shape 11"/>
          <p:cNvSpPr/>
          <p:nvPr/>
        </p:nvSpPr>
        <p:spPr>
          <a:xfrm>
            <a:off x="6210148" y="2226564"/>
            <a:ext cx="5432908" cy="3973068"/>
          </a:xfrm>
          <a:prstGeom prst="roundRect">
            <a:avLst>
              <a:gd name="adj" fmla="val 530"/>
            </a:avLst>
          </a:prstGeom>
          <a:solidFill>
            <a:srgbClr val="F6F8FA"/>
          </a:solidFill>
          <a:ln w="9525">
            <a:solidFill>
              <a:srgbClr val="D0D7DE"/>
            </a:solidFill>
            <a:prstDash val="solid"/>
          </a:ln>
        </p:spPr>
      </p:sp>
      <p:sp>
        <p:nvSpPr>
          <p:cNvPr id="15" name="Text 12"/>
          <p:cNvSpPr txBox="1"/>
          <p:nvPr/>
        </p:nvSpPr>
        <p:spPr>
          <a:xfrm>
            <a:off x="6319876" y="2318004"/>
            <a:ext cx="5213452" cy="3790188"/>
          </a:xfrm>
          <a:prstGeom prst="rect">
            <a:avLst/>
          </a:prstGeom>
          <a:noFill/>
          <a:ln/>
        </p:spPr>
        <p:txBody>
          <a:bodyPr wrap="square" lIns="0" tIns="0" rIns="0" bIns="0" rtlCol="0" anchor="t"/>
          <a:lstStyle/>
          <a:p>
            <a:pPr indent="0" marL="0">
              <a:buNone/>
            </a:pPr>
            <a:r>
              <a:rPr lang="en-US" altLang="en-US" sz="1400" dirty="0">
                <a:solidFill>
                  <a:srgbClr val="CF222E"/>
                </a:solidFill>
                <a:latin typeface="Consolas" pitchFamily="34" charset="0"/>
                <a:ea typeface="Consolas" pitchFamily="34" charset="-122"/>
                <a:cs typeface="Consolas" pitchFamily="34" charset="-120"/>
              </a:rPr>
              <a:t>class</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953800"/>
                </a:solidFill>
                <a:latin typeface="Consolas" pitchFamily="34" charset="0"/>
                <a:ea typeface="Consolas" pitchFamily="34" charset="-122"/>
                <a:cs typeface="Consolas" pitchFamily="34" charset="-120"/>
              </a:rPr>
              <a:t>Tim</a:t>
            </a:r>
            <a:r>
              <a:rPr lang="en-US" altLang="en-US" sz="1400" dirty="0">
                <a:solidFill>
                  <a:srgbClr val="1F2328"/>
                </a:solidFill>
                <a:latin typeface="Consolas" pitchFamily="34" charset="0"/>
                <a:ea typeface="Consolas" pitchFamily="34" charset="-122"/>
                <a:cs typeface="Consolas" pitchFamily="34" charset="-120"/>
              </a:rPr>
              <a:t> {</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private</a:t>
            </a:r>
            <a:r>
              <a:rPr lang="en-US" altLang="en-US" sz="1400" dirty="0">
                <a:solidFill>
                  <a:srgbClr val="1F2328"/>
                </a:solidFill>
                <a:latin typeface="Consolas" pitchFamily="34" charset="0"/>
                <a:ea typeface="Consolas" pitchFamily="34" charset="-122"/>
                <a:cs typeface="Consolas" pitchFamily="34" charset="-120"/>
              </a:rPr>
              <a:t> String nama;</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private</a:t>
            </a:r>
            <a:r>
              <a:rPr lang="en-US" altLang="en-US" sz="1400" dirty="0">
                <a:solidFill>
                  <a:srgbClr val="1F2328"/>
                </a:solidFill>
                <a:latin typeface="Consolas" pitchFamily="34" charset="0"/>
                <a:ea typeface="Consolas" pitchFamily="34" charset="-122"/>
                <a:cs typeface="Consolas" pitchFamily="34" charset="-120"/>
              </a:rPr>
              <a:t> List&lt;Pemain&gt; daftarPemain;</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public</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8250DF"/>
                </a:solidFill>
                <a:latin typeface="Consolas" pitchFamily="34" charset="0"/>
                <a:ea typeface="Consolas" pitchFamily="34" charset="-122"/>
                <a:cs typeface="Consolas" pitchFamily="34" charset="-120"/>
              </a:rPr>
              <a:t>Tim</a:t>
            </a:r>
            <a:r>
              <a:rPr lang="en-US" altLang="en-US" sz="1400" dirty="0">
                <a:solidFill>
                  <a:srgbClr val="1F2328"/>
                </a:solidFill>
                <a:latin typeface="Consolas" pitchFamily="34" charset="0"/>
                <a:ea typeface="Consolas" pitchFamily="34" charset="-122"/>
                <a:cs typeface="Consolas" pitchFamily="34" charset="-120"/>
              </a:rPr>
              <a:t>(String nama) {</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this</a:t>
            </a:r>
            <a:r>
              <a:rPr lang="en-US" altLang="en-US" sz="1400" dirty="0">
                <a:solidFill>
                  <a:srgbClr val="1F2328"/>
                </a:solidFill>
                <a:latin typeface="Consolas" pitchFamily="34" charset="0"/>
                <a:ea typeface="Consolas" pitchFamily="34" charset="-122"/>
                <a:cs typeface="Consolas" pitchFamily="34" charset="-120"/>
              </a:rPr>
              <a:t>.nama = nama;</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this</a:t>
            </a:r>
            <a:r>
              <a:rPr lang="en-US" altLang="en-US" sz="1400" dirty="0">
                <a:solidFill>
                  <a:srgbClr val="1F2328"/>
                </a:solidFill>
                <a:latin typeface="Consolas" pitchFamily="34" charset="0"/>
                <a:ea typeface="Consolas" pitchFamily="34" charset="-122"/>
                <a:cs typeface="Consolas" pitchFamily="34" charset="-120"/>
              </a:rPr>
              <a:t>.daftarPemain = </a:t>
            </a:r>
            <a:r>
              <a:rPr lang="en-US" altLang="en-US" sz="1400" dirty="0">
                <a:solidFill>
                  <a:srgbClr val="CF222E"/>
                </a:solidFill>
                <a:latin typeface="Consolas" pitchFamily="34" charset="0"/>
                <a:ea typeface="Consolas" pitchFamily="34" charset="-122"/>
                <a:cs typeface="Consolas" pitchFamily="34" charset="-120"/>
              </a:rPr>
              <a:t>new</a:t>
            </a:r>
            <a:r>
              <a:rPr lang="en-US" altLang="en-US" sz="1400" dirty="0">
                <a:solidFill>
                  <a:srgbClr val="1F2328"/>
                </a:solidFill>
                <a:latin typeface="Consolas" pitchFamily="34" charset="0"/>
                <a:ea typeface="Consolas" pitchFamily="34" charset="-122"/>
                <a:cs typeface="Consolas" pitchFamily="34" charset="-120"/>
              </a:rPr>
              <a:t> ArrayList&lt;&gt;();</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public</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CF222E"/>
                </a:solidFill>
                <a:latin typeface="Consolas" pitchFamily="34" charset="0"/>
                <a:ea typeface="Consolas" pitchFamily="34" charset="-122"/>
                <a:cs typeface="Consolas" pitchFamily="34" charset="-120"/>
              </a:rPr>
              <a:t>void</a:t>
            </a:r>
            <a:r>
              <a:rPr lang="en-US" altLang="en-US" sz="1400" dirty="0">
                <a:solidFill>
                  <a:srgbClr val="1F2328"/>
                </a:solidFill>
                <a:latin typeface="Consolas" pitchFamily="34" charset="0"/>
                <a:ea typeface="Consolas" pitchFamily="34" charset="-122"/>
                <a:cs typeface="Consolas" pitchFamily="34" charset="-120"/>
              </a:rPr>
              <a:t> </a:t>
            </a:r>
            <a:r>
              <a:rPr lang="en-US" altLang="en-US" sz="1400" dirty="0">
                <a:solidFill>
                  <a:srgbClr val="8250DF"/>
                </a:solidFill>
                <a:latin typeface="Consolas" pitchFamily="34" charset="0"/>
                <a:ea typeface="Consolas" pitchFamily="34" charset="-122"/>
                <a:cs typeface="Consolas" pitchFamily="34" charset="-120"/>
              </a:rPr>
              <a:t>rekrut</a:t>
            </a:r>
            <a:r>
              <a:rPr lang="en-US" altLang="en-US" sz="1400" dirty="0">
                <a:solidFill>
                  <a:srgbClr val="1F2328"/>
                </a:solidFill>
                <a:latin typeface="Consolas" pitchFamily="34" charset="0"/>
                <a:ea typeface="Consolas" pitchFamily="34" charset="-122"/>
                <a:cs typeface="Consolas" pitchFamily="34" charset="-120"/>
              </a:rPr>
              <a:t>(Pemain pemain) {</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daftarPemain.add(pemain);</a:t>
            </a:r>
            <a:endParaRPr lang="en-US" sz="1400" dirty="0"/>
          </a:p>
          <a:p>
            <a:pPr indent="0" marL="0">
              <a:buNone/>
            </a:pPr>
            <a:r>
              <a:rPr lang="en-US" altLang="en-US" sz="1400" i="1" dirty="0">
                <a:solidFill>
                  <a:srgbClr val="6E7781"/>
                </a:solidFill>
                <a:latin typeface="Consolas" pitchFamily="34" charset="0"/>
                <a:ea typeface="Consolas" pitchFamily="34" charset="-122"/>
                <a:cs typeface="Consolas" pitchFamily="34" charset="-120"/>
              </a:rPr>
              <a:t>        // ... (dilewati)</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    }</a:t>
            </a:r>
            <a:endParaRPr lang="en-US" sz="1400" dirty="0"/>
          </a:p>
          <a:p>
            <a:pPr indent="0" marL="0">
              <a:buNone/>
            </a:pPr>
            <a:r>
              <a:rPr lang="en-US" altLang="en-US" sz="1400" i="1" dirty="0">
                <a:solidFill>
                  <a:srgbClr val="6E7781"/>
                </a:solidFill>
                <a:latin typeface="Consolas" pitchFamily="34" charset="0"/>
                <a:ea typeface="Consolas" pitchFamily="34" charset="-122"/>
                <a:cs typeface="Consolas" pitchFamily="34" charset="-120"/>
              </a:rPr>
              <a:t>    // ... (dilewati)</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a:t>
            </a:r>
            <a:endParaRPr lang="en-US" sz="1400" dirty="0"/>
          </a:p>
          <a:p>
            <a:pPr indent="0" marL="0">
              <a:buNone/>
            </a:pPr>
            <a:r>
              <a:rPr lang="en-US" altLang="en-US" sz="1400" i="1" dirty="0">
                <a:solidFill>
                  <a:srgbClr val="6E7781"/>
                </a:solidFill>
                <a:latin typeface="Consolas" pitchFamily="34" charset="0"/>
                <a:ea typeface="Consolas" pitchFamily="34" charset="-122"/>
                <a:cs typeface="Consolas" pitchFamily="34" charset="-120"/>
              </a:rPr>
              <a:t>// ... di dalam main</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timKelas.rekrut(andi);</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timKelas.rekrut(bayu);</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timKelas.rekrut(candra);</a:t>
            </a:r>
            <a:endParaRPr lang="en-US" sz="1400" dirty="0"/>
          </a:p>
          <a:p>
            <a:pPr indent="0" marL="0">
              <a:buNone/>
            </a:pPr>
            <a:r>
              <a:rPr lang="en-US" altLang="en-US" sz="1400" dirty="0">
                <a:solidFill>
                  <a:srgbClr val="1F2328"/>
                </a:solidFill>
                <a:latin typeface="Consolas" pitchFamily="34" charset="0"/>
                <a:ea typeface="Consolas" pitchFamily="34" charset="-122"/>
                <a:cs typeface="Consolas" pitchFamily="34" charset="-120"/>
              </a:rPr>
              <a:t>timFakultas.rekrut(bayu);</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Komposisi: Bagian Dibuat di dalam Pemiliknya</a:t>
            </a:r>
            <a:endParaRPr lang="id-ID" sz="3200" dirty="0"/>
          </a:p>
        </p:txBody>
      </p:sp>
      <p:sp>
        <p:nvSpPr>
          <p:cNvPr id="5" name="Text 2"/>
          <p:cNvSpPr txBox="1"/>
          <p:nvPr/>
        </p:nvSpPr>
        <p:spPr>
          <a:xfrm>
            <a:off x="548640" y="2337961"/>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Di dalam </a:t>
            </a:r>
            <a:r>
              <a:rPr lang="id-ID" altLang="en-US" sz="1800" dirty="0">
                <a:solidFill>
                  <a:srgbClr val="0A3069"/>
                </a:solidFill>
                <a:latin typeface="Consolas" pitchFamily="34" charset="0"/>
                <a:ea typeface="Consolas" pitchFamily="34" charset="-122"/>
                <a:cs typeface="Consolas" pitchFamily="34" charset="-120"/>
              </a:rPr>
              <a:t>bangun_ruangan()</a:t>
            </a:r>
            <a:r>
              <a:rPr lang="id-ID" altLang="en-US" sz="1800" dirty="0">
                <a:solidFill>
                  <a:srgbClr val="57606A"/>
                </a:solidFill>
              </a:rPr>
              <a:t>, rumah membuat sendiri objek </a:t>
            </a:r>
            <a:r>
              <a:rPr lang="id-ID" altLang="en-US" sz="1800" dirty="0">
                <a:solidFill>
                  <a:srgbClr val="0A3069"/>
                </a:solidFill>
                <a:latin typeface="Consolas" pitchFamily="34" charset="0"/>
                <a:ea typeface="Consolas" pitchFamily="34" charset="-122"/>
                <a:cs typeface="Consolas" pitchFamily="34" charset="-120"/>
              </a:rPr>
              <a:t>Ruangan</a:t>
            </a:r>
            <a:r>
              <a:rPr lang="id-ID" altLang="en-US" sz="1800" dirty="0">
                <a:solidFill>
                  <a:srgbClr val="57606A"/>
                </a:solidFill>
              </a:rPr>
              <a:t>. Kode luar hanya mengirim </a:t>
            </a:r>
            <a:r>
              <a:rPr lang="id-ID" altLang="en-US" sz="1800" b="1" dirty="0">
                <a:solidFill>
                  <a:srgbClr val="57606A"/>
                </a:solidFill>
              </a:rPr>
              <a:t>data</a:t>
            </a:r>
            <a:r>
              <a:rPr lang="id-ID" altLang="en-US" sz="1800" dirty="0">
                <a:solidFill>
                  <a:srgbClr val="57606A"/>
                </a:solidFill>
              </a:rPr>
              <a:t>.</a:t>
            </a:r>
            <a:endParaRPr lang="id-ID" sz="1800" dirty="0"/>
          </a:p>
        </p:txBody>
      </p:sp>
      <p:sp>
        <p:nvSpPr>
          <p:cNvPr id="6" name="Shape 3"/>
          <p:cNvSpPr/>
          <p:nvPr/>
        </p:nvSpPr>
        <p:spPr>
          <a:xfrm>
            <a:off x="548640" y="2772301"/>
            <a:ext cx="1051560" cy="329184"/>
          </a:xfrm>
          <a:prstGeom prst="roundRect">
            <a:avLst>
              <a:gd name="adj" fmla="val 138889"/>
            </a:avLst>
          </a:prstGeom>
          <a:solidFill>
            <a:srgbClr val="3572A5"/>
          </a:solidFill>
          <a:ln/>
        </p:spPr>
      </p:sp>
      <p:sp>
        <p:nvSpPr>
          <p:cNvPr id="7" name="Text 4"/>
          <p:cNvSpPr txBox="1"/>
          <p:nvPr/>
        </p:nvSpPr>
        <p:spPr>
          <a:xfrm>
            <a:off x="548640" y="277230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772301"/>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python/contoh/contoh04_komposisi.py</a:t>
            </a:r>
            <a:endParaRPr lang="id-ID" sz="1100" dirty="0"/>
          </a:p>
        </p:txBody>
      </p:sp>
      <p:sp>
        <p:nvSpPr>
          <p:cNvPr id="9" name="Shape 6"/>
          <p:cNvSpPr/>
          <p:nvPr/>
        </p:nvSpPr>
        <p:spPr>
          <a:xfrm>
            <a:off x="548640" y="3192925"/>
            <a:ext cx="5432908" cy="1672209"/>
          </a:xfrm>
          <a:prstGeom prst="roundRect">
            <a:avLst>
              <a:gd name="adj" fmla="val 2990"/>
            </a:avLst>
          </a:prstGeom>
          <a:solidFill>
            <a:srgbClr val="F6F8FA"/>
          </a:solidFill>
          <a:ln w="9525">
            <a:solidFill>
              <a:srgbClr val="D0D7DE"/>
            </a:solidFill>
            <a:prstDash val="solid"/>
          </a:ln>
        </p:spPr>
      </p:sp>
      <p:sp>
        <p:nvSpPr>
          <p:cNvPr id="10" name="Text 7"/>
          <p:cNvSpPr txBox="1"/>
          <p:nvPr/>
        </p:nvSpPr>
        <p:spPr>
          <a:xfrm>
            <a:off x="658368" y="3284365"/>
            <a:ext cx="5213452" cy="1489329"/>
          </a:xfrm>
          <a:prstGeom prst="rect">
            <a:avLst/>
          </a:prstGeom>
          <a:noFill/>
          <a:ln/>
        </p:spPr>
        <p:txBody>
          <a:bodyPr wrap="square" lIns="0" tIns="0" rIns="0" bIns="0" rtlCol="0" anchor="t"/>
          <a:lstStyle/>
          <a:p>
            <a:pPr indent="0" marL="0">
              <a:buNone/>
            </a:pPr>
            <a:r>
              <a:rPr lang="en-US" altLang="en-US" sz="1050" dirty="0">
                <a:solidFill>
                  <a:srgbClr val="CF222E"/>
                </a:solidFill>
                <a:latin typeface="Consolas" pitchFamily="34" charset="0"/>
                <a:ea typeface="Consolas" pitchFamily="34" charset="-122"/>
                <a:cs typeface="Consolas" pitchFamily="34" charset="-120"/>
              </a:rPr>
              <a:t>def</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bangun_ruangan</a:t>
            </a:r>
            <a:r>
              <a:rPr lang="en-US" altLang="en-US" sz="1050" dirty="0">
                <a:solidFill>
                  <a:srgbClr val="1F2328"/>
                </a:solidFill>
                <a:latin typeface="Consolas" pitchFamily="34" charset="0"/>
                <a:ea typeface="Consolas" pitchFamily="34" charset="-122"/>
                <a:cs typeface="Consolas" pitchFamily="34" charset="-120"/>
              </a:rPr>
              <a:t>(</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 nama: </a:t>
            </a:r>
            <a:r>
              <a:rPr lang="en-US" altLang="en-US" sz="1050" dirty="0">
                <a:solidFill>
                  <a:srgbClr val="0550AE"/>
                </a:solidFill>
                <a:latin typeface="Consolas" pitchFamily="34" charset="0"/>
                <a:ea typeface="Consolas" pitchFamily="34" charset="-122"/>
                <a:cs typeface="Consolas" pitchFamily="34" charset="-120"/>
              </a:rPr>
              <a:t>str</a:t>
            </a:r>
            <a:r>
              <a:rPr lang="en-US" altLang="en-US" sz="1050" dirty="0">
                <a:solidFill>
                  <a:srgbClr val="1F2328"/>
                </a:solidFill>
                <a:latin typeface="Consolas" pitchFamily="34" charset="0"/>
                <a:ea typeface="Consolas" pitchFamily="34" charset="-122"/>
                <a:cs typeface="Consolas" pitchFamily="34" charset="-120"/>
              </a:rPr>
              <a:t>, panjang: </a:t>
            </a:r>
            <a:r>
              <a:rPr lang="en-US" altLang="en-US" sz="1050" dirty="0">
                <a:solidFill>
                  <a:srgbClr val="0550A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lebar: </a:t>
            </a:r>
            <a:r>
              <a:rPr lang="en-US" altLang="en-US" sz="1050" dirty="0">
                <a:solidFill>
                  <a:srgbClr val="0550A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ruangan = Ruangan(nama, panjang, lebar)</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self</a:t>
            </a:r>
            <a:r>
              <a:rPr lang="en-US" altLang="en-US" sz="1050" dirty="0">
                <a:solidFill>
                  <a:srgbClr val="1F2328"/>
                </a:solidFill>
                <a:latin typeface="Consolas" pitchFamily="34" charset="0"/>
                <a:ea typeface="Consolas" pitchFamily="34" charset="-122"/>
                <a:cs typeface="Consolas" pitchFamily="34" charset="-120"/>
              </a:rPr>
              <a:t>._daftar_ruangan.append(ruangan)</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rumah = Rumah(</a:t>
            </a:r>
            <a:r>
              <a:rPr lang="en-US" altLang="en-US" sz="1050" dirty="0">
                <a:solidFill>
                  <a:srgbClr val="0A3069"/>
                </a:solidFill>
                <a:latin typeface="Consolas" pitchFamily="34" charset="0"/>
                <a:ea typeface="Consolas" pitchFamily="34" charset="-122"/>
                <a:cs typeface="Consolas" pitchFamily="34" charset="-120"/>
              </a:rPr>
              <a:t>"Pak Hasan"</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rumah.bangun_ruangan(</a:t>
            </a:r>
            <a:r>
              <a:rPr lang="en-US" altLang="en-US" sz="1050" dirty="0">
                <a:solidFill>
                  <a:srgbClr val="0A3069"/>
                </a:solidFill>
                <a:latin typeface="Consolas" pitchFamily="34" charset="0"/>
                <a:ea typeface="Consolas" pitchFamily="34" charset="-122"/>
                <a:cs typeface="Consolas" pitchFamily="34" charset="-120"/>
              </a:rPr>
              <a:t>"Ruang tamu"</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4</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3</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rumah.bangun_ruangan(</a:t>
            </a:r>
            <a:r>
              <a:rPr lang="en-US" altLang="en-US" sz="1050" dirty="0">
                <a:solidFill>
                  <a:srgbClr val="0A3069"/>
                </a:solidFill>
                <a:latin typeface="Consolas" pitchFamily="34" charset="0"/>
                <a:ea typeface="Consolas" pitchFamily="34" charset="-122"/>
                <a:cs typeface="Consolas" pitchFamily="34" charset="-120"/>
              </a:rPr>
              <a:t>"Kamar tidur"</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3</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3</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rumah.bangun_ruangan(</a:t>
            </a:r>
            <a:r>
              <a:rPr lang="en-US" altLang="en-US" sz="1050" dirty="0">
                <a:solidFill>
                  <a:srgbClr val="0A3069"/>
                </a:solidFill>
                <a:latin typeface="Consolas" pitchFamily="34" charset="0"/>
                <a:ea typeface="Consolas" pitchFamily="34" charset="-122"/>
                <a:cs typeface="Consolas" pitchFamily="34" charset="-120"/>
              </a:rPr>
              <a:t>"Dapur"</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3</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2</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p:txBody>
      </p:sp>
      <p:sp>
        <p:nvSpPr>
          <p:cNvPr id="11" name="Shape 8"/>
          <p:cNvSpPr/>
          <p:nvPr/>
        </p:nvSpPr>
        <p:spPr>
          <a:xfrm>
            <a:off x="6210148" y="2772301"/>
            <a:ext cx="1051560" cy="329184"/>
          </a:xfrm>
          <a:prstGeom prst="roundRect">
            <a:avLst>
              <a:gd name="adj" fmla="val 138889"/>
            </a:avLst>
          </a:prstGeom>
          <a:solidFill>
            <a:srgbClr val="B07219"/>
          </a:solidFill>
          <a:ln/>
        </p:spPr>
      </p:sp>
      <p:sp>
        <p:nvSpPr>
          <p:cNvPr id="12" name="Text 9"/>
          <p:cNvSpPr txBox="1"/>
          <p:nvPr/>
        </p:nvSpPr>
        <p:spPr>
          <a:xfrm>
            <a:off x="6210148" y="277230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772301"/>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java/contoh/Contoh04Komposisi.java</a:t>
            </a:r>
            <a:endParaRPr lang="id-ID" sz="1100" dirty="0"/>
          </a:p>
        </p:txBody>
      </p:sp>
      <p:sp>
        <p:nvSpPr>
          <p:cNvPr id="14" name="Shape 11"/>
          <p:cNvSpPr/>
          <p:nvPr/>
        </p:nvSpPr>
        <p:spPr>
          <a:xfrm>
            <a:off x="6210148" y="3192925"/>
            <a:ext cx="5432908" cy="1672209"/>
          </a:xfrm>
          <a:prstGeom prst="roundRect">
            <a:avLst>
              <a:gd name="adj" fmla="val 2990"/>
            </a:avLst>
          </a:prstGeom>
          <a:solidFill>
            <a:srgbClr val="F6F8FA"/>
          </a:solidFill>
          <a:ln w="9525">
            <a:solidFill>
              <a:srgbClr val="D0D7DE"/>
            </a:solidFill>
            <a:prstDash val="solid"/>
          </a:ln>
        </p:spPr>
      </p:sp>
      <p:sp>
        <p:nvSpPr>
          <p:cNvPr id="15" name="Text 12"/>
          <p:cNvSpPr txBox="1"/>
          <p:nvPr/>
        </p:nvSpPr>
        <p:spPr>
          <a:xfrm>
            <a:off x="6319876" y="3284365"/>
            <a:ext cx="5213452" cy="1489329"/>
          </a:xfrm>
          <a:prstGeom prst="rect">
            <a:avLst/>
          </a:prstGeom>
          <a:noFill/>
          <a:ln/>
        </p:spPr>
        <p:txBody>
          <a:bodyPr wrap="square" lIns="0" tIns="0" rIns="0" bIns="0" rtlCol="0" anchor="t"/>
          <a:lstStyle/>
          <a:p>
            <a:pPr indent="0" marL="0">
              <a:buNone/>
            </a:pPr>
            <a:r>
              <a:rPr lang="en-US" altLang="en-US" sz="1050" dirty="0">
                <a:solidFill>
                  <a:srgbClr val="CF222E"/>
                </a:solidFill>
                <a:latin typeface="Consolas" pitchFamily="34" charset="0"/>
                <a:ea typeface="Consolas" pitchFamily="34" charset="-122"/>
                <a:cs typeface="Consolas" pitchFamily="34" charset="-120"/>
              </a:rPr>
              <a:t>public</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CF222E"/>
                </a:solidFill>
                <a:latin typeface="Consolas" pitchFamily="34" charset="0"/>
                <a:ea typeface="Consolas" pitchFamily="34" charset="-122"/>
                <a:cs typeface="Consolas" pitchFamily="34" charset="-120"/>
              </a:rPr>
              <a:t>void</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8250DF"/>
                </a:solidFill>
                <a:latin typeface="Consolas" pitchFamily="34" charset="0"/>
                <a:ea typeface="Consolas" pitchFamily="34" charset="-122"/>
                <a:cs typeface="Consolas" pitchFamily="34" charset="-120"/>
              </a:rPr>
              <a:t>bangunRuangan</a:t>
            </a:r>
            <a:r>
              <a:rPr lang="en-US" altLang="en-US" sz="1050" dirty="0">
                <a:solidFill>
                  <a:srgbClr val="1F2328"/>
                </a:solidFill>
                <a:latin typeface="Consolas" pitchFamily="34" charset="0"/>
                <a:ea typeface="Consolas" pitchFamily="34" charset="-122"/>
                <a:cs typeface="Consolas" pitchFamily="34" charset="-120"/>
              </a:rPr>
              <a:t>(String nama, </a:t>
            </a:r>
            <a:r>
              <a:rPr lang="en-US" altLang="en-US" sz="1050" dirty="0">
                <a:solidFill>
                  <a:srgbClr val="CF222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panjang, </a:t>
            </a:r>
            <a:r>
              <a:rPr lang="en-US" altLang="en-US" sz="1050" dirty="0">
                <a:solidFill>
                  <a:srgbClr val="CF222E"/>
                </a:solidFill>
                <a:latin typeface="Consolas" pitchFamily="34" charset="0"/>
                <a:ea typeface="Consolas" pitchFamily="34" charset="-122"/>
                <a:cs typeface="Consolas" pitchFamily="34" charset="-120"/>
              </a:rPr>
              <a:t>int</a:t>
            </a:r>
            <a:r>
              <a:rPr lang="en-US" altLang="en-US" sz="1050" dirty="0">
                <a:solidFill>
                  <a:srgbClr val="1F2328"/>
                </a:solidFill>
                <a:latin typeface="Consolas" pitchFamily="34" charset="0"/>
                <a:ea typeface="Consolas" pitchFamily="34" charset="-122"/>
                <a:cs typeface="Consolas" pitchFamily="34" charset="-120"/>
              </a:rPr>
              <a:t> lebar) {</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Ruangan ruangan = </a:t>
            </a:r>
            <a:r>
              <a:rPr lang="en-US" altLang="en-US" sz="1050" dirty="0">
                <a:solidFill>
                  <a:srgbClr val="CF222E"/>
                </a:solidFill>
                <a:latin typeface="Consolas" pitchFamily="34" charset="0"/>
                <a:ea typeface="Consolas" pitchFamily="34" charset="-122"/>
                <a:cs typeface="Consolas" pitchFamily="34" charset="-120"/>
              </a:rPr>
              <a:t>new</a:t>
            </a:r>
            <a:r>
              <a:rPr lang="en-US" altLang="en-US" sz="1050" dirty="0">
                <a:solidFill>
                  <a:srgbClr val="1F2328"/>
                </a:solidFill>
                <a:latin typeface="Consolas" pitchFamily="34" charset="0"/>
                <a:ea typeface="Consolas" pitchFamily="34" charset="-122"/>
                <a:cs typeface="Consolas" pitchFamily="34" charset="-120"/>
              </a:rPr>
              <a:t> Ruangan(nama, panjang, lebar);</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    daftarRuangan.add(ruangan);</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i="1" dirty="0">
                <a:solidFill>
                  <a:srgbClr val="6E7781"/>
                </a:solidFill>
                <a:latin typeface="Consolas" pitchFamily="34" charset="0"/>
                <a:ea typeface="Consolas" pitchFamily="34" charset="-122"/>
                <a:cs typeface="Consolas" pitchFamily="34" charset="-120"/>
              </a:rPr>
              <a:t>// ... (dilewati)</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Rumah rumah = </a:t>
            </a:r>
            <a:r>
              <a:rPr lang="en-US" altLang="en-US" sz="1050" dirty="0">
                <a:solidFill>
                  <a:srgbClr val="CF222E"/>
                </a:solidFill>
                <a:latin typeface="Consolas" pitchFamily="34" charset="0"/>
                <a:ea typeface="Consolas" pitchFamily="34" charset="-122"/>
                <a:cs typeface="Consolas" pitchFamily="34" charset="-120"/>
              </a:rPr>
              <a:t>new</a:t>
            </a:r>
            <a:r>
              <a:rPr lang="en-US" altLang="en-US" sz="1050" dirty="0">
                <a:solidFill>
                  <a:srgbClr val="1F2328"/>
                </a:solidFill>
                <a:latin typeface="Consolas" pitchFamily="34" charset="0"/>
                <a:ea typeface="Consolas" pitchFamily="34" charset="-122"/>
                <a:cs typeface="Consolas" pitchFamily="34" charset="-120"/>
              </a:rPr>
              <a:t> Rumah(</a:t>
            </a:r>
            <a:r>
              <a:rPr lang="en-US" altLang="en-US" sz="1050" dirty="0">
                <a:solidFill>
                  <a:srgbClr val="0A3069"/>
                </a:solidFill>
                <a:latin typeface="Consolas" pitchFamily="34" charset="0"/>
                <a:ea typeface="Consolas" pitchFamily="34" charset="-122"/>
                <a:cs typeface="Consolas" pitchFamily="34" charset="-120"/>
              </a:rPr>
              <a:t>"Pak Hasan"</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rumah.bangunRuangan(</a:t>
            </a:r>
            <a:r>
              <a:rPr lang="en-US" altLang="en-US" sz="1050" dirty="0">
                <a:solidFill>
                  <a:srgbClr val="0A3069"/>
                </a:solidFill>
                <a:latin typeface="Consolas" pitchFamily="34" charset="0"/>
                <a:ea typeface="Consolas" pitchFamily="34" charset="-122"/>
                <a:cs typeface="Consolas" pitchFamily="34" charset="-120"/>
              </a:rPr>
              <a:t>"Ruang tamu"</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4</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3</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rumah.bangunRuangan(</a:t>
            </a:r>
            <a:r>
              <a:rPr lang="en-US" altLang="en-US" sz="1050" dirty="0">
                <a:solidFill>
                  <a:srgbClr val="0A3069"/>
                </a:solidFill>
                <a:latin typeface="Consolas" pitchFamily="34" charset="0"/>
                <a:ea typeface="Consolas" pitchFamily="34" charset="-122"/>
                <a:cs typeface="Consolas" pitchFamily="34" charset="-120"/>
              </a:rPr>
              <a:t>"Kamar tidur"</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3</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3</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a:p>
            <a:pPr indent="0" marL="0">
              <a:buNone/>
            </a:pPr>
            <a:r>
              <a:rPr lang="en-US" altLang="en-US" sz="1050" dirty="0">
                <a:solidFill>
                  <a:srgbClr val="1F2328"/>
                </a:solidFill>
                <a:latin typeface="Consolas" pitchFamily="34" charset="0"/>
                <a:ea typeface="Consolas" pitchFamily="34" charset="-122"/>
                <a:cs typeface="Consolas" pitchFamily="34" charset="-120"/>
              </a:rPr>
              <a:t>rumah.bangunRuangan(</a:t>
            </a:r>
            <a:r>
              <a:rPr lang="en-US" altLang="en-US" sz="1050" dirty="0">
                <a:solidFill>
                  <a:srgbClr val="0A3069"/>
                </a:solidFill>
                <a:latin typeface="Consolas" pitchFamily="34" charset="0"/>
                <a:ea typeface="Consolas" pitchFamily="34" charset="-122"/>
                <a:cs typeface="Consolas" pitchFamily="34" charset="-120"/>
              </a:rPr>
              <a:t>"Dapur"</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3</a:t>
            </a:r>
            <a:r>
              <a:rPr lang="en-US" altLang="en-US" sz="1050" dirty="0">
                <a:solidFill>
                  <a:srgbClr val="1F2328"/>
                </a:solidFill>
                <a:latin typeface="Consolas" pitchFamily="34" charset="0"/>
                <a:ea typeface="Consolas" pitchFamily="34" charset="-122"/>
                <a:cs typeface="Consolas" pitchFamily="34" charset="-120"/>
              </a:rPr>
              <a:t>, </a:t>
            </a:r>
            <a:r>
              <a:rPr lang="en-US" altLang="en-US" sz="1050" dirty="0">
                <a:solidFill>
                  <a:srgbClr val="0550AE"/>
                </a:solidFill>
                <a:latin typeface="Consolas" pitchFamily="34" charset="0"/>
                <a:ea typeface="Consolas" pitchFamily="34" charset="-122"/>
                <a:cs typeface="Consolas" pitchFamily="34" charset="-120"/>
              </a:rPr>
              <a:t>2</a:t>
            </a:r>
            <a:r>
              <a:rPr lang="en-US" altLang="en-US" sz="1050" dirty="0">
                <a:solidFill>
                  <a:srgbClr val="1F2328"/>
                </a:solidFill>
                <a:latin typeface="Consolas" pitchFamily="34" charset="0"/>
                <a:ea typeface="Consolas" pitchFamily="34" charset="-122"/>
                <a:cs typeface="Consolas" pitchFamily="34" charset="-120"/>
              </a:rPr>
              <a:t>);</a:t>
            </a:r>
            <a:endParaRPr lang="en-US" sz="10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Agregasi atau Komposisi?</a:t>
            </a:r>
            <a:endParaRPr lang="id-ID"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64949"/>
          <a:ext cx="11094415" cy="914400"/>
        </p:xfrm>
        <a:graphic>
          <a:graphicData uri="http://schemas.openxmlformats.org/drawingml/2006/table">
            <a:tbl>
              <a:tblPr/>
              <a:tblGrid>
                <a:gridCol w="5198930"/>
                <a:gridCol w="2392489"/>
                <a:gridCol w="3502997"/>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Pertanyaan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Agregasi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Komposisi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Bisakah bagian tetap ada tanpa keseluruhannya?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bisa (pemain tanpa tim)</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 (kamar tanpa rumah)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Bisakah satu bagian dimiliki dua keseluruhan sekaligus?</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bisa (pemain di dua tim)</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tidak (item hanya milik satu pesanan)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Siapa yang biasanya membuat objek bagian?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pihak luar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keseluruhan itu sendiri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29433"/>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301854"/>
            <a:ext cx="184343" cy="184343"/>
          </a:xfrm>
          <a:prstGeom prst="rect">
            <a:avLst/>
          </a:prstGeom>
        </p:spPr>
      </p:pic>
      <p:sp>
        <p:nvSpPr>
          <p:cNvPr id="8" name="Text 3"/>
          <p:cNvSpPr txBox="1"/>
          <p:nvPr/>
        </p:nvSpPr>
        <p:spPr>
          <a:xfrm>
            <a:off x="1005840" y="5211145"/>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Masih ragu? Pikirkan siklus hidup: kalau pemiliknya hilang, apakah bagian ini masih masuk akal untuk ada?</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000" b="1" dirty="0">
                <a:solidFill>
                  <a:srgbClr val="FFFFFF"/>
                </a:solidFill>
              </a:rPr>
              <a:t>Multiplisitas, Salinan </a:t>
            </a:r>
            <a:r>
              <a:rPr lang="id-ID" altLang="en-US" sz="4000" b="1" i="1" dirty="0">
                <a:solidFill>
                  <a:srgbClr val="FFFFFF"/>
                </a:solidFill>
              </a:rPr>
              <a:t>List</a:t>
            </a:r>
            <a:r>
              <a:rPr lang="id-ID" altLang="en-US" sz="4000" b="1" dirty="0">
                <a:solidFill>
                  <a:srgbClr val="FFFFFF"/>
                </a:solidFill>
              </a:rPr>
              <a:t>, dan Pencarian</a:t>
            </a:r>
            <a:endParaRPr lang="id-ID" sz="40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Berapa banyak objek yang terhubung, dan cara menjaga datanya.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Multiplisitas: Berapa Banyak?</a:t>
            </a:r>
            <a:endParaRPr lang="id-ID"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01811"/>
          <a:ext cx="11094415" cy="914400"/>
        </p:xfrm>
        <a:graphic>
          <a:graphicData uri="http://schemas.openxmlformats.org/drawingml/2006/table">
            <a:tbl>
              <a:tblPr/>
              <a:tblGrid>
                <a:gridCol w="943244"/>
                <a:gridCol w="1395981"/>
                <a:gridCol w="4017426"/>
                <a:gridCol w="4737764"/>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Notasi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Dibaca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Contoh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Bentuk di kode</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64616">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1</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tepat satu</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satu pesanan dimiliki tepat satu pelanggan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atribut </a:t>
                      </a:r>
                      <a:r>
                        <a:rPr lang="id-ID" altLang="en-US" sz="2200" b="1" dirty="0">
                          <a:solidFill>
                            <a:srgbClr val="1F2328"/>
                          </a:solidFill>
                          <a:latin typeface="Calibri" pitchFamily="34" charset="0"/>
                          <a:ea typeface="Calibri" pitchFamily="34" charset="-122"/>
                          <a:cs typeface="Calibri" pitchFamily="34" charset="-120"/>
                        </a:rPr>
                        <a:t>wajib</a:t>
                      </a:r>
                      <a:r>
                        <a:rPr lang="id-ID" altLang="en-US" sz="2200" dirty="0">
                          <a:solidFill>
                            <a:srgbClr val="1F2328"/>
                          </a:solidFill>
                          <a:latin typeface="Calibri" pitchFamily="34" charset="0"/>
                          <a:ea typeface="Calibri" pitchFamily="34" charset="-122"/>
                          <a:cs typeface="Calibri" pitchFamily="34" charset="-120"/>
                        </a:rPr>
                        <a:t>, diisi lewat konstruktor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0..1</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nol atau satu</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mahasiswa baru boleh belum punya dosen wali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atribut boleh kosong (</a:t>
                      </a:r>
                      <a:r>
                        <a:rPr lang="id-ID" altLang="en-US" sz="2200" dirty="0">
                          <a:solidFill>
                            <a:srgbClr val="0A3069"/>
                          </a:solidFill>
                          <a:latin typeface="Consolas" pitchFamily="34" charset="0"/>
                          <a:ea typeface="Consolas" pitchFamily="34" charset="-122"/>
                          <a:cs typeface="Consolas" pitchFamily="34" charset="-120"/>
                        </a:rPr>
                        <a:t>None</a:t>
                      </a:r>
                      <a:r>
                        <a:rPr lang="id-ID" altLang="en-US" sz="2200" dirty="0">
                          <a:solidFill>
                            <a:srgbClr val="1F2328"/>
                          </a:solidFill>
                          <a:latin typeface="Calibri" pitchFamily="34" charset="0"/>
                          <a:ea typeface="Calibri" pitchFamily="34" charset="-122"/>
                          <a:cs typeface="Calibri" pitchFamily="34" charset="-120"/>
                        </a:rPr>
                        <a:t>/</a:t>
                      </a:r>
                      <a:r>
                        <a:rPr lang="id-ID" altLang="en-US" sz="2200" dirty="0">
                          <a:solidFill>
                            <a:srgbClr val="0A3069"/>
                          </a:solidFill>
                          <a:latin typeface="Consolas" pitchFamily="34" charset="0"/>
                          <a:ea typeface="Consolas" pitchFamily="34" charset="-122"/>
                          <a:cs typeface="Consolas" pitchFamily="34" charset="-120"/>
                        </a:rPr>
                        <a:t>null</a:t>
                      </a:r>
                      <a:r>
                        <a:rPr lang="id-ID" altLang="en-US" sz="2200" dirty="0">
                          <a:solidFill>
                            <a:srgbClr val="1F2328"/>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nol atau lebih</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tim baru boleh belum punya pemain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i="1" dirty="0">
                          <a:solidFill>
                            <a:srgbClr val="1F2328"/>
                          </a:solidFill>
                          <a:latin typeface="Calibri" pitchFamily="34" charset="0"/>
                          <a:ea typeface="Calibri" pitchFamily="34" charset="-122"/>
                          <a:cs typeface="Calibri" pitchFamily="34" charset="-120"/>
                        </a:rPr>
                        <a:t>list</a:t>
                      </a:r>
                      <a:r>
                        <a:rPr lang="id-ID" altLang="en-US" sz="2200" dirty="0">
                          <a:solidFill>
                            <a:srgbClr val="1F2328"/>
                          </a:solidFill>
                          <a:latin typeface="Calibri" pitchFamily="34" charset="0"/>
                          <a:ea typeface="Calibri" pitchFamily="34" charset="-122"/>
                          <a:cs typeface="Calibri" pitchFamily="34" charset="-120"/>
                        </a:rPr>
                        <a:t> yang boleh kosong</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1..*</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minimal satu</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grup belajar minimal punya satu anggota, yaitu ketuanya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i="1" dirty="0">
                          <a:solidFill>
                            <a:srgbClr val="1F2328"/>
                          </a:solidFill>
                          <a:latin typeface="Calibri" pitchFamily="34" charset="0"/>
                          <a:ea typeface="Calibri" pitchFamily="34" charset="-122"/>
                          <a:cs typeface="Calibri" pitchFamily="34" charset="-120"/>
                        </a:rPr>
                        <a:t>list</a:t>
                      </a:r>
                      <a:r>
                        <a:rPr lang="id-ID" altLang="en-US" sz="2200" dirty="0">
                          <a:solidFill>
                            <a:srgbClr val="1F2328"/>
                          </a:solidFill>
                          <a:latin typeface="Calibri" pitchFamily="34" charset="0"/>
                          <a:ea typeface="Calibri" pitchFamily="34" charset="-122"/>
                          <a:cs typeface="Calibri" pitchFamily="34" charset="-120"/>
                        </a:rPr>
                        <a:t> yang sejak awal berisi minimal satu objek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730911"/>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803331"/>
            <a:ext cx="184343" cy="184343"/>
          </a:xfrm>
          <a:prstGeom prst="rect">
            <a:avLst/>
          </a:prstGeom>
        </p:spPr>
      </p:pic>
      <p:sp>
        <p:nvSpPr>
          <p:cNvPr id="8" name="Text 3"/>
          <p:cNvSpPr txBox="1"/>
          <p:nvPr/>
        </p:nvSpPr>
        <p:spPr>
          <a:xfrm>
            <a:off x="1005840" y="5712623"/>
            <a:ext cx="10637215" cy="324612"/>
          </a:xfrm>
          <a:prstGeom prst="rect">
            <a:avLst/>
          </a:prstGeom>
          <a:noFill/>
          <a:ln/>
        </p:spPr>
        <p:txBody>
          <a:bodyPr wrap="square" lIns="0" tIns="0" rIns="0" bIns="0" rtlCol="0" anchor="t"/>
          <a:lstStyle/>
          <a:p>
            <a:pPr indent="0" marL="0">
              <a:buNone/>
            </a:pPr>
            <a:r>
              <a:rPr lang="id-ID" altLang="en-US" sz="1800" dirty="0">
                <a:solidFill>
                  <a:srgbClr val="57606A"/>
                </a:solidFill>
              </a:rPr>
              <a:t>Cara membaca: ambil </a:t>
            </a:r>
            <a:r>
              <a:rPr lang="id-ID" altLang="en-US" sz="1800" b="1" dirty="0">
                <a:solidFill>
                  <a:srgbClr val="57606A"/>
                </a:solidFill>
              </a:rPr>
              <a:t>satu</a:t>
            </a:r>
            <a:r>
              <a:rPr lang="id-ID" altLang="en-US" sz="1800" dirty="0">
                <a:solidFill>
                  <a:srgbClr val="57606A"/>
                </a:solidFill>
              </a:rPr>
              <a:t> objek di satu sisi, lalu lihat angka di </a:t>
            </a:r>
            <a:r>
              <a:rPr lang="id-ID" altLang="en-US" sz="1800" b="1" dirty="0">
                <a:solidFill>
                  <a:srgbClr val="57606A"/>
                </a:solidFill>
              </a:rPr>
              <a:t>ujung seberang</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Salinan </a:t>
            </a:r>
            <a:r>
              <a:rPr lang="id-ID" altLang="en-US" sz="3200" b="1" i="1" dirty="0">
                <a:solidFill>
                  <a:srgbClr val="0A3069"/>
                </a:solidFill>
              </a:rPr>
              <a:t>List</a:t>
            </a:r>
            <a:r>
              <a:rPr lang="id-ID" altLang="en-US" sz="3200" b="1" dirty="0">
                <a:solidFill>
                  <a:srgbClr val="0A3069"/>
                </a:solidFill>
              </a:rPr>
              <a:t> dan Pencarian yang Gagal</a:t>
            </a:r>
            <a:endParaRPr lang="id-ID" sz="3200" dirty="0"/>
          </a:p>
        </p:txBody>
      </p:sp>
      <p:sp>
        <p:nvSpPr>
          <p:cNvPr id="5" name="Shape 2"/>
          <p:cNvSpPr/>
          <p:nvPr/>
        </p:nvSpPr>
        <p:spPr>
          <a:xfrm>
            <a:off x="548640" y="1569019"/>
            <a:ext cx="5364328" cy="4421124"/>
          </a:xfrm>
          <a:prstGeom prst="roundRect">
            <a:avLst>
              <a:gd name="adj" fmla="val 599"/>
            </a:avLst>
          </a:prstGeom>
          <a:solidFill>
            <a:srgbClr val="FFFFFF"/>
          </a:solidFill>
          <a:ln w="12700">
            <a:solidFill>
              <a:srgbClr val="54AEFF"/>
            </a:solidFill>
            <a:prstDash val="solid"/>
          </a:ln>
        </p:spPr>
      </p:sp>
      <p:sp>
        <p:nvSpPr>
          <p:cNvPr id="6" name="Shape 3"/>
          <p:cNvSpPr/>
          <p:nvPr/>
        </p:nvSpPr>
        <p:spPr>
          <a:xfrm>
            <a:off x="548640" y="1569019"/>
            <a:ext cx="5364328" cy="658368"/>
          </a:xfrm>
          <a:prstGeom prst="roundRect">
            <a:avLst>
              <a:gd name="adj" fmla="val 27006"/>
            </a:avLst>
          </a:prstGeom>
          <a:solidFill>
            <a:srgbClr val="0969DA"/>
          </a:solidFill>
          <a:ln/>
        </p:spPr>
      </p:sp>
      <p:sp>
        <p:nvSpPr>
          <p:cNvPr id="7" name="Shape 4"/>
          <p:cNvSpPr/>
          <p:nvPr/>
        </p:nvSpPr>
        <p:spPr>
          <a:xfrm>
            <a:off x="548640" y="1898203"/>
            <a:ext cx="5364328" cy="329184"/>
          </a:xfrm>
          <a:prstGeom prst="rect">
            <a:avLst/>
          </a:prstGeom>
          <a:solidFill>
            <a:srgbClr val="0969DA"/>
          </a:solidFill>
          <a:ln/>
        </p:spPr>
      </p:sp>
      <p:sp>
        <p:nvSpPr>
          <p:cNvPr id="8" name="Text 5"/>
          <p:cNvSpPr txBox="1"/>
          <p:nvPr/>
        </p:nvSpPr>
        <p:spPr>
          <a:xfrm>
            <a:off x="822960" y="1569019"/>
            <a:ext cx="4815688" cy="658368"/>
          </a:xfrm>
          <a:prstGeom prst="rect">
            <a:avLst/>
          </a:prstGeom>
          <a:noFill/>
          <a:ln/>
        </p:spPr>
        <p:txBody>
          <a:bodyPr wrap="square" lIns="0" tIns="0" rIns="0" bIns="0" rtlCol="0" anchor="ctr"/>
          <a:lstStyle/>
          <a:p>
            <a:pPr indent="0" marL="0">
              <a:buNone/>
            </a:pPr>
            <a:r>
              <a:rPr lang="id-ID" altLang="en-US" sz="2200" b="1" dirty="0">
                <a:solidFill>
                  <a:srgbClr val="FFFFFF"/>
                </a:solidFill>
              </a:rPr>
              <a:t>Jangan serahkan </a:t>
            </a:r>
            <a:r>
              <a:rPr lang="id-ID" altLang="en-US" sz="2200" b="1" i="1" dirty="0">
                <a:solidFill>
                  <a:srgbClr val="FFFFFF"/>
                </a:solidFill>
              </a:rPr>
              <a:t>list</a:t>
            </a:r>
            <a:r>
              <a:rPr lang="id-ID" altLang="en-US" sz="2200" b="1" dirty="0">
                <a:solidFill>
                  <a:srgbClr val="FFFFFF"/>
                </a:solidFill>
              </a:rPr>
              <a:t> aslinya</a:t>
            </a:r>
            <a:endParaRPr lang="id-ID" sz="2200" dirty="0"/>
          </a:p>
        </p:txBody>
      </p:sp>
      <p:sp>
        <p:nvSpPr>
          <p:cNvPr id="9" name="Shape 6"/>
          <p:cNvSpPr/>
          <p:nvPr/>
        </p:nvSpPr>
        <p:spPr>
          <a:xfrm>
            <a:off x="877824" y="2572573"/>
            <a:ext cx="137160" cy="137160"/>
          </a:xfrm>
          <a:prstGeom prst="roundRect">
            <a:avLst>
              <a:gd name="adj" fmla="val 166667"/>
            </a:avLst>
          </a:prstGeom>
          <a:solidFill>
            <a:srgbClr val="0969DA"/>
          </a:solidFill>
          <a:ln/>
        </p:spPr>
      </p:sp>
      <p:sp>
        <p:nvSpPr>
          <p:cNvPr id="10" name="Text 7"/>
          <p:cNvSpPr txBox="1"/>
          <p:nvPr/>
        </p:nvSpPr>
        <p:spPr>
          <a:xfrm>
            <a:off x="1207008" y="2501707"/>
            <a:ext cx="4431640" cy="882396"/>
          </a:xfrm>
          <a:prstGeom prst="rect">
            <a:avLst/>
          </a:prstGeom>
          <a:noFill/>
          <a:ln/>
        </p:spPr>
        <p:txBody>
          <a:bodyPr wrap="square" lIns="0" tIns="0" rIns="0" bIns="0" rtlCol="0" anchor="t"/>
          <a:lstStyle/>
          <a:p>
            <a:pPr indent="0" marL="0">
              <a:buNone/>
            </a:pPr>
            <a:r>
              <a:rPr lang="id-ID" altLang="en-US" sz="1800" i="1" dirty="0">
                <a:solidFill>
                  <a:srgbClr val="1F2328"/>
                </a:solidFill>
              </a:rPr>
              <a:t>Getter</a:t>
            </a:r>
            <a:r>
              <a:rPr lang="id-ID" altLang="en-US" sz="1800" dirty="0">
                <a:solidFill>
                  <a:srgbClr val="1F2328"/>
                </a:solidFill>
              </a:rPr>
              <a:t> yang menyerahkan </a:t>
            </a:r>
            <a:r>
              <a:rPr lang="id-ID" altLang="en-US" sz="1800" i="1" dirty="0">
                <a:solidFill>
                  <a:srgbClr val="1F2328"/>
                </a:solidFill>
              </a:rPr>
              <a:t>list</a:t>
            </a:r>
            <a:r>
              <a:rPr lang="id-ID" altLang="en-US" sz="1800" dirty="0">
                <a:solidFill>
                  <a:srgbClr val="1F2328"/>
                </a:solidFill>
              </a:rPr>
              <a:t> asli membuat isinya bisa ditambah </a:t>
            </a:r>
            <a:r>
              <a:rPr lang="id-ID" altLang="en-US" sz="1800" b="1" dirty="0">
                <a:solidFill>
                  <a:srgbClr val="1F2328"/>
                </a:solidFill>
              </a:rPr>
              <a:t>tanpa lewat</a:t>
            </a:r>
            <a:r>
              <a:rPr lang="id-ID" altLang="en-US" sz="1800" dirty="0">
                <a:solidFill>
                  <a:srgbClr val="1F2328"/>
                </a:solidFill>
              </a:rPr>
              <a:t> </a:t>
            </a:r>
            <a:r>
              <a:rPr lang="id-ID" altLang="en-US" sz="1800" i="1" dirty="0">
                <a:solidFill>
                  <a:srgbClr val="1F2328"/>
                </a:solidFill>
              </a:rPr>
              <a:t>method</a:t>
            </a:r>
            <a:r>
              <a:rPr lang="id-ID" altLang="en-US" sz="1800" dirty="0">
                <a:solidFill>
                  <a:srgbClr val="1F2328"/>
                </a:solidFill>
              </a:rPr>
              <a:t> penjaga aturan.</a:t>
            </a:r>
            <a:endParaRPr lang="id-ID" sz="1800" dirty="0"/>
          </a:p>
        </p:txBody>
      </p:sp>
      <p:sp>
        <p:nvSpPr>
          <p:cNvPr id="11" name="Shape 8"/>
          <p:cNvSpPr/>
          <p:nvPr/>
        </p:nvSpPr>
        <p:spPr>
          <a:xfrm>
            <a:off x="877824" y="3628705"/>
            <a:ext cx="137160" cy="137160"/>
          </a:xfrm>
          <a:prstGeom prst="roundRect">
            <a:avLst>
              <a:gd name="adj" fmla="val 166667"/>
            </a:avLst>
          </a:prstGeom>
          <a:solidFill>
            <a:srgbClr val="0969DA"/>
          </a:solidFill>
          <a:ln/>
        </p:spPr>
      </p:sp>
      <p:sp>
        <p:nvSpPr>
          <p:cNvPr id="12" name="Text 9"/>
          <p:cNvSpPr txBox="1"/>
          <p:nvPr/>
        </p:nvSpPr>
        <p:spPr>
          <a:xfrm>
            <a:off x="1207008" y="3557839"/>
            <a:ext cx="4431640" cy="603504"/>
          </a:xfrm>
          <a:prstGeom prst="rect">
            <a:avLst/>
          </a:prstGeom>
          <a:noFill/>
          <a:ln/>
        </p:spPr>
        <p:txBody>
          <a:bodyPr wrap="square" lIns="0" tIns="0" rIns="0" bIns="0" rtlCol="0" anchor="t"/>
          <a:lstStyle/>
          <a:p>
            <a:pPr indent="0" marL="0">
              <a:buNone/>
            </a:pPr>
            <a:r>
              <a:rPr lang="id-ID" altLang="en-US" sz="1800" dirty="0">
                <a:solidFill>
                  <a:srgbClr val="1F2328"/>
                </a:solidFill>
              </a:rPr>
              <a:t>Serahkan </a:t>
            </a:r>
            <a:r>
              <a:rPr lang="id-ID" altLang="en-US" sz="1800" b="1" dirty="0">
                <a:solidFill>
                  <a:srgbClr val="1F2328"/>
                </a:solidFill>
              </a:rPr>
              <a:t>salinan</a:t>
            </a:r>
            <a:r>
              <a:rPr lang="id-ID" altLang="en-US" sz="1800" dirty="0">
                <a:solidFill>
                  <a:srgbClr val="1F2328"/>
                </a:solidFill>
              </a:rPr>
              <a:t>: </a:t>
            </a:r>
            <a:r>
              <a:rPr lang="id-ID" altLang="en-US" sz="1800" dirty="0">
                <a:solidFill>
                  <a:srgbClr val="1F2328"/>
                </a:solidFill>
                <a:latin typeface="Consolas" pitchFamily="34" charset="0"/>
                <a:ea typeface="Consolas" pitchFamily="34" charset="-122"/>
                <a:cs typeface="Consolas" pitchFamily="34" charset="-120"/>
              </a:rPr>
              <a:t>list(daftar)</a:t>
            </a:r>
            <a:r>
              <a:rPr lang="id-ID" altLang="en-US" sz="1800" dirty="0">
                <a:solidFill>
                  <a:srgbClr val="1F2328"/>
                </a:solidFill>
              </a:rPr>
              <a:t> di Python, </a:t>
            </a:r>
            <a:r>
              <a:rPr lang="id-ID" altLang="en-US" sz="1800" dirty="0">
                <a:solidFill>
                  <a:srgbClr val="1F2328"/>
                </a:solidFill>
                <a:latin typeface="Consolas" pitchFamily="34" charset="0"/>
                <a:ea typeface="Consolas" pitchFamily="34" charset="-122"/>
                <a:cs typeface="Consolas" pitchFamily="34" charset="-120"/>
              </a:rPr>
              <a:t>new ArrayList&lt;&gt;(daftar)</a:t>
            </a:r>
            <a:r>
              <a:rPr lang="id-ID" altLang="en-US" sz="1800" dirty="0">
                <a:solidFill>
                  <a:srgbClr val="1F2328"/>
                </a:solidFill>
              </a:rPr>
              <a:t> di Java.</a:t>
            </a:r>
            <a:endParaRPr lang="id-ID" sz="1800" dirty="0"/>
          </a:p>
        </p:txBody>
      </p:sp>
      <p:sp>
        <p:nvSpPr>
          <p:cNvPr id="13" name="Shape 10"/>
          <p:cNvSpPr/>
          <p:nvPr/>
        </p:nvSpPr>
        <p:spPr>
          <a:xfrm>
            <a:off x="877824" y="4405945"/>
            <a:ext cx="137160" cy="137160"/>
          </a:xfrm>
          <a:prstGeom prst="roundRect">
            <a:avLst>
              <a:gd name="adj" fmla="val 166667"/>
            </a:avLst>
          </a:prstGeom>
          <a:solidFill>
            <a:srgbClr val="0969DA"/>
          </a:solidFill>
          <a:ln/>
        </p:spPr>
      </p:sp>
      <p:sp>
        <p:nvSpPr>
          <p:cNvPr id="14" name="Text 11"/>
          <p:cNvSpPr txBox="1"/>
          <p:nvPr/>
        </p:nvSpPr>
        <p:spPr>
          <a:xfrm>
            <a:off x="1207008" y="4335079"/>
            <a:ext cx="4431640" cy="603504"/>
          </a:xfrm>
          <a:prstGeom prst="rect">
            <a:avLst/>
          </a:prstGeom>
          <a:noFill/>
          <a:ln/>
        </p:spPr>
        <p:txBody>
          <a:bodyPr wrap="square" lIns="0" tIns="0" rIns="0" bIns="0" rtlCol="0" anchor="t"/>
          <a:lstStyle/>
          <a:p>
            <a:pPr indent="0" marL="0">
              <a:buNone/>
            </a:pPr>
            <a:r>
              <a:rPr lang="id-ID" altLang="en-US" sz="1800" dirty="0">
                <a:solidFill>
                  <a:srgbClr val="1F2328"/>
                </a:solidFill>
              </a:rPr>
              <a:t>Seperti menyerahkan fotokopi KTP, bukan KTP aslinya.</a:t>
            </a:r>
            <a:endParaRPr lang="id-ID" sz="1800" dirty="0"/>
          </a:p>
        </p:txBody>
      </p:sp>
      <p:sp>
        <p:nvSpPr>
          <p:cNvPr id="15" name="Shape 12"/>
          <p:cNvSpPr/>
          <p:nvPr/>
        </p:nvSpPr>
        <p:spPr>
          <a:xfrm>
            <a:off x="877824" y="5183185"/>
            <a:ext cx="137160" cy="137160"/>
          </a:xfrm>
          <a:prstGeom prst="roundRect">
            <a:avLst>
              <a:gd name="adj" fmla="val 166667"/>
            </a:avLst>
          </a:prstGeom>
          <a:solidFill>
            <a:srgbClr val="0969DA"/>
          </a:solidFill>
          <a:ln/>
        </p:spPr>
      </p:sp>
      <p:sp>
        <p:nvSpPr>
          <p:cNvPr id="16" name="Text 13"/>
          <p:cNvSpPr txBox="1"/>
          <p:nvPr/>
        </p:nvSpPr>
        <p:spPr>
          <a:xfrm>
            <a:off x="1207008" y="5112319"/>
            <a:ext cx="4431640" cy="603504"/>
          </a:xfrm>
          <a:prstGeom prst="rect">
            <a:avLst/>
          </a:prstGeom>
          <a:noFill/>
          <a:ln/>
        </p:spPr>
        <p:txBody>
          <a:bodyPr wrap="square" lIns="0" tIns="0" rIns="0" bIns="0" rtlCol="0" anchor="t"/>
          <a:lstStyle/>
          <a:p>
            <a:pPr indent="0" marL="0">
              <a:buNone/>
            </a:pPr>
            <a:r>
              <a:rPr lang="id-ID" altLang="en-US" sz="1800" dirty="0">
                <a:solidFill>
                  <a:srgbClr val="1F2328"/>
                </a:solidFill>
              </a:rPr>
              <a:t>Yang disalin hanya </a:t>
            </a:r>
            <a:r>
              <a:rPr lang="id-ID" altLang="en-US" sz="1800" i="1" dirty="0">
                <a:solidFill>
                  <a:srgbClr val="1F2328"/>
                </a:solidFill>
              </a:rPr>
              <a:t>list</a:t>
            </a:r>
            <a:r>
              <a:rPr lang="id-ID" altLang="en-US" sz="1800" dirty="0">
                <a:solidFill>
                  <a:srgbClr val="1F2328"/>
                </a:solidFill>
              </a:rPr>
              <a:t>-nya; objek di dalamnya tetap objek yang sama.</a:t>
            </a:r>
            <a:endParaRPr lang="id-ID" sz="1800" dirty="0"/>
          </a:p>
        </p:txBody>
      </p:sp>
      <p:sp>
        <p:nvSpPr>
          <p:cNvPr id="17" name="Shape 14"/>
          <p:cNvSpPr/>
          <p:nvPr/>
        </p:nvSpPr>
        <p:spPr>
          <a:xfrm>
            <a:off x="6278728" y="1569019"/>
            <a:ext cx="5364328" cy="4421124"/>
          </a:xfrm>
          <a:prstGeom prst="roundRect">
            <a:avLst>
              <a:gd name="adj" fmla="val 599"/>
            </a:avLst>
          </a:prstGeom>
          <a:solidFill>
            <a:srgbClr val="FFFFFF"/>
          </a:solidFill>
          <a:ln w="12700">
            <a:solidFill>
              <a:srgbClr val="4AC26B"/>
            </a:solidFill>
            <a:prstDash val="solid"/>
          </a:ln>
        </p:spPr>
      </p:sp>
      <p:sp>
        <p:nvSpPr>
          <p:cNvPr id="18" name="Shape 15"/>
          <p:cNvSpPr/>
          <p:nvPr/>
        </p:nvSpPr>
        <p:spPr>
          <a:xfrm>
            <a:off x="6278728" y="1569019"/>
            <a:ext cx="5364328" cy="658368"/>
          </a:xfrm>
          <a:prstGeom prst="roundRect">
            <a:avLst>
              <a:gd name="adj" fmla="val 27006"/>
            </a:avLst>
          </a:prstGeom>
          <a:solidFill>
            <a:srgbClr val="1A7F37"/>
          </a:solidFill>
          <a:ln/>
        </p:spPr>
      </p:sp>
      <p:sp>
        <p:nvSpPr>
          <p:cNvPr id="19" name="Shape 16"/>
          <p:cNvSpPr/>
          <p:nvPr/>
        </p:nvSpPr>
        <p:spPr>
          <a:xfrm>
            <a:off x="6278728" y="1898203"/>
            <a:ext cx="5364328" cy="329184"/>
          </a:xfrm>
          <a:prstGeom prst="rect">
            <a:avLst/>
          </a:prstGeom>
          <a:solidFill>
            <a:srgbClr val="1A7F37"/>
          </a:solidFill>
          <a:ln/>
        </p:spPr>
      </p:sp>
      <p:sp>
        <p:nvSpPr>
          <p:cNvPr id="20" name="Text 17"/>
          <p:cNvSpPr txBox="1"/>
          <p:nvPr/>
        </p:nvSpPr>
        <p:spPr>
          <a:xfrm>
            <a:off x="6553048" y="1569019"/>
            <a:ext cx="4815688" cy="658368"/>
          </a:xfrm>
          <a:prstGeom prst="rect">
            <a:avLst/>
          </a:prstGeom>
          <a:noFill/>
          <a:ln/>
        </p:spPr>
        <p:txBody>
          <a:bodyPr wrap="square" lIns="0" tIns="0" rIns="0" bIns="0" rtlCol="0" anchor="ctr"/>
          <a:lstStyle/>
          <a:p>
            <a:pPr indent="0" marL="0">
              <a:buNone/>
            </a:pPr>
            <a:r>
              <a:rPr lang="id-ID" altLang="en-US" sz="2200" b="1" dirty="0">
                <a:solidFill>
                  <a:srgbClr val="FFFFFF"/>
                </a:solidFill>
              </a:rPr>
              <a:t>Pencarian tanpa hasil</a:t>
            </a:r>
            <a:endParaRPr lang="id-ID" sz="2200" dirty="0"/>
          </a:p>
        </p:txBody>
      </p:sp>
      <p:sp>
        <p:nvSpPr>
          <p:cNvPr id="21" name="Shape 18"/>
          <p:cNvSpPr/>
          <p:nvPr/>
        </p:nvSpPr>
        <p:spPr>
          <a:xfrm>
            <a:off x="6607912" y="2572573"/>
            <a:ext cx="137160" cy="137160"/>
          </a:xfrm>
          <a:prstGeom prst="roundRect">
            <a:avLst>
              <a:gd name="adj" fmla="val 166667"/>
            </a:avLst>
          </a:prstGeom>
          <a:solidFill>
            <a:srgbClr val="1A7F37"/>
          </a:solidFill>
          <a:ln/>
        </p:spPr>
      </p:sp>
      <p:sp>
        <p:nvSpPr>
          <p:cNvPr id="22" name="Text 19"/>
          <p:cNvSpPr txBox="1"/>
          <p:nvPr/>
        </p:nvSpPr>
        <p:spPr>
          <a:xfrm>
            <a:off x="6937096" y="2501707"/>
            <a:ext cx="4431640" cy="603504"/>
          </a:xfrm>
          <a:prstGeom prst="rect">
            <a:avLst/>
          </a:prstGeom>
          <a:noFill/>
          <a:ln/>
        </p:spPr>
        <p:txBody>
          <a:bodyPr wrap="square" lIns="0" tIns="0" rIns="0" bIns="0" rtlCol="0" anchor="t"/>
          <a:lstStyle/>
          <a:p>
            <a:pPr indent="0" marL="0">
              <a:buNone/>
            </a:pPr>
            <a:r>
              <a:rPr lang="id-ID" altLang="en-US" sz="1800" dirty="0">
                <a:solidFill>
                  <a:srgbClr val="1F2328"/>
                </a:solidFill>
                <a:latin typeface="Consolas" pitchFamily="34" charset="0"/>
                <a:ea typeface="Consolas" pitchFamily="34" charset="-122"/>
                <a:cs typeface="Consolas" pitchFamily="34" charset="-120"/>
              </a:rPr>
              <a:t>cari_menu("M99")</a:t>
            </a:r>
            <a:r>
              <a:rPr lang="id-ID" altLang="en-US" sz="1800" dirty="0">
                <a:solidFill>
                  <a:srgbClr val="1F2328"/>
                </a:solidFill>
              </a:rPr>
              <a:t> mengembalikan </a:t>
            </a:r>
            <a:r>
              <a:rPr lang="id-ID" altLang="en-US" sz="1800" dirty="0">
                <a:solidFill>
                  <a:srgbClr val="1F2328"/>
                </a:solidFill>
                <a:latin typeface="Consolas" pitchFamily="34" charset="0"/>
                <a:ea typeface="Consolas" pitchFamily="34" charset="-122"/>
                <a:cs typeface="Consolas" pitchFamily="34" charset="-120"/>
              </a:rPr>
              <a:t>None</a:t>
            </a:r>
            <a:r>
              <a:rPr lang="id-ID" altLang="en-US" sz="1800" dirty="0">
                <a:solidFill>
                  <a:srgbClr val="1F2328"/>
                </a:solidFill>
              </a:rPr>
              <a:t> (Python) atau </a:t>
            </a:r>
            <a:r>
              <a:rPr lang="id-ID" altLang="en-US" sz="1800" dirty="0">
                <a:solidFill>
                  <a:srgbClr val="1F2328"/>
                </a:solidFill>
                <a:latin typeface="Consolas" pitchFamily="34" charset="0"/>
                <a:ea typeface="Consolas" pitchFamily="34" charset="-122"/>
                <a:cs typeface="Consolas" pitchFamily="34" charset="-120"/>
              </a:rPr>
              <a:t>null</a:t>
            </a:r>
            <a:r>
              <a:rPr lang="id-ID" altLang="en-US" sz="1800" dirty="0">
                <a:solidFill>
                  <a:srgbClr val="1F2328"/>
                </a:solidFill>
              </a:rPr>
              <a:t> (Java).</a:t>
            </a:r>
            <a:endParaRPr lang="id-ID" sz="1800" dirty="0"/>
          </a:p>
        </p:txBody>
      </p:sp>
      <p:sp>
        <p:nvSpPr>
          <p:cNvPr id="23" name="Shape 20"/>
          <p:cNvSpPr/>
          <p:nvPr/>
        </p:nvSpPr>
        <p:spPr>
          <a:xfrm>
            <a:off x="6607912" y="3349813"/>
            <a:ext cx="137160" cy="137160"/>
          </a:xfrm>
          <a:prstGeom prst="roundRect">
            <a:avLst>
              <a:gd name="adj" fmla="val 166667"/>
            </a:avLst>
          </a:prstGeom>
          <a:solidFill>
            <a:srgbClr val="1A7F37"/>
          </a:solidFill>
          <a:ln/>
        </p:spPr>
      </p:sp>
      <p:sp>
        <p:nvSpPr>
          <p:cNvPr id="24" name="Text 21"/>
          <p:cNvSpPr txBox="1"/>
          <p:nvPr/>
        </p:nvSpPr>
        <p:spPr>
          <a:xfrm>
            <a:off x="6937096" y="3278947"/>
            <a:ext cx="4431640" cy="882396"/>
          </a:xfrm>
          <a:prstGeom prst="rect">
            <a:avLst/>
          </a:prstGeom>
          <a:noFill/>
          <a:ln/>
        </p:spPr>
        <p:txBody>
          <a:bodyPr wrap="square" lIns="0" tIns="0" rIns="0" bIns="0" rtlCol="0" anchor="t"/>
          <a:lstStyle/>
          <a:p>
            <a:pPr indent="0" marL="0">
              <a:buNone/>
            </a:pPr>
            <a:r>
              <a:rPr lang="id-ID" altLang="en-US" sz="1800" dirty="0">
                <a:solidFill>
                  <a:srgbClr val="1F2328"/>
                </a:solidFill>
              </a:rPr>
              <a:t>Pemanggil </a:t>
            </a:r>
            <a:r>
              <a:rPr lang="id-ID" altLang="en-US" sz="1800" b="1" dirty="0">
                <a:solidFill>
                  <a:srgbClr val="1F2328"/>
                </a:solidFill>
              </a:rPr>
              <a:t>wajib memeriksa</a:t>
            </a:r>
            <a:r>
              <a:rPr lang="id-ID" altLang="en-US" sz="1800" dirty="0">
                <a:solidFill>
                  <a:srgbClr val="1F2328"/>
                </a:solidFill>
              </a:rPr>
              <a:t> hasilnya: Python </a:t>
            </a:r>
            <a:r>
              <a:rPr lang="id-ID" altLang="en-US" sz="1800" dirty="0">
                <a:solidFill>
                  <a:srgbClr val="1F2328"/>
                </a:solidFill>
                <a:latin typeface="Consolas" pitchFamily="34" charset="0"/>
                <a:ea typeface="Consolas" pitchFamily="34" charset="-122"/>
                <a:cs typeface="Consolas" pitchFamily="34" charset="-120"/>
              </a:rPr>
              <a:t>if menu is None:</a:t>
            </a:r>
            <a:r>
              <a:rPr lang="id-ID" altLang="en-US" sz="1800" dirty="0">
                <a:solidFill>
                  <a:srgbClr val="1F2328"/>
                </a:solidFill>
              </a:rPr>
              <a:t>, Java </a:t>
            </a:r>
            <a:r>
              <a:rPr lang="id-ID" altLang="en-US" sz="1800" dirty="0">
                <a:solidFill>
                  <a:srgbClr val="1F2328"/>
                </a:solidFill>
                <a:latin typeface="Consolas" pitchFamily="34" charset="0"/>
                <a:ea typeface="Consolas" pitchFamily="34" charset="-122"/>
                <a:cs typeface="Consolas" pitchFamily="34" charset="-120"/>
              </a:rPr>
              <a:t>if (menu == null)</a:t>
            </a:r>
            <a:r>
              <a:rPr lang="id-ID" altLang="en-US" sz="1800" dirty="0">
                <a:solidFill>
                  <a:srgbClr val="1F2328"/>
                </a:solidFill>
              </a:rPr>
              <a:t>.</a:t>
            </a:r>
            <a:endParaRPr lang="id-ID" sz="1800" dirty="0"/>
          </a:p>
        </p:txBody>
      </p:sp>
      <p:sp>
        <p:nvSpPr>
          <p:cNvPr id="25" name="Shape 22"/>
          <p:cNvSpPr/>
          <p:nvPr/>
        </p:nvSpPr>
        <p:spPr>
          <a:xfrm>
            <a:off x="6607912" y="4405945"/>
            <a:ext cx="137160" cy="137160"/>
          </a:xfrm>
          <a:prstGeom prst="roundRect">
            <a:avLst>
              <a:gd name="adj" fmla="val 166667"/>
            </a:avLst>
          </a:prstGeom>
          <a:solidFill>
            <a:srgbClr val="1A7F37"/>
          </a:solidFill>
          <a:ln/>
        </p:spPr>
      </p:sp>
      <p:sp>
        <p:nvSpPr>
          <p:cNvPr id="26" name="Text 23"/>
          <p:cNvSpPr txBox="1"/>
          <p:nvPr/>
        </p:nvSpPr>
        <p:spPr>
          <a:xfrm>
            <a:off x="6937096" y="4335079"/>
            <a:ext cx="4431640" cy="882396"/>
          </a:xfrm>
          <a:prstGeom prst="rect">
            <a:avLst/>
          </a:prstGeom>
          <a:noFill/>
          <a:ln/>
        </p:spPr>
        <p:txBody>
          <a:bodyPr wrap="square" lIns="0" tIns="0" rIns="0" bIns="0" rtlCol="0" anchor="t"/>
          <a:lstStyle/>
          <a:p>
            <a:pPr indent="0" marL="0">
              <a:buNone/>
            </a:pPr>
            <a:r>
              <a:rPr lang="id-ID" altLang="en-US" sz="1800" dirty="0">
                <a:solidFill>
                  <a:srgbClr val="1F2328"/>
                </a:solidFill>
              </a:rPr>
              <a:t>Jika langsung dipakai, program berhenti dengan </a:t>
            </a:r>
            <a:r>
              <a:rPr lang="id-ID" altLang="en-US" sz="1800" dirty="0">
                <a:solidFill>
                  <a:srgbClr val="1F2328"/>
                </a:solidFill>
                <a:latin typeface="Consolas" pitchFamily="34" charset="0"/>
                <a:ea typeface="Consolas" pitchFamily="34" charset="-122"/>
                <a:cs typeface="Consolas" pitchFamily="34" charset="-120"/>
              </a:rPr>
              <a:t>AttributeError</a:t>
            </a:r>
            <a:r>
              <a:rPr lang="id-ID" altLang="en-US" sz="1800" dirty="0">
                <a:solidFill>
                  <a:srgbClr val="1F2328"/>
                </a:solidFill>
              </a:rPr>
              <a:t> atau </a:t>
            </a:r>
            <a:r>
              <a:rPr lang="id-ID" altLang="en-US" sz="1800" dirty="0">
                <a:solidFill>
                  <a:srgbClr val="1F2328"/>
                </a:solidFill>
                <a:latin typeface="Consolas" pitchFamily="34" charset="0"/>
                <a:ea typeface="Consolas" pitchFamily="34" charset="-122"/>
                <a:cs typeface="Consolas" pitchFamily="34" charset="-120"/>
              </a:rPr>
              <a:t>NullPointerException</a:t>
            </a:r>
            <a:r>
              <a:rPr lang="id-ID" altLang="en-US" sz="1800" dirty="0">
                <a:solidFill>
                  <a:srgbClr val="1F2328"/>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5</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5</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Program Banyak </a:t>
            </a:r>
            <a:r>
              <a:rPr lang="id-ID" altLang="en-US" sz="4200" b="1" i="1" dirty="0">
                <a:solidFill>
                  <a:srgbClr val="FFFFFF"/>
                </a:solidFill>
              </a:rPr>
              <a:t>File</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Satu kelas, satu </a:t>
            </a:r>
            <a:r>
              <a:rPr lang="id-ID" altLang="en-US" sz="2200" i="1" dirty="0">
                <a:solidFill>
                  <a:srgbClr val="C9D7E8"/>
                </a:solidFill>
              </a:rPr>
              <a:t>file</a:t>
            </a:r>
            <a:r>
              <a:rPr lang="id-ID" altLang="en-US" sz="2200" dirty="0">
                <a:solidFill>
                  <a:srgbClr val="C9D7E8"/>
                </a:solidFill>
              </a:rPr>
              <a:t>, dan satu pintu masuk.</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Program Banyak </a:t>
            </a:r>
            <a:r>
              <a:rPr lang="id-ID" altLang="en-US" sz="3200" b="1" i="1" dirty="0">
                <a:solidFill>
                  <a:srgbClr val="0A3069"/>
                </a:solidFill>
              </a:rPr>
              <a:t>File</a:t>
            </a:r>
            <a:r>
              <a:rPr lang="id-ID" altLang="en-US" sz="3200" b="1" dirty="0">
                <a:solidFill>
                  <a:srgbClr val="0A3069"/>
                </a:solidFill>
              </a:rPr>
              <a:t> di Python dan Java</a:t>
            </a:r>
            <a:endParaRPr lang="id-ID"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42136"/>
          <a:ext cx="11094415" cy="914400"/>
        </p:xfrm>
        <a:graphic>
          <a:graphicData uri="http://schemas.openxmlformats.org/drawingml/2006/table">
            <a:tbl>
              <a:tblPr/>
              <a:tblGrid>
                <a:gridCol w="1830607"/>
                <a:gridCol w="4830821"/>
                <a:gridCol w="4432987"/>
              </a:tblGrid>
              <a:tr h="461772">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Hal</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Python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Java</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Satu </a:t>
                      </a:r>
                      <a:r>
                        <a:rPr lang="id-ID" altLang="en-US" sz="1800" i="1" dirty="0">
                          <a:solidFill>
                            <a:srgbClr val="1F2328"/>
                          </a:solidFill>
                          <a:latin typeface="Calibri" pitchFamily="34" charset="0"/>
                          <a:ea typeface="Calibri" pitchFamily="34" charset="-122"/>
                          <a:cs typeface="Calibri" pitchFamily="34" charset="-120"/>
                        </a:rPr>
                        <a:t>file</a:t>
                      </a:r>
                      <a:r>
                        <a:rPr lang="id-ID" altLang="en-US" sz="1800" dirty="0">
                          <a:solidFill>
                            <a:srgbClr val="1F2328"/>
                          </a:solidFill>
                          <a:latin typeface="Calibri" pitchFamily="34" charset="0"/>
                          <a:ea typeface="Calibri" pitchFamily="34" charset="-122"/>
                          <a:cs typeface="Calibri" pitchFamily="34" charset="-120"/>
                        </a:rPr>
                        <a:t> disebut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modul (</a:t>
                      </a:r>
                      <a:r>
                        <a:rPr lang="id-ID" altLang="en-US" sz="1800" i="1" dirty="0">
                          <a:solidFill>
                            <a:srgbClr val="1F2328"/>
                          </a:solidFill>
                          <a:latin typeface="Calibri" pitchFamily="34" charset="0"/>
                          <a:ea typeface="Calibri" pitchFamily="34" charset="-122"/>
                          <a:cs typeface="Calibri" pitchFamily="34" charset="-120"/>
                        </a:rPr>
                        <a:t>module</a:t>
                      </a:r>
                      <a:r>
                        <a:rPr lang="id-ID" altLang="en-US" sz="1800" dirty="0">
                          <a:solidFill>
                            <a:srgbClr val="1F232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i="1" dirty="0">
                          <a:solidFill>
                            <a:srgbClr val="1F2328"/>
                          </a:solidFill>
                          <a:latin typeface="Calibri" pitchFamily="34" charset="0"/>
                          <a:ea typeface="Calibri" pitchFamily="34" charset="-122"/>
                          <a:cs typeface="Calibri" pitchFamily="34" charset="-120"/>
                        </a:rPr>
                        <a:t>file</a:t>
                      </a:r>
                      <a:r>
                        <a:rPr lang="id-ID" altLang="en-US" sz="1800" dirty="0">
                          <a:solidFill>
                            <a:srgbClr val="1F2328"/>
                          </a:solidFill>
                          <a:latin typeface="Calibri" pitchFamily="34" charset="0"/>
                          <a:ea typeface="Calibri" pitchFamily="34" charset="-122"/>
                          <a:cs typeface="Calibri" pitchFamily="34" charset="-120"/>
                        </a:rPr>
                        <a:t> sumber</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Aturan nama </a:t>
                      </a:r>
                      <a:r>
                        <a:rPr lang="id-ID" altLang="en-US" sz="1800" i="1" dirty="0">
                          <a:solidFill>
                            <a:srgbClr val="1F2328"/>
                          </a:solidFill>
                          <a:latin typeface="Calibri" pitchFamily="34" charset="0"/>
                          <a:ea typeface="Calibri" pitchFamily="34" charset="-122"/>
                          <a:cs typeface="Calibri" pitchFamily="34" charset="-120"/>
                        </a:rPr>
                        <a:t>file</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bebas, lazimnya huruf kecil: </a:t>
                      </a:r>
                      <a:r>
                        <a:rPr lang="id-ID" altLang="en-US" sz="1800" dirty="0">
                          <a:solidFill>
                            <a:srgbClr val="0A3069"/>
                          </a:solidFill>
                          <a:latin typeface="Consolas" pitchFamily="34" charset="0"/>
                          <a:ea typeface="Consolas" pitchFamily="34" charset="-122"/>
                          <a:cs typeface="Consolas" pitchFamily="34" charset="-120"/>
                        </a:rPr>
                        <a:t>pesanan.py</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b="1" dirty="0">
                          <a:solidFill>
                            <a:srgbClr val="1F2328"/>
                          </a:solidFill>
                          <a:latin typeface="Calibri" pitchFamily="34" charset="0"/>
                          <a:ea typeface="Calibri" pitchFamily="34" charset="-122"/>
                          <a:cs typeface="Calibri" pitchFamily="34" charset="-120"/>
                        </a:rPr>
                        <a:t>wajib</a:t>
                      </a:r>
                      <a:r>
                        <a:rPr lang="id-ID" altLang="en-US" sz="1800" dirty="0">
                          <a:solidFill>
                            <a:srgbClr val="1F2328"/>
                          </a:solidFill>
                          <a:latin typeface="Calibri" pitchFamily="34" charset="0"/>
                          <a:ea typeface="Calibri" pitchFamily="34" charset="-122"/>
                          <a:cs typeface="Calibri" pitchFamily="34" charset="-120"/>
                        </a:rPr>
                        <a:t> sama dengan nama kelas </a:t>
                      </a:r>
                      <a:r>
                        <a:rPr lang="id-ID" altLang="en-US" sz="1800" dirty="0">
                          <a:solidFill>
                            <a:srgbClr val="0A3069"/>
                          </a:solidFill>
                          <a:latin typeface="Consolas" pitchFamily="34" charset="0"/>
                          <a:ea typeface="Consolas" pitchFamily="34" charset="-122"/>
                          <a:cs typeface="Consolas" pitchFamily="34" charset="-120"/>
                        </a:rPr>
                        <a:t>public</a:t>
                      </a:r>
                      <a:r>
                        <a:rPr lang="id-ID" altLang="en-US" sz="1800" dirty="0">
                          <a:solidFill>
                            <a:srgbClr val="1F2328"/>
                          </a:solidFill>
                          <a:latin typeface="Calibri" pitchFamily="34" charset="0"/>
                          <a:ea typeface="Calibri" pitchFamily="34" charset="-122"/>
                          <a:cs typeface="Calibri" pitchFamily="34" charset="-120"/>
                        </a:rPr>
                        <a:t>-nya: </a:t>
                      </a:r>
                      <a:r>
                        <a:rPr lang="id-ID" altLang="en-US" sz="1800" dirty="0">
                          <a:solidFill>
                            <a:srgbClr val="0A3069"/>
                          </a:solidFill>
                          <a:latin typeface="Consolas" pitchFamily="34" charset="0"/>
                          <a:ea typeface="Consolas" pitchFamily="34" charset="-122"/>
                          <a:cs typeface="Consolas" pitchFamily="34" charset="-120"/>
                        </a:rPr>
                        <a:t>Pesanan.java</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Isi satu </a:t>
                      </a:r>
                      <a:r>
                        <a:rPr lang="id-ID" altLang="en-US" sz="1800" i="1" dirty="0">
                          <a:solidFill>
                            <a:srgbClr val="1F2328"/>
                          </a:solidFill>
                          <a:latin typeface="Calibri" pitchFamily="34" charset="0"/>
                          <a:ea typeface="Calibri" pitchFamily="34" charset="-122"/>
                          <a:cs typeface="Calibri" pitchFamily="34" charset="-120"/>
                        </a:rPr>
                        <a:t>file</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boleh beberapa kelas: </a:t>
                      </a:r>
                      <a:r>
                        <a:rPr lang="id-ID" altLang="en-US" sz="1800" dirty="0">
                          <a:solidFill>
                            <a:srgbClr val="0A3069"/>
                          </a:solidFill>
                          <a:latin typeface="Consolas" pitchFamily="34" charset="0"/>
                          <a:ea typeface="Consolas" pitchFamily="34" charset="-122"/>
                          <a:cs typeface="Consolas" pitchFamily="34" charset="-120"/>
                        </a:rPr>
                        <a:t>ItemPesanan</a:t>
                      </a:r>
                      <a:r>
                        <a:rPr lang="id-ID" altLang="en-US" sz="1800" dirty="0">
                          <a:solidFill>
                            <a:srgbClr val="1F2328"/>
                          </a:solidFill>
                          <a:latin typeface="Calibri" pitchFamily="34" charset="0"/>
                          <a:ea typeface="Calibri" pitchFamily="34" charset="-122"/>
                          <a:cs typeface="Calibri" pitchFamily="34" charset="-120"/>
                        </a:rPr>
                        <a:t> dan </a:t>
                      </a:r>
                      <a:r>
                        <a:rPr lang="id-ID" altLang="en-US" sz="1800" dirty="0">
                          <a:solidFill>
                            <a:srgbClr val="0A3069"/>
                          </a:solidFill>
                          <a:latin typeface="Consolas" pitchFamily="34" charset="0"/>
                          <a:ea typeface="Consolas" pitchFamily="34" charset="-122"/>
                          <a:cs typeface="Consolas" pitchFamily="34" charset="-120"/>
                        </a:rPr>
                        <a:t>Pesanan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satu kelas </a:t>
                      </a:r>
                      <a:r>
                        <a:rPr lang="id-ID" altLang="en-US" sz="1800" dirty="0">
                          <a:solidFill>
                            <a:srgbClr val="0A3069"/>
                          </a:solidFill>
                          <a:latin typeface="Consolas" pitchFamily="34" charset="0"/>
                          <a:ea typeface="Consolas" pitchFamily="34" charset="-122"/>
                          <a:cs typeface="Consolas" pitchFamily="34" charset="-120"/>
                        </a:rPr>
                        <a:t>public</a:t>
                      </a:r>
                      <a:r>
                        <a:rPr lang="id-ID" altLang="en-US" sz="1800" dirty="0">
                          <a:solidFill>
                            <a:srgbClr val="1F2328"/>
                          </a:solidFill>
                          <a:latin typeface="Calibri" pitchFamily="34" charset="0"/>
                          <a:ea typeface="Calibri" pitchFamily="34" charset="-122"/>
                          <a:cs typeface="Calibri" pitchFamily="34" charset="-120"/>
                        </a:rPr>
                        <a:t> per </a:t>
                      </a:r>
                      <a:r>
                        <a:rPr lang="id-ID" altLang="en-US" sz="1800" i="1" dirty="0">
                          <a:solidFill>
                            <a:srgbClr val="1F2328"/>
                          </a:solidFill>
                          <a:latin typeface="Calibri" pitchFamily="34" charset="0"/>
                          <a:ea typeface="Calibri" pitchFamily="34" charset="-122"/>
                          <a:cs typeface="Calibri" pitchFamily="34" charset="-120"/>
                        </a:rPr>
                        <a:t>file</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Memakai kelas dari </a:t>
                      </a:r>
                      <a:r>
                        <a:rPr lang="id-ID" altLang="en-US" sz="1800" i="1" dirty="0">
                          <a:solidFill>
                            <a:srgbClr val="1F2328"/>
                          </a:solidFill>
                          <a:latin typeface="Calibri" pitchFamily="34" charset="0"/>
                          <a:ea typeface="Calibri" pitchFamily="34" charset="-122"/>
                          <a:cs typeface="Calibri" pitchFamily="34" charset="-120"/>
                        </a:rPr>
                        <a:t>file</a:t>
                      </a:r>
                      <a:r>
                        <a:rPr lang="id-ID" altLang="en-US" sz="1800" dirty="0">
                          <a:solidFill>
                            <a:srgbClr val="1F2328"/>
                          </a:solidFill>
                          <a:latin typeface="Calibri" pitchFamily="34" charset="0"/>
                          <a:ea typeface="Calibri" pitchFamily="34" charset="-122"/>
                          <a:cs typeface="Calibri" pitchFamily="34" charset="-120"/>
                        </a:rPr>
                        <a:t> lain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wajib </a:t>
                      </a:r>
                      <a:r>
                        <a:rPr lang="id-ID" altLang="en-US" sz="1800" dirty="0">
                          <a:solidFill>
                            <a:srgbClr val="0A3069"/>
                          </a:solidFill>
                          <a:latin typeface="Consolas" pitchFamily="34" charset="0"/>
                          <a:ea typeface="Consolas" pitchFamily="34" charset="-122"/>
                          <a:cs typeface="Consolas" pitchFamily="34" charset="-120"/>
                        </a:rPr>
                        <a:t>import</a:t>
                      </a:r>
                      <a:r>
                        <a:rPr lang="id-ID" altLang="en-US" sz="1800" dirty="0">
                          <a:solidFill>
                            <a:srgbClr val="1F2328"/>
                          </a:solidFill>
                          <a:latin typeface="Calibri" pitchFamily="34" charset="0"/>
                          <a:ea typeface="Calibri" pitchFamily="34" charset="-122"/>
                          <a:cs typeface="Calibri" pitchFamily="34" charset="-120"/>
                        </a:rPr>
                        <a:t>: </a:t>
                      </a:r>
                      <a:r>
                        <a:rPr lang="id-ID" altLang="en-US" sz="1800" dirty="0">
                          <a:solidFill>
                            <a:srgbClr val="0A3069"/>
                          </a:solidFill>
                          <a:latin typeface="Consolas" pitchFamily="34" charset="0"/>
                          <a:ea typeface="Consolas" pitchFamily="34" charset="-122"/>
                          <a:cs typeface="Consolas" pitchFamily="34" charset="-120"/>
                        </a:rPr>
                        <a:t>from menu import Menu</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tanpa </a:t>
                      </a:r>
                      <a:r>
                        <a:rPr lang="id-ID" altLang="en-US" sz="1800" dirty="0">
                          <a:solidFill>
                            <a:srgbClr val="0A3069"/>
                          </a:solidFill>
                          <a:latin typeface="Consolas" pitchFamily="34" charset="0"/>
                          <a:ea typeface="Consolas" pitchFamily="34" charset="-122"/>
                          <a:cs typeface="Consolas" pitchFamily="34" charset="-120"/>
                        </a:rPr>
                        <a:t>import</a:t>
                      </a:r>
                      <a:r>
                        <a:rPr lang="id-ID" altLang="en-US" sz="1800" dirty="0">
                          <a:solidFill>
                            <a:srgbClr val="1F2328"/>
                          </a:solidFill>
                          <a:latin typeface="Calibri" pitchFamily="34" charset="0"/>
                          <a:ea typeface="Calibri" pitchFamily="34" charset="-122"/>
                          <a:cs typeface="Calibri" pitchFamily="34" charset="-120"/>
                        </a:rPr>
                        <a:t> jika satu folder</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Menjalankan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python main.py</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javac *.java</a:t>
                      </a:r>
                      <a:r>
                        <a:rPr lang="id-ID" altLang="en-US" sz="1800" dirty="0">
                          <a:solidFill>
                            <a:srgbClr val="1F2328"/>
                          </a:solidFill>
                          <a:latin typeface="Calibri" pitchFamily="34" charset="0"/>
                          <a:ea typeface="Calibri" pitchFamily="34" charset="-122"/>
                          <a:cs typeface="Calibri" pitchFamily="34" charset="-120"/>
                        </a:rPr>
                        <a:t>, lalu </a:t>
                      </a:r>
                      <a:r>
                        <a:rPr lang="id-ID" altLang="en-US" sz="1800" dirty="0">
                          <a:solidFill>
                            <a:srgbClr val="0A3069"/>
                          </a:solidFill>
                          <a:latin typeface="Consolas" pitchFamily="34" charset="0"/>
                          <a:ea typeface="Consolas" pitchFamily="34" charset="-122"/>
                          <a:cs typeface="Consolas" pitchFamily="34" charset="-120"/>
                        </a:rPr>
                        <a:t>java Main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396332"/>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468752"/>
            <a:ext cx="184343" cy="184343"/>
          </a:xfrm>
          <a:prstGeom prst="rect">
            <a:avLst/>
          </a:prstGeom>
        </p:spPr>
      </p:pic>
      <p:sp>
        <p:nvSpPr>
          <p:cNvPr id="8" name="Text 3"/>
          <p:cNvSpPr txBox="1"/>
          <p:nvPr/>
        </p:nvSpPr>
        <p:spPr>
          <a:xfrm>
            <a:off x="1005840" y="5378044"/>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Masuk dulu ke folder </a:t>
            </a:r>
            <a:r>
              <a:rPr lang="id-ID" altLang="en-US" sz="1800" dirty="0">
                <a:solidFill>
                  <a:srgbClr val="57606A"/>
                </a:solidFill>
                <a:latin typeface="Consolas" pitchFamily="34" charset="0"/>
                <a:ea typeface="Consolas" pitchFamily="34" charset="-122"/>
                <a:cs typeface="Consolas" pitchFamily="34" charset="-120"/>
              </a:rPr>
              <a:t>studi-kasus</a:t>
            </a:r>
            <a:r>
              <a:rPr lang="id-ID" altLang="en-US" sz="1800" dirty="0">
                <a:solidFill>
                  <a:srgbClr val="57606A"/>
                </a:solidFill>
              </a:rPr>
              <a:t> sebelum mengetik perintah di terminal. Yang dijalankan selalu pintu masuknya: </a:t>
            </a:r>
            <a:r>
              <a:rPr lang="id-ID" altLang="en-US" sz="1800" dirty="0">
                <a:solidFill>
                  <a:srgbClr val="57606A"/>
                </a:solidFill>
                <a:latin typeface="Consolas" pitchFamily="34" charset="0"/>
                <a:ea typeface="Consolas" pitchFamily="34" charset="-122"/>
                <a:cs typeface="Consolas" pitchFamily="34" charset="-120"/>
              </a:rPr>
              <a:t>main.py</a:t>
            </a:r>
            <a:r>
              <a:rPr lang="id-ID" altLang="en-US" sz="1800" dirty="0">
                <a:solidFill>
                  <a:srgbClr val="57606A"/>
                </a:solidFill>
              </a:rPr>
              <a:t> atau </a:t>
            </a:r>
            <a:r>
              <a:rPr lang="id-ID" altLang="en-US" sz="1800" dirty="0">
                <a:solidFill>
                  <a:srgbClr val="57606A"/>
                </a:solidFill>
                <a:latin typeface="Consolas" pitchFamily="34" charset="0"/>
                <a:ea typeface="Consolas" pitchFamily="34" charset="-122"/>
                <a:cs typeface="Consolas" pitchFamily="34" charset="-120"/>
              </a:rPr>
              <a:t>Main</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1216152" y="2633472"/>
            <a:ext cx="722376" cy="722376"/>
          </a:xfrm>
          <a:prstGeom prst="rect">
            <a:avLst/>
          </a:prstGeom>
        </p:spPr>
      </p:pic>
      <p:sp>
        <p:nvSpPr>
          <p:cNvPr id="4" name="Text 1"/>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FB8F44"/>
                </a:solidFill>
              </a:rPr>
              <a:t>STUDI KASUS</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Studi Kasus KedaiKita</a:t>
            </a:r>
            <a:endParaRPr lang="id-ID" sz="4200" dirty="0"/>
          </a:p>
        </p:txBody>
      </p:sp>
      <p:sp>
        <p:nvSpPr>
          <p:cNvPr id="6" name="Text 3"/>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Akhirnya KedaiKita bisa mencatat </a:t>
            </a:r>
            <a:r>
              <a:rPr lang="id-ID" altLang="en-US" sz="2200" b="1" dirty="0">
                <a:solidFill>
                  <a:srgbClr val="C9D7E8"/>
                </a:solidFill>
              </a:rPr>
              <a:t>siapa memesan apa</a:t>
            </a:r>
            <a:r>
              <a:rPr lang="id-ID" altLang="en-US" sz="2200" dirty="0">
                <a:solidFill>
                  <a:srgbClr val="C9D7E8"/>
                </a:solidFill>
              </a:rPr>
              <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Tiga Kelas Baru di KedaiKita</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890979"/>
          <a:ext cx="11094415" cy="914400"/>
        </p:xfrm>
        <a:graphic>
          <a:graphicData uri="http://schemas.openxmlformats.org/drawingml/2006/table">
            <a:tbl>
              <a:tblPr/>
              <a:tblGrid>
                <a:gridCol w="2057654"/>
                <a:gridCol w="9036761"/>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Kelas baru</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Tugasnya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523748">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ItemPesanan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satu baris pesanan: menu apa dan berapa porsi, beserta subtotalnya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Pesanan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pesanan seorang pelanggan: bernomor otomatis, berisi item, mencetak struk</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64616">
                <a:tc>
                  <a:txBody>
                    <a:bodyPr/>
                    <a:lstStyle/>
                    <a:p>
                      <a:pPr indent="0" marL="0">
                        <a:buNone/>
                      </a:pPr>
                      <a:r>
                        <a:rPr lang="id-ID" altLang="en-US" sz="2200" dirty="0">
                          <a:solidFill>
                            <a:srgbClr val="0A3069"/>
                          </a:solidFill>
                          <a:latin typeface="Consolas" pitchFamily="34" charset="0"/>
                          <a:ea typeface="Consolas" pitchFamily="34" charset="-122"/>
                          <a:cs typeface="Consolas" pitchFamily="34" charset="-120"/>
                        </a:rPr>
                        <a:t>Kedai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“pusat” kafe: menyimpan dan mencari menu, membuat dan mencatat pesanan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914595"/>
            <a:ext cx="329184" cy="329184"/>
          </a:xfrm>
          <a:prstGeom prst="ellipse">
            <a:avLst/>
          </a:prstGeom>
          <a:solidFill>
            <a:srgbClr val="57606A"/>
          </a:solidFill>
          <a:ln/>
        </p:spPr>
      </p:sp>
      <p:pic>
        <p:nvPicPr>
          <p:cNvPr id="9" name="Image 1" descr="preencoded.png">    </p:cNvPr>
          <p:cNvPicPr>
            <a:picLocks noChangeAspect="1"/>
          </p:cNvPicPr>
          <p:nvPr/>
        </p:nvPicPr>
        <p:blipFill>
          <a:blip r:embed="rId2"/>
          <a:stretch>
            <a:fillRect/>
          </a:stretch>
        </p:blipFill>
        <p:spPr>
          <a:xfrm>
            <a:off x="621060" y="4987016"/>
            <a:ext cx="184343" cy="184343"/>
          </a:xfrm>
          <a:prstGeom prst="rect">
            <a:avLst/>
          </a:prstGeom>
        </p:spPr>
      </p:pic>
      <p:sp>
        <p:nvSpPr>
          <p:cNvPr id="10" name="Text 5"/>
          <p:cNvSpPr txBox="1"/>
          <p:nvPr/>
        </p:nvSpPr>
        <p:spPr>
          <a:xfrm>
            <a:off x="1005840" y="4896307"/>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latin typeface="Consolas" pitchFamily="34" charset="0"/>
                <a:ea typeface="Consolas" pitchFamily="34" charset="-122"/>
                <a:cs typeface="Consolas" pitchFamily="34" charset="-120"/>
              </a:rPr>
              <a:t>Menu</a:t>
            </a:r>
            <a:r>
              <a:rPr lang="id-ID" altLang="en-US" sz="1800" dirty="0">
                <a:solidFill>
                  <a:srgbClr val="57606A"/>
                </a:solidFill>
              </a:rPr>
              <a:t> dan </a:t>
            </a:r>
            <a:r>
              <a:rPr lang="id-ID" altLang="en-US" sz="1800" dirty="0">
                <a:solidFill>
                  <a:srgbClr val="57606A"/>
                </a:solidFill>
                <a:latin typeface="Consolas" pitchFamily="34" charset="0"/>
                <a:ea typeface="Consolas" pitchFamily="34" charset="-122"/>
                <a:cs typeface="Consolas" pitchFamily="34" charset="-120"/>
              </a:rPr>
              <a:t>Pelanggan</a:t>
            </a:r>
            <a:r>
              <a:rPr lang="id-ID" altLang="en-US" sz="1800" dirty="0">
                <a:solidFill>
                  <a:srgbClr val="57606A"/>
                </a:solidFill>
              </a:rPr>
              <a:t> hampir tidak berubah, tetapi penghitung </a:t>
            </a:r>
            <a:r>
              <a:rPr lang="id-ID" altLang="en-US" sz="1800" dirty="0">
                <a:solidFill>
                  <a:srgbClr val="57606A"/>
                </a:solidFill>
                <a:latin typeface="Consolas" pitchFamily="34" charset="0"/>
                <a:ea typeface="Consolas" pitchFamily="34" charset="-122"/>
                <a:cs typeface="Consolas" pitchFamily="34" charset="-120"/>
              </a:rPr>
              <a:t>jumlah_menu</a:t>
            </a:r>
            <a:r>
              <a:rPr lang="id-ID" altLang="en-US" sz="1800" dirty="0">
                <a:solidFill>
                  <a:srgbClr val="57606A"/>
                </a:solidFill>
              </a:rPr>
              <a:t> dihapus; kini cukup </a:t>
            </a:r>
            <a:r>
              <a:rPr lang="id-ID" altLang="en-US" sz="1800" dirty="0">
                <a:solidFill>
                  <a:srgbClr val="57606A"/>
                </a:solidFill>
                <a:latin typeface="Consolas" pitchFamily="34" charset="0"/>
                <a:ea typeface="Consolas" pitchFamily="34" charset="-122"/>
                <a:cs typeface="Consolas" pitchFamily="34" charset="-120"/>
              </a:rPr>
              <a:t>kedai.jumlah_menu()</a:t>
            </a:r>
            <a:r>
              <a:rPr lang="id-ID" altLang="en-US" sz="1800" dirty="0">
                <a:solidFill>
                  <a:srgbClr val="57606A"/>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Rancangan Relasi KedaiKita</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pic>
        <p:nvPicPr>
          <p:cNvPr id="7" name="Image 1" descr="Diagram diringkas: hanya kelas dan garis relasinya. Diagram kelas lengkapnya kita buat di Pertemuan 06.">    </p:cNvPr>
          <p:cNvPicPr>
            <a:picLocks noChangeAspect="1"/>
          </p:cNvPicPr>
          <p:nvPr/>
        </p:nvPicPr>
        <p:blipFill>
          <a:blip r:embed="rId2"/>
          <a:stretch>
            <a:fillRect/>
          </a:stretch>
        </p:blipFill>
        <p:spPr>
          <a:xfrm>
            <a:off x="1266569" y="1417320"/>
            <a:ext cx="9658558" cy="4308602"/>
          </a:xfrm>
          <a:prstGeom prst="rect">
            <a:avLst/>
          </a:prstGeom>
        </p:spPr>
      </p:pic>
      <p:sp>
        <p:nvSpPr>
          <p:cNvPr id="8" name="Text 4"/>
          <p:cNvSpPr txBox="1"/>
          <p:nvPr/>
        </p:nvSpPr>
        <p:spPr>
          <a:xfrm>
            <a:off x="1005840" y="5835650"/>
            <a:ext cx="10180015" cy="427990"/>
          </a:xfrm>
          <a:prstGeom prst="rect">
            <a:avLst/>
          </a:prstGeom>
          <a:noFill/>
          <a:ln/>
        </p:spPr>
        <p:txBody>
          <a:bodyPr wrap="square" lIns="0" tIns="0" rIns="0" bIns="0" rtlCol="0" anchor="t"/>
          <a:lstStyle/>
          <a:p>
            <a:pPr algn="ctr" indent="0" marL="0">
              <a:buNone/>
            </a:pPr>
            <a:r>
              <a:rPr lang="id-ID" altLang="en-US" sz="1700" dirty="0">
                <a:solidFill>
                  <a:srgbClr val="57606A"/>
                </a:solidFill>
              </a:rPr>
              <a:t>Diagram diringkas: hanya kelas dan garis relasinya. Diagram kelas lengkapnya kita buat di Pertemuan 06.</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Pesanan Membuat Item dan Menyuruh Menu</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909961"/>
            <a:ext cx="11094415" cy="324612"/>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tambah_item()</a:t>
            </a:r>
            <a:r>
              <a:rPr lang="id-ID" altLang="en-US" sz="1800" dirty="0">
                <a:solidFill>
                  <a:srgbClr val="57606A"/>
                </a:solidFill>
              </a:rPr>
              <a:t> membuat objek item sendiri (komposisi), lalu menyuruh menu mengurangi stoknya.</a:t>
            </a:r>
            <a:endParaRPr lang="id-ID" sz="1800" dirty="0"/>
          </a:p>
        </p:txBody>
      </p:sp>
      <p:sp>
        <p:nvSpPr>
          <p:cNvPr id="8" name="Shape 5"/>
          <p:cNvSpPr/>
          <p:nvPr/>
        </p:nvSpPr>
        <p:spPr>
          <a:xfrm>
            <a:off x="548640" y="2344301"/>
            <a:ext cx="1051560" cy="329184"/>
          </a:xfrm>
          <a:prstGeom prst="roundRect">
            <a:avLst>
              <a:gd name="adj" fmla="val 138889"/>
            </a:avLst>
          </a:prstGeom>
          <a:solidFill>
            <a:srgbClr val="3572A5"/>
          </a:solidFill>
          <a:ln/>
        </p:spPr>
      </p:sp>
      <p:sp>
        <p:nvSpPr>
          <p:cNvPr id="9" name="Text 6"/>
          <p:cNvSpPr txBox="1"/>
          <p:nvPr/>
        </p:nvSpPr>
        <p:spPr>
          <a:xfrm>
            <a:off x="548640" y="234430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344301"/>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python/studi-kasus/pesanan.py</a:t>
            </a:r>
            <a:endParaRPr lang="id-ID" sz="1100" dirty="0"/>
          </a:p>
        </p:txBody>
      </p:sp>
      <p:sp>
        <p:nvSpPr>
          <p:cNvPr id="11" name="Shape 8"/>
          <p:cNvSpPr/>
          <p:nvPr/>
        </p:nvSpPr>
        <p:spPr>
          <a:xfrm>
            <a:off x="548640" y="2764925"/>
            <a:ext cx="5432908" cy="2691257"/>
          </a:xfrm>
          <a:prstGeom prst="roundRect">
            <a:avLst>
              <a:gd name="adj" fmla="val 1154"/>
            </a:avLst>
          </a:prstGeom>
          <a:solidFill>
            <a:srgbClr val="F6F8FA"/>
          </a:solidFill>
          <a:ln w="9525">
            <a:solidFill>
              <a:srgbClr val="D0D7DE"/>
            </a:solidFill>
            <a:prstDash val="solid"/>
          </a:ln>
        </p:spPr>
      </p:sp>
      <p:sp>
        <p:nvSpPr>
          <p:cNvPr id="12" name="Text 9"/>
          <p:cNvSpPr txBox="1"/>
          <p:nvPr/>
        </p:nvSpPr>
        <p:spPr>
          <a:xfrm>
            <a:off x="658368" y="2856365"/>
            <a:ext cx="5213452" cy="2508377"/>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def</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tambah_item</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 menu: Menu, jumlah: </a:t>
            </a:r>
            <a:r>
              <a:rPr lang="en-US" altLang="en-US" sz="1250" dirty="0">
                <a:solidFill>
                  <a:srgbClr val="0550A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item = ItemPesanan(menu, jumlah)</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menu.kurangi_stok(jumlah)</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._daftar_item.append(item)</a:t>
            </a:r>
            <a:endParaRPr lang="en-US" sz="1250" dirty="0"/>
          </a:p>
          <a:p>
            <a:pPr indent="0" marL="0">
              <a:buNone/>
            </a:pPr>
            <a:r>
              <a:rPr lang="en-US" altLang="en-US" sz="1250" dirty="0">
                <a:solidFill>
                  <a:srgbClr val="000000"/>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CF222E"/>
                </a:solidFill>
                <a:latin typeface="Consolas" pitchFamily="34" charset="0"/>
                <a:ea typeface="Consolas" pitchFamily="34" charset="-122"/>
                <a:cs typeface="Consolas" pitchFamily="34" charset="-120"/>
              </a:rPr>
              <a:t>def</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hitung_total</a:t>
            </a:r>
            <a:r>
              <a:rPr lang="en-US" altLang="en-US" sz="1250" dirty="0">
                <a:solidFill>
                  <a:srgbClr val="1F2328"/>
                </a:solidFill>
                <a:latin typeface="Consolas" pitchFamily="34" charset="0"/>
                <a:ea typeface="Consolas" pitchFamily="34" charset="-122"/>
                <a:cs typeface="Consolas" pitchFamily="34" charset="-120"/>
              </a:rPr>
              <a:t>(</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 -&gt; </a:t>
            </a:r>
            <a:r>
              <a:rPr lang="en-US" altLang="en-US" sz="1250" dirty="0">
                <a:solidFill>
                  <a:srgbClr val="0550A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total = </a:t>
            </a:r>
            <a:r>
              <a:rPr lang="en-US" altLang="en-US" sz="1250" dirty="0">
                <a:solidFill>
                  <a:srgbClr val="0550AE"/>
                </a:solidFill>
                <a:latin typeface="Consolas" pitchFamily="34" charset="0"/>
                <a:ea typeface="Consolas" pitchFamily="34" charset="-122"/>
                <a:cs typeface="Consolas" pitchFamily="34" charset="-120"/>
              </a:rPr>
              <a:t>0</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for</a:t>
            </a:r>
            <a:r>
              <a:rPr lang="en-US" altLang="en-US" sz="1250" dirty="0">
                <a:solidFill>
                  <a:srgbClr val="1F2328"/>
                </a:solidFill>
                <a:latin typeface="Consolas" pitchFamily="34" charset="0"/>
                <a:ea typeface="Consolas" pitchFamily="34" charset="-122"/>
                <a:cs typeface="Consolas" pitchFamily="34" charset="-120"/>
              </a:rPr>
              <a:t> item in </a:t>
            </a:r>
            <a:r>
              <a:rPr lang="en-US" altLang="en-US" sz="1250" dirty="0">
                <a:solidFill>
                  <a:srgbClr val="0550AE"/>
                </a:solidFill>
                <a:latin typeface="Consolas" pitchFamily="34" charset="0"/>
                <a:ea typeface="Consolas" pitchFamily="34" charset="-122"/>
                <a:cs typeface="Consolas" pitchFamily="34" charset="-120"/>
              </a:rPr>
              <a:t>self</a:t>
            </a:r>
            <a:r>
              <a:rPr lang="en-US" altLang="en-US" sz="1250" dirty="0">
                <a:solidFill>
                  <a:srgbClr val="1F2328"/>
                </a:solidFill>
                <a:latin typeface="Consolas" pitchFamily="34" charset="0"/>
                <a:ea typeface="Consolas" pitchFamily="34" charset="-122"/>
                <a:cs typeface="Consolas" pitchFamily="34" charset="-120"/>
              </a:rPr>
              <a:t>._daftar_item:</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total += item.hitung_subtotal()</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return</a:t>
            </a:r>
            <a:r>
              <a:rPr lang="en-US" altLang="en-US" sz="1250" dirty="0">
                <a:solidFill>
                  <a:srgbClr val="1F2328"/>
                </a:solidFill>
                <a:latin typeface="Consolas" pitchFamily="34" charset="0"/>
                <a:ea typeface="Consolas" pitchFamily="34" charset="-122"/>
                <a:cs typeface="Consolas" pitchFamily="34" charset="-120"/>
              </a:rPr>
              <a:t> total</a:t>
            </a:r>
            <a:endParaRPr lang="en-US" sz="1250" dirty="0"/>
          </a:p>
        </p:txBody>
      </p:sp>
      <p:sp>
        <p:nvSpPr>
          <p:cNvPr id="13" name="Shape 10"/>
          <p:cNvSpPr/>
          <p:nvPr/>
        </p:nvSpPr>
        <p:spPr>
          <a:xfrm>
            <a:off x="6210148" y="2344301"/>
            <a:ext cx="1051560" cy="329184"/>
          </a:xfrm>
          <a:prstGeom prst="roundRect">
            <a:avLst>
              <a:gd name="adj" fmla="val 138889"/>
            </a:avLst>
          </a:prstGeom>
          <a:solidFill>
            <a:srgbClr val="B07219"/>
          </a:solidFill>
          <a:ln/>
        </p:spPr>
      </p:sp>
      <p:sp>
        <p:nvSpPr>
          <p:cNvPr id="14" name="Text 11"/>
          <p:cNvSpPr txBox="1"/>
          <p:nvPr/>
        </p:nvSpPr>
        <p:spPr>
          <a:xfrm>
            <a:off x="6210148" y="2344301"/>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344301"/>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java/studi-kasus/Pesanan.java</a:t>
            </a:r>
            <a:endParaRPr lang="id-ID" sz="1100" dirty="0"/>
          </a:p>
        </p:txBody>
      </p:sp>
      <p:sp>
        <p:nvSpPr>
          <p:cNvPr id="16" name="Shape 13"/>
          <p:cNvSpPr/>
          <p:nvPr/>
        </p:nvSpPr>
        <p:spPr>
          <a:xfrm>
            <a:off x="6210148" y="2764925"/>
            <a:ext cx="5432908" cy="2691257"/>
          </a:xfrm>
          <a:prstGeom prst="roundRect">
            <a:avLst>
              <a:gd name="adj" fmla="val 1154"/>
            </a:avLst>
          </a:prstGeom>
          <a:solidFill>
            <a:srgbClr val="F6F8FA"/>
          </a:solidFill>
          <a:ln w="9525">
            <a:solidFill>
              <a:srgbClr val="D0D7DE"/>
            </a:solidFill>
            <a:prstDash val="solid"/>
          </a:ln>
        </p:spPr>
      </p:sp>
      <p:sp>
        <p:nvSpPr>
          <p:cNvPr id="17" name="Text 14"/>
          <p:cNvSpPr txBox="1"/>
          <p:nvPr/>
        </p:nvSpPr>
        <p:spPr>
          <a:xfrm>
            <a:off x="6319876" y="2856365"/>
            <a:ext cx="5213452" cy="2508377"/>
          </a:xfrm>
          <a:prstGeom prst="rect">
            <a:avLst/>
          </a:prstGeom>
          <a:noFill/>
          <a:ln/>
        </p:spPr>
        <p:txBody>
          <a:bodyPr wrap="square" lIns="0" tIns="0" rIns="0" bIns="0" rtlCol="0" anchor="t"/>
          <a:lstStyle/>
          <a:p>
            <a:pPr indent="0" marL="0">
              <a:buNone/>
            </a:pPr>
            <a:r>
              <a:rPr lang="en-US" altLang="en-US" sz="1250" dirty="0">
                <a:solidFill>
                  <a:srgbClr val="CF222E"/>
                </a:solidFill>
                <a:latin typeface="Consolas" pitchFamily="34" charset="0"/>
                <a:ea typeface="Consolas" pitchFamily="34" charset="-122"/>
                <a:cs typeface="Consolas" pitchFamily="34" charset="-120"/>
              </a:rPr>
              <a:t>public</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void</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tambahItem</a:t>
            </a:r>
            <a:r>
              <a:rPr lang="en-US" altLang="en-US" sz="1250" dirty="0">
                <a:solidFill>
                  <a:srgbClr val="1F2328"/>
                </a:solidFill>
                <a:latin typeface="Consolas" pitchFamily="34" charset="0"/>
                <a:ea typeface="Consolas" pitchFamily="34" charset="-122"/>
                <a:cs typeface="Consolas" pitchFamily="34" charset="-120"/>
              </a:rPr>
              <a:t>(Menu menu, </a:t>
            </a:r>
            <a:r>
              <a:rPr lang="en-US" altLang="en-US" sz="1250" dirty="0">
                <a:solidFill>
                  <a:srgbClr val="CF222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 jumlah)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ItemPesanan item = </a:t>
            </a:r>
            <a:r>
              <a:rPr lang="en-US" altLang="en-US" sz="1250" dirty="0">
                <a:solidFill>
                  <a:srgbClr val="CF222E"/>
                </a:solidFill>
                <a:latin typeface="Consolas" pitchFamily="34" charset="0"/>
                <a:ea typeface="Consolas" pitchFamily="34" charset="-122"/>
                <a:cs typeface="Consolas" pitchFamily="34" charset="-120"/>
              </a:rPr>
              <a:t>new</a:t>
            </a:r>
            <a:r>
              <a:rPr lang="en-US" altLang="en-US" sz="1250" dirty="0">
                <a:solidFill>
                  <a:srgbClr val="1F2328"/>
                </a:solidFill>
                <a:latin typeface="Consolas" pitchFamily="34" charset="0"/>
                <a:ea typeface="Consolas" pitchFamily="34" charset="-122"/>
                <a:cs typeface="Consolas" pitchFamily="34" charset="-120"/>
              </a:rPr>
              <a:t> ItemPesanan(menu, jumlah);</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menu.kurangiStok(jumlah);</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daftarItem.add(item);</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000000"/>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CF222E"/>
                </a:solidFill>
                <a:latin typeface="Consolas" pitchFamily="34" charset="0"/>
                <a:ea typeface="Consolas" pitchFamily="34" charset="-122"/>
                <a:cs typeface="Consolas" pitchFamily="34" charset="-120"/>
              </a:rPr>
              <a:t>public</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8250DF"/>
                </a:solidFill>
                <a:latin typeface="Consolas" pitchFamily="34" charset="0"/>
                <a:ea typeface="Consolas" pitchFamily="34" charset="-122"/>
                <a:cs typeface="Consolas" pitchFamily="34" charset="-120"/>
              </a:rPr>
              <a:t>hitungTotal</a:t>
            </a: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int</a:t>
            </a:r>
            <a:r>
              <a:rPr lang="en-US" altLang="en-US" sz="1250" dirty="0">
                <a:solidFill>
                  <a:srgbClr val="1F2328"/>
                </a:solidFill>
                <a:latin typeface="Consolas" pitchFamily="34" charset="0"/>
                <a:ea typeface="Consolas" pitchFamily="34" charset="-122"/>
                <a:cs typeface="Consolas" pitchFamily="34" charset="-120"/>
              </a:rPr>
              <a:t> total = </a:t>
            </a:r>
            <a:r>
              <a:rPr lang="en-US" altLang="en-US" sz="1250" dirty="0">
                <a:solidFill>
                  <a:srgbClr val="0550AE"/>
                </a:solidFill>
                <a:latin typeface="Consolas" pitchFamily="34" charset="0"/>
                <a:ea typeface="Consolas" pitchFamily="34" charset="-122"/>
                <a:cs typeface="Consolas" pitchFamily="34" charset="-120"/>
              </a:rPr>
              <a:t>0</a:t>
            </a:r>
            <a:r>
              <a:rPr lang="en-US" altLang="en-US" sz="1250" dirty="0">
                <a:solidFill>
                  <a:srgbClr val="1F2328"/>
                </a:solidFill>
                <a:latin typeface="Consolas" pitchFamily="34" charset="0"/>
                <a:ea typeface="Consolas" pitchFamily="34" charset="-122"/>
                <a:cs typeface="Consolas" pitchFamily="34" charset="-120"/>
              </a:rPr>
              <a:t>;</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for</a:t>
            </a:r>
            <a:r>
              <a:rPr lang="en-US" altLang="en-US" sz="1250" dirty="0">
                <a:solidFill>
                  <a:srgbClr val="1F2328"/>
                </a:solidFill>
                <a:latin typeface="Consolas" pitchFamily="34" charset="0"/>
                <a:ea typeface="Consolas" pitchFamily="34" charset="-122"/>
                <a:cs typeface="Consolas" pitchFamily="34" charset="-120"/>
              </a:rPr>
              <a:t> (ItemPesanan item : daftarItem)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total += item.hitungSubtotal();</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    </a:t>
            </a:r>
            <a:r>
              <a:rPr lang="en-US" altLang="en-US" sz="1250" dirty="0">
                <a:solidFill>
                  <a:srgbClr val="CF222E"/>
                </a:solidFill>
                <a:latin typeface="Consolas" pitchFamily="34" charset="0"/>
                <a:ea typeface="Consolas" pitchFamily="34" charset="-122"/>
                <a:cs typeface="Consolas" pitchFamily="34" charset="-120"/>
              </a:rPr>
              <a:t>return</a:t>
            </a:r>
            <a:r>
              <a:rPr lang="en-US" altLang="en-US" sz="1250" dirty="0">
                <a:solidFill>
                  <a:srgbClr val="1F2328"/>
                </a:solidFill>
                <a:latin typeface="Consolas" pitchFamily="34" charset="0"/>
                <a:ea typeface="Consolas" pitchFamily="34" charset="-122"/>
                <a:cs typeface="Consolas" pitchFamily="34" charset="-120"/>
              </a:rPr>
              <a:t> total;</a:t>
            </a:r>
            <a:endParaRPr lang="en-US" sz="1250" dirty="0"/>
          </a:p>
          <a:p>
            <a:pPr indent="0" marL="0">
              <a:buNone/>
            </a:pPr>
            <a:r>
              <a:rPr lang="en-US" altLang="en-US" sz="1250" dirty="0">
                <a:solidFill>
                  <a:srgbClr val="1F2328"/>
                </a:solidFill>
                <a:latin typeface="Consolas" pitchFamily="34" charset="0"/>
                <a:ea typeface="Consolas" pitchFamily="34" charset="-122"/>
                <a:cs typeface="Consolas" pitchFamily="34" charset="-120"/>
              </a:rPr>
              <a:t>}</a:t>
            </a:r>
            <a:endParaRPr lang="en-US" sz="125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472047"/>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1544467"/>
            <a:ext cx="184343" cy="184343"/>
          </a:xfrm>
          <a:prstGeom prst="rect">
            <a:avLst/>
          </a:prstGeom>
        </p:spPr>
      </p:pic>
      <p:sp>
        <p:nvSpPr>
          <p:cNvPr id="7" name="Text 3"/>
          <p:cNvSpPr txBox="1"/>
          <p:nvPr/>
        </p:nvSpPr>
        <p:spPr>
          <a:xfrm>
            <a:off x="987552" y="1472047"/>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472047"/>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1544467"/>
            <a:ext cx="184343" cy="184343"/>
          </a:xfrm>
          <a:prstGeom prst="rect">
            <a:avLst/>
          </a:prstGeom>
        </p:spPr>
      </p:pic>
      <p:sp>
        <p:nvSpPr>
          <p:cNvPr id="10" name="Text 5"/>
          <p:cNvSpPr txBox="1"/>
          <p:nvPr/>
        </p:nvSpPr>
        <p:spPr>
          <a:xfrm>
            <a:off x="5605272" y="1472047"/>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1974967"/>
            <a:ext cx="4343400" cy="1248918"/>
          </a:xfrm>
          <a:prstGeom prst="roundRect">
            <a:avLst>
              <a:gd name="adj" fmla="val 6433"/>
            </a:avLst>
          </a:prstGeom>
          <a:solidFill>
            <a:srgbClr val="FFEBE9"/>
          </a:solidFill>
          <a:ln w="9525">
            <a:solidFill>
              <a:srgbClr val="FF8182"/>
            </a:solidFill>
            <a:prstDash val="solid"/>
          </a:ln>
        </p:spPr>
      </p:sp>
      <p:sp>
        <p:nvSpPr>
          <p:cNvPr id="12" name="Text 7"/>
          <p:cNvSpPr txBox="1"/>
          <p:nvPr/>
        </p:nvSpPr>
        <p:spPr>
          <a:xfrm>
            <a:off x="777240" y="2157847"/>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“Agregasi dan komposisi itu sama saja karena sama-⁠sama punya.”</a:t>
            </a:r>
            <a:endParaRPr lang="id-ID" sz="1900" dirty="0"/>
          </a:p>
        </p:txBody>
      </p:sp>
      <p:sp>
        <p:nvSpPr>
          <p:cNvPr id="13" name="Shape 8"/>
          <p:cNvSpPr/>
          <p:nvPr/>
        </p:nvSpPr>
        <p:spPr>
          <a:xfrm>
            <a:off x="5166360" y="1974967"/>
            <a:ext cx="6476695" cy="1248918"/>
          </a:xfrm>
          <a:prstGeom prst="roundRect">
            <a:avLst>
              <a:gd name="adj" fmla="val 6433"/>
            </a:avLst>
          </a:prstGeom>
          <a:solidFill>
            <a:srgbClr val="DAFBE1"/>
          </a:solidFill>
          <a:ln w="9525">
            <a:solidFill>
              <a:srgbClr val="4AC26B"/>
            </a:solidFill>
            <a:prstDash val="solid"/>
          </a:ln>
        </p:spPr>
      </p:sp>
      <p:sp>
        <p:nvSpPr>
          <p:cNvPr id="14" name="Text 9"/>
          <p:cNvSpPr txBox="1"/>
          <p:nvPr/>
        </p:nvSpPr>
        <p:spPr>
          <a:xfrm>
            <a:off x="5394960" y="2157847"/>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Bedanya pada siklus hidup dan kepemilikan. Bagian agregasi bisa hidup sendiri; bagian komposisi dibuat pemiliknya dan ikut hilang bersamanya.</a:t>
            </a:r>
            <a:endParaRPr lang="id-ID" sz="1900" dirty="0"/>
          </a:p>
        </p:txBody>
      </p:sp>
      <p:sp>
        <p:nvSpPr>
          <p:cNvPr id="15" name="Shape 10"/>
          <p:cNvSpPr/>
          <p:nvPr/>
        </p:nvSpPr>
        <p:spPr>
          <a:xfrm>
            <a:off x="548640" y="3425053"/>
            <a:ext cx="4343400" cy="1248918"/>
          </a:xfrm>
          <a:prstGeom prst="roundRect">
            <a:avLst>
              <a:gd name="adj" fmla="val 6433"/>
            </a:avLst>
          </a:prstGeom>
          <a:solidFill>
            <a:srgbClr val="FFEBE9"/>
          </a:solidFill>
          <a:ln w="9525">
            <a:solidFill>
              <a:srgbClr val="FF8182"/>
            </a:solidFill>
            <a:prstDash val="solid"/>
          </a:ln>
        </p:spPr>
      </p:sp>
      <p:sp>
        <p:nvSpPr>
          <p:cNvPr id="16" name="Text 11"/>
          <p:cNvSpPr txBox="1"/>
          <p:nvPr/>
        </p:nvSpPr>
        <p:spPr>
          <a:xfrm>
            <a:off x="777240" y="3607933"/>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“Asosiasi berarti objek B disalin ke dalam objek A.”</a:t>
            </a:r>
            <a:endParaRPr lang="id-ID" sz="1900" dirty="0"/>
          </a:p>
        </p:txBody>
      </p:sp>
      <p:sp>
        <p:nvSpPr>
          <p:cNvPr id="17" name="Shape 12"/>
          <p:cNvSpPr/>
          <p:nvPr/>
        </p:nvSpPr>
        <p:spPr>
          <a:xfrm>
            <a:off x="5166360" y="3425053"/>
            <a:ext cx="6476695" cy="1248918"/>
          </a:xfrm>
          <a:prstGeom prst="roundRect">
            <a:avLst>
              <a:gd name="adj" fmla="val 6433"/>
            </a:avLst>
          </a:prstGeom>
          <a:solidFill>
            <a:srgbClr val="DAFBE1"/>
          </a:solidFill>
          <a:ln w="9525">
            <a:solidFill>
              <a:srgbClr val="4AC26B"/>
            </a:solidFill>
            <a:prstDash val="solid"/>
          </a:ln>
        </p:spPr>
      </p:sp>
      <p:sp>
        <p:nvSpPr>
          <p:cNvPr id="18" name="Text 13"/>
          <p:cNvSpPr txBox="1"/>
          <p:nvPr/>
        </p:nvSpPr>
        <p:spPr>
          <a:xfrm>
            <a:off x="5394960" y="3607933"/>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Yang disimpan hanyalah </a:t>
            </a:r>
            <a:r>
              <a:rPr lang="id-ID" altLang="en-US" sz="1900" b="1" dirty="0">
                <a:solidFill>
                  <a:srgbClr val="1F2328"/>
                </a:solidFill>
              </a:rPr>
              <a:t>referensi</a:t>
            </a:r>
            <a:r>
              <a:rPr lang="id-ID" altLang="en-US" sz="1900" dirty="0">
                <a:solidFill>
                  <a:srgbClr val="1F2328"/>
                </a:solidFill>
              </a:rPr>
              <a:t>. Objek B tetap satu; jika B berubah, semua objek yang mengenalnya melihat perubahan itu.</a:t>
            </a:r>
            <a:endParaRPr lang="id-ID" sz="1900" dirty="0"/>
          </a:p>
        </p:txBody>
      </p:sp>
      <p:sp>
        <p:nvSpPr>
          <p:cNvPr id="19" name="Shape 14"/>
          <p:cNvSpPr/>
          <p:nvPr/>
        </p:nvSpPr>
        <p:spPr>
          <a:xfrm>
            <a:off x="548640" y="4875139"/>
            <a:ext cx="4343400" cy="1248918"/>
          </a:xfrm>
          <a:prstGeom prst="roundRect">
            <a:avLst>
              <a:gd name="adj" fmla="val 6433"/>
            </a:avLst>
          </a:prstGeom>
          <a:solidFill>
            <a:srgbClr val="FFEBE9"/>
          </a:solidFill>
          <a:ln w="9525">
            <a:solidFill>
              <a:srgbClr val="FF8182"/>
            </a:solidFill>
            <a:prstDash val="solid"/>
          </a:ln>
        </p:spPr>
      </p:sp>
      <p:sp>
        <p:nvSpPr>
          <p:cNvPr id="20" name="Text 15"/>
          <p:cNvSpPr txBox="1"/>
          <p:nvPr/>
        </p:nvSpPr>
        <p:spPr>
          <a:xfrm>
            <a:off x="777240" y="5058019"/>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“Hubungan antarobjek harus selalu dua arah.”</a:t>
            </a:r>
            <a:endParaRPr lang="id-ID" sz="1900" dirty="0"/>
          </a:p>
        </p:txBody>
      </p:sp>
      <p:sp>
        <p:nvSpPr>
          <p:cNvPr id="21" name="Shape 16"/>
          <p:cNvSpPr/>
          <p:nvPr/>
        </p:nvSpPr>
        <p:spPr>
          <a:xfrm>
            <a:off x="5166360" y="4875139"/>
            <a:ext cx="6476695" cy="1248918"/>
          </a:xfrm>
          <a:prstGeom prst="roundRect">
            <a:avLst>
              <a:gd name="adj" fmla="val 6433"/>
            </a:avLst>
          </a:prstGeom>
          <a:solidFill>
            <a:srgbClr val="DAFBE1"/>
          </a:solidFill>
          <a:ln w="9525">
            <a:solidFill>
              <a:srgbClr val="4AC26B"/>
            </a:solidFill>
            <a:prstDash val="solid"/>
          </a:ln>
        </p:spPr>
      </p:sp>
      <p:sp>
        <p:nvSpPr>
          <p:cNvPr id="22" name="Text 17"/>
          <p:cNvSpPr txBox="1"/>
          <p:nvPr/>
        </p:nvSpPr>
        <p:spPr>
          <a:xfrm>
            <a:off x="5394960" y="5058019"/>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Hubungan satu arah sering kali cukup dan lebih mudah dijaga. Hubungan dua arah menuntut kedua sisi selalu diperbarui bersamaan.</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956438"/>
            <a:ext cx="11094415" cy="1324864"/>
          </a:xfrm>
          <a:prstGeom prst="roundRect">
            <a:avLst>
              <a:gd name="adj" fmla="val 5716"/>
            </a:avLst>
          </a:prstGeom>
          <a:solidFill>
            <a:srgbClr val="FBEFFF"/>
          </a:solidFill>
          <a:ln w="9525">
            <a:solidFill>
              <a:srgbClr val="C297FF"/>
            </a:solidFill>
            <a:prstDash val="solid"/>
          </a:ln>
        </p:spPr>
      </p:sp>
      <p:sp>
        <p:nvSpPr>
          <p:cNvPr id="6" name="Shape 3"/>
          <p:cNvSpPr/>
          <p:nvPr/>
        </p:nvSpPr>
        <p:spPr>
          <a:xfrm>
            <a:off x="777240" y="2390270"/>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490854"/>
            <a:ext cx="256032" cy="256032"/>
          </a:xfrm>
          <a:prstGeom prst="rect">
            <a:avLst/>
          </a:prstGeom>
        </p:spPr>
      </p:pic>
      <p:sp>
        <p:nvSpPr>
          <p:cNvPr id="8" name="Text 4"/>
          <p:cNvSpPr txBox="1"/>
          <p:nvPr/>
        </p:nvSpPr>
        <p:spPr>
          <a:xfrm>
            <a:off x="1417320" y="2185038"/>
            <a:ext cx="9951415" cy="1050544"/>
          </a:xfrm>
          <a:prstGeom prst="rect">
            <a:avLst/>
          </a:prstGeom>
          <a:noFill/>
          <a:ln/>
        </p:spPr>
        <p:txBody>
          <a:bodyPr wrap="square" lIns="0" tIns="0" rIns="0" bIns="0" rtlCol="0" anchor="t"/>
          <a:lstStyle/>
          <a:p>
            <a:pPr indent="0" marL="0">
              <a:buNone/>
            </a:pPr>
            <a:r>
              <a:rPr lang="id-ID" altLang="en-US" sz="2800" dirty="0">
                <a:solidFill>
                  <a:srgbClr val="1F2328"/>
                </a:solidFill>
              </a:rPr>
              <a:t>Manakah pasangan yang paling tepat digolongkan sebagai </a:t>
            </a:r>
            <a:r>
              <a:rPr lang="id-ID" altLang="en-US" sz="2800" b="1" dirty="0">
                <a:solidFill>
                  <a:srgbClr val="1F2328"/>
                </a:solidFill>
              </a:rPr>
              <a:t>komposisi</a:t>
            </a:r>
            <a:r>
              <a:rPr lang="id-ID" altLang="en-US" sz="2800" dirty="0">
                <a:solidFill>
                  <a:srgbClr val="1F2328"/>
                </a:solidFill>
              </a:rPr>
              <a:t>?</a:t>
            </a:r>
            <a:endParaRPr lang="id-ID" sz="2800" dirty="0"/>
          </a:p>
        </p:txBody>
      </p:sp>
      <p:sp>
        <p:nvSpPr>
          <p:cNvPr id="9" name="Shape 5"/>
          <p:cNvSpPr/>
          <p:nvPr/>
        </p:nvSpPr>
        <p:spPr>
          <a:xfrm>
            <a:off x="548640" y="3464182"/>
            <a:ext cx="5455768" cy="790042"/>
          </a:xfrm>
          <a:prstGeom prst="roundRect">
            <a:avLst>
              <a:gd name="adj" fmla="val 16075"/>
            </a:avLst>
          </a:prstGeom>
          <a:solidFill>
            <a:srgbClr val="FFFFFF"/>
          </a:solidFill>
          <a:ln w="9525">
            <a:solidFill>
              <a:srgbClr val="D0D7DE"/>
            </a:solidFill>
            <a:prstDash val="solid"/>
          </a:ln>
        </p:spPr>
      </p:sp>
      <p:sp>
        <p:nvSpPr>
          <p:cNvPr id="10" name="Shape 6"/>
          <p:cNvSpPr/>
          <p:nvPr/>
        </p:nvSpPr>
        <p:spPr>
          <a:xfrm>
            <a:off x="749808" y="3630603"/>
            <a:ext cx="457200" cy="457200"/>
          </a:xfrm>
          <a:prstGeom prst="ellipse">
            <a:avLst/>
          </a:prstGeom>
          <a:solidFill>
            <a:srgbClr val="8250DF"/>
          </a:solidFill>
          <a:ln/>
        </p:spPr>
      </p:sp>
      <p:sp>
        <p:nvSpPr>
          <p:cNvPr id="11" name="Text 7"/>
          <p:cNvSpPr txBox="1"/>
          <p:nvPr/>
        </p:nvSpPr>
        <p:spPr>
          <a:xfrm>
            <a:off x="749808" y="363060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573910"/>
            <a:ext cx="4541368" cy="570586"/>
          </a:xfrm>
          <a:prstGeom prst="rect">
            <a:avLst/>
          </a:prstGeom>
          <a:noFill/>
          <a:ln/>
        </p:spPr>
        <p:txBody>
          <a:bodyPr wrap="square" lIns="0" tIns="0" rIns="0" bIns="0" rtlCol="0" anchor="ctr"/>
          <a:lstStyle/>
          <a:p>
            <a:pPr indent="0" marL="0">
              <a:buNone/>
            </a:pPr>
            <a:r>
              <a:rPr lang="id-ID" altLang="en-US" sz="2400" dirty="0">
                <a:solidFill>
                  <a:srgbClr val="1F2328"/>
                </a:solidFill>
              </a:rPr>
              <a:t>Tim futsal dan para pemainnya</a:t>
            </a:r>
            <a:endParaRPr lang="id-ID" sz="2400" dirty="0"/>
          </a:p>
        </p:txBody>
      </p:sp>
      <p:sp>
        <p:nvSpPr>
          <p:cNvPr id="13" name="Shape 9"/>
          <p:cNvSpPr/>
          <p:nvPr/>
        </p:nvSpPr>
        <p:spPr>
          <a:xfrm>
            <a:off x="6187288" y="3464182"/>
            <a:ext cx="5455768" cy="790042"/>
          </a:xfrm>
          <a:prstGeom prst="roundRect">
            <a:avLst>
              <a:gd name="adj" fmla="val 16075"/>
            </a:avLst>
          </a:prstGeom>
          <a:solidFill>
            <a:srgbClr val="FFFFFF"/>
          </a:solidFill>
          <a:ln w="9525">
            <a:solidFill>
              <a:srgbClr val="D0D7DE"/>
            </a:solidFill>
            <a:prstDash val="solid"/>
          </a:ln>
        </p:spPr>
      </p:sp>
      <p:sp>
        <p:nvSpPr>
          <p:cNvPr id="14" name="Shape 10"/>
          <p:cNvSpPr/>
          <p:nvPr/>
        </p:nvSpPr>
        <p:spPr>
          <a:xfrm>
            <a:off x="6388456" y="3630603"/>
            <a:ext cx="457200" cy="457200"/>
          </a:xfrm>
          <a:prstGeom prst="ellipse">
            <a:avLst/>
          </a:prstGeom>
          <a:solidFill>
            <a:srgbClr val="8250DF"/>
          </a:solidFill>
          <a:ln/>
        </p:spPr>
      </p:sp>
      <p:sp>
        <p:nvSpPr>
          <p:cNvPr id="15" name="Text 11"/>
          <p:cNvSpPr txBox="1"/>
          <p:nvPr/>
        </p:nvSpPr>
        <p:spPr>
          <a:xfrm>
            <a:off x="6388456" y="363060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573910"/>
            <a:ext cx="4541368" cy="570586"/>
          </a:xfrm>
          <a:prstGeom prst="rect">
            <a:avLst/>
          </a:prstGeom>
          <a:noFill/>
          <a:ln/>
        </p:spPr>
        <p:txBody>
          <a:bodyPr wrap="square" lIns="0" tIns="0" rIns="0" bIns="0" rtlCol="0" anchor="ctr"/>
          <a:lstStyle/>
          <a:p>
            <a:pPr indent="0" marL="0">
              <a:buNone/>
            </a:pPr>
            <a:r>
              <a:rPr lang="id-ID" altLang="en-US" sz="2400" i="1" dirty="0">
                <a:solidFill>
                  <a:srgbClr val="1F2328"/>
                </a:solidFill>
              </a:rPr>
              <a:t>Playlist</a:t>
            </a:r>
            <a:r>
              <a:rPr lang="id-ID" altLang="en-US" sz="2400" dirty="0">
                <a:solidFill>
                  <a:srgbClr val="1F2328"/>
                </a:solidFill>
              </a:rPr>
              <a:t> dan lagu-⁠lagu di dalamnya</a:t>
            </a:r>
            <a:endParaRPr lang="id-ID" sz="2400" dirty="0"/>
          </a:p>
        </p:txBody>
      </p:sp>
      <p:sp>
        <p:nvSpPr>
          <p:cNvPr id="17" name="Shape 13"/>
          <p:cNvSpPr/>
          <p:nvPr/>
        </p:nvSpPr>
        <p:spPr>
          <a:xfrm>
            <a:off x="548640" y="4437104"/>
            <a:ext cx="5455768" cy="1018032"/>
          </a:xfrm>
          <a:prstGeom prst="roundRect">
            <a:avLst>
              <a:gd name="adj" fmla="val 9681"/>
            </a:avLst>
          </a:prstGeom>
          <a:solidFill>
            <a:srgbClr val="FFFFFF"/>
          </a:solidFill>
          <a:ln w="9525">
            <a:solidFill>
              <a:srgbClr val="D0D7DE"/>
            </a:solidFill>
            <a:prstDash val="solid"/>
          </a:ln>
        </p:spPr>
      </p:sp>
      <p:sp>
        <p:nvSpPr>
          <p:cNvPr id="18" name="Shape 14"/>
          <p:cNvSpPr/>
          <p:nvPr/>
        </p:nvSpPr>
        <p:spPr>
          <a:xfrm>
            <a:off x="749808" y="4717520"/>
            <a:ext cx="457200" cy="457200"/>
          </a:xfrm>
          <a:prstGeom prst="ellipse">
            <a:avLst/>
          </a:prstGeom>
          <a:solidFill>
            <a:srgbClr val="8250DF"/>
          </a:solidFill>
          <a:ln/>
        </p:spPr>
      </p:sp>
      <p:sp>
        <p:nvSpPr>
          <p:cNvPr id="19" name="Text 15"/>
          <p:cNvSpPr txBox="1"/>
          <p:nvPr/>
        </p:nvSpPr>
        <p:spPr>
          <a:xfrm>
            <a:off x="749808" y="471752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546832"/>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Mahasiswa dan dosen walinya</a:t>
            </a:r>
            <a:endParaRPr lang="id-ID" sz="2400" dirty="0"/>
          </a:p>
        </p:txBody>
      </p:sp>
      <p:sp>
        <p:nvSpPr>
          <p:cNvPr id="21" name="Shape 17"/>
          <p:cNvSpPr/>
          <p:nvPr/>
        </p:nvSpPr>
        <p:spPr>
          <a:xfrm>
            <a:off x="6187288" y="4437104"/>
            <a:ext cx="5455768" cy="1018032"/>
          </a:xfrm>
          <a:prstGeom prst="roundRect">
            <a:avLst>
              <a:gd name="adj" fmla="val 9681"/>
            </a:avLst>
          </a:prstGeom>
          <a:solidFill>
            <a:srgbClr val="FFFFFF"/>
          </a:solidFill>
          <a:ln w="9525">
            <a:solidFill>
              <a:srgbClr val="D0D7DE"/>
            </a:solidFill>
            <a:prstDash val="solid"/>
          </a:ln>
        </p:spPr>
      </p:sp>
      <p:sp>
        <p:nvSpPr>
          <p:cNvPr id="22" name="Shape 18"/>
          <p:cNvSpPr/>
          <p:nvPr/>
        </p:nvSpPr>
        <p:spPr>
          <a:xfrm>
            <a:off x="6388456" y="4717520"/>
            <a:ext cx="457200" cy="457200"/>
          </a:xfrm>
          <a:prstGeom prst="ellipse">
            <a:avLst/>
          </a:prstGeom>
          <a:solidFill>
            <a:srgbClr val="8250DF"/>
          </a:solidFill>
          <a:ln/>
        </p:spPr>
      </p:sp>
      <p:sp>
        <p:nvSpPr>
          <p:cNvPr id="23" name="Text 19"/>
          <p:cNvSpPr txBox="1"/>
          <p:nvPr/>
        </p:nvSpPr>
        <p:spPr>
          <a:xfrm>
            <a:off x="6388456" y="471752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546832"/>
            <a:ext cx="4541368" cy="798576"/>
          </a:xfrm>
          <a:prstGeom prst="rect">
            <a:avLst/>
          </a:prstGeom>
          <a:noFill/>
          <a:ln/>
        </p:spPr>
        <p:txBody>
          <a:bodyPr wrap="square" lIns="0" tIns="0" rIns="0" bIns="0" rtlCol="0" anchor="ctr"/>
          <a:lstStyle/>
          <a:p>
            <a:pPr indent="0" marL="0">
              <a:buNone/>
            </a:pPr>
            <a:r>
              <a:rPr lang="id-ID" altLang="en-US" sz="2400" dirty="0">
                <a:solidFill>
                  <a:srgbClr val="1F2328"/>
                </a:solidFill>
              </a:rPr>
              <a:t>Pesanan dan baris-⁠baris item di dalamnya</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612971"/>
            <a:ext cx="11094415" cy="553212"/>
          </a:xfrm>
          <a:prstGeom prst="roundRect">
            <a:avLst>
              <a:gd name="adj" fmla="val 32785"/>
            </a:avLst>
          </a:prstGeom>
          <a:solidFill>
            <a:srgbClr val="F6F8FA"/>
          </a:solidFill>
          <a:ln w="9525">
            <a:solidFill>
              <a:srgbClr val="D0D7DE"/>
            </a:solidFill>
            <a:prstDash val="solid"/>
          </a:ln>
        </p:spPr>
      </p:sp>
      <p:sp>
        <p:nvSpPr>
          <p:cNvPr id="6" name="Text 3"/>
          <p:cNvSpPr txBox="1"/>
          <p:nvPr/>
        </p:nvSpPr>
        <p:spPr>
          <a:xfrm>
            <a:off x="822960" y="1750131"/>
            <a:ext cx="10545775" cy="278892"/>
          </a:xfrm>
          <a:prstGeom prst="rect">
            <a:avLst/>
          </a:prstGeom>
          <a:noFill/>
          <a:ln/>
        </p:spPr>
        <p:txBody>
          <a:bodyPr wrap="square" lIns="0" tIns="0" rIns="0" bIns="0" rtlCol="0" anchor="t"/>
          <a:lstStyle/>
          <a:p>
            <a:pPr indent="0" marL="0">
              <a:buNone/>
            </a:pPr>
            <a:r>
              <a:rPr lang="id-ID" altLang="en-US" sz="1800" dirty="0">
                <a:solidFill>
                  <a:srgbClr val="57606A"/>
                </a:solidFill>
              </a:rPr>
              <a:t>Manakah pasangan yang paling tepat digolongkan sebagai </a:t>
            </a:r>
            <a:r>
              <a:rPr lang="id-ID" altLang="en-US" sz="1800" b="1" dirty="0">
                <a:solidFill>
                  <a:srgbClr val="57606A"/>
                </a:solidFill>
              </a:rPr>
              <a:t>komposisi</a:t>
            </a:r>
            <a:r>
              <a:rPr lang="id-ID" altLang="en-US" sz="1800" dirty="0">
                <a:solidFill>
                  <a:srgbClr val="57606A"/>
                </a:solidFill>
              </a:rPr>
              <a:t>?</a:t>
            </a:r>
            <a:endParaRPr lang="id-ID" sz="1800" dirty="0"/>
          </a:p>
        </p:txBody>
      </p:sp>
      <p:sp>
        <p:nvSpPr>
          <p:cNvPr id="7" name="Shape 4"/>
          <p:cNvSpPr/>
          <p:nvPr/>
        </p:nvSpPr>
        <p:spPr>
          <a:xfrm>
            <a:off x="548640" y="2349063"/>
            <a:ext cx="5455768" cy="658368"/>
          </a:xfrm>
          <a:prstGeom prst="roundRect">
            <a:avLst>
              <a:gd name="adj" fmla="val 23148"/>
            </a:avLst>
          </a:prstGeom>
          <a:solidFill>
            <a:srgbClr val="FFFFFF"/>
          </a:solidFill>
          <a:ln w="9525">
            <a:solidFill>
              <a:srgbClr val="D0D7DE"/>
            </a:solidFill>
            <a:prstDash val="solid"/>
          </a:ln>
        </p:spPr>
      </p:sp>
      <p:sp>
        <p:nvSpPr>
          <p:cNvPr id="8" name="Shape 5"/>
          <p:cNvSpPr/>
          <p:nvPr/>
        </p:nvSpPr>
        <p:spPr>
          <a:xfrm>
            <a:off x="749808" y="2449647"/>
            <a:ext cx="457200" cy="457200"/>
          </a:xfrm>
          <a:prstGeom prst="ellipse">
            <a:avLst/>
          </a:prstGeom>
          <a:solidFill>
            <a:srgbClr val="8C959F"/>
          </a:solidFill>
          <a:ln/>
        </p:spPr>
      </p:sp>
      <p:sp>
        <p:nvSpPr>
          <p:cNvPr id="9" name="Text 6"/>
          <p:cNvSpPr txBox="1"/>
          <p:nvPr/>
        </p:nvSpPr>
        <p:spPr>
          <a:xfrm>
            <a:off x="749808" y="2449647"/>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0" name="Text 7"/>
          <p:cNvSpPr txBox="1"/>
          <p:nvPr/>
        </p:nvSpPr>
        <p:spPr>
          <a:xfrm>
            <a:off x="1353312" y="2458791"/>
            <a:ext cx="4541368" cy="438912"/>
          </a:xfrm>
          <a:prstGeom prst="rect">
            <a:avLst/>
          </a:prstGeom>
          <a:noFill/>
          <a:ln/>
        </p:spPr>
        <p:txBody>
          <a:bodyPr wrap="square" lIns="0" tIns="0" rIns="0" bIns="0" rtlCol="0" anchor="ctr"/>
          <a:lstStyle/>
          <a:p>
            <a:pPr indent="0" marL="0">
              <a:buNone/>
            </a:pPr>
            <a:r>
              <a:rPr lang="id-ID" altLang="en-US" sz="2000" dirty="0">
                <a:solidFill>
                  <a:srgbClr val="57606A"/>
                </a:solidFill>
              </a:rPr>
              <a:t>Tim futsal dan para pemainnya</a:t>
            </a:r>
            <a:endParaRPr lang="id-ID" sz="2000" dirty="0"/>
          </a:p>
        </p:txBody>
      </p:sp>
      <p:sp>
        <p:nvSpPr>
          <p:cNvPr id="11" name="Shape 8"/>
          <p:cNvSpPr/>
          <p:nvPr/>
        </p:nvSpPr>
        <p:spPr>
          <a:xfrm>
            <a:off x="6187288" y="2349063"/>
            <a:ext cx="5455768" cy="658368"/>
          </a:xfrm>
          <a:prstGeom prst="roundRect">
            <a:avLst>
              <a:gd name="adj" fmla="val 23148"/>
            </a:avLst>
          </a:prstGeom>
          <a:solidFill>
            <a:srgbClr val="FFFFFF"/>
          </a:solidFill>
          <a:ln w="9525">
            <a:solidFill>
              <a:srgbClr val="D0D7DE"/>
            </a:solidFill>
            <a:prstDash val="solid"/>
          </a:ln>
        </p:spPr>
      </p:sp>
      <p:sp>
        <p:nvSpPr>
          <p:cNvPr id="12" name="Shape 9"/>
          <p:cNvSpPr/>
          <p:nvPr/>
        </p:nvSpPr>
        <p:spPr>
          <a:xfrm>
            <a:off x="6388456" y="2449647"/>
            <a:ext cx="457200" cy="457200"/>
          </a:xfrm>
          <a:prstGeom prst="ellipse">
            <a:avLst/>
          </a:prstGeom>
          <a:solidFill>
            <a:srgbClr val="8C959F"/>
          </a:solidFill>
          <a:ln/>
        </p:spPr>
      </p:sp>
      <p:sp>
        <p:nvSpPr>
          <p:cNvPr id="13" name="Text 10"/>
          <p:cNvSpPr txBox="1"/>
          <p:nvPr/>
        </p:nvSpPr>
        <p:spPr>
          <a:xfrm>
            <a:off x="6388456" y="2449647"/>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4" name="Text 11"/>
          <p:cNvSpPr txBox="1"/>
          <p:nvPr/>
        </p:nvSpPr>
        <p:spPr>
          <a:xfrm>
            <a:off x="6991960" y="2458791"/>
            <a:ext cx="4541368" cy="438912"/>
          </a:xfrm>
          <a:prstGeom prst="rect">
            <a:avLst/>
          </a:prstGeom>
          <a:noFill/>
          <a:ln/>
        </p:spPr>
        <p:txBody>
          <a:bodyPr wrap="square" lIns="0" tIns="0" rIns="0" bIns="0" rtlCol="0" anchor="ctr"/>
          <a:lstStyle/>
          <a:p>
            <a:pPr indent="0" marL="0">
              <a:buNone/>
            </a:pPr>
            <a:r>
              <a:rPr lang="id-ID" altLang="en-US" sz="2000" i="1" dirty="0">
                <a:solidFill>
                  <a:srgbClr val="57606A"/>
                </a:solidFill>
              </a:rPr>
              <a:t>Playlist</a:t>
            </a:r>
            <a:r>
              <a:rPr lang="id-ID" altLang="en-US" sz="2000" dirty="0">
                <a:solidFill>
                  <a:srgbClr val="57606A"/>
                </a:solidFill>
              </a:rPr>
              <a:t> dan lagu-⁠lagu di dalamnya</a:t>
            </a:r>
            <a:endParaRPr lang="id-ID" sz="2000" dirty="0"/>
          </a:p>
        </p:txBody>
      </p:sp>
      <p:sp>
        <p:nvSpPr>
          <p:cNvPr id="15" name="Shape 12"/>
          <p:cNvSpPr/>
          <p:nvPr/>
        </p:nvSpPr>
        <p:spPr>
          <a:xfrm>
            <a:off x="548640" y="3190311"/>
            <a:ext cx="5455768" cy="658368"/>
          </a:xfrm>
          <a:prstGeom prst="roundRect">
            <a:avLst>
              <a:gd name="adj" fmla="val 23148"/>
            </a:avLst>
          </a:prstGeom>
          <a:solidFill>
            <a:srgbClr val="FFFFFF"/>
          </a:solidFill>
          <a:ln w="9525">
            <a:solidFill>
              <a:srgbClr val="D0D7DE"/>
            </a:solidFill>
            <a:prstDash val="solid"/>
          </a:ln>
        </p:spPr>
      </p:sp>
      <p:sp>
        <p:nvSpPr>
          <p:cNvPr id="16" name="Shape 13"/>
          <p:cNvSpPr/>
          <p:nvPr/>
        </p:nvSpPr>
        <p:spPr>
          <a:xfrm>
            <a:off x="749808" y="3290895"/>
            <a:ext cx="457200" cy="457200"/>
          </a:xfrm>
          <a:prstGeom prst="ellipse">
            <a:avLst/>
          </a:prstGeom>
          <a:solidFill>
            <a:srgbClr val="8C959F"/>
          </a:solidFill>
          <a:ln/>
        </p:spPr>
      </p:sp>
      <p:sp>
        <p:nvSpPr>
          <p:cNvPr id="17" name="Text 14"/>
          <p:cNvSpPr txBox="1"/>
          <p:nvPr/>
        </p:nvSpPr>
        <p:spPr>
          <a:xfrm>
            <a:off x="749808" y="3290895"/>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18" name="Text 15"/>
          <p:cNvSpPr txBox="1"/>
          <p:nvPr/>
        </p:nvSpPr>
        <p:spPr>
          <a:xfrm>
            <a:off x="1353312" y="3300039"/>
            <a:ext cx="4541368" cy="438912"/>
          </a:xfrm>
          <a:prstGeom prst="rect">
            <a:avLst/>
          </a:prstGeom>
          <a:noFill/>
          <a:ln/>
        </p:spPr>
        <p:txBody>
          <a:bodyPr wrap="square" lIns="0" tIns="0" rIns="0" bIns="0" rtlCol="0" anchor="ctr"/>
          <a:lstStyle/>
          <a:p>
            <a:pPr indent="0" marL="0">
              <a:buNone/>
            </a:pPr>
            <a:r>
              <a:rPr lang="id-ID" altLang="en-US" sz="2000" dirty="0">
                <a:solidFill>
                  <a:srgbClr val="57606A"/>
                </a:solidFill>
              </a:rPr>
              <a:t>Mahasiswa dan dosen walinya</a:t>
            </a:r>
            <a:endParaRPr lang="id-ID" sz="2000" dirty="0"/>
          </a:p>
        </p:txBody>
      </p:sp>
      <p:sp>
        <p:nvSpPr>
          <p:cNvPr id="19" name="Shape 16"/>
          <p:cNvSpPr/>
          <p:nvPr/>
        </p:nvSpPr>
        <p:spPr>
          <a:xfrm>
            <a:off x="6187288" y="3190311"/>
            <a:ext cx="5455768" cy="658368"/>
          </a:xfrm>
          <a:prstGeom prst="roundRect">
            <a:avLst>
              <a:gd name="adj" fmla="val 23148"/>
            </a:avLst>
          </a:prstGeom>
          <a:solidFill>
            <a:srgbClr val="DAFBE1"/>
          </a:solidFill>
          <a:ln w="22225">
            <a:solidFill>
              <a:srgbClr val="1A7F37"/>
            </a:solidFill>
            <a:prstDash val="solid"/>
          </a:ln>
        </p:spPr>
      </p:sp>
      <p:sp>
        <p:nvSpPr>
          <p:cNvPr id="20" name="Shape 17"/>
          <p:cNvSpPr/>
          <p:nvPr/>
        </p:nvSpPr>
        <p:spPr>
          <a:xfrm>
            <a:off x="6388456" y="3290895"/>
            <a:ext cx="457200" cy="457200"/>
          </a:xfrm>
          <a:prstGeom prst="ellipse">
            <a:avLst/>
          </a:prstGeom>
          <a:solidFill>
            <a:srgbClr val="1A7F37"/>
          </a:solidFill>
          <a:ln/>
        </p:spPr>
      </p:sp>
      <p:pic>
        <p:nvPicPr>
          <p:cNvPr id="21" name="Image 1" descr="preencoded.png">    </p:cNvPr>
          <p:cNvPicPr>
            <a:picLocks noChangeAspect="1"/>
          </p:cNvPicPr>
          <p:nvPr/>
        </p:nvPicPr>
        <p:blipFill>
          <a:blip r:embed="rId2"/>
          <a:stretch>
            <a:fillRect/>
          </a:stretch>
        </p:blipFill>
        <p:spPr>
          <a:xfrm>
            <a:off x="6489040" y="3391479"/>
            <a:ext cx="256032" cy="256032"/>
          </a:xfrm>
          <a:prstGeom prst="rect">
            <a:avLst/>
          </a:prstGeom>
        </p:spPr>
      </p:pic>
      <p:sp>
        <p:nvSpPr>
          <p:cNvPr id="22" name="Text 18"/>
          <p:cNvSpPr txBox="1"/>
          <p:nvPr/>
        </p:nvSpPr>
        <p:spPr>
          <a:xfrm>
            <a:off x="6991960" y="3300039"/>
            <a:ext cx="4541368" cy="438912"/>
          </a:xfrm>
          <a:prstGeom prst="rect">
            <a:avLst/>
          </a:prstGeom>
          <a:noFill/>
          <a:ln/>
        </p:spPr>
        <p:txBody>
          <a:bodyPr wrap="square" lIns="0" tIns="0" rIns="0" bIns="0" rtlCol="0" anchor="ctr"/>
          <a:lstStyle/>
          <a:p>
            <a:pPr indent="0" marL="0">
              <a:buNone/>
            </a:pPr>
            <a:r>
              <a:rPr lang="id-ID" altLang="en-US" sz="2000" dirty="0">
                <a:solidFill>
                  <a:srgbClr val="1F2328"/>
                </a:solidFill>
              </a:rPr>
              <a:t>Pesanan dan baris-⁠baris item di dalamnya</a:t>
            </a:r>
            <a:endParaRPr lang="id-ID" sz="2000" dirty="0"/>
          </a:p>
        </p:txBody>
      </p:sp>
      <p:sp>
        <p:nvSpPr>
          <p:cNvPr id="23" name="Shape 19"/>
          <p:cNvSpPr/>
          <p:nvPr/>
        </p:nvSpPr>
        <p:spPr>
          <a:xfrm>
            <a:off x="548640" y="4049847"/>
            <a:ext cx="11094415" cy="1879600"/>
          </a:xfrm>
          <a:prstGeom prst="roundRect">
            <a:avLst>
              <a:gd name="adj" fmla="val 2840"/>
            </a:avLst>
          </a:prstGeom>
          <a:solidFill>
            <a:srgbClr val="FFF8C5"/>
          </a:solidFill>
          <a:ln w="9525">
            <a:solidFill>
              <a:srgbClr val="D4A72C"/>
            </a:solidFill>
            <a:prstDash val="solid"/>
          </a:ln>
        </p:spPr>
      </p:sp>
      <p:sp>
        <p:nvSpPr>
          <p:cNvPr id="24" name="Shape 20"/>
          <p:cNvSpPr/>
          <p:nvPr/>
        </p:nvSpPr>
        <p:spPr>
          <a:xfrm>
            <a:off x="777240" y="4232727"/>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333311"/>
            <a:ext cx="256032" cy="256032"/>
          </a:xfrm>
          <a:prstGeom prst="rect">
            <a:avLst/>
          </a:prstGeom>
        </p:spPr>
      </p:pic>
      <p:sp>
        <p:nvSpPr>
          <p:cNvPr id="26" name="Text 21"/>
          <p:cNvSpPr txBox="1"/>
          <p:nvPr/>
        </p:nvSpPr>
        <p:spPr>
          <a:xfrm>
            <a:off x="1417320" y="4187007"/>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D</a:t>
            </a:r>
            <a:endParaRPr lang="id-ID" sz="1600" dirty="0"/>
          </a:p>
        </p:txBody>
      </p:sp>
      <p:sp>
        <p:nvSpPr>
          <p:cNvPr id="27" name="Text 22"/>
          <p:cNvSpPr txBox="1"/>
          <p:nvPr/>
        </p:nvSpPr>
        <p:spPr>
          <a:xfrm>
            <a:off x="1417320" y="4525335"/>
            <a:ext cx="9951415" cy="1330960"/>
          </a:xfrm>
          <a:prstGeom prst="rect">
            <a:avLst/>
          </a:prstGeom>
          <a:noFill/>
          <a:ln/>
        </p:spPr>
        <p:txBody>
          <a:bodyPr wrap="square" lIns="0" tIns="0" rIns="0" bIns="0" rtlCol="0" anchor="t"/>
          <a:lstStyle/>
          <a:p>
            <a:pPr indent="0" marL="0">
              <a:buNone/>
            </a:pPr>
            <a:r>
              <a:rPr lang="id-ID" altLang="en-US" sz="2000" dirty="0">
                <a:solidFill>
                  <a:srgbClr val="1F2328"/>
                </a:solidFill>
              </a:rPr>
              <a:t>Baris item seperti “2 x Kopi Susu Gula Aren” dibuat oleh pesanannya, hanya milik satu pesanan, dan tidak bermakna tanpanya: komposisi. Pemain (A) dan lagu (B) bisa hidup sendiri sehingga termasuk agregasi. Mahasiswa dan dosen wali (C) saling mengenal tanpa hubungan keseluruhan dan bagian, jadi asosiasi.</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750055"/>
            <a:ext cx="11094415" cy="1293876"/>
          </a:xfrm>
          <a:prstGeom prst="roundRect">
            <a:avLst>
              <a:gd name="adj" fmla="val 5993"/>
            </a:avLst>
          </a:prstGeom>
          <a:solidFill>
            <a:srgbClr val="FBEFFF"/>
          </a:solidFill>
          <a:ln w="9525">
            <a:solidFill>
              <a:srgbClr val="C297FF"/>
            </a:solidFill>
            <a:prstDash val="solid"/>
          </a:ln>
        </p:spPr>
      </p:sp>
      <p:sp>
        <p:nvSpPr>
          <p:cNvPr id="6" name="Shape 3"/>
          <p:cNvSpPr/>
          <p:nvPr/>
        </p:nvSpPr>
        <p:spPr>
          <a:xfrm>
            <a:off x="777240" y="2168393"/>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268977"/>
            <a:ext cx="256032" cy="256032"/>
          </a:xfrm>
          <a:prstGeom prst="rect">
            <a:avLst/>
          </a:prstGeom>
        </p:spPr>
      </p:pic>
      <p:sp>
        <p:nvSpPr>
          <p:cNvPr id="8" name="Text 4"/>
          <p:cNvSpPr txBox="1"/>
          <p:nvPr/>
        </p:nvSpPr>
        <p:spPr>
          <a:xfrm>
            <a:off x="1417320" y="1978655"/>
            <a:ext cx="9951415" cy="1019556"/>
          </a:xfrm>
          <a:prstGeom prst="rect">
            <a:avLst/>
          </a:prstGeom>
          <a:noFill/>
          <a:ln/>
        </p:spPr>
        <p:txBody>
          <a:bodyPr wrap="square" lIns="0" tIns="0" rIns="0" bIns="0" rtlCol="0" anchor="t"/>
          <a:lstStyle/>
          <a:p>
            <a:pPr indent="0" marL="0">
              <a:buNone/>
            </a:pPr>
            <a:r>
              <a:rPr lang="id-ID" altLang="en-US" sz="2700" dirty="0">
                <a:solidFill>
                  <a:srgbClr val="1F2328"/>
                </a:solidFill>
              </a:rPr>
              <a:t>Sebuah diagram menuliskan multiplisitas </a:t>
            </a:r>
            <a:r>
              <a:rPr lang="id-ID" altLang="en-US" sz="2700" dirty="0">
                <a:solidFill>
                  <a:srgbClr val="0A3069"/>
                </a:solidFill>
                <a:latin typeface="Consolas" pitchFamily="34" charset="0"/>
                <a:ea typeface="Consolas" pitchFamily="34" charset="-122"/>
                <a:cs typeface="Consolas" pitchFamily="34" charset="-120"/>
              </a:rPr>
              <a:t>0..1</a:t>
            </a:r>
            <a:r>
              <a:rPr lang="id-ID" altLang="en-US" sz="2700" dirty="0">
                <a:solidFill>
                  <a:srgbClr val="1F2328"/>
                </a:solidFill>
              </a:rPr>
              <a:t> di ujung </a:t>
            </a:r>
            <a:r>
              <a:rPr lang="id-ID" altLang="en-US" sz="2700" dirty="0">
                <a:solidFill>
                  <a:srgbClr val="0A3069"/>
                </a:solidFill>
                <a:latin typeface="Consolas" pitchFamily="34" charset="0"/>
                <a:ea typeface="Consolas" pitchFamily="34" charset="-122"/>
                <a:cs typeface="Consolas" pitchFamily="34" charset="-120"/>
              </a:rPr>
              <a:t>DosenWali</a:t>
            </a:r>
            <a:r>
              <a:rPr lang="id-ID" altLang="en-US" sz="2700" dirty="0">
                <a:solidFill>
                  <a:srgbClr val="1F2328"/>
                </a:solidFill>
              </a:rPr>
              <a:t> pada hubungan </a:t>
            </a:r>
            <a:r>
              <a:rPr lang="id-ID" altLang="en-US" sz="2700" dirty="0">
                <a:solidFill>
                  <a:srgbClr val="0A3069"/>
                </a:solidFill>
                <a:latin typeface="Consolas" pitchFamily="34" charset="0"/>
                <a:ea typeface="Consolas" pitchFamily="34" charset="-122"/>
                <a:cs typeface="Consolas" pitchFamily="34" charset="-120"/>
              </a:rPr>
              <a:t>Mahasiswa --&gt; DosenWali</a:t>
            </a:r>
            <a:r>
              <a:rPr lang="id-ID" altLang="en-US" sz="2700" dirty="0">
                <a:solidFill>
                  <a:srgbClr val="1F2328"/>
                </a:solidFill>
              </a:rPr>
              <a:t>. Artinya ...</a:t>
            </a:r>
            <a:endParaRPr lang="id-ID" sz="2700" dirty="0"/>
          </a:p>
        </p:txBody>
      </p:sp>
      <p:sp>
        <p:nvSpPr>
          <p:cNvPr id="9" name="Shape 5"/>
          <p:cNvSpPr/>
          <p:nvPr/>
        </p:nvSpPr>
        <p:spPr>
          <a:xfrm>
            <a:off x="548640" y="3226811"/>
            <a:ext cx="5455768" cy="1343406"/>
          </a:xfrm>
          <a:prstGeom prst="roundRect">
            <a:avLst>
              <a:gd name="adj" fmla="val 5560"/>
            </a:avLst>
          </a:prstGeom>
          <a:solidFill>
            <a:srgbClr val="FFFFFF"/>
          </a:solidFill>
          <a:ln w="9525">
            <a:solidFill>
              <a:srgbClr val="D0D7DE"/>
            </a:solidFill>
            <a:prstDash val="solid"/>
          </a:ln>
        </p:spPr>
      </p:sp>
      <p:sp>
        <p:nvSpPr>
          <p:cNvPr id="10" name="Shape 6"/>
          <p:cNvSpPr/>
          <p:nvPr/>
        </p:nvSpPr>
        <p:spPr>
          <a:xfrm>
            <a:off x="749808" y="3669914"/>
            <a:ext cx="457200" cy="457200"/>
          </a:xfrm>
          <a:prstGeom prst="ellipse">
            <a:avLst/>
          </a:prstGeom>
          <a:solidFill>
            <a:srgbClr val="8250DF"/>
          </a:solidFill>
          <a:ln/>
        </p:spPr>
      </p:sp>
      <p:sp>
        <p:nvSpPr>
          <p:cNvPr id="11" name="Text 7"/>
          <p:cNvSpPr txBox="1"/>
          <p:nvPr/>
        </p:nvSpPr>
        <p:spPr>
          <a:xfrm>
            <a:off x="749808" y="366991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336539"/>
            <a:ext cx="4541368" cy="1123950"/>
          </a:xfrm>
          <a:prstGeom prst="rect">
            <a:avLst/>
          </a:prstGeom>
          <a:noFill/>
          <a:ln/>
        </p:spPr>
        <p:txBody>
          <a:bodyPr wrap="square" lIns="0" tIns="0" rIns="0" bIns="0" rtlCol="0" anchor="ctr"/>
          <a:lstStyle/>
          <a:p>
            <a:pPr indent="0" marL="0">
              <a:buNone/>
            </a:pPr>
            <a:r>
              <a:rPr lang="id-ID" altLang="en-US" sz="2300" dirty="0">
                <a:solidFill>
                  <a:srgbClr val="1F2328"/>
                </a:solidFill>
              </a:rPr>
              <a:t>Seorang mahasiswa boleh belum punya dosen wali, dan paling banyak punya satu</a:t>
            </a:r>
            <a:endParaRPr lang="id-ID" sz="2300" dirty="0"/>
          </a:p>
        </p:txBody>
      </p:sp>
      <p:sp>
        <p:nvSpPr>
          <p:cNvPr id="13" name="Shape 9"/>
          <p:cNvSpPr/>
          <p:nvPr/>
        </p:nvSpPr>
        <p:spPr>
          <a:xfrm>
            <a:off x="6187288" y="3226811"/>
            <a:ext cx="5455768" cy="1343406"/>
          </a:xfrm>
          <a:prstGeom prst="roundRect">
            <a:avLst>
              <a:gd name="adj" fmla="val 5560"/>
            </a:avLst>
          </a:prstGeom>
          <a:solidFill>
            <a:srgbClr val="FFFFFF"/>
          </a:solidFill>
          <a:ln w="9525">
            <a:solidFill>
              <a:srgbClr val="D0D7DE"/>
            </a:solidFill>
            <a:prstDash val="solid"/>
          </a:ln>
        </p:spPr>
      </p:sp>
      <p:sp>
        <p:nvSpPr>
          <p:cNvPr id="14" name="Shape 10"/>
          <p:cNvSpPr/>
          <p:nvPr/>
        </p:nvSpPr>
        <p:spPr>
          <a:xfrm>
            <a:off x="6388456" y="3669914"/>
            <a:ext cx="457200" cy="457200"/>
          </a:xfrm>
          <a:prstGeom prst="ellipse">
            <a:avLst/>
          </a:prstGeom>
          <a:solidFill>
            <a:srgbClr val="8250DF"/>
          </a:solidFill>
          <a:ln/>
        </p:spPr>
      </p:sp>
      <p:sp>
        <p:nvSpPr>
          <p:cNvPr id="15" name="Text 11"/>
          <p:cNvSpPr txBox="1"/>
          <p:nvPr/>
        </p:nvSpPr>
        <p:spPr>
          <a:xfrm>
            <a:off x="6388456" y="366991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336539"/>
            <a:ext cx="4541368" cy="1123950"/>
          </a:xfrm>
          <a:prstGeom prst="rect">
            <a:avLst/>
          </a:prstGeom>
          <a:noFill/>
          <a:ln/>
        </p:spPr>
        <p:txBody>
          <a:bodyPr wrap="square" lIns="0" tIns="0" rIns="0" bIns="0" rtlCol="0" anchor="ctr"/>
          <a:lstStyle/>
          <a:p>
            <a:pPr indent="0" marL="0">
              <a:buNone/>
            </a:pPr>
            <a:r>
              <a:rPr lang="id-ID" altLang="en-US" sz="2300" dirty="0">
                <a:solidFill>
                  <a:srgbClr val="1F2328"/>
                </a:solidFill>
              </a:rPr>
              <a:t>Setiap mahasiswa wajib punya tepat satu dosen wali</a:t>
            </a:r>
            <a:endParaRPr lang="id-ID" sz="2300" dirty="0"/>
          </a:p>
        </p:txBody>
      </p:sp>
      <p:sp>
        <p:nvSpPr>
          <p:cNvPr id="17" name="Shape 13"/>
          <p:cNvSpPr/>
          <p:nvPr/>
        </p:nvSpPr>
        <p:spPr>
          <a:xfrm>
            <a:off x="548640" y="4753097"/>
            <a:ext cx="5455768" cy="987044"/>
          </a:xfrm>
          <a:prstGeom prst="roundRect">
            <a:avLst>
              <a:gd name="adj" fmla="val 10299"/>
            </a:avLst>
          </a:prstGeom>
          <a:solidFill>
            <a:srgbClr val="FFFFFF"/>
          </a:solidFill>
          <a:ln w="9525">
            <a:solidFill>
              <a:srgbClr val="D0D7DE"/>
            </a:solidFill>
            <a:prstDash val="solid"/>
          </a:ln>
        </p:spPr>
      </p:sp>
      <p:sp>
        <p:nvSpPr>
          <p:cNvPr id="18" name="Shape 14"/>
          <p:cNvSpPr/>
          <p:nvPr/>
        </p:nvSpPr>
        <p:spPr>
          <a:xfrm>
            <a:off x="749808" y="5018019"/>
            <a:ext cx="457200" cy="457200"/>
          </a:xfrm>
          <a:prstGeom prst="ellipse">
            <a:avLst/>
          </a:prstGeom>
          <a:solidFill>
            <a:srgbClr val="8250DF"/>
          </a:solidFill>
          <a:ln/>
        </p:spPr>
      </p:sp>
      <p:sp>
        <p:nvSpPr>
          <p:cNvPr id="19" name="Text 15"/>
          <p:cNvSpPr txBox="1"/>
          <p:nvPr/>
        </p:nvSpPr>
        <p:spPr>
          <a:xfrm>
            <a:off x="749808" y="5018019"/>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862825"/>
            <a:ext cx="4541368" cy="767588"/>
          </a:xfrm>
          <a:prstGeom prst="rect">
            <a:avLst/>
          </a:prstGeom>
          <a:noFill/>
          <a:ln/>
        </p:spPr>
        <p:txBody>
          <a:bodyPr wrap="square" lIns="0" tIns="0" rIns="0" bIns="0" rtlCol="0" anchor="ctr"/>
          <a:lstStyle/>
          <a:p>
            <a:pPr indent="0" marL="0">
              <a:buNone/>
            </a:pPr>
            <a:r>
              <a:rPr lang="id-ID" altLang="en-US" sz="2300" dirty="0">
                <a:solidFill>
                  <a:srgbClr val="1F2328"/>
                </a:solidFill>
              </a:rPr>
              <a:t>Seorang mahasiswa boleh punya banyak dosen wali</a:t>
            </a:r>
            <a:endParaRPr lang="id-ID" sz="2300" dirty="0"/>
          </a:p>
        </p:txBody>
      </p:sp>
      <p:sp>
        <p:nvSpPr>
          <p:cNvPr id="21" name="Shape 17"/>
          <p:cNvSpPr/>
          <p:nvPr/>
        </p:nvSpPr>
        <p:spPr>
          <a:xfrm>
            <a:off x="6187288" y="4753097"/>
            <a:ext cx="5455768" cy="987044"/>
          </a:xfrm>
          <a:prstGeom prst="roundRect">
            <a:avLst>
              <a:gd name="adj" fmla="val 10299"/>
            </a:avLst>
          </a:prstGeom>
          <a:solidFill>
            <a:srgbClr val="FFFFFF"/>
          </a:solidFill>
          <a:ln w="9525">
            <a:solidFill>
              <a:srgbClr val="D0D7DE"/>
            </a:solidFill>
            <a:prstDash val="solid"/>
          </a:ln>
        </p:spPr>
      </p:sp>
      <p:sp>
        <p:nvSpPr>
          <p:cNvPr id="22" name="Shape 18"/>
          <p:cNvSpPr/>
          <p:nvPr/>
        </p:nvSpPr>
        <p:spPr>
          <a:xfrm>
            <a:off x="6388456" y="5018019"/>
            <a:ext cx="457200" cy="457200"/>
          </a:xfrm>
          <a:prstGeom prst="ellipse">
            <a:avLst/>
          </a:prstGeom>
          <a:solidFill>
            <a:srgbClr val="8250DF"/>
          </a:solidFill>
          <a:ln/>
        </p:spPr>
      </p:sp>
      <p:sp>
        <p:nvSpPr>
          <p:cNvPr id="23" name="Text 19"/>
          <p:cNvSpPr txBox="1"/>
          <p:nvPr/>
        </p:nvSpPr>
        <p:spPr>
          <a:xfrm>
            <a:off x="6388456" y="5018019"/>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862825"/>
            <a:ext cx="4541368" cy="767588"/>
          </a:xfrm>
          <a:prstGeom prst="rect">
            <a:avLst/>
          </a:prstGeom>
          <a:noFill/>
          <a:ln/>
        </p:spPr>
        <p:txBody>
          <a:bodyPr wrap="square" lIns="0" tIns="0" rIns="0" bIns="0" rtlCol="0" anchor="ctr"/>
          <a:lstStyle/>
          <a:p>
            <a:pPr indent="0" marL="0">
              <a:buNone/>
            </a:pPr>
            <a:r>
              <a:rPr lang="id-ID" altLang="en-US" sz="2300" dirty="0">
                <a:solidFill>
                  <a:srgbClr val="1F2328"/>
                </a:solidFill>
              </a:rPr>
              <a:t>Seorang dosen wali boleh tidak membimbing mahasiswa sama sekali</a:t>
            </a:r>
            <a:endParaRPr lang="id-ID" sz="2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545123"/>
            <a:ext cx="11094415" cy="770128"/>
          </a:xfrm>
          <a:prstGeom prst="roundRect">
            <a:avLst>
              <a:gd name="adj" fmla="val 16917"/>
            </a:avLst>
          </a:prstGeom>
          <a:solidFill>
            <a:srgbClr val="F6F8FA"/>
          </a:solidFill>
          <a:ln w="9525">
            <a:solidFill>
              <a:srgbClr val="D0D7DE"/>
            </a:solidFill>
            <a:prstDash val="solid"/>
          </a:ln>
        </p:spPr>
      </p:sp>
      <p:sp>
        <p:nvSpPr>
          <p:cNvPr id="6" name="Text 3"/>
          <p:cNvSpPr txBox="1"/>
          <p:nvPr/>
        </p:nvSpPr>
        <p:spPr>
          <a:xfrm>
            <a:off x="822960" y="1682283"/>
            <a:ext cx="10545775" cy="495808"/>
          </a:xfrm>
          <a:prstGeom prst="rect">
            <a:avLst/>
          </a:prstGeom>
          <a:noFill/>
          <a:ln/>
        </p:spPr>
        <p:txBody>
          <a:bodyPr wrap="square" lIns="0" tIns="0" rIns="0" bIns="0" rtlCol="0" anchor="t"/>
          <a:lstStyle/>
          <a:p>
            <a:pPr indent="0" marL="0">
              <a:buNone/>
            </a:pPr>
            <a:r>
              <a:rPr lang="id-ID" altLang="en-US" sz="1600" dirty="0">
                <a:solidFill>
                  <a:srgbClr val="57606A"/>
                </a:solidFill>
              </a:rPr>
              <a:t>Sebuah diagram menuliskan multiplisitas </a:t>
            </a:r>
            <a:r>
              <a:rPr lang="id-ID" altLang="en-US" sz="1600" dirty="0">
                <a:solidFill>
                  <a:srgbClr val="0A3069"/>
                </a:solidFill>
                <a:latin typeface="Consolas" pitchFamily="34" charset="0"/>
                <a:ea typeface="Consolas" pitchFamily="34" charset="-122"/>
                <a:cs typeface="Consolas" pitchFamily="34" charset="-120"/>
              </a:rPr>
              <a:t>0..1</a:t>
            </a:r>
            <a:r>
              <a:rPr lang="id-ID" altLang="en-US" sz="1600" dirty="0">
                <a:solidFill>
                  <a:srgbClr val="57606A"/>
                </a:solidFill>
              </a:rPr>
              <a:t> di ujung </a:t>
            </a:r>
            <a:r>
              <a:rPr lang="id-ID" altLang="en-US" sz="1600" dirty="0">
                <a:solidFill>
                  <a:srgbClr val="0A3069"/>
                </a:solidFill>
                <a:latin typeface="Consolas" pitchFamily="34" charset="0"/>
                <a:ea typeface="Consolas" pitchFamily="34" charset="-122"/>
                <a:cs typeface="Consolas" pitchFamily="34" charset="-120"/>
              </a:rPr>
              <a:t>DosenWali</a:t>
            </a:r>
            <a:r>
              <a:rPr lang="id-ID" altLang="en-US" sz="1600" dirty="0">
                <a:solidFill>
                  <a:srgbClr val="57606A"/>
                </a:solidFill>
              </a:rPr>
              <a:t> pada hubungan </a:t>
            </a:r>
            <a:r>
              <a:rPr lang="id-ID" altLang="en-US" sz="1600" dirty="0">
                <a:solidFill>
                  <a:srgbClr val="0A3069"/>
                </a:solidFill>
                <a:latin typeface="Consolas" pitchFamily="34" charset="0"/>
                <a:ea typeface="Consolas" pitchFamily="34" charset="-122"/>
                <a:cs typeface="Consolas" pitchFamily="34" charset="-120"/>
              </a:rPr>
              <a:t>Mahasiswa --&gt; DosenWali</a:t>
            </a:r>
            <a:r>
              <a:rPr lang="id-ID" altLang="en-US" sz="1600" dirty="0">
                <a:solidFill>
                  <a:srgbClr val="57606A"/>
                </a:solidFill>
              </a:rPr>
              <a:t>. Artinya ...</a:t>
            </a:r>
            <a:endParaRPr lang="id-ID" sz="1600" dirty="0"/>
          </a:p>
        </p:txBody>
      </p:sp>
      <p:sp>
        <p:nvSpPr>
          <p:cNvPr id="7" name="Shape 4"/>
          <p:cNvSpPr/>
          <p:nvPr/>
        </p:nvSpPr>
        <p:spPr>
          <a:xfrm>
            <a:off x="548640" y="2498131"/>
            <a:ext cx="5455768" cy="832104"/>
          </a:xfrm>
          <a:prstGeom prst="roundRect">
            <a:avLst>
              <a:gd name="adj" fmla="val 14491"/>
            </a:avLst>
          </a:prstGeom>
          <a:solidFill>
            <a:srgbClr val="DAFBE1"/>
          </a:solidFill>
          <a:ln w="22225">
            <a:solidFill>
              <a:srgbClr val="1A7F37"/>
            </a:solidFill>
            <a:prstDash val="solid"/>
          </a:ln>
        </p:spPr>
      </p:sp>
      <p:sp>
        <p:nvSpPr>
          <p:cNvPr id="8" name="Shape 5"/>
          <p:cNvSpPr/>
          <p:nvPr/>
        </p:nvSpPr>
        <p:spPr>
          <a:xfrm>
            <a:off x="749808" y="2708443"/>
            <a:ext cx="411480" cy="411480"/>
          </a:xfrm>
          <a:prstGeom prst="ellipse">
            <a:avLst/>
          </a:prstGeom>
          <a:solidFill>
            <a:srgbClr val="1A7F37"/>
          </a:solidFill>
          <a:ln/>
        </p:spPr>
      </p:sp>
      <p:pic>
        <p:nvPicPr>
          <p:cNvPr id="9" name="Image 1" descr="preencoded.png">    </p:cNvPr>
          <p:cNvPicPr>
            <a:picLocks noChangeAspect="1"/>
          </p:cNvPicPr>
          <p:nvPr/>
        </p:nvPicPr>
        <p:blipFill>
          <a:blip r:embed="rId2"/>
          <a:stretch>
            <a:fillRect/>
          </a:stretch>
        </p:blipFill>
        <p:spPr>
          <a:xfrm>
            <a:off x="840334" y="2798968"/>
            <a:ext cx="230429" cy="230429"/>
          </a:xfrm>
          <a:prstGeom prst="rect">
            <a:avLst/>
          </a:prstGeom>
        </p:spPr>
      </p:pic>
      <p:sp>
        <p:nvSpPr>
          <p:cNvPr id="10" name="Text 6"/>
          <p:cNvSpPr txBox="1"/>
          <p:nvPr/>
        </p:nvSpPr>
        <p:spPr>
          <a:xfrm>
            <a:off x="1353312" y="2607859"/>
            <a:ext cx="4541368" cy="612648"/>
          </a:xfrm>
          <a:prstGeom prst="rect">
            <a:avLst/>
          </a:prstGeom>
          <a:noFill/>
          <a:ln/>
        </p:spPr>
        <p:txBody>
          <a:bodyPr wrap="square" lIns="0" tIns="0" rIns="0" bIns="0" rtlCol="0" anchor="ctr"/>
          <a:lstStyle/>
          <a:p>
            <a:pPr indent="0" marL="0">
              <a:buNone/>
            </a:pPr>
            <a:r>
              <a:rPr lang="id-ID" altLang="en-US" sz="1800" dirty="0">
                <a:solidFill>
                  <a:srgbClr val="1F2328"/>
                </a:solidFill>
              </a:rPr>
              <a:t>Seorang mahasiswa boleh belum punya dosen wali, dan paling banyak punya satu</a:t>
            </a:r>
            <a:endParaRPr lang="id-ID" sz="1800" dirty="0"/>
          </a:p>
        </p:txBody>
      </p:sp>
      <p:sp>
        <p:nvSpPr>
          <p:cNvPr id="11" name="Shape 7"/>
          <p:cNvSpPr/>
          <p:nvPr/>
        </p:nvSpPr>
        <p:spPr>
          <a:xfrm>
            <a:off x="6187288" y="2498131"/>
            <a:ext cx="5455768" cy="832104"/>
          </a:xfrm>
          <a:prstGeom prst="roundRect">
            <a:avLst>
              <a:gd name="adj" fmla="val 14491"/>
            </a:avLst>
          </a:prstGeom>
          <a:solidFill>
            <a:srgbClr val="FFFFFF"/>
          </a:solidFill>
          <a:ln w="9525">
            <a:solidFill>
              <a:srgbClr val="D0D7DE"/>
            </a:solidFill>
            <a:prstDash val="solid"/>
          </a:ln>
        </p:spPr>
      </p:sp>
      <p:sp>
        <p:nvSpPr>
          <p:cNvPr id="12" name="Shape 8"/>
          <p:cNvSpPr/>
          <p:nvPr/>
        </p:nvSpPr>
        <p:spPr>
          <a:xfrm>
            <a:off x="6388456" y="2708443"/>
            <a:ext cx="411480" cy="411480"/>
          </a:xfrm>
          <a:prstGeom prst="ellipse">
            <a:avLst/>
          </a:prstGeom>
          <a:solidFill>
            <a:srgbClr val="8C959F"/>
          </a:solidFill>
          <a:ln/>
        </p:spPr>
      </p:sp>
      <p:sp>
        <p:nvSpPr>
          <p:cNvPr id="13" name="Text 9"/>
          <p:cNvSpPr txBox="1"/>
          <p:nvPr/>
        </p:nvSpPr>
        <p:spPr>
          <a:xfrm>
            <a:off x="6388456" y="2708443"/>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B</a:t>
            </a:r>
            <a:endParaRPr lang="id-ID" sz="1600" dirty="0"/>
          </a:p>
        </p:txBody>
      </p:sp>
      <p:sp>
        <p:nvSpPr>
          <p:cNvPr id="14" name="Text 10"/>
          <p:cNvSpPr txBox="1"/>
          <p:nvPr/>
        </p:nvSpPr>
        <p:spPr>
          <a:xfrm>
            <a:off x="6991960" y="2607859"/>
            <a:ext cx="4541368" cy="612648"/>
          </a:xfrm>
          <a:prstGeom prst="rect">
            <a:avLst/>
          </a:prstGeom>
          <a:noFill/>
          <a:ln/>
        </p:spPr>
        <p:txBody>
          <a:bodyPr wrap="square" lIns="0" tIns="0" rIns="0" bIns="0" rtlCol="0" anchor="ctr"/>
          <a:lstStyle/>
          <a:p>
            <a:pPr indent="0" marL="0">
              <a:buNone/>
            </a:pPr>
            <a:r>
              <a:rPr lang="id-ID" altLang="en-US" sz="1800" dirty="0">
                <a:solidFill>
                  <a:srgbClr val="57606A"/>
                </a:solidFill>
              </a:rPr>
              <a:t>Setiap mahasiswa wajib punya tepat satu dosen wali</a:t>
            </a:r>
            <a:endParaRPr lang="id-ID" sz="1800" dirty="0"/>
          </a:p>
        </p:txBody>
      </p:sp>
      <p:sp>
        <p:nvSpPr>
          <p:cNvPr id="15" name="Shape 11"/>
          <p:cNvSpPr/>
          <p:nvPr/>
        </p:nvSpPr>
        <p:spPr>
          <a:xfrm>
            <a:off x="548640" y="3513115"/>
            <a:ext cx="5455768" cy="832104"/>
          </a:xfrm>
          <a:prstGeom prst="roundRect">
            <a:avLst>
              <a:gd name="adj" fmla="val 14491"/>
            </a:avLst>
          </a:prstGeom>
          <a:solidFill>
            <a:srgbClr val="FFFFFF"/>
          </a:solidFill>
          <a:ln w="9525">
            <a:solidFill>
              <a:srgbClr val="D0D7DE"/>
            </a:solidFill>
            <a:prstDash val="solid"/>
          </a:ln>
        </p:spPr>
      </p:sp>
      <p:sp>
        <p:nvSpPr>
          <p:cNvPr id="16" name="Shape 12"/>
          <p:cNvSpPr/>
          <p:nvPr/>
        </p:nvSpPr>
        <p:spPr>
          <a:xfrm>
            <a:off x="749808" y="3723427"/>
            <a:ext cx="411480" cy="411480"/>
          </a:xfrm>
          <a:prstGeom prst="ellipse">
            <a:avLst/>
          </a:prstGeom>
          <a:solidFill>
            <a:srgbClr val="8C959F"/>
          </a:solidFill>
          <a:ln/>
        </p:spPr>
      </p:sp>
      <p:sp>
        <p:nvSpPr>
          <p:cNvPr id="17" name="Text 13"/>
          <p:cNvSpPr txBox="1"/>
          <p:nvPr/>
        </p:nvSpPr>
        <p:spPr>
          <a:xfrm>
            <a:off x="749808" y="3723427"/>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C</a:t>
            </a:r>
            <a:endParaRPr lang="id-ID" sz="1600" dirty="0"/>
          </a:p>
        </p:txBody>
      </p:sp>
      <p:sp>
        <p:nvSpPr>
          <p:cNvPr id="18" name="Text 14"/>
          <p:cNvSpPr txBox="1"/>
          <p:nvPr/>
        </p:nvSpPr>
        <p:spPr>
          <a:xfrm>
            <a:off x="1353312" y="3622843"/>
            <a:ext cx="4541368" cy="612648"/>
          </a:xfrm>
          <a:prstGeom prst="rect">
            <a:avLst/>
          </a:prstGeom>
          <a:noFill/>
          <a:ln/>
        </p:spPr>
        <p:txBody>
          <a:bodyPr wrap="square" lIns="0" tIns="0" rIns="0" bIns="0" rtlCol="0" anchor="ctr"/>
          <a:lstStyle/>
          <a:p>
            <a:pPr indent="0" marL="0">
              <a:buNone/>
            </a:pPr>
            <a:r>
              <a:rPr lang="id-ID" altLang="en-US" sz="1800" dirty="0">
                <a:solidFill>
                  <a:srgbClr val="57606A"/>
                </a:solidFill>
              </a:rPr>
              <a:t>Seorang mahasiswa boleh punya banyak dosen wali</a:t>
            </a:r>
            <a:endParaRPr lang="id-ID" sz="1800" dirty="0"/>
          </a:p>
        </p:txBody>
      </p:sp>
      <p:sp>
        <p:nvSpPr>
          <p:cNvPr id="19" name="Shape 15"/>
          <p:cNvSpPr/>
          <p:nvPr/>
        </p:nvSpPr>
        <p:spPr>
          <a:xfrm>
            <a:off x="6187288" y="3513115"/>
            <a:ext cx="5455768" cy="832104"/>
          </a:xfrm>
          <a:prstGeom prst="roundRect">
            <a:avLst>
              <a:gd name="adj" fmla="val 14491"/>
            </a:avLst>
          </a:prstGeom>
          <a:solidFill>
            <a:srgbClr val="FFFFFF"/>
          </a:solidFill>
          <a:ln w="9525">
            <a:solidFill>
              <a:srgbClr val="D0D7DE"/>
            </a:solidFill>
            <a:prstDash val="solid"/>
          </a:ln>
        </p:spPr>
      </p:sp>
      <p:sp>
        <p:nvSpPr>
          <p:cNvPr id="20" name="Shape 16"/>
          <p:cNvSpPr/>
          <p:nvPr/>
        </p:nvSpPr>
        <p:spPr>
          <a:xfrm>
            <a:off x="6388456" y="3723427"/>
            <a:ext cx="411480" cy="411480"/>
          </a:xfrm>
          <a:prstGeom prst="ellipse">
            <a:avLst/>
          </a:prstGeom>
          <a:solidFill>
            <a:srgbClr val="8C959F"/>
          </a:solidFill>
          <a:ln/>
        </p:spPr>
      </p:sp>
      <p:sp>
        <p:nvSpPr>
          <p:cNvPr id="21" name="Text 17"/>
          <p:cNvSpPr txBox="1"/>
          <p:nvPr/>
        </p:nvSpPr>
        <p:spPr>
          <a:xfrm>
            <a:off x="6388456" y="3723427"/>
            <a:ext cx="411480" cy="411480"/>
          </a:xfrm>
          <a:prstGeom prst="rect">
            <a:avLst/>
          </a:prstGeom>
          <a:noFill/>
          <a:ln/>
        </p:spPr>
        <p:txBody>
          <a:bodyPr wrap="square" lIns="0" tIns="0" rIns="0" bIns="0" rtlCol="0" anchor="ctr"/>
          <a:lstStyle/>
          <a:p>
            <a:pPr algn="ctr" indent="0" marL="0">
              <a:buNone/>
            </a:pPr>
            <a:r>
              <a:rPr lang="id-ID" altLang="en-US" sz="1600" b="1" dirty="0">
                <a:solidFill>
                  <a:srgbClr val="FFFFFF"/>
                </a:solidFill>
              </a:rPr>
              <a:t>D</a:t>
            </a:r>
            <a:endParaRPr lang="id-ID" sz="1600" dirty="0"/>
          </a:p>
        </p:txBody>
      </p:sp>
      <p:sp>
        <p:nvSpPr>
          <p:cNvPr id="22" name="Text 18"/>
          <p:cNvSpPr txBox="1"/>
          <p:nvPr/>
        </p:nvSpPr>
        <p:spPr>
          <a:xfrm>
            <a:off x="6991960" y="3622843"/>
            <a:ext cx="4541368" cy="612648"/>
          </a:xfrm>
          <a:prstGeom prst="rect">
            <a:avLst/>
          </a:prstGeom>
          <a:noFill/>
          <a:ln/>
        </p:spPr>
        <p:txBody>
          <a:bodyPr wrap="square" lIns="0" tIns="0" rIns="0" bIns="0" rtlCol="0" anchor="ctr"/>
          <a:lstStyle/>
          <a:p>
            <a:pPr indent="0" marL="0">
              <a:buNone/>
            </a:pPr>
            <a:r>
              <a:rPr lang="id-ID" altLang="en-US" sz="1800" dirty="0">
                <a:solidFill>
                  <a:srgbClr val="57606A"/>
                </a:solidFill>
              </a:rPr>
              <a:t>Seorang dosen wali boleh tidak membimbing mahasiswa sama sekali</a:t>
            </a:r>
            <a:endParaRPr lang="id-ID" sz="1800" dirty="0"/>
          </a:p>
        </p:txBody>
      </p:sp>
      <p:sp>
        <p:nvSpPr>
          <p:cNvPr id="23" name="Shape 19"/>
          <p:cNvSpPr/>
          <p:nvPr/>
        </p:nvSpPr>
        <p:spPr>
          <a:xfrm>
            <a:off x="548640" y="4546387"/>
            <a:ext cx="11094415" cy="1476756"/>
          </a:xfrm>
          <a:prstGeom prst="roundRect">
            <a:avLst>
              <a:gd name="adj" fmla="val 4601"/>
            </a:avLst>
          </a:prstGeom>
          <a:solidFill>
            <a:srgbClr val="FFF8C5"/>
          </a:solidFill>
          <a:ln w="9525">
            <a:solidFill>
              <a:srgbClr val="D4A72C"/>
            </a:solidFill>
            <a:prstDash val="solid"/>
          </a:ln>
        </p:spPr>
      </p:sp>
      <p:sp>
        <p:nvSpPr>
          <p:cNvPr id="24" name="Shape 20"/>
          <p:cNvSpPr/>
          <p:nvPr/>
        </p:nvSpPr>
        <p:spPr>
          <a:xfrm>
            <a:off x="777240" y="4729267"/>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829851"/>
            <a:ext cx="256032" cy="256032"/>
          </a:xfrm>
          <a:prstGeom prst="rect">
            <a:avLst/>
          </a:prstGeom>
        </p:spPr>
      </p:pic>
      <p:sp>
        <p:nvSpPr>
          <p:cNvPr id="26" name="Text 21"/>
          <p:cNvSpPr txBox="1"/>
          <p:nvPr/>
        </p:nvSpPr>
        <p:spPr>
          <a:xfrm>
            <a:off x="1417320" y="4683547"/>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A</a:t>
            </a:r>
            <a:endParaRPr lang="id-ID" sz="1600" dirty="0"/>
          </a:p>
        </p:txBody>
      </p:sp>
      <p:sp>
        <p:nvSpPr>
          <p:cNvPr id="27" name="Text 22"/>
          <p:cNvSpPr txBox="1"/>
          <p:nvPr/>
        </p:nvSpPr>
        <p:spPr>
          <a:xfrm>
            <a:off x="1417320" y="5021875"/>
            <a:ext cx="9951415" cy="928116"/>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0..1</a:t>
            </a:r>
            <a:r>
              <a:rPr lang="id-ID" altLang="en-US" sz="1800" dirty="0">
                <a:solidFill>
                  <a:srgbClr val="1F2328"/>
                </a:solidFill>
              </a:rPr>
              <a:t> berarti nol atau satu, dibaca dari sudut pandang </a:t>
            </a:r>
            <a:r>
              <a:rPr lang="id-ID" altLang="en-US" sz="1800" b="1" dirty="0">
                <a:solidFill>
                  <a:srgbClr val="1F2328"/>
                </a:solidFill>
              </a:rPr>
              <a:t>satu</a:t>
            </a:r>
            <a:r>
              <a:rPr lang="id-ID" altLang="en-US" sz="1800" dirty="0">
                <a:solidFill>
                  <a:srgbClr val="1F2328"/>
                </a:solidFill>
              </a:rPr>
              <a:t> mahasiswa karena ditulis di ujung </a:t>
            </a:r>
            <a:r>
              <a:rPr lang="id-ID" altLang="en-US" sz="1800" dirty="0">
                <a:solidFill>
                  <a:srgbClr val="0A3069"/>
                </a:solidFill>
                <a:latin typeface="Consolas" pitchFamily="34" charset="0"/>
                <a:ea typeface="Consolas" pitchFamily="34" charset="-122"/>
                <a:cs typeface="Consolas" pitchFamily="34" charset="-120"/>
              </a:rPr>
              <a:t>DosenWali</a:t>
            </a:r>
            <a:r>
              <a:rPr lang="id-ID" altLang="en-US" sz="1800" dirty="0">
                <a:solidFill>
                  <a:srgbClr val="1F2328"/>
                </a:solidFill>
              </a:rPr>
              <a:t>. Di kode, wujudnya atribut yang awalnya </a:t>
            </a:r>
            <a:r>
              <a:rPr lang="id-ID" altLang="en-US" sz="1800" dirty="0">
                <a:solidFill>
                  <a:srgbClr val="0A3069"/>
                </a:solidFill>
                <a:latin typeface="Consolas" pitchFamily="34" charset="0"/>
                <a:ea typeface="Consolas" pitchFamily="34" charset="-122"/>
                <a:cs typeface="Consolas" pitchFamily="34" charset="-120"/>
              </a:rPr>
              <a:t>None</a:t>
            </a:r>
            <a:r>
              <a:rPr lang="id-ID" altLang="en-US" sz="1800" dirty="0">
                <a:solidFill>
                  <a:srgbClr val="1F2328"/>
                </a:solidFill>
              </a:rPr>
              <a:t>/</a:t>
            </a:r>
            <a:r>
              <a:rPr lang="id-ID" altLang="en-US" sz="1800" dirty="0">
                <a:solidFill>
                  <a:srgbClr val="0A3069"/>
                </a:solidFill>
                <a:latin typeface="Consolas" pitchFamily="34" charset="0"/>
                <a:ea typeface="Consolas" pitchFamily="34" charset="-122"/>
                <a:cs typeface="Consolas" pitchFamily="34" charset="-120"/>
              </a:rPr>
              <a:t>null</a:t>
            </a:r>
            <a:r>
              <a:rPr lang="id-ID" altLang="en-US" sz="1800" dirty="0">
                <a:solidFill>
                  <a:srgbClr val="1F2328"/>
                </a:solidFill>
              </a:rPr>
              <a:t>. B adalah arti </a:t>
            </a:r>
            <a:r>
              <a:rPr lang="id-ID" altLang="en-US" sz="1800" dirty="0">
                <a:solidFill>
                  <a:srgbClr val="0A3069"/>
                </a:solidFill>
                <a:latin typeface="Consolas" pitchFamily="34" charset="0"/>
                <a:ea typeface="Consolas" pitchFamily="34" charset="-122"/>
                <a:cs typeface="Consolas" pitchFamily="34" charset="-120"/>
              </a:rPr>
              <a:t>1</a:t>
            </a:r>
            <a:r>
              <a:rPr lang="id-ID" altLang="en-US" sz="1800" dirty="0">
                <a:solidFill>
                  <a:srgbClr val="1F2328"/>
                </a:solidFill>
              </a:rPr>
              <a:t>, C adalah arti </a:t>
            </a:r>
            <a:r>
              <a:rPr lang="id-ID" altLang="en-US" sz="1800" dirty="0">
                <a:solidFill>
                  <a:srgbClr val="0A3069"/>
                </a:solidFill>
                <a:latin typeface="Consolas" pitchFamily="34" charset="0"/>
                <a:ea typeface="Consolas" pitchFamily="34" charset="-122"/>
                <a:cs typeface="Consolas" pitchFamily="34" charset="-120"/>
              </a:rPr>
              <a:t>*</a:t>
            </a:r>
            <a:r>
              <a:rPr lang="id-ID" altLang="en-US" sz="1800" dirty="0">
                <a:solidFill>
                  <a:srgbClr val="1F2328"/>
                </a:solidFill>
              </a:rPr>
              <a:t>, dan D membicarakan sudut pandang dosen, yang ditentukan angka di ujung </a:t>
            </a:r>
            <a:r>
              <a:rPr lang="id-ID" altLang="en-US" sz="1800" dirty="0">
                <a:solidFill>
                  <a:srgbClr val="0A3069"/>
                </a:solidFill>
                <a:latin typeface="Consolas" pitchFamily="34" charset="0"/>
                <a:ea typeface="Consolas" pitchFamily="34" charset="-122"/>
                <a:cs typeface="Consolas" pitchFamily="34" charset="-120"/>
              </a:rPr>
              <a:t>Mahasiswa</a:t>
            </a:r>
            <a:r>
              <a:rPr lang="id-ID" altLang="en-US" sz="1800" dirty="0">
                <a:solidFill>
                  <a:srgbClr val="1F2328"/>
                </a:solidFill>
              </a:rPr>
              <a:t>.</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0787"/>
            <a:ext cx="294386" cy="294386"/>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3405" y="1535552"/>
            <a:ext cx="164856" cy="164856"/>
          </a:xfrm>
          <a:prstGeom prst="rect">
            <a:avLst/>
          </a:prstGeom>
        </p:spPr>
      </p:pic>
      <p:sp>
        <p:nvSpPr>
          <p:cNvPr id="7" name="Text 3"/>
          <p:cNvSpPr txBox="1"/>
          <p:nvPr/>
        </p:nvSpPr>
        <p:spPr>
          <a:xfrm>
            <a:off x="1051560" y="1463040"/>
            <a:ext cx="10591495" cy="665480"/>
          </a:xfrm>
          <a:prstGeom prst="rect">
            <a:avLst/>
          </a:prstGeom>
          <a:noFill/>
          <a:ln/>
        </p:spPr>
        <p:txBody>
          <a:bodyPr wrap="square" lIns="0" tIns="0" rIns="0" bIns="0" rtlCol="0" anchor="t"/>
          <a:lstStyle/>
          <a:p>
            <a:pPr indent="0" marL="0">
              <a:buNone/>
            </a:pPr>
            <a:r>
              <a:rPr lang="id-ID" altLang="en-US" sz="2000" dirty="0">
                <a:solidFill>
                  <a:srgbClr val="1F2328"/>
                </a:solidFill>
              </a:rPr>
              <a:t>Program yang baik terdiri atas banyak kelas kecil yang </a:t>
            </a:r>
            <a:r>
              <a:rPr lang="id-ID" altLang="en-US" sz="2000" b="1" dirty="0">
                <a:solidFill>
                  <a:srgbClr val="1F2328"/>
                </a:solidFill>
              </a:rPr>
              <a:t>saling mengirim pesan</a:t>
            </a:r>
            <a:r>
              <a:rPr lang="id-ID" altLang="en-US" sz="2000" dirty="0">
                <a:solidFill>
                  <a:srgbClr val="1F2328"/>
                </a:solidFill>
              </a:rPr>
              <a:t>; syaratnya, pengirim memegang </a:t>
            </a:r>
            <a:r>
              <a:rPr lang="id-ID" altLang="en-US" sz="2000" b="1" dirty="0">
                <a:solidFill>
                  <a:srgbClr val="1F2328"/>
                </a:solidFill>
              </a:rPr>
              <a:t>referensi</a:t>
            </a:r>
            <a:r>
              <a:rPr lang="id-ID" altLang="en-US" sz="2000" dirty="0">
                <a:solidFill>
                  <a:srgbClr val="1F2328"/>
                </a:solidFill>
              </a:rPr>
              <a:t>.</a:t>
            </a:r>
            <a:endParaRPr lang="id-ID" sz="2000" dirty="0"/>
          </a:p>
        </p:txBody>
      </p:sp>
      <p:sp>
        <p:nvSpPr>
          <p:cNvPr id="8" name="Shape 4"/>
          <p:cNvSpPr/>
          <p:nvPr/>
        </p:nvSpPr>
        <p:spPr>
          <a:xfrm>
            <a:off x="548640" y="2291715"/>
            <a:ext cx="294386" cy="294386"/>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3405" y="2356480"/>
            <a:ext cx="164856" cy="164856"/>
          </a:xfrm>
          <a:prstGeom prst="rect">
            <a:avLst/>
          </a:prstGeom>
        </p:spPr>
      </p:pic>
      <p:sp>
        <p:nvSpPr>
          <p:cNvPr id="10" name="Text 5"/>
          <p:cNvSpPr txBox="1"/>
          <p:nvPr/>
        </p:nvSpPr>
        <p:spPr>
          <a:xfrm>
            <a:off x="1051560" y="2283968"/>
            <a:ext cx="10591495" cy="355600"/>
          </a:xfrm>
          <a:prstGeom prst="rect">
            <a:avLst/>
          </a:prstGeom>
          <a:noFill/>
          <a:ln/>
        </p:spPr>
        <p:txBody>
          <a:bodyPr wrap="square" lIns="0" tIns="0" rIns="0" bIns="0" rtlCol="0" anchor="t"/>
          <a:lstStyle/>
          <a:p>
            <a:pPr indent="0" marL="0">
              <a:buNone/>
            </a:pPr>
            <a:r>
              <a:rPr lang="id-ID" altLang="en-US" sz="2000" b="1" dirty="0">
                <a:solidFill>
                  <a:srgbClr val="1F2328"/>
                </a:solidFill>
              </a:rPr>
              <a:t>Dependensi</a:t>
            </a:r>
            <a:r>
              <a:rPr lang="id-ID" altLang="en-US" sz="2000" dirty="0">
                <a:solidFill>
                  <a:srgbClr val="1F2328"/>
                </a:solidFill>
              </a:rPr>
              <a:t>: memakai sebentar; objek lain hanya datang sebagai parameter atau variabel lokal.</a:t>
            </a:r>
            <a:endParaRPr lang="id-ID" sz="2000" dirty="0"/>
          </a:p>
        </p:txBody>
      </p:sp>
      <p:sp>
        <p:nvSpPr>
          <p:cNvPr id="11" name="Shape 6"/>
          <p:cNvSpPr/>
          <p:nvPr/>
        </p:nvSpPr>
        <p:spPr>
          <a:xfrm>
            <a:off x="548640" y="2802763"/>
            <a:ext cx="294386" cy="294386"/>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3405" y="2867528"/>
            <a:ext cx="164856" cy="164856"/>
          </a:xfrm>
          <a:prstGeom prst="rect">
            <a:avLst/>
          </a:prstGeom>
        </p:spPr>
      </p:pic>
      <p:sp>
        <p:nvSpPr>
          <p:cNvPr id="13" name="Text 7"/>
          <p:cNvSpPr txBox="1"/>
          <p:nvPr/>
        </p:nvSpPr>
        <p:spPr>
          <a:xfrm>
            <a:off x="1051560" y="2795016"/>
            <a:ext cx="10591495" cy="665480"/>
          </a:xfrm>
          <a:prstGeom prst="rect">
            <a:avLst/>
          </a:prstGeom>
          <a:noFill/>
          <a:ln/>
        </p:spPr>
        <p:txBody>
          <a:bodyPr wrap="square" lIns="0" tIns="0" rIns="0" bIns="0" rtlCol="0" anchor="t"/>
          <a:lstStyle/>
          <a:p>
            <a:pPr indent="0" marL="0">
              <a:buNone/>
            </a:pPr>
            <a:r>
              <a:rPr lang="id-ID" altLang="en-US" sz="2000" b="1" dirty="0">
                <a:solidFill>
                  <a:srgbClr val="1F2328"/>
                </a:solidFill>
              </a:rPr>
              <a:t>Asosiasi</a:t>
            </a:r>
            <a:r>
              <a:rPr lang="id-ID" altLang="en-US" sz="2000" dirty="0">
                <a:solidFill>
                  <a:srgbClr val="1F2328"/>
                </a:solidFill>
              </a:rPr>
              <a:t>: mengenal; objek lain disimpan sebagai atribut. Hubungan punya arah, dan satu arah sering kali cukup.</a:t>
            </a:r>
            <a:endParaRPr lang="id-ID" sz="2000" dirty="0"/>
          </a:p>
        </p:txBody>
      </p:sp>
      <p:sp>
        <p:nvSpPr>
          <p:cNvPr id="14" name="Shape 8"/>
          <p:cNvSpPr/>
          <p:nvPr/>
        </p:nvSpPr>
        <p:spPr>
          <a:xfrm>
            <a:off x="548640" y="3623691"/>
            <a:ext cx="294386" cy="294386"/>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3405" y="3688456"/>
            <a:ext cx="164856" cy="164856"/>
          </a:xfrm>
          <a:prstGeom prst="rect">
            <a:avLst/>
          </a:prstGeom>
        </p:spPr>
      </p:pic>
      <p:sp>
        <p:nvSpPr>
          <p:cNvPr id="16" name="Text 9"/>
          <p:cNvSpPr txBox="1"/>
          <p:nvPr/>
        </p:nvSpPr>
        <p:spPr>
          <a:xfrm>
            <a:off x="1051560" y="3615944"/>
            <a:ext cx="10591495" cy="355600"/>
          </a:xfrm>
          <a:prstGeom prst="rect">
            <a:avLst/>
          </a:prstGeom>
          <a:noFill/>
          <a:ln/>
        </p:spPr>
        <p:txBody>
          <a:bodyPr wrap="square" lIns="0" tIns="0" rIns="0" bIns="0" rtlCol="0" anchor="t"/>
          <a:lstStyle/>
          <a:p>
            <a:pPr indent="0" marL="0">
              <a:buNone/>
            </a:pPr>
            <a:r>
              <a:rPr lang="id-ID" altLang="en-US" sz="2000" b="1" dirty="0">
                <a:solidFill>
                  <a:srgbClr val="1F2328"/>
                </a:solidFill>
              </a:rPr>
              <a:t>Agregasi</a:t>
            </a:r>
            <a:r>
              <a:rPr lang="id-ID" altLang="en-US" sz="2000" dirty="0">
                <a:solidFill>
                  <a:srgbClr val="1F2328"/>
                </a:solidFill>
              </a:rPr>
              <a:t>: </a:t>
            </a:r>
            <a:r>
              <a:rPr lang="id-ID" altLang="en-US" sz="2000" i="1" dirty="0">
                <a:solidFill>
                  <a:srgbClr val="1F2328"/>
                </a:solidFill>
              </a:rPr>
              <a:t>list</a:t>
            </a:r>
            <a:r>
              <a:rPr lang="id-ID" altLang="en-US" sz="2000" dirty="0">
                <a:solidFill>
                  <a:srgbClr val="1F2328"/>
                </a:solidFill>
              </a:rPr>
              <a:t> berisi objek yang dibuat di luar. </a:t>
            </a:r>
            <a:r>
              <a:rPr lang="id-ID" altLang="en-US" sz="2000" b="1" dirty="0">
                <a:solidFill>
                  <a:srgbClr val="1F2328"/>
                </a:solidFill>
              </a:rPr>
              <a:t>Komposisi</a:t>
            </a:r>
            <a:r>
              <a:rPr lang="id-ID" altLang="en-US" sz="2000" dirty="0">
                <a:solidFill>
                  <a:srgbClr val="1F2328"/>
                </a:solidFill>
              </a:rPr>
              <a:t>: objek bagian dibuat di dalam pemiliknya.</a:t>
            </a:r>
            <a:endParaRPr lang="id-ID" sz="2000" dirty="0"/>
          </a:p>
        </p:txBody>
      </p:sp>
      <p:sp>
        <p:nvSpPr>
          <p:cNvPr id="17" name="Shape 10"/>
          <p:cNvSpPr/>
          <p:nvPr/>
        </p:nvSpPr>
        <p:spPr>
          <a:xfrm>
            <a:off x="548640" y="4134739"/>
            <a:ext cx="294386" cy="294386"/>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3405" y="4199504"/>
            <a:ext cx="164856" cy="164856"/>
          </a:xfrm>
          <a:prstGeom prst="rect">
            <a:avLst/>
          </a:prstGeom>
        </p:spPr>
      </p:pic>
      <p:sp>
        <p:nvSpPr>
          <p:cNvPr id="19" name="Text 11"/>
          <p:cNvSpPr txBox="1"/>
          <p:nvPr/>
        </p:nvSpPr>
        <p:spPr>
          <a:xfrm>
            <a:off x="1051560" y="4126992"/>
            <a:ext cx="10591495" cy="665480"/>
          </a:xfrm>
          <a:prstGeom prst="rect">
            <a:avLst/>
          </a:prstGeom>
          <a:noFill/>
          <a:ln/>
        </p:spPr>
        <p:txBody>
          <a:bodyPr wrap="square" lIns="0" tIns="0" rIns="0" bIns="0" rtlCol="0" anchor="t"/>
          <a:lstStyle/>
          <a:p>
            <a:pPr indent="0" marL="0">
              <a:buNone/>
            </a:pPr>
            <a:r>
              <a:rPr lang="id-ID" altLang="en-US" sz="2000" b="1" dirty="0">
                <a:solidFill>
                  <a:srgbClr val="1F2328"/>
                </a:solidFill>
              </a:rPr>
              <a:t>Multiplisitas</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1</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0..1</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a:t>
            </a:r>
            <a:r>
              <a:rPr lang="id-ID" altLang="en-US" sz="2000" dirty="0">
                <a:solidFill>
                  <a:srgbClr val="1F2328"/>
                </a:solidFill>
              </a:rPr>
              <a:t>, </a:t>
            </a:r>
            <a:r>
              <a:rPr lang="id-ID" altLang="en-US" sz="2000" dirty="0">
                <a:solidFill>
                  <a:srgbClr val="1F2328"/>
                </a:solidFill>
                <a:latin typeface="Consolas" pitchFamily="34" charset="0"/>
                <a:ea typeface="Consolas" pitchFamily="34" charset="-122"/>
                <a:cs typeface="Consolas" pitchFamily="34" charset="-120"/>
              </a:rPr>
              <a:t>1..*</a:t>
            </a:r>
            <a:r>
              <a:rPr lang="id-ID" altLang="en-US" sz="2000" dirty="0">
                <a:solidFill>
                  <a:srgbClr val="1F2328"/>
                </a:solidFill>
              </a:rPr>
              <a:t>) menyatakan berapa banyak objek yang terhubung, dan kode harus menjaganya.</a:t>
            </a:r>
            <a:endParaRPr lang="id-ID" sz="2000" dirty="0"/>
          </a:p>
        </p:txBody>
      </p:sp>
      <p:sp>
        <p:nvSpPr>
          <p:cNvPr id="20" name="Shape 12"/>
          <p:cNvSpPr/>
          <p:nvPr/>
        </p:nvSpPr>
        <p:spPr>
          <a:xfrm>
            <a:off x="548640" y="4955667"/>
            <a:ext cx="294386" cy="294386"/>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3405" y="5020432"/>
            <a:ext cx="164856" cy="164856"/>
          </a:xfrm>
          <a:prstGeom prst="rect">
            <a:avLst/>
          </a:prstGeom>
        </p:spPr>
      </p:pic>
      <p:sp>
        <p:nvSpPr>
          <p:cNvPr id="22" name="Text 13"/>
          <p:cNvSpPr txBox="1"/>
          <p:nvPr/>
        </p:nvSpPr>
        <p:spPr>
          <a:xfrm>
            <a:off x="1051560" y="4947920"/>
            <a:ext cx="10591495" cy="355600"/>
          </a:xfrm>
          <a:prstGeom prst="rect">
            <a:avLst/>
          </a:prstGeom>
          <a:noFill/>
          <a:ln/>
        </p:spPr>
        <p:txBody>
          <a:bodyPr wrap="square" lIns="0" tIns="0" rIns="0" bIns="0" rtlCol="0" anchor="t"/>
          <a:lstStyle/>
          <a:p>
            <a:pPr indent="0" marL="0">
              <a:buNone/>
            </a:pPr>
            <a:r>
              <a:rPr lang="id-ID" altLang="en-US" sz="2000" i="1" dirty="0">
                <a:solidFill>
                  <a:srgbClr val="1F2328"/>
                </a:solidFill>
              </a:rPr>
              <a:t>Getter</a:t>
            </a:r>
            <a:r>
              <a:rPr lang="id-ID" altLang="en-US" sz="2000" dirty="0">
                <a:solidFill>
                  <a:srgbClr val="1F2328"/>
                </a:solidFill>
              </a:rPr>
              <a:t> mengembalikan </a:t>
            </a:r>
            <a:r>
              <a:rPr lang="id-ID" altLang="en-US" sz="2000" b="1" dirty="0">
                <a:solidFill>
                  <a:srgbClr val="1F2328"/>
                </a:solidFill>
              </a:rPr>
              <a:t>salinan</a:t>
            </a:r>
            <a:r>
              <a:rPr lang="id-ID" altLang="en-US" sz="2000" dirty="0">
                <a:solidFill>
                  <a:srgbClr val="1F2328"/>
                </a:solidFill>
              </a:rPr>
              <a:t> </a:t>
            </a:r>
            <a:r>
              <a:rPr lang="id-ID" altLang="en-US" sz="2000" i="1" dirty="0">
                <a:solidFill>
                  <a:srgbClr val="1F2328"/>
                </a:solidFill>
              </a:rPr>
              <a:t>list</a:t>
            </a:r>
            <a:r>
              <a:rPr lang="id-ID" altLang="en-US" sz="2000" dirty="0">
                <a:solidFill>
                  <a:srgbClr val="1F2328"/>
                </a:solidFill>
              </a:rPr>
              <a:t>; hasil pencarian </a:t>
            </a:r>
            <a:r>
              <a:rPr lang="id-ID" altLang="en-US" sz="2000" dirty="0">
                <a:solidFill>
                  <a:srgbClr val="1F2328"/>
                </a:solidFill>
                <a:latin typeface="Consolas" pitchFamily="34" charset="0"/>
                <a:ea typeface="Consolas" pitchFamily="34" charset="-122"/>
                <a:cs typeface="Consolas" pitchFamily="34" charset="-120"/>
              </a:rPr>
              <a:t>None</a:t>
            </a:r>
            <a:r>
              <a:rPr lang="id-ID" altLang="en-US" sz="2000" dirty="0">
                <a:solidFill>
                  <a:srgbClr val="1F2328"/>
                </a:solidFill>
              </a:rPr>
              <a:t>/</a:t>
            </a:r>
            <a:r>
              <a:rPr lang="id-ID" altLang="en-US" sz="2000" dirty="0">
                <a:solidFill>
                  <a:srgbClr val="1F2328"/>
                </a:solidFill>
                <a:latin typeface="Consolas" pitchFamily="34" charset="0"/>
                <a:ea typeface="Consolas" pitchFamily="34" charset="-122"/>
                <a:cs typeface="Consolas" pitchFamily="34" charset="-120"/>
              </a:rPr>
              <a:t>null</a:t>
            </a:r>
            <a:r>
              <a:rPr lang="id-ID" altLang="en-US" sz="2000" dirty="0">
                <a:solidFill>
                  <a:srgbClr val="1F2328"/>
                </a:solidFill>
              </a:rPr>
              <a:t> wajib diperiksa sebelum dipakai.</a:t>
            </a:r>
            <a:endParaRPr lang="id-ID" sz="2000" dirty="0"/>
          </a:p>
        </p:txBody>
      </p:sp>
      <p:sp>
        <p:nvSpPr>
          <p:cNvPr id="23" name="Shape 14"/>
          <p:cNvSpPr/>
          <p:nvPr/>
        </p:nvSpPr>
        <p:spPr>
          <a:xfrm>
            <a:off x="548640" y="5466715"/>
            <a:ext cx="294386" cy="294386"/>
          </a:xfrm>
          <a:prstGeom prst="ellipse">
            <a:avLst/>
          </a:prstGeom>
          <a:solidFill>
            <a:srgbClr val="1A7F37"/>
          </a:solidFill>
          <a:ln/>
        </p:spPr>
      </p:sp>
      <p:pic>
        <p:nvPicPr>
          <p:cNvPr id="24" name="Image 7" descr="preencoded.png">    </p:cNvPr>
          <p:cNvPicPr>
            <a:picLocks noChangeAspect="1"/>
          </p:cNvPicPr>
          <p:nvPr/>
        </p:nvPicPr>
        <p:blipFill>
          <a:blip r:embed="rId8"/>
          <a:stretch>
            <a:fillRect/>
          </a:stretch>
        </p:blipFill>
        <p:spPr>
          <a:xfrm>
            <a:off x="613405" y="5531480"/>
            <a:ext cx="164856" cy="164856"/>
          </a:xfrm>
          <a:prstGeom prst="rect">
            <a:avLst/>
          </a:prstGeom>
        </p:spPr>
      </p:pic>
      <p:sp>
        <p:nvSpPr>
          <p:cNvPr id="25" name="Text 15"/>
          <p:cNvSpPr txBox="1"/>
          <p:nvPr/>
        </p:nvSpPr>
        <p:spPr>
          <a:xfrm>
            <a:off x="1051560" y="5458968"/>
            <a:ext cx="10591495" cy="665480"/>
          </a:xfrm>
          <a:prstGeom prst="rect">
            <a:avLst/>
          </a:prstGeom>
          <a:noFill/>
          <a:ln/>
        </p:spPr>
        <p:txBody>
          <a:bodyPr wrap="square" lIns="0" tIns="0" rIns="0" bIns="0" rtlCol="0" anchor="t"/>
          <a:lstStyle/>
          <a:p>
            <a:pPr indent="0" marL="0">
              <a:buNone/>
            </a:pPr>
            <a:r>
              <a:rPr lang="id-ID" altLang="en-US" sz="2000" dirty="0">
                <a:solidFill>
                  <a:srgbClr val="1F2328"/>
                </a:solidFill>
              </a:rPr>
              <a:t>Program besar dipecah menjadi beberapa </a:t>
            </a:r>
            <a:r>
              <a:rPr lang="id-ID" altLang="en-US" sz="2000" i="1" dirty="0">
                <a:solidFill>
                  <a:srgbClr val="1F2328"/>
                </a:solidFill>
              </a:rPr>
              <a:t>file</a:t>
            </a:r>
            <a:r>
              <a:rPr lang="id-ID" altLang="en-US" sz="2000" dirty="0">
                <a:solidFill>
                  <a:srgbClr val="1F2328"/>
                </a:solidFill>
              </a:rPr>
              <a:t>; yang dijalankan selalu pintu masuknya, dari folder </a:t>
            </a:r>
            <a:r>
              <a:rPr lang="id-ID" altLang="en-US" sz="2000" dirty="0">
                <a:solidFill>
                  <a:srgbClr val="1F2328"/>
                </a:solidFill>
                <a:latin typeface="Consolas" pitchFamily="34" charset="0"/>
                <a:ea typeface="Consolas" pitchFamily="34" charset="-122"/>
                <a:cs typeface="Consolas" pitchFamily="34" charset="-120"/>
              </a:rPr>
              <a:t>studi-kasus</a:t>
            </a:r>
            <a:r>
              <a:rPr lang="id-ID" altLang="en-US" sz="2000" dirty="0">
                <a:solidFill>
                  <a:srgbClr val="1F2328"/>
                </a:solidFill>
              </a:rPr>
              <a:t>.</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519174"/>
            <a:ext cx="137160" cy="137160"/>
          </a:xfrm>
          <a:prstGeom prst="roundRect">
            <a:avLst>
              <a:gd name="adj" fmla="val 166667"/>
            </a:avLst>
          </a:prstGeom>
          <a:solidFill>
            <a:srgbClr val="FB8F44"/>
          </a:solidFill>
          <a:ln/>
        </p:spPr>
      </p:sp>
      <p:sp>
        <p:nvSpPr>
          <p:cNvPr id="6" name="Text 3"/>
          <p:cNvSpPr txBox="1"/>
          <p:nvPr/>
        </p:nvSpPr>
        <p:spPr>
          <a:xfrm>
            <a:off x="932688" y="1417320"/>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Jalankan contoh 01⁠—⁠07 (di Python juga contoh 08) dan studi kasus KedaiKita dari folder yang benar.</a:t>
            </a:r>
            <a:endParaRPr lang="id-ID" sz="2200" dirty="0"/>
          </a:p>
        </p:txBody>
      </p:sp>
      <p:sp>
        <p:nvSpPr>
          <p:cNvPr id="7" name="Shape 4"/>
          <p:cNvSpPr/>
          <p:nvPr/>
        </p:nvSpPr>
        <p:spPr>
          <a:xfrm>
            <a:off x="603504" y="2383790"/>
            <a:ext cx="137160" cy="137160"/>
          </a:xfrm>
          <a:prstGeom prst="roundRect">
            <a:avLst>
              <a:gd name="adj" fmla="val 166667"/>
            </a:avLst>
          </a:prstGeom>
          <a:solidFill>
            <a:srgbClr val="FB8F44"/>
          </a:solidFill>
          <a:ln/>
        </p:spPr>
      </p:sp>
      <p:sp>
        <p:nvSpPr>
          <p:cNvPr id="8" name="Text 5"/>
          <p:cNvSpPr txBox="1"/>
          <p:nvPr/>
        </p:nvSpPr>
        <p:spPr>
          <a:xfrm>
            <a:off x="932688" y="2281936"/>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Kerjakan latihan, lalu cek pemahamanmu dengan kuis 10 soal.</a:t>
            </a:r>
            <a:endParaRPr lang="id-ID" sz="2200" dirty="0"/>
          </a:p>
        </p:txBody>
      </p:sp>
      <p:sp>
        <p:nvSpPr>
          <p:cNvPr id="9" name="Text 6"/>
          <p:cNvSpPr txBox="1"/>
          <p:nvPr/>
        </p:nvSpPr>
        <p:spPr>
          <a:xfrm>
            <a:off x="548640" y="3283712"/>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0" name="Shape 7"/>
          <p:cNvSpPr/>
          <p:nvPr/>
        </p:nvSpPr>
        <p:spPr>
          <a:xfrm>
            <a:off x="548640" y="3740912"/>
            <a:ext cx="3666744" cy="457200"/>
          </a:xfrm>
          <a:prstGeom prst="roundRect">
            <a:avLst>
              <a:gd name="adj" fmla="val 100000"/>
            </a:avLst>
          </a:prstGeom>
          <a:solidFill>
            <a:srgbClr val="12407F"/>
          </a:solidFill>
          <a:ln w="12700">
            <a:solidFill>
              <a:srgbClr val="2F6FB5"/>
            </a:solidFill>
            <a:prstDash val="solid"/>
          </a:ln>
        </p:spPr>
      </p:sp>
      <p:pic>
        <p:nvPicPr>
          <p:cNvPr id="11" name="Image 1" descr="preencoded.png">    </p:cNvPr>
          <p:cNvPicPr>
            <a:picLocks noChangeAspect="1"/>
          </p:cNvPicPr>
          <p:nvPr/>
        </p:nvPicPr>
        <p:blipFill>
          <a:blip r:embed="rId2"/>
          <a:stretch>
            <a:fillRect/>
          </a:stretch>
        </p:blipFill>
        <p:spPr>
          <a:xfrm>
            <a:off x="694944" y="3841496"/>
            <a:ext cx="256032" cy="256032"/>
          </a:xfrm>
          <a:prstGeom prst="rect">
            <a:avLst/>
          </a:prstGeom>
        </p:spPr>
      </p:pic>
      <p:sp>
        <p:nvSpPr>
          <p:cNvPr id="12" name="Text 8"/>
          <p:cNvSpPr txBox="1"/>
          <p:nvPr/>
        </p:nvSpPr>
        <p:spPr>
          <a:xfrm>
            <a:off x="1051560"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Konsep</a:t>
            </a:r>
            <a:endParaRPr lang="id-ID" sz="1600" dirty="0"/>
          </a:p>
        </p:txBody>
      </p:sp>
      <p:sp>
        <p:nvSpPr>
          <p:cNvPr id="13" name="Shape 9"/>
          <p:cNvSpPr/>
          <p:nvPr/>
        </p:nvSpPr>
        <p:spPr>
          <a:xfrm>
            <a:off x="4379976" y="3740912"/>
            <a:ext cx="3666744" cy="457200"/>
          </a:xfrm>
          <a:prstGeom prst="roundRect">
            <a:avLst>
              <a:gd name="adj" fmla="val 100000"/>
            </a:avLst>
          </a:prstGeom>
          <a:solidFill>
            <a:srgbClr val="12407F"/>
          </a:solidFill>
          <a:ln w="12700">
            <a:solidFill>
              <a:srgbClr val="2F6FB5"/>
            </a:solidFill>
            <a:prstDash val="solid"/>
          </a:ln>
        </p:spPr>
      </p:sp>
      <p:pic>
        <p:nvPicPr>
          <p:cNvPr id="14" name="Image 2" descr="preencoded.png">    </p:cNvPr>
          <p:cNvPicPr>
            <a:picLocks noChangeAspect="1"/>
          </p:cNvPicPr>
          <p:nvPr/>
        </p:nvPicPr>
        <p:blipFill>
          <a:blip r:embed="rId4"/>
          <a:stretch>
            <a:fillRect/>
          </a:stretch>
        </p:blipFill>
        <p:spPr>
          <a:xfrm>
            <a:off x="4526280" y="3841496"/>
            <a:ext cx="256032" cy="256032"/>
          </a:xfrm>
          <a:prstGeom prst="rect">
            <a:avLst/>
          </a:prstGeom>
        </p:spPr>
      </p:pic>
      <p:sp>
        <p:nvSpPr>
          <p:cNvPr id="15" name="Text 10"/>
          <p:cNvSpPr txBox="1"/>
          <p:nvPr/>
        </p:nvSpPr>
        <p:spPr>
          <a:xfrm>
            <a:off x="4882896"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6" name="Shape 11"/>
          <p:cNvSpPr/>
          <p:nvPr/>
        </p:nvSpPr>
        <p:spPr>
          <a:xfrm>
            <a:off x="548640" y="4326128"/>
            <a:ext cx="3666744" cy="457200"/>
          </a:xfrm>
          <a:prstGeom prst="roundRect">
            <a:avLst>
              <a:gd name="adj" fmla="val 100000"/>
            </a:avLst>
          </a:prstGeom>
          <a:solidFill>
            <a:srgbClr val="12407F"/>
          </a:solidFill>
          <a:ln w="12700">
            <a:solidFill>
              <a:srgbClr val="2F6FB5"/>
            </a:solidFill>
            <a:prstDash val="solid"/>
          </a:ln>
        </p:spPr>
      </p:sp>
      <p:pic>
        <p:nvPicPr>
          <p:cNvPr id="17" name="Image 3" descr="preencoded.png">    </p:cNvPr>
          <p:cNvPicPr>
            <a:picLocks noChangeAspect="1"/>
          </p:cNvPicPr>
          <p:nvPr/>
        </p:nvPicPr>
        <p:blipFill>
          <a:blip r:embed="rId6"/>
          <a:stretch>
            <a:fillRect/>
          </a:stretch>
        </p:blipFill>
        <p:spPr>
          <a:xfrm>
            <a:off x="694944" y="4426712"/>
            <a:ext cx="256032" cy="256032"/>
          </a:xfrm>
          <a:prstGeom prst="rect">
            <a:avLst/>
          </a:prstGeom>
        </p:spPr>
      </p:pic>
      <p:sp>
        <p:nvSpPr>
          <p:cNvPr id="18" name="Text 12"/>
          <p:cNvSpPr txBox="1"/>
          <p:nvPr/>
        </p:nvSpPr>
        <p:spPr>
          <a:xfrm>
            <a:off x="1051560"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19" name="Shape 13"/>
          <p:cNvSpPr/>
          <p:nvPr/>
        </p:nvSpPr>
        <p:spPr>
          <a:xfrm>
            <a:off x="4379976" y="4326128"/>
            <a:ext cx="3666744" cy="457200"/>
          </a:xfrm>
          <a:prstGeom prst="roundRect">
            <a:avLst>
              <a:gd name="adj" fmla="val 100000"/>
            </a:avLst>
          </a:prstGeom>
          <a:solidFill>
            <a:srgbClr val="12407F"/>
          </a:solidFill>
          <a:ln w="12700">
            <a:solidFill>
              <a:srgbClr val="2F6FB5"/>
            </a:solidFill>
            <a:prstDash val="solid"/>
          </a:ln>
        </p:spPr>
      </p:sp>
      <p:pic>
        <p:nvPicPr>
          <p:cNvPr id="20" name="Image 4" descr="preencoded.png">    </p:cNvPr>
          <p:cNvPicPr>
            <a:picLocks noChangeAspect="1"/>
          </p:cNvPicPr>
          <p:nvPr/>
        </p:nvPicPr>
        <p:blipFill>
          <a:blip r:embed="rId8"/>
          <a:stretch>
            <a:fillRect/>
          </a:stretch>
        </p:blipFill>
        <p:spPr>
          <a:xfrm>
            <a:off x="4526280" y="4426712"/>
            <a:ext cx="256032" cy="256032"/>
          </a:xfrm>
          <a:prstGeom prst="rect">
            <a:avLst/>
          </a:prstGeom>
        </p:spPr>
      </p:pic>
      <p:sp>
        <p:nvSpPr>
          <p:cNvPr id="21" name="Text 14"/>
          <p:cNvSpPr txBox="1"/>
          <p:nvPr/>
        </p:nvSpPr>
        <p:spPr>
          <a:xfrm>
            <a:off x="4882896"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jembatan-python-java.md" history="1" highlightClick="0" endSnd="0">
                  <a:extLst>
                    <a:ext uri="{A12FA001-AC4F-418D-AE19-62706E023703}">
                      <ahyp:hlinkClr xmlns:ahyp="http://schemas.microsoft.com/office/drawing/2018/hyperlinkcolor" val="tx"/>
                    </a:ext>
                  </a:extLst>
                </a:hlinkClick>
              </a:rPr>
              <a:t>Jembatan Python ↔ Java</a:t>
            </a:r>
            <a:endParaRPr lang="id-ID" sz="1600" dirty="0"/>
          </a:p>
        </p:txBody>
      </p:sp>
      <p:sp>
        <p:nvSpPr>
          <p:cNvPr id="22" name="Shape 15"/>
          <p:cNvSpPr/>
          <p:nvPr/>
        </p:nvSpPr>
        <p:spPr>
          <a:xfrm>
            <a:off x="548640" y="4911344"/>
            <a:ext cx="3666744" cy="457200"/>
          </a:xfrm>
          <a:prstGeom prst="roundRect">
            <a:avLst>
              <a:gd name="adj" fmla="val 100000"/>
            </a:avLst>
          </a:prstGeom>
          <a:solidFill>
            <a:srgbClr val="12407F"/>
          </a:solidFill>
          <a:ln w="12700">
            <a:solidFill>
              <a:srgbClr val="2F6FB5"/>
            </a:solidFill>
            <a:prstDash val="solid"/>
          </a:ln>
        </p:spPr>
      </p:sp>
      <p:pic>
        <p:nvPicPr>
          <p:cNvPr id="23" name="Image 5" descr="preencoded.png">    </p:cNvPr>
          <p:cNvPicPr>
            <a:picLocks noChangeAspect="1"/>
          </p:cNvPicPr>
          <p:nvPr/>
        </p:nvPicPr>
        <p:blipFill>
          <a:blip r:embed="rId10"/>
          <a:stretch>
            <a:fillRect/>
          </a:stretch>
        </p:blipFill>
        <p:spPr>
          <a:xfrm>
            <a:off x="694944" y="5011928"/>
            <a:ext cx="256032" cy="256032"/>
          </a:xfrm>
          <a:prstGeom prst="rect">
            <a:avLst/>
          </a:prstGeom>
        </p:spPr>
      </p:pic>
      <p:sp>
        <p:nvSpPr>
          <p:cNvPr id="24" name="Text 16"/>
          <p:cNvSpPr txBox="1"/>
          <p:nvPr/>
        </p:nvSpPr>
        <p:spPr>
          <a:xfrm>
            <a:off x="1051560"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latihan.md" history="1" highlightClick="0" endSnd="0">
                  <a:extLst>
                    <a:ext uri="{A12FA001-AC4F-418D-AE19-62706E023703}">
                      <ahyp:hlinkClr xmlns:ahyp="http://schemas.microsoft.com/office/drawing/2018/hyperlinkcolor" val="tx"/>
                    </a:ext>
                  </a:extLst>
                </a:hlinkClick>
              </a:rPr>
              <a:t>Latihan</a:t>
            </a:r>
            <a:endParaRPr lang="id-ID" sz="1600" dirty="0"/>
          </a:p>
        </p:txBody>
      </p:sp>
      <p:sp>
        <p:nvSpPr>
          <p:cNvPr id="25" name="Shape 17"/>
          <p:cNvSpPr/>
          <p:nvPr/>
        </p:nvSpPr>
        <p:spPr>
          <a:xfrm>
            <a:off x="4379976" y="4911344"/>
            <a:ext cx="3666744" cy="457200"/>
          </a:xfrm>
          <a:prstGeom prst="roundRect">
            <a:avLst>
              <a:gd name="adj" fmla="val 100000"/>
            </a:avLst>
          </a:prstGeom>
          <a:solidFill>
            <a:srgbClr val="12407F"/>
          </a:solidFill>
          <a:ln w="12700">
            <a:solidFill>
              <a:srgbClr val="2F6FB5"/>
            </a:solidFill>
            <a:prstDash val="solid"/>
          </a:ln>
        </p:spPr>
      </p:sp>
      <p:pic>
        <p:nvPicPr>
          <p:cNvPr id="26" name="Image 6" descr="preencoded.png">    </p:cNvPr>
          <p:cNvPicPr>
            <a:picLocks noChangeAspect="1"/>
          </p:cNvPicPr>
          <p:nvPr/>
        </p:nvPicPr>
        <p:blipFill>
          <a:blip r:embed="rId12"/>
          <a:stretch>
            <a:fillRect/>
          </a:stretch>
        </p:blipFill>
        <p:spPr>
          <a:xfrm>
            <a:off x="4526280" y="5011928"/>
            <a:ext cx="256032" cy="256032"/>
          </a:xfrm>
          <a:prstGeom prst="rect">
            <a:avLst/>
          </a:prstGeom>
        </p:spPr>
      </p:pic>
      <p:sp>
        <p:nvSpPr>
          <p:cNvPr id="27" name="Text 18"/>
          <p:cNvSpPr txBox="1"/>
          <p:nvPr/>
        </p:nvSpPr>
        <p:spPr>
          <a:xfrm>
            <a:off x="4882896"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3" invalidUrl="" action="" tgtFrame="" tooltip="kuis.md" history="1" highlightClick="0" endSnd="0">
                  <a:extLst>
                    <a:ext uri="{A12FA001-AC4F-418D-AE19-62706E023703}">
                      <ahyp:hlinkClr xmlns:ahyp="http://schemas.microsoft.com/office/drawing/2018/hyperlinkcolor" val="tx"/>
                    </a:ext>
                  </a:extLst>
                </a:hlinkClick>
              </a:rPr>
              <a:t>Kuis 10 soal</a:t>
            </a:r>
            <a:endParaRPr lang="id-ID" sz="1600" dirty="0"/>
          </a:p>
        </p:txBody>
      </p:sp>
      <p:sp>
        <p:nvSpPr>
          <p:cNvPr id="28" name="Shape 19"/>
          <p:cNvSpPr/>
          <p:nvPr/>
        </p:nvSpPr>
        <p:spPr>
          <a:xfrm>
            <a:off x="8503920" y="1280160"/>
            <a:ext cx="2880360" cy="2880360"/>
          </a:xfrm>
          <a:prstGeom prst="roundRect">
            <a:avLst>
              <a:gd name="adj" fmla="val 1411"/>
            </a:avLst>
          </a:prstGeom>
          <a:solidFill>
            <a:srgbClr val="FFFFFF"/>
          </a:solidFill>
          <a:ln/>
        </p:spPr>
      </p:sp>
      <p:pic>
        <p:nvPicPr>
          <p:cNvPr id="29" name="Image 7" descr="Kode QR menuju folder pertemuan di GitHub">    </p:cNvPr>
          <p:cNvPicPr>
            <a:picLocks noChangeAspect="1"/>
          </p:cNvPicPr>
          <p:nvPr/>
        </p:nvPicPr>
        <p:blipFill>
          <a:blip r:embed="rId14"/>
          <a:stretch>
            <a:fillRect/>
          </a:stretch>
        </p:blipFill>
        <p:spPr>
          <a:xfrm>
            <a:off x="8641080" y="1417320"/>
            <a:ext cx="2606040" cy="2606040"/>
          </a:xfrm>
          <a:prstGeom prst="rect">
            <a:avLst/>
          </a:prstGeom>
        </p:spPr>
      </p:pic>
      <p:sp>
        <p:nvSpPr>
          <p:cNvPr id="30" name="Text 20"/>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1" name="Text 21"/>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5"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github.com/antonprafanto/PBO2026/tree/master/Pertemuan-05-Relasi-Antarkelas</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05: Relasi Antarkelas</dc:title>
  <dc:subject>Pemrograman Berorientasi Objek 2026</dc:subject>
  <dc:creator>PBO 2026 UNMUL</dc:creator>
  <cp:lastModifiedBy>PBO 2026 UNMUL</cp:lastModifiedBy>
  <cp:revision>1</cp:revision>
  <dcterms:created xsi:type="dcterms:W3CDTF">2026-10-15T02:18:33Z</dcterms:created>
  <dcterms:modified xsi:type="dcterms:W3CDTF">2026-10-15T02:18:33Z</dcterms:modified>
</cp:coreProperties>
</file>