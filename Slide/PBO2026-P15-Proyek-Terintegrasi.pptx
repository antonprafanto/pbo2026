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e483015f-c705-4136-b745-1d021b3fc67a}">
          <p14:sldIdLst>
            <p14:sldId id="256"/>
            <p14:sldId id="257"/>
            <p14:sldId id="258"/>
            <p14:sldId id="259"/>
          </p14:sldIdLst>
        </p14:section>
        <p14:section name="Dari Latihan ke Aplikasi Nyata" id="{54e4f57f-c00e-8094-25a8-8e26a1f194fb}">
          <p14:sldIdLst>
            <p14:sldId id="260"/>
            <p14:sldId id="261"/>
            <p14:sldId id="262"/>
            <p14:sldId id="263"/>
          </p14:sldIdLst>
        </p14:section>
        <p14:section name="Arsitektur Berlapis dan Package" id="{25e49636-8067-5bb2-caaf-ea53b4f91520}">
          <p14:sldIdLst>
            <p14:sldId id="264"/>
            <p14:sldId id="265"/>
            <p14:sldId id="266"/>
            <p14:sldId id="267"/>
            <p14:sldId id="268"/>
          </p14:sldIdLst>
        </p14:section>
        <p14:section name="Menyimpan Data ke File" id="{162b8397-586f-d721-140b-fcc4bb90176e}">
          <p14:sldIdLst>
            <p14:sldId id="269"/>
            <p14:sldId id="270"/>
            <p14:sldId id="271"/>
            <p14:sldId id="272"/>
          </p14:sldIdLst>
        </p14:section>
        <p14:section name="Input Aman dan Unit Test" id="{abc1d9ac-2805-d18c-a16a-99914f76e244}">
          <p14:sldIdLst>
            <p14:sldId id="273"/>
            <p14:sldId id="274"/>
            <p14:sldId id="275"/>
            <p14:sldId id="276"/>
          </p14:sldIdLst>
        </p14:section>
        <p14:section name="Studi Kasus KedaiKita" id="{601e9f1e-4850-5275-bba1-46fb4dba7e31}">
          <p14:sldIdLst>
            <p14:sldId id="277"/>
            <p14:sldId id="278"/>
            <p14:sldId id="279"/>
            <p14:sldId id="280"/>
          </p14:sldIdLst>
        </p14:section>
        <p14:section name="Cek Pemahaman" id="{802379c8-a634-5566-a5b7-ba377e661b0e}">
          <p14:sldIdLst>
            <p14:sldId id="281"/>
            <p14:sldId id="282"/>
            <p14:sldId id="283"/>
            <p14:sldId id="284"/>
            <p14:sldId id="285"/>
          </p14:sldIdLst>
        </p14:section>
        <p14:section name="Penutup" id="{fcd10180-912f-e450-08e4-b58807bd53ac}">
          <p14:sldIdLst>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Selamat datang di Pertemuan 15. Selama empat belas pertemuan, kita membangun KedaiKita sepotong demi sepotong. Hari ini semua potongan itu dirakit menjadi aplikasi kasir sungguhan: kasir bisa mengetik pesanan, data tersimpan di </a:t>
            </a:r>
            <a:r>
              <a:rPr lang="id-ID" dirty="0" i="1"/>
              <a:t>file</a:t>
            </a:r>
            <a:r>
              <a:rPr lang="id-ID" dirty="0"/>
              <a:t> dan masih ada saat aplikasi dibuka lagi, kode tersusun rapi dalam lapisan dan </a:t>
            </a:r>
            <a:r>
              <a:rPr lang="id-ID" dirty="0" i="1"/>
              <a:t>package</a:t>
            </a:r>
            <a:r>
              <a:rPr lang="id-ID" dirty="0"/>
              <a:t>, dan kebenarannya diperiksa otomatis oleh </a:t>
            </a:r>
            <a:r>
              <a:rPr lang="id-ID" dirty="0" i="1"/>
              <a:t>unit test</a:t>
            </a:r>
            <a:r>
              <a:rPr lang="id-ID" dirty="0"/>
              <a:t>. Pertemuan ini juga menjadi titik awal proyek akhirmu. Semua materi, kode, latihan, kuis, dan spesifikasi proyek akhir ada di repositori GitHub mata kuliah, di folder Pertemuan-15-Proyek-Terintegrasi.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enam kemampuan yang kita kejar hari ini. Halaman konsep menyebut satu tujuan lagi, yaitu menunjukkan di mana konsep Pertemuan 02 sampai 14 dipakai dalam aplikasi final, lalu memakai pola yang sama untuk proyek akhir. Tujuan itu kita capai lewat studi kasus KedaiKita dan proyek akhir. Urutan belajarnya: konsep di </a:t>
            </a:r>
            <a:r>
              <a:rPr lang="id-ID" dirty="0" i="1"/>
              <a:t>slide</a:t>
            </a:r>
            <a:r>
              <a:rPr lang="id-ID" dirty="0"/>
              <a:t> ini, praktik di halaman Python atau Java, halaman Jembatan Python ↔ Java, latihan, kuis, lalu spesifikasi proyek akhir.</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Mari kita ingat bekal yang sudah ada. Di Pertemuan 14, KedaiKita mendapat empat pola desain: </a:t>
            </a:r>
            <a:r>
              <a:rPr lang="id-ID" dirty="0" i="1"/>
              <a:t>Singleton</a:t>
            </a:r>
            <a:r>
              <a:rPr lang="id-ID" dirty="0"/>
              <a:t> </a:t>
            </a:r>
            <a:r>
              <a:rPr lang="en-US" dirty="0">
                <a:latin typeface="Consolas"/>
              </a:rPr>
              <a:t>PengaturanKedai</a:t>
            </a:r>
            <a:r>
              <a:rPr lang="id-ID" dirty="0"/>
              <a:t>, </a:t>
            </a:r>
            <a:r>
              <a:rPr lang="id-ID" dirty="0" i="1"/>
              <a:t>Factory</a:t>
            </a:r>
            <a:r>
              <a:rPr lang="id-ID" dirty="0"/>
              <a:t> </a:t>
            </a:r>
            <a:r>
              <a:rPr lang="en-US" dirty="0">
                <a:latin typeface="Consolas"/>
              </a:rPr>
              <a:t>PembayaranFactory</a:t>
            </a:r>
            <a:r>
              <a:rPr lang="id-ID" dirty="0"/>
              <a:t>, </a:t>
            </a:r>
            <a:r>
              <a:rPr lang="id-ID" dirty="0" i="1"/>
              <a:t>Strategy</a:t>
            </a:r>
            <a:r>
              <a:rPr lang="id-ID" dirty="0"/>
              <a:t> kelas-kelas </a:t>
            </a:r>
            <a:r>
              <a:rPr lang="en-US" dirty="0">
                <a:latin typeface="Consolas"/>
              </a:rPr>
              <a:t>Diskon</a:t>
            </a:r>
            <a:r>
              <a:rPr lang="id-ID" dirty="0"/>
              <a:t>, dan </a:t>
            </a:r>
            <a:r>
              <a:rPr lang="id-ID" dirty="0" i="1"/>
              <a:t>Observer</a:t>
            </a:r>
            <a:r>
              <a:rPr lang="id-ID" dirty="0"/>
              <a:t> </a:t>
            </a:r>
            <a:r>
              <a:rPr lang="en-US" dirty="0">
                <a:latin typeface="Consolas"/>
              </a:rPr>
              <a:t>LayarDapur</a:t>
            </a:r>
            <a:r>
              <a:rPr lang="id-ID" dirty="0"/>
              <a:t> serta </a:t>
            </a:r>
            <a:r>
              <a:rPr lang="en-US" dirty="0">
                <a:latin typeface="Consolas"/>
              </a:rPr>
              <a:t>NotifikasiPelanggan</a:t>
            </a:r>
            <a:r>
              <a:rPr lang="id-ID" dirty="0"/>
              <a:t>. Di Pertemuan 13, kita memisahkan tanggung jawab dan menyuntikkan </a:t>
            </a:r>
            <a:r>
              <a:rPr lang="en-US" dirty="0">
                <a:latin typeface="Consolas"/>
              </a:rPr>
              <a:t>PenyimpananPesanan</a:t>
            </a:r>
            <a:r>
              <a:rPr lang="id-ID" dirty="0"/>
              <a:t> ke </a:t>
            </a:r>
            <a:r>
              <a:rPr lang="en-US" dirty="0">
                <a:latin typeface="Consolas"/>
              </a:rPr>
              <a:t>Kedai</a:t>
            </a:r>
            <a:r>
              <a:rPr lang="id-ID" dirty="0"/>
              <a:t>. Hari ini kita memetik hasilnya: menambah </a:t>
            </a:r>
            <a:r>
              <a:rPr lang="id-ID" dirty="0" i="1"/>
              <a:t>file</a:t>
            </a:r>
            <a:r>
              <a:rPr lang="id-ID" dirty="0"/>
              <a:t> dan menu teks hampir tidak mengubah kelas lama. Di Pertemuan 11, </a:t>
            </a:r>
            <a:r>
              <a:rPr lang="en-US" dirty="0">
                <a:latin typeface="Consolas"/>
              </a:rPr>
              <a:t>with</a:t>
            </a:r>
            <a:r>
              <a:rPr lang="id-ID" dirty="0"/>
              <a:t> dan </a:t>
            </a:r>
            <a:r>
              <a:rPr lang="id-ID" dirty="0" i="1"/>
              <a:t>try-with-resources</a:t>
            </a:r>
            <a:r>
              <a:rPr lang="id-ID" dirty="0"/>
              <a:t> baru kita intip; hari ini keduanya benar-benar dipakai. Diagram kelas dari Pertemuan 06 juga kembali menjadi langkah kedua membangun aplikasi.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alur kita hari ini. Kita mulai dari pertanyaan sederhana: apa bedanya program latihan dengan aplikasi yang dipakai orang setiap hari? Lalu kita bahas cara menata aplikasi dalam lapisan dan </a:t>
            </a:r>
            <a:r>
              <a:rPr lang="id-ID" dirty="0" i="1"/>
              <a:t>package</a:t>
            </a:r>
            <a:r>
              <a:rPr lang="id-ID" dirty="0"/>
              <a:t>, menyimpan data ke </a:t>
            </a:r>
            <a:r>
              <a:rPr lang="id-ID" dirty="0" i="1"/>
              <a:t>file</a:t>
            </a:r>
            <a:r>
              <a:rPr lang="id-ID" dirty="0"/>
              <a:t>, menangani </a:t>
            </a:r>
            <a:r>
              <a:rPr lang="id-ID" dirty="0" i="1"/>
              <a:t>input</a:t>
            </a:r>
            <a:r>
              <a:rPr lang="id-ID" dirty="0"/>
              <a:t> yang keliru, dan memeriksa kode secara otomatis. Di bagian akhir kita membedah KedaiKita versi final, lengkap dengan kode Python dan Java.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KedaiKita versi Pertemuan 14 diserahkan kepada pemilik kedai. Ia akan bertanya: menu baru ditambahkan di mana? Kenapa stok kembali penuh setiap kali aplikasi dibuka? Kasir mengetik pesanan di mana? Kalau programnya diubah, bagaimana saya tahu hitungan pajaknya masih benar? Semua pertanyaan itu wajar.</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Tabel ini merangkum jarak antara program latihan dan aplikasi nyata. Program latihan hanya perlu membuktikan sebuah konsep, misalnya bahwa polimorfisme bekerja. Aplikasi nyata harus dipakai orang setiap hari: datanya harus awet, masukannya bisa keliru, dan kebenarannya harus bisa diperiksa ulang setiap kali kode diubah. Setiap baris di kolom kanan akan kita jawab hari ini: </a:t>
            </a:r>
            <a:r>
              <a:rPr lang="id-ID" dirty="0" i="1"/>
              <a:t>file</a:t>
            </a:r>
            <a:r>
              <a:rPr lang="id-ID" dirty="0"/>
              <a:t>, validasi </a:t>
            </a:r>
            <a:r>
              <a:rPr lang="id-ID" dirty="0" i="1"/>
              <a:t>input</a:t>
            </a:r>
            <a:r>
              <a:rPr lang="id-ID" dirty="0"/>
              <a:t>, </a:t>
            </a:r>
            <a:r>
              <a:rPr lang="id-ID" dirty="0" i="1"/>
              <a:t>unit test</a:t>
            </a:r>
            <a:r>
              <a:rPr lang="id-ID" dirty="0"/>
              <a:t>, dan </a:t>
            </a:r>
            <a:r>
              <a:rPr lang="id-ID" dirty="0" i="1"/>
              <a:t>package</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Pemrogram tidak langsung mengetik kode. Langkah pertama adalah kebutuhan (</a:t>
            </a:r>
            <a:r>
              <a:rPr lang="id-ID" dirty="0" i="1"/>
              <a:t>requirements</a:t>
            </a:r>
            <a:r>
              <a:rPr lang="id-ID" dirty="0"/>
              <a:t>): daftar hal yang harus bisa dilakukan aplikasi, ditulis dengan bahasa pengguna. Langkah kedua adalah rancangan berupa diagram kelas UML: kelas apa saja, isinya apa, dan bagaimana hubungannya. Langkah ketiga adalah implementasi sedikit demi sedikit, dan setiap potongan langsung dicoba. Langkah keempat adalah pengujian. Proyek akhirmu memakai alur yang persis sama; spesifikasinya ada di </a:t>
            </a:r>
            <a:r>
              <a:rPr lang="id-ID" dirty="0" i="1"/>
              <a:t>file</a:t>
            </a:r>
            <a:r>
              <a:rPr lang="id-ID" dirty="0"/>
              <a:t> proyek-akhir.md.</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daftar kebutuhan KedaiKita versi hari ini. Kebutuhan fungsional menjawab pertanyaan aplikasi bisa melakukan apa. Kebutuhan nonfungsional menjawab seberapa baik aplikasi melakukannya: aman, tahan salah ketik, mudah diuji, dan sebagainya. Perhatikan kodenya, F1 sampai F5 dan N1 sampai N4; kita akan bertemu lagi dengan kebutuhan-kebutuhan ini saat membedah aplikasinya. Di tugas mandiri proyek akhir, kamu menulis tabel serupa untuk temamu sendiri: minimal enam kebutuhan fungsional dan tiga kebutuhan nonfungsional.</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KedaiKita kini terdiri atas lebih dari 20 </a:t>
            </a:r>
            <a:r>
              <a:rPr lang="id-ID" dirty="0" i="1"/>
              <a:t>file</a:t>
            </a:r>
            <a:r>
              <a:rPr lang="id-ID" dirty="0"/>
              <a:t>. Tanpa aturan penataan, kita akan kesulitan menemukan apa pun. Di bagian ini kita belajar dua cara menata: lapisan untuk membagi tugas, dan </a:t>
            </a:r>
            <a:r>
              <a:rPr lang="id-ID" dirty="0" i="1"/>
              <a:t>package</a:t>
            </a:r>
            <a:r>
              <a:rPr lang="id-ID" dirty="0"/>
              <a:t> untuk mengelompokkan </a:t>
            </a:r>
            <a:r>
              <a:rPr lang="id-ID" dirty="0" i="1"/>
              <a:t>file</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Coba perhatikan restoran yang ramai di dekat kampus. Pelayan mencatat pesanan, tetapi tidak memasak. Kepala dapur mengatur urutan masakan, tetapi tidak menerima tamu. Juru masak mengolah bahan sesuai resep, sedangkan gudang dan buku catatan menyimpan bahan dan riwayat penjualan. Setiap bagian punya tugas yang jelas dan tidak saling mencampuri. Inilah arsitektur berlapis (</a:t>
            </a:r>
            <a:r>
              <a:rPr lang="id-ID" dirty="0" i="1"/>
              <a:t>layered architecture</a:t>
            </a:r>
            <a:r>
              <a:rPr lang="id-ID" dirty="0"/>
              <a:t>): aplikasi disusun menjadi beberapa lapisan, setiap lapisan punya satu jenis tugas, dan ketergantungan antarlapisan dibuat searah.</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Baca tabel dari atas. Kasir berhadapan dengan </a:t>
            </a:r>
            <a:r>
              <a:rPr lang="en-US" dirty="0">
                <a:latin typeface="Consolas"/>
              </a:rPr>
              <a:t>AplikasiKasir</a:t>
            </a:r>
            <a:r>
              <a:rPr lang="id-ID" dirty="0"/>
              <a:t> di lapisan tampilan. </a:t>
            </a:r>
            <a:r>
              <a:rPr lang="en-US" dirty="0">
                <a:latin typeface="Consolas"/>
              </a:rPr>
              <a:t>AplikasiKasir</a:t>
            </a:r>
            <a:r>
              <a:rPr lang="id-ID" dirty="0"/>
              <a:t> memakai </a:t>
            </a:r>
            <a:r>
              <a:rPr lang="en-US" dirty="0">
                <a:latin typeface="Consolas"/>
              </a:rPr>
              <a:t>LayananKasir</a:t>
            </a:r>
            <a:r>
              <a:rPr lang="id-ID" dirty="0"/>
              <a:t>, dan </a:t>
            </a:r>
            <a:r>
              <a:rPr lang="en-US" dirty="0">
                <a:latin typeface="Consolas"/>
              </a:rPr>
              <a:t>LayananKasir</a:t>
            </a:r>
            <a:r>
              <a:rPr lang="id-ID" dirty="0"/>
              <a:t> memakai kelas-kelas model. Kelas </a:t>
            </a:r>
            <a:r>
              <a:rPr lang="en-US" dirty="0">
                <a:latin typeface="Consolas"/>
              </a:rPr>
              <a:t>Menu</a:t>
            </a:r>
            <a:r>
              <a:rPr lang="id-ID" dirty="0"/>
              <a:t> tidak pernah memanggil </a:t>
            </a:r>
            <a:r>
              <a:rPr lang="en-US" dirty="0">
                <a:latin typeface="Consolas"/>
              </a:rPr>
              <a:t>AplikasiKasir</a:t>
            </a:r>
            <a:r>
              <a:rPr lang="id-ID" dirty="0"/>
              <a:t>; ia bahkan tidak tahu kelas itu ada. Lapisan penyimpanan sedikit istimewa: ia mengenal kelas model karena tugasnya menerjemahkan baris CSV menjadi objek </a:t>
            </a:r>
            <a:r>
              <a:rPr lang="en-US" dirty="0">
                <a:latin typeface="Consolas"/>
              </a:rPr>
              <a:t>Makanan</a:t>
            </a:r>
            <a:r>
              <a:rPr lang="id-ID" dirty="0"/>
              <a:t> atau </a:t>
            </a:r>
            <a:r>
              <a:rPr lang="en-US" dirty="0">
                <a:latin typeface="Consolas"/>
              </a:rPr>
              <a:t>Minuman</a:t>
            </a:r>
            <a:r>
              <a:rPr lang="id-ID" dirty="0"/>
              <a:t>. Yang dijaga adalah arah kebalikannya: kelas model tidak pernah meng-</a:t>
            </a:r>
            <a:r>
              <a:rPr lang="id-ID" dirty="0" i="1"/>
              <a:t>import</a:t>
            </a:r>
            <a:r>
              <a:rPr lang="id-ID" dirty="0"/>
              <a:t> kelas penyimpanan. Model hanya memberi tahu pencatat transaksi lewat pola </a:t>
            </a:r>
            <a:r>
              <a:rPr lang="id-ID" dirty="0" i="1"/>
              <a:t>Observer</a:t>
            </a:r>
            <a:r>
              <a:rPr lang="id-ID" dirty="0"/>
              <a:t>, yang kita bedah di studi kasus.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Tabel ini menjelaskan tugas setiap lapisan dan, yang sama pentingnya, hal yang tidak boleh dilakukannya. Manfaatnya nyata. Jika kelak KedaiKita dibuat versi web atau Android, cukup lapisan tampilan yang ditulis ulang. </a:t>
            </a:r>
            <a:r>
              <a:rPr lang="id-ID" dirty="0" i="1"/>
              <a:t>Unit test</a:t>
            </a:r>
            <a:r>
              <a:rPr lang="id-ID" dirty="0"/>
              <a:t> bisa langsung memanggil </a:t>
            </a:r>
            <a:r>
              <a:rPr lang="en-US" dirty="0">
                <a:latin typeface="Consolas"/>
              </a:rPr>
              <a:t>Pesanan</a:t>
            </a:r>
            <a:r>
              <a:rPr lang="id-ID" dirty="0"/>
              <a:t> atau </a:t>
            </a:r>
            <a:r>
              <a:rPr lang="en-US" dirty="0">
                <a:latin typeface="Consolas"/>
              </a:rPr>
              <a:t>LayananKasir</a:t>
            </a:r>
            <a:r>
              <a:rPr lang="id-ID" dirty="0"/>
              <a:t> tanpa ada orang yang mengetik. Ada salah hitung pajak? Lihat lapisan model. Namun, jangan berlebihan: program latihan 50 baris tidak perlu empat lapisan. Arsitektur ini mulai terasa manfaatnya ketika aplikasi punya banyak kelas, dipakai berulang kali, atau dikerjakan beberapa orang.</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Modul adalah satu </a:t>
            </a:r>
            <a:r>
              <a:rPr lang="id-ID" dirty="0" i="1"/>
              <a:t>file</a:t>
            </a:r>
            <a:r>
              <a:rPr lang="id-ID" dirty="0"/>
              <a:t> kode yang berisi kelas, fungsi, atau konstanta yang saling berkaitan. </a:t>
            </a:r>
            <a:r>
              <a:rPr lang="id-ID" dirty="0" i="1"/>
              <a:t>Package</a:t>
            </a:r>
            <a:r>
              <a:rPr lang="id-ID" dirty="0"/>
              <a:t> adalah folder yang mengelompokkan beberapa modul atau kelas, sekaligus memberi mereka nama keluarga bersama. Bayangkan dua mahasiswa bernama Budi di satu kelas: dosen membedakannya dengan nama lengkap, Budi Santoso dan Budi Prasetyo. Di Python, </a:t>
            </a:r>
            <a:r>
              <a:rPr lang="id-ID" dirty="0" i="1"/>
              <a:t>package</a:t>
            </a:r>
            <a:r>
              <a:rPr lang="id-ID" dirty="0"/>
              <a:t> ditentukan oleh folder. Di Java, </a:t>
            </a:r>
            <a:r>
              <a:rPr lang="id-ID" dirty="0" i="1"/>
              <a:t>package</a:t>
            </a:r>
            <a:r>
              <a:rPr lang="id-ID" dirty="0"/>
              <a:t> ditentukan oleh pernyataan </a:t>
            </a:r>
            <a:r>
              <a:rPr lang="en-US" dirty="0">
                <a:latin typeface="Consolas"/>
              </a:rPr>
              <a:t>package</a:t>
            </a:r>
            <a:r>
              <a:rPr lang="id-ID" dirty="0"/>
              <a:t> di dalam </a:t>
            </a:r>
            <a:r>
              <a:rPr lang="id-ID" dirty="0" i="1"/>
              <a:t>file</a:t>
            </a:r>
            <a:r>
              <a:rPr lang="id-ID" dirty="0"/>
              <a:t>, dan foldernya harus menyesuaikan. Ingat juga </a:t>
            </a:r>
            <a:r>
              <a:rPr lang="id-ID" dirty="0" i="1"/>
              <a:t>access modifier</a:t>
            </a:r>
            <a:r>
              <a:rPr lang="id-ID" dirty="0"/>
              <a:t> tanpa kata kunci dari Pertemuan 04: hanya bisa diakses dari </a:t>
            </a:r>
            <a:r>
              <a:rPr lang="id-ID" dirty="0" i="1"/>
              <a:t>package</a:t>
            </a:r>
            <a:r>
              <a:rPr lang="id-ID" dirty="0"/>
              <a:t> yang sama.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Objek tinggal di memori kerja. Memori kerja seperti papan tulis di kelas: cepat ditulis, tetapi dihapus setiap kali kuliah selesai. </a:t>
            </a:r>
            <a:r>
              <a:rPr lang="id-ID" dirty="0" i="1"/>
              <a:t>File</a:t>
            </a:r>
            <a:r>
              <a:rPr lang="id-ID" dirty="0"/>
              <a:t> di disk seperti buku catatan: isinya tetap ada walaupun kamu baru membukanya besok. Di bagian ini kita belajar menyimpan objek ke </a:t>
            </a:r>
            <a:r>
              <a:rPr lang="id-ID" dirty="0" i="1"/>
              <a:t>file</a:t>
            </a:r>
            <a:r>
              <a:rPr lang="id-ID" dirty="0"/>
              <a:t> dan memuatnya kembali dengan aman.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Persistensi punya dua pekerjaan utama: menyimpan dan memuat. Untuk formatnya, KedaiKita memakai CSV, singkatan dari </a:t>
            </a:r>
            <a:r>
              <a:rPr lang="id-ID" dirty="0" i="1"/>
              <a:t>comma-separated values</a:t>
            </a:r>
            <a:r>
              <a:rPr lang="id-ID" dirty="0"/>
              <a:t>: satu baris untuk satu data, kolom-kolomnya dipisahkan tanda tertentu, dan baris pertama berisi judul kolom, yaitu </a:t>
            </a:r>
            <a:r>
              <a:rPr lang="en-US" dirty="0">
                <a:latin typeface="Consolas"/>
              </a:rPr>
              <a:t>jenis;kode;nama;harga;stok;ekstra</a:t>
            </a:r>
            <a:r>
              <a:rPr lang="id-ID" dirty="0"/>
              <a:t>. Kolom </a:t>
            </a:r>
            <a:r>
              <a:rPr lang="en-US" dirty="0">
                <a:latin typeface="Consolas"/>
              </a:rPr>
              <a:t>jenis</a:t>
            </a:r>
            <a:r>
              <a:rPr lang="id-ID" dirty="0"/>
              <a:t> menentukan objek kelas mana yang dibuat, </a:t>
            </a:r>
            <a:r>
              <a:rPr lang="en-US" dirty="0">
                <a:latin typeface="Consolas"/>
              </a:rPr>
              <a:t>Makanan</a:t>
            </a:r>
            <a:r>
              <a:rPr lang="id-ID" dirty="0"/>
              <a:t> atau </a:t>
            </a:r>
            <a:r>
              <a:rPr lang="en-US" dirty="0">
                <a:latin typeface="Consolas"/>
              </a:rPr>
              <a:t>Minuman</a:t>
            </a:r>
            <a:r>
              <a:rPr lang="id-ID" dirty="0"/>
              <a:t>, sehingga pewarisan ikut berperan. Kolom </a:t>
            </a:r>
            <a:r>
              <a:rPr lang="en-US" dirty="0">
                <a:latin typeface="Consolas"/>
              </a:rPr>
              <a:t>ekstra</a:t>
            </a:r>
            <a:r>
              <a:rPr lang="id-ID" dirty="0"/>
              <a:t> berisi level pedas untuk makanan, atau </a:t>
            </a:r>
            <a:r>
              <a:rPr lang="en-US" dirty="0">
                <a:latin typeface="Consolas"/>
              </a:rPr>
              <a:t>dingin</a:t>
            </a:r>
            <a:r>
              <a:rPr lang="id-ID" dirty="0"/>
              <a:t> dan </a:t>
            </a:r>
            <a:r>
              <a:rPr lang="en-US" dirty="0">
                <a:latin typeface="Consolas"/>
              </a:rPr>
              <a:t>panas</a:t>
            </a:r>
            <a:r>
              <a:rPr lang="id-ID" dirty="0"/>
              <a:t> untuk minuman. Formatnya sederhana, mudah diperiksa dengan mata, dan bisa dibuka di Excel atau Google Sheets.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Namanya memang </a:t>
            </a:r>
            <a:r>
              <a:rPr lang="id-ID" dirty="0" i="1"/>
              <a:t>comma-separated</a:t>
            </a:r>
            <a:r>
              <a:rPr lang="id-ID" dirty="0"/>
              <a:t>, tetapi KedaiKita memakai titik koma. Isi kolom sering mengandung koma, misalnya alamat Samarinda, Kalimantan Timur; jika pemisahnya koma, satu kolom akan terbelah dua. Di pengaturan wilayah Indonesia, koma dipakai sebagai pemisah desimal. Versi Java memecah baris dengan </a:t>
            </a:r>
            <a:r>
              <a:rPr lang="en-US" dirty="0">
                <a:latin typeface="Consolas"/>
              </a:rPr>
              <a:t>split</a:t>
            </a:r>
            <a:r>
              <a:rPr lang="id-ID" dirty="0"/>
              <a:t> sederhana sehingga isi kolom tidak boleh memuat titik koma. </a:t>
            </a:r>
            <a:r>
              <a:rPr lang="id-ID" dirty="0" i="1"/>
              <a:t>File</a:t>
            </a:r>
            <a:r>
              <a:rPr lang="id-ID" dirty="0"/>
              <a:t> yang dibuka juga wajib ditutup lagi; jika terjadi </a:t>
            </a:r>
            <a:r>
              <a:rPr lang="id-ID" dirty="0" i="1"/>
              <a:t>exception</a:t>
            </a:r>
            <a:r>
              <a:rPr lang="id-ID" dirty="0"/>
              <a:t> di tengah jalan, perintah tutup bisa terlewat. Karena itu kita memakai </a:t>
            </a:r>
            <a:r>
              <a:rPr lang="en-US" dirty="0">
                <a:latin typeface="Consolas"/>
              </a:rPr>
              <a:t>with</a:t>
            </a:r>
            <a:r>
              <a:rPr lang="id-ID" dirty="0"/>
              <a:t> dan </a:t>
            </a:r>
            <a:r>
              <a:rPr lang="id-ID" dirty="0" i="1"/>
              <a:t>try-with-resources</a:t>
            </a:r>
            <a:r>
              <a:rPr lang="id-ID" dirty="0"/>
              <a:t>. Contohnya ada di contoh 03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i="1"/>
              <a:t>File</a:t>
            </a:r>
            <a:r>
              <a:rPr lang="id-ID" dirty="0"/>
              <a:t> bisa saja rusak: diedit manual lalu salah ketik, terpotong, atau disimpan dengan format lain. Aplikasi yang baik tidak berhenti dengan pesan </a:t>
            </a:r>
            <a:r>
              <a:rPr lang="id-ID" dirty="0" i="1"/>
              <a:t>error</a:t>
            </a:r>
            <a:r>
              <a:rPr lang="id-ID" dirty="0"/>
              <a:t> yang membingungkan. Ia melaporkan masalahnya dengan bahasa manusia, lengkap dengan nomor barisnya. Perhatikan baris terakhir: aturan harga harus lebih dari 0 tidak ditulis ulang di bagian penyimpanan. Aturan itu milik kelas </a:t>
            </a:r>
            <a:r>
              <a:rPr lang="en-US" dirty="0">
                <a:latin typeface="Consolas"/>
              </a:rPr>
              <a:t>Menu</a:t>
            </a:r>
            <a:r>
              <a:rPr lang="id-ID" dirty="0"/>
              <a:t> sejak Pertemuan 04. Bagian penyimpanan cukup membuat objek </a:t>
            </a:r>
            <a:r>
              <a:rPr lang="en-US" dirty="0">
                <a:latin typeface="Consolas"/>
              </a:rPr>
              <a:t>Menu</a:t>
            </a:r>
            <a:r>
              <a:rPr lang="id-ID" dirty="0"/>
              <a:t> dan meneruskan penolakannya dengan tambahan nomor baris.</a:t>
            </a:r>
            <a:endParaRPr lang="id-ID" dirty="0"/>
          </a:p>
          <a:p>
            <a:r>
              <a:rPr lang="id-ID" dirty="0"/>
              <a:t>Pertanyaan untuk kelas: mengapa nomor baris penting bagi pemilik kedai? Karena ia langsung tahu baris mana yang harus diperbaiki.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Dua kebutuhan nonfungsional kita, N1 dan N3, dijawab di bagian ini. Pertama, aplikasi harus sabar terhadap pengguna yang salah ketik. Kedua, kebenaran perhitungan harus bisa diperiksa ulang oleh komputer setiap kali kode berubah.</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petugas loket pendaftaran wisuda. Jika formulirmu salah isi, ia tidak merobeknya lalu menutup loket. Ia menunjuk bagian yang salah, menjelaskan kesalahannya, lalu memintamu memperbaiki. Aturan emasnya: anggap setiap </a:t>
            </a:r>
            <a:r>
              <a:rPr lang="id-ID" dirty="0" i="1"/>
              <a:t>input</a:t>
            </a:r>
            <a:r>
              <a:rPr lang="id-ID" dirty="0"/>
              <a:t> bisa salah. Pesan </a:t>
            </a:r>
            <a:r>
              <a:rPr lang="id-ID" dirty="0" i="1"/>
              <a:t>error</a:t>
            </a:r>
            <a:r>
              <a:rPr lang="id-ID" dirty="0"/>
              <a:t> untuk pengguna harus menjelaskan apa yang salah dan apa yang harus dilakukan. Bandingkan </a:t>
            </a:r>
            <a:r>
              <a:rPr lang="en-US" dirty="0">
                <a:latin typeface="Consolas"/>
              </a:rPr>
              <a:t>ValueError: invalid literal for int() with base 10: 'dua'</a:t>
            </a:r>
            <a:r>
              <a:rPr lang="id-ID" dirty="0"/>
              <a:t> dengan pesan di tabel; kasir kedai tidak perlu tahu apa itu </a:t>
            </a:r>
            <a:r>
              <a:rPr lang="en-US" dirty="0">
                <a:latin typeface="Consolas"/>
              </a:rPr>
              <a:t>ValueError</a:t>
            </a:r>
            <a:r>
              <a:rPr lang="id-ID" dirty="0"/>
              <a:t>. Saat </a:t>
            </a:r>
            <a:r>
              <a:rPr lang="id-ID" dirty="0" i="1"/>
              <a:t>input</a:t>
            </a:r>
            <a:r>
              <a:rPr lang="id-ID" dirty="0"/>
              <a:t> habis, Python melempar </a:t>
            </a:r>
            <a:r>
              <a:rPr lang="en-US" dirty="0">
                <a:latin typeface="Consolas"/>
              </a:rPr>
              <a:t>EOFError</a:t>
            </a:r>
            <a:r>
              <a:rPr lang="id-ID" dirty="0"/>
              <a:t>, sedangkan </a:t>
            </a:r>
            <a:r>
              <a:rPr lang="en-US" dirty="0">
                <a:latin typeface="Consolas"/>
              </a:rPr>
              <a:t>Scanner</a:t>
            </a:r>
            <a:r>
              <a:rPr lang="id-ID" dirty="0"/>
              <a:t> Java melempar </a:t>
            </a:r>
            <a:r>
              <a:rPr lang="en-US" dirty="0">
                <a:latin typeface="Consolas"/>
              </a:rPr>
              <a:t>NoSuchElementException</a:t>
            </a:r>
            <a:r>
              <a:rPr lang="id-ID" dirty="0"/>
              <a:t>. Di Windows, akhir </a:t>
            </a:r>
            <a:r>
              <a:rPr lang="id-ID" dirty="0" i="1"/>
              <a:t>input</a:t>
            </a:r>
            <a:r>
              <a:rPr lang="id-ID" dirty="0"/>
              <a:t> ditandai Ctrl+Z lalu Enter.</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Setiap kali kode diubah, bagaimana kamu tahu bagian lain tidak ikut rusak? Kesalahan lama yang muncul kembali setelah kode diubah disebut regresi. Pabrik motor tidak menunggu pembeli mengeluh soal rem blong; setiap motor diuji di jalur pemeriksaan dengan daftar periksa yang sama. Pemrogram melakukan hal serupa dengan </a:t>
            </a:r>
            <a:r>
              <a:rPr lang="id-ID" dirty="0" i="1"/>
              <a:t>unit test</a:t>
            </a:r>
            <a:r>
              <a:rPr lang="id-ID" dirty="0"/>
              <a:t>. Kasus batas paling sering menyembunyikan </a:t>
            </a:r>
            <a:r>
              <a:rPr lang="id-ID" dirty="0" i="1"/>
              <a:t>bug</a:t>
            </a:r>
            <a:r>
              <a:rPr lang="id-ID" dirty="0"/>
              <a:t>: aturan gratis ongkir untuk belanja minimal Rp100.000 mudah keliru ditulis sebagai lebih dari 100000, dan hanya </a:t>
            </a:r>
            <a:r>
              <a:rPr lang="id-ID" dirty="0" i="1"/>
              <a:t>test</a:t>
            </a:r>
            <a:r>
              <a:rPr lang="id-ID" dirty="0"/>
              <a:t> dengan belanja tepat Rp100.000 yang menangkapnya. Ingat juga: </a:t>
            </a:r>
            <a:r>
              <a:rPr lang="id-ID" dirty="0" i="1"/>
              <a:t>test</a:t>
            </a:r>
            <a:r>
              <a:rPr lang="id-ID" dirty="0"/>
              <a:t> yang lulus semua tidak membuktikan program bebas </a:t>
            </a:r>
            <a:r>
              <a:rPr lang="id-ID" dirty="0" i="1"/>
              <a:t>bug</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Kiri adalah </a:t>
            </a:r>
            <a:r>
              <a:rPr lang="en-US" dirty="0">
                <a:latin typeface="Consolas"/>
              </a:rPr>
              <a:t>unittest</a:t>
            </a:r>
            <a:r>
              <a:rPr lang="id-ID" dirty="0"/>
              <a:t> bawaan Python: </a:t>
            </a:r>
            <a:r>
              <a:rPr lang="en-US" dirty="0">
                <a:latin typeface="Consolas"/>
              </a:rPr>
              <a:t>setUp()</a:t>
            </a:r>
            <a:r>
              <a:rPr lang="id-ID" dirty="0"/>
              <a:t> dijalankan ulang sebelum setiap </a:t>
            </a:r>
            <a:r>
              <a:rPr lang="id-ID" dirty="0" i="1"/>
              <a:t>test</a:t>
            </a:r>
            <a:r>
              <a:rPr lang="id-ID" dirty="0"/>
              <a:t> sehingga setiap </a:t>
            </a:r>
            <a:r>
              <a:rPr lang="id-ID" dirty="0" i="1"/>
              <a:t>test</a:t>
            </a:r>
            <a:r>
              <a:rPr lang="id-ID" dirty="0"/>
              <a:t> mulai dari nol, dan </a:t>
            </a:r>
            <a:r>
              <a:rPr lang="en-US" dirty="0">
                <a:latin typeface="Consolas"/>
              </a:rPr>
              <a:t>assertEqual(hasil, harapan)</a:t>
            </a:r>
            <a:r>
              <a:rPr lang="id-ID" dirty="0"/>
              <a:t> adalah </a:t>
            </a:r>
            <a:r>
              <a:rPr lang="id-ID" dirty="0" i="1"/>
              <a:t>assertion</a:t>
            </a:r>
            <a:r>
              <a:rPr lang="id-ID" dirty="0"/>
              <a:t>-nya. Kanan adalah </a:t>
            </a:r>
            <a:r>
              <a:rPr lang="id-ID" dirty="0" i="1"/>
              <a:t>runner</a:t>
            </a:r>
            <a:r>
              <a:rPr lang="id-ID" dirty="0"/>
              <a:t> mini buatan kita karena pustaka JUnit tidak ikut di JDK: </a:t>
            </a:r>
            <a:r>
              <a:rPr lang="en-US" dirty="0">
                <a:latin typeface="Consolas"/>
              </a:rPr>
              <a:t>siapkanPesanan()</a:t>
            </a:r>
            <a:r>
              <a:rPr lang="id-ID" dirty="0"/>
              <a:t> berperan seperti </a:t>
            </a:r>
            <a:r>
              <a:rPr lang="en-US" dirty="0">
                <a:latin typeface="Consolas"/>
              </a:rPr>
              <a:t>setUp()</a:t>
            </a:r>
            <a:r>
              <a:rPr lang="id-ID" dirty="0"/>
              <a:t>, dan setiap uji mengembalikan </a:t>
            </a:r>
            <a:r>
              <a:rPr lang="en-US" dirty="0">
                <a:latin typeface="Consolas"/>
              </a:rPr>
              <a:t>true</a:t>
            </a:r>
            <a:r>
              <a:rPr lang="id-ID" dirty="0"/>
              <a:t> jika lulus. Subtotalnya Rp61.000, dan total Rp67.100 adalah subtotal ditambah pajak 10% sebesar Rp6.100. KedaiKita punya 16 </a:t>
            </a:r>
            <a:r>
              <a:rPr lang="id-ID" dirty="0" i="1"/>
              <a:t>test</a:t>
            </a:r>
            <a:r>
              <a:rPr lang="id-ID" dirty="0"/>
              <a:t> untuk </a:t>
            </a:r>
            <a:r>
              <a:rPr lang="en-US" dirty="0">
                <a:latin typeface="Consolas"/>
              </a:rPr>
              <a:t>Menu</a:t>
            </a:r>
            <a:r>
              <a:rPr lang="id-ID" dirty="0"/>
              <a:t>, </a:t>
            </a:r>
            <a:r>
              <a:rPr lang="en-US" dirty="0">
                <a:latin typeface="Consolas"/>
              </a:rPr>
              <a:t>Pesanan</a:t>
            </a:r>
            <a:r>
              <a:rPr lang="id-ID" dirty="0"/>
              <a:t>, </a:t>
            </a:r>
            <a:r>
              <a:rPr lang="en-US" dirty="0">
                <a:latin typeface="Consolas"/>
              </a:rPr>
              <a:t>PembayaranFactory</a:t>
            </a:r>
            <a:r>
              <a:rPr lang="id-ID" dirty="0"/>
              <a:t>, dan </a:t>
            </a:r>
            <a:r>
              <a:rPr lang="en-US" dirty="0">
                <a:latin typeface="Consolas"/>
              </a:rPr>
              <a:t>RepositoriMenuCSV</a:t>
            </a:r>
            <a:r>
              <a:rPr lang="id-ID" dirty="0"/>
              <a:t>. Jalankan dari folder </a:t>
            </a:r>
            <a:r>
              <a:rPr lang="en-US" dirty="0">
                <a:latin typeface="Consolas"/>
              </a:rPr>
              <a:t>studi-kasus</a:t>
            </a:r>
            <a:r>
              <a:rPr lang="id-ID" dirty="0"/>
              <a:t> dengan </a:t>
            </a:r>
            <a:r>
              <a:rPr lang="en-US" dirty="0">
                <a:latin typeface="Consolas"/>
              </a:rPr>
              <a:t>python -m unittest discover -s tests -v</a:t>
            </a:r>
            <a:r>
              <a:rPr lang="id-ID" dirty="0"/>
              <a:t>, atau skrip </a:t>
            </a:r>
            <a:r>
              <a:rPr lang="en-US" dirty="0">
                <a:latin typeface="Consolas"/>
              </a:rPr>
              <a:t>uji</a:t>
            </a:r>
            <a:r>
              <a:rPr lang="id-ID" dirty="0"/>
              <a:t> di versi Java.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Kini kita membedah KedaiKita versi final. Kelas-kelas lama seperti </a:t>
            </a:r>
            <a:r>
              <a:rPr lang="en-US" dirty="0">
                <a:latin typeface="Consolas"/>
              </a:rPr>
              <a:t>Menu</a:t>
            </a:r>
            <a:r>
              <a:rPr lang="id-ID" dirty="0"/>
              <a:t>, </a:t>
            </a:r>
            <a:r>
              <a:rPr lang="en-US" dirty="0">
                <a:latin typeface="Consolas"/>
              </a:rPr>
              <a:t>Pesanan</a:t>
            </a:r>
            <a:r>
              <a:rPr lang="id-ID" dirty="0"/>
              <a:t>, dan </a:t>
            </a:r>
            <a:r>
              <a:rPr lang="en-US" dirty="0">
                <a:latin typeface="Consolas"/>
              </a:rPr>
              <a:t>Pembayaran</a:t>
            </a:r>
            <a:r>
              <a:rPr lang="id-ID" dirty="0"/>
              <a:t> tidak berubah perilakunya; perubahannya praktis hanya baris </a:t>
            </a:r>
            <a:r>
              <a:rPr lang="en-US" dirty="0">
                <a:latin typeface="Consolas"/>
              </a:rPr>
              <a:t>import</a:t>
            </a:r>
            <a:r>
              <a:rPr lang="id-ID" dirty="0"/>
              <a:t> di Python atau tambahan baris </a:t>
            </a:r>
            <a:r>
              <a:rPr lang="en-US" dirty="0">
                <a:latin typeface="Consolas"/>
              </a:rPr>
              <a:t>package</a:t>
            </a:r>
            <a:r>
              <a:rPr lang="id-ID" dirty="0"/>
              <a:t> di Java. Menu dibaca dari </a:t>
            </a:r>
            <a:r>
              <a:rPr lang="en-US" dirty="0">
                <a:latin typeface="Consolas"/>
              </a:rPr>
              <a:t>data/menu_awal.csv</a:t>
            </a:r>
            <a:r>
              <a:rPr lang="id-ID" dirty="0"/>
              <a:t>, dan menunya bertambah satu: M06 Kopi Tubruk, Rp12.000, disajikan panas.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Diagram ini menunjukkan kelas-kelas baru dan hubungannya. </a:t>
            </a:r>
            <a:r>
              <a:rPr lang="en-US" dirty="0">
                <a:latin typeface="Consolas"/>
              </a:rPr>
              <a:t>AplikasiKasir</a:t>
            </a:r>
            <a:r>
              <a:rPr lang="id-ID" dirty="0"/>
              <a:t> di lapisan tampilan memakai </a:t>
            </a:r>
            <a:r>
              <a:rPr lang="en-US" dirty="0">
                <a:latin typeface="Consolas"/>
              </a:rPr>
              <a:t>LayananKasir</a:t>
            </a:r>
            <a:r>
              <a:rPr lang="id-ID" dirty="0"/>
              <a:t>, memuat dan menyimpan menu lewat </a:t>
            </a:r>
            <a:r>
              <a:rPr lang="en-US" dirty="0">
                <a:latin typeface="Consolas"/>
              </a:rPr>
              <a:t>RepositoriMenuCSV</a:t>
            </a:r>
            <a:r>
              <a:rPr lang="id-ID" dirty="0"/>
              <a:t>, dan membuat </a:t>
            </a:r>
            <a:r>
              <a:rPr lang="en-US" dirty="0">
                <a:latin typeface="Consolas"/>
              </a:rPr>
              <a:t>PencatatTransaksiCSV</a:t>
            </a:r>
            <a:r>
              <a:rPr lang="id-ID" dirty="0"/>
              <a:t>. </a:t>
            </a:r>
            <a:r>
              <a:rPr lang="en-US" dirty="0">
                <a:latin typeface="Consolas"/>
              </a:rPr>
              <a:t>LayananKasir</a:t>
            </a:r>
            <a:r>
              <a:rPr lang="id-ID" dirty="0"/>
              <a:t> mengelola </a:t>
            </a:r>
            <a:r>
              <a:rPr lang="en-US" dirty="0">
                <a:latin typeface="Consolas"/>
              </a:rPr>
              <a:t>Kedai</a:t>
            </a:r>
            <a:r>
              <a:rPr lang="id-ID" dirty="0"/>
              <a:t> dan memasang pengamat ke setiap pesanan. </a:t>
            </a:r>
            <a:r>
              <a:rPr lang="en-US" dirty="0">
                <a:latin typeface="Consolas"/>
              </a:rPr>
              <a:t>PencatatTransaksiCSV</a:t>
            </a:r>
            <a:r>
              <a:rPr lang="id-ID" dirty="0"/>
              <a:t> mengimplementasikan </a:t>
            </a:r>
            <a:r>
              <a:rPr lang="id-ID" dirty="0" i="1"/>
              <a:t>interface</a:t>
            </a:r>
            <a:r>
              <a:rPr lang="id-ID" dirty="0"/>
              <a:t> </a:t>
            </a:r>
            <a:r>
              <a:rPr lang="en-US" dirty="0">
                <a:latin typeface="Consolas"/>
              </a:rPr>
              <a:t>PengamatPesanan</a:t>
            </a:r>
            <a:r>
              <a:rPr lang="id-ID" dirty="0"/>
              <a:t> dari Pertemuan 14. </a:t>
            </a:r>
            <a:r>
              <a:rPr lang="en-US" dirty="0">
                <a:latin typeface="Consolas"/>
              </a:rPr>
              <a:t>RepositoriMenuCSV</a:t>
            </a:r>
            <a:r>
              <a:rPr lang="id-ID" dirty="0"/>
              <a:t> membuat objek </a:t>
            </a:r>
            <a:r>
              <a:rPr lang="en-US" dirty="0">
                <a:latin typeface="Consolas"/>
              </a:rPr>
              <a:t>Makanan</a:t>
            </a:r>
            <a:r>
              <a:rPr lang="id-ID" dirty="0"/>
              <a:t> dan </a:t>
            </a:r>
            <a:r>
              <a:rPr lang="en-US" dirty="0">
                <a:latin typeface="Consolas"/>
              </a:rPr>
              <a:t>Minuman</a:t>
            </a:r>
            <a:r>
              <a:rPr lang="id-ID" dirty="0"/>
              <a:t>, lalu melempar </a:t>
            </a:r>
            <a:r>
              <a:rPr lang="en-US" dirty="0">
                <a:latin typeface="Consolas"/>
              </a:rPr>
              <a:t>FormatDataError</a:t>
            </a:r>
            <a:r>
              <a:rPr lang="id-ID" dirty="0"/>
              <a:t>, turunan </a:t>
            </a:r>
            <a:r>
              <a:rPr lang="en-US" dirty="0">
                <a:latin typeface="Consolas"/>
              </a:rPr>
              <a:t>KedaiError</a:t>
            </a:r>
            <a:r>
              <a:rPr lang="id-ID" dirty="0"/>
              <a:t>, jika </a:t>
            </a:r>
            <a:r>
              <a:rPr lang="id-ID" dirty="0" i="1"/>
              <a:t>file</a:t>
            </a:r>
            <a:r>
              <a:rPr lang="id-ID" dirty="0"/>
              <a:t>-nya rusak. Di Java, kedua </a:t>
            </a:r>
            <a:r>
              <a:rPr lang="id-ID" dirty="0" i="1"/>
              <a:t>exception</a:t>
            </a:r>
            <a:r>
              <a:rPr lang="id-ID" dirty="0"/>
              <a:t> itu bernama </a:t>
            </a:r>
            <a:r>
              <a:rPr lang="en-US" dirty="0">
                <a:latin typeface="Consolas"/>
              </a:rPr>
              <a:t>FormatDataException</a:t>
            </a:r>
            <a:r>
              <a:rPr lang="id-ID" dirty="0"/>
              <a:t> dan </a:t>
            </a:r>
            <a:r>
              <a:rPr lang="en-US" dirty="0">
                <a:latin typeface="Consolas"/>
              </a:rPr>
              <a:t>KedaiException</a:t>
            </a:r>
            <a:r>
              <a:rPr lang="id-ID" dirty="0"/>
              <a:t>. Ada juga 16 </a:t>
            </a:r>
            <a:r>
              <a:rPr lang="id-ID" dirty="0" i="1"/>
              <a:t>unit test</a:t>
            </a:r>
            <a:r>
              <a:rPr lang="id-ID" dirty="0"/>
              <a:t> dan dua cara menjalankan: mode interaktif dan mode demo.</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Ingat pola </a:t>
            </a:r>
            <a:r>
              <a:rPr lang="id-ID" dirty="0" i="1"/>
              <a:t>Observer</a:t>
            </a:r>
            <a:r>
              <a:rPr lang="id-ID" dirty="0"/>
              <a:t> dari Pertemuan 14: </a:t>
            </a:r>
            <a:r>
              <a:rPr lang="en-US" dirty="0">
                <a:latin typeface="Consolas"/>
              </a:rPr>
              <a:t>Pesanan</a:t>
            </a:r>
            <a:r>
              <a:rPr lang="id-ID" dirty="0"/>
              <a:t> adalah subjek yang memberi tahu semua pengamatnya setiap kali statusnya berubah. Hari ini kita menambah satu pengamat baru. </a:t>
            </a:r>
            <a:r>
              <a:rPr lang="en-US" dirty="0">
                <a:latin typeface="Consolas"/>
              </a:rPr>
              <a:t>LayananKasir</a:t>
            </a:r>
            <a:r>
              <a:rPr lang="id-ID" dirty="0"/>
              <a:t> memasangnya ke setiap pesanan baru, dan </a:t>
            </a:r>
            <a:r>
              <a:rPr lang="en-US" dirty="0">
                <a:latin typeface="Consolas"/>
              </a:rPr>
              <a:t>perbarui()</a:t>
            </a:r>
            <a:r>
              <a:rPr lang="id-ID" dirty="0"/>
              <a:t> hanya peduli pada status LUNAS. Bagian yang dilompati menulis satu baris dengan mode tambah: </a:t>
            </a:r>
            <a:r>
              <a:rPr lang="en-US" dirty="0">
                <a:latin typeface="Consolas"/>
              </a:rPr>
              <a:t>open</a:t>
            </a:r>
            <a:r>
              <a:rPr lang="id-ID" dirty="0"/>
              <a:t> dengan mode </a:t>
            </a:r>
            <a:r>
              <a:rPr lang="en-US" dirty="0">
                <a:latin typeface="Consolas"/>
              </a:rPr>
              <a:t>"a"</a:t>
            </a:r>
            <a:r>
              <a:rPr lang="id-ID" dirty="0"/>
              <a:t> di Python, atau </a:t>
            </a:r>
            <a:r>
              <a:rPr lang="en-US" dirty="0">
                <a:latin typeface="Consolas"/>
              </a:rPr>
              <a:t>StandardOpenOption.APPEND</a:t>
            </a:r>
            <a:r>
              <a:rPr lang="id-ID" dirty="0"/>
              <a:t> di Java. Di Java, kelas ini menulis </a:t>
            </a:r>
            <a:r>
              <a:rPr lang="en-US" dirty="0">
                <a:latin typeface="Consolas"/>
              </a:rPr>
              <a:t>implements PengamatPesanan</a:t>
            </a:r>
            <a:r>
              <a:rPr lang="id-ID" dirty="0"/>
              <a:t>, dan </a:t>
            </a:r>
            <a:r>
              <a:rPr lang="en-US" dirty="0">
                <a:latin typeface="Consolas"/>
              </a:rPr>
              <a:t>IOException</a:t>
            </a:r>
            <a:r>
              <a:rPr lang="id-ID" dirty="0"/>
              <a:t> dibungkus menjadi </a:t>
            </a:r>
            <a:r>
              <a:rPr lang="en-US" dirty="0">
                <a:latin typeface="Consolas"/>
              </a:rPr>
              <a:t>UncheckedIOException</a:t>
            </a:r>
            <a:r>
              <a:rPr lang="id-ID" dirty="0"/>
              <a:t> karena </a:t>
            </a:r>
            <a:r>
              <a:rPr lang="en-US" dirty="0">
                <a:latin typeface="Consolas"/>
              </a:rPr>
              <a:t>perbarui()</a:t>
            </a:r>
            <a:r>
              <a:rPr lang="id-ID" dirty="0"/>
              <a:t> di </a:t>
            </a:r>
            <a:r>
              <a:rPr lang="id-ID" dirty="0" i="1"/>
              <a:t>interface</a:t>
            </a:r>
            <a:r>
              <a:rPr lang="id-ID" dirty="0"/>
              <a:t> tidak mendeklarasikan </a:t>
            </a:r>
            <a:r>
              <a:rPr lang="en-US" dirty="0">
                <a:latin typeface="Consolas"/>
              </a:rPr>
              <a:t>throws IOException</a:t>
            </a:r>
            <a:r>
              <a:rPr lang="id-ID" dirty="0"/>
              <a:t>. Inilah </a:t>
            </a:r>
            <a:r>
              <a:rPr lang="id-ID" dirty="0" i="1"/>
              <a:t>Open/Closed Principle</a:t>
            </a:r>
            <a:r>
              <a:rPr lang="id-ID" dirty="0"/>
              <a:t>: perilaku baru lewat kelas baru, bukan dengan membongkar kelas lama.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onsolas"/>
              </a:rPr>
              <a:t>main.py</a:t>
            </a:r>
            <a:r>
              <a:rPr lang="id-ID" dirty="0"/>
              <a:t> dan </a:t>
            </a:r>
            <a:r>
              <a:rPr lang="en-US" dirty="0">
                <a:latin typeface="Consolas"/>
              </a:rPr>
              <a:t>Main.java</a:t>
            </a:r>
            <a:r>
              <a:rPr lang="id-ID" dirty="0"/>
              <a:t> kini hanya memilih mode. Mode demo menjalankan tiga transaksi sendiri: Budi membayar tunai, Siti memakai diskon </a:t>
            </a:r>
            <a:r>
              <a:rPr lang="id-ID" dirty="0" i="1"/>
              <a:t>Happy Hour</a:t>
            </a:r>
            <a:r>
              <a:rPr lang="id-ID" dirty="0"/>
              <a:t> dan pembayaran QRIS-nya gagal sebelum beralih ke kartu kredit, lalu Rina salah memasukkan kode menu dan meminta porsi melebihi stok. Python menyusun lokasi folder data dari lokasi </a:t>
            </a:r>
            <a:r>
              <a:rPr lang="id-ID" dirty="0" i="1"/>
              <a:t>file</a:t>
            </a:r>
            <a:r>
              <a:rPr lang="id-ID" dirty="0"/>
              <a:t> </a:t>
            </a:r>
            <a:r>
              <a:rPr lang="en-US" dirty="0">
                <a:latin typeface="Consolas"/>
              </a:rPr>
              <a:t>main.py</a:t>
            </a:r>
            <a:r>
              <a:rPr lang="id-ID" dirty="0"/>
              <a:t>, sedangkan Java memakai </a:t>
            </a:r>
            <a:r>
              <a:rPr lang="en-US" dirty="0">
                <a:latin typeface="Consolas"/>
              </a:rPr>
              <a:t>Path.of("data")</a:t>
            </a:r>
            <a:r>
              <a:rPr lang="id-ID" dirty="0"/>
              <a:t> yang relatif terhadap folder kerja. </a:t>
            </a:r>
            <a:r>
              <a:rPr lang="id-ID" dirty="0" i="1"/>
              <a:t>File</a:t>
            </a:r>
            <a:r>
              <a:rPr lang="id-ID" dirty="0"/>
              <a:t> Java ini diawali </a:t>
            </a:r>
            <a:r>
              <a:rPr lang="en-US" dirty="0">
                <a:latin typeface="Consolas"/>
              </a:rPr>
              <a:t>package kedaikita;</a:t>
            </a:r>
            <a:r>
              <a:rPr lang="id-ID" dirty="0"/>
              <a:t>, dan </a:t>
            </a:r>
            <a:r>
              <a:rPr lang="en-US" dirty="0">
                <a:latin typeface="Consolas"/>
              </a:rPr>
              <a:t>AplikasiKasir</a:t>
            </a:r>
            <a:r>
              <a:rPr lang="id-ID" dirty="0"/>
              <a:t> dipakai tanpa </a:t>
            </a:r>
            <a:r>
              <a:rPr lang="en-US" dirty="0">
                <a:latin typeface="Consolas"/>
              </a:rPr>
              <a:t>import</a:t>
            </a:r>
            <a:r>
              <a:rPr lang="id-ID" dirty="0"/>
              <a:t> karena satu </a:t>
            </a:r>
            <a:r>
              <a:rPr lang="id-ID" dirty="0" i="1"/>
              <a:t>package</a:t>
            </a:r>
            <a:r>
              <a:rPr lang="id-ID" dirty="0"/>
              <a:t>. Jalankan </a:t>
            </a:r>
            <a:r>
              <a:rPr lang="en-US" dirty="0">
                <a:latin typeface="Consolas"/>
              </a:rPr>
              <a:t>python main.py --demo</a:t>
            </a:r>
            <a:r>
              <a:rPr lang="id-ID" dirty="0"/>
              <a:t>, atau </a:t>
            </a:r>
            <a:r>
              <a:rPr lang="en-US" dirty="0">
                <a:latin typeface="Consolas"/>
              </a:rPr>
              <a:t>.\jalankan.bat --demo</a:t>
            </a:r>
            <a:r>
              <a:rPr lang="id-ID" dirty="0"/>
              <a:t> dan </a:t>
            </a:r>
            <a:r>
              <a:rPr lang="en-US" dirty="0">
                <a:latin typeface="Consolas"/>
              </a:rPr>
              <a:t>bash jalankan.sh --demo</a:t>
            </a:r>
            <a:r>
              <a:rPr lang="id-ID" dirty="0"/>
              <a:t> di versi Java.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Ketiga anggapan keliru ini sering muncul saat pertama kali membangun aplikasi utuh. Ajak kelas menebak dulu: mengapa anggapan di kiri salah? Tiga miskonsepsi lain ada di bagian 10 halaman konsep: kalau programnya jalan di laptopku berarti sudah benar, data di </a:t>
            </a:r>
            <a:r>
              <a:rPr lang="id-ID" dirty="0" i="1"/>
              <a:t>file</a:t>
            </a:r>
            <a:r>
              <a:rPr lang="id-ID" dirty="0"/>
              <a:t> pasti benar karena kita sendiri yang menulisnya, dan </a:t>
            </a:r>
            <a:r>
              <a:rPr lang="id-ID" dirty="0" i="1"/>
              <a:t>unit test</a:t>
            </a:r>
            <a:r>
              <a:rPr lang="id-ID" dirty="0"/>
              <a:t> hanya membuang waktu. Untuk yang pertama, biasakan mencoba aplikasimu dengan masukan yang salah, </a:t>
            </a:r>
            <a:r>
              <a:rPr lang="id-ID" dirty="0" i="1"/>
              <a:t>file</a:t>
            </a:r>
            <a:r>
              <a:rPr lang="id-ID" dirty="0"/>
              <a:t> data yang rusak, dan dari folder hasil </a:t>
            </a:r>
            <a:r>
              <a:rPr lang="id-ID" dirty="0" i="1"/>
              <a:t>clone</a:t>
            </a:r>
            <a:r>
              <a:rPr lang="id-ID" dirty="0"/>
              <a:t> ulang.</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Beri waktu sekitar 30 detik, lalu minta mahasiswa mengangkat tangan sesuai pilihannya. Soal ini menguji aturan emas arsitektur berlapis: setiap lapisan punya satu jenis tugas. Karena </a:t>
            </a:r>
            <a:r>
              <a:rPr lang="en-US" dirty="0">
                <a:latin typeface="Consolas"/>
              </a:rPr>
              <a:t>LayananKasir</a:t>
            </a:r>
            <a:r>
              <a:rPr lang="id-ID" dirty="0"/>
              <a:t> tidak membaca </a:t>
            </a:r>
            <a:r>
              <a:rPr lang="id-ID" dirty="0" i="1"/>
              <a:t>keyboard</a:t>
            </a:r>
            <a:r>
              <a:rPr lang="id-ID" dirty="0"/>
              <a:t>, ia bisa dipakai tampilan lain dan mudah diuji. Jawaban dan pembahasannya ada di </a:t>
            </a:r>
            <a:r>
              <a:rPr lang="id-ID" dirty="0" i="1"/>
              <a:t>slide</a:t>
            </a:r>
            <a:r>
              <a:rPr lang="id-ID" dirty="0"/>
              <a:t> berikutnya. Kuis lengkap berisi 10 soal ada di </a:t>
            </a:r>
            <a:r>
              <a:rPr lang="id-ID" dirty="0" i="1"/>
              <a:t>file</a:t>
            </a:r>
            <a:r>
              <a:rPr lang="id-ID" dirty="0"/>
              <a:t> kuis.md pada folder pertemuan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D. Tanya jawab dengan pengguna (mencetak pertanyaan, membaca </a:t>
            </a:r>
            <a:r>
              <a:rPr lang="id-ID" dirty="0" i="1"/>
              <a:t>keyboard</a:t>
            </a:r>
            <a:r>
              <a:rPr lang="id-ID" dirty="0"/>
              <a:t>, memeriksa bentuk jawaban) adalah tugas lapisan tampilan. </a:t>
            </a:r>
            <a:r>
              <a:rPr lang="en-US" dirty="0">
                <a:latin typeface="Consolas"/>
              </a:rPr>
              <a:t>LayananKasir</a:t>
            </a:r>
            <a:r>
              <a:rPr lang="id-ID" dirty="0"/>
              <a:t> (C) mengatur alur kerja, tetapi menerima data yang sudah jadi dan tidak pernah membaca </a:t>
            </a:r>
            <a:r>
              <a:rPr lang="id-ID" dirty="0" i="1"/>
              <a:t>keyboard</a:t>
            </a:r>
            <a:r>
              <a:rPr lang="id-ID" dirty="0"/>
              <a:t>. Model (A) dan penyimpanan (B) sama sekali tidak boleh tahu ada </a:t>
            </a:r>
            <a:r>
              <a:rPr lang="id-ID" dirty="0" i="1"/>
              <a:t>keyboard</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menguji pemahaman tentang kasus batas. Sebelum membuka jawaban, minta mahasiswa membayangkan hasil kedua versi kode untuk setiap pilihan. Jawaban dan pembahasannya ada di </a:t>
            </a:r>
            <a:r>
              <a:rPr lang="id-ID" dirty="0" i="1"/>
              <a:t>slide</a:t>
            </a:r>
            <a:r>
              <a:rPr lang="id-ID" dirty="0"/>
              <a:t> berikutnya. Buktinya bisa dicoba di contoh 05 halaman praktik: </a:t>
            </a:r>
            <a:r>
              <a:rPr lang="en-US" dirty="0">
                <a:latin typeface="Consolas"/>
              </a:rPr>
              <a:t>KeranjangBelanja</a:t>
            </a:r>
            <a:r>
              <a:rPr lang="id-ID" dirty="0"/>
              <a:t> dan </a:t>
            </a:r>
            <a:r>
              <a:rPr lang="en-US" dirty="0">
                <a:latin typeface="Consolas"/>
              </a:rPr>
              <a:t>KeranjangBerbug</a:t>
            </a:r>
            <a:r>
              <a:rPr lang="id-ID" dirty="0"/>
              <a:t> diuji dengan </a:t>
            </a:r>
            <a:r>
              <a:rPr lang="id-ID" dirty="0" i="1"/>
              <a:t>test</a:t>
            </a:r>
            <a:r>
              <a:rPr lang="id-ID" dirty="0"/>
              <a:t> yang sama, dan hanya </a:t>
            </a:r>
            <a:r>
              <a:rPr lang="id-ID" dirty="0" i="1"/>
              <a:t>test</a:t>
            </a:r>
            <a:r>
              <a:rPr lang="id-ID" dirty="0"/>
              <a:t> belanja tepat Rp100.000 yang gagal pada versi berbug.</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C. Untuk Rp50.000, Rp99.000, dan Rp150.000, kode yang benar dan kode yang keliru memberi hasil yang </a:t>
            </a:r>
            <a:r>
              <a:rPr lang="id-ID" dirty="0" b="1"/>
              <a:t>sama</a:t>
            </a:r>
            <a:r>
              <a:rPr lang="id-ID" dirty="0"/>
              <a:t> sehingga </a:t>
            </a:r>
            <a:r>
              <a:rPr lang="id-ID" dirty="0" i="1"/>
              <a:t>test</a:t>
            </a:r>
            <a:r>
              <a:rPr lang="id-ID" dirty="0"/>
              <a:t>-nya tetap lulus. Hanya di </a:t>
            </a:r>
            <a:r>
              <a:rPr lang="id-ID" dirty="0" b="1"/>
              <a:t>batas</a:t>
            </a:r>
            <a:r>
              <a:rPr lang="id-ID" dirty="0"/>
              <a:t> (tepat Rp100.000) keduanya berbeda: kode yang keliru masih menagih ongkir. Inilah alasan kasus batas wajib diuji.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tujuh hal yang perlu kamu bawa pulang hari ini. Tabel peta konsep di bagian 8 halaman konsep menunjukkan di mana konsep Pertemuan 02 sampai 14 dipakai dalam aplikasi final. Gunakan tabel itu sebagai bahan belajar UAS dan sebagai contoh peta kebutuhan untuk README proyek akhirmu. Pertemuan berikutnya adalah UAS dan presentasi proyek akhir.</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bahan pertemuan ini ada di folder Pertemuan-15-Proyek-Terintegrasi di GitHub. Untuk studi kasus, ketik semua perintah dari folder </a:t>
            </a:r>
            <a:r>
              <a:rPr lang="en-US" dirty="0">
                <a:latin typeface="Consolas"/>
              </a:rPr>
              <a:t>studi-kasus</a:t>
            </a:r>
            <a:r>
              <a:rPr lang="id-ID" dirty="0"/>
              <a:t>. Jika ingin mengubah kodenya, salin dulu seluruh folder </a:t>
            </a:r>
            <a:r>
              <a:rPr lang="en-US" dirty="0">
                <a:latin typeface="Consolas"/>
              </a:rPr>
              <a:t>studi-kasus</a:t>
            </a:r>
            <a:r>
              <a:rPr lang="id-ID" dirty="0"/>
              <a:t> ke folder PBO-latihan-saya/pertemuan-15 karena </a:t>
            </a:r>
            <a:r>
              <a:rPr lang="en-US" dirty="0">
                <a:latin typeface="Consolas"/>
              </a:rPr>
              <a:t>main.py</a:t>
            </a:r>
            <a:r>
              <a:rPr lang="id-ID" dirty="0"/>
              <a:t>, </a:t>
            </a:r>
            <a:r>
              <a:rPr lang="en-US" dirty="0">
                <a:latin typeface="Consolas"/>
              </a:rPr>
              <a:t>kedaikita/</a:t>
            </a:r>
            <a:r>
              <a:rPr lang="id-ID" dirty="0"/>
              <a:t>, </a:t>
            </a:r>
            <a:r>
              <a:rPr lang="en-US" dirty="0">
                <a:latin typeface="Consolas"/>
              </a:rPr>
              <a:t>data/</a:t>
            </a:r>
            <a:r>
              <a:rPr lang="id-ID" dirty="0"/>
              <a:t>, dan </a:t>
            </a:r>
            <a:r>
              <a:rPr lang="en-US" dirty="0">
                <a:latin typeface="Consolas"/>
              </a:rPr>
              <a:t>tests/</a:t>
            </a:r>
            <a:r>
              <a:rPr lang="id-ID" dirty="0"/>
              <a:t> saling membutuhkan. Tugas mandiri pertemuan ini adalah tahap 1 proyek akhir, yaitu kebutuhan dan rancangan, dengan tema pilihanmu sendiri yang bukan kafe. Ketentuan resmi proyek akhir mengikuti pengumuman dosen. Sampai jumpa di Pertemuan 16.</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7589520" cy="182880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697480" y="2377440"/>
            <a:ext cx="8778240" cy="96012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15 · Proyek Terintegrasi</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0A3069"/>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57606A"/>
                </a:solidFill>
              </a:rPr>
              <a:t>PBO 2026 · Pertemuan 15 · Proyek Terintegrasi</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LAP">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15 · Proyek Terintegrasi</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2.png"/><Relationship Id="rId4" Type="http://schemas.openxmlformats.org/officeDocument/2006/relationships/image" Target="../media/image-7-2.png"/><Relationship Id="rId5" Type="http://schemas.openxmlformats.org/officeDocument/2006/relationships/image" Target="../media/image-11-2.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10-1.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10-1.png"/><Relationship Id="rId4" Type="http://schemas.openxmlformats.org/officeDocument/2006/relationships/slideLayout" Target="../slideLayouts/slideLayout4.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6-3.png"/><Relationship Id="rId4" Type="http://schemas.openxmlformats.org/officeDocument/2006/relationships/image" Target="../media/image-26-3.png"/><Relationship Id="rId5" Type="http://schemas.openxmlformats.org/officeDocument/2006/relationships/image" Target="../media/image-26-3.png"/><Relationship Id="rId6" Type="http://schemas.openxmlformats.org/officeDocument/2006/relationships/image" Target="../media/image-26-3.png"/><Relationship Id="rId7" Type="http://schemas.openxmlformats.org/officeDocument/2006/relationships/image" Target="../media/image-26-3.png"/><Relationship Id="rId8" Type="http://schemas.openxmlformats.org/officeDocument/2006/relationships/image" Target="../media/image-26-3.png"/><Relationship Id="rId9" Type="http://schemas.openxmlformats.org/officeDocument/2006/relationships/slideLayout" Target="../slideLayouts/slideLayout4.xm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antonprafanto/PBO2026/blob/master/Pertemuan-15-Proyek-Terintegrasi/README.md" TargetMode="External"/><Relationship Id="rId5" Type="http://schemas.openxmlformats.org/officeDocument/2006/relationships/hyperlink" Target="https://github.com/antonprafanto/PBO2026/blob/master/Pertemuan-15-Proyek-Terintegrasi/python/README.md" TargetMode="External"/><Relationship Id="rId7" Type="http://schemas.openxmlformats.org/officeDocument/2006/relationships/hyperlink" Target="https://github.com/antonprafanto/PBO2026/blob/master/Pertemuan-15-Proyek-Terintegrasi/java/README.md" TargetMode="External"/><Relationship Id="rId9" Type="http://schemas.openxmlformats.org/officeDocument/2006/relationships/hyperlink" Target="https://github.com/antonprafanto/PBO2026/blob/master/Pertemuan-15-Proyek-Terintegrasi/jembatan-python-java.md" TargetMode="External"/><Relationship Id="rId11" Type="http://schemas.openxmlformats.org/officeDocument/2006/relationships/hyperlink" Target="https://github.com/antonprafanto/PBO2026/blob/master/Pertemuan-15-Proyek-Terintegrasi/latihan.md" TargetMode="External"/><Relationship Id="rId13" Type="http://schemas.openxmlformats.org/officeDocument/2006/relationships/hyperlink" Target="https://github.com/antonprafanto/PBO2026/blob/master/Pertemuan-15-Proyek-Terintegrasi/kuis.md" TargetMode="External"/><Relationship Id="rId15" Type="http://schemas.openxmlformats.org/officeDocument/2006/relationships/hyperlink" Target="https://github.com/antonprafanto/PBO2026/blob/master/Pertemuan-15-Proyek-Terintegrasi/proyek-akhir.md" TargetMode="External"/><Relationship Id="rId17" Type="http://schemas.openxmlformats.org/officeDocument/2006/relationships/hyperlink" Target="https://github.com/antonprafanto/PBO2026/tree/master/Pertemuan-15-Proyek-Terintegrasi" TargetMode="External"/><Relationship Id="rId1" Type="http://schemas.openxmlformats.org/officeDocument/2006/relationships/image" Target="../media/image-32-1.png"/><Relationship Id="rId2" Type="http://schemas.openxmlformats.org/officeDocument/2006/relationships/image" Target="../media/image-32-2.png"/><Relationship Id="rId4" Type="http://schemas.openxmlformats.org/officeDocument/2006/relationships/image" Target="../media/image-32-3.png"/><Relationship Id="rId6" Type="http://schemas.openxmlformats.org/officeDocument/2006/relationships/image" Target="../media/image-32-3.png"/><Relationship Id="rId8" Type="http://schemas.openxmlformats.org/officeDocument/2006/relationships/image" Target="../media/image-32-5.png"/><Relationship Id="rId10" Type="http://schemas.openxmlformats.org/officeDocument/2006/relationships/image" Target="../media/image-32-6.png"/><Relationship Id="rId12" Type="http://schemas.openxmlformats.org/officeDocument/2006/relationships/image" Target="../media/image-32-7.png"/><Relationship Id="rId14" Type="http://schemas.openxmlformats.org/officeDocument/2006/relationships/image" Target="../media/image-32-8.png"/><Relationship Id="rId16" Type="http://schemas.openxmlformats.org/officeDocument/2006/relationships/image" Target="../media/image-32-9.png"/><Relationship Id="rId18" Type="http://schemas.openxmlformats.org/officeDocument/2006/relationships/slideLayout" Target="../slideLayouts/slideLayout5.xml"/><Relationship Id="rId19"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7680960" cy="365760"/>
          </a:xfrm>
          <a:prstGeom prst="rect">
            <a:avLst/>
          </a:prstGeom>
          <a:noFill/>
          <a:ln/>
        </p:spPr>
        <p:txBody>
          <a:bodyPr wrap="square" lIns="0" tIns="0" rIns="0" bIns="0" rtlCol="0" anchor="t"/>
          <a:lstStyle/>
          <a:p>
            <a:pPr indent="0" marL="0">
              <a:buNone/>
            </a:pPr>
            <a:r>
              <a:rPr lang="id-ID" altLang="en-US" sz="1500" b="1" spc="200" kern="0" dirty="0">
                <a:solidFill>
                  <a:srgbClr val="54AEFF"/>
                </a:solidFill>
              </a:rPr>
              <a:t>PEMROGRAMAN BERORIENTASI OBJEK 2026</a:t>
            </a:r>
            <a:endParaRPr lang="id-ID" sz="1500" dirty="0"/>
          </a:p>
        </p:txBody>
      </p:sp>
      <p:sp>
        <p:nvSpPr>
          <p:cNvPr id="3" name="Text 0"/>
          <p:cNvSpPr/>
          <p:nvPr>
            <p:ph idx="100" type="title" hasCustomPrompt="1"/>
          </p:nvPr>
        </p:nvSpPr>
        <p:spPr>
          <a:xfrm>
            <a:off x="731520" y="1600200"/>
            <a:ext cx="7589520" cy="1828800"/>
          </a:xfrm>
          <a:prstGeom prst="rect">
            <a:avLst/>
          </a:prstGeom>
          <a:noFill/>
          <a:ln/>
        </p:spPr>
        <p:txBody>
          <a:bodyPr wrap="square" lIns="0" tIns="0" rIns="0" bIns="0" rtlCol="0" anchor="t"/>
          <a:lstStyle/>
          <a:p>
            <a:pPr algn="l" indent="0" marL="0">
              <a:buNone/>
            </a:pPr>
            <a:r>
              <a:rPr lang="id-ID" altLang="en-US" sz="4800" b="1" dirty="0">
                <a:solidFill>
                  <a:srgbClr val="FFFFFF"/>
                </a:solidFill>
              </a:rPr>
              <a:t>Proyek Terintegrasi</a:t>
            </a:r>
            <a:endParaRPr lang="id-ID" sz="4800" dirty="0"/>
          </a:p>
        </p:txBody>
      </p:sp>
      <p:sp>
        <p:nvSpPr>
          <p:cNvPr id="4" name="Text 2"/>
          <p:cNvSpPr txBox="1"/>
          <p:nvPr/>
        </p:nvSpPr>
        <p:spPr>
          <a:xfrm>
            <a:off x="731520" y="2663952"/>
            <a:ext cx="7589520" cy="1097280"/>
          </a:xfrm>
          <a:prstGeom prst="rect">
            <a:avLst/>
          </a:prstGeom>
          <a:noFill/>
          <a:ln/>
        </p:spPr>
        <p:txBody>
          <a:bodyPr wrap="square" lIns="0" tIns="0" rIns="0" bIns="0" rtlCol="0" anchor="t"/>
          <a:lstStyle/>
          <a:p>
            <a:pPr indent="0" marL="0">
              <a:buNone/>
            </a:pPr>
            <a:r>
              <a:rPr lang="id-ID" altLang="en-US" sz="2200" dirty="0">
                <a:solidFill>
                  <a:srgbClr val="C9D7E8"/>
                </a:solidFill>
              </a:rPr>
              <a:t>Merakit KedaiKita menjadi aplikasi kasir sungguhan: berlapis, menyimpan data ke </a:t>
            </a:r>
            <a:r>
              <a:rPr lang="id-ID" altLang="en-US" sz="2200" i="1" dirty="0">
                <a:solidFill>
                  <a:srgbClr val="C9D7E8"/>
                </a:solidFill>
              </a:rPr>
              <a:t>file</a:t>
            </a:r>
            <a:r>
              <a:rPr lang="id-ID" altLang="en-US" sz="2200" dirty="0">
                <a:solidFill>
                  <a:srgbClr val="C9D7E8"/>
                </a:solidFill>
              </a:rPr>
              <a:t>, dan teruji otomatis</a:t>
            </a:r>
            <a:endParaRPr lang="id-ID" sz="2200" dirty="0"/>
          </a:p>
        </p:txBody>
      </p:sp>
      <p:sp>
        <p:nvSpPr>
          <p:cNvPr id="5" name="Text 3"/>
          <p:cNvSpPr txBox="1"/>
          <p:nvPr/>
        </p:nvSpPr>
        <p:spPr>
          <a:xfrm>
            <a:off x="731520" y="5349240"/>
            <a:ext cx="7589520" cy="731520"/>
          </a:xfrm>
          <a:prstGeom prst="rect">
            <a:avLst/>
          </a:prstGeom>
          <a:noFill/>
          <a:ln/>
        </p:spPr>
        <p:txBody>
          <a:bodyPr wrap="square" lIns="0" tIns="0" rIns="0" bIns="0" rtlCol="0" anchor="t"/>
          <a:lstStyle/>
          <a:p>
            <a:pPr indent="0" marL="0">
              <a:buNone/>
            </a:pPr>
            <a:r>
              <a:rPr lang="id-ID" altLang="en-US" sz="1500" dirty="0">
                <a:solidFill>
                  <a:srgbClr val="9FB3C8"/>
                </a:solidFill>
              </a:rPr>
              <a:t>Program Studi Informatika · Universitas Mulawarman</a:t>
            </a:r>
            <a:endParaRPr lang="id-ID" sz="1500" dirty="0"/>
          </a:p>
          <a:p>
            <a:pPr indent="0" marL="0">
              <a:buNone/>
            </a:pPr>
            <a:r>
              <a:rPr lang="id-ID" altLang="en-US" sz="1500" dirty="0">
                <a:solidFill>
                  <a:srgbClr val="9FB3C8"/>
                </a:solidFill>
              </a:rPr>
              <a:t>Jalur praktik: Python dan Java</a:t>
            </a:r>
            <a:endParaRPr lang="id-ID" sz="1500" dirty="0"/>
          </a:p>
        </p:txBody>
      </p:sp>
      <p:sp>
        <p:nvSpPr>
          <p:cNvPr id="6" name="Shape 4"/>
          <p:cNvSpPr/>
          <p:nvPr/>
        </p:nvSpPr>
        <p:spPr>
          <a:xfrm>
            <a:off x="8549640" y="1691640"/>
            <a:ext cx="3017520" cy="3017520"/>
          </a:xfrm>
          <a:prstGeom prst="ellipse">
            <a:avLst/>
          </a:prstGeom>
          <a:solidFill>
            <a:srgbClr val="0969DA"/>
          </a:solidFill>
          <a:ln/>
        </p:spPr>
      </p:sp>
      <p:sp>
        <p:nvSpPr>
          <p:cNvPr id="7" name="Shape 5"/>
          <p:cNvSpPr/>
          <p:nvPr/>
        </p:nvSpPr>
        <p:spPr>
          <a:xfrm>
            <a:off x="8385048" y="1527048"/>
            <a:ext cx="3346704" cy="3346704"/>
          </a:xfrm>
          <a:prstGeom prst="ellipse">
            <a:avLst/>
          </a:prstGeom>
          <a:ln w="19050">
            <a:solidFill>
              <a:srgbClr val="54AEFF"/>
            </a:solidFill>
            <a:prstDash val="solid"/>
          </a:ln>
        </p:spPr>
      </p:sp>
      <p:sp>
        <p:nvSpPr>
          <p:cNvPr id="8" name="Text 6"/>
          <p:cNvSpPr txBox="1"/>
          <p:nvPr/>
        </p:nvSpPr>
        <p:spPr>
          <a:xfrm>
            <a:off x="8549640" y="2258568"/>
            <a:ext cx="3017520" cy="365760"/>
          </a:xfrm>
          <a:prstGeom prst="rect">
            <a:avLst/>
          </a:prstGeom>
          <a:noFill/>
          <a:ln/>
        </p:spPr>
        <p:txBody>
          <a:bodyPr wrap="square" lIns="0" tIns="0" rIns="0" bIns="0" rtlCol="0" anchor="t"/>
          <a:lstStyle/>
          <a:p>
            <a:pPr algn="ctr" indent="0" marL="0">
              <a:buNone/>
            </a:pPr>
            <a:r>
              <a:rPr lang="id-ID" altLang="en-US" sz="1600" b="1" spc="300" kern="0" dirty="0">
                <a:solidFill>
                  <a:srgbClr val="DDF4FF"/>
                </a:solidFill>
              </a:rPr>
              <a:t>PERTEMUAN</a:t>
            </a:r>
            <a:endParaRPr lang="id-ID" sz="1600" dirty="0"/>
          </a:p>
        </p:txBody>
      </p:sp>
      <p:sp>
        <p:nvSpPr>
          <p:cNvPr id="9" name="Text 7"/>
          <p:cNvSpPr txBox="1"/>
          <p:nvPr/>
        </p:nvSpPr>
        <p:spPr>
          <a:xfrm>
            <a:off x="8549640" y="2560320"/>
            <a:ext cx="3017520" cy="1463040"/>
          </a:xfrm>
          <a:prstGeom prst="rect">
            <a:avLst/>
          </a:prstGeom>
          <a:noFill/>
          <a:ln/>
        </p:spPr>
        <p:txBody>
          <a:bodyPr wrap="square" lIns="0" tIns="0" rIns="0" bIns="0" rtlCol="0" anchor="ctr"/>
          <a:lstStyle/>
          <a:p>
            <a:pPr algn="ctr" indent="0" marL="0">
              <a:buNone/>
            </a:pPr>
            <a:r>
              <a:rPr lang="id-ID" altLang="en-US" sz="9600" b="1" dirty="0">
                <a:solidFill>
                  <a:srgbClr val="FFFFFF"/>
                </a:solidFill>
              </a:rPr>
              <a:t>15</a:t>
            </a:r>
            <a:endParaRPr lang="id-ID" sz="9600" dirty="0"/>
          </a:p>
        </p:txBody>
      </p:sp>
      <p:sp>
        <p:nvSpPr>
          <p:cNvPr id="10" name="Text 8"/>
          <p:cNvSpPr txBox="1"/>
          <p:nvPr/>
        </p:nvSpPr>
        <p:spPr>
          <a:xfrm>
            <a:off x="8549640" y="4069080"/>
            <a:ext cx="3017520" cy="365760"/>
          </a:xfrm>
          <a:prstGeom prst="rect">
            <a:avLst/>
          </a:prstGeom>
          <a:noFill/>
          <a:ln/>
        </p:spPr>
        <p:txBody>
          <a:bodyPr wrap="square" lIns="0" tIns="0" rIns="0" bIns="0" rtlCol="0" anchor="t"/>
          <a:lstStyle/>
          <a:p>
            <a:pPr algn="ctr" indent="0" marL="0">
              <a:buNone/>
            </a:pPr>
            <a:r>
              <a:rPr lang="id-ID" altLang="en-US" sz="1500" dirty="0">
                <a:solidFill>
                  <a:srgbClr val="DDF4FF"/>
                </a:solidFill>
              </a:rPr>
              <a:t>dari 16</a:t>
            </a:r>
            <a:endParaRPr lang="id-ID"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Tujuan Pembelajaran</a:t>
            </a:r>
            <a:endParaRPr lang="id-ID" sz="3200" dirty="0"/>
          </a:p>
        </p:txBody>
      </p:sp>
      <p:sp>
        <p:nvSpPr>
          <p:cNvPr id="5" name="Text 2"/>
          <p:cNvSpPr txBox="1"/>
          <p:nvPr/>
        </p:nvSpPr>
        <p:spPr>
          <a:xfrm>
            <a:off x="548640" y="1417320"/>
            <a:ext cx="11094415" cy="365760"/>
          </a:xfrm>
          <a:prstGeom prst="rect">
            <a:avLst/>
          </a:prstGeom>
          <a:noFill/>
          <a:ln/>
        </p:spPr>
        <p:txBody>
          <a:bodyPr wrap="square" lIns="0" tIns="0" rIns="0" bIns="0" rtlCol="0" anchor="t"/>
          <a:lstStyle/>
          <a:p>
            <a:pPr indent="0" marL="0">
              <a:buNone/>
            </a:pPr>
            <a:r>
              <a:rPr lang="id-ID" altLang="en-US" sz="1800" dirty="0">
                <a:solidFill>
                  <a:srgbClr val="57606A"/>
                </a:solidFill>
              </a:rPr>
              <a:t>Setelah pertemuan ini, kamu mampu:</a:t>
            </a:r>
            <a:endParaRPr lang="id-ID" sz="1800" dirty="0"/>
          </a:p>
        </p:txBody>
      </p:sp>
      <p:sp>
        <p:nvSpPr>
          <p:cNvPr id="6" name="Shape 3"/>
          <p:cNvSpPr/>
          <p:nvPr/>
        </p:nvSpPr>
        <p:spPr>
          <a:xfrm>
            <a:off x="548640" y="1920240"/>
            <a:ext cx="5432908" cy="1258824"/>
          </a:xfrm>
          <a:prstGeom prst="roundRect">
            <a:avLst>
              <a:gd name="adj" fmla="val 6332"/>
            </a:avLst>
          </a:prstGeom>
          <a:solidFill>
            <a:srgbClr val="F6F8FA"/>
          </a:solidFill>
          <a:ln w="9525">
            <a:solidFill>
              <a:srgbClr val="D0D7DE"/>
            </a:solidFill>
            <a:prstDash val="solid"/>
          </a:ln>
        </p:spPr>
      </p:sp>
      <p:sp>
        <p:nvSpPr>
          <p:cNvPr id="7" name="Shape 4"/>
          <p:cNvSpPr/>
          <p:nvPr/>
        </p:nvSpPr>
        <p:spPr>
          <a:xfrm>
            <a:off x="777240" y="2084832"/>
            <a:ext cx="457200" cy="457200"/>
          </a:xfrm>
          <a:prstGeom prst="ellipse">
            <a:avLst/>
          </a:prstGeom>
          <a:solidFill>
            <a:srgbClr val="0969DA"/>
          </a:solidFill>
          <a:ln/>
        </p:spPr>
      </p:sp>
      <p:sp>
        <p:nvSpPr>
          <p:cNvPr id="8" name="Text 5"/>
          <p:cNvSpPr txBox="1"/>
          <p:nvPr/>
        </p:nvSpPr>
        <p:spPr>
          <a:xfrm>
            <a:off x="777240"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1</a:t>
            </a:r>
            <a:endParaRPr lang="id-ID" sz="1800" dirty="0"/>
          </a:p>
        </p:txBody>
      </p:sp>
      <p:sp>
        <p:nvSpPr>
          <p:cNvPr id="9" name="Text 6"/>
          <p:cNvSpPr txBox="1"/>
          <p:nvPr/>
        </p:nvSpPr>
        <p:spPr>
          <a:xfrm>
            <a:off x="1417320" y="2084832"/>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Menjelaskan alur membangun aplikasi: </a:t>
            </a:r>
            <a:r>
              <a:rPr lang="id-ID" altLang="en-US" sz="2000" b="1" dirty="0">
                <a:solidFill>
                  <a:srgbClr val="1F2328"/>
                </a:solidFill>
              </a:rPr>
              <a:t>kebutuhan → rancangan UML → implementasi → pengujian</a:t>
            </a:r>
            <a:r>
              <a:rPr lang="id-ID" altLang="en-US" sz="2000" dirty="0">
                <a:solidFill>
                  <a:srgbClr val="1F2328"/>
                </a:solidFill>
              </a:rPr>
              <a:t>.</a:t>
            </a:r>
            <a:endParaRPr lang="id-ID" sz="2000" dirty="0"/>
          </a:p>
        </p:txBody>
      </p:sp>
      <p:sp>
        <p:nvSpPr>
          <p:cNvPr id="10" name="Shape 7"/>
          <p:cNvSpPr/>
          <p:nvPr/>
        </p:nvSpPr>
        <p:spPr>
          <a:xfrm>
            <a:off x="6210148" y="1920240"/>
            <a:ext cx="5432908" cy="1258824"/>
          </a:xfrm>
          <a:prstGeom prst="roundRect">
            <a:avLst>
              <a:gd name="adj" fmla="val 6332"/>
            </a:avLst>
          </a:prstGeom>
          <a:solidFill>
            <a:srgbClr val="F6F8FA"/>
          </a:solidFill>
          <a:ln w="9525">
            <a:solidFill>
              <a:srgbClr val="D0D7DE"/>
            </a:solidFill>
            <a:prstDash val="solid"/>
          </a:ln>
        </p:spPr>
      </p:sp>
      <p:sp>
        <p:nvSpPr>
          <p:cNvPr id="11" name="Shape 8"/>
          <p:cNvSpPr/>
          <p:nvPr/>
        </p:nvSpPr>
        <p:spPr>
          <a:xfrm>
            <a:off x="6438748" y="2084832"/>
            <a:ext cx="457200" cy="457200"/>
          </a:xfrm>
          <a:prstGeom prst="ellipse">
            <a:avLst/>
          </a:prstGeom>
          <a:solidFill>
            <a:srgbClr val="0969DA"/>
          </a:solidFill>
          <a:ln/>
        </p:spPr>
      </p:sp>
      <p:sp>
        <p:nvSpPr>
          <p:cNvPr id="12" name="Text 9"/>
          <p:cNvSpPr txBox="1"/>
          <p:nvPr/>
        </p:nvSpPr>
        <p:spPr>
          <a:xfrm>
            <a:off x="6438748"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2</a:t>
            </a:r>
            <a:endParaRPr lang="id-ID" sz="1800" dirty="0"/>
          </a:p>
        </p:txBody>
      </p:sp>
      <p:sp>
        <p:nvSpPr>
          <p:cNvPr id="13" name="Text 10"/>
          <p:cNvSpPr txBox="1"/>
          <p:nvPr/>
        </p:nvSpPr>
        <p:spPr>
          <a:xfrm>
            <a:off x="7078828" y="2084832"/>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Menjelaskan </a:t>
            </a:r>
            <a:r>
              <a:rPr lang="id-ID" altLang="en-US" sz="2000" b="1" dirty="0">
                <a:solidFill>
                  <a:srgbClr val="1F2328"/>
                </a:solidFill>
              </a:rPr>
              <a:t>arsitektur berlapis</a:t>
            </a:r>
            <a:r>
              <a:rPr lang="id-ID" altLang="en-US" sz="2000" dirty="0">
                <a:solidFill>
                  <a:srgbClr val="1F2328"/>
                </a:solidFill>
              </a:rPr>
              <a:t> (tampilan, layanan, model, penyimpanan) beserta manfaatnya.</a:t>
            </a:r>
            <a:endParaRPr lang="id-ID" sz="2000" dirty="0"/>
          </a:p>
        </p:txBody>
      </p:sp>
      <p:sp>
        <p:nvSpPr>
          <p:cNvPr id="14" name="Shape 11"/>
          <p:cNvSpPr/>
          <p:nvPr/>
        </p:nvSpPr>
        <p:spPr>
          <a:xfrm>
            <a:off x="548640" y="3361944"/>
            <a:ext cx="5432908" cy="1258824"/>
          </a:xfrm>
          <a:prstGeom prst="roundRect">
            <a:avLst>
              <a:gd name="adj" fmla="val 6332"/>
            </a:avLst>
          </a:prstGeom>
          <a:solidFill>
            <a:srgbClr val="F6F8FA"/>
          </a:solidFill>
          <a:ln w="9525">
            <a:solidFill>
              <a:srgbClr val="D0D7DE"/>
            </a:solidFill>
            <a:prstDash val="solid"/>
          </a:ln>
        </p:spPr>
      </p:sp>
      <p:sp>
        <p:nvSpPr>
          <p:cNvPr id="15" name="Shape 12"/>
          <p:cNvSpPr/>
          <p:nvPr/>
        </p:nvSpPr>
        <p:spPr>
          <a:xfrm>
            <a:off x="777240" y="3526536"/>
            <a:ext cx="457200" cy="457200"/>
          </a:xfrm>
          <a:prstGeom prst="ellipse">
            <a:avLst/>
          </a:prstGeom>
          <a:solidFill>
            <a:srgbClr val="0969DA"/>
          </a:solidFill>
          <a:ln/>
        </p:spPr>
      </p:sp>
      <p:sp>
        <p:nvSpPr>
          <p:cNvPr id="16" name="Text 13"/>
          <p:cNvSpPr txBox="1"/>
          <p:nvPr/>
        </p:nvSpPr>
        <p:spPr>
          <a:xfrm>
            <a:off x="777240" y="352653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3</a:t>
            </a:r>
            <a:endParaRPr lang="id-ID" sz="1800" dirty="0"/>
          </a:p>
        </p:txBody>
      </p:sp>
      <p:sp>
        <p:nvSpPr>
          <p:cNvPr id="17" name="Text 14"/>
          <p:cNvSpPr txBox="1"/>
          <p:nvPr/>
        </p:nvSpPr>
        <p:spPr>
          <a:xfrm>
            <a:off x="1417320" y="3526536"/>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Mengelompokkan kelas ke dalam </a:t>
            </a:r>
            <a:r>
              <a:rPr lang="id-ID" altLang="en-US" sz="2000" b="1" dirty="0">
                <a:solidFill>
                  <a:srgbClr val="1F2328"/>
                </a:solidFill>
              </a:rPr>
              <a:t>modul</a:t>
            </a:r>
            <a:r>
              <a:rPr lang="id-ID" altLang="en-US" sz="2000" dirty="0">
                <a:solidFill>
                  <a:srgbClr val="1F2328"/>
                </a:solidFill>
              </a:rPr>
              <a:t> dan </a:t>
            </a:r>
            <a:r>
              <a:rPr lang="id-ID" altLang="en-US" sz="2000" b="1" i="1" dirty="0">
                <a:solidFill>
                  <a:srgbClr val="1F2328"/>
                </a:solidFill>
              </a:rPr>
              <a:t>package</a:t>
            </a:r>
            <a:r>
              <a:rPr lang="id-ID" altLang="en-US" sz="2000" dirty="0">
                <a:solidFill>
                  <a:srgbClr val="1F2328"/>
                </a:solidFill>
              </a:rPr>
              <a:t>.</a:t>
            </a:r>
            <a:endParaRPr lang="id-ID" sz="2000" dirty="0"/>
          </a:p>
        </p:txBody>
      </p:sp>
      <p:sp>
        <p:nvSpPr>
          <p:cNvPr id="18" name="Shape 15"/>
          <p:cNvSpPr/>
          <p:nvPr/>
        </p:nvSpPr>
        <p:spPr>
          <a:xfrm>
            <a:off x="6210148" y="3361944"/>
            <a:ext cx="5432908" cy="1258824"/>
          </a:xfrm>
          <a:prstGeom prst="roundRect">
            <a:avLst>
              <a:gd name="adj" fmla="val 6332"/>
            </a:avLst>
          </a:prstGeom>
          <a:solidFill>
            <a:srgbClr val="F6F8FA"/>
          </a:solidFill>
          <a:ln w="9525">
            <a:solidFill>
              <a:srgbClr val="D0D7DE"/>
            </a:solidFill>
            <a:prstDash val="solid"/>
          </a:ln>
        </p:spPr>
      </p:sp>
      <p:sp>
        <p:nvSpPr>
          <p:cNvPr id="19" name="Shape 16"/>
          <p:cNvSpPr/>
          <p:nvPr/>
        </p:nvSpPr>
        <p:spPr>
          <a:xfrm>
            <a:off x="6438748" y="3526536"/>
            <a:ext cx="457200" cy="457200"/>
          </a:xfrm>
          <a:prstGeom prst="ellipse">
            <a:avLst/>
          </a:prstGeom>
          <a:solidFill>
            <a:srgbClr val="0969DA"/>
          </a:solidFill>
          <a:ln/>
        </p:spPr>
      </p:sp>
      <p:sp>
        <p:nvSpPr>
          <p:cNvPr id="20" name="Text 17"/>
          <p:cNvSpPr txBox="1"/>
          <p:nvPr/>
        </p:nvSpPr>
        <p:spPr>
          <a:xfrm>
            <a:off x="6438748" y="352653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4</a:t>
            </a:r>
            <a:endParaRPr lang="id-ID" sz="1800" dirty="0"/>
          </a:p>
        </p:txBody>
      </p:sp>
      <p:sp>
        <p:nvSpPr>
          <p:cNvPr id="21" name="Text 18"/>
          <p:cNvSpPr txBox="1"/>
          <p:nvPr/>
        </p:nvSpPr>
        <p:spPr>
          <a:xfrm>
            <a:off x="7078828" y="3526536"/>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Menyimpan dan memuat data objek dengan </a:t>
            </a:r>
            <a:r>
              <a:rPr lang="id-ID" altLang="en-US" sz="2000" i="1" dirty="0">
                <a:solidFill>
                  <a:srgbClr val="1F2328"/>
                </a:solidFill>
              </a:rPr>
              <a:t>file</a:t>
            </a:r>
            <a:r>
              <a:rPr lang="id-ID" altLang="en-US" sz="2000" dirty="0">
                <a:solidFill>
                  <a:srgbClr val="1F2328"/>
                </a:solidFill>
              </a:rPr>
              <a:t> </a:t>
            </a:r>
            <a:r>
              <a:rPr lang="id-ID" altLang="en-US" sz="2000" b="1" dirty="0">
                <a:solidFill>
                  <a:srgbClr val="1F2328"/>
                </a:solidFill>
              </a:rPr>
              <a:t>CSV</a:t>
            </a:r>
            <a:r>
              <a:rPr lang="id-ID" altLang="en-US" sz="2000" dirty="0">
                <a:solidFill>
                  <a:srgbClr val="1F2328"/>
                </a:solidFill>
              </a:rPr>
              <a:t>, termasuk menolak isi </a:t>
            </a:r>
            <a:r>
              <a:rPr lang="id-ID" altLang="en-US" sz="2000" i="1" dirty="0">
                <a:solidFill>
                  <a:srgbClr val="1F2328"/>
                </a:solidFill>
              </a:rPr>
              <a:t>file</a:t>
            </a:r>
            <a:r>
              <a:rPr lang="id-ID" altLang="en-US" sz="2000" dirty="0">
                <a:solidFill>
                  <a:srgbClr val="1F2328"/>
                </a:solidFill>
              </a:rPr>
              <a:t> yang rusak dengan pesan yang jelas.</a:t>
            </a:r>
            <a:endParaRPr lang="id-ID" sz="2000" dirty="0"/>
          </a:p>
        </p:txBody>
      </p:sp>
      <p:sp>
        <p:nvSpPr>
          <p:cNvPr id="22" name="Shape 19"/>
          <p:cNvSpPr/>
          <p:nvPr/>
        </p:nvSpPr>
        <p:spPr>
          <a:xfrm>
            <a:off x="548640" y="4803648"/>
            <a:ext cx="5432908" cy="1258824"/>
          </a:xfrm>
          <a:prstGeom prst="roundRect">
            <a:avLst>
              <a:gd name="adj" fmla="val 6332"/>
            </a:avLst>
          </a:prstGeom>
          <a:solidFill>
            <a:srgbClr val="F6F8FA"/>
          </a:solidFill>
          <a:ln w="9525">
            <a:solidFill>
              <a:srgbClr val="D0D7DE"/>
            </a:solidFill>
            <a:prstDash val="solid"/>
          </a:ln>
        </p:spPr>
      </p:sp>
      <p:sp>
        <p:nvSpPr>
          <p:cNvPr id="23" name="Shape 20"/>
          <p:cNvSpPr/>
          <p:nvPr/>
        </p:nvSpPr>
        <p:spPr>
          <a:xfrm>
            <a:off x="777240" y="4968240"/>
            <a:ext cx="457200" cy="457200"/>
          </a:xfrm>
          <a:prstGeom prst="ellipse">
            <a:avLst/>
          </a:prstGeom>
          <a:solidFill>
            <a:srgbClr val="0969DA"/>
          </a:solidFill>
          <a:ln/>
        </p:spPr>
      </p:sp>
      <p:sp>
        <p:nvSpPr>
          <p:cNvPr id="24" name="Text 21"/>
          <p:cNvSpPr txBox="1"/>
          <p:nvPr/>
        </p:nvSpPr>
        <p:spPr>
          <a:xfrm>
            <a:off x="777240" y="496824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5</a:t>
            </a:r>
            <a:endParaRPr lang="id-ID" sz="1800" dirty="0"/>
          </a:p>
        </p:txBody>
      </p:sp>
      <p:sp>
        <p:nvSpPr>
          <p:cNvPr id="25" name="Text 22"/>
          <p:cNvSpPr txBox="1"/>
          <p:nvPr/>
        </p:nvSpPr>
        <p:spPr>
          <a:xfrm>
            <a:off x="1417320" y="4968240"/>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Membaca masukan pengguna dengan </a:t>
            </a:r>
            <a:r>
              <a:rPr lang="id-ID" altLang="en-US" sz="2000" b="1" dirty="0">
                <a:solidFill>
                  <a:srgbClr val="1F2328"/>
                </a:solidFill>
              </a:rPr>
              <a:t>aman</a:t>
            </a:r>
            <a:r>
              <a:rPr lang="id-ID" altLang="en-US" sz="2000" dirty="0">
                <a:solidFill>
                  <a:srgbClr val="1F2328"/>
                </a:solidFill>
              </a:rPr>
              <a:t>: validasi, tanya ulang, dan tangani akhir </a:t>
            </a:r>
            <a:r>
              <a:rPr lang="id-ID" altLang="en-US" sz="2000" i="1" dirty="0">
                <a:solidFill>
                  <a:srgbClr val="1F2328"/>
                </a:solidFill>
              </a:rPr>
              <a:t>input</a:t>
            </a:r>
            <a:r>
              <a:rPr lang="id-ID" altLang="en-US" sz="2000" dirty="0">
                <a:solidFill>
                  <a:srgbClr val="1F2328"/>
                </a:solidFill>
              </a:rPr>
              <a:t>.</a:t>
            </a:r>
            <a:endParaRPr lang="id-ID" sz="2000" dirty="0"/>
          </a:p>
        </p:txBody>
      </p:sp>
      <p:sp>
        <p:nvSpPr>
          <p:cNvPr id="26" name="Shape 23"/>
          <p:cNvSpPr/>
          <p:nvPr/>
        </p:nvSpPr>
        <p:spPr>
          <a:xfrm>
            <a:off x="6210148" y="4803648"/>
            <a:ext cx="5432908" cy="1258824"/>
          </a:xfrm>
          <a:prstGeom prst="roundRect">
            <a:avLst>
              <a:gd name="adj" fmla="val 6332"/>
            </a:avLst>
          </a:prstGeom>
          <a:solidFill>
            <a:srgbClr val="F6F8FA"/>
          </a:solidFill>
          <a:ln w="9525">
            <a:solidFill>
              <a:srgbClr val="D0D7DE"/>
            </a:solidFill>
            <a:prstDash val="solid"/>
          </a:ln>
        </p:spPr>
      </p:sp>
      <p:sp>
        <p:nvSpPr>
          <p:cNvPr id="27" name="Shape 24"/>
          <p:cNvSpPr/>
          <p:nvPr/>
        </p:nvSpPr>
        <p:spPr>
          <a:xfrm>
            <a:off x="6438748" y="4968240"/>
            <a:ext cx="457200" cy="457200"/>
          </a:xfrm>
          <a:prstGeom prst="ellipse">
            <a:avLst/>
          </a:prstGeom>
          <a:solidFill>
            <a:srgbClr val="0969DA"/>
          </a:solidFill>
          <a:ln/>
        </p:spPr>
      </p:sp>
      <p:sp>
        <p:nvSpPr>
          <p:cNvPr id="28" name="Text 25"/>
          <p:cNvSpPr txBox="1"/>
          <p:nvPr/>
        </p:nvSpPr>
        <p:spPr>
          <a:xfrm>
            <a:off x="6438748" y="496824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6</a:t>
            </a:r>
            <a:endParaRPr lang="id-ID" sz="1800" dirty="0"/>
          </a:p>
        </p:txBody>
      </p:sp>
      <p:sp>
        <p:nvSpPr>
          <p:cNvPr id="29" name="Text 26"/>
          <p:cNvSpPr txBox="1"/>
          <p:nvPr/>
        </p:nvSpPr>
        <p:spPr>
          <a:xfrm>
            <a:off x="7078828" y="4968240"/>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Menulis </a:t>
            </a:r>
            <a:r>
              <a:rPr lang="id-ID" altLang="en-US" sz="2000" b="1" i="1" dirty="0">
                <a:solidFill>
                  <a:srgbClr val="1F2328"/>
                </a:solidFill>
              </a:rPr>
              <a:t>unit test</a:t>
            </a:r>
            <a:r>
              <a:rPr lang="id-ID" altLang="en-US" sz="2000" dirty="0">
                <a:solidFill>
                  <a:srgbClr val="1F2328"/>
                </a:solidFill>
              </a:rPr>
              <a:t> sederhana dan menjelaskan mengapa pengujian otomatis penting.</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Mengingat Kembali</a:t>
            </a:r>
            <a:endParaRPr lang="id-ID" sz="3200" dirty="0"/>
          </a:p>
        </p:txBody>
      </p:sp>
      <p:sp>
        <p:nvSpPr>
          <p:cNvPr id="5" name="Shape 2"/>
          <p:cNvSpPr/>
          <p:nvPr/>
        </p:nvSpPr>
        <p:spPr>
          <a:xfrm>
            <a:off x="548640" y="1600383"/>
            <a:ext cx="2377440" cy="4346448"/>
          </a:xfrm>
          <a:prstGeom prst="roundRect">
            <a:avLst>
              <a:gd name="adj" fmla="val 2663"/>
            </a:avLst>
          </a:prstGeom>
          <a:solidFill>
            <a:srgbClr val="DDF4FF"/>
          </a:solidFill>
          <a:ln w="9525">
            <a:solidFill>
              <a:srgbClr val="54AEFF"/>
            </a:solidFill>
            <a:prstDash val="solid"/>
          </a:ln>
        </p:spPr>
      </p:sp>
      <p:sp>
        <p:nvSpPr>
          <p:cNvPr id="6" name="Shape 3"/>
          <p:cNvSpPr/>
          <p:nvPr/>
        </p:nvSpPr>
        <p:spPr>
          <a:xfrm>
            <a:off x="1188720" y="2813487"/>
            <a:ext cx="1097280" cy="1097280"/>
          </a:xfrm>
          <a:prstGeom prst="ellipse">
            <a:avLst/>
          </a:prstGeom>
          <a:solidFill>
            <a:srgbClr val="0969DA"/>
          </a:solidFill>
          <a:ln/>
        </p:spPr>
      </p:sp>
      <p:pic>
        <p:nvPicPr>
          <p:cNvPr id="7" name="Image 1" descr="preencoded.png">    </p:cNvPr>
          <p:cNvPicPr>
            <a:picLocks noChangeAspect="1"/>
          </p:cNvPicPr>
          <p:nvPr/>
        </p:nvPicPr>
        <p:blipFill>
          <a:blip r:embed="rId2"/>
          <a:stretch>
            <a:fillRect/>
          </a:stretch>
        </p:blipFill>
        <p:spPr>
          <a:xfrm>
            <a:off x="1430122" y="3054888"/>
            <a:ext cx="614477" cy="614477"/>
          </a:xfrm>
          <a:prstGeom prst="rect">
            <a:avLst/>
          </a:prstGeom>
        </p:spPr>
      </p:pic>
      <p:sp>
        <p:nvSpPr>
          <p:cNvPr id="8" name="Text 4"/>
          <p:cNvSpPr txBox="1"/>
          <p:nvPr/>
        </p:nvSpPr>
        <p:spPr>
          <a:xfrm>
            <a:off x="731520" y="4093647"/>
            <a:ext cx="2011680" cy="640080"/>
          </a:xfrm>
          <a:prstGeom prst="rect">
            <a:avLst/>
          </a:prstGeom>
          <a:noFill/>
          <a:ln/>
        </p:spPr>
        <p:txBody>
          <a:bodyPr wrap="square" lIns="0" tIns="0" rIns="0" bIns="0" rtlCol="0" anchor="t"/>
          <a:lstStyle/>
          <a:p>
            <a:pPr algn="ctr" indent="0" marL="0">
              <a:buNone/>
            </a:pPr>
            <a:r>
              <a:rPr lang="id-ID" altLang="en-US" sz="1600" b="1" dirty="0">
                <a:solidFill>
                  <a:srgbClr val="0A3069"/>
                </a:solidFill>
              </a:rPr>
              <a:t>Dari pertemuan sebelumnya</a:t>
            </a:r>
            <a:endParaRPr lang="id-ID" sz="1600" dirty="0"/>
          </a:p>
        </p:txBody>
      </p:sp>
      <p:sp>
        <p:nvSpPr>
          <p:cNvPr id="9" name="Shape 5"/>
          <p:cNvSpPr/>
          <p:nvPr/>
        </p:nvSpPr>
        <p:spPr>
          <a:xfrm>
            <a:off x="3346704" y="1992051"/>
            <a:ext cx="137160" cy="137160"/>
          </a:xfrm>
          <a:prstGeom prst="roundRect">
            <a:avLst>
              <a:gd name="adj" fmla="val 166667"/>
            </a:avLst>
          </a:prstGeom>
          <a:solidFill>
            <a:srgbClr val="0969DA"/>
          </a:solidFill>
          <a:ln/>
        </p:spPr>
      </p:sp>
      <p:sp>
        <p:nvSpPr>
          <p:cNvPr id="10" name="Text 6"/>
          <p:cNvSpPr txBox="1"/>
          <p:nvPr/>
        </p:nvSpPr>
        <p:spPr>
          <a:xfrm>
            <a:off x="3675888" y="1874703"/>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Pertemuan 14: KedaiKita mendapat </a:t>
            </a:r>
            <a:r>
              <a:rPr lang="id-ID" altLang="en-US" sz="2400" i="1" dirty="0">
                <a:solidFill>
                  <a:srgbClr val="1F2328"/>
                </a:solidFill>
              </a:rPr>
              <a:t>Singleton</a:t>
            </a:r>
            <a:r>
              <a:rPr lang="id-ID" altLang="en-US" sz="2400" dirty="0">
                <a:solidFill>
                  <a:srgbClr val="1F2328"/>
                </a:solidFill>
              </a:rPr>
              <a:t>, </a:t>
            </a:r>
            <a:r>
              <a:rPr lang="id-ID" altLang="en-US" sz="2400" i="1" dirty="0">
                <a:solidFill>
                  <a:srgbClr val="1F2328"/>
                </a:solidFill>
              </a:rPr>
              <a:t>Factory</a:t>
            </a:r>
            <a:r>
              <a:rPr lang="id-ID" altLang="en-US" sz="2400" dirty="0">
                <a:solidFill>
                  <a:srgbClr val="1F2328"/>
                </a:solidFill>
              </a:rPr>
              <a:t>, </a:t>
            </a:r>
            <a:r>
              <a:rPr lang="id-ID" altLang="en-US" sz="2400" i="1" dirty="0">
                <a:solidFill>
                  <a:srgbClr val="1F2328"/>
                </a:solidFill>
              </a:rPr>
              <a:t>Strategy</a:t>
            </a:r>
            <a:r>
              <a:rPr lang="id-ID" altLang="en-US" sz="2400" dirty="0">
                <a:solidFill>
                  <a:srgbClr val="1F2328"/>
                </a:solidFill>
              </a:rPr>
              <a:t>, dan </a:t>
            </a:r>
            <a:r>
              <a:rPr lang="id-ID" altLang="en-US" sz="2400" i="1" dirty="0">
                <a:solidFill>
                  <a:srgbClr val="1F2328"/>
                </a:solidFill>
              </a:rPr>
              <a:t>Observer</a:t>
            </a:r>
            <a:r>
              <a:rPr lang="id-ID" altLang="en-US" sz="2400" dirty="0">
                <a:solidFill>
                  <a:srgbClr val="1F2328"/>
                </a:solidFill>
              </a:rPr>
              <a:t>.</a:t>
            </a:r>
            <a:endParaRPr lang="id-ID" sz="2400" dirty="0"/>
          </a:p>
        </p:txBody>
      </p:sp>
      <p:sp>
        <p:nvSpPr>
          <p:cNvPr id="11" name="Shape 7"/>
          <p:cNvSpPr/>
          <p:nvPr/>
        </p:nvSpPr>
        <p:spPr>
          <a:xfrm>
            <a:off x="3346704" y="3010083"/>
            <a:ext cx="137160" cy="137160"/>
          </a:xfrm>
          <a:prstGeom prst="roundRect">
            <a:avLst>
              <a:gd name="adj" fmla="val 166667"/>
            </a:avLst>
          </a:prstGeom>
          <a:solidFill>
            <a:srgbClr val="0969DA"/>
          </a:solidFill>
          <a:ln/>
        </p:spPr>
      </p:sp>
      <p:sp>
        <p:nvSpPr>
          <p:cNvPr id="12" name="Text 8"/>
          <p:cNvSpPr txBox="1"/>
          <p:nvPr/>
        </p:nvSpPr>
        <p:spPr>
          <a:xfrm>
            <a:off x="3675888" y="2892735"/>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Pertemuan 13: tanggung jawab dipisah (SRP) dan </a:t>
            </a:r>
            <a:r>
              <a:rPr lang="id-ID" altLang="en-US" sz="2400" dirty="0">
                <a:solidFill>
                  <a:srgbClr val="1F2328"/>
                </a:solidFill>
                <a:latin typeface="Consolas" pitchFamily="34" charset="0"/>
                <a:ea typeface="Consolas" pitchFamily="34" charset="-122"/>
                <a:cs typeface="Consolas" pitchFamily="34" charset="-120"/>
              </a:rPr>
              <a:t>PenyimpananPesanan</a:t>
            </a:r>
            <a:r>
              <a:rPr lang="id-ID" altLang="en-US" sz="2400" dirty="0">
                <a:solidFill>
                  <a:srgbClr val="1F2328"/>
                </a:solidFill>
              </a:rPr>
              <a:t> disuntikkan ke </a:t>
            </a:r>
            <a:r>
              <a:rPr lang="id-ID" altLang="en-US" sz="2400" dirty="0">
                <a:solidFill>
                  <a:srgbClr val="1F2328"/>
                </a:solidFill>
                <a:latin typeface="Consolas" pitchFamily="34" charset="0"/>
                <a:ea typeface="Consolas" pitchFamily="34" charset="-122"/>
                <a:cs typeface="Consolas" pitchFamily="34" charset="-120"/>
              </a:rPr>
              <a:t>Kedai</a:t>
            </a:r>
            <a:r>
              <a:rPr lang="id-ID" altLang="en-US" sz="2400" dirty="0">
                <a:solidFill>
                  <a:srgbClr val="1F2328"/>
                </a:solidFill>
              </a:rPr>
              <a:t> (DIP).</a:t>
            </a:r>
            <a:endParaRPr lang="id-ID" sz="2400" dirty="0"/>
          </a:p>
        </p:txBody>
      </p:sp>
      <p:sp>
        <p:nvSpPr>
          <p:cNvPr id="13" name="Shape 9"/>
          <p:cNvSpPr/>
          <p:nvPr/>
        </p:nvSpPr>
        <p:spPr>
          <a:xfrm>
            <a:off x="3346704" y="4028115"/>
            <a:ext cx="137160" cy="137160"/>
          </a:xfrm>
          <a:prstGeom prst="roundRect">
            <a:avLst>
              <a:gd name="adj" fmla="val 166667"/>
            </a:avLst>
          </a:prstGeom>
          <a:solidFill>
            <a:srgbClr val="0969DA"/>
          </a:solidFill>
          <a:ln/>
        </p:spPr>
      </p:sp>
      <p:sp>
        <p:nvSpPr>
          <p:cNvPr id="14" name="Text 10"/>
          <p:cNvSpPr txBox="1"/>
          <p:nvPr/>
        </p:nvSpPr>
        <p:spPr>
          <a:xfrm>
            <a:off x="3675888" y="3910767"/>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Pertemuan 11: kita mengintip </a:t>
            </a:r>
            <a:r>
              <a:rPr lang="id-ID" altLang="en-US" sz="2400" dirty="0">
                <a:solidFill>
                  <a:srgbClr val="1F2328"/>
                </a:solidFill>
                <a:latin typeface="Consolas" pitchFamily="34" charset="0"/>
                <a:ea typeface="Consolas" pitchFamily="34" charset="-122"/>
                <a:cs typeface="Consolas" pitchFamily="34" charset="-120"/>
              </a:rPr>
              <a:t>with</a:t>
            </a:r>
            <a:r>
              <a:rPr lang="id-ID" altLang="en-US" sz="2400" dirty="0">
                <a:solidFill>
                  <a:srgbClr val="1F2328"/>
                </a:solidFill>
              </a:rPr>
              <a:t> (Python) dan </a:t>
            </a:r>
            <a:r>
              <a:rPr lang="id-ID" altLang="en-US" sz="2400" i="1" dirty="0">
                <a:solidFill>
                  <a:srgbClr val="1F2328"/>
                </a:solidFill>
              </a:rPr>
              <a:t>try-⁠with-⁠resources</a:t>
            </a:r>
            <a:r>
              <a:rPr lang="id-ID" altLang="en-US" sz="2400" dirty="0">
                <a:solidFill>
                  <a:srgbClr val="1F2328"/>
                </a:solidFill>
              </a:rPr>
              <a:t> (Java) untuk </a:t>
            </a:r>
            <a:r>
              <a:rPr lang="id-ID" altLang="en-US" sz="2400" i="1" dirty="0">
                <a:solidFill>
                  <a:srgbClr val="1F2328"/>
                </a:solidFill>
              </a:rPr>
              <a:t>file</a:t>
            </a:r>
            <a:r>
              <a:rPr lang="id-ID" altLang="en-US" sz="2400" dirty="0">
                <a:solidFill>
                  <a:srgbClr val="1F2328"/>
                </a:solidFill>
              </a:rPr>
              <a:t>.</a:t>
            </a:r>
            <a:endParaRPr lang="id-ID" sz="2400" dirty="0"/>
          </a:p>
        </p:txBody>
      </p:sp>
      <p:sp>
        <p:nvSpPr>
          <p:cNvPr id="15" name="Shape 11"/>
          <p:cNvSpPr/>
          <p:nvPr/>
        </p:nvSpPr>
        <p:spPr>
          <a:xfrm>
            <a:off x="3346704" y="5046147"/>
            <a:ext cx="137160" cy="137160"/>
          </a:xfrm>
          <a:prstGeom prst="roundRect">
            <a:avLst>
              <a:gd name="adj" fmla="val 166667"/>
            </a:avLst>
          </a:prstGeom>
          <a:solidFill>
            <a:srgbClr val="0969DA"/>
          </a:solidFill>
          <a:ln/>
        </p:spPr>
      </p:sp>
      <p:sp>
        <p:nvSpPr>
          <p:cNvPr id="16" name="Text 12"/>
          <p:cNvSpPr txBox="1"/>
          <p:nvPr/>
        </p:nvSpPr>
        <p:spPr>
          <a:xfrm>
            <a:off x="3675888" y="4928799"/>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Masalahnya, data KedaiKita versi Pertemuan 14 masih ditulis di kode dan </a:t>
            </a:r>
            <a:r>
              <a:rPr lang="id-ID" altLang="en-US" sz="2400" b="1" dirty="0">
                <a:solidFill>
                  <a:srgbClr val="1F2328"/>
                </a:solidFill>
              </a:rPr>
              <a:t>hilang</a:t>
            </a:r>
            <a:r>
              <a:rPr lang="id-ID" altLang="en-US" sz="2400" dirty="0">
                <a:solidFill>
                  <a:srgbClr val="1F2328"/>
                </a:solidFill>
              </a:rPr>
              <a:t> saat program ditutup.</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Agenda Hari Ini</a:t>
            </a:r>
            <a:endParaRPr lang="id-ID" sz="3200" dirty="0"/>
          </a:p>
        </p:txBody>
      </p:sp>
      <p:sp>
        <p:nvSpPr>
          <p:cNvPr id="5" name="Shape 2"/>
          <p:cNvSpPr/>
          <p:nvPr/>
        </p:nvSpPr>
        <p:spPr>
          <a:xfrm>
            <a:off x="548640" y="1709420"/>
            <a:ext cx="3515258" cy="1824736"/>
          </a:xfrm>
          <a:prstGeom prst="roundRect">
            <a:avLst>
              <a:gd name="adj" fmla="val 3013"/>
            </a:avLst>
          </a:prstGeom>
          <a:solidFill>
            <a:srgbClr val="F6F8FA"/>
          </a:solidFill>
          <a:ln w="9525">
            <a:solidFill>
              <a:srgbClr val="D0D7DE"/>
            </a:solidFill>
            <a:prstDash val="solid"/>
          </a:ln>
        </p:spPr>
      </p:sp>
      <p:sp>
        <p:nvSpPr>
          <p:cNvPr id="6" name="Shape 3"/>
          <p:cNvSpPr/>
          <p:nvPr/>
        </p:nvSpPr>
        <p:spPr>
          <a:xfrm>
            <a:off x="777240" y="1938020"/>
            <a:ext cx="512064" cy="512064"/>
          </a:xfrm>
          <a:prstGeom prst="ellipse">
            <a:avLst/>
          </a:prstGeom>
          <a:solidFill>
            <a:srgbClr val="0969DA"/>
          </a:solidFill>
          <a:ln/>
        </p:spPr>
      </p:sp>
      <p:sp>
        <p:nvSpPr>
          <p:cNvPr id="7" name="Text 4"/>
          <p:cNvSpPr txBox="1"/>
          <p:nvPr/>
        </p:nvSpPr>
        <p:spPr>
          <a:xfrm>
            <a:off x="777240"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1</a:t>
            </a:r>
            <a:endParaRPr lang="id-ID" sz="2000" dirty="0"/>
          </a:p>
        </p:txBody>
      </p:sp>
      <p:sp>
        <p:nvSpPr>
          <p:cNvPr id="8" name="Text 5"/>
          <p:cNvSpPr txBox="1"/>
          <p:nvPr/>
        </p:nvSpPr>
        <p:spPr>
          <a:xfrm>
            <a:off x="777240"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Dari latihan ke aplikasi nyata</a:t>
            </a:r>
            <a:endParaRPr lang="id-ID" sz="2200" dirty="0"/>
          </a:p>
        </p:txBody>
      </p:sp>
      <p:sp>
        <p:nvSpPr>
          <p:cNvPr id="9" name="Shape 6"/>
          <p:cNvSpPr/>
          <p:nvPr/>
        </p:nvSpPr>
        <p:spPr>
          <a:xfrm>
            <a:off x="4338218" y="1709420"/>
            <a:ext cx="3515258" cy="1824736"/>
          </a:xfrm>
          <a:prstGeom prst="roundRect">
            <a:avLst>
              <a:gd name="adj" fmla="val 3013"/>
            </a:avLst>
          </a:prstGeom>
          <a:solidFill>
            <a:srgbClr val="F6F8FA"/>
          </a:solidFill>
          <a:ln w="9525">
            <a:solidFill>
              <a:srgbClr val="D0D7DE"/>
            </a:solidFill>
            <a:prstDash val="solid"/>
          </a:ln>
        </p:spPr>
      </p:sp>
      <p:sp>
        <p:nvSpPr>
          <p:cNvPr id="10" name="Shape 7"/>
          <p:cNvSpPr/>
          <p:nvPr/>
        </p:nvSpPr>
        <p:spPr>
          <a:xfrm>
            <a:off x="4566818" y="1938020"/>
            <a:ext cx="512064" cy="512064"/>
          </a:xfrm>
          <a:prstGeom prst="ellipse">
            <a:avLst/>
          </a:prstGeom>
          <a:solidFill>
            <a:srgbClr val="0969DA"/>
          </a:solidFill>
          <a:ln/>
        </p:spPr>
      </p:sp>
      <p:sp>
        <p:nvSpPr>
          <p:cNvPr id="11" name="Text 8"/>
          <p:cNvSpPr txBox="1"/>
          <p:nvPr/>
        </p:nvSpPr>
        <p:spPr>
          <a:xfrm>
            <a:off x="4566818"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2</a:t>
            </a:r>
            <a:endParaRPr lang="id-ID" sz="2000" dirty="0"/>
          </a:p>
        </p:txBody>
      </p:sp>
      <p:sp>
        <p:nvSpPr>
          <p:cNvPr id="12" name="Text 9"/>
          <p:cNvSpPr txBox="1"/>
          <p:nvPr/>
        </p:nvSpPr>
        <p:spPr>
          <a:xfrm>
            <a:off x="4566818"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Arsitektur berlapis dan </a:t>
            </a:r>
            <a:r>
              <a:rPr lang="id-ID" altLang="en-US" sz="2200" i="1" dirty="0">
                <a:solidFill>
                  <a:srgbClr val="1F2328"/>
                </a:solidFill>
              </a:rPr>
              <a:t>package</a:t>
            </a:r>
            <a:endParaRPr lang="id-ID" sz="2200" dirty="0"/>
          </a:p>
        </p:txBody>
      </p:sp>
      <p:sp>
        <p:nvSpPr>
          <p:cNvPr id="13" name="Shape 10"/>
          <p:cNvSpPr/>
          <p:nvPr/>
        </p:nvSpPr>
        <p:spPr>
          <a:xfrm>
            <a:off x="8127797" y="1709420"/>
            <a:ext cx="3515258" cy="1824736"/>
          </a:xfrm>
          <a:prstGeom prst="roundRect">
            <a:avLst>
              <a:gd name="adj" fmla="val 3013"/>
            </a:avLst>
          </a:prstGeom>
          <a:solidFill>
            <a:srgbClr val="F6F8FA"/>
          </a:solidFill>
          <a:ln w="9525">
            <a:solidFill>
              <a:srgbClr val="D0D7DE"/>
            </a:solidFill>
            <a:prstDash val="solid"/>
          </a:ln>
        </p:spPr>
      </p:sp>
      <p:sp>
        <p:nvSpPr>
          <p:cNvPr id="14" name="Shape 11"/>
          <p:cNvSpPr/>
          <p:nvPr/>
        </p:nvSpPr>
        <p:spPr>
          <a:xfrm>
            <a:off x="8356397" y="1938020"/>
            <a:ext cx="512064" cy="512064"/>
          </a:xfrm>
          <a:prstGeom prst="ellipse">
            <a:avLst/>
          </a:prstGeom>
          <a:solidFill>
            <a:srgbClr val="0969DA"/>
          </a:solidFill>
          <a:ln/>
        </p:spPr>
      </p:sp>
      <p:sp>
        <p:nvSpPr>
          <p:cNvPr id="15" name="Text 12"/>
          <p:cNvSpPr txBox="1"/>
          <p:nvPr/>
        </p:nvSpPr>
        <p:spPr>
          <a:xfrm>
            <a:off x="8356397"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3</a:t>
            </a:r>
            <a:endParaRPr lang="id-ID" sz="2000" dirty="0"/>
          </a:p>
        </p:txBody>
      </p:sp>
      <p:sp>
        <p:nvSpPr>
          <p:cNvPr id="16" name="Text 13"/>
          <p:cNvSpPr txBox="1"/>
          <p:nvPr/>
        </p:nvSpPr>
        <p:spPr>
          <a:xfrm>
            <a:off x="8356397"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Menyimpan data ke </a:t>
            </a:r>
            <a:r>
              <a:rPr lang="id-ID" altLang="en-US" sz="2200" i="1" dirty="0">
                <a:solidFill>
                  <a:srgbClr val="1F2328"/>
                </a:solidFill>
              </a:rPr>
              <a:t>file</a:t>
            </a:r>
            <a:endParaRPr lang="id-ID" sz="2200" dirty="0"/>
          </a:p>
        </p:txBody>
      </p:sp>
      <p:sp>
        <p:nvSpPr>
          <p:cNvPr id="17" name="Shape 14"/>
          <p:cNvSpPr/>
          <p:nvPr/>
        </p:nvSpPr>
        <p:spPr>
          <a:xfrm>
            <a:off x="548640" y="3808476"/>
            <a:ext cx="3515258" cy="1824736"/>
          </a:xfrm>
          <a:prstGeom prst="roundRect">
            <a:avLst>
              <a:gd name="adj" fmla="val 3013"/>
            </a:avLst>
          </a:prstGeom>
          <a:solidFill>
            <a:srgbClr val="F6F8FA"/>
          </a:solidFill>
          <a:ln w="9525">
            <a:solidFill>
              <a:srgbClr val="D0D7DE"/>
            </a:solidFill>
            <a:prstDash val="solid"/>
          </a:ln>
        </p:spPr>
      </p:sp>
      <p:sp>
        <p:nvSpPr>
          <p:cNvPr id="18" name="Shape 15"/>
          <p:cNvSpPr/>
          <p:nvPr/>
        </p:nvSpPr>
        <p:spPr>
          <a:xfrm>
            <a:off x="777240" y="4037076"/>
            <a:ext cx="512064" cy="512064"/>
          </a:xfrm>
          <a:prstGeom prst="ellipse">
            <a:avLst/>
          </a:prstGeom>
          <a:solidFill>
            <a:srgbClr val="0969DA"/>
          </a:solidFill>
          <a:ln/>
        </p:spPr>
      </p:sp>
      <p:sp>
        <p:nvSpPr>
          <p:cNvPr id="19" name="Text 16"/>
          <p:cNvSpPr txBox="1"/>
          <p:nvPr/>
        </p:nvSpPr>
        <p:spPr>
          <a:xfrm>
            <a:off x="777240"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4</a:t>
            </a:r>
            <a:endParaRPr lang="id-ID" sz="2000" dirty="0"/>
          </a:p>
        </p:txBody>
      </p:sp>
      <p:sp>
        <p:nvSpPr>
          <p:cNvPr id="20" name="Text 17"/>
          <p:cNvSpPr txBox="1"/>
          <p:nvPr/>
        </p:nvSpPr>
        <p:spPr>
          <a:xfrm>
            <a:off x="777240" y="4677156"/>
            <a:ext cx="3058058" cy="773176"/>
          </a:xfrm>
          <a:prstGeom prst="rect">
            <a:avLst/>
          </a:prstGeom>
          <a:noFill/>
          <a:ln/>
        </p:spPr>
        <p:txBody>
          <a:bodyPr wrap="square" lIns="0" tIns="0" rIns="0" bIns="0" rtlCol="0" anchor="t"/>
          <a:lstStyle/>
          <a:p>
            <a:pPr indent="0" marL="0">
              <a:buNone/>
            </a:pPr>
            <a:r>
              <a:rPr lang="id-ID" altLang="en-US" sz="2200" i="1" dirty="0">
                <a:solidFill>
                  <a:srgbClr val="1F2328"/>
                </a:solidFill>
              </a:rPr>
              <a:t>Input</a:t>
            </a:r>
            <a:r>
              <a:rPr lang="id-ID" altLang="en-US" sz="2200" dirty="0">
                <a:solidFill>
                  <a:srgbClr val="1F2328"/>
                </a:solidFill>
              </a:rPr>
              <a:t> aman dan </a:t>
            </a:r>
            <a:r>
              <a:rPr lang="id-ID" altLang="en-US" sz="2200" i="1" dirty="0">
                <a:solidFill>
                  <a:srgbClr val="1F2328"/>
                </a:solidFill>
              </a:rPr>
              <a:t>unit test</a:t>
            </a:r>
            <a:endParaRPr lang="id-ID" sz="2200" dirty="0"/>
          </a:p>
        </p:txBody>
      </p:sp>
      <p:sp>
        <p:nvSpPr>
          <p:cNvPr id="21" name="Shape 18"/>
          <p:cNvSpPr/>
          <p:nvPr/>
        </p:nvSpPr>
        <p:spPr>
          <a:xfrm>
            <a:off x="4338218" y="3808476"/>
            <a:ext cx="3515258" cy="1824736"/>
          </a:xfrm>
          <a:prstGeom prst="roundRect">
            <a:avLst>
              <a:gd name="adj" fmla="val 3013"/>
            </a:avLst>
          </a:prstGeom>
          <a:solidFill>
            <a:srgbClr val="F6F8FA"/>
          </a:solidFill>
          <a:ln w="9525">
            <a:solidFill>
              <a:srgbClr val="D0D7DE"/>
            </a:solidFill>
            <a:prstDash val="solid"/>
          </a:ln>
        </p:spPr>
      </p:sp>
      <p:sp>
        <p:nvSpPr>
          <p:cNvPr id="22" name="Shape 19"/>
          <p:cNvSpPr/>
          <p:nvPr/>
        </p:nvSpPr>
        <p:spPr>
          <a:xfrm>
            <a:off x="4566818" y="4037076"/>
            <a:ext cx="512064" cy="512064"/>
          </a:xfrm>
          <a:prstGeom prst="ellipse">
            <a:avLst/>
          </a:prstGeom>
          <a:solidFill>
            <a:srgbClr val="0969DA"/>
          </a:solidFill>
          <a:ln/>
        </p:spPr>
      </p:sp>
      <p:sp>
        <p:nvSpPr>
          <p:cNvPr id="23" name="Text 20"/>
          <p:cNvSpPr txBox="1"/>
          <p:nvPr/>
        </p:nvSpPr>
        <p:spPr>
          <a:xfrm>
            <a:off x="4566818"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5</a:t>
            </a:r>
            <a:endParaRPr lang="id-ID" sz="2000" dirty="0"/>
          </a:p>
        </p:txBody>
      </p:sp>
      <p:sp>
        <p:nvSpPr>
          <p:cNvPr id="24" name="Text 21"/>
          <p:cNvSpPr txBox="1"/>
          <p:nvPr/>
        </p:nvSpPr>
        <p:spPr>
          <a:xfrm>
            <a:off x="4566818"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Studi kasus KedaiKita: aplikasi kasir utuh</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1</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1</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Dari Latihan ke Aplikasi Nyata</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Program latihan cukup membuktikan konsep; aplikasi nyata dipakai orang setiap hari.</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Program Latihan dan Aplikasi Nyata</a:t>
            </a:r>
            <a:endParaRPr lang="id-ID"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19717"/>
          <a:ext cx="11094415" cy="914400"/>
        </p:xfrm>
        <a:graphic>
          <a:graphicData uri="http://schemas.openxmlformats.org/drawingml/2006/table">
            <a:tbl>
              <a:tblPr/>
              <a:tblGrid>
                <a:gridCol w="4992005"/>
                <a:gridCol w="6102410"/>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Program latihan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Aplikasi nyata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Data ditulis langsung di kode</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Data dibaca dari </a:t>
                      </a:r>
                      <a:r>
                        <a:rPr lang="id-ID" altLang="en-US" sz="2200" i="1" dirty="0">
                          <a:solidFill>
                            <a:srgbClr val="1F2328"/>
                          </a:solidFill>
                          <a:latin typeface="Calibri" pitchFamily="34" charset="0"/>
                          <a:ea typeface="Calibri" pitchFamily="34" charset="-122"/>
                          <a:cs typeface="Calibri" pitchFamily="34" charset="-120"/>
                        </a:rPr>
                        <a:t>file</a:t>
                      </a:r>
                      <a:r>
                        <a:rPr lang="id-ID" altLang="en-US" sz="2200" dirty="0">
                          <a:solidFill>
                            <a:srgbClr val="1F2328"/>
                          </a:solidFill>
                          <a:latin typeface="Calibri" pitchFamily="34" charset="0"/>
                          <a:ea typeface="Calibri" pitchFamily="34" charset="-122"/>
                          <a:cs typeface="Calibri" pitchFamily="34" charset="-120"/>
                        </a:rPr>
                        <a:t>, dan perubahan disimpan kembali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Dijalankan sekali lalu selesai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Dipakai berulang kali; data hari ini masih ada besok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Masukan sudah “pasti benar”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Pengguna bisa salah ketik kapan saja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Diperiksa dengan mata: “kelihatannya benar”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Diperiksa otomatis oleh </a:t>
                      </a:r>
                      <a:r>
                        <a:rPr lang="id-ID" altLang="en-US" sz="2200" i="1" dirty="0">
                          <a:solidFill>
                            <a:srgbClr val="1F2328"/>
                          </a:solidFill>
                          <a:latin typeface="Calibri" pitchFamily="34" charset="0"/>
                          <a:ea typeface="Calibri" pitchFamily="34" charset="-122"/>
                          <a:cs typeface="Calibri" pitchFamily="34" charset="-120"/>
                        </a:rPr>
                        <a:t>unit test</a:t>
                      </a:r>
                      <a:r>
                        <a:rPr lang="id-ID" altLang="en-US" sz="2200" dirty="0">
                          <a:solidFill>
                            <a:srgbClr val="1F2328"/>
                          </a:solidFill>
                          <a:latin typeface="Calibri" pitchFamily="34" charset="0"/>
                          <a:ea typeface="Calibri" pitchFamily="34" charset="-122"/>
                          <a:cs typeface="Calibri" pitchFamily="34" charset="-120"/>
                        </a:rPr>
                        <a:t> setiap kali kode berubah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Satu-⁠dua </a:t>
                      </a:r>
                      <a:r>
                        <a:rPr lang="id-ID" altLang="en-US" sz="2200" i="1" dirty="0">
                          <a:solidFill>
                            <a:srgbClr val="1F2328"/>
                          </a:solidFill>
                          <a:latin typeface="Calibri" pitchFamily="34" charset="0"/>
                          <a:ea typeface="Calibri" pitchFamily="34" charset="-122"/>
                          <a:cs typeface="Calibri" pitchFamily="34" charset="-120"/>
                        </a:rPr>
                        <a:t>file</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Puluhan </a:t>
                      </a:r>
                      <a:r>
                        <a:rPr lang="id-ID" altLang="en-US" sz="2200" i="1" dirty="0">
                          <a:solidFill>
                            <a:srgbClr val="1F2328"/>
                          </a:solidFill>
                          <a:latin typeface="Calibri" pitchFamily="34" charset="0"/>
                          <a:ea typeface="Calibri" pitchFamily="34" charset="-122"/>
                          <a:cs typeface="Calibri" pitchFamily="34" charset="-120"/>
                        </a:rPr>
                        <a:t>file</a:t>
                      </a:r>
                      <a:r>
                        <a:rPr lang="id-ID" altLang="en-US" sz="2200" dirty="0">
                          <a:solidFill>
                            <a:srgbClr val="1F2328"/>
                          </a:solidFill>
                          <a:latin typeface="Calibri" pitchFamily="34" charset="0"/>
                          <a:ea typeface="Calibri" pitchFamily="34" charset="-122"/>
                          <a:cs typeface="Calibri" pitchFamily="34" charset="-120"/>
                        </a:rPr>
                        <a:t> yang perlu ditata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Alur Membangun Aplikasi</a:t>
            </a:r>
            <a:endParaRPr lang="id-ID" sz="3200" dirty="0"/>
          </a:p>
        </p:txBody>
      </p:sp>
      <p:sp>
        <p:nvSpPr>
          <p:cNvPr id="5" name="Shape 2"/>
          <p:cNvSpPr/>
          <p:nvPr/>
        </p:nvSpPr>
        <p:spPr>
          <a:xfrm>
            <a:off x="548640" y="1855135"/>
            <a:ext cx="2464994" cy="3049524"/>
          </a:xfrm>
          <a:prstGeom prst="roundRect">
            <a:avLst>
              <a:gd name="adj" fmla="val 1651"/>
            </a:avLst>
          </a:prstGeom>
          <a:solidFill>
            <a:srgbClr val="F6F8FA"/>
          </a:solidFill>
          <a:ln w="9525">
            <a:solidFill>
              <a:srgbClr val="D0D7DE"/>
            </a:solidFill>
            <a:prstDash val="solid"/>
          </a:ln>
        </p:spPr>
      </p:sp>
      <p:sp>
        <p:nvSpPr>
          <p:cNvPr id="6" name="Shape 3"/>
          <p:cNvSpPr/>
          <p:nvPr/>
        </p:nvSpPr>
        <p:spPr>
          <a:xfrm>
            <a:off x="777240" y="2083735"/>
            <a:ext cx="512064" cy="512064"/>
          </a:xfrm>
          <a:prstGeom prst="ellipse">
            <a:avLst/>
          </a:prstGeom>
          <a:solidFill>
            <a:srgbClr val="0969DA"/>
          </a:solidFill>
          <a:ln/>
        </p:spPr>
      </p:sp>
      <p:sp>
        <p:nvSpPr>
          <p:cNvPr id="7" name="Text 4"/>
          <p:cNvSpPr txBox="1"/>
          <p:nvPr/>
        </p:nvSpPr>
        <p:spPr>
          <a:xfrm>
            <a:off x="777240" y="2083735"/>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1</a:t>
            </a:r>
            <a:endParaRPr lang="id-ID" sz="2000" dirty="0"/>
          </a:p>
        </p:txBody>
      </p:sp>
      <p:sp>
        <p:nvSpPr>
          <p:cNvPr id="8" name="Text 5"/>
          <p:cNvSpPr txBox="1"/>
          <p:nvPr/>
        </p:nvSpPr>
        <p:spPr>
          <a:xfrm>
            <a:off x="777240" y="2723815"/>
            <a:ext cx="2007794" cy="2089404"/>
          </a:xfrm>
          <a:prstGeom prst="rect">
            <a:avLst/>
          </a:prstGeom>
          <a:noFill/>
          <a:ln/>
        </p:spPr>
        <p:txBody>
          <a:bodyPr wrap="square" lIns="0" tIns="0" rIns="0" bIns="0" rtlCol="0" anchor="t"/>
          <a:lstStyle/>
          <a:p>
            <a:pPr indent="0" marL="0">
              <a:buNone/>
            </a:pPr>
            <a:r>
              <a:rPr lang="id-ID" altLang="en-US" sz="2100" b="1" dirty="0">
                <a:solidFill>
                  <a:srgbClr val="1F2328"/>
                </a:solidFill>
              </a:rPr>
              <a:t>Kebutuhan</a:t>
            </a:r>
            <a:r>
              <a:rPr lang="id-ID" altLang="en-US" sz="2100" dirty="0">
                <a:solidFill>
                  <a:srgbClr val="1F2328"/>
                </a:solidFill>
              </a:rPr>
              <a:t>: apa yang harus bisa dilakukan aplikasi.</a:t>
            </a:r>
            <a:endParaRPr lang="id-ID" sz="2100" dirty="0"/>
          </a:p>
        </p:txBody>
      </p:sp>
      <p:pic>
        <p:nvPicPr>
          <p:cNvPr id="9" name="Image 1" descr="preencoded.png">    </p:cNvPr>
          <p:cNvPicPr>
            <a:picLocks noChangeAspect="1"/>
          </p:cNvPicPr>
          <p:nvPr/>
        </p:nvPicPr>
        <p:blipFill>
          <a:blip r:embed="rId2"/>
          <a:stretch>
            <a:fillRect/>
          </a:stretch>
        </p:blipFill>
        <p:spPr>
          <a:xfrm>
            <a:off x="3063926" y="3224449"/>
            <a:ext cx="310896" cy="310896"/>
          </a:xfrm>
          <a:prstGeom prst="rect">
            <a:avLst/>
          </a:prstGeom>
        </p:spPr>
      </p:pic>
      <p:sp>
        <p:nvSpPr>
          <p:cNvPr id="10" name="Shape 6"/>
          <p:cNvSpPr/>
          <p:nvPr/>
        </p:nvSpPr>
        <p:spPr>
          <a:xfrm>
            <a:off x="3425114" y="1855135"/>
            <a:ext cx="2464994" cy="3049524"/>
          </a:xfrm>
          <a:prstGeom prst="roundRect">
            <a:avLst>
              <a:gd name="adj" fmla="val 1651"/>
            </a:avLst>
          </a:prstGeom>
          <a:solidFill>
            <a:srgbClr val="F6F8FA"/>
          </a:solidFill>
          <a:ln w="9525">
            <a:solidFill>
              <a:srgbClr val="D0D7DE"/>
            </a:solidFill>
            <a:prstDash val="solid"/>
          </a:ln>
        </p:spPr>
      </p:sp>
      <p:sp>
        <p:nvSpPr>
          <p:cNvPr id="11" name="Shape 7"/>
          <p:cNvSpPr/>
          <p:nvPr/>
        </p:nvSpPr>
        <p:spPr>
          <a:xfrm>
            <a:off x="3653714" y="2083735"/>
            <a:ext cx="512064" cy="512064"/>
          </a:xfrm>
          <a:prstGeom prst="ellipse">
            <a:avLst/>
          </a:prstGeom>
          <a:solidFill>
            <a:srgbClr val="0969DA"/>
          </a:solidFill>
          <a:ln/>
        </p:spPr>
      </p:sp>
      <p:sp>
        <p:nvSpPr>
          <p:cNvPr id="12" name="Text 8"/>
          <p:cNvSpPr txBox="1"/>
          <p:nvPr/>
        </p:nvSpPr>
        <p:spPr>
          <a:xfrm>
            <a:off x="3653714" y="2083735"/>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2</a:t>
            </a:r>
            <a:endParaRPr lang="id-ID" sz="2000" dirty="0"/>
          </a:p>
        </p:txBody>
      </p:sp>
      <p:sp>
        <p:nvSpPr>
          <p:cNvPr id="13" name="Text 9"/>
          <p:cNvSpPr txBox="1"/>
          <p:nvPr/>
        </p:nvSpPr>
        <p:spPr>
          <a:xfrm>
            <a:off x="3653714" y="2723815"/>
            <a:ext cx="2007794" cy="2089404"/>
          </a:xfrm>
          <a:prstGeom prst="rect">
            <a:avLst/>
          </a:prstGeom>
          <a:noFill/>
          <a:ln/>
        </p:spPr>
        <p:txBody>
          <a:bodyPr wrap="square" lIns="0" tIns="0" rIns="0" bIns="0" rtlCol="0" anchor="t"/>
          <a:lstStyle/>
          <a:p>
            <a:pPr indent="0" marL="0">
              <a:buNone/>
            </a:pPr>
            <a:r>
              <a:rPr lang="id-ID" altLang="en-US" sz="2100" b="1" dirty="0">
                <a:solidFill>
                  <a:srgbClr val="1F2328"/>
                </a:solidFill>
              </a:rPr>
              <a:t>Rancangan</a:t>
            </a:r>
            <a:r>
              <a:rPr lang="id-ID" altLang="en-US" sz="2100" dirty="0">
                <a:solidFill>
                  <a:srgbClr val="1F2328"/>
                </a:solidFill>
              </a:rPr>
              <a:t>: diagram kelas UML.</a:t>
            </a:r>
            <a:endParaRPr lang="id-ID" sz="2100" dirty="0"/>
          </a:p>
        </p:txBody>
      </p:sp>
      <p:pic>
        <p:nvPicPr>
          <p:cNvPr id="14" name="Image 2" descr="preencoded.png">    </p:cNvPr>
          <p:cNvPicPr>
            <a:picLocks noChangeAspect="1"/>
          </p:cNvPicPr>
          <p:nvPr/>
        </p:nvPicPr>
        <p:blipFill>
          <a:blip r:embed="rId3"/>
          <a:stretch>
            <a:fillRect/>
          </a:stretch>
        </p:blipFill>
        <p:spPr>
          <a:xfrm>
            <a:off x="5940400" y="3224449"/>
            <a:ext cx="310896" cy="310896"/>
          </a:xfrm>
          <a:prstGeom prst="rect">
            <a:avLst/>
          </a:prstGeom>
        </p:spPr>
      </p:pic>
      <p:sp>
        <p:nvSpPr>
          <p:cNvPr id="15" name="Shape 10"/>
          <p:cNvSpPr/>
          <p:nvPr/>
        </p:nvSpPr>
        <p:spPr>
          <a:xfrm>
            <a:off x="6301588" y="1855135"/>
            <a:ext cx="2464994" cy="3049524"/>
          </a:xfrm>
          <a:prstGeom prst="roundRect">
            <a:avLst>
              <a:gd name="adj" fmla="val 1651"/>
            </a:avLst>
          </a:prstGeom>
          <a:solidFill>
            <a:srgbClr val="F6F8FA"/>
          </a:solidFill>
          <a:ln w="9525">
            <a:solidFill>
              <a:srgbClr val="D0D7DE"/>
            </a:solidFill>
            <a:prstDash val="solid"/>
          </a:ln>
        </p:spPr>
      </p:sp>
      <p:sp>
        <p:nvSpPr>
          <p:cNvPr id="16" name="Shape 11"/>
          <p:cNvSpPr/>
          <p:nvPr/>
        </p:nvSpPr>
        <p:spPr>
          <a:xfrm>
            <a:off x="6530188" y="2083735"/>
            <a:ext cx="512064" cy="512064"/>
          </a:xfrm>
          <a:prstGeom prst="ellipse">
            <a:avLst/>
          </a:prstGeom>
          <a:solidFill>
            <a:srgbClr val="0969DA"/>
          </a:solidFill>
          <a:ln/>
        </p:spPr>
      </p:sp>
      <p:sp>
        <p:nvSpPr>
          <p:cNvPr id="17" name="Text 12"/>
          <p:cNvSpPr txBox="1"/>
          <p:nvPr/>
        </p:nvSpPr>
        <p:spPr>
          <a:xfrm>
            <a:off x="6530188" y="2083735"/>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3</a:t>
            </a:r>
            <a:endParaRPr lang="id-ID" sz="2000" dirty="0"/>
          </a:p>
        </p:txBody>
      </p:sp>
      <p:sp>
        <p:nvSpPr>
          <p:cNvPr id="18" name="Text 13"/>
          <p:cNvSpPr txBox="1"/>
          <p:nvPr/>
        </p:nvSpPr>
        <p:spPr>
          <a:xfrm>
            <a:off x="6530188" y="2723815"/>
            <a:ext cx="2007794" cy="2089404"/>
          </a:xfrm>
          <a:prstGeom prst="rect">
            <a:avLst/>
          </a:prstGeom>
          <a:noFill/>
          <a:ln/>
        </p:spPr>
        <p:txBody>
          <a:bodyPr wrap="square" lIns="0" tIns="0" rIns="0" bIns="0" rtlCol="0" anchor="t"/>
          <a:lstStyle/>
          <a:p>
            <a:pPr indent="0" marL="0">
              <a:buNone/>
            </a:pPr>
            <a:r>
              <a:rPr lang="id-ID" altLang="en-US" sz="2100" b="1" dirty="0">
                <a:solidFill>
                  <a:srgbClr val="1F2328"/>
                </a:solidFill>
              </a:rPr>
              <a:t>Implementasi</a:t>
            </a:r>
            <a:r>
              <a:rPr lang="id-ID" altLang="en-US" sz="2100" dirty="0">
                <a:solidFill>
                  <a:srgbClr val="1F2328"/>
                </a:solidFill>
              </a:rPr>
              <a:t>: sedikit demi sedikit, setiap potongan langsung dicoba.</a:t>
            </a:r>
            <a:endParaRPr lang="id-ID" sz="2100" dirty="0"/>
          </a:p>
        </p:txBody>
      </p:sp>
      <p:pic>
        <p:nvPicPr>
          <p:cNvPr id="19" name="Image 3" descr="preencoded.png">    </p:cNvPr>
          <p:cNvPicPr>
            <a:picLocks noChangeAspect="1"/>
          </p:cNvPicPr>
          <p:nvPr/>
        </p:nvPicPr>
        <p:blipFill>
          <a:blip r:embed="rId4"/>
          <a:stretch>
            <a:fillRect/>
          </a:stretch>
        </p:blipFill>
        <p:spPr>
          <a:xfrm>
            <a:off x="8816873" y="3224449"/>
            <a:ext cx="310896" cy="310896"/>
          </a:xfrm>
          <a:prstGeom prst="rect">
            <a:avLst/>
          </a:prstGeom>
        </p:spPr>
      </p:pic>
      <p:sp>
        <p:nvSpPr>
          <p:cNvPr id="20" name="Shape 14"/>
          <p:cNvSpPr/>
          <p:nvPr/>
        </p:nvSpPr>
        <p:spPr>
          <a:xfrm>
            <a:off x="9178061" y="1855135"/>
            <a:ext cx="2464994" cy="3049524"/>
          </a:xfrm>
          <a:prstGeom prst="roundRect">
            <a:avLst>
              <a:gd name="adj" fmla="val 1651"/>
            </a:avLst>
          </a:prstGeom>
          <a:solidFill>
            <a:srgbClr val="F6F8FA"/>
          </a:solidFill>
          <a:ln w="9525">
            <a:solidFill>
              <a:srgbClr val="D0D7DE"/>
            </a:solidFill>
            <a:prstDash val="solid"/>
          </a:ln>
        </p:spPr>
      </p:sp>
      <p:sp>
        <p:nvSpPr>
          <p:cNvPr id="21" name="Shape 15"/>
          <p:cNvSpPr/>
          <p:nvPr/>
        </p:nvSpPr>
        <p:spPr>
          <a:xfrm>
            <a:off x="9406661" y="2083735"/>
            <a:ext cx="512064" cy="512064"/>
          </a:xfrm>
          <a:prstGeom prst="ellipse">
            <a:avLst/>
          </a:prstGeom>
          <a:solidFill>
            <a:srgbClr val="0969DA"/>
          </a:solidFill>
          <a:ln/>
        </p:spPr>
      </p:sp>
      <p:sp>
        <p:nvSpPr>
          <p:cNvPr id="22" name="Text 16"/>
          <p:cNvSpPr txBox="1"/>
          <p:nvPr/>
        </p:nvSpPr>
        <p:spPr>
          <a:xfrm>
            <a:off x="9406661" y="2083735"/>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4</a:t>
            </a:r>
            <a:endParaRPr lang="id-ID" sz="2000" dirty="0"/>
          </a:p>
        </p:txBody>
      </p:sp>
      <p:sp>
        <p:nvSpPr>
          <p:cNvPr id="23" name="Text 17"/>
          <p:cNvSpPr txBox="1"/>
          <p:nvPr/>
        </p:nvSpPr>
        <p:spPr>
          <a:xfrm>
            <a:off x="9406661" y="2723815"/>
            <a:ext cx="2007794" cy="2089404"/>
          </a:xfrm>
          <a:prstGeom prst="rect">
            <a:avLst/>
          </a:prstGeom>
          <a:noFill/>
          <a:ln/>
        </p:spPr>
        <p:txBody>
          <a:bodyPr wrap="square" lIns="0" tIns="0" rIns="0" bIns="0" rtlCol="0" anchor="t"/>
          <a:lstStyle/>
          <a:p>
            <a:pPr indent="0" marL="0">
              <a:buNone/>
            </a:pPr>
            <a:r>
              <a:rPr lang="id-ID" altLang="en-US" sz="2100" b="1" dirty="0">
                <a:solidFill>
                  <a:srgbClr val="1F2328"/>
                </a:solidFill>
              </a:rPr>
              <a:t>Pengujian</a:t>
            </a:r>
            <a:r>
              <a:rPr lang="id-ID" altLang="en-US" sz="2100" dirty="0">
                <a:solidFill>
                  <a:srgbClr val="1F2328"/>
                </a:solidFill>
              </a:rPr>
              <a:t>: </a:t>
            </a:r>
            <a:r>
              <a:rPr lang="id-ID" altLang="en-US" sz="2100" i="1" dirty="0">
                <a:solidFill>
                  <a:srgbClr val="1F2328"/>
                </a:solidFill>
              </a:rPr>
              <a:t>unit test</a:t>
            </a:r>
            <a:r>
              <a:rPr lang="id-ID" altLang="en-US" sz="2100" dirty="0">
                <a:solidFill>
                  <a:srgbClr val="1F2328"/>
                </a:solidFill>
              </a:rPr>
              <a:t> dan uji coba. Jika ada yang kurang atau salah, kembali ke langkah 1.</a:t>
            </a:r>
            <a:endParaRPr lang="id-ID" sz="2100" dirty="0"/>
          </a:p>
        </p:txBody>
      </p:sp>
      <p:sp>
        <p:nvSpPr>
          <p:cNvPr id="24" name="Shape 18"/>
          <p:cNvSpPr/>
          <p:nvPr/>
        </p:nvSpPr>
        <p:spPr>
          <a:xfrm>
            <a:off x="548640" y="5242987"/>
            <a:ext cx="329184" cy="329184"/>
          </a:xfrm>
          <a:prstGeom prst="ellipse">
            <a:avLst/>
          </a:prstGeom>
          <a:solidFill>
            <a:srgbClr val="57606A"/>
          </a:solidFill>
          <a:ln/>
        </p:spPr>
      </p:sp>
      <p:pic>
        <p:nvPicPr>
          <p:cNvPr id="25" name="Image 4" descr="preencoded.png">    </p:cNvPr>
          <p:cNvPicPr>
            <a:picLocks noChangeAspect="1"/>
          </p:cNvPicPr>
          <p:nvPr/>
        </p:nvPicPr>
        <p:blipFill>
          <a:blip r:embed="rId5"/>
          <a:stretch>
            <a:fillRect/>
          </a:stretch>
        </p:blipFill>
        <p:spPr>
          <a:xfrm>
            <a:off x="621060" y="5315407"/>
            <a:ext cx="184343" cy="184343"/>
          </a:xfrm>
          <a:prstGeom prst="rect">
            <a:avLst/>
          </a:prstGeom>
        </p:spPr>
      </p:pic>
      <p:sp>
        <p:nvSpPr>
          <p:cNvPr id="26" name="Text 19"/>
          <p:cNvSpPr txBox="1"/>
          <p:nvPr/>
        </p:nvSpPr>
        <p:spPr>
          <a:xfrm>
            <a:off x="1005840" y="5224699"/>
            <a:ext cx="10545775" cy="370332"/>
          </a:xfrm>
          <a:prstGeom prst="rect">
            <a:avLst/>
          </a:prstGeom>
          <a:noFill/>
          <a:ln/>
        </p:spPr>
        <p:txBody>
          <a:bodyPr wrap="square" lIns="0" tIns="0" rIns="0" bIns="0" rtlCol="0" anchor="t"/>
          <a:lstStyle/>
          <a:p>
            <a:pPr indent="0" marL="0">
              <a:buNone/>
            </a:pPr>
            <a:r>
              <a:rPr lang="id-ID" altLang="en-US" sz="1800" dirty="0">
                <a:solidFill>
                  <a:srgbClr val="1F2328"/>
                </a:solidFill>
              </a:rPr>
              <a:t>Temuan dari pengujian sering memunculkan kebutuhan baru, jadi alurnya berputar.</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Kebutuhan KedaiKita Hari Ini</a:t>
            </a:r>
            <a:endParaRPr lang="id-ID" sz="3200" dirty="0"/>
          </a:p>
        </p:txBody>
      </p:sp>
      <p:sp>
        <p:nvSpPr>
          <p:cNvPr id="5" name="Shape 2"/>
          <p:cNvSpPr/>
          <p:nvPr/>
        </p:nvSpPr>
        <p:spPr>
          <a:xfrm>
            <a:off x="548640" y="1535415"/>
            <a:ext cx="5364328" cy="4501134"/>
          </a:xfrm>
          <a:prstGeom prst="roundRect">
            <a:avLst>
              <a:gd name="adj" fmla="val 578"/>
            </a:avLst>
          </a:prstGeom>
          <a:solidFill>
            <a:srgbClr val="FFFFFF"/>
          </a:solidFill>
          <a:ln w="12700">
            <a:solidFill>
              <a:srgbClr val="54AEFF"/>
            </a:solidFill>
            <a:prstDash val="solid"/>
          </a:ln>
        </p:spPr>
      </p:sp>
      <p:sp>
        <p:nvSpPr>
          <p:cNvPr id="6" name="Shape 3"/>
          <p:cNvSpPr/>
          <p:nvPr/>
        </p:nvSpPr>
        <p:spPr>
          <a:xfrm>
            <a:off x="548640" y="1535415"/>
            <a:ext cx="5364328" cy="658368"/>
          </a:xfrm>
          <a:prstGeom prst="roundRect">
            <a:avLst>
              <a:gd name="adj" fmla="val 27006"/>
            </a:avLst>
          </a:prstGeom>
          <a:solidFill>
            <a:srgbClr val="0969DA"/>
          </a:solidFill>
          <a:ln/>
        </p:spPr>
      </p:sp>
      <p:sp>
        <p:nvSpPr>
          <p:cNvPr id="7" name="Shape 4"/>
          <p:cNvSpPr/>
          <p:nvPr/>
        </p:nvSpPr>
        <p:spPr>
          <a:xfrm>
            <a:off x="548640" y="1864599"/>
            <a:ext cx="5364328" cy="329184"/>
          </a:xfrm>
          <a:prstGeom prst="rect">
            <a:avLst/>
          </a:prstGeom>
          <a:solidFill>
            <a:srgbClr val="0969DA"/>
          </a:solidFill>
          <a:ln/>
        </p:spPr>
      </p:sp>
      <p:sp>
        <p:nvSpPr>
          <p:cNvPr id="8" name="Text 5"/>
          <p:cNvSpPr txBox="1"/>
          <p:nvPr/>
        </p:nvSpPr>
        <p:spPr>
          <a:xfrm>
            <a:off x="822960" y="1535415"/>
            <a:ext cx="4815688" cy="658368"/>
          </a:xfrm>
          <a:prstGeom prst="rect">
            <a:avLst/>
          </a:prstGeom>
          <a:noFill/>
          <a:ln/>
        </p:spPr>
        <p:txBody>
          <a:bodyPr wrap="square" lIns="0" tIns="0" rIns="0" bIns="0" rtlCol="0" anchor="ctr"/>
          <a:lstStyle/>
          <a:p>
            <a:pPr indent="0" marL="0">
              <a:buNone/>
            </a:pPr>
            <a:r>
              <a:rPr lang="id-ID" altLang="en-US" sz="2200" b="1" dirty="0">
                <a:solidFill>
                  <a:srgbClr val="FFFFFF"/>
                </a:solidFill>
              </a:rPr>
              <a:t>Fungsional: bisa melakukan apa</a:t>
            </a:r>
            <a:endParaRPr lang="id-ID" sz="2200" dirty="0"/>
          </a:p>
        </p:txBody>
      </p:sp>
      <p:sp>
        <p:nvSpPr>
          <p:cNvPr id="9" name="Shape 6"/>
          <p:cNvSpPr/>
          <p:nvPr/>
        </p:nvSpPr>
        <p:spPr>
          <a:xfrm>
            <a:off x="877824" y="2531222"/>
            <a:ext cx="137160" cy="137160"/>
          </a:xfrm>
          <a:prstGeom prst="roundRect">
            <a:avLst>
              <a:gd name="adj" fmla="val 166667"/>
            </a:avLst>
          </a:prstGeom>
          <a:solidFill>
            <a:srgbClr val="0969DA"/>
          </a:solidFill>
          <a:ln/>
        </p:spPr>
      </p:sp>
      <p:sp>
        <p:nvSpPr>
          <p:cNvPr id="10" name="Text 7"/>
          <p:cNvSpPr txBox="1"/>
          <p:nvPr/>
        </p:nvSpPr>
        <p:spPr>
          <a:xfrm>
            <a:off x="1207008" y="2468103"/>
            <a:ext cx="4431640" cy="572516"/>
          </a:xfrm>
          <a:prstGeom prst="rect">
            <a:avLst/>
          </a:prstGeom>
          <a:noFill/>
          <a:ln/>
        </p:spPr>
        <p:txBody>
          <a:bodyPr wrap="square" lIns="0" tIns="0" rIns="0" bIns="0" rtlCol="0" anchor="t"/>
          <a:lstStyle/>
          <a:p>
            <a:pPr indent="0" marL="0">
              <a:buNone/>
            </a:pPr>
            <a:r>
              <a:rPr lang="id-ID" altLang="en-US" sz="1700" b="1" dirty="0">
                <a:solidFill>
                  <a:srgbClr val="1F2328"/>
                </a:solidFill>
              </a:rPr>
              <a:t>F1</a:t>
            </a:r>
            <a:r>
              <a:rPr lang="id-ID" altLang="en-US" sz="1700" dirty="0">
                <a:solidFill>
                  <a:srgbClr val="1F2328"/>
                </a:solidFill>
              </a:rPr>
              <a:t> Daftar menu dibaca dari </a:t>
            </a:r>
            <a:r>
              <a:rPr lang="id-ID" altLang="en-US" sz="1700" i="1" dirty="0">
                <a:solidFill>
                  <a:srgbClr val="1F2328"/>
                </a:solidFill>
              </a:rPr>
              <a:t>file</a:t>
            </a:r>
            <a:r>
              <a:rPr lang="id-ID" altLang="en-US" sz="1700" dirty="0">
                <a:solidFill>
                  <a:srgbClr val="1F2328"/>
                </a:solidFill>
              </a:rPr>
              <a:t>, bukan ditulis di kode.</a:t>
            </a:r>
            <a:endParaRPr lang="id-ID" sz="1700" dirty="0"/>
          </a:p>
        </p:txBody>
      </p:sp>
      <p:sp>
        <p:nvSpPr>
          <p:cNvPr id="11" name="Shape 8"/>
          <p:cNvSpPr/>
          <p:nvPr/>
        </p:nvSpPr>
        <p:spPr>
          <a:xfrm>
            <a:off x="877824" y="3277474"/>
            <a:ext cx="137160" cy="137160"/>
          </a:xfrm>
          <a:prstGeom prst="roundRect">
            <a:avLst>
              <a:gd name="adj" fmla="val 166667"/>
            </a:avLst>
          </a:prstGeom>
          <a:solidFill>
            <a:srgbClr val="0969DA"/>
          </a:solidFill>
          <a:ln/>
        </p:spPr>
      </p:sp>
      <p:sp>
        <p:nvSpPr>
          <p:cNvPr id="12" name="Text 9"/>
          <p:cNvSpPr txBox="1"/>
          <p:nvPr/>
        </p:nvSpPr>
        <p:spPr>
          <a:xfrm>
            <a:off x="1207008" y="3214355"/>
            <a:ext cx="4431640" cy="572516"/>
          </a:xfrm>
          <a:prstGeom prst="rect">
            <a:avLst/>
          </a:prstGeom>
          <a:noFill/>
          <a:ln/>
        </p:spPr>
        <p:txBody>
          <a:bodyPr wrap="square" lIns="0" tIns="0" rIns="0" bIns="0" rtlCol="0" anchor="t"/>
          <a:lstStyle/>
          <a:p>
            <a:pPr indent="0" marL="0">
              <a:buNone/>
            </a:pPr>
            <a:r>
              <a:rPr lang="id-ID" altLang="en-US" sz="1700" b="1" dirty="0">
                <a:solidFill>
                  <a:srgbClr val="1F2328"/>
                </a:solidFill>
              </a:rPr>
              <a:t>F2</a:t>
            </a:r>
            <a:r>
              <a:rPr lang="id-ID" altLang="en-US" sz="1700" dirty="0">
                <a:solidFill>
                  <a:srgbClr val="1F2328"/>
                </a:solidFill>
              </a:rPr>
              <a:t> Kasir membuat pesanan, memilih diskon, dan membayar lewat menu teks.</a:t>
            </a:r>
            <a:endParaRPr lang="id-ID" sz="1700" dirty="0"/>
          </a:p>
        </p:txBody>
      </p:sp>
      <p:sp>
        <p:nvSpPr>
          <p:cNvPr id="13" name="Shape 10"/>
          <p:cNvSpPr/>
          <p:nvPr/>
        </p:nvSpPr>
        <p:spPr>
          <a:xfrm>
            <a:off x="877824" y="4023726"/>
            <a:ext cx="137160" cy="137160"/>
          </a:xfrm>
          <a:prstGeom prst="roundRect">
            <a:avLst>
              <a:gd name="adj" fmla="val 166667"/>
            </a:avLst>
          </a:prstGeom>
          <a:solidFill>
            <a:srgbClr val="0969DA"/>
          </a:solidFill>
          <a:ln/>
        </p:spPr>
      </p:sp>
      <p:sp>
        <p:nvSpPr>
          <p:cNvPr id="14" name="Text 11"/>
          <p:cNvSpPr txBox="1"/>
          <p:nvPr/>
        </p:nvSpPr>
        <p:spPr>
          <a:xfrm>
            <a:off x="1207008" y="3960607"/>
            <a:ext cx="4431640" cy="572516"/>
          </a:xfrm>
          <a:prstGeom prst="rect">
            <a:avLst/>
          </a:prstGeom>
          <a:noFill/>
          <a:ln/>
        </p:spPr>
        <p:txBody>
          <a:bodyPr wrap="square" lIns="0" tIns="0" rIns="0" bIns="0" rtlCol="0" anchor="t"/>
          <a:lstStyle/>
          <a:p>
            <a:pPr indent="0" marL="0">
              <a:buNone/>
            </a:pPr>
            <a:r>
              <a:rPr lang="id-ID" altLang="en-US" sz="1700" b="1" dirty="0">
                <a:solidFill>
                  <a:srgbClr val="1F2328"/>
                </a:solidFill>
              </a:rPr>
              <a:t>F3</a:t>
            </a:r>
            <a:r>
              <a:rPr lang="id-ID" altLang="en-US" sz="1700" dirty="0">
                <a:solidFill>
                  <a:srgbClr val="1F2328"/>
                </a:solidFill>
              </a:rPr>
              <a:t> Stok terbaru disimpan saat aplikasi ditutup dan dimuat lagi saat dibuka.</a:t>
            </a:r>
            <a:endParaRPr lang="id-ID" sz="1700" dirty="0"/>
          </a:p>
        </p:txBody>
      </p:sp>
      <p:sp>
        <p:nvSpPr>
          <p:cNvPr id="15" name="Shape 12"/>
          <p:cNvSpPr/>
          <p:nvPr/>
        </p:nvSpPr>
        <p:spPr>
          <a:xfrm>
            <a:off x="877824" y="4769978"/>
            <a:ext cx="137160" cy="137160"/>
          </a:xfrm>
          <a:prstGeom prst="roundRect">
            <a:avLst>
              <a:gd name="adj" fmla="val 166667"/>
            </a:avLst>
          </a:prstGeom>
          <a:solidFill>
            <a:srgbClr val="0969DA"/>
          </a:solidFill>
          <a:ln/>
        </p:spPr>
      </p:sp>
      <p:sp>
        <p:nvSpPr>
          <p:cNvPr id="16" name="Text 13"/>
          <p:cNvSpPr txBox="1"/>
          <p:nvPr/>
        </p:nvSpPr>
        <p:spPr>
          <a:xfrm>
            <a:off x="1207008" y="4706859"/>
            <a:ext cx="4431640" cy="572516"/>
          </a:xfrm>
          <a:prstGeom prst="rect">
            <a:avLst/>
          </a:prstGeom>
          <a:noFill/>
          <a:ln/>
        </p:spPr>
        <p:txBody>
          <a:bodyPr wrap="square" lIns="0" tIns="0" rIns="0" bIns="0" rtlCol="0" anchor="t"/>
          <a:lstStyle/>
          <a:p>
            <a:pPr indent="0" marL="0">
              <a:buNone/>
            </a:pPr>
            <a:r>
              <a:rPr lang="id-ID" altLang="en-US" sz="1700" b="1" dirty="0">
                <a:solidFill>
                  <a:srgbClr val="1F2328"/>
                </a:solidFill>
              </a:rPr>
              <a:t>F4</a:t>
            </a:r>
            <a:r>
              <a:rPr lang="id-ID" altLang="en-US" sz="1700" dirty="0">
                <a:solidFill>
                  <a:srgbClr val="1F2328"/>
                </a:solidFill>
              </a:rPr>
              <a:t> Setiap pesanan LUNAS tercatat di </a:t>
            </a:r>
            <a:r>
              <a:rPr lang="id-ID" altLang="en-US" sz="1700" i="1" dirty="0">
                <a:solidFill>
                  <a:srgbClr val="1F2328"/>
                </a:solidFill>
              </a:rPr>
              <a:t>file</a:t>
            </a:r>
            <a:r>
              <a:rPr lang="id-ID" altLang="en-US" sz="1700" dirty="0">
                <a:solidFill>
                  <a:srgbClr val="1F2328"/>
                </a:solidFill>
              </a:rPr>
              <a:t> riwayat transaksi.</a:t>
            </a:r>
            <a:endParaRPr lang="id-ID" sz="1700" dirty="0"/>
          </a:p>
        </p:txBody>
      </p:sp>
      <p:sp>
        <p:nvSpPr>
          <p:cNvPr id="17" name="Shape 14"/>
          <p:cNvSpPr/>
          <p:nvPr/>
        </p:nvSpPr>
        <p:spPr>
          <a:xfrm>
            <a:off x="877824" y="5516230"/>
            <a:ext cx="137160" cy="137160"/>
          </a:xfrm>
          <a:prstGeom prst="roundRect">
            <a:avLst>
              <a:gd name="adj" fmla="val 166667"/>
            </a:avLst>
          </a:prstGeom>
          <a:solidFill>
            <a:srgbClr val="0969DA"/>
          </a:solidFill>
          <a:ln/>
        </p:spPr>
      </p:sp>
      <p:sp>
        <p:nvSpPr>
          <p:cNvPr id="18" name="Text 15"/>
          <p:cNvSpPr txBox="1"/>
          <p:nvPr/>
        </p:nvSpPr>
        <p:spPr>
          <a:xfrm>
            <a:off x="1207008" y="5453111"/>
            <a:ext cx="4431640" cy="309118"/>
          </a:xfrm>
          <a:prstGeom prst="rect">
            <a:avLst/>
          </a:prstGeom>
          <a:noFill/>
          <a:ln/>
        </p:spPr>
        <p:txBody>
          <a:bodyPr wrap="square" lIns="0" tIns="0" rIns="0" bIns="0" rtlCol="0" anchor="t"/>
          <a:lstStyle/>
          <a:p>
            <a:pPr indent="0" marL="0">
              <a:buNone/>
            </a:pPr>
            <a:r>
              <a:rPr lang="id-ID" altLang="en-US" sz="1700" b="1" dirty="0">
                <a:solidFill>
                  <a:srgbClr val="1F2328"/>
                </a:solidFill>
              </a:rPr>
              <a:t>F5</a:t>
            </a:r>
            <a:r>
              <a:rPr lang="id-ID" altLang="en-US" sz="1700" dirty="0">
                <a:solidFill>
                  <a:srgbClr val="1F2328"/>
                </a:solidFill>
              </a:rPr>
              <a:t> Ada laporan penjualan dan riwayat transaksi.</a:t>
            </a:r>
            <a:endParaRPr lang="id-ID" sz="1700" dirty="0"/>
          </a:p>
        </p:txBody>
      </p:sp>
      <p:sp>
        <p:nvSpPr>
          <p:cNvPr id="19" name="Shape 16"/>
          <p:cNvSpPr/>
          <p:nvPr/>
        </p:nvSpPr>
        <p:spPr>
          <a:xfrm>
            <a:off x="6278728" y="1535415"/>
            <a:ext cx="5364328" cy="4501134"/>
          </a:xfrm>
          <a:prstGeom prst="roundRect">
            <a:avLst>
              <a:gd name="adj" fmla="val 578"/>
            </a:avLst>
          </a:prstGeom>
          <a:solidFill>
            <a:srgbClr val="FFFFFF"/>
          </a:solidFill>
          <a:ln w="12700">
            <a:solidFill>
              <a:srgbClr val="4AC26B"/>
            </a:solidFill>
            <a:prstDash val="solid"/>
          </a:ln>
        </p:spPr>
      </p:sp>
      <p:sp>
        <p:nvSpPr>
          <p:cNvPr id="20" name="Shape 17"/>
          <p:cNvSpPr/>
          <p:nvPr/>
        </p:nvSpPr>
        <p:spPr>
          <a:xfrm>
            <a:off x="6278728" y="1535415"/>
            <a:ext cx="5364328" cy="658368"/>
          </a:xfrm>
          <a:prstGeom prst="roundRect">
            <a:avLst>
              <a:gd name="adj" fmla="val 27006"/>
            </a:avLst>
          </a:prstGeom>
          <a:solidFill>
            <a:srgbClr val="1A7F37"/>
          </a:solidFill>
          <a:ln/>
        </p:spPr>
      </p:sp>
      <p:sp>
        <p:nvSpPr>
          <p:cNvPr id="21" name="Shape 18"/>
          <p:cNvSpPr/>
          <p:nvPr/>
        </p:nvSpPr>
        <p:spPr>
          <a:xfrm>
            <a:off x="6278728" y="1864599"/>
            <a:ext cx="5364328" cy="329184"/>
          </a:xfrm>
          <a:prstGeom prst="rect">
            <a:avLst/>
          </a:prstGeom>
          <a:solidFill>
            <a:srgbClr val="1A7F37"/>
          </a:solidFill>
          <a:ln/>
        </p:spPr>
      </p:sp>
      <p:sp>
        <p:nvSpPr>
          <p:cNvPr id="22" name="Text 19"/>
          <p:cNvSpPr txBox="1"/>
          <p:nvPr/>
        </p:nvSpPr>
        <p:spPr>
          <a:xfrm>
            <a:off x="6553048" y="1535415"/>
            <a:ext cx="4815688" cy="658368"/>
          </a:xfrm>
          <a:prstGeom prst="rect">
            <a:avLst/>
          </a:prstGeom>
          <a:noFill/>
          <a:ln/>
        </p:spPr>
        <p:txBody>
          <a:bodyPr wrap="square" lIns="0" tIns="0" rIns="0" bIns="0" rtlCol="0" anchor="ctr"/>
          <a:lstStyle/>
          <a:p>
            <a:pPr indent="0" marL="0">
              <a:buNone/>
            </a:pPr>
            <a:r>
              <a:rPr lang="id-ID" altLang="en-US" sz="2200" b="1" dirty="0">
                <a:solidFill>
                  <a:srgbClr val="FFFFFF"/>
                </a:solidFill>
              </a:rPr>
              <a:t>Nonfungsional: seberapa baik</a:t>
            </a:r>
            <a:endParaRPr lang="id-ID" sz="2200" dirty="0"/>
          </a:p>
        </p:txBody>
      </p:sp>
      <p:sp>
        <p:nvSpPr>
          <p:cNvPr id="23" name="Shape 20"/>
          <p:cNvSpPr/>
          <p:nvPr/>
        </p:nvSpPr>
        <p:spPr>
          <a:xfrm>
            <a:off x="6607912" y="2531222"/>
            <a:ext cx="137160" cy="137160"/>
          </a:xfrm>
          <a:prstGeom prst="roundRect">
            <a:avLst>
              <a:gd name="adj" fmla="val 166667"/>
            </a:avLst>
          </a:prstGeom>
          <a:solidFill>
            <a:srgbClr val="1A7F37"/>
          </a:solidFill>
          <a:ln/>
        </p:spPr>
      </p:sp>
      <p:sp>
        <p:nvSpPr>
          <p:cNvPr id="24" name="Text 21"/>
          <p:cNvSpPr txBox="1"/>
          <p:nvPr/>
        </p:nvSpPr>
        <p:spPr>
          <a:xfrm>
            <a:off x="6937096" y="2468103"/>
            <a:ext cx="4431640" cy="572516"/>
          </a:xfrm>
          <a:prstGeom prst="rect">
            <a:avLst/>
          </a:prstGeom>
          <a:noFill/>
          <a:ln/>
        </p:spPr>
        <p:txBody>
          <a:bodyPr wrap="square" lIns="0" tIns="0" rIns="0" bIns="0" rtlCol="0" anchor="t"/>
          <a:lstStyle/>
          <a:p>
            <a:pPr indent="0" marL="0">
              <a:buNone/>
            </a:pPr>
            <a:r>
              <a:rPr lang="id-ID" altLang="en-US" sz="1700" b="1" dirty="0">
                <a:solidFill>
                  <a:srgbClr val="1F2328"/>
                </a:solidFill>
              </a:rPr>
              <a:t>N1</a:t>
            </a:r>
            <a:r>
              <a:rPr lang="id-ID" altLang="en-US" sz="1700" dirty="0">
                <a:solidFill>
                  <a:srgbClr val="1F2328"/>
                </a:solidFill>
              </a:rPr>
              <a:t> Salah ketik tidak membuat aplikasi berhenti mendadak.</a:t>
            </a:r>
            <a:endParaRPr lang="id-ID" sz="1700" dirty="0"/>
          </a:p>
        </p:txBody>
      </p:sp>
      <p:sp>
        <p:nvSpPr>
          <p:cNvPr id="25" name="Shape 22"/>
          <p:cNvSpPr/>
          <p:nvPr/>
        </p:nvSpPr>
        <p:spPr>
          <a:xfrm>
            <a:off x="6607912" y="3277474"/>
            <a:ext cx="137160" cy="137160"/>
          </a:xfrm>
          <a:prstGeom prst="roundRect">
            <a:avLst>
              <a:gd name="adj" fmla="val 166667"/>
            </a:avLst>
          </a:prstGeom>
          <a:solidFill>
            <a:srgbClr val="1A7F37"/>
          </a:solidFill>
          <a:ln/>
        </p:spPr>
      </p:sp>
      <p:sp>
        <p:nvSpPr>
          <p:cNvPr id="26" name="Text 23"/>
          <p:cNvSpPr txBox="1"/>
          <p:nvPr/>
        </p:nvSpPr>
        <p:spPr>
          <a:xfrm>
            <a:off x="6937096" y="3214355"/>
            <a:ext cx="4431640" cy="572516"/>
          </a:xfrm>
          <a:prstGeom prst="rect">
            <a:avLst/>
          </a:prstGeom>
          <a:noFill/>
          <a:ln/>
        </p:spPr>
        <p:txBody>
          <a:bodyPr wrap="square" lIns="0" tIns="0" rIns="0" bIns="0" rtlCol="0" anchor="t"/>
          <a:lstStyle/>
          <a:p>
            <a:pPr indent="0" marL="0">
              <a:buNone/>
            </a:pPr>
            <a:r>
              <a:rPr lang="id-ID" altLang="en-US" sz="1700" b="1" dirty="0">
                <a:solidFill>
                  <a:srgbClr val="1F2328"/>
                </a:solidFill>
              </a:rPr>
              <a:t>N2</a:t>
            </a:r>
            <a:r>
              <a:rPr lang="id-ID" altLang="en-US" sz="1700" dirty="0">
                <a:solidFill>
                  <a:srgbClr val="1F2328"/>
                </a:solidFill>
              </a:rPr>
              <a:t> </a:t>
            </a:r>
            <a:r>
              <a:rPr lang="id-ID" altLang="en-US" sz="1700" i="1" dirty="0">
                <a:solidFill>
                  <a:srgbClr val="1F2328"/>
                </a:solidFill>
              </a:rPr>
              <a:t>File</a:t>
            </a:r>
            <a:r>
              <a:rPr lang="id-ID" altLang="en-US" sz="1700" dirty="0">
                <a:solidFill>
                  <a:srgbClr val="1F2328"/>
                </a:solidFill>
              </a:rPr>
              <a:t> data yang rusak dilaporkan dengan pesan jelas, lengkap dengan nomor barisnya.</a:t>
            </a:r>
            <a:endParaRPr lang="id-ID" sz="1700" dirty="0"/>
          </a:p>
        </p:txBody>
      </p:sp>
      <p:sp>
        <p:nvSpPr>
          <p:cNvPr id="27" name="Shape 24"/>
          <p:cNvSpPr/>
          <p:nvPr/>
        </p:nvSpPr>
        <p:spPr>
          <a:xfrm>
            <a:off x="6607912" y="4023726"/>
            <a:ext cx="137160" cy="137160"/>
          </a:xfrm>
          <a:prstGeom prst="roundRect">
            <a:avLst>
              <a:gd name="adj" fmla="val 166667"/>
            </a:avLst>
          </a:prstGeom>
          <a:solidFill>
            <a:srgbClr val="1A7F37"/>
          </a:solidFill>
          <a:ln/>
        </p:spPr>
      </p:sp>
      <p:sp>
        <p:nvSpPr>
          <p:cNvPr id="28" name="Text 25"/>
          <p:cNvSpPr txBox="1"/>
          <p:nvPr/>
        </p:nvSpPr>
        <p:spPr>
          <a:xfrm>
            <a:off x="6937096" y="3960607"/>
            <a:ext cx="4431640" cy="572516"/>
          </a:xfrm>
          <a:prstGeom prst="rect">
            <a:avLst/>
          </a:prstGeom>
          <a:noFill/>
          <a:ln/>
        </p:spPr>
        <p:txBody>
          <a:bodyPr wrap="square" lIns="0" tIns="0" rIns="0" bIns="0" rtlCol="0" anchor="t"/>
          <a:lstStyle/>
          <a:p>
            <a:pPr indent="0" marL="0">
              <a:buNone/>
            </a:pPr>
            <a:r>
              <a:rPr lang="id-ID" altLang="en-US" sz="1700" b="1" dirty="0">
                <a:solidFill>
                  <a:srgbClr val="1F2328"/>
                </a:solidFill>
              </a:rPr>
              <a:t>N3</a:t>
            </a:r>
            <a:r>
              <a:rPr lang="id-ID" altLang="en-US" sz="1700" dirty="0">
                <a:solidFill>
                  <a:srgbClr val="1F2328"/>
                </a:solidFill>
              </a:rPr>
              <a:t> Perhitungan penting diperiksa otomatis oleh </a:t>
            </a:r>
            <a:r>
              <a:rPr lang="id-ID" altLang="en-US" sz="1700" i="1" dirty="0">
                <a:solidFill>
                  <a:srgbClr val="1F2328"/>
                </a:solidFill>
              </a:rPr>
              <a:t>unit test</a:t>
            </a:r>
            <a:r>
              <a:rPr lang="id-ID" altLang="en-US" sz="1700" dirty="0">
                <a:solidFill>
                  <a:srgbClr val="1F2328"/>
                </a:solidFill>
              </a:rPr>
              <a:t>.</a:t>
            </a:r>
            <a:endParaRPr lang="id-ID" sz="1700" dirty="0"/>
          </a:p>
        </p:txBody>
      </p:sp>
      <p:sp>
        <p:nvSpPr>
          <p:cNvPr id="29" name="Shape 26"/>
          <p:cNvSpPr/>
          <p:nvPr/>
        </p:nvSpPr>
        <p:spPr>
          <a:xfrm>
            <a:off x="6607912" y="4769978"/>
            <a:ext cx="137160" cy="137160"/>
          </a:xfrm>
          <a:prstGeom prst="roundRect">
            <a:avLst>
              <a:gd name="adj" fmla="val 166667"/>
            </a:avLst>
          </a:prstGeom>
          <a:solidFill>
            <a:srgbClr val="1A7F37"/>
          </a:solidFill>
          <a:ln/>
        </p:spPr>
      </p:sp>
      <p:sp>
        <p:nvSpPr>
          <p:cNvPr id="30" name="Text 27"/>
          <p:cNvSpPr txBox="1"/>
          <p:nvPr/>
        </p:nvSpPr>
        <p:spPr>
          <a:xfrm>
            <a:off x="6937096" y="4706859"/>
            <a:ext cx="4431640" cy="572516"/>
          </a:xfrm>
          <a:prstGeom prst="rect">
            <a:avLst/>
          </a:prstGeom>
          <a:noFill/>
          <a:ln/>
        </p:spPr>
        <p:txBody>
          <a:bodyPr wrap="square" lIns="0" tIns="0" rIns="0" bIns="0" rtlCol="0" anchor="t"/>
          <a:lstStyle/>
          <a:p>
            <a:pPr indent="0" marL="0">
              <a:buNone/>
            </a:pPr>
            <a:r>
              <a:rPr lang="id-ID" altLang="en-US" sz="1700" b="1" dirty="0">
                <a:solidFill>
                  <a:srgbClr val="1F2328"/>
                </a:solidFill>
              </a:rPr>
              <a:t>N4</a:t>
            </a:r>
            <a:r>
              <a:rPr lang="id-ID" altLang="en-US" sz="1700" dirty="0">
                <a:solidFill>
                  <a:srgbClr val="1F2328"/>
                </a:solidFill>
              </a:rPr>
              <a:t> Ada mode demo yang berjalan tanpa diketik, dengan hasil yang selalu sama.</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2</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2</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Arsitektur Berlapis dan </a:t>
            </a:r>
            <a:r>
              <a:rPr lang="id-ID" altLang="en-US" sz="4200" b="1" i="1" dirty="0">
                <a:solidFill>
                  <a:srgbClr val="FFFFFF"/>
                </a:solidFill>
              </a:rPr>
              <a:t>Package</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Menata tugas ke dalam lapisan, lalu menata </a:t>
            </a:r>
            <a:r>
              <a:rPr lang="id-ID" altLang="en-US" sz="2200" i="1" dirty="0">
                <a:solidFill>
                  <a:srgbClr val="C9D7E8"/>
                </a:solidFill>
              </a:rPr>
              <a:t>file</a:t>
            </a:r>
            <a:r>
              <a:rPr lang="id-ID" altLang="en-US" sz="2200" dirty="0">
                <a:solidFill>
                  <a:srgbClr val="C9D7E8"/>
                </a:solidFill>
              </a:rPr>
              <a:t> ke dalam </a:t>
            </a:r>
            <a:r>
              <a:rPr lang="id-ID" altLang="en-US" sz="2200" i="1" dirty="0">
                <a:solidFill>
                  <a:srgbClr val="C9D7E8"/>
                </a:solidFill>
              </a:rPr>
              <a:t>package</a:t>
            </a:r>
            <a:r>
              <a:rPr lang="id-ID" altLang="en-US" sz="2200" dirty="0">
                <a:solidFill>
                  <a:srgbClr val="C9D7E8"/>
                </a:solidFill>
              </a:rPr>
              <a: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9A67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Restoran yang Ramai di Dekat Kampus</a:t>
            </a:r>
            <a:endParaRPr lang="id-ID" sz="3200" dirty="0"/>
          </a:p>
        </p:txBody>
      </p:sp>
      <p:sp>
        <p:nvSpPr>
          <p:cNvPr id="5" name="Shape 2"/>
          <p:cNvSpPr/>
          <p:nvPr/>
        </p:nvSpPr>
        <p:spPr>
          <a:xfrm>
            <a:off x="548640" y="1417320"/>
            <a:ext cx="5074920" cy="4782312"/>
          </a:xfrm>
          <a:prstGeom prst="roundRect">
            <a:avLst>
              <a:gd name="adj" fmla="val 585"/>
            </a:avLst>
          </a:prstGeom>
          <a:solidFill>
            <a:srgbClr val="FFF8C5"/>
          </a:solidFill>
          <a:ln w="9525">
            <a:solidFill>
              <a:srgbClr val="D4A72C"/>
            </a:solidFill>
            <a:prstDash val="solid"/>
          </a:ln>
        </p:spPr>
      </p:sp>
      <p:sp>
        <p:nvSpPr>
          <p:cNvPr id="6" name="Shape 3"/>
          <p:cNvSpPr/>
          <p:nvPr/>
        </p:nvSpPr>
        <p:spPr>
          <a:xfrm>
            <a:off x="822960" y="1645920"/>
            <a:ext cx="457200" cy="457200"/>
          </a:xfrm>
          <a:prstGeom prst="ellipse">
            <a:avLst/>
          </a:prstGeom>
          <a:solidFill>
            <a:srgbClr val="9A6700"/>
          </a:solidFill>
          <a:ln/>
        </p:spPr>
      </p:sp>
      <p:pic>
        <p:nvPicPr>
          <p:cNvPr id="7" name="Image 1" descr="preencoded.png">    </p:cNvPr>
          <p:cNvPicPr>
            <a:picLocks noChangeAspect="1"/>
          </p:cNvPicPr>
          <p:nvPr/>
        </p:nvPicPr>
        <p:blipFill>
          <a:blip r:embed="rId2"/>
          <a:stretch>
            <a:fillRect/>
          </a:stretch>
        </p:blipFill>
        <p:spPr>
          <a:xfrm>
            <a:off x="923544" y="1746504"/>
            <a:ext cx="256032" cy="256032"/>
          </a:xfrm>
          <a:prstGeom prst="rect">
            <a:avLst/>
          </a:prstGeom>
        </p:spPr>
      </p:pic>
      <p:sp>
        <p:nvSpPr>
          <p:cNvPr id="8" name="Text 4"/>
          <p:cNvSpPr txBox="1"/>
          <p:nvPr/>
        </p:nvSpPr>
        <p:spPr>
          <a:xfrm>
            <a:off x="1417320" y="1691640"/>
            <a:ext cx="2743200" cy="365760"/>
          </a:xfrm>
          <a:prstGeom prst="rect">
            <a:avLst/>
          </a:prstGeom>
          <a:noFill/>
          <a:ln/>
        </p:spPr>
        <p:txBody>
          <a:bodyPr wrap="square" lIns="0" tIns="0" rIns="0" bIns="0" rtlCol="0" anchor="t"/>
          <a:lstStyle/>
          <a:p>
            <a:pPr indent="0" marL="0">
              <a:buNone/>
            </a:pPr>
            <a:r>
              <a:rPr lang="id-ID" altLang="en-US" sz="1600" b="1" dirty="0">
                <a:solidFill>
                  <a:srgbClr val="9A6700"/>
                </a:solidFill>
              </a:rPr>
              <a:t>Analogi</a:t>
            </a:r>
            <a:endParaRPr lang="id-ID" sz="1600" dirty="0"/>
          </a:p>
        </p:txBody>
      </p:sp>
      <p:sp>
        <p:nvSpPr>
          <p:cNvPr id="9" name="Shape 5"/>
          <p:cNvSpPr/>
          <p:nvPr/>
        </p:nvSpPr>
        <p:spPr>
          <a:xfrm>
            <a:off x="923544" y="2372360"/>
            <a:ext cx="137160" cy="137160"/>
          </a:xfrm>
          <a:prstGeom prst="roundRect">
            <a:avLst>
              <a:gd name="adj" fmla="val 166667"/>
            </a:avLst>
          </a:prstGeom>
          <a:solidFill>
            <a:srgbClr val="9A6700"/>
          </a:solidFill>
          <a:ln/>
        </p:spPr>
      </p:sp>
      <p:sp>
        <p:nvSpPr>
          <p:cNvPr id="10" name="Text 6"/>
          <p:cNvSpPr txBox="1"/>
          <p:nvPr/>
        </p:nvSpPr>
        <p:spPr>
          <a:xfrm>
            <a:off x="1252728" y="2286000"/>
            <a:ext cx="3867912" cy="1285240"/>
          </a:xfrm>
          <a:prstGeom prst="rect">
            <a:avLst/>
          </a:prstGeom>
          <a:noFill/>
          <a:ln/>
        </p:spPr>
        <p:txBody>
          <a:bodyPr wrap="square" lIns="0" tIns="0" rIns="0" bIns="0" rtlCol="0" anchor="t"/>
          <a:lstStyle/>
          <a:p>
            <a:pPr indent="0" marL="0">
              <a:buNone/>
            </a:pPr>
            <a:r>
              <a:rPr lang="id-ID" altLang="en-US" sz="2000" b="1" dirty="0">
                <a:solidFill>
                  <a:srgbClr val="1F2328"/>
                </a:solidFill>
              </a:rPr>
              <a:t>Pelayan</a:t>
            </a:r>
            <a:r>
              <a:rPr lang="id-ID" altLang="en-US" sz="2000" dirty="0">
                <a:solidFill>
                  <a:srgbClr val="1F2328"/>
                </a:solidFill>
              </a:rPr>
              <a:t> mencatat pesanan dan mengantar makanan, tetapi tidak memasak. </a:t>
            </a:r>
            <a:r>
              <a:rPr lang="id-ID" altLang="en-US" sz="2000" b="1" dirty="0">
                <a:solidFill>
                  <a:srgbClr val="1F2328"/>
                </a:solidFill>
              </a:rPr>
              <a:t>Kepala dapur</a:t>
            </a:r>
            <a:r>
              <a:rPr lang="id-ID" altLang="en-US" sz="2000" dirty="0">
                <a:solidFill>
                  <a:srgbClr val="1F2328"/>
                </a:solidFill>
              </a:rPr>
              <a:t> mengatur urutan masakan.</a:t>
            </a:r>
            <a:endParaRPr lang="id-ID" sz="2000" dirty="0"/>
          </a:p>
        </p:txBody>
      </p:sp>
      <p:sp>
        <p:nvSpPr>
          <p:cNvPr id="11" name="Shape 7"/>
          <p:cNvSpPr/>
          <p:nvPr/>
        </p:nvSpPr>
        <p:spPr>
          <a:xfrm>
            <a:off x="923544" y="3831336"/>
            <a:ext cx="137160" cy="137160"/>
          </a:xfrm>
          <a:prstGeom prst="roundRect">
            <a:avLst>
              <a:gd name="adj" fmla="val 166667"/>
            </a:avLst>
          </a:prstGeom>
          <a:solidFill>
            <a:srgbClr val="9A6700"/>
          </a:solidFill>
          <a:ln/>
        </p:spPr>
      </p:sp>
      <p:sp>
        <p:nvSpPr>
          <p:cNvPr id="12" name="Text 8"/>
          <p:cNvSpPr txBox="1"/>
          <p:nvPr/>
        </p:nvSpPr>
        <p:spPr>
          <a:xfrm>
            <a:off x="1252728" y="3744976"/>
            <a:ext cx="3867912" cy="1285240"/>
          </a:xfrm>
          <a:prstGeom prst="rect">
            <a:avLst/>
          </a:prstGeom>
          <a:noFill/>
          <a:ln/>
        </p:spPr>
        <p:txBody>
          <a:bodyPr wrap="square" lIns="0" tIns="0" rIns="0" bIns="0" rtlCol="0" anchor="t"/>
          <a:lstStyle/>
          <a:p>
            <a:pPr indent="0" marL="0">
              <a:buNone/>
            </a:pPr>
            <a:r>
              <a:rPr lang="id-ID" altLang="en-US" sz="2000" b="1" dirty="0">
                <a:solidFill>
                  <a:srgbClr val="1F2328"/>
                </a:solidFill>
              </a:rPr>
              <a:t>Juru masak</a:t>
            </a:r>
            <a:r>
              <a:rPr lang="id-ID" altLang="en-US" sz="2000" dirty="0">
                <a:solidFill>
                  <a:srgbClr val="1F2328"/>
                </a:solidFill>
              </a:rPr>
              <a:t> mengolah bahan sesuai resep. </a:t>
            </a:r>
            <a:r>
              <a:rPr lang="id-ID" altLang="en-US" sz="2000" b="1" dirty="0">
                <a:solidFill>
                  <a:srgbClr val="1F2328"/>
                </a:solidFill>
              </a:rPr>
              <a:t>Gudang dan buku catatan</a:t>
            </a:r>
            <a:r>
              <a:rPr lang="id-ID" altLang="en-US" sz="2000" dirty="0">
                <a:solidFill>
                  <a:srgbClr val="1F2328"/>
                </a:solidFill>
              </a:rPr>
              <a:t> menyimpan bahan dan riwayat penjualan.</a:t>
            </a:r>
            <a:endParaRPr lang="id-ID" sz="2000" dirty="0"/>
          </a:p>
        </p:txBody>
      </p:sp>
      <p:sp>
        <p:nvSpPr>
          <p:cNvPr id="13" name="Shape 9"/>
          <p:cNvSpPr/>
          <p:nvPr/>
        </p:nvSpPr>
        <p:spPr>
          <a:xfrm>
            <a:off x="923544" y="5290312"/>
            <a:ext cx="137160" cy="137160"/>
          </a:xfrm>
          <a:prstGeom prst="roundRect">
            <a:avLst>
              <a:gd name="adj" fmla="val 166667"/>
            </a:avLst>
          </a:prstGeom>
          <a:solidFill>
            <a:srgbClr val="9A6700"/>
          </a:solidFill>
          <a:ln/>
        </p:spPr>
      </p:sp>
      <p:sp>
        <p:nvSpPr>
          <p:cNvPr id="14" name="Text 10"/>
          <p:cNvSpPr txBox="1"/>
          <p:nvPr/>
        </p:nvSpPr>
        <p:spPr>
          <a:xfrm>
            <a:off x="1252728" y="5203952"/>
            <a:ext cx="3867912" cy="975360"/>
          </a:xfrm>
          <a:prstGeom prst="rect">
            <a:avLst/>
          </a:prstGeom>
          <a:noFill/>
          <a:ln/>
        </p:spPr>
        <p:txBody>
          <a:bodyPr wrap="square" lIns="0" tIns="0" rIns="0" bIns="0" rtlCol="0" anchor="t"/>
          <a:lstStyle/>
          <a:p>
            <a:pPr indent="0" marL="0">
              <a:buNone/>
            </a:pPr>
            <a:r>
              <a:rPr lang="id-ID" altLang="en-US" sz="2000" dirty="0">
                <a:solidFill>
                  <a:srgbClr val="1F2328"/>
                </a:solidFill>
              </a:rPr>
              <a:t>Pelayan diganti, dapur </a:t>
            </a:r>
            <a:r>
              <a:rPr lang="id-ID" altLang="en-US" sz="2000" b="1" dirty="0">
                <a:solidFill>
                  <a:srgbClr val="1F2328"/>
                </a:solidFill>
              </a:rPr>
              <a:t>tetap bekerja</a:t>
            </a:r>
            <a:r>
              <a:rPr lang="id-ID" altLang="en-US" sz="2000" dirty="0">
                <a:solidFill>
                  <a:srgbClr val="1F2328"/>
                </a:solidFill>
              </a:rPr>
              <a:t>. Resep berubah, pelayan </a:t>
            </a:r>
            <a:r>
              <a:rPr lang="id-ID" altLang="en-US" sz="2000" b="1" dirty="0">
                <a:solidFill>
                  <a:srgbClr val="1F2328"/>
                </a:solidFill>
              </a:rPr>
              <a:t>tidak perlu</a:t>
            </a:r>
            <a:r>
              <a:rPr lang="id-ID" altLang="en-US" sz="2000" dirty="0">
                <a:solidFill>
                  <a:srgbClr val="1F2328"/>
                </a:solidFill>
              </a:rPr>
              <a:t> belajar ulang.</a:t>
            </a:r>
            <a:endParaRPr lang="id-ID" sz="2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0" y="1956816"/>
          <a:ext cx="5699455" cy="914400"/>
        </p:xfrm>
        <a:graphic>
          <a:graphicData uri="http://schemas.openxmlformats.org/drawingml/2006/table">
            <a:tbl>
              <a:tblPr/>
              <a:tblGrid>
                <a:gridCol w="2037732"/>
                <a:gridCol w="3661723"/>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Restoran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KedaiKita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Pelayan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Lapisan </a:t>
                      </a:r>
                      <a:r>
                        <a:rPr lang="id-ID" altLang="en-US" sz="2000" b="1" dirty="0">
                          <a:solidFill>
                            <a:srgbClr val="1F2328"/>
                          </a:solidFill>
                          <a:latin typeface="Calibri" pitchFamily="34" charset="0"/>
                          <a:ea typeface="Calibri" pitchFamily="34" charset="-122"/>
                          <a:cs typeface="Calibri" pitchFamily="34" charset="-120"/>
                        </a:rPr>
                        <a:t>tampilan</a:t>
                      </a:r>
                      <a:r>
                        <a:rPr lang="id-ID" altLang="en-US" sz="2000" dirty="0">
                          <a:solidFill>
                            <a:srgbClr val="1F2328"/>
                          </a:solidFill>
                          <a:latin typeface="Calibri" pitchFamily="34" charset="0"/>
                          <a:ea typeface="Calibri" pitchFamily="34" charset="-122"/>
                          <a:cs typeface="Calibri" pitchFamily="34" charset="-120"/>
                        </a:rPr>
                        <a:t>: </a:t>
                      </a:r>
                      <a:r>
                        <a:rPr lang="id-ID" altLang="en-US" sz="2000" dirty="0">
                          <a:solidFill>
                            <a:srgbClr val="0A3069"/>
                          </a:solidFill>
                          <a:latin typeface="Consolas" pitchFamily="34" charset="0"/>
                          <a:ea typeface="Consolas" pitchFamily="34" charset="-122"/>
                          <a:cs typeface="Consolas" pitchFamily="34" charset="-120"/>
                        </a:rPr>
                        <a:t>AplikasiKasir</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Kepala dapur</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Lapisan </a:t>
                      </a:r>
                      <a:r>
                        <a:rPr lang="id-ID" altLang="en-US" sz="2000" b="1" dirty="0">
                          <a:solidFill>
                            <a:srgbClr val="1F2328"/>
                          </a:solidFill>
                          <a:latin typeface="Calibri" pitchFamily="34" charset="0"/>
                          <a:ea typeface="Calibri" pitchFamily="34" charset="-122"/>
                          <a:cs typeface="Calibri" pitchFamily="34" charset="-120"/>
                        </a:rPr>
                        <a:t>layanan</a:t>
                      </a:r>
                      <a:r>
                        <a:rPr lang="id-ID" altLang="en-US" sz="2000" dirty="0">
                          <a:solidFill>
                            <a:srgbClr val="1F2328"/>
                          </a:solidFill>
                          <a:latin typeface="Calibri" pitchFamily="34" charset="0"/>
                          <a:ea typeface="Calibri" pitchFamily="34" charset="-122"/>
                          <a:cs typeface="Calibri" pitchFamily="34" charset="-120"/>
                        </a:rPr>
                        <a:t>: </a:t>
                      </a:r>
                      <a:r>
                        <a:rPr lang="id-ID" altLang="en-US" sz="2000" dirty="0">
                          <a:solidFill>
                            <a:srgbClr val="0A3069"/>
                          </a:solidFill>
                          <a:latin typeface="Consolas" pitchFamily="34" charset="0"/>
                          <a:ea typeface="Consolas" pitchFamily="34" charset="-122"/>
                          <a:cs typeface="Consolas" pitchFamily="34" charset="-120"/>
                        </a:rPr>
                        <a:t>LayananKasir</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Juru masak dan resepnya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Lapisan </a:t>
                      </a:r>
                      <a:r>
                        <a:rPr lang="id-ID" altLang="en-US" sz="2000" b="1" dirty="0">
                          <a:solidFill>
                            <a:srgbClr val="1F2328"/>
                          </a:solidFill>
                          <a:latin typeface="Calibri" pitchFamily="34" charset="0"/>
                          <a:ea typeface="Calibri" pitchFamily="34" charset="-122"/>
                          <a:cs typeface="Calibri" pitchFamily="34" charset="-120"/>
                        </a:rPr>
                        <a:t>model</a:t>
                      </a:r>
                      <a:r>
                        <a:rPr lang="id-ID" altLang="en-US" sz="2000" dirty="0">
                          <a:solidFill>
                            <a:srgbClr val="1F2328"/>
                          </a:solidFill>
                          <a:latin typeface="Calibri" pitchFamily="34" charset="0"/>
                          <a:ea typeface="Calibri" pitchFamily="34" charset="-122"/>
                          <a:cs typeface="Calibri" pitchFamily="34" charset="-120"/>
                        </a:rPr>
                        <a:t>: </a:t>
                      </a:r>
                      <a:r>
                        <a:rPr lang="id-ID" altLang="en-US" sz="2000" dirty="0">
                          <a:solidFill>
                            <a:srgbClr val="0A3069"/>
                          </a:solidFill>
                          <a:latin typeface="Consolas" pitchFamily="34" charset="0"/>
                          <a:ea typeface="Consolas" pitchFamily="34" charset="-122"/>
                          <a:cs typeface="Consolas" pitchFamily="34" charset="-120"/>
                        </a:rPr>
                        <a:t>Menu</a:t>
                      </a:r>
                      <a:r>
                        <a:rPr lang="id-ID" altLang="en-US" sz="2000" dirty="0">
                          <a:solidFill>
                            <a:srgbClr val="1F2328"/>
                          </a:solidFill>
                          <a:latin typeface="Calibri" pitchFamily="34" charset="0"/>
                          <a:ea typeface="Calibri" pitchFamily="34" charset="-122"/>
                          <a:cs typeface="Calibri" pitchFamily="34" charset="-120"/>
                        </a:rPr>
                        <a:t>, </a:t>
                      </a:r>
                      <a:r>
                        <a:rPr lang="id-ID" altLang="en-US" sz="2000" dirty="0">
                          <a:solidFill>
                            <a:srgbClr val="0A3069"/>
                          </a:solidFill>
                          <a:latin typeface="Consolas" pitchFamily="34" charset="0"/>
                          <a:ea typeface="Consolas" pitchFamily="34" charset="-122"/>
                          <a:cs typeface="Consolas" pitchFamily="34" charset="-120"/>
                        </a:rPr>
                        <a:t>Pesanan</a:t>
                      </a:r>
                      <a:r>
                        <a:rPr lang="id-ID" altLang="en-US" sz="2000" dirty="0">
                          <a:solidFill>
                            <a:srgbClr val="1F2328"/>
                          </a:solidFill>
                          <a:latin typeface="Calibri" pitchFamily="34" charset="0"/>
                          <a:ea typeface="Calibri" pitchFamily="34" charset="-122"/>
                          <a:cs typeface="Calibri" pitchFamily="34" charset="-120"/>
                        </a:rPr>
                        <a:t>, dan lainnya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Gudang dan buku catatan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Lapisan </a:t>
                      </a:r>
                      <a:r>
                        <a:rPr lang="id-ID" altLang="en-US" sz="2000" b="1" dirty="0">
                          <a:solidFill>
                            <a:srgbClr val="1F2328"/>
                          </a:solidFill>
                          <a:latin typeface="Calibri" pitchFamily="34" charset="0"/>
                          <a:ea typeface="Calibri" pitchFamily="34" charset="-122"/>
                          <a:cs typeface="Calibri" pitchFamily="34" charset="-120"/>
                        </a:rPr>
                        <a:t>penyimpanan</a:t>
                      </a:r>
                      <a:r>
                        <a:rPr lang="id-ID" altLang="en-US" sz="2000" dirty="0">
                          <a:solidFill>
                            <a:srgbClr val="1F2328"/>
                          </a:solidFill>
                          <a:latin typeface="Calibri" pitchFamily="34" charset="0"/>
                          <a:ea typeface="Calibri" pitchFamily="34" charset="-122"/>
                          <a:cs typeface="Calibri" pitchFamily="34" charset="-120"/>
                        </a:rPr>
                        <a:t>: </a:t>
                      </a:r>
                      <a:r>
                        <a:rPr lang="id-ID" altLang="en-US" sz="2000" dirty="0">
                          <a:solidFill>
                            <a:srgbClr val="0A3069"/>
                          </a:solidFill>
                          <a:latin typeface="Consolas" pitchFamily="34" charset="0"/>
                          <a:ea typeface="Consolas" pitchFamily="34" charset="-122"/>
                          <a:cs typeface="Consolas" pitchFamily="34" charset="-120"/>
                        </a:rPr>
                        <a:t>RepositoriMenuCSV</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Empat Lapisan KedaiKita</a:t>
            </a:r>
            <a:endParaRPr lang="id-ID"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01811"/>
          <a:ext cx="11094415" cy="914400"/>
        </p:xfrm>
        <a:graphic>
          <a:graphicData uri="http://schemas.openxmlformats.org/drawingml/2006/table">
            <a:tbl>
              <a:tblPr/>
              <a:tblGrid>
                <a:gridCol w="1652938"/>
                <a:gridCol w="4281181"/>
                <a:gridCol w="5160295"/>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Lapisan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Kelas</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Tugasnya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92760">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Tampilan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AplikasiKasir</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bertanya ke kasir dan menampilkan hasil</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92760">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Layanan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LayananKasir</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mengatur alur kerja kasir</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1422400">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Model</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Kedai</a:t>
                      </a:r>
                      <a:r>
                        <a:rPr lang="id-ID" altLang="en-US" sz="2000" dirty="0">
                          <a:solidFill>
                            <a:srgbClr val="1F2328"/>
                          </a:solidFill>
                          <a:latin typeface="Calibri" pitchFamily="34" charset="0"/>
                          <a:ea typeface="Calibri" pitchFamily="34" charset="-122"/>
                          <a:cs typeface="Calibri" pitchFamily="34" charset="-120"/>
                        </a:rPr>
                        <a:t>, </a:t>
                      </a:r>
                      <a:r>
                        <a:rPr lang="id-ID" altLang="en-US" sz="2000" dirty="0">
                          <a:solidFill>
                            <a:srgbClr val="0A3069"/>
                          </a:solidFill>
                          <a:latin typeface="Consolas" pitchFamily="34" charset="0"/>
                          <a:ea typeface="Consolas" pitchFamily="34" charset="-122"/>
                          <a:cs typeface="Consolas" pitchFamily="34" charset="-120"/>
                        </a:rPr>
                        <a:t>Menu</a:t>
                      </a:r>
                      <a:r>
                        <a:rPr lang="id-ID" altLang="en-US" sz="2000" dirty="0">
                          <a:solidFill>
                            <a:srgbClr val="1F2328"/>
                          </a:solidFill>
                          <a:latin typeface="Calibri" pitchFamily="34" charset="0"/>
                          <a:ea typeface="Calibri" pitchFamily="34" charset="-122"/>
                          <a:cs typeface="Calibri" pitchFamily="34" charset="-120"/>
                        </a:rPr>
                        <a:t>, </a:t>
                      </a:r>
                      <a:r>
                        <a:rPr lang="id-ID" altLang="en-US" sz="2000" dirty="0">
                          <a:solidFill>
                            <a:srgbClr val="0A3069"/>
                          </a:solidFill>
                          <a:latin typeface="Consolas" pitchFamily="34" charset="0"/>
                          <a:ea typeface="Consolas" pitchFamily="34" charset="-122"/>
                          <a:cs typeface="Consolas" pitchFamily="34" charset="-120"/>
                        </a:rPr>
                        <a:t>Pesanan</a:t>
                      </a:r>
                      <a:r>
                        <a:rPr lang="id-ID" altLang="en-US" sz="2000" dirty="0">
                          <a:solidFill>
                            <a:srgbClr val="1F2328"/>
                          </a:solidFill>
                          <a:latin typeface="Calibri" pitchFamily="34" charset="0"/>
                          <a:ea typeface="Calibri" pitchFamily="34" charset="-122"/>
                          <a:cs typeface="Calibri" pitchFamily="34" charset="-120"/>
                        </a:rPr>
                        <a:t>, </a:t>
                      </a:r>
                      <a:r>
                        <a:rPr lang="id-ID" altLang="en-US" sz="2000" dirty="0">
                          <a:solidFill>
                            <a:srgbClr val="0A3069"/>
                          </a:solidFill>
                          <a:latin typeface="Consolas" pitchFamily="34" charset="0"/>
                          <a:ea typeface="Consolas" pitchFamily="34" charset="-122"/>
                          <a:cs typeface="Consolas" pitchFamily="34" charset="-120"/>
                        </a:rPr>
                        <a:t>Pembayaran</a:t>
                      </a:r>
                      <a:r>
                        <a:rPr lang="id-ID" altLang="en-US" sz="2000" dirty="0">
                          <a:solidFill>
                            <a:srgbClr val="1F2328"/>
                          </a:solidFill>
                          <a:latin typeface="Calibri" pitchFamily="34" charset="0"/>
                          <a:ea typeface="Calibri" pitchFamily="34" charset="-122"/>
                          <a:cs typeface="Calibri" pitchFamily="34" charset="-120"/>
                        </a:rPr>
                        <a:t>, </a:t>
                      </a:r>
                      <a:r>
                        <a:rPr lang="id-ID" altLang="en-US" sz="2000" dirty="0">
                          <a:solidFill>
                            <a:srgbClr val="0A3069"/>
                          </a:solidFill>
                          <a:latin typeface="Consolas" pitchFamily="34" charset="0"/>
                          <a:ea typeface="Consolas" pitchFamily="34" charset="-122"/>
                          <a:cs typeface="Consolas" pitchFamily="34" charset="-120"/>
                        </a:rPr>
                        <a:t>Diskon</a:t>
                      </a:r>
                      <a:r>
                        <a:rPr lang="id-ID" altLang="en-US" sz="2000" dirty="0">
                          <a:solidFill>
                            <a:srgbClr val="1F2328"/>
                          </a:solidFill>
                          <a:latin typeface="Calibri" pitchFamily="34" charset="0"/>
                          <a:ea typeface="Calibri" pitchFamily="34" charset="-122"/>
                          <a:cs typeface="Calibri" pitchFamily="34" charset="-120"/>
                        </a:rPr>
                        <a:t>, </a:t>
                      </a:r>
                      <a:r>
                        <a:rPr lang="id-ID" altLang="en-US" sz="2000" dirty="0">
                          <a:solidFill>
                            <a:srgbClr val="0A3069"/>
                          </a:solidFill>
                          <a:latin typeface="Consolas" pitchFamily="34" charset="0"/>
                          <a:ea typeface="Consolas" pitchFamily="34" charset="-122"/>
                          <a:cs typeface="Consolas" pitchFamily="34" charset="-120"/>
                        </a:rPr>
                        <a:t>StrukPesanan</a:t>
                      </a:r>
                      <a:r>
                        <a:rPr lang="id-ID" altLang="en-US" sz="2000" dirty="0">
                          <a:solidFill>
                            <a:srgbClr val="1F2328"/>
                          </a:solidFill>
                          <a:latin typeface="Calibri" pitchFamily="34" charset="0"/>
                          <a:ea typeface="Calibri" pitchFamily="34" charset="-122"/>
                          <a:cs typeface="Calibri" pitchFamily="34" charset="-120"/>
                        </a:rPr>
                        <a:t>, </a:t>
                      </a:r>
                      <a:r>
                        <a:rPr lang="id-ID" altLang="en-US" sz="2000" dirty="0">
                          <a:solidFill>
                            <a:srgbClr val="0A3069"/>
                          </a:solidFill>
                          <a:latin typeface="Consolas" pitchFamily="34" charset="0"/>
                          <a:ea typeface="Consolas" pitchFamily="34" charset="-122"/>
                          <a:cs typeface="Consolas" pitchFamily="34" charset="-120"/>
                        </a:rPr>
                        <a:t>LaporanPenjualan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menyimpan aturan bisnis KedaiKita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Penyimpanan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RepositoriMenuCSV</a:t>
                      </a:r>
                      <a:r>
                        <a:rPr lang="id-ID" altLang="en-US" sz="2000" dirty="0">
                          <a:solidFill>
                            <a:srgbClr val="1F2328"/>
                          </a:solidFill>
                          <a:latin typeface="Calibri" pitchFamily="34" charset="0"/>
                          <a:ea typeface="Calibri" pitchFamily="34" charset="-122"/>
                          <a:cs typeface="Calibri" pitchFamily="34" charset="-120"/>
                        </a:rPr>
                        <a:t>, </a:t>
                      </a:r>
                      <a:r>
                        <a:rPr lang="id-ID" altLang="en-US" sz="2000" dirty="0">
                          <a:solidFill>
                            <a:srgbClr val="0A3069"/>
                          </a:solidFill>
                          <a:latin typeface="Consolas" pitchFamily="34" charset="0"/>
                          <a:ea typeface="Consolas" pitchFamily="34" charset="-122"/>
                          <a:cs typeface="Consolas" pitchFamily="34" charset="-120"/>
                        </a:rPr>
                        <a:t>PencatatTransaksiCSV</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membaca dan menulis </a:t>
                      </a:r>
                      <a:r>
                        <a:rPr lang="id-ID" altLang="en-US" sz="2000" i="1" dirty="0">
                          <a:solidFill>
                            <a:srgbClr val="1F2328"/>
                          </a:solidFill>
                          <a:latin typeface="Calibri" pitchFamily="34" charset="0"/>
                          <a:ea typeface="Calibri" pitchFamily="34" charset="-122"/>
                          <a:cs typeface="Calibri" pitchFamily="34" charset="-120"/>
                        </a:rPr>
                        <a:t>file</a:t>
                      </a:r>
                      <a:r>
                        <a:rPr lang="id-ID" altLang="en-US" sz="2000" dirty="0">
                          <a:solidFill>
                            <a:srgbClr val="1F2328"/>
                          </a:solidFill>
                          <a:latin typeface="Calibri" pitchFamily="34" charset="0"/>
                          <a:ea typeface="Calibri" pitchFamily="34" charset="-122"/>
                          <a:cs typeface="Calibri" pitchFamily="34" charset="-120"/>
                        </a:rPr>
                        <a:t> CSV di folder </a:t>
                      </a:r>
                      <a:r>
                        <a:rPr lang="id-ID" altLang="en-US" sz="2000" dirty="0">
                          <a:solidFill>
                            <a:srgbClr val="0A3069"/>
                          </a:solidFill>
                          <a:latin typeface="Consolas" pitchFamily="34" charset="0"/>
                          <a:ea typeface="Consolas" pitchFamily="34" charset="-122"/>
                          <a:cs typeface="Consolas" pitchFamily="34" charset="-120"/>
                        </a:rPr>
                        <a:t>data/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452019"/>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524439"/>
            <a:ext cx="184343" cy="184343"/>
          </a:xfrm>
          <a:prstGeom prst="rect">
            <a:avLst/>
          </a:prstGeom>
        </p:spPr>
      </p:pic>
      <p:sp>
        <p:nvSpPr>
          <p:cNvPr id="8" name="Text 3"/>
          <p:cNvSpPr txBox="1"/>
          <p:nvPr/>
        </p:nvSpPr>
        <p:spPr>
          <a:xfrm>
            <a:off x="1005840" y="5433731"/>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Lapisan atas boleh memakai lapisan di bawahnya, tetapi tidak sebaliknya. Model hanya </a:t>
            </a:r>
            <a:r>
              <a:rPr lang="id-ID" altLang="en-US" sz="1800" b="1" dirty="0">
                <a:solidFill>
                  <a:srgbClr val="57606A"/>
                </a:solidFill>
              </a:rPr>
              <a:t>memberi tahu</a:t>
            </a:r>
            <a:r>
              <a:rPr lang="id-ID" altLang="en-US" sz="1800" dirty="0">
                <a:solidFill>
                  <a:srgbClr val="57606A"/>
                </a:solidFill>
              </a:rPr>
              <a:t> pencatat lewat </a:t>
            </a:r>
            <a:r>
              <a:rPr lang="id-ID" altLang="en-US" sz="1800" i="1" dirty="0">
                <a:solidFill>
                  <a:srgbClr val="57606A"/>
                </a:solidFill>
              </a:rPr>
              <a:t>Observer</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Tugas Setiap Lapisan</a:t>
            </a:r>
            <a:endParaRPr lang="id-ID"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23721"/>
          <a:ext cx="11094415" cy="914400"/>
        </p:xfrm>
        <a:graphic>
          <a:graphicData uri="http://schemas.openxmlformats.org/drawingml/2006/table">
            <a:tbl>
              <a:tblPr/>
              <a:tblGrid>
                <a:gridCol w="1611451"/>
                <a:gridCol w="4867196"/>
                <a:gridCol w="2615267"/>
                <a:gridCol w="2000502"/>
              </a:tblGrid>
              <a:tr h="430784">
                <a:tc>
                  <a:txBody>
                    <a:bodyPr/>
                    <a:lstStyle/>
                    <a:p>
                      <a:pPr indent="0" marL="0">
                        <a:buNone/>
                      </a:pPr>
                      <a:r>
                        <a:rPr lang="id-ID" altLang="en-US" sz="1600" b="1" dirty="0">
                          <a:solidFill>
                            <a:srgbClr val="FFFFFF"/>
                          </a:solidFill>
                          <a:latin typeface="Calibri" pitchFamily="34" charset="0"/>
                          <a:ea typeface="Calibri" pitchFamily="34" charset="-122"/>
                          <a:cs typeface="Calibri" pitchFamily="34" charset="-120"/>
                        </a:rPr>
                        <a:t>Lapisan</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600" b="1" dirty="0">
                          <a:solidFill>
                            <a:srgbClr val="FFFFFF"/>
                          </a:solidFill>
                          <a:latin typeface="Calibri" pitchFamily="34" charset="0"/>
                          <a:ea typeface="Calibri" pitchFamily="34" charset="-122"/>
                          <a:cs typeface="Calibri" pitchFamily="34" charset="-120"/>
                        </a:rPr>
                        <a:t>Kelas</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600" b="1" dirty="0">
                          <a:solidFill>
                            <a:srgbClr val="FFFFFF"/>
                          </a:solidFill>
                          <a:latin typeface="Calibri" pitchFamily="34" charset="0"/>
                          <a:ea typeface="Calibri" pitchFamily="34" charset="-122"/>
                          <a:cs typeface="Calibri" pitchFamily="34" charset="-120"/>
                        </a:rPr>
                        <a:t>Tugasnya</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600" b="1" dirty="0">
                          <a:solidFill>
                            <a:srgbClr val="FFFFFF"/>
                          </a:solidFill>
                          <a:latin typeface="Calibri" pitchFamily="34" charset="0"/>
                          <a:ea typeface="Calibri" pitchFamily="34" charset="-122"/>
                          <a:cs typeface="Calibri" pitchFamily="34" charset="-120"/>
                        </a:rPr>
                        <a:t>Tidak boleh</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926592">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Tampilan (</a:t>
                      </a:r>
                      <a:r>
                        <a:rPr lang="id-ID" altLang="en-US" sz="1600" i="1" dirty="0">
                          <a:solidFill>
                            <a:srgbClr val="1F2328"/>
                          </a:solidFill>
                          <a:latin typeface="Calibri" pitchFamily="34" charset="0"/>
                          <a:ea typeface="Calibri" pitchFamily="34" charset="-122"/>
                          <a:cs typeface="Calibri" pitchFamily="34" charset="-120"/>
                        </a:rPr>
                        <a:t>presentation</a:t>
                      </a:r>
                      <a:r>
                        <a:rPr lang="id-ID" altLang="en-US" sz="1600" dirty="0">
                          <a:solidFill>
                            <a:srgbClr val="1F232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AplikasiKasir</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menampilkan menu pilihan, membaca ketikan kasir, mencetak hasil</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menghitung pajak atau diskon sendiri</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926592">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Layanan (</a:t>
                      </a:r>
                      <a:r>
                        <a:rPr lang="id-ID" altLang="en-US" sz="1600" i="1" dirty="0">
                          <a:solidFill>
                            <a:srgbClr val="1F2328"/>
                          </a:solidFill>
                          <a:latin typeface="Calibri" pitchFamily="34" charset="0"/>
                          <a:ea typeface="Calibri" pitchFamily="34" charset="-122"/>
                          <a:cs typeface="Calibri" pitchFamily="34" charset="-120"/>
                        </a:rPr>
                        <a:t>service</a:t>
                      </a:r>
                      <a:r>
                        <a:rPr lang="id-ID" altLang="en-US" sz="1600" dirty="0">
                          <a:solidFill>
                            <a:srgbClr val="1F232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LayananKasir</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alur kerja: daftar pelanggan, buat pesanan, tambah item, bayar, laporan</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membaca </a:t>
                      </a:r>
                      <a:r>
                        <a:rPr lang="id-ID" altLang="en-US" sz="1600" i="1" dirty="0">
                          <a:solidFill>
                            <a:srgbClr val="1F2328"/>
                          </a:solidFill>
                          <a:latin typeface="Calibri" pitchFamily="34" charset="0"/>
                          <a:ea typeface="Calibri" pitchFamily="34" charset="-122"/>
                          <a:cs typeface="Calibri" pitchFamily="34" charset="-120"/>
                        </a:rPr>
                        <a:t>keyboard</a:t>
                      </a:r>
                      <a:r>
                        <a:rPr lang="id-ID" altLang="en-US" sz="1600" dirty="0">
                          <a:solidFill>
                            <a:srgbClr val="1F2328"/>
                          </a:solidFill>
                          <a:latin typeface="Calibri" pitchFamily="34" charset="0"/>
                          <a:ea typeface="Calibri" pitchFamily="34" charset="-122"/>
                          <a:cs typeface="Calibri" pitchFamily="34" charset="-120"/>
                        </a:rPr>
                        <a:t> atau mencetak menu pilihan</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926592">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Model (</a:t>
                      </a:r>
                      <a:r>
                        <a:rPr lang="id-ID" altLang="en-US" sz="1600" i="1" dirty="0">
                          <a:solidFill>
                            <a:srgbClr val="1F2328"/>
                          </a:solidFill>
                          <a:latin typeface="Calibri" pitchFamily="34" charset="0"/>
                          <a:ea typeface="Calibri" pitchFamily="34" charset="-122"/>
                          <a:cs typeface="Calibri" pitchFamily="34" charset="-120"/>
                        </a:rPr>
                        <a:t>domain</a:t>
                      </a:r>
                      <a:r>
                        <a:rPr lang="id-ID" altLang="en-US" sz="1600" dirty="0">
                          <a:solidFill>
                            <a:srgbClr val="1F232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Kedai</a:t>
                      </a:r>
                      <a:r>
                        <a:rPr lang="id-ID" altLang="en-US" sz="1600" dirty="0">
                          <a:solidFill>
                            <a:srgbClr val="1F2328"/>
                          </a:solidFill>
                          <a:latin typeface="Calibri" pitchFamily="34" charset="0"/>
                          <a:ea typeface="Calibri" pitchFamily="34" charset="-122"/>
                          <a:cs typeface="Calibri" pitchFamily="34" charset="-120"/>
                        </a:rPr>
                        <a:t>, </a:t>
                      </a:r>
                      <a:r>
                        <a:rPr lang="id-ID" altLang="en-US" sz="1600" dirty="0">
                          <a:solidFill>
                            <a:srgbClr val="0A3069"/>
                          </a:solidFill>
                          <a:latin typeface="Consolas" pitchFamily="34" charset="0"/>
                          <a:ea typeface="Consolas" pitchFamily="34" charset="-122"/>
                          <a:cs typeface="Consolas" pitchFamily="34" charset="-120"/>
                        </a:rPr>
                        <a:t>Menu</a:t>
                      </a:r>
                      <a:r>
                        <a:rPr lang="id-ID" altLang="en-US" sz="1600" dirty="0">
                          <a:solidFill>
                            <a:srgbClr val="1F2328"/>
                          </a:solidFill>
                          <a:latin typeface="Calibri" pitchFamily="34" charset="0"/>
                          <a:ea typeface="Calibri" pitchFamily="34" charset="-122"/>
                          <a:cs typeface="Calibri" pitchFamily="34" charset="-120"/>
                        </a:rPr>
                        <a:t>, </a:t>
                      </a:r>
                      <a:r>
                        <a:rPr lang="id-ID" altLang="en-US" sz="1600" dirty="0">
                          <a:solidFill>
                            <a:srgbClr val="0A3069"/>
                          </a:solidFill>
                          <a:latin typeface="Consolas" pitchFamily="34" charset="0"/>
                          <a:ea typeface="Consolas" pitchFamily="34" charset="-122"/>
                          <a:cs typeface="Consolas" pitchFamily="34" charset="-120"/>
                        </a:rPr>
                        <a:t>Pesanan</a:t>
                      </a:r>
                      <a:r>
                        <a:rPr lang="id-ID" altLang="en-US" sz="1600" dirty="0">
                          <a:solidFill>
                            <a:srgbClr val="1F2328"/>
                          </a:solidFill>
                          <a:latin typeface="Calibri" pitchFamily="34" charset="0"/>
                          <a:ea typeface="Calibri" pitchFamily="34" charset="-122"/>
                          <a:cs typeface="Calibri" pitchFamily="34" charset="-120"/>
                        </a:rPr>
                        <a:t>, </a:t>
                      </a:r>
                      <a:r>
                        <a:rPr lang="id-ID" altLang="en-US" sz="1600" dirty="0">
                          <a:solidFill>
                            <a:srgbClr val="0A3069"/>
                          </a:solidFill>
                          <a:latin typeface="Consolas" pitchFamily="34" charset="0"/>
                          <a:ea typeface="Consolas" pitchFamily="34" charset="-122"/>
                          <a:cs typeface="Consolas" pitchFamily="34" charset="-120"/>
                        </a:rPr>
                        <a:t>Diskon</a:t>
                      </a:r>
                      <a:r>
                        <a:rPr lang="id-ID" altLang="en-US" sz="1600" dirty="0">
                          <a:solidFill>
                            <a:srgbClr val="1F2328"/>
                          </a:solidFill>
                          <a:latin typeface="Calibri" pitchFamily="34" charset="0"/>
                          <a:ea typeface="Calibri" pitchFamily="34" charset="-122"/>
                          <a:cs typeface="Calibri" pitchFamily="34" charset="-120"/>
                        </a:rPr>
                        <a:t>, dan lainnya</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menyimpan data dan menjaga aturan bisnis: harga &gt; 0, stok cukup, pajak 10%</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tahu bahwa ada </a:t>
                      </a:r>
                      <a:r>
                        <a:rPr lang="id-ID" altLang="en-US" sz="1600" i="1" dirty="0">
                          <a:solidFill>
                            <a:srgbClr val="1F2328"/>
                          </a:solidFill>
                          <a:latin typeface="Calibri" pitchFamily="34" charset="0"/>
                          <a:ea typeface="Calibri" pitchFamily="34" charset="-122"/>
                          <a:cs typeface="Calibri" pitchFamily="34" charset="-120"/>
                        </a:rPr>
                        <a:t>keyboard</a:t>
                      </a:r>
                      <a:r>
                        <a:rPr lang="id-ID" altLang="en-US" sz="1600" dirty="0">
                          <a:solidFill>
                            <a:srgbClr val="1F2328"/>
                          </a:solidFill>
                          <a:latin typeface="Calibri" pitchFamily="34" charset="0"/>
                          <a:ea typeface="Calibri" pitchFamily="34" charset="-122"/>
                          <a:cs typeface="Calibri" pitchFamily="34" charset="-120"/>
                        </a:rPr>
                        <a:t> atau </a:t>
                      </a:r>
                      <a:r>
                        <a:rPr lang="id-ID" altLang="en-US" sz="1600" i="1" dirty="0">
                          <a:solidFill>
                            <a:srgbClr val="1F2328"/>
                          </a:solidFill>
                          <a:latin typeface="Calibri" pitchFamily="34" charset="0"/>
                          <a:ea typeface="Calibri" pitchFamily="34" charset="-122"/>
                          <a:cs typeface="Calibri" pitchFamily="34" charset="-120"/>
                        </a:rPr>
                        <a:t>file</a:t>
                      </a:r>
                      <a:r>
                        <a:rPr lang="id-ID" altLang="en-US" sz="1600" dirty="0">
                          <a:solidFill>
                            <a:srgbClr val="1F2328"/>
                          </a:solidFill>
                          <a:latin typeface="Calibri" pitchFamily="34" charset="0"/>
                          <a:ea typeface="Calibri" pitchFamily="34" charset="-122"/>
                          <a:cs typeface="Calibri" pitchFamily="34" charset="-120"/>
                        </a:rPr>
                        <a:t> CSV</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678688">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Penyimpanan (</a:t>
                      </a:r>
                      <a:r>
                        <a:rPr lang="id-ID" altLang="en-US" sz="1600" i="1" dirty="0">
                          <a:solidFill>
                            <a:srgbClr val="1F2328"/>
                          </a:solidFill>
                          <a:latin typeface="Calibri" pitchFamily="34" charset="0"/>
                          <a:ea typeface="Calibri" pitchFamily="34" charset="-122"/>
                          <a:cs typeface="Calibri" pitchFamily="34" charset="-120"/>
                        </a:rPr>
                        <a:t>persistence</a:t>
                      </a:r>
                      <a:r>
                        <a:rPr lang="id-ID" altLang="en-US" sz="1600" dirty="0">
                          <a:solidFill>
                            <a:srgbClr val="1F232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600" dirty="0">
                          <a:solidFill>
                            <a:srgbClr val="0A3069"/>
                          </a:solidFill>
                          <a:latin typeface="Consolas" pitchFamily="34" charset="0"/>
                          <a:ea typeface="Consolas" pitchFamily="34" charset="-122"/>
                          <a:cs typeface="Consolas" pitchFamily="34" charset="-120"/>
                        </a:rPr>
                        <a:t>RepositoriMenuCSV</a:t>
                      </a:r>
                      <a:r>
                        <a:rPr lang="id-ID" altLang="en-US" sz="1600" dirty="0">
                          <a:solidFill>
                            <a:srgbClr val="1F2328"/>
                          </a:solidFill>
                          <a:latin typeface="Calibri" pitchFamily="34" charset="0"/>
                          <a:ea typeface="Calibri" pitchFamily="34" charset="-122"/>
                          <a:cs typeface="Calibri" pitchFamily="34" charset="-120"/>
                        </a:rPr>
                        <a:t>, </a:t>
                      </a:r>
                      <a:r>
                        <a:rPr lang="id-ID" altLang="en-US" sz="1600" dirty="0">
                          <a:solidFill>
                            <a:srgbClr val="0A3069"/>
                          </a:solidFill>
                          <a:latin typeface="Consolas" pitchFamily="34" charset="0"/>
                          <a:ea typeface="Consolas" pitchFamily="34" charset="-122"/>
                          <a:cs typeface="Consolas" pitchFamily="34" charset="-120"/>
                        </a:rPr>
                        <a:t>PencatatTransaksiCSV</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membaca dan menulis </a:t>
                      </a:r>
                      <a:r>
                        <a:rPr lang="id-ID" altLang="en-US" sz="1600" i="1" dirty="0">
                          <a:solidFill>
                            <a:srgbClr val="1F2328"/>
                          </a:solidFill>
                          <a:latin typeface="Calibri" pitchFamily="34" charset="0"/>
                          <a:ea typeface="Calibri" pitchFamily="34" charset="-122"/>
                          <a:cs typeface="Calibri" pitchFamily="34" charset="-120"/>
                        </a:rPr>
                        <a:t>file</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memutuskan aturan bisnis</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559857"/>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632277"/>
            <a:ext cx="184343" cy="184343"/>
          </a:xfrm>
          <a:prstGeom prst="rect">
            <a:avLst/>
          </a:prstGeom>
        </p:spPr>
      </p:pic>
      <p:sp>
        <p:nvSpPr>
          <p:cNvPr id="8" name="Text 3"/>
          <p:cNvSpPr txBox="1"/>
          <p:nvPr/>
        </p:nvSpPr>
        <p:spPr>
          <a:xfrm>
            <a:off x="1005840" y="5541569"/>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Manfaatnya: tampilan bisa diganti (misalnya versi web), mudah diuji, mudah dicari, dan mudah dibagi dalam tim.</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Package</a:t>
            </a:r>
            <a:r>
              <a:rPr lang="id-ID" altLang="en-US" sz="3200" b="1" dirty="0">
                <a:solidFill>
                  <a:srgbClr val="0A3069"/>
                </a:solidFill>
              </a:rPr>
              <a:t> di Python dan Java</a:t>
            </a:r>
            <a:endParaRPr lang="id-ID"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42136"/>
          <a:ext cx="11094415" cy="914400"/>
        </p:xfrm>
        <a:graphic>
          <a:graphicData uri="http://schemas.openxmlformats.org/drawingml/2006/table">
            <a:tbl>
              <a:tblPr/>
              <a:tblGrid>
                <a:gridCol w="1551765"/>
                <a:gridCol w="4505706"/>
                <a:gridCol w="5036944"/>
              </a:tblGrid>
              <a:tr h="461772">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Aspek</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Python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Java</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740664">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Penanda </a:t>
                      </a:r>
                      <a:r>
                        <a:rPr lang="id-ID" altLang="en-US" sz="1800" i="1" dirty="0">
                          <a:solidFill>
                            <a:srgbClr val="1F2328"/>
                          </a:solidFill>
                          <a:latin typeface="Calibri" pitchFamily="34" charset="0"/>
                          <a:ea typeface="Calibri" pitchFamily="34" charset="-122"/>
                          <a:cs typeface="Calibri" pitchFamily="34" charset="-120"/>
                        </a:rPr>
                        <a:t>package</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folder berisi </a:t>
                      </a:r>
                      <a:r>
                        <a:rPr lang="id-ID" altLang="en-US" sz="1800" i="1" dirty="0">
                          <a:solidFill>
                            <a:srgbClr val="1F2328"/>
                          </a:solidFill>
                          <a:latin typeface="Calibri" pitchFamily="34" charset="0"/>
                          <a:ea typeface="Calibri" pitchFamily="34" charset="-122"/>
                          <a:cs typeface="Calibri" pitchFamily="34" charset="-120"/>
                        </a:rPr>
                        <a:t>file</a:t>
                      </a:r>
                      <a:r>
                        <a:rPr lang="id-ID" altLang="en-US" sz="1800" dirty="0">
                          <a:solidFill>
                            <a:srgbClr val="1F2328"/>
                          </a:solidFill>
                          <a:latin typeface="Calibri" pitchFamily="34" charset="0"/>
                          <a:ea typeface="Calibri" pitchFamily="34" charset="-122"/>
                          <a:cs typeface="Calibri" pitchFamily="34" charset="-120"/>
                        </a:rPr>
                        <a:t> </a:t>
                      </a:r>
                      <a:r>
                        <a:rPr lang="id-ID" altLang="en-US" sz="1800" dirty="0">
                          <a:solidFill>
                            <a:srgbClr val="0A3069"/>
                          </a:solidFill>
                          <a:latin typeface="Consolas" pitchFamily="34" charset="0"/>
                          <a:ea typeface="Consolas" pitchFamily="34" charset="-122"/>
                          <a:cs typeface="Consolas" pitchFamily="34" charset="-120"/>
                        </a:rPr>
                        <a:t>__init__.py</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baris </a:t>
                      </a:r>
                      <a:r>
                        <a:rPr lang="id-ID" altLang="en-US" sz="1800" dirty="0">
                          <a:solidFill>
                            <a:srgbClr val="0A3069"/>
                          </a:solidFill>
                          <a:latin typeface="Consolas" pitchFamily="34" charset="0"/>
                          <a:ea typeface="Consolas" pitchFamily="34" charset="-122"/>
                          <a:cs typeface="Consolas" pitchFamily="34" charset="-120"/>
                        </a:rPr>
                        <a:t>package kedaikita;</a:t>
                      </a:r>
                      <a:r>
                        <a:rPr lang="id-ID" altLang="en-US" sz="1800" dirty="0">
                          <a:solidFill>
                            <a:srgbClr val="1F2328"/>
                          </a:solidFill>
                          <a:latin typeface="Calibri" pitchFamily="34" charset="0"/>
                          <a:ea typeface="Calibri" pitchFamily="34" charset="-122"/>
                          <a:cs typeface="Calibri" pitchFamily="34" charset="-120"/>
                        </a:rPr>
                        <a:t> di setiap </a:t>
                      </a:r>
                      <a:r>
                        <a:rPr lang="id-ID" altLang="en-US" sz="1800" i="1" dirty="0">
                          <a:solidFill>
                            <a:srgbClr val="1F2328"/>
                          </a:solidFill>
                          <a:latin typeface="Calibri" pitchFamily="34" charset="0"/>
                          <a:ea typeface="Calibri" pitchFamily="34" charset="-122"/>
                          <a:cs typeface="Calibri" pitchFamily="34" charset="-120"/>
                        </a:rPr>
                        <a:t>file</a:t>
                      </a:r>
                      <a:r>
                        <a:rPr lang="id-ID" altLang="en-US" sz="1800" dirty="0">
                          <a:solidFill>
                            <a:srgbClr val="1F2328"/>
                          </a:solidFill>
                          <a:latin typeface="Calibri" pitchFamily="34" charset="0"/>
                          <a:ea typeface="Calibri" pitchFamily="34" charset="-122"/>
                          <a:cs typeface="Calibri" pitchFamily="34" charset="-120"/>
                        </a:rPr>
                        <a:t>, di folder bernama sama</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61772">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Satu </a:t>
                      </a:r>
                      <a:r>
                        <a:rPr lang="id-ID" altLang="en-US" sz="1800" i="1" dirty="0">
                          <a:solidFill>
                            <a:srgbClr val="1F2328"/>
                          </a:solidFill>
                          <a:latin typeface="Calibri" pitchFamily="34" charset="0"/>
                          <a:ea typeface="Calibri" pitchFamily="34" charset="-122"/>
                          <a:cs typeface="Calibri" pitchFamily="34" charset="-120"/>
                        </a:rPr>
                        <a:t>file</a:t>
                      </a:r>
                      <a:r>
                        <a:rPr lang="id-ID" altLang="en-US" sz="1800" dirty="0">
                          <a:solidFill>
                            <a:srgbClr val="1F2328"/>
                          </a:solidFill>
                          <a:latin typeface="Calibri" pitchFamily="34" charset="0"/>
                          <a:ea typeface="Calibri" pitchFamily="34" charset="-122"/>
                          <a:cs typeface="Calibri" pitchFamily="34" charset="-120"/>
                        </a:rPr>
                        <a:t> berisi</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satu modul (boleh beberapa kelas)</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satu kelas </a:t>
                      </a:r>
                      <a:r>
                        <a:rPr lang="id-ID" altLang="en-US" sz="1800" dirty="0">
                          <a:solidFill>
                            <a:srgbClr val="0A3069"/>
                          </a:solidFill>
                          <a:latin typeface="Consolas" pitchFamily="34" charset="0"/>
                          <a:ea typeface="Consolas" pitchFamily="34" charset="-122"/>
                          <a:cs typeface="Consolas" pitchFamily="34" charset="-120"/>
                        </a:rPr>
                        <a:t>public</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740664">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Nama lengkap kelas</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kedaikita.menu.Menu</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kedaikita.Menu</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40664">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Cara memakai</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from kedaikita.menu import Menu</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import kedaikita.Menu;</a:t>
                      </a:r>
                      <a:r>
                        <a:rPr lang="id-ID" altLang="en-US" sz="1800" dirty="0">
                          <a:solidFill>
                            <a:srgbClr val="1F2328"/>
                          </a:solidFill>
                          <a:latin typeface="Calibri" pitchFamily="34" charset="0"/>
                          <a:ea typeface="Calibri" pitchFamily="34" charset="-122"/>
                          <a:cs typeface="Calibri" pitchFamily="34" charset="-120"/>
                        </a:rPr>
                        <a:t> (sesama </a:t>
                      </a:r>
                      <a:r>
                        <a:rPr lang="id-ID" altLang="en-US" sz="1800" i="1" dirty="0">
                          <a:solidFill>
                            <a:srgbClr val="1F2328"/>
                          </a:solidFill>
                          <a:latin typeface="Calibri" pitchFamily="34" charset="0"/>
                          <a:ea typeface="Calibri" pitchFamily="34" charset="-122"/>
                          <a:cs typeface="Calibri" pitchFamily="34" charset="-120"/>
                        </a:rPr>
                        <a:t>package</a:t>
                      </a:r>
                      <a:r>
                        <a:rPr lang="id-ID" altLang="en-US" sz="1800" dirty="0">
                          <a:solidFill>
                            <a:srgbClr val="1F2328"/>
                          </a:solidFill>
                          <a:latin typeface="Calibri" pitchFamily="34" charset="0"/>
                          <a:ea typeface="Calibri" pitchFamily="34" charset="-122"/>
                          <a:cs typeface="Calibri" pitchFamily="34" charset="-120"/>
                        </a:rPr>
                        <a:t>: tanpa </a:t>
                      </a:r>
                      <a:r>
                        <a:rPr lang="id-ID" altLang="en-US" sz="1800" dirty="0">
                          <a:solidFill>
                            <a:srgbClr val="0A3069"/>
                          </a:solidFill>
                          <a:latin typeface="Consolas" pitchFamily="34" charset="0"/>
                          <a:ea typeface="Consolas" pitchFamily="34" charset="-122"/>
                          <a:cs typeface="Consolas" pitchFamily="34" charset="-120"/>
                        </a:rPr>
                        <a:t>import</a:t>
                      </a:r>
                      <a:r>
                        <a:rPr lang="id-ID" altLang="en-US" sz="1800" dirty="0">
                          <a:solidFill>
                            <a:srgbClr val="1F232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740664">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Menjalankan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python main.py --demo</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skrip </a:t>
                      </a:r>
                      <a:r>
                        <a:rPr lang="id-ID" altLang="en-US" sz="1800" dirty="0">
                          <a:solidFill>
                            <a:srgbClr val="0A3069"/>
                          </a:solidFill>
                          <a:latin typeface="Consolas" pitchFamily="34" charset="0"/>
                          <a:ea typeface="Consolas" pitchFamily="34" charset="-122"/>
                          <a:cs typeface="Consolas" pitchFamily="34" charset="-120"/>
                        </a:rPr>
                        <a:t>jalankan</a:t>
                      </a:r>
                      <a:r>
                        <a:rPr lang="id-ID" altLang="en-US" sz="1800" dirty="0">
                          <a:solidFill>
                            <a:srgbClr val="1F2328"/>
                          </a:solidFill>
                          <a:latin typeface="Calibri" pitchFamily="34" charset="0"/>
                          <a:ea typeface="Calibri" pitchFamily="34" charset="-122"/>
                          <a:cs typeface="Calibri" pitchFamily="34" charset="-120"/>
                        </a:rPr>
                        <a:t>, isinya </a:t>
                      </a:r>
                      <a:r>
                        <a:rPr lang="id-ID" altLang="en-US" sz="1800" dirty="0">
                          <a:solidFill>
                            <a:srgbClr val="0A3069"/>
                          </a:solidFill>
                          <a:latin typeface="Consolas" pitchFamily="34" charset="0"/>
                          <a:ea typeface="Consolas" pitchFamily="34" charset="-122"/>
                          <a:cs typeface="Consolas" pitchFamily="34" charset="-120"/>
                        </a:rPr>
                        <a:t>javac -d out ...</a:t>
                      </a:r>
                      <a:r>
                        <a:rPr lang="id-ID" altLang="en-US" sz="1800" dirty="0">
                          <a:solidFill>
                            <a:srgbClr val="1F2328"/>
                          </a:solidFill>
                          <a:latin typeface="Calibri" pitchFamily="34" charset="0"/>
                          <a:ea typeface="Calibri" pitchFamily="34" charset="-122"/>
                          <a:cs typeface="Calibri" pitchFamily="34" charset="-120"/>
                        </a:rPr>
                        <a:t> lalu </a:t>
                      </a:r>
                      <a:r>
                        <a:rPr lang="id-ID" altLang="en-US" sz="1800" dirty="0">
                          <a:solidFill>
                            <a:srgbClr val="0A3069"/>
                          </a:solidFill>
                          <a:latin typeface="Consolas" pitchFamily="34" charset="0"/>
                          <a:ea typeface="Consolas" pitchFamily="34" charset="-122"/>
                          <a:cs typeface="Consolas" pitchFamily="34" charset="-120"/>
                        </a:rPr>
                        <a:t>java -cp out kedaikita.Main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675224"/>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747644"/>
            <a:ext cx="184343" cy="184343"/>
          </a:xfrm>
          <a:prstGeom prst="rect">
            <a:avLst/>
          </a:prstGeom>
        </p:spPr>
      </p:pic>
      <p:sp>
        <p:nvSpPr>
          <p:cNvPr id="8" name="Text 3"/>
          <p:cNvSpPr txBox="1"/>
          <p:nvPr/>
        </p:nvSpPr>
        <p:spPr>
          <a:xfrm>
            <a:off x="1005840" y="5656936"/>
            <a:ext cx="10637215" cy="324612"/>
          </a:xfrm>
          <a:prstGeom prst="rect">
            <a:avLst/>
          </a:prstGeom>
          <a:noFill/>
          <a:ln/>
        </p:spPr>
        <p:txBody>
          <a:bodyPr wrap="square" lIns="0" tIns="0" rIns="0" bIns="0" rtlCol="0" anchor="t"/>
          <a:lstStyle/>
          <a:p>
            <a:pPr indent="0" marL="0">
              <a:buNone/>
            </a:pPr>
            <a:r>
              <a:rPr lang="id-ID" altLang="en-US" sz="1800" b="1" dirty="0">
                <a:solidFill>
                  <a:srgbClr val="57606A"/>
                </a:solidFill>
              </a:rPr>
              <a:t>Modul</a:t>
            </a:r>
            <a:r>
              <a:rPr lang="id-ID" altLang="en-US" sz="1800" dirty="0">
                <a:solidFill>
                  <a:srgbClr val="57606A"/>
                </a:solidFill>
              </a:rPr>
              <a:t> adalah satu </a:t>
            </a:r>
            <a:r>
              <a:rPr lang="id-ID" altLang="en-US" sz="1800" i="1" dirty="0">
                <a:solidFill>
                  <a:srgbClr val="57606A"/>
                </a:solidFill>
              </a:rPr>
              <a:t>file</a:t>
            </a:r>
            <a:r>
              <a:rPr lang="id-ID" altLang="en-US" sz="1800" dirty="0">
                <a:solidFill>
                  <a:srgbClr val="57606A"/>
                </a:solidFill>
              </a:rPr>
              <a:t> kode. </a:t>
            </a:r>
            <a:r>
              <a:rPr lang="id-ID" altLang="en-US" sz="1800" b="1" i="1" dirty="0">
                <a:solidFill>
                  <a:srgbClr val="57606A"/>
                </a:solidFill>
              </a:rPr>
              <a:t>Package</a:t>
            </a:r>
            <a:r>
              <a:rPr lang="id-ID" altLang="en-US" sz="1800" dirty="0">
                <a:solidFill>
                  <a:srgbClr val="57606A"/>
                </a:solidFill>
              </a:rPr>
              <a:t> adalah folder yang mengelompokkan modul atau kelas.</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3</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3</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Menyimpan Data ke </a:t>
            </a:r>
            <a:r>
              <a:rPr lang="id-ID" altLang="en-US" sz="4200" b="1" i="1" dirty="0">
                <a:solidFill>
                  <a:srgbClr val="FFFFFF"/>
                </a:solidFill>
              </a:rPr>
              <a:t>File</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Agar data hari ini masih ada besok.</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Persistensi: Data yang Tetap Ada</a:t>
            </a:r>
            <a:endParaRPr lang="id-ID" sz="3200" dirty="0"/>
          </a:p>
        </p:txBody>
      </p:sp>
      <p:sp>
        <p:nvSpPr>
          <p:cNvPr id="5" name="Text 2"/>
          <p:cNvSpPr txBox="1"/>
          <p:nvPr/>
        </p:nvSpPr>
        <p:spPr>
          <a:xfrm>
            <a:off x="548640" y="2048652"/>
            <a:ext cx="11094415" cy="548640"/>
          </a:xfrm>
          <a:prstGeom prst="rect">
            <a:avLst/>
          </a:prstGeom>
          <a:noFill/>
          <a:ln/>
        </p:spPr>
        <p:txBody>
          <a:bodyPr wrap="square" lIns="0" tIns="0" rIns="0" bIns="0" rtlCol="0" anchor="t"/>
          <a:lstStyle/>
          <a:p>
            <a:pPr indent="0" marL="0">
              <a:buNone/>
            </a:pPr>
            <a:r>
              <a:rPr lang="id-ID" altLang="en-US" sz="3000" b="1" dirty="0">
                <a:solidFill>
                  <a:srgbClr val="0969DA"/>
                </a:solidFill>
              </a:rPr>
              <a:t>Persistensi (</a:t>
            </a:r>
            <a:r>
              <a:rPr lang="id-ID" altLang="en-US" sz="3000" b="1" i="1" dirty="0">
                <a:solidFill>
                  <a:srgbClr val="0969DA"/>
                </a:solidFill>
              </a:rPr>
              <a:t>persistence</a:t>
            </a:r>
            <a:r>
              <a:rPr lang="id-ID" altLang="en-US" sz="3000" b="1" dirty="0">
                <a:solidFill>
                  <a:srgbClr val="0969DA"/>
                </a:solidFill>
              </a:rPr>
              <a:t>)</a:t>
            </a:r>
            <a:endParaRPr lang="id-ID" sz="3000" dirty="0"/>
          </a:p>
        </p:txBody>
      </p:sp>
      <p:sp>
        <p:nvSpPr>
          <p:cNvPr id="6" name="Shape 3"/>
          <p:cNvSpPr/>
          <p:nvPr/>
        </p:nvSpPr>
        <p:spPr>
          <a:xfrm>
            <a:off x="548640" y="2761884"/>
            <a:ext cx="11094415" cy="843026"/>
          </a:xfrm>
          <a:prstGeom prst="roundRect">
            <a:avLst>
              <a:gd name="adj" fmla="val 14118"/>
            </a:avLst>
          </a:prstGeom>
          <a:solidFill>
            <a:srgbClr val="DDF4FF"/>
          </a:solidFill>
          <a:ln w="9525">
            <a:solidFill>
              <a:srgbClr val="54AEFF"/>
            </a:solidFill>
            <a:prstDash val="solid"/>
          </a:ln>
        </p:spPr>
      </p:sp>
      <p:sp>
        <p:nvSpPr>
          <p:cNvPr id="7" name="Shape 4"/>
          <p:cNvSpPr/>
          <p:nvPr/>
        </p:nvSpPr>
        <p:spPr>
          <a:xfrm>
            <a:off x="804672" y="2909077"/>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3029778"/>
            <a:ext cx="307238" cy="307238"/>
          </a:xfrm>
          <a:prstGeom prst="rect">
            <a:avLst/>
          </a:prstGeom>
        </p:spPr>
      </p:pic>
      <p:sp>
        <p:nvSpPr>
          <p:cNvPr id="9" name="Text 5"/>
          <p:cNvSpPr txBox="1"/>
          <p:nvPr/>
        </p:nvSpPr>
        <p:spPr>
          <a:xfrm>
            <a:off x="1554480" y="3036204"/>
            <a:ext cx="9859975" cy="477266"/>
          </a:xfrm>
          <a:prstGeom prst="rect">
            <a:avLst/>
          </a:prstGeom>
          <a:noFill/>
          <a:ln/>
        </p:spPr>
        <p:txBody>
          <a:bodyPr wrap="square" lIns="0" tIns="0" rIns="0" bIns="0" rtlCol="0" anchor="t"/>
          <a:lstStyle/>
          <a:p>
            <a:pPr indent="0" marL="0">
              <a:buNone/>
            </a:pPr>
            <a:r>
              <a:rPr lang="id-ID" altLang="en-US" sz="1900" dirty="0">
                <a:solidFill>
                  <a:srgbClr val="1F2328"/>
                </a:solidFill>
              </a:rPr>
              <a:t>Kemampuan aplikasi </a:t>
            </a:r>
            <a:r>
              <a:rPr lang="id-ID" altLang="en-US" sz="1900" b="1" dirty="0">
                <a:solidFill>
                  <a:srgbClr val="1F2328"/>
                </a:solidFill>
              </a:rPr>
              <a:t>menyimpan data agar tetap ada</a:t>
            </a:r>
            <a:r>
              <a:rPr lang="id-ID" altLang="en-US" sz="1900" dirty="0">
                <a:solidFill>
                  <a:srgbClr val="1F2328"/>
                </a:solidFill>
              </a:rPr>
              <a:t> setelah program ditutup.</a:t>
            </a:r>
            <a:endParaRPr lang="id-ID" sz="1900" dirty="0"/>
          </a:p>
        </p:txBody>
      </p:sp>
      <p:sp>
        <p:nvSpPr>
          <p:cNvPr id="10" name="Shape 6"/>
          <p:cNvSpPr/>
          <p:nvPr/>
        </p:nvSpPr>
        <p:spPr>
          <a:xfrm>
            <a:off x="603504" y="4125229"/>
            <a:ext cx="137160" cy="137160"/>
          </a:xfrm>
          <a:prstGeom prst="roundRect">
            <a:avLst>
              <a:gd name="adj" fmla="val 166667"/>
            </a:avLst>
          </a:prstGeom>
          <a:solidFill>
            <a:srgbClr val="0969DA"/>
          </a:solidFill>
          <a:ln/>
        </p:spPr>
      </p:sp>
      <p:sp>
        <p:nvSpPr>
          <p:cNvPr id="11" name="Text 7"/>
          <p:cNvSpPr txBox="1"/>
          <p:nvPr/>
        </p:nvSpPr>
        <p:spPr>
          <a:xfrm>
            <a:off x="932688" y="4062110"/>
            <a:ext cx="10710367" cy="309118"/>
          </a:xfrm>
          <a:prstGeom prst="rect">
            <a:avLst/>
          </a:prstGeom>
          <a:noFill/>
          <a:ln/>
        </p:spPr>
        <p:txBody>
          <a:bodyPr wrap="square" lIns="0" tIns="0" rIns="0" bIns="0" rtlCol="0" anchor="t"/>
          <a:lstStyle/>
          <a:p>
            <a:pPr indent="0" marL="0">
              <a:buNone/>
            </a:pPr>
            <a:r>
              <a:rPr lang="id-ID" altLang="en-US" sz="1700" b="1" dirty="0">
                <a:solidFill>
                  <a:srgbClr val="1F2328"/>
                </a:solidFill>
              </a:rPr>
              <a:t>Menyimpan</a:t>
            </a:r>
            <a:r>
              <a:rPr lang="id-ID" altLang="en-US" sz="1700" dirty="0">
                <a:solidFill>
                  <a:srgbClr val="1F2328"/>
                </a:solidFill>
              </a:rPr>
              <a:t> (</a:t>
            </a:r>
            <a:r>
              <a:rPr lang="id-ID" altLang="en-US" sz="1700" i="1" dirty="0">
                <a:solidFill>
                  <a:srgbClr val="1F2328"/>
                </a:solidFill>
              </a:rPr>
              <a:t>save</a:t>
            </a:r>
            <a:r>
              <a:rPr lang="id-ID" altLang="en-US" sz="1700" dirty="0">
                <a:solidFill>
                  <a:srgbClr val="1F2328"/>
                </a:solidFill>
              </a:rPr>
              <a:t>): mengubah objek di memori menjadi teks di </a:t>
            </a:r>
            <a:r>
              <a:rPr lang="id-ID" altLang="en-US" sz="1700" i="1" dirty="0">
                <a:solidFill>
                  <a:srgbClr val="1F2328"/>
                </a:solidFill>
              </a:rPr>
              <a:t>file</a:t>
            </a:r>
            <a:r>
              <a:rPr lang="id-ID" altLang="en-US" sz="1700" dirty="0">
                <a:solidFill>
                  <a:srgbClr val="1F2328"/>
                </a:solidFill>
              </a:rPr>
              <a:t>.</a:t>
            </a:r>
            <a:endParaRPr lang="id-ID" sz="1700" dirty="0"/>
          </a:p>
        </p:txBody>
      </p:sp>
      <p:sp>
        <p:nvSpPr>
          <p:cNvPr id="12" name="Shape 8"/>
          <p:cNvSpPr/>
          <p:nvPr/>
        </p:nvSpPr>
        <p:spPr>
          <a:xfrm>
            <a:off x="603504" y="4626371"/>
            <a:ext cx="137160" cy="137160"/>
          </a:xfrm>
          <a:prstGeom prst="roundRect">
            <a:avLst>
              <a:gd name="adj" fmla="val 166667"/>
            </a:avLst>
          </a:prstGeom>
          <a:solidFill>
            <a:srgbClr val="0969DA"/>
          </a:solidFill>
          <a:ln/>
        </p:spPr>
      </p:sp>
      <p:sp>
        <p:nvSpPr>
          <p:cNvPr id="13" name="Text 9"/>
          <p:cNvSpPr txBox="1"/>
          <p:nvPr/>
        </p:nvSpPr>
        <p:spPr>
          <a:xfrm>
            <a:off x="932688" y="4563252"/>
            <a:ext cx="10710367" cy="309118"/>
          </a:xfrm>
          <a:prstGeom prst="rect">
            <a:avLst/>
          </a:prstGeom>
          <a:noFill/>
          <a:ln/>
        </p:spPr>
        <p:txBody>
          <a:bodyPr wrap="square" lIns="0" tIns="0" rIns="0" bIns="0" rtlCol="0" anchor="t"/>
          <a:lstStyle/>
          <a:p>
            <a:pPr indent="0" marL="0">
              <a:buNone/>
            </a:pPr>
            <a:r>
              <a:rPr lang="id-ID" altLang="en-US" sz="1700" b="1" dirty="0">
                <a:solidFill>
                  <a:srgbClr val="1F2328"/>
                </a:solidFill>
              </a:rPr>
              <a:t>Memuat</a:t>
            </a:r>
            <a:r>
              <a:rPr lang="id-ID" altLang="en-US" sz="1700" dirty="0">
                <a:solidFill>
                  <a:srgbClr val="1F2328"/>
                </a:solidFill>
              </a:rPr>
              <a:t> (</a:t>
            </a:r>
            <a:r>
              <a:rPr lang="id-ID" altLang="en-US" sz="1700" i="1" dirty="0">
                <a:solidFill>
                  <a:srgbClr val="1F2328"/>
                </a:solidFill>
              </a:rPr>
              <a:t>load</a:t>
            </a:r>
            <a:r>
              <a:rPr lang="id-ID" altLang="en-US" sz="1700" dirty="0">
                <a:solidFill>
                  <a:srgbClr val="1F2328"/>
                </a:solidFill>
              </a:rPr>
              <a:t>): membaca teks di </a:t>
            </a:r>
            <a:r>
              <a:rPr lang="id-ID" altLang="en-US" sz="1700" i="1" dirty="0">
                <a:solidFill>
                  <a:srgbClr val="1F2328"/>
                </a:solidFill>
              </a:rPr>
              <a:t>file</a:t>
            </a:r>
            <a:r>
              <a:rPr lang="id-ID" altLang="en-US" sz="1700" dirty="0">
                <a:solidFill>
                  <a:srgbClr val="1F2328"/>
                </a:solidFill>
              </a:rPr>
              <a:t> lalu menghidupkannya kembali menjadi objek.</a:t>
            </a:r>
            <a:endParaRPr lang="id-ID" sz="1700" dirty="0"/>
          </a:p>
        </p:txBody>
      </p:sp>
      <p:sp>
        <p:nvSpPr>
          <p:cNvPr id="14" name="Shape 10"/>
          <p:cNvSpPr/>
          <p:nvPr/>
        </p:nvSpPr>
        <p:spPr>
          <a:xfrm>
            <a:off x="603504" y="5127513"/>
            <a:ext cx="137160" cy="137160"/>
          </a:xfrm>
          <a:prstGeom prst="roundRect">
            <a:avLst>
              <a:gd name="adj" fmla="val 166667"/>
            </a:avLst>
          </a:prstGeom>
          <a:solidFill>
            <a:srgbClr val="0969DA"/>
          </a:solidFill>
          <a:ln/>
        </p:spPr>
      </p:sp>
      <p:sp>
        <p:nvSpPr>
          <p:cNvPr id="15" name="Text 11"/>
          <p:cNvSpPr txBox="1"/>
          <p:nvPr/>
        </p:nvSpPr>
        <p:spPr>
          <a:xfrm>
            <a:off x="932688" y="5064394"/>
            <a:ext cx="10710367" cy="309118"/>
          </a:xfrm>
          <a:prstGeom prst="rect">
            <a:avLst/>
          </a:prstGeom>
          <a:noFill/>
          <a:ln/>
        </p:spPr>
        <p:txBody>
          <a:bodyPr wrap="square" lIns="0" tIns="0" rIns="0" bIns="0" rtlCol="0" anchor="t"/>
          <a:lstStyle/>
          <a:p>
            <a:pPr indent="0" marL="0">
              <a:buNone/>
            </a:pPr>
            <a:r>
              <a:rPr lang="id-ID" altLang="en-US" sz="1700" dirty="0">
                <a:solidFill>
                  <a:srgbClr val="1F2328"/>
                </a:solidFill>
              </a:rPr>
              <a:t>KedaiKita memakai </a:t>
            </a:r>
            <a:r>
              <a:rPr lang="id-ID" altLang="en-US" sz="1700" b="1" dirty="0">
                <a:solidFill>
                  <a:srgbClr val="1F2328"/>
                </a:solidFill>
              </a:rPr>
              <a:t>CSV</a:t>
            </a:r>
            <a:r>
              <a:rPr lang="id-ID" altLang="en-US" sz="1700" dirty="0">
                <a:solidFill>
                  <a:srgbClr val="1F2328"/>
                </a:solidFill>
              </a:rPr>
              <a:t>, satu baris per menu: </a:t>
            </a:r>
            <a:r>
              <a:rPr lang="id-ID" altLang="en-US" sz="1700" dirty="0">
                <a:solidFill>
                  <a:srgbClr val="1F2328"/>
                </a:solidFill>
                <a:latin typeface="Consolas" pitchFamily="34" charset="0"/>
                <a:ea typeface="Consolas" pitchFamily="34" charset="-122"/>
                <a:cs typeface="Consolas" pitchFamily="34" charset="-120"/>
              </a:rPr>
              <a:t>Minuman;M01;Kopi Susu Gula Aren;18000;20;dingin</a:t>
            </a:r>
            <a:r>
              <a:rPr lang="id-ID" altLang="en-US" sz="1700" dirty="0">
                <a:solidFill>
                  <a:srgbClr val="1F2328"/>
                </a:solidFill>
              </a:rPr>
              <a:t>.</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CSV Bertitik Koma dan </a:t>
            </a:r>
            <a:r>
              <a:rPr lang="id-ID" altLang="en-US" sz="3200" b="1" i="1" dirty="0">
                <a:solidFill>
                  <a:srgbClr val="0A3069"/>
                </a:solidFill>
              </a:rPr>
              <a:t>File</a:t>
            </a:r>
            <a:r>
              <a:rPr lang="id-ID" altLang="en-US" sz="3200" b="1" dirty="0">
                <a:solidFill>
                  <a:srgbClr val="0A3069"/>
                </a:solidFill>
              </a:rPr>
              <a:t> yang Pasti Ditutup</a:t>
            </a:r>
            <a:endParaRPr lang="id-ID" sz="3200" dirty="0"/>
          </a:p>
        </p:txBody>
      </p:sp>
      <p:sp>
        <p:nvSpPr>
          <p:cNvPr id="5" name="Shape 2"/>
          <p:cNvSpPr/>
          <p:nvPr/>
        </p:nvSpPr>
        <p:spPr>
          <a:xfrm>
            <a:off x="603504" y="1583675"/>
            <a:ext cx="137160" cy="137160"/>
          </a:xfrm>
          <a:prstGeom prst="roundRect">
            <a:avLst>
              <a:gd name="adj" fmla="val 166667"/>
            </a:avLst>
          </a:prstGeom>
          <a:solidFill>
            <a:srgbClr val="0969DA"/>
          </a:solidFill>
          <a:ln/>
        </p:spPr>
      </p:sp>
      <p:sp>
        <p:nvSpPr>
          <p:cNvPr id="6" name="Text 3"/>
          <p:cNvSpPr txBox="1"/>
          <p:nvPr/>
        </p:nvSpPr>
        <p:spPr>
          <a:xfrm>
            <a:off x="932688" y="1474074"/>
            <a:ext cx="10710367" cy="402082"/>
          </a:xfrm>
          <a:prstGeom prst="rect">
            <a:avLst/>
          </a:prstGeom>
          <a:noFill/>
          <a:ln/>
        </p:spPr>
        <p:txBody>
          <a:bodyPr wrap="square" lIns="0" tIns="0" rIns="0" bIns="0" rtlCol="0" anchor="t"/>
          <a:lstStyle/>
          <a:p>
            <a:pPr indent="0" marL="0">
              <a:buNone/>
            </a:pPr>
            <a:r>
              <a:rPr lang="id-ID" altLang="en-US" sz="2300" dirty="0">
                <a:solidFill>
                  <a:srgbClr val="1F2328"/>
                </a:solidFill>
              </a:rPr>
              <a:t>Pemisah kolomnya </a:t>
            </a:r>
            <a:r>
              <a:rPr lang="id-ID" altLang="en-US" sz="2300" b="1" dirty="0">
                <a:solidFill>
                  <a:srgbClr val="1F2328"/>
                </a:solidFill>
              </a:rPr>
              <a:t>titik koma</a:t>
            </a:r>
            <a:r>
              <a:rPr lang="id-ID" altLang="en-US" sz="2300" dirty="0">
                <a:solidFill>
                  <a:srgbClr val="1F2328"/>
                </a:solidFill>
              </a:rPr>
              <a:t> karena isi kolom seperti alamat sering mengandung koma.</a:t>
            </a:r>
            <a:endParaRPr lang="id-ID" sz="2300" dirty="0"/>
          </a:p>
        </p:txBody>
      </p:sp>
      <p:sp>
        <p:nvSpPr>
          <p:cNvPr id="7" name="Shape 4"/>
          <p:cNvSpPr/>
          <p:nvPr/>
        </p:nvSpPr>
        <p:spPr>
          <a:xfrm>
            <a:off x="603504" y="2214357"/>
            <a:ext cx="137160" cy="137160"/>
          </a:xfrm>
          <a:prstGeom prst="roundRect">
            <a:avLst>
              <a:gd name="adj" fmla="val 166667"/>
            </a:avLst>
          </a:prstGeom>
          <a:solidFill>
            <a:srgbClr val="0969DA"/>
          </a:solidFill>
          <a:ln/>
        </p:spPr>
      </p:sp>
      <p:sp>
        <p:nvSpPr>
          <p:cNvPr id="8" name="Text 5"/>
          <p:cNvSpPr txBox="1"/>
          <p:nvPr/>
        </p:nvSpPr>
        <p:spPr>
          <a:xfrm>
            <a:off x="932688" y="2104756"/>
            <a:ext cx="10710367" cy="758444"/>
          </a:xfrm>
          <a:prstGeom prst="rect">
            <a:avLst/>
          </a:prstGeom>
          <a:noFill/>
          <a:ln/>
        </p:spPr>
        <p:txBody>
          <a:bodyPr wrap="square" lIns="0" tIns="0" rIns="0" bIns="0" rtlCol="0" anchor="t"/>
          <a:lstStyle/>
          <a:p>
            <a:pPr indent="0" marL="0">
              <a:buNone/>
            </a:pPr>
            <a:r>
              <a:rPr lang="id-ID" altLang="en-US" sz="2300" dirty="0">
                <a:solidFill>
                  <a:srgbClr val="1F2328"/>
                </a:solidFill>
              </a:rPr>
              <a:t>Excel berpengaturan Indonesia umumnya memakai titik koma sebagai pemisah kolom CSV.</a:t>
            </a:r>
            <a:endParaRPr lang="id-ID" sz="2300" dirty="0"/>
          </a:p>
        </p:txBody>
      </p:sp>
      <p:sp>
        <p:nvSpPr>
          <p:cNvPr id="9" name="Shape 6"/>
          <p:cNvSpPr/>
          <p:nvPr/>
        </p:nvSpPr>
        <p:spPr>
          <a:xfrm>
            <a:off x="603504" y="3201401"/>
            <a:ext cx="137160" cy="137160"/>
          </a:xfrm>
          <a:prstGeom prst="roundRect">
            <a:avLst>
              <a:gd name="adj" fmla="val 166667"/>
            </a:avLst>
          </a:prstGeom>
          <a:solidFill>
            <a:srgbClr val="0969DA"/>
          </a:solidFill>
          <a:ln/>
        </p:spPr>
      </p:sp>
      <p:sp>
        <p:nvSpPr>
          <p:cNvPr id="10" name="Text 7"/>
          <p:cNvSpPr txBox="1"/>
          <p:nvPr/>
        </p:nvSpPr>
        <p:spPr>
          <a:xfrm>
            <a:off x="932688" y="3091800"/>
            <a:ext cx="10710367" cy="758444"/>
          </a:xfrm>
          <a:prstGeom prst="rect">
            <a:avLst/>
          </a:prstGeom>
          <a:noFill/>
          <a:ln/>
        </p:spPr>
        <p:txBody>
          <a:bodyPr wrap="square" lIns="0" tIns="0" rIns="0" bIns="0" rtlCol="0" anchor="t"/>
          <a:lstStyle/>
          <a:p>
            <a:pPr indent="0" marL="0">
              <a:buNone/>
            </a:pPr>
            <a:r>
              <a:rPr lang="id-ID" altLang="en-US" sz="2300" dirty="0">
                <a:solidFill>
                  <a:srgbClr val="1F2328"/>
                </a:solidFill>
              </a:rPr>
              <a:t>Hindari titik koma dan tanda petik ganda di isi kolom agar terbaca sama di Python dan Java.</a:t>
            </a:r>
            <a:endParaRPr lang="id-ID" sz="2300" dirty="0"/>
          </a:p>
        </p:txBody>
      </p:sp>
      <p:sp>
        <p:nvSpPr>
          <p:cNvPr id="11" name="Shape 8"/>
          <p:cNvSpPr/>
          <p:nvPr/>
        </p:nvSpPr>
        <p:spPr>
          <a:xfrm>
            <a:off x="603504" y="4188445"/>
            <a:ext cx="137160" cy="137160"/>
          </a:xfrm>
          <a:prstGeom prst="roundRect">
            <a:avLst>
              <a:gd name="adj" fmla="val 166667"/>
            </a:avLst>
          </a:prstGeom>
          <a:solidFill>
            <a:srgbClr val="0969DA"/>
          </a:solidFill>
          <a:ln/>
        </p:spPr>
      </p:sp>
      <p:sp>
        <p:nvSpPr>
          <p:cNvPr id="12" name="Text 9"/>
          <p:cNvSpPr txBox="1"/>
          <p:nvPr/>
        </p:nvSpPr>
        <p:spPr>
          <a:xfrm>
            <a:off x="932688" y="4078844"/>
            <a:ext cx="10710367" cy="402082"/>
          </a:xfrm>
          <a:prstGeom prst="rect">
            <a:avLst/>
          </a:prstGeom>
          <a:noFill/>
          <a:ln/>
        </p:spPr>
        <p:txBody>
          <a:bodyPr wrap="square" lIns="0" tIns="0" rIns="0" bIns="0" rtlCol="0" anchor="t"/>
          <a:lstStyle/>
          <a:p>
            <a:pPr indent="0" marL="0">
              <a:buNone/>
            </a:pPr>
            <a:r>
              <a:rPr lang="id-ID" altLang="en-US" sz="2300" dirty="0">
                <a:solidFill>
                  <a:srgbClr val="1F2328"/>
                </a:solidFill>
              </a:rPr>
              <a:t>Selalu sebut </a:t>
            </a:r>
            <a:r>
              <a:rPr lang="id-ID" altLang="en-US" sz="2300" i="1" dirty="0">
                <a:solidFill>
                  <a:srgbClr val="1F2328"/>
                </a:solidFill>
              </a:rPr>
              <a:t>encoding</a:t>
            </a:r>
            <a:r>
              <a:rPr lang="id-ID" altLang="en-US" sz="2300" dirty="0">
                <a:solidFill>
                  <a:srgbClr val="1F2328"/>
                </a:solidFill>
              </a:rPr>
              <a:t> </a:t>
            </a:r>
            <a:r>
              <a:rPr lang="id-ID" altLang="en-US" sz="2300" b="1" dirty="0">
                <a:solidFill>
                  <a:srgbClr val="1F2328"/>
                </a:solidFill>
              </a:rPr>
              <a:t>UTF-⁠8</a:t>
            </a:r>
            <a:r>
              <a:rPr lang="id-ID" altLang="en-US" sz="2300" dirty="0">
                <a:solidFill>
                  <a:srgbClr val="1F2328"/>
                </a:solidFill>
              </a:rPr>
              <a:t> agar </a:t>
            </a:r>
            <a:r>
              <a:rPr lang="id-ID" altLang="en-US" sz="2300" i="1" dirty="0">
                <a:solidFill>
                  <a:srgbClr val="1F2328"/>
                </a:solidFill>
              </a:rPr>
              <a:t>file</a:t>
            </a:r>
            <a:r>
              <a:rPr lang="id-ID" altLang="en-US" sz="2300" dirty="0">
                <a:solidFill>
                  <a:srgbClr val="1F2328"/>
                </a:solidFill>
              </a:rPr>
              <a:t> terbaca sama di Windows, macOS, dan Linux.</a:t>
            </a:r>
            <a:endParaRPr lang="id-ID" sz="2300" dirty="0"/>
          </a:p>
        </p:txBody>
      </p:sp>
      <p:sp>
        <p:nvSpPr>
          <p:cNvPr id="13" name="Shape 10"/>
          <p:cNvSpPr/>
          <p:nvPr/>
        </p:nvSpPr>
        <p:spPr>
          <a:xfrm>
            <a:off x="548640" y="4846686"/>
            <a:ext cx="11094415" cy="1274572"/>
          </a:xfrm>
          <a:prstGeom prst="roundRect">
            <a:avLst>
              <a:gd name="adj" fmla="val 6176"/>
            </a:avLst>
          </a:prstGeom>
          <a:solidFill>
            <a:srgbClr val="DDF4FF"/>
          </a:solidFill>
          <a:ln w="9525">
            <a:solidFill>
              <a:srgbClr val="54AEFF"/>
            </a:solidFill>
            <a:prstDash val="solid"/>
          </a:ln>
        </p:spPr>
      </p:sp>
      <p:sp>
        <p:nvSpPr>
          <p:cNvPr id="14" name="Shape 11"/>
          <p:cNvSpPr/>
          <p:nvPr/>
        </p:nvSpPr>
        <p:spPr>
          <a:xfrm>
            <a:off x="777240" y="5047854"/>
            <a:ext cx="457200" cy="457200"/>
          </a:xfrm>
          <a:prstGeom prst="ellipse">
            <a:avLst/>
          </a:prstGeom>
          <a:solidFill>
            <a:srgbClr val="0969DA"/>
          </a:solidFill>
          <a:ln/>
        </p:spPr>
      </p:sp>
      <p:pic>
        <p:nvPicPr>
          <p:cNvPr id="15" name="Image 1" descr="preencoded.png">    </p:cNvPr>
          <p:cNvPicPr>
            <a:picLocks noChangeAspect="1"/>
          </p:cNvPicPr>
          <p:nvPr/>
        </p:nvPicPr>
        <p:blipFill>
          <a:blip r:embed="rId2"/>
          <a:stretch>
            <a:fillRect/>
          </a:stretch>
        </p:blipFill>
        <p:spPr>
          <a:xfrm>
            <a:off x="877824" y="5148438"/>
            <a:ext cx="256032" cy="256032"/>
          </a:xfrm>
          <a:prstGeom prst="rect">
            <a:avLst/>
          </a:prstGeom>
        </p:spPr>
      </p:pic>
      <p:sp>
        <p:nvSpPr>
          <p:cNvPr id="16" name="Text 12"/>
          <p:cNvSpPr txBox="1"/>
          <p:nvPr/>
        </p:nvSpPr>
        <p:spPr>
          <a:xfrm>
            <a:off x="1417320" y="4992990"/>
            <a:ext cx="2743200" cy="292608"/>
          </a:xfrm>
          <a:prstGeom prst="rect">
            <a:avLst/>
          </a:prstGeom>
          <a:noFill/>
          <a:ln/>
        </p:spPr>
        <p:txBody>
          <a:bodyPr wrap="square" lIns="0" tIns="0" rIns="0" bIns="0" rtlCol="0" anchor="t"/>
          <a:lstStyle/>
          <a:p>
            <a:pPr indent="0" marL="0">
              <a:buNone/>
            </a:pPr>
            <a:r>
              <a:rPr lang="id-ID" altLang="en-US" sz="1500" b="1" dirty="0">
                <a:solidFill>
                  <a:srgbClr val="0969DA"/>
                </a:solidFill>
              </a:rPr>
              <a:t>Penting</a:t>
            </a:r>
            <a:endParaRPr lang="id-ID" sz="1500" dirty="0"/>
          </a:p>
        </p:txBody>
      </p:sp>
      <p:sp>
        <p:nvSpPr>
          <p:cNvPr id="17" name="Text 13"/>
          <p:cNvSpPr txBox="1"/>
          <p:nvPr/>
        </p:nvSpPr>
        <p:spPr>
          <a:xfrm>
            <a:off x="1417320" y="5303886"/>
            <a:ext cx="9951415" cy="725932"/>
          </a:xfrm>
          <a:prstGeom prst="rect">
            <a:avLst/>
          </a:prstGeom>
          <a:noFill/>
          <a:ln/>
        </p:spPr>
        <p:txBody>
          <a:bodyPr wrap="square" lIns="0" tIns="0" rIns="0" bIns="0" rtlCol="0" anchor="t"/>
          <a:lstStyle/>
          <a:p>
            <a:pPr indent="0" marL="0">
              <a:buNone/>
            </a:pPr>
            <a:r>
              <a:rPr lang="id-ID" altLang="en-US" sz="1900" dirty="0">
                <a:solidFill>
                  <a:srgbClr val="1F2328"/>
                </a:solidFill>
                <a:latin typeface="Consolas" pitchFamily="34" charset="0"/>
                <a:ea typeface="Consolas" pitchFamily="34" charset="-122"/>
                <a:cs typeface="Consolas" pitchFamily="34" charset="-120"/>
              </a:rPr>
              <a:t>with</a:t>
            </a:r>
            <a:r>
              <a:rPr lang="id-ID" altLang="en-US" sz="1900" dirty="0">
                <a:solidFill>
                  <a:srgbClr val="1F2328"/>
                </a:solidFill>
              </a:rPr>
              <a:t> (Python) dan </a:t>
            </a:r>
            <a:r>
              <a:rPr lang="id-ID" altLang="en-US" sz="1900" i="1" dirty="0">
                <a:solidFill>
                  <a:srgbClr val="1F2328"/>
                </a:solidFill>
              </a:rPr>
              <a:t>try-⁠with-⁠resources</a:t>
            </a:r>
            <a:r>
              <a:rPr lang="id-ID" altLang="en-US" sz="1900" dirty="0">
                <a:solidFill>
                  <a:srgbClr val="1F2328"/>
                </a:solidFill>
              </a:rPr>
              <a:t> (Java) menjamin </a:t>
            </a:r>
            <a:r>
              <a:rPr lang="id-ID" altLang="en-US" sz="1900" i="1" dirty="0">
                <a:solidFill>
                  <a:srgbClr val="1F2328"/>
                </a:solidFill>
              </a:rPr>
              <a:t>file</a:t>
            </a:r>
            <a:r>
              <a:rPr lang="id-ID" altLang="en-US" sz="1900" dirty="0">
                <a:solidFill>
                  <a:srgbClr val="1F2328"/>
                </a:solidFill>
              </a:rPr>
              <a:t> </a:t>
            </a:r>
            <a:r>
              <a:rPr lang="id-ID" altLang="en-US" sz="1900" b="1" dirty="0">
                <a:solidFill>
                  <a:srgbClr val="1F2328"/>
                </a:solidFill>
              </a:rPr>
              <a:t>pasti ditutup</a:t>
            </a:r>
            <a:r>
              <a:rPr lang="id-ID" altLang="en-US" sz="1900" dirty="0">
                <a:solidFill>
                  <a:srgbClr val="1F2328"/>
                </a:solidFill>
              </a:rPr>
              <a:t> begitu bloknya selesai, baik lancar maupun gagal.</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Jangan Percaya Isi </a:t>
            </a:r>
            <a:r>
              <a:rPr lang="id-ID" altLang="en-US" sz="3200" b="1" i="1" dirty="0">
                <a:solidFill>
                  <a:srgbClr val="0A3069"/>
                </a:solidFill>
              </a:rPr>
              <a:t>File</a:t>
            </a:r>
            <a:endParaRPr lang="id-ID"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25001"/>
          <a:ext cx="11094415" cy="914400"/>
        </p:xfrm>
        <a:graphic>
          <a:graphicData uri="http://schemas.openxmlformats.org/drawingml/2006/table">
            <a:tbl>
              <a:tblPr/>
              <a:tblGrid>
                <a:gridCol w="5275550"/>
                <a:gridCol w="5818865"/>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Isi baris yang rusak</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Pesan yang ditampilkan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02640">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Minuman;M02;Es Teh Manis;8rb;30;dingin</a:t>
                      </a:r>
                      <a:r>
                        <a:rPr lang="id-ID" altLang="en-US" sz="2000" dirty="0">
                          <a:solidFill>
                            <a:srgbClr val="1F2328"/>
                          </a:solidFill>
                          <a:latin typeface="Calibri" pitchFamily="34" charset="0"/>
                          <a:ea typeface="Calibri" pitchFamily="34" charset="-122"/>
                          <a:cs typeface="Calibri" pitchFamily="34" charset="-120"/>
                        </a:rPr>
                        <a:t> (di baris 3)</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Baris 3: harga, stok, dan level pedas harus berupa angka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Minuman;M01;Kopi Susu Gula Aren;18000;20</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Baris 2: harus ada 6 kolom</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02640">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Snack;M07;Keripik Pisang;10000;5;0</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Baris 2: jenis 'Snack' tidak dikenal</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9276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kode </a:t>
                      </a:r>
                      <a:r>
                        <a:rPr lang="id-ID" altLang="en-US" sz="2000" dirty="0">
                          <a:solidFill>
                            <a:srgbClr val="0A3069"/>
                          </a:solidFill>
                          <a:latin typeface="Consolas" pitchFamily="34" charset="0"/>
                          <a:ea typeface="Consolas" pitchFamily="34" charset="-122"/>
                          <a:cs typeface="Consolas" pitchFamily="34" charset="-120"/>
                        </a:rPr>
                        <a:t>M01</a:t>
                      </a:r>
                      <a:r>
                        <a:rPr lang="id-ID" altLang="en-US" sz="2000" dirty="0">
                          <a:solidFill>
                            <a:srgbClr val="1F2328"/>
                          </a:solidFill>
                          <a:latin typeface="Calibri" pitchFamily="34" charset="0"/>
                          <a:ea typeface="Calibri" pitchFamily="34" charset="-122"/>
                          <a:cs typeface="Calibri" pitchFamily="34" charset="-120"/>
                        </a:rPr>
                        <a:t> muncul dua kali (di baris 2 dan 3)</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Baris 3: kode M01 sudah dipakai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92760">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Minuman;M01;Kopi;0;20;dingin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0A3069"/>
                          </a:solidFill>
                          <a:latin typeface="Consolas" pitchFamily="34" charset="0"/>
                          <a:ea typeface="Consolas" pitchFamily="34" charset="-122"/>
                          <a:cs typeface="Consolas" pitchFamily="34" charset="-120"/>
                        </a:rPr>
                        <a:t>Baris 2: Harga harus lebih dari 0</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558089"/>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630509"/>
            <a:ext cx="184343" cy="184343"/>
          </a:xfrm>
          <a:prstGeom prst="rect">
            <a:avLst/>
          </a:prstGeom>
        </p:spPr>
      </p:pic>
      <p:sp>
        <p:nvSpPr>
          <p:cNvPr id="8" name="Text 3"/>
          <p:cNvSpPr txBox="1"/>
          <p:nvPr/>
        </p:nvSpPr>
        <p:spPr>
          <a:xfrm>
            <a:off x="1005840" y="5539801"/>
            <a:ext cx="10637215" cy="603504"/>
          </a:xfrm>
          <a:prstGeom prst="rect">
            <a:avLst/>
          </a:prstGeom>
          <a:noFill/>
          <a:ln/>
        </p:spPr>
        <p:txBody>
          <a:bodyPr wrap="square" lIns="0" tIns="0" rIns="0" bIns="0" rtlCol="0" anchor="t"/>
          <a:lstStyle/>
          <a:p>
            <a:pPr indent="0" marL="0">
              <a:buNone/>
            </a:pPr>
            <a:r>
              <a:rPr lang="id-ID" altLang="en-US" sz="1800" i="1" dirty="0">
                <a:solidFill>
                  <a:srgbClr val="57606A"/>
                </a:solidFill>
              </a:rPr>
              <a:t>Exception</a:t>
            </a:r>
            <a:r>
              <a:rPr lang="id-ID" altLang="en-US" sz="1800" dirty="0">
                <a:solidFill>
                  <a:srgbClr val="57606A"/>
                </a:solidFill>
              </a:rPr>
              <a:t> baru: </a:t>
            </a:r>
            <a:r>
              <a:rPr lang="id-ID" altLang="en-US" sz="1800" dirty="0">
                <a:solidFill>
                  <a:srgbClr val="57606A"/>
                </a:solidFill>
                <a:latin typeface="Consolas" pitchFamily="34" charset="0"/>
                <a:ea typeface="Consolas" pitchFamily="34" charset="-122"/>
                <a:cs typeface="Consolas" pitchFamily="34" charset="-120"/>
              </a:rPr>
              <a:t>FormatDataError</a:t>
            </a:r>
            <a:r>
              <a:rPr lang="id-ID" altLang="en-US" sz="1800" dirty="0">
                <a:solidFill>
                  <a:srgbClr val="57606A"/>
                </a:solidFill>
              </a:rPr>
              <a:t> (Python) atau </a:t>
            </a:r>
            <a:r>
              <a:rPr lang="id-ID" altLang="en-US" sz="1800" dirty="0">
                <a:solidFill>
                  <a:srgbClr val="57606A"/>
                </a:solidFill>
                <a:latin typeface="Consolas" pitchFamily="34" charset="0"/>
                <a:ea typeface="Consolas" pitchFamily="34" charset="-122"/>
                <a:cs typeface="Consolas" pitchFamily="34" charset="-120"/>
              </a:rPr>
              <a:t>FormatDataException</a:t>
            </a:r>
            <a:r>
              <a:rPr lang="id-ID" altLang="en-US" sz="1800" dirty="0">
                <a:solidFill>
                  <a:srgbClr val="57606A"/>
                </a:solidFill>
              </a:rPr>
              <a:t> (Java), turunan </a:t>
            </a:r>
            <a:r>
              <a:rPr lang="id-ID" altLang="en-US" sz="1800" dirty="0">
                <a:solidFill>
                  <a:srgbClr val="57606A"/>
                </a:solidFill>
                <a:latin typeface="Consolas" pitchFamily="34" charset="0"/>
                <a:ea typeface="Consolas" pitchFamily="34" charset="-122"/>
                <a:cs typeface="Consolas" pitchFamily="34" charset="-120"/>
              </a:rPr>
              <a:t>KedaiError</a:t>
            </a:r>
            <a:r>
              <a:rPr lang="id-ID" altLang="en-US" sz="1800" dirty="0">
                <a:solidFill>
                  <a:srgbClr val="57606A"/>
                </a:solidFill>
              </a:rPr>
              <a:t>/</a:t>
            </a:r>
            <a:r>
              <a:rPr lang="id-ID" altLang="en-US" sz="1800" dirty="0">
                <a:solidFill>
                  <a:srgbClr val="57606A"/>
                </a:solidFill>
                <a:latin typeface="Consolas" pitchFamily="34" charset="0"/>
                <a:ea typeface="Consolas" pitchFamily="34" charset="-122"/>
                <a:cs typeface="Consolas" pitchFamily="34" charset="-120"/>
              </a:rPr>
              <a:t>KedaiException</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4</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4</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i="1" dirty="0">
                <a:solidFill>
                  <a:srgbClr val="FFFFFF"/>
                </a:solidFill>
              </a:rPr>
              <a:t>Input</a:t>
            </a:r>
            <a:r>
              <a:rPr lang="id-ID" altLang="en-US" sz="4200" b="1" dirty="0">
                <a:solidFill>
                  <a:srgbClr val="FFFFFF"/>
                </a:solidFill>
              </a:rPr>
              <a:t> Aman dan </a:t>
            </a:r>
            <a:r>
              <a:rPr lang="id-ID" altLang="en-US" sz="4200" b="1" i="1" dirty="0">
                <a:solidFill>
                  <a:srgbClr val="FFFFFF"/>
                </a:solidFill>
              </a:rPr>
              <a:t>Unit Test</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Aplikasi yang tahan salah ketik dan diperiksa otomatis.</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Tiga Kebiasaan Menangani </a:t>
            </a:r>
            <a:r>
              <a:rPr lang="id-ID" altLang="en-US" sz="3200" b="1" i="1" dirty="0">
                <a:solidFill>
                  <a:srgbClr val="0A3069"/>
                </a:solidFill>
              </a:rPr>
              <a:t>Input</a:t>
            </a:r>
            <a:endParaRPr lang="id-ID"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721785"/>
          <a:ext cx="11094415" cy="914400"/>
        </p:xfrm>
        <a:graphic>
          <a:graphicData uri="http://schemas.openxmlformats.org/drawingml/2006/table">
            <a:tbl>
              <a:tblPr/>
              <a:tblGrid>
                <a:gridCol w="1764918"/>
                <a:gridCol w="4179983"/>
                <a:gridCol w="5149514"/>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Kebiasaan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Artinya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Contoh di KedaiKita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Validasi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periksa jawaban sebelum dipakai: kosong? angka? dalam batas?</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jumlah porsi harus angka bulat; kode menu harus terdaftar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Tanya ulang</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jika tidak valid, beri pesan yang jelas lalu tanyakan lagi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Harap isi dengan angka bulat, misalnya 2 atau 50000.</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1205484">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Tangani akhir </a:t>
                      </a:r>
                      <a:r>
                        <a:rPr lang="id-ID" altLang="en-US" sz="2200" i="1" dirty="0">
                          <a:solidFill>
                            <a:srgbClr val="1F2328"/>
                          </a:solidFill>
                          <a:latin typeface="Calibri" pitchFamily="34" charset="0"/>
                          <a:ea typeface="Calibri" pitchFamily="34" charset="-122"/>
                          <a:cs typeface="Calibri" pitchFamily="34" charset="-120"/>
                        </a:rPr>
                        <a:t>input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i="1" dirty="0">
                          <a:solidFill>
                            <a:srgbClr val="1F2328"/>
                          </a:solidFill>
                          <a:latin typeface="Calibri" pitchFamily="34" charset="0"/>
                          <a:ea typeface="Calibri" pitchFamily="34" charset="-122"/>
                          <a:cs typeface="Calibri" pitchFamily="34" charset="-120"/>
                        </a:rPr>
                        <a:t>input</a:t>
                      </a:r>
                      <a:r>
                        <a:rPr lang="id-ID" altLang="en-US" sz="2200" dirty="0">
                          <a:solidFill>
                            <a:srgbClr val="1F2328"/>
                          </a:solidFill>
                          <a:latin typeface="Calibri" pitchFamily="34" charset="0"/>
                          <a:ea typeface="Calibri" pitchFamily="34" charset="-122"/>
                          <a:cs typeface="Calibri" pitchFamily="34" charset="-120"/>
                        </a:rPr>
                        <a:t> bisa habis (EOF), misalnya pengguna menekan Ctrl+D atau Ctrl+Z</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mencetak </a:t>
                      </a:r>
                      <a:r>
                        <a:rPr lang="id-ID" altLang="en-US" sz="2200" dirty="0">
                          <a:solidFill>
                            <a:srgbClr val="0A3069"/>
                          </a:solidFill>
                          <a:latin typeface="Consolas" pitchFamily="34" charset="0"/>
                          <a:ea typeface="Consolas" pitchFamily="34" charset="-122"/>
                          <a:cs typeface="Consolas" pitchFamily="34" charset="-120"/>
                        </a:rPr>
                        <a:t>Input berakhir.</a:t>
                      </a:r>
                      <a:r>
                        <a:rPr lang="id-ID" altLang="en-US" sz="2200" dirty="0">
                          <a:solidFill>
                            <a:srgbClr val="1F2328"/>
                          </a:solidFill>
                          <a:latin typeface="Calibri" pitchFamily="34" charset="0"/>
                          <a:ea typeface="Calibri" pitchFamily="34" charset="-122"/>
                          <a:cs typeface="Calibri" pitchFamily="34" charset="-120"/>
                        </a:rPr>
                        <a:t>, menyimpan stok, lalu pamit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427137"/>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499557"/>
            <a:ext cx="184343" cy="184343"/>
          </a:xfrm>
          <a:prstGeom prst="rect">
            <a:avLst/>
          </a:prstGeom>
        </p:spPr>
      </p:pic>
      <p:sp>
        <p:nvSpPr>
          <p:cNvPr id="8" name="Text 3"/>
          <p:cNvSpPr txBox="1"/>
          <p:nvPr/>
        </p:nvSpPr>
        <p:spPr>
          <a:xfrm>
            <a:off x="1005840" y="5408849"/>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Tampilan memeriksa </a:t>
            </a:r>
            <a:r>
              <a:rPr lang="id-ID" altLang="en-US" sz="1800" b="1" dirty="0">
                <a:solidFill>
                  <a:srgbClr val="57606A"/>
                </a:solidFill>
              </a:rPr>
              <a:t>bentuk</a:t>
            </a:r>
            <a:r>
              <a:rPr lang="id-ID" altLang="en-US" sz="1800" dirty="0">
                <a:solidFill>
                  <a:srgbClr val="57606A"/>
                </a:solidFill>
              </a:rPr>
              <a:t> jawaban; model menjaga </a:t>
            </a:r>
            <a:r>
              <a:rPr lang="id-ID" altLang="en-US" sz="1800" b="1" dirty="0">
                <a:solidFill>
                  <a:srgbClr val="57606A"/>
                </a:solidFill>
              </a:rPr>
              <a:t>aturan bisnis</a:t>
            </a:r>
            <a:r>
              <a:rPr lang="id-ID" altLang="en-US" sz="1800" dirty="0">
                <a:solidFill>
                  <a:srgbClr val="57606A"/>
                </a:solidFill>
              </a:rPr>
              <a:t> seperti stok cukup dan harga &gt; 0.</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Unit Test</a:t>
            </a:r>
            <a:r>
              <a:rPr lang="id-ID" altLang="en-US" sz="3200" b="1" dirty="0">
                <a:solidFill>
                  <a:srgbClr val="0A3069"/>
                </a:solidFill>
              </a:rPr>
              <a:t>: Membiarkan Komputer Memeriksa</a:t>
            </a:r>
            <a:endParaRPr lang="id-ID" sz="3200" dirty="0"/>
          </a:p>
        </p:txBody>
      </p:sp>
      <p:sp>
        <p:nvSpPr>
          <p:cNvPr id="5" name="Text 2"/>
          <p:cNvSpPr txBox="1"/>
          <p:nvPr/>
        </p:nvSpPr>
        <p:spPr>
          <a:xfrm>
            <a:off x="548640" y="1567099"/>
            <a:ext cx="11094415" cy="548640"/>
          </a:xfrm>
          <a:prstGeom prst="rect">
            <a:avLst/>
          </a:prstGeom>
          <a:noFill/>
          <a:ln/>
        </p:spPr>
        <p:txBody>
          <a:bodyPr wrap="square" lIns="0" tIns="0" rIns="0" bIns="0" rtlCol="0" anchor="t"/>
          <a:lstStyle/>
          <a:p>
            <a:pPr indent="0" marL="0">
              <a:buNone/>
            </a:pPr>
            <a:r>
              <a:rPr lang="id-ID" altLang="en-US" sz="3000" b="1" i="1" dirty="0">
                <a:solidFill>
                  <a:srgbClr val="0969DA"/>
                </a:solidFill>
              </a:rPr>
              <a:t>Unit test</a:t>
            </a:r>
            <a:endParaRPr lang="id-ID" sz="3000" dirty="0"/>
          </a:p>
        </p:txBody>
      </p:sp>
      <p:sp>
        <p:nvSpPr>
          <p:cNvPr id="6" name="Shape 3"/>
          <p:cNvSpPr/>
          <p:nvPr/>
        </p:nvSpPr>
        <p:spPr>
          <a:xfrm>
            <a:off x="548640" y="2280331"/>
            <a:ext cx="11094415" cy="1757172"/>
          </a:xfrm>
          <a:prstGeom prst="roundRect">
            <a:avLst>
              <a:gd name="adj" fmla="val 3250"/>
            </a:avLst>
          </a:prstGeom>
          <a:solidFill>
            <a:srgbClr val="DDF4FF"/>
          </a:solidFill>
          <a:ln w="9525">
            <a:solidFill>
              <a:srgbClr val="54AEFF"/>
            </a:solidFill>
            <a:prstDash val="solid"/>
          </a:ln>
        </p:spPr>
      </p:sp>
      <p:sp>
        <p:nvSpPr>
          <p:cNvPr id="7" name="Shape 4"/>
          <p:cNvSpPr/>
          <p:nvPr/>
        </p:nvSpPr>
        <p:spPr>
          <a:xfrm>
            <a:off x="804672" y="2884597"/>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3005298"/>
            <a:ext cx="307238" cy="307238"/>
          </a:xfrm>
          <a:prstGeom prst="rect">
            <a:avLst/>
          </a:prstGeom>
        </p:spPr>
      </p:pic>
      <p:sp>
        <p:nvSpPr>
          <p:cNvPr id="9" name="Text 5"/>
          <p:cNvSpPr txBox="1"/>
          <p:nvPr/>
        </p:nvSpPr>
        <p:spPr>
          <a:xfrm>
            <a:off x="1554480" y="2554651"/>
            <a:ext cx="9859975" cy="1391412"/>
          </a:xfrm>
          <a:prstGeom prst="rect">
            <a:avLst/>
          </a:prstGeom>
          <a:noFill/>
          <a:ln/>
        </p:spPr>
        <p:txBody>
          <a:bodyPr wrap="square" lIns="0" tIns="0" rIns="0" bIns="0" rtlCol="0" anchor="t"/>
          <a:lstStyle/>
          <a:p>
            <a:pPr indent="0" marL="0">
              <a:buNone/>
            </a:pPr>
            <a:r>
              <a:rPr lang="id-ID" altLang="en-US" sz="2600" dirty="0">
                <a:solidFill>
                  <a:srgbClr val="1F2328"/>
                </a:solidFill>
              </a:rPr>
              <a:t>Kode kecil yang memeriksa </a:t>
            </a:r>
            <a:r>
              <a:rPr lang="id-ID" altLang="en-US" sz="2600" b="1" dirty="0">
                <a:solidFill>
                  <a:srgbClr val="1F2328"/>
                </a:solidFill>
              </a:rPr>
              <a:t>satu bagian kecil</a:t>
            </a:r>
            <a:r>
              <a:rPr lang="id-ID" altLang="en-US" sz="2600" dirty="0">
                <a:solidFill>
                  <a:srgbClr val="1F2328"/>
                </a:solidFill>
              </a:rPr>
              <a:t> program (satu </a:t>
            </a:r>
            <a:r>
              <a:rPr lang="id-ID" altLang="en-US" sz="2600" i="1" dirty="0">
                <a:solidFill>
                  <a:srgbClr val="1F2328"/>
                </a:solidFill>
              </a:rPr>
              <a:t>method</a:t>
            </a:r>
            <a:r>
              <a:rPr lang="id-ID" altLang="en-US" sz="2600" dirty="0">
                <a:solidFill>
                  <a:srgbClr val="1F2328"/>
                </a:solidFill>
              </a:rPr>
              <a:t> atau satu kelas) secara </a:t>
            </a:r>
            <a:r>
              <a:rPr lang="id-ID" altLang="en-US" sz="2600" b="1" dirty="0">
                <a:solidFill>
                  <a:srgbClr val="1F2328"/>
                </a:solidFill>
              </a:rPr>
              <a:t>otomatis</a:t>
            </a:r>
            <a:r>
              <a:rPr lang="id-ID" altLang="en-US" sz="2600" dirty="0">
                <a:solidFill>
                  <a:srgbClr val="1F2328"/>
                </a:solidFill>
              </a:rPr>
              <a:t>. Pemeriksaannya disebut </a:t>
            </a:r>
            <a:r>
              <a:rPr lang="id-ID" altLang="en-US" sz="2600" b="1" i="1" dirty="0">
                <a:solidFill>
                  <a:srgbClr val="1F2328"/>
                </a:solidFill>
              </a:rPr>
              <a:t>assertion</a:t>
            </a:r>
            <a:r>
              <a:rPr lang="id-ID" altLang="en-US" sz="2600" dirty="0">
                <a:solidFill>
                  <a:srgbClr val="1F2328"/>
                </a:solidFill>
              </a:rPr>
              <a:t>: “nilai ini seharusnya sama dengan itu”.</a:t>
            </a:r>
            <a:endParaRPr lang="id-ID" sz="2600" dirty="0"/>
          </a:p>
        </p:txBody>
      </p:sp>
      <p:sp>
        <p:nvSpPr>
          <p:cNvPr id="10" name="Shape 6"/>
          <p:cNvSpPr/>
          <p:nvPr/>
        </p:nvSpPr>
        <p:spPr>
          <a:xfrm>
            <a:off x="603504" y="4596557"/>
            <a:ext cx="137160" cy="137160"/>
          </a:xfrm>
          <a:prstGeom prst="roundRect">
            <a:avLst>
              <a:gd name="adj" fmla="val 166667"/>
            </a:avLst>
          </a:prstGeom>
          <a:solidFill>
            <a:srgbClr val="0969DA"/>
          </a:solidFill>
          <a:ln/>
        </p:spPr>
      </p:sp>
      <p:sp>
        <p:nvSpPr>
          <p:cNvPr id="11" name="Text 7"/>
          <p:cNvSpPr txBox="1"/>
          <p:nvPr/>
        </p:nvSpPr>
        <p:spPr>
          <a:xfrm>
            <a:off x="932688" y="4494703"/>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Tiga langkah setiap </a:t>
            </a:r>
            <a:r>
              <a:rPr lang="id-ID" altLang="en-US" sz="2200" i="1" dirty="0">
                <a:solidFill>
                  <a:srgbClr val="1F2328"/>
                </a:solidFill>
              </a:rPr>
              <a:t>test</a:t>
            </a:r>
            <a:r>
              <a:rPr lang="id-ID" altLang="en-US" sz="2200" dirty="0">
                <a:solidFill>
                  <a:srgbClr val="1F2328"/>
                </a:solidFill>
              </a:rPr>
              <a:t>: </a:t>
            </a:r>
            <a:r>
              <a:rPr lang="id-ID" altLang="en-US" sz="2200" b="1" dirty="0">
                <a:solidFill>
                  <a:srgbClr val="1F2328"/>
                </a:solidFill>
              </a:rPr>
              <a:t>siapkan</a:t>
            </a:r>
            <a:r>
              <a:rPr lang="id-ID" altLang="en-US" sz="2200" dirty="0">
                <a:solidFill>
                  <a:srgbClr val="1F2328"/>
                </a:solidFill>
              </a:rPr>
              <a:t> data, </a:t>
            </a:r>
            <a:r>
              <a:rPr lang="id-ID" altLang="en-US" sz="2200" b="1" dirty="0">
                <a:solidFill>
                  <a:srgbClr val="1F2328"/>
                </a:solidFill>
              </a:rPr>
              <a:t>jalankan</a:t>
            </a:r>
            <a:r>
              <a:rPr lang="id-ID" altLang="en-US" sz="2200" dirty="0">
                <a:solidFill>
                  <a:srgbClr val="1F2328"/>
                </a:solidFill>
              </a:rPr>
              <a:t> </a:t>
            </a:r>
            <a:r>
              <a:rPr lang="id-ID" altLang="en-US" sz="2200" i="1" dirty="0">
                <a:solidFill>
                  <a:srgbClr val="1F2328"/>
                </a:solidFill>
              </a:rPr>
              <a:t>method</a:t>
            </a:r>
            <a:r>
              <a:rPr lang="id-ID" altLang="en-US" sz="2200" dirty="0">
                <a:solidFill>
                  <a:srgbClr val="1F2328"/>
                </a:solidFill>
              </a:rPr>
              <a:t>, </a:t>
            </a:r>
            <a:r>
              <a:rPr lang="id-ID" altLang="en-US" sz="2200" b="1" dirty="0">
                <a:solidFill>
                  <a:srgbClr val="1F2328"/>
                </a:solidFill>
              </a:rPr>
              <a:t>periksa</a:t>
            </a:r>
            <a:r>
              <a:rPr lang="id-ID" altLang="en-US" sz="2200" dirty="0">
                <a:solidFill>
                  <a:srgbClr val="1F2328"/>
                </a:solidFill>
              </a:rPr>
              <a:t> hasilnya.</a:t>
            </a:r>
            <a:endParaRPr lang="id-ID" sz="2200" dirty="0"/>
          </a:p>
        </p:txBody>
      </p:sp>
      <p:sp>
        <p:nvSpPr>
          <p:cNvPr id="12" name="Shape 8"/>
          <p:cNvSpPr/>
          <p:nvPr/>
        </p:nvSpPr>
        <p:spPr>
          <a:xfrm>
            <a:off x="603504" y="5175169"/>
            <a:ext cx="137160" cy="137160"/>
          </a:xfrm>
          <a:prstGeom prst="roundRect">
            <a:avLst>
              <a:gd name="adj" fmla="val 166667"/>
            </a:avLst>
          </a:prstGeom>
          <a:solidFill>
            <a:srgbClr val="0969DA"/>
          </a:solidFill>
          <a:ln/>
        </p:spPr>
      </p:sp>
      <p:sp>
        <p:nvSpPr>
          <p:cNvPr id="13" name="Text 9"/>
          <p:cNvSpPr txBox="1"/>
          <p:nvPr/>
        </p:nvSpPr>
        <p:spPr>
          <a:xfrm>
            <a:off x="932688" y="5073315"/>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Uji tiga jenis kasus: </a:t>
            </a:r>
            <a:r>
              <a:rPr lang="id-ID" altLang="en-US" sz="2200" b="1" dirty="0">
                <a:solidFill>
                  <a:srgbClr val="1F2328"/>
                </a:solidFill>
              </a:rPr>
              <a:t>normal</a:t>
            </a:r>
            <a:r>
              <a:rPr lang="id-ID" altLang="en-US" sz="2200" dirty="0">
                <a:solidFill>
                  <a:srgbClr val="1F2328"/>
                </a:solidFill>
              </a:rPr>
              <a:t>, </a:t>
            </a:r>
            <a:r>
              <a:rPr lang="id-ID" altLang="en-US" sz="2200" b="1" dirty="0">
                <a:solidFill>
                  <a:srgbClr val="1F2328"/>
                </a:solidFill>
              </a:rPr>
              <a:t>gagal</a:t>
            </a:r>
            <a:r>
              <a:rPr lang="id-ID" altLang="en-US" sz="2200" dirty="0">
                <a:solidFill>
                  <a:srgbClr val="1F2328"/>
                </a:solidFill>
              </a:rPr>
              <a:t>, dan </a:t>
            </a:r>
            <a:r>
              <a:rPr lang="id-ID" altLang="en-US" sz="2200" b="1" dirty="0">
                <a:solidFill>
                  <a:srgbClr val="1F2328"/>
                </a:solidFill>
              </a:rPr>
              <a:t>batas</a:t>
            </a:r>
            <a:r>
              <a:rPr lang="id-ID" altLang="en-US" sz="2200" dirty="0">
                <a:solidFill>
                  <a:srgbClr val="1F2328"/>
                </a:solidFill>
              </a:rPr>
              <a:t> (</a:t>
            </a:r>
            <a:r>
              <a:rPr lang="id-ID" altLang="en-US" sz="2200" i="1" dirty="0">
                <a:solidFill>
                  <a:srgbClr val="1F2328"/>
                </a:solidFill>
              </a:rPr>
              <a:t>boundary</a:t>
            </a:r>
            <a:r>
              <a:rPr lang="id-ID" altLang="en-US" sz="2200" dirty="0">
                <a:solidFill>
                  <a:srgbClr val="1F2328"/>
                </a:solidFill>
              </a:rPr>
              <a:t>).</a:t>
            </a:r>
            <a:endParaRPr lang="id-ID" sz="2200" dirty="0"/>
          </a:p>
        </p:txBody>
      </p:sp>
      <p:sp>
        <p:nvSpPr>
          <p:cNvPr id="14" name="Shape 10"/>
          <p:cNvSpPr/>
          <p:nvPr/>
        </p:nvSpPr>
        <p:spPr>
          <a:xfrm>
            <a:off x="603504" y="5753781"/>
            <a:ext cx="137160" cy="137160"/>
          </a:xfrm>
          <a:prstGeom prst="roundRect">
            <a:avLst>
              <a:gd name="adj" fmla="val 166667"/>
            </a:avLst>
          </a:prstGeom>
          <a:solidFill>
            <a:srgbClr val="0969DA"/>
          </a:solidFill>
          <a:ln/>
        </p:spPr>
      </p:sp>
      <p:sp>
        <p:nvSpPr>
          <p:cNvPr id="15" name="Text 11"/>
          <p:cNvSpPr txBox="1"/>
          <p:nvPr/>
        </p:nvSpPr>
        <p:spPr>
          <a:xfrm>
            <a:off x="932688" y="5651927"/>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Aturan “minimal Rp100.000” harus diuji dengan belanja </a:t>
            </a:r>
            <a:r>
              <a:rPr lang="id-ID" altLang="en-US" sz="2200" b="1" dirty="0">
                <a:solidFill>
                  <a:srgbClr val="1F2328"/>
                </a:solidFill>
              </a:rPr>
              <a:t>tepat</a:t>
            </a:r>
            <a:r>
              <a:rPr lang="id-ID" altLang="en-US" sz="2200" dirty="0">
                <a:solidFill>
                  <a:srgbClr val="1F2328"/>
                </a:solidFill>
              </a:rPr>
              <a:t> Rp100.000.</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Unit Test</a:t>
            </a:r>
            <a:r>
              <a:rPr lang="id-ID" altLang="en-US" sz="3200" b="1" dirty="0">
                <a:solidFill>
                  <a:srgbClr val="0A3069"/>
                </a:solidFill>
              </a:rPr>
              <a:t> KedaiKita di Python dan Java</a:t>
            </a:r>
            <a:endParaRPr lang="id-ID" sz="3200" dirty="0"/>
          </a:p>
        </p:txBody>
      </p:sp>
      <p:sp>
        <p:nvSpPr>
          <p:cNvPr id="5" name="Text 2"/>
          <p:cNvSpPr txBox="1"/>
          <p:nvPr/>
        </p:nvSpPr>
        <p:spPr>
          <a:xfrm>
            <a:off x="548640" y="2101931"/>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Siapkan 2 Kopi Susu Gula Aren (Rp18.000) dan 1 Nasi Goreng Kampung (Rp25.000), lalu periksa hasilnya.</a:t>
            </a:r>
            <a:endParaRPr lang="id-ID" sz="1800" dirty="0"/>
          </a:p>
        </p:txBody>
      </p:sp>
      <p:sp>
        <p:nvSpPr>
          <p:cNvPr id="6" name="Shape 3"/>
          <p:cNvSpPr/>
          <p:nvPr/>
        </p:nvSpPr>
        <p:spPr>
          <a:xfrm>
            <a:off x="548640" y="2536271"/>
            <a:ext cx="1051560" cy="329184"/>
          </a:xfrm>
          <a:prstGeom prst="roundRect">
            <a:avLst>
              <a:gd name="adj" fmla="val 138889"/>
            </a:avLst>
          </a:prstGeom>
          <a:solidFill>
            <a:srgbClr val="3572A5"/>
          </a:solidFill>
          <a:ln/>
        </p:spPr>
      </p:sp>
      <p:sp>
        <p:nvSpPr>
          <p:cNvPr id="7" name="Text 4"/>
          <p:cNvSpPr txBox="1"/>
          <p:nvPr/>
        </p:nvSpPr>
        <p:spPr>
          <a:xfrm>
            <a:off x="548640" y="2536271"/>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536271"/>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python/studi-kasus/tests/test_kedaikita.py</a:t>
            </a:r>
            <a:endParaRPr lang="id-ID" sz="1100" dirty="0"/>
          </a:p>
        </p:txBody>
      </p:sp>
      <p:sp>
        <p:nvSpPr>
          <p:cNvPr id="9" name="Shape 6"/>
          <p:cNvSpPr/>
          <p:nvPr/>
        </p:nvSpPr>
        <p:spPr>
          <a:xfrm>
            <a:off x="548640" y="2956895"/>
            <a:ext cx="5432908" cy="2234184"/>
          </a:xfrm>
          <a:prstGeom prst="roundRect">
            <a:avLst>
              <a:gd name="adj" fmla="val 1675"/>
            </a:avLst>
          </a:prstGeom>
          <a:solidFill>
            <a:srgbClr val="F6F8FA"/>
          </a:solidFill>
          <a:ln w="9525">
            <a:solidFill>
              <a:srgbClr val="D0D7DE"/>
            </a:solidFill>
            <a:prstDash val="solid"/>
          </a:ln>
        </p:spPr>
      </p:sp>
      <p:sp>
        <p:nvSpPr>
          <p:cNvPr id="10" name="Text 7"/>
          <p:cNvSpPr txBox="1"/>
          <p:nvPr/>
        </p:nvSpPr>
        <p:spPr>
          <a:xfrm>
            <a:off x="658368" y="3048335"/>
            <a:ext cx="5213452" cy="2051304"/>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setUp</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.pelanggan = Pelanggan(</a:t>
            </a:r>
            <a:r>
              <a:rPr lang="en-US" altLang="en-US" sz="1100" dirty="0">
                <a:solidFill>
                  <a:srgbClr val="0A3069"/>
                </a:solidFill>
                <a:latin typeface="Consolas" pitchFamily="34" charset="0"/>
                <a:ea typeface="Consolas" pitchFamily="34" charset="-122"/>
                <a:cs typeface="Consolas" pitchFamily="34" charset="-120"/>
              </a:rPr>
              <a:t>"Uji Coba"</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"080000000000"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.pesanan = Pesanan(</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.pelanggan)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.pesanan.tambah_item(</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.kopi, </a:t>
            </a:r>
            <a:r>
              <a:rPr lang="en-US" altLang="en-US" sz="1100" dirty="0">
                <a:solidFill>
                  <a:srgbClr val="0550AE"/>
                </a:solidFill>
                <a:latin typeface="Consolas" pitchFamily="34" charset="0"/>
                <a:ea typeface="Consolas" pitchFamily="34" charset="-122"/>
                <a:cs typeface="Consolas" pitchFamily="34" charset="-120"/>
              </a:rPr>
              <a:t>2</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.pesanan.tambah_item(</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.nasi, </a:t>
            </a:r>
            <a:r>
              <a:rPr lang="en-US" altLang="en-US" sz="1100" dirty="0">
                <a:solidFill>
                  <a:srgbClr val="0550AE"/>
                </a:solidFill>
                <a:latin typeface="Consolas" pitchFamily="34" charset="0"/>
                <a:ea typeface="Consolas" pitchFamily="34" charset="-122"/>
                <a:cs typeface="Consolas" pitchFamily="34" charset="-120"/>
              </a:rPr>
              <a:t>1</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test_subtotal</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.assertEqual(</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.pesanan.hitung_subtotal(), </a:t>
            </a:r>
            <a:r>
              <a:rPr lang="en-US" altLang="en-US" sz="1100" dirty="0">
                <a:solidFill>
                  <a:srgbClr val="0550AE"/>
                </a:solidFill>
                <a:latin typeface="Consolas" pitchFamily="34" charset="0"/>
                <a:ea typeface="Consolas" pitchFamily="34" charset="-122"/>
                <a:cs typeface="Consolas" pitchFamily="34" charset="-120"/>
              </a:rPr>
              <a:t>61000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test_total_sudah_termasuk_pajak_10_persen</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.assertEqual(</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.pesanan.hitung_total(), </a:t>
            </a:r>
            <a:r>
              <a:rPr lang="en-US" altLang="en-US" sz="1100" dirty="0">
                <a:solidFill>
                  <a:srgbClr val="0550AE"/>
                </a:solidFill>
                <a:latin typeface="Consolas" pitchFamily="34" charset="0"/>
                <a:ea typeface="Consolas" pitchFamily="34" charset="-122"/>
                <a:cs typeface="Consolas" pitchFamily="34" charset="-120"/>
              </a:rPr>
              <a:t>67100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11" name="Shape 8"/>
          <p:cNvSpPr/>
          <p:nvPr/>
        </p:nvSpPr>
        <p:spPr>
          <a:xfrm>
            <a:off x="6210148" y="2536271"/>
            <a:ext cx="1051560" cy="329184"/>
          </a:xfrm>
          <a:prstGeom prst="roundRect">
            <a:avLst>
              <a:gd name="adj" fmla="val 138889"/>
            </a:avLst>
          </a:prstGeom>
          <a:solidFill>
            <a:srgbClr val="B07219"/>
          </a:solidFill>
          <a:ln/>
        </p:spPr>
      </p:sp>
      <p:sp>
        <p:nvSpPr>
          <p:cNvPr id="12" name="Text 9"/>
          <p:cNvSpPr txBox="1"/>
          <p:nvPr/>
        </p:nvSpPr>
        <p:spPr>
          <a:xfrm>
            <a:off x="6210148" y="2536271"/>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536271"/>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java/studi-kasus/src/kedaikita/UjiKedaiKita.java</a:t>
            </a:r>
            <a:endParaRPr lang="id-ID" sz="1100" dirty="0"/>
          </a:p>
        </p:txBody>
      </p:sp>
      <p:sp>
        <p:nvSpPr>
          <p:cNvPr id="14" name="Shape 11"/>
          <p:cNvSpPr/>
          <p:nvPr/>
        </p:nvSpPr>
        <p:spPr>
          <a:xfrm>
            <a:off x="6210148" y="2956895"/>
            <a:ext cx="5432908" cy="2234184"/>
          </a:xfrm>
          <a:prstGeom prst="roundRect">
            <a:avLst>
              <a:gd name="adj" fmla="val 1675"/>
            </a:avLst>
          </a:prstGeom>
          <a:solidFill>
            <a:srgbClr val="F6F8FA"/>
          </a:solidFill>
          <a:ln w="9525">
            <a:solidFill>
              <a:srgbClr val="D0D7DE"/>
            </a:solidFill>
            <a:prstDash val="solid"/>
          </a:ln>
        </p:spPr>
      </p:sp>
      <p:sp>
        <p:nvSpPr>
          <p:cNvPr id="15" name="Text 12"/>
          <p:cNvSpPr txBox="1"/>
          <p:nvPr/>
        </p:nvSpPr>
        <p:spPr>
          <a:xfrm>
            <a:off x="6319876" y="3048335"/>
            <a:ext cx="5213452" cy="2051304"/>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private</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static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void</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siapkanPesanan</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throws</a:t>
            </a:r>
            <a:r>
              <a:rPr lang="en-US" altLang="en-US" sz="1100" dirty="0">
                <a:solidFill>
                  <a:srgbClr val="1F2328"/>
                </a:solidFill>
                <a:latin typeface="Consolas" pitchFamily="34" charset="0"/>
                <a:ea typeface="Consolas" pitchFamily="34" charset="-122"/>
                <a:cs typeface="Consolas" pitchFamily="34" charset="-120"/>
              </a:rPr>
              <a:t> KedaiException {</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pelanggan = </a:t>
            </a:r>
            <a:r>
              <a:rPr lang="en-US" altLang="en-US" sz="1100" dirty="0">
                <a:solidFill>
                  <a:srgbClr val="CF222E"/>
                </a:solidFill>
                <a:latin typeface="Consolas" pitchFamily="34" charset="0"/>
                <a:ea typeface="Consolas" pitchFamily="34" charset="-122"/>
                <a:cs typeface="Consolas" pitchFamily="34" charset="-120"/>
              </a:rPr>
              <a:t>new</a:t>
            </a:r>
            <a:r>
              <a:rPr lang="en-US" altLang="en-US" sz="1100" dirty="0">
                <a:solidFill>
                  <a:srgbClr val="1F2328"/>
                </a:solidFill>
                <a:latin typeface="Consolas" pitchFamily="34" charset="0"/>
                <a:ea typeface="Consolas" pitchFamily="34" charset="-122"/>
                <a:cs typeface="Consolas" pitchFamily="34" charset="-120"/>
              </a:rPr>
              <a:t> Pelanggan(</a:t>
            </a:r>
            <a:r>
              <a:rPr lang="en-US" altLang="en-US" sz="1100" dirty="0">
                <a:solidFill>
                  <a:srgbClr val="0A3069"/>
                </a:solidFill>
                <a:latin typeface="Consolas" pitchFamily="34" charset="0"/>
                <a:ea typeface="Consolas" pitchFamily="34" charset="-122"/>
                <a:cs typeface="Consolas" pitchFamily="34" charset="-120"/>
              </a:rPr>
              <a:t>"Uji Coba"</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"080000000000"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pesanan = </a:t>
            </a:r>
            <a:r>
              <a:rPr lang="en-US" altLang="en-US" sz="1100" dirty="0">
                <a:solidFill>
                  <a:srgbClr val="CF222E"/>
                </a:solidFill>
                <a:latin typeface="Consolas" pitchFamily="34" charset="0"/>
                <a:ea typeface="Consolas" pitchFamily="34" charset="-122"/>
                <a:cs typeface="Consolas" pitchFamily="34" charset="-120"/>
              </a:rPr>
              <a:t>new</a:t>
            </a:r>
            <a:r>
              <a:rPr lang="en-US" altLang="en-US" sz="1100" dirty="0">
                <a:solidFill>
                  <a:srgbClr val="1F2328"/>
                </a:solidFill>
                <a:latin typeface="Consolas" pitchFamily="34" charset="0"/>
                <a:ea typeface="Consolas" pitchFamily="34" charset="-122"/>
                <a:cs typeface="Consolas" pitchFamily="34" charset="-120"/>
              </a:rPr>
              <a:t> Pesanan(pelanggan);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pesanan.tambahItem(kopi, </a:t>
            </a:r>
            <a:r>
              <a:rPr lang="en-US" altLang="en-US" sz="1100" dirty="0">
                <a:solidFill>
                  <a:srgbClr val="0550AE"/>
                </a:solidFill>
                <a:latin typeface="Consolas" pitchFamily="34" charset="0"/>
                <a:ea typeface="Consolas" pitchFamily="34" charset="-122"/>
                <a:cs typeface="Consolas" pitchFamily="34" charset="-120"/>
              </a:rPr>
              <a:t>2</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pesanan.tambahItem(nasi, </a:t>
            </a:r>
            <a:r>
              <a:rPr lang="en-US" altLang="en-US" sz="1100" dirty="0">
                <a:solidFill>
                  <a:srgbClr val="0550AE"/>
                </a:solidFill>
                <a:latin typeface="Consolas" pitchFamily="34" charset="0"/>
                <a:ea typeface="Consolas" pitchFamily="34" charset="-122"/>
                <a:cs typeface="Consolas" pitchFamily="34" charset="-120"/>
              </a:rPr>
              <a:t>1</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private</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static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boolean</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ujiSubtotal</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throws</a:t>
            </a:r>
            <a:r>
              <a:rPr lang="en-US" altLang="en-US" sz="1100" dirty="0">
                <a:solidFill>
                  <a:srgbClr val="1F2328"/>
                </a:solidFill>
                <a:latin typeface="Consolas" pitchFamily="34" charset="0"/>
                <a:ea typeface="Consolas" pitchFamily="34" charset="-122"/>
                <a:cs typeface="Consolas" pitchFamily="34" charset="-120"/>
              </a:rPr>
              <a:t> KedaiException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siapkanPesanan();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pesanan.hitungSubtotal() == </a:t>
            </a:r>
            <a:r>
              <a:rPr lang="en-US" altLang="en-US" sz="1100" dirty="0">
                <a:solidFill>
                  <a:srgbClr val="0550AE"/>
                </a:solidFill>
                <a:latin typeface="Consolas" pitchFamily="34" charset="0"/>
                <a:ea typeface="Consolas" pitchFamily="34" charset="-122"/>
                <a:cs typeface="Consolas" pitchFamily="34" charset="-120"/>
              </a:rPr>
              <a:t>61000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1216152" y="2633472"/>
            <a:ext cx="722376" cy="722376"/>
          </a:xfrm>
          <a:prstGeom prst="rect">
            <a:avLst/>
          </a:prstGeom>
        </p:spPr>
      </p:pic>
      <p:sp>
        <p:nvSpPr>
          <p:cNvPr id="4" name="Text 1"/>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FB8F44"/>
                </a:solidFill>
              </a:rPr>
              <a:t>STUDI KASUS</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Studi Kasus KedaiKita</a:t>
            </a:r>
            <a:endParaRPr lang="id-ID" sz="4200" dirty="0"/>
          </a:p>
        </p:txBody>
      </p:sp>
      <p:sp>
        <p:nvSpPr>
          <p:cNvPr id="6" name="Text 3"/>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Semua kelas pindah ke </a:t>
            </a:r>
            <a:r>
              <a:rPr lang="id-ID" altLang="en-US" sz="2200" i="1" dirty="0">
                <a:solidFill>
                  <a:srgbClr val="C9D7E8"/>
                </a:solidFill>
              </a:rPr>
              <a:t>package</a:t>
            </a:r>
            <a:r>
              <a:rPr lang="id-ID" altLang="en-US" sz="2200" dirty="0">
                <a:solidFill>
                  <a:srgbClr val="C9D7E8"/>
                </a:solidFill>
              </a:rPr>
              <a:t> </a:t>
            </a:r>
            <a:r>
              <a:rPr lang="id-ID" altLang="en-US" sz="2200" dirty="0">
                <a:solidFill>
                  <a:srgbClr val="DDF4FF"/>
                </a:solidFill>
                <a:latin typeface="Consolas" pitchFamily="34" charset="0"/>
                <a:ea typeface="Consolas" pitchFamily="34" charset="-122"/>
                <a:cs typeface="Consolas" pitchFamily="34" charset="-120"/>
              </a:rPr>
              <a:t>kedaikita</a:t>
            </a:r>
            <a:r>
              <a:rPr lang="id-ID" altLang="en-US" sz="2200" dirty="0">
                <a:solidFill>
                  <a:srgbClr val="C9D7E8"/>
                </a:solidFill>
              </a:rPr>
              <a:t>, menu dibaca dari CSV, dan ada kelas baru untuk setiap lapisan.</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Kelas-⁠Kelas Baru KedaiKita</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pic>
        <p:nvPicPr>
          <p:cNvPr id="7" name="Image 1" descr="Nama method bergaya Python; di Java ditulis camelCase, misalnya jalankanDemo.">    </p:cNvPr>
          <p:cNvPicPr>
            <a:picLocks noChangeAspect="1"/>
          </p:cNvPicPr>
          <p:nvPr/>
        </p:nvPicPr>
        <p:blipFill>
          <a:blip r:embed="rId2"/>
          <a:stretch>
            <a:fillRect/>
          </a:stretch>
        </p:blipFill>
        <p:spPr>
          <a:xfrm>
            <a:off x="548640" y="1554455"/>
            <a:ext cx="11094415" cy="4034333"/>
          </a:xfrm>
          <a:prstGeom prst="rect">
            <a:avLst/>
          </a:prstGeom>
        </p:spPr>
      </p:pic>
      <p:sp>
        <p:nvSpPr>
          <p:cNvPr id="8" name="Text 4"/>
          <p:cNvSpPr txBox="1"/>
          <p:nvPr/>
        </p:nvSpPr>
        <p:spPr>
          <a:xfrm>
            <a:off x="1005840" y="5698515"/>
            <a:ext cx="10180015" cy="427990"/>
          </a:xfrm>
          <a:prstGeom prst="rect">
            <a:avLst/>
          </a:prstGeom>
          <a:noFill/>
          <a:ln/>
        </p:spPr>
        <p:txBody>
          <a:bodyPr wrap="square" lIns="0" tIns="0" rIns="0" bIns="0" rtlCol="0" anchor="t"/>
          <a:lstStyle/>
          <a:p>
            <a:pPr algn="ctr" indent="0" marL="0">
              <a:buNone/>
            </a:pPr>
            <a:r>
              <a:rPr lang="id-ID" altLang="en-US" sz="1700" dirty="0">
                <a:solidFill>
                  <a:srgbClr val="57606A"/>
                </a:solidFill>
              </a:rPr>
              <a:t>Nama </a:t>
            </a:r>
            <a:r>
              <a:rPr lang="id-ID" altLang="en-US" sz="1700" i="1" dirty="0">
                <a:solidFill>
                  <a:srgbClr val="57606A"/>
                </a:solidFill>
              </a:rPr>
              <a:t>method</a:t>
            </a:r>
            <a:r>
              <a:rPr lang="id-ID" altLang="en-US" sz="1700" dirty="0">
                <a:solidFill>
                  <a:srgbClr val="57606A"/>
                </a:solidFill>
              </a:rPr>
              <a:t> bergaya Python; di Java ditulis </a:t>
            </a:r>
            <a:r>
              <a:rPr lang="id-ID" altLang="en-US" sz="1700" i="1" dirty="0">
                <a:solidFill>
                  <a:srgbClr val="57606A"/>
                </a:solidFill>
              </a:rPr>
              <a:t>camelCase</a:t>
            </a:r>
            <a:r>
              <a:rPr lang="id-ID" altLang="en-US" sz="1700" dirty="0">
                <a:solidFill>
                  <a:srgbClr val="57606A"/>
                </a:solidFill>
              </a:rPr>
              <a:t>, misalnya </a:t>
            </a:r>
            <a:r>
              <a:rPr lang="id-ID" altLang="en-US" sz="1700" dirty="0">
                <a:solidFill>
                  <a:srgbClr val="57606A"/>
                </a:solidFill>
                <a:latin typeface="Consolas" pitchFamily="34" charset="0"/>
                <a:ea typeface="Consolas" pitchFamily="34" charset="-122"/>
                <a:cs typeface="Consolas" pitchFamily="34" charset="-120"/>
              </a:rPr>
              <a:t>jalankanDemo</a:t>
            </a:r>
            <a:r>
              <a:rPr lang="id-ID" altLang="en-US" sz="1700" dirty="0">
                <a:solidFill>
                  <a:srgbClr val="57606A"/>
                </a:solidFill>
              </a:rPr>
              <a:t>.</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Observer</a:t>
            </a:r>
            <a:r>
              <a:rPr lang="id-ID" altLang="en-US" sz="3200" b="1" dirty="0">
                <a:solidFill>
                  <a:srgbClr val="0A3069"/>
                </a:solidFill>
              </a:rPr>
              <a:t> Baru: Mencatat Transaksi LUNAS</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657502"/>
            <a:ext cx="11094415" cy="603504"/>
          </a:xfrm>
          <a:prstGeom prst="rect">
            <a:avLst/>
          </a:prstGeom>
          <a:noFill/>
          <a:ln/>
        </p:spPr>
        <p:txBody>
          <a:bodyPr wrap="square" lIns="0" tIns="0" rIns="0" bIns="0" rtlCol="0" anchor="t"/>
          <a:lstStyle/>
          <a:p>
            <a:pPr indent="0" marL="0">
              <a:buNone/>
            </a:pPr>
            <a:r>
              <a:rPr lang="id-ID" altLang="en-US" sz="1800" dirty="0">
                <a:solidFill>
                  <a:srgbClr val="0A3069"/>
                </a:solidFill>
                <a:latin typeface="Consolas" pitchFamily="34" charset="0"/>
                <a:ea typeface="Consolas" pitchFamily="34" charset="-122"/>
                <a:cs typeface="Consolas" pitchFamily="34" charset="-120"/>
              </a:rPr>
              <a:t>PencatatTransaksiCSV</a:t>
            </a:r>
            <a:r>
              <a:rPr lang="id-ID" altLang="en-US" sz="1800" dirty="0">
                <a:solidFill>
                  <a:srgbClr val="57606A"/>
                </a:solidFill>
              </a:rPr>
              <a:t> menambah satu baris ke </a:t>
            </a:r>
            <a:r>
              <a:rPr lang="id-ID" altLang="en-US" sz="1800" dirty="0">
                <a:solidFill>
                  <a:srgbClr val="0A3069"/>
                </a:solidFill>
                <a:latin typeface="Consolas" pitchFamily="34" charset="0"/>
                <a:ea typeface="Consolas" pitchFamily="34" charset="-122"/>
                <a:cs typeface="Consolas" pitchFamily="34" charset="-120"/>
              </a:rPr>
              <a:t>transaksi.csv</a:t>
            </a:r>
            <a:r>
              <a:rPr lang="id-ID" altLang="en-US" sz="1800" dirty="0">
                <a:solidFill>
                  <a:srgbClr val="57606A"/>
                </a:solidFill>
              </a:rPr>
              <a:t> untuk setiap pesanan LUNAS. Kelas </a:t>
            </a:r>
            <a:r>
              <a:rPr lang="id-ID" altLang="en-US" sz="1800" dirty="0">
                <a:solidFill>
                  <a:srgbClr val="0A3069"/>
                </a:solidFill>
                <a:latin typeface="Consolas" pitchFamily="34" charset="0"/>
                <a:ea typeface="Consolas" pitchFamily="34" charset="-122"/>
                <a:cs typeface="Consolas" pitchFamily="34" charset="-120"/>
              </a:rPr>
              <a:t>Pesanan</a:t>
            </a:r>
            <a:r>
              <a:rPr lang="id-ID" altLang="en-US" sz="1800" dirty="0">
                <a:solidFill>
                  <a:srgbClr val="57606A"/>
                </a:solidFill>
              </a:rPr>
              <a:t> tidak diubah.</a:t>
            </a:r>
            <a:endParaRPr lang="id-ID" sz="1800" dirty="0"/>
          </a:p>
        </p:txBody>
      </p:sp>
      <p:sp>
        <p:nvSpPr>
          <p:cNvPr id="8" name="Shape 5"/>
          <p:cNvSpPr/>
          <p:nvPr/>
        </p:nvSpPr>
        <p:spPr>
          <a:xfrm>
            <a:off x="548640" y="2370734"/>
            <a:ext cx="1051560" cy="329184"/>
          </a:xfrm>
          <a:prstGeom prst="roundRect">
            <a:avLst>
              <a:gd name="adj" fmla="val 138889"/>
            </a:avLst>
          </a:prstGeom>
          <a:solidFill>
            <a:srgbClr val="3572A5"/>
          </a:solidFill>
          <a:ln/>
        </p:spPr>
      </p:sp>
      <p:sp>
        <p:nvSpPr>
          <p:cNvPr id="9" name="Text 6"/>
          <p:cNvSpPr txBox="1"/>
          <p:nvPr/>
        </p:nvSpPr>
        <p:spPr>
          <a:xfrm>
            <a:off x="548640" y="2370734"/>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370734"/>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python/studi-kasus/kedaikita/repositori.py</a:t>
            </a:r>
            <a:endParaRPr lang="id-ID" sz="1100" dirty="0"/>
          </a:p>
        </p:txBody>
      </p:sp>
      <p:sp>
        <p:nvSpPr>
          <p:cNvPr id="11" name="Shape 8"/>
          <p:cNvSpPr/>
          <p:nvPr/>
        </p:nvSpPr>
        <p:spPr>
          <a:xfrm>
            <a:off x="548640" y="2791358"/>
            <a:ext cx="5432908" cy="3013456"/>
          </a:xfrm>
          <a:prstGeom prst="roundRect">
            <a:avLst>
              <a:gd name="adj" fmla="val 921"/>
            </a:avLst>
          </a:prstGeom>
          <a:solidFill>
            <a:srgbClr val="F6F8FA"/>
          </a:solidFill>
          <a:ln w="9525">
            <a:solidFill>
              <a:srgbClr val="D0D7DE"/>
            </a:solidFill>
            <a:prstDash val="solid"/>
          </a:ln>
        </p:spPr>
      </p:sp>
      <p:sp>
        <p:nvSpPr>
          <p:cNvPr id="12" name="Text 9"/>
          <p:cNvSpPr txBox="1"/>
          <p:nvPr/>
        </p:nvSpPr>
        <p:spPr>
          <a:xfrm>
            <a:off x="658368" y="2882798"/>
            <a:ext cx="5213452" cy="2830576"/>
          </a:xfrm>
          <a:prstGeom prst="rect">
            <a:avLst/>
          </a:prstGeom>
          <a:noFill/>
          <a:ln/>
        </p:spPr>
        <p:txBody>
          <a:bodyPr wrap="square" lIns="0" tIns="0" rIns="0" bIns="0" rtlCol="0" anchor="t"/>
          <a:lstStyle/>
          <a:p>
            <a:pPr indent="0" marL="0">
              <a:buNone/>
            </a:pPr>
            <a:r>
              <a:rPr lang="en-US" altLang="en-US" sz="1150" dirty="0">
                <a:solidFill>
                  <a:srgbClr val="CF222E"/>
                </a:solidFill>
                <a:latin typeface="Consolas" pitchFamily="34" charset="0"/>
                <a:ea typeface="Consolas" pitchFamily="34" charset="-122"/>
                <a:cs typeface="Consolas" pitchFamily="34" charset="-120"/>
              </a:rPr>
              <a:t>class</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953800"/>
                </a:solidFill>
                <a:latin typeface="Consolas" pitchFamily="34" charset="0"/>
                <a:ea typeface="Consolas" pitchFamily="34" charset="-122"/>
                <a:cs typeface="Consolas" pitchFamily="34" charset="-120"/>
              </a:rPr>
              <a:t>PencatatTransaksiCSV</a:t>
            </a:r>
            <a:r>
              <a:rPr lang="en-US" altLang="en-US" sz="1150" dirty="0">
                <a:solidFill>
                  <a:srgbClr val="1F2328"/>
                </a:solidFill>
                <a:latin typeface="Consolas" pitchFamily="34" charset="0"/>
                <a:ea typeface="Consolas" pitchFamily="34" charset="-122"/>
                <a:cs typeface="Consolas" pitchFamily="34" charset="-120"/>
              </a:rPr>
              <a:t>(PengamatPesanan):</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def</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perbarui</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 pesanan: Pesanan):</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if</a:t>
            </a:r>
            <a:r>
              <a:rPr lang="en-US" altLang="en-US" sz="1150" dirty="0">
                <a:solidFill>
                  <a:srgbClr val="1F2328"/>
                </a:solidFill>
                <a:latin typeface="Consolas" pitchFamily="34" charset="0"/>
                <a:ea typeface="Consolas" pitchFamily="34" charset="-122"/>
                <a:cs typeface="Consolas" pitchFamily="34" charset="-120"/>
              </a:rPr>
              <a:t> pesanan.status != </a:t>
            </a:r>
            <a:r>
              <a:rPr lang="en-US" altLang="en-US" sz="1150" dirty="0">
                <a:solidFill>
                  <a:srgbClr val="0A3069"/>
                </a:solidFill>
                <a:latin typeface="Consolas" pitchFamily="34" charset="0"/>
                <a:ea typeface="Consolas" pitchFamily="34" charset="-122"/>
                <a:cs typeface="Consolas" pitchFamily="34" charset="-120"/>
              </a:rPr>
              <a:t>"LUNAS"</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return</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porsi = </a:t>
            </a:r>
            <a:r>
              <a:rPr lang="en-US" altLang="en-US" sz="1150" dirty="0">
                <a:solidFill>
                  <a:srgbClr val="0550AE"/>
                </a:solidFill>
                <a:latin typeface="Consolas" pitchFamily="34" charset="0"/>
                <a:ea typeface="Consolas" pitchFamily="34" charset="-122"/>
                <a:cs typeface="Consolas" pitchFamily="34" charset="-120"/>
              </a:rPr>
              <a:t>0</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for</a:t>
            </a:r>
            <a:r>
              <a:rPr lang="en-US" altLang="en-US" sz="1150" dirty="0">
                <a:solidFill>
                  <a:srgbClr val="1F2328"/>
                </a:solidFill>
                <a:latin typeface="Consolas" pitchFamily="34" charset="0"/>
                <a:ea typeface="Consolas" pitchFamily="34" charset="-122"/>
                <a:cs typeface="Consolas" pitchFamily="34" charset="-120"/>
              </a:rPr>
              <a:t> item in pesanan.daftar_item:</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porsi += item.jumlah</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susun baris: nomor, pelanggan, porsi, total</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with</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0550AE"/>
                </a:solidFill>
                <a:latin typeface="Consolas" pitchFamily="34" charset="0"/>
                <a:ea typeface="Consolas" pitchFamily="34" charset="-122"/>
                <a:cs typeface="Consolas" pitchFamily="34" charset="-120"/>
              </a:rPr>
              <a:t>open</a:t>
            </a:r>
            <a:r>
              <a:rPr lang="en-US" altLang="en-US" sz="1150" dirty="0">
                <a:solidFill>
                  <a:srgbClr val="1F2328"/>
                </a:solidFill>
                <a:latin typeface="Consolas" pitchFamily="34" charset="0"/>
                <a:ea typeface="Consolas" pitchFamily="34" charset="-122"/>
                <a:cs typeface="Consolas" pitchFamily="34" charset="-120"/>
              </a:rPr>
              <a:t>(</a:t>
            </a:r>
            <a:r>
              <a:rPr lang="en-US" altLang="en-US" sz="1150" dirty="0">
                <a:solidFill>
                  <a:srgbClr val="0550AE"/>
                </a:solidFill>
                <a:latin typeface="Consolas" pitchFamily="34" charset="0"/>
                <a:ea typeface="Consolas" pitchFamily="34" charset="-122"/>
                <a:cs typeface="Consolas" pitchFamily="34" charset="-120"/>
              </a:rPr>
              <a:t>self</a:t>
            </a:r>
            <a:r>
              <a:rPr lang="en-US" altLang="en-US" sz="1150" dirty="0">
                <a:solidFill>
                  <a:srgbClr val="1F2328"/>
                </a:solidFill>
                <a:latin typeface="Consolas" pitchFamily="34" charset="0"/>
                <a:ea typeface="Consolas" pitchFamily="34" charset="-122"/>
                <a:cs typeface="Consolas" pitchFamily="34" charset="-120"/>
              </a:rPr>
              <a:t>._path, </a:t>
            </a:r>
            <a:r>
              <a:rPr lang="en-US" altLang="en-US" sz="1150" dirty="0">
                <a:solidFill>
                  <a:srgbClr val="0A3069"/>
                </a:solidFill>
                <a:latin typeface="Consolas" pitchFamily="34" charset="0"/>
                <a:ea typeface="Consolas" pitchFamily="34" charset="-122"/>
                <a:cs typeface="Consolas" pitchFamily="34" charset="-120"/>
              </a:rPr>
              <a:t>"a"</a:t>
            </a:r>
            <a:r>
              <a:rPr lang="en-US" altLang="en-US" sz="1150" dirty="0">
                <a:solidFill>
                  <a:srgbClr val="1F2328"/>
                </a:solidFill>
                <a:latin typeface="Consolas" pitchFamily="34" charset="0"/>
                <a:ea typeface="Consolas" pitchFamily="34" charset="-122"/>
                <a:cs typeface="Consolas" pitchFamily="34" charset="-120"/>
              </a:rPr>
              <a:t>, ...) </a:t>
            </a:r>
            <a:r>
              <a:rPr lang="en-US" altLang="en-US" sz="1150" dirty="0">
                <a:solidFill>
                  <a:srgbClr val="CF222E"/>
                </a:solidFill>
                <a:latin typeface="Consolas" pitchFamily="34" charset="0"/>
                <a:ea typeface="Consolas" pitchFamily="34" charset="-122"/>
                <a:cs typeface="Consolas" pitchFamily="34" charset="-120"/>
              </a:rPr>
              <a:t>as</a:t>
            </a:r>
            <a:r>
              <a:rPr lang="en-US" altLang="en-US" sz="1150" dirty="0">
                <a:solidFill>
                  <a:srgbClr val="1F2328"/>
                </a:solidFill>
                <a:latin typeface="Consolas" pitchFamily="34" charset="0"/>
                <a:ea typeface="Consolas" pitchFamily="34" charset="-122"/>
                <a:cs typeface="Consolas" pitchFamily="34" charset="-120"/>
              </a:rPr>
              <a:t> berkas:</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(dilewati)</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penulis.writerow(baris)</a:t>
            </a:r>
            <a:endParaRPr lang="en-US" sz="1150" dirty="0"/>
          </a:p>
        </p:txBody>
      </p:sp>
      <p:sp>
        <p:nvSpPr>
          <p:cNvPr id="13" name="Shape 10"/>
          <p:cNvSpPr/>
          <p:nvPr/>
        </p:nvSpPr>
        <p:spPr>
          <a:xfrm>
            <a:off x="6210148" y="2370734"/>
            <a:ext cx="1051560" cy="329184"/>
          </a:xfrm>
          <a:prstGeom prst="roundRect">
            <a:avLst>
              <a:gd name="adj" fmla="val 138889"/>
            </a:avLst>
          </a:prstGeom>
          <a:solidFill>
            <a:srgbClr val="B07219"/>
          </a:solidFill>
          <a:ln/>
        </p:spPr>
      </p:sp>
      <p:sp>
        <p:nvSpPr>
          <p:cNvPr id="14" name="Text 11"/>
          <p:cNvSpPr txBox="1"/>
          <p:nvPr/>
        </p:nvSpPr>
        <p:spPr>
          <a:xfrm>
            <a:off x="6210148" y="2370734"/>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370734"/>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java/studi-kasus/src/kedaikita/PencatatTransaksiCSV.java</a:t>
            </a:r>
            <a:endParaRPr lang="id-ID" sz="1100" dirty="0"/>
          </a:p>
        </p:txBody>
      </p:sp>
      <p:sp>
        <p:nvSpPr>
          <p:cNvPr id="16" name="Shape 13"/>
          <p:cNvSpPr/>
          <p:nvPr/>
        </p:nvSpPr>
        <p:spPr>
          <a:xfrm>
            <a:off x="6210148" y="2791358"/>
            <a:ext cx="5432908" cy="3013456"/>
          </a:xfrm>
          <a:prstGeom prst="roundRect">
            <a:avLst>
              <a:gd name="adj" fmla="val 921"/>
            </a:avLst>
          </a:prstGeom>
          <a:solidFill>
            <a:srgbClr val="F6F8FA"/>
          </a:solidFill>
          <a:ln w="9525">
            <a:solidFill>
              <a:srgbClr val="D0D7DE"/>
            </a:solidFill>
            <a:prstDash val="solid"/>
          </a:ln>
        </p:spPr>
      </p:sp>
      <p:sp>
        <p:nvSpPr>
          <p:cNvPr id="17" name="Text 14"/>
          <p:cNvSpPr txBox="1"/>
          <p:nvPr/>
        </p:nvSpPr>
        <p:spPr>
          <a:xfrm>
            <a:off x="6319876" y="2882798"/>
            <a:ext cx="5213452" cy="2830576"/>
          </a:xfrm>
          <a:prstGeom prst="rect">
            <a:avLst/>
          </a:prstGeom>
          <a:noFill/>
          <a:ln/>
        </p:spPr>
        <p:txBody>
          <a:bodyPr wrap="square" lIns="0" tIns="0" rIns="0" bIns="0" rtlCol="0" anchor="t"/>
          <a:lstStyle/>
          <a:p>
            <a:pPr indent="0" marL="0">
              <a:buNone/>
            </a:pPr>
            <a:r>
              <a:rPr lang="en-US" altLang="en-US" sz="1150" dirty="0">
                <a:solidFill>
                  <a:srgbClr val="8250DF"/>
                </a:solidFill>
                <a:latin typeface="Consolas" pitchFamily="34" charset="0"/>
                <a:ea typeface="Consolas" pitchFamily="34" charset="-122"/>
                <a:cs typeface="Consolas" pitchFamily="34" charset="-120"/>
              </a:rPr>
              <a:t>@Override</a:t>
            </a:r>
            <a:endParaRPr lang="en-US" sz="1150" dirty="0"/>
          </a:p>
          <a:p>
            <a:pPr indent="0" marL="0">
              <a:buNone/>
            </a:pPr>
            <a:r>
              <a:rPr lang="en-US" altLang="en-US" sz="1150" dirty="0">
                <a:solidFill>
                  <a:srgbClr val="CF222E"/>
                </a:solidFill>
                <a:latin typeface="Consolas" pitchFamily="34" charset="0"/>
                <a:ea typeface="Consolas" pitchFamily="34" charset="-122"/>
                <a:cs typeface="Consolas" pitchFamily="34" charset="-120"/>
              </a:rPr>
              <a:t>public</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void</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8250DF"/>
                </a:solidFill>
                <a:latin typeface="Consolas" pitchFamily="34" charset="0"/>
                <a:ea typeface="Consolas" pitchFamily="34" charset="-122"/>
                <a:cs typeface="Consolas" pitchFamily="34" charset="-120"/>
              </a:rPr>
              <a:t>perbarui</a:t>
            </a:r>
            <a:r>
              <a:rPr lang="en-US" altLang="en-US" sz="1150" dirty="0">
                <a:solidFill>
                  <a:srgbClr val="1F2328"/>
                </a:solidFill>
                <a:latin typeface="Consolas" pitchFamily="34" charset="0"/>
                <a:ea typeface="Consolas" pitchFamily="34" charset="-122"/>
                <a:cs typeface="Consolas" pitchFamily="34" charset="-120"/>
              </a:rPr>
              <a:t>(Pesanan pesanan)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if</a:t>
            </a:r>
            <a:r>
              <a:rPr lang="en-US" altLang="en-US" sz="1150" dirty="0">
                <a:solidFill>
                  <a:srgbClr val="1F2328"/>
                </a:solidFill>
                <a:latin typeface="Consolas" pitchFamily="34" charset="0"/>
                <a:ea typeface="Consolas" pitchFamily="34" charset="-122"/>
                <a:cs typeface="Consolas" pitchFamily="34" charset="-120"/>
              </a:rPr>
              <a:t> (!pesanan.getStatus().equals(</a:t>
            </a:r>
            <a:r>
              <a:rPr lang="en-US" altLang="en-US" sz="1150" dirty="0">
                <a:solidFill>
                  <a:srgbClr val="0A3069"/>
                </a:solidFill>
                <a:latin typeface="Consolas" pitchFamily="34" charset="0"/>
                <a:ea typeface="Consolas" pitchFamily="34" charset="-122"/>
                <a:cs typeface="Consolas" pitchFamily="34" charset="-120"/>
              </a:rPr>
              <a:t>"LUNAS"</a:t>
            </a: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return</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int</a:t>
            </a:r>
            <a:r>
              <a:rPr lang="en-US" altLang="en-US" sz="1150" dirty="0">
                <a:solidFill>
                  <a:srgbClr val="1F2328"/>
                </a:solidFill>
                <a:latin typeface="Consolas" pitchFamily="34" charset="0"/>
                <a:ea typeface="Consolas" pitchFamily="34" charset="-122"/>
                <a:cs typeface="Consolas" pitchFamily="34" charset="-120"/>
              </a:rPr>
              <a:t> porsi = </a:t>
            </a:r>
            <a:r>
              <a:rPr lang="en-US" altLang="en-US" sz="1150" dirty="0">
                <a:solidFill>
                  <a:srgbClr val="0550AE"/>
                </a:solidFill>
                <a:latin typeface="Consolas" pitchFamily="34" charset="0"/>
                <a:ea typeface="Consolas" pitchFamily="34" charset="-122"/>
                <a:cs typeface="Consolas" pitchFamily="34" charset="-120"/>
              </a:rPr>
              <a:t>0</a:t>
            </a:r>
            <a:r>
              <a:rPr lang="en-US" altLang="en-US" sz="1150" dirty="0">
                <a:solidFill>
                  <a:srgbClr val="1F2328"/>
                </a:solidFill>
                <a:latin typeface="Consolas" pitchFamily="34" charset="0"/>
                <a:ea typeface="Consolas" pitchFamily="34" charset="-122"/>
                <a:cs typeface="Consolas" pitchFamily="34" charset="-120"/>
              </a:rPr>
              <a:t>;</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for</a:t>
            </a:r>
            <a:r>
              <a:rPr lang="en-US" altLang="en-US" sz="1150" dirty="0">
                <a:solidFill>
                  <a:srgbClr val="1F2328"/>
                </a:solidFill>
                <a:latin typeface="Consolas" pitchFamily="34" charset="0"/>
                <a:ea typeface="Consolas" pitchFamily="34" charset="-122"/>
                <a:cs typeface="Consolas" pitchFamily="34" charset="-120"/>
              </a:rPr>
              <a:t> (ItemPesanan item : pesanan.getDaftarItem())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porsi += item.getJumlah();</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susun baris: nomor, pelanggan, porsi, total</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try</a:t>
            </a: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i="1" dirty="0">
                <a:solidFill>
                  <a:srgbClr val="6E7781"/>
                </a:solidFill>
                <a:latin typeface="Consolas" pitchFamily="34" charset="0"/>
                <a:ea typeface="Consolas" pitchFamily="34" charset="-122"/>
                <a:cs typeface="Consolas" pitchFamily="34" charset="-120"/>
              </a:rPr>
              <a:t>        // ... tambahkan baris ke transaksi.csv (APPEND)</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 </a:t>
            </a:r>
            <a:r>
              <a:rPr lang="en-US" altLang="en-US" sz="1150" dirty="0">
                <a:solidFill>
                  <a:srgbClr val="CF222E"/>
                </a:solidFill>
                <a:latin typeface="Consolas" pitchFamily="34" charset="0"/>
                <a:ea typeface="Consolas" pitchFamily="34" charset="-122"/>
                <a:cs typeface="Consolas" pitchFamily="34" charset="-120"/>
              </a:rPr>
              <a:t>catch</a:t>
            </a:r>
            <a:r>
              <a:rPr lang="en-US" altLang="en-US" sz="1150" dirty="0">
                <a:solidFill>
                  <a:srgbClr val="1F2328"/>
                </a:solidFill>
                <a:latin typeface="Consolas" pitchFamily="34" charset="0"/>
                <a:ea typeface="Consolas" pitchFamily="34" charset="-122"/>
                <a:cs typeface="Consolas" pitchFamily="34" charset="-120"/>
              </a:rPr>
              <a:t> (IOException e)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throw</a:t>
            </a:r>
            <a:r>
              <a:rPr lang="en-US" altLang="en-US" sz="1150" dirty="0">
                <a:solidFill>
                  <a:srgbClr val="1F2328"/>
                </a:solidFill>
                <a:latin typeface="Consolas" pitchFamily="34" charset="0"/>
                <a:ea typeface="Consolas" pitchFamily="34" charset="-122"/>
                <a:cs typeface="Consolas" pitchFamily="34" charset="-120"/>
              </a:rPr>
              <a:t> </a:t>
            </a:r>
            <a:r>
              <a:rPr lang="en-US" altLang="en-US" sz="1150" dirty="0">
                <a:solidFill>
                  <a:srgbClr val="CF222E"/>
                </a:solidFill>
                <a:latin typeface="Consolas" pitchFamily="34" charset="0"/>
                <a:ea typeface="Consolas" pitchFamily="34" charset="-122"/>
                <a:cs typeface="Consolas" pitchFamily="34" charset="-120"/>
              </a:rPr>
              <a:t>new</a:t>
            </a:r>
            <a:r>
              <a:rPr lang="en-US" altLang="en-US" sz="1150" dirty="0">
                <a:solidFill>
                  <a:srgbClr val="1F2328"/>
                </a:solidFill>
                <a:latin typeface="Consolas" pitchFamily="34" charset="0"/>
                <a:ea typeface="Consolas" pitchFamily="34" charset="-122"/>
                <a:cs typeface="Consolas" pitchFamily="34" charset="-120"/>
              </a:rPr>
              <a:t> UncheckedIOException(e.getMessage(), e);</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    }</a:t>
            </a:r>
            <a:endParaRPr lang="en-US" sz="1150" dirty="0"/>
          </a:p>
          <a:p>
            <a:pPr indent="0" marL="0">
              <a:buNone/>
            </a:pPr>
            <a:r>
              <a:rPr lang="en-US" altLang="en-US" sz="1150" dirty="0">
                <a:solidFill>
                  <a:srgbClr val="1F2328"/>
                </a:solidFill>
                <a:latin typeface="Consolas" pitchFamily="34" charset="0"/>
                <a:ea typeface="Consolas" pitchFamily="34" charset="-122"/>
                <a:cs typeface="Consolas" pitchFamily="34" charset="-120"/>
              </a:rPr>
              <a:t>}</a:t>
            </a:r>
            <a:endParaRPr lang="en-US" sz="11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Pintu Masuk: Mode Demo atau Mode Interaktif</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894225"/>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Satu aplikasi, dua cara menjalankan. Dengan </a:t>
            </a:r>
            <a:r>
              <a:rPr lang="id-ID" altLang="en-US" sz="1800" dirty="0">
                <a:solidFill>
                  <a:srgbClr val="0A3069"/>
                </a:solidFill>
                <a:latin typeface="Consolas" pitchFamily="34" charset="0"/>
                <a:ea typeface="Consolas" pitchFamily="34" charset="-122"/>
                <a:cs typeface="Consolas" pitchFamily="34" charset="-120"/>
              </a:rPr>
              <a:t>--demo</a:t>
            </a:r>
            <a:r>
              <a:rPr lang="id-ID" altLang="en-US" sz="1800" dirty="0">
                <a:solidFill>
                  <a:srgbClr val="57606A"/>
                </a:solidFill>
              </a:rPr>
              <a:t>, aplikasi berjalan sendiri dan hasilnya selalu sama.</a:t>
            </a:r>
            <a:endParaRPr lang="id-ID" sz="1800" dirty="0"/>
          </a:p>
        </p:txBody>
      </p:sp>
      <p:sp>
        <p:nvSpPr>
          <p:cNvPr id="8" name="Shape 5"/>
          <p:cNvSpPr/>
          <p:nvPr/>
        </p:nvSpPr>
        <p:spPr>
          <a:xfrm>
            <a:off x="548640" y="2328565"/>
            <a:ext cx="1051560" cy="329184"/>
          </a:xfrm>
          <a:prstGeom prst="roundRect">
            <a:avLst>
              <a:gd name="adj" fmla="val 138889"/>
            </a:avLst>
          </a:prstGeom>
          <a:solidFill>
            <a:srgbClr val="3572A5"/>
          </a:solidFill>
          <a:ln/>
        </p:spPr>
      </p:sp>
      <p:sp>
        <p:nvSpPr>
          <p:cNvPr id="9" name="Text 6"/>
          <p:cNvSpPr txBox="1"/>
          <p:nvPr/>
        </p:nvSpPr>
        <p:spPr>
          <a:xfrm>
            <a:off x="548640" y="2328565"/>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328565"/>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python/studi-kasus/main.py</a:t>
            </a:r>
            <a:endParaRPr lang="id-ID" sz="1100" dirty="0"/>
          </a:p>
        </p:txBody>
      </p:sp>
      <p:sp>
        <p:nvSpPr>
          <p:cNvPr id="11" name="Shape 8"/>
          <p:cNvSpPr/>
          <p:nvPr/>
        </p:nvSpPr>
        <p:spPr>
          <a:xfrm>
            <a:off x="548640" y="2749189"/>
            <a:ext cx="5432908" cy="2728722"/>
          </a:xfrm>
          <a:prstGeom prst="roundRect">
            <a:avLst>
              <a:gd name="adj" fmla="val 1123"/>
            </a:avLst>
          </a:prstGeom>
          <a:solidFill>
            <a:srgbClr val="F6F8FA"/>
          </a:solidFill>
          <a:ln w="9525">
            <a:solidFill>
              <a:srgbClr val="D0D7DE"/>
            </a:solidFill>
            <a:prstDash val="solid"/>
          </a:ln>
        </p:spPr>
      </p:sp>
      <p:sp>
        <p:nvSpPr>
          <p:cNvPr id="12" name="Text 9"/>
          <p:cNvSpPr txBox="1"/>
          <p:nvPr/>
        </p:nvSpPr>
        <p:spPr>
          <a:xfrm>
            <a:off x="658368" y="2840629"/>
            <a:ext cx="5213452" cy="2545842"/>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from</a:t>
            </a:r>
            <a:r>
              <a:rPr lang="en-US" altLang="en-US" sz="1100" dirty="0">
                <a:solidFill>
                  <a:srgbClr val="1F2328"/>
                </a:solidFill>
                <a:latin typeface="Consolas" pitchFamily="34" charset="0"/>
                <a:ea typeface="Consolas" pitchFamily="34" charset="-122"/>
                <a:cs typeface="Consolas" pitchFamily="34" charset="-120"/>
              </a:rPr>
              <a:t> kedaikita.aplikasi </a:t>
            </a:r>
            <a:r>
              <a:rPr lang="en-US" altLang="en-US" sz="1100" dirty="0">
                <a:solidFill>
                  <a:srgbClr val="CF222E"/>
                </a:solidFill>
                <a:latin typeface="Consolas" pitchFamily="34" charset="0"/>
                <a:ea typeface="Consolas" pitchFamily="34" charset="-122"/>
                <a:cs typeface="Consolas" pitchFamily="34" charset="-120"/>
              </a:rPr>
              <a:t>import</a:t>
            </a:r>
            <a:r>
              <a:rPr lang="en-US" altLang="en-US" sz="1100" dirty="0">
                <a:solidFill>
                  <a:srgbClr val="1F2328"/>
                </a:solidFill>
                <a:latin typeface="Consolas" pitchFamily="34" charset="0"/>
                <a:ea typeface="Consolas" pitchFamily="34" charset="-122"/>
                <a:cs typeface="Consolas" pitchFamily="34" charset="-120"/>
              </a:rPr>
              <a:t> AplikasiKasir</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FOLDER_DATA = Path(__file__).resolve().parent / </a:t>
            </a:r>
            <a:r>
              <a:rPr lang="en-US" altLang="en-US" sz="1100" dirty="0">
                <a:solidFill>
                  <a:srgbClr val="0A3069"/>
                </a:solidFill>
                <a:latin typeface="Consolas" pitchFamily="34" charset="0"/>
                <a:ea typeface="Consolas" pitchFamily="34" charset="-122"/>
                <a:cs typeface="Consolas" pitchFamily="34" charset="-120"/>
              </a:rPr>
              <a:t>"data"</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main</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aplikasi = AplikasiKasir(FOLDER_DATA)</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try</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"--demo"</a:t>
            </a:r>
            <a:r>
              <a:rPr lang="en-US" altLang="en-US" sz="1100" dirty="0">
                <a:solidFill>
                  <a:srgbClr val="1F2328"/>
                </a:solidFill>
                <a:latin typeface="Consolas" pitchFamily="34" charset="0"/>
                <a:ea typeface="Consolas" pitchFamily="34" charset="-122"/>
                <a:cs typeface="Consolas" pitchFamily="34" charset="-120"/>
              </a:rPr>
              <a:t> in sys.argv:</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aplikasi.jalankan_demo()</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else</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aplikasi.jalankan()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except</a:t>
            </a:r>
            <a:r>
              <a:rPr lang="en-US" altLang="en-US" sz="1100" dirty="0">
                <a:solidFill>
                  <a:srgbClr val="1F2328"/>
                </a:solidFill>
                <a:latin typeface="Consolas" pitchFamily="34" charset="0"/>
                <a:ea typeface="Consolas" pitchFamily="34" charset="-122"/>
                <a:cs typeface="Consolas" pitchFamily="34" charset="-120"/>
              </a:rPr>
              <a:t> (KedaiError, OSError) </a:t>
            </a:r>
            <a:r>
              <a:rPr lang="en-US" altLang="en-US" sz="1100" dirty="0">
                <a:solidFill>
                  <a:srgbClr val="CF222E"/>
                </a:solidFill>
                <a:latin typeface="Consolas" pitchFamily="34" charset="0"/>
                <a:ea typeface="Consolas" pitchFamily="34" charset="-122"/>
                <a:cs typeface="Consolas" pitchFamily="34" charset="-120"/>
              </a:rPr>
              <a:t>as</a:t>
            </a:r>
            <a:r>
              <a:rPr lang="en-US" altLang="en-US" sz="1100" dirty="0">
                <a:solidFill>
                  <a:srgbClr val="1F2328"/>
                </a:solidFill>
                <a:latin typeface="Consolas" pitchFamily="34" charset="0"/>
                <a:ea typeface="Consolas" pitchFamily="34" charset="-122"/>
                <a:cs typeface="Consolas" pitchFamily="34" charset="-120"/>
              </a:rPr>
              <a:t> e:</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print</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A3069"/>
                </a:solidFill>
                <a:latin typeface="Consolas" pitchFamily="34" charset="0"/>
                <a:ea typeface="Consolas" pitchFamily="34" charset="-122"/>
                <a:cs typeface="Consolas" pitchFamily="34" charset="-120"/>
              </a:rPr>
              <a:t>f"Terjadi kesalahan: {</a:t>
            </a:r>
            <a:r>
              <a:rPr lang="en-US" altLang="en-US" sz="1100" dirty="0">
                <a:solidFill>
                  <a:srgbClr val="1F2328"/>
                </a:solidFill>
                <a:latin typeface="Consolas" pitchFamily="34" charset="0"/>
                <a:ea typeface="Consolas" pitchFamily="34" charset="-122"/>
                <a:cs typeface="Consolas" pitchFamily="34" charset="-120"/>
              </a:rPr>
              <a:t>e</a:t>
            </a:r>
            <a:r>
              <a:rPr lang="en-US" altLang="en-US" sz="1100" dirty="0">
                <a:solidFill>
                  <a:srgbClr val="0A3069"/>
                </a:solidFill>
                <a:latin typeface="Consolas" pitchFamily="34" charset="0"/>
                <a:ea typeface="Consolas" pitchFamily="34" charset="-122"/>
                <a:cs typeface="Consolas" pitchFamily="34" charset="-120"/>
              </a:rPr>
              <a:t>}"</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sys.exit(</a:t>
            </a:r>
            <a:r>
              <a:rPr lang="en-US" altLang="en-US" sz="1100" dirty="0">
                <a:solidFill>
                  <a:srgbClr val="0550AE"/>
                </a:solidFill>
                <a:latin typeface="Consolas" pitchFamily="34" charset="0"/>
                <a:ea typeface="Consolas" pitchFamily="34" charset="-122"/>
                <a:cs typeface="Consolas" pitchFamily="34" charset="-120"/>
              </a:rPr>
              <a:t>1</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13" name="Shape 10"/>
          <p:cNvSpPr/>
          <p:nvPr/>
        </p:nvSpPr>
        <p:spPr>
          <a:xfrm>
            <a:off x="6210148" y="2328565"/>
            <a:ext cx="1051560" cy="329184"/>
          </a:xfrm>
          <a:prstGeom prst="roundRect">
            <a:avLst>
              <a:gd name="adj" fmla="val 138889"/>
            </a:avLst>
          </a:prstGeom>
          <a:solidFill>
            <a:srgbClr val="B07219"/>
          </a:solidFill>
          <a:ln/>
        </p:spPr>
      </p:sp>
      <p:sp>
        <p:nvSpPr>
          <p:cNvPr id="14" name="Text 11"/>
          <p:cNvSpPr txBox="1"/>
          <p:nvPr/>
        </p:nvSpPr>
        <p:spPr>
          <a:xfrm>
            <a:off x="6210148" y="2328565"/>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328565"/>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java/studi-kasus/src/kedaikita/Main.java</a:t>
            </a:r>
            <a:endParaRPr lang="id-ID" sz="1100" dirty="0"/>
          </a:p>
        </p:txBody>
      </p:sp>
      <p:sp>
        <p:nvSpPr>
          <p:cNvPr id="16" name="Shape 13"/>
          <p:cNvSpPr/>
          <p:nvPr/>
        </p:nvSpPr>
        <p:spPr>
          <a:xfrm>
            <a:off x="6210148" y="2749189"/>
            <a:ext cx="5432908" cy="2728722"/>
          </a:xfrm>
          <a:prstGeom prst="roundRect">
            <a:avLst>
              <a:gd name="adj" fmla="val 1123"/>
            </a:avLst>
          </a:prstGeom>
          <a:solidFill>
            <a:srgbClr val="F6F8FA"/>
          </a:solidFill>
          <a:ln w="9525">
            <a:solidFill>
              <a:srgbClr val="D0D7DE"/>
            </a:solidFill>
            <a:prstDash val="solid"/>
          </a:ln>
        </p:spPr>
      </p:sp>
      <p:sp>
        <p:nvSpPr>
          <p:cNvPr id="17" name="Text 14"/>
          <p:cNvSpPr txBox="1"/>
          <p:nvPr/>
        </p:nvSpPr>
        <p:spPr>
          <a:xfrm>
            <a:off x="6319876" y="2840629"/>
            <a:ext cx="5213452" cy="2545842"/>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private</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static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final</a:t>
            </a:r>
            <a:r>
              <a:rPr lang="en-US" altLang="en-US" sz="1100" dirty="0">
                <a:solidFill>
                  <a:srgbClr val="1F2328"/>
                </a:solidFill>
                <a:latin typeface="Consolas" pitchFamily="34" charset="0"/>
                <a:ea typeface="Consolas" pitchFamily="34" charset="-122"/>
                <a:cs typeface="Consolas" pitchFamily="34" charset="-120"/>
              </a:rPr>
              <a:t> Path FOLDER_DATA = Path.of(</a:t>
            </a:r>
            <a:r>
              <a:rPr lang="en-US" altLang="en-US" sz="1100" dirty="0">
                <a:solidFill>
                  <a:srgbClr val="0A3069"/>
                </a:solidFill>
                <a:latin typeface="Consolas" pitchFamily="34" charset="0"/>
                <a:ea typeface="Consolas" pitchFamily="34" charset="-122"/>
                <a:cs typeface="Consolas" pitchFamily="34" charset="-120"/>
              </a:rPr>
              <a:t>"data"</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public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static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void</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main</a:t>
            </a:r>
            <a:r>
              <a:rPr lang="en-US" altLang="en-US" sz="1100" dirty="0">
                <a:solidFill>
                  <a:srgbClr val="1F2328"/>
                </a:solidFill>
                <a:latin typeface="Consolas" pitchFamily="34" charset="0"/>
                <a:ea typeface="Consolas" pitchFamily="34" charset="-122"/>
                <a:cs typeface="Consolas" pitchFamily="34" charset="-120"/>
              </a:rPr>
              <a:t>(String[] args)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AplikasiKasir aplikasi = </a:t>
            </a:r>
            <a:r>
              <a:rPr lang="en-US" altLang="en-US" sz="1100" dirty="0">
                <a:solidFill>
                  <a:srgbClr val="CF222E"/>
                </a:solidFill>
                <a:latin typeface="Consolas" pitchFamily="34" charset="0"/>
                <a:ea typeface="Consolas" pitchFamily="34" charset="-122"/>
                <a:cs typeface="Consolas" pitchFamily="34" charset="-120"/>
              </a:rPr>
              <a:t>new</a:t>
            </a:r>
            <a:r>
              <a:rPr lang="en-US" altLang="en-US" sz="1100" dirty="0">
                <a:solidFill>
                  <a:srgbClr val="1F2328"/>
                </a:solidFill>
                <a:latin typeface="Consolas" pitchFamily="34" charset="0"/>
                <a:ea typeface="Consolas" pitchFamily="34" charset="-122"/>
                <a:cs typeface="Consolas" pitchFamily="34" charset="-120"/>
              </a:rPr>
              <a:t> AplikasiKasir(FOLDER_DATA);</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try</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if</a:t>
            </a:r>
            <a:r>
              <a:rPr lang="en-US" altLang="en-US" sz="1100" dirty="0">
                <a:solidFill>
                  <a:srgbClr val="1F2328"/>
                </a:solidFill>
                <a:latin typeface="Consolas" pitchFamily="34" charset="0"/>
                <a:ea typeface="Consolas" pitchFamily="34" charset="-122"/>
                <a:cs typeface="Consolas" pitchFamily="34" charset="-120"/>
              </a:rPr>
              <a:t> (List.of(args).contains(</a:t>
            </a:r>
            <a:r>
              <a:rPr lang="en-US" altLang="en-US" sz="1100" dirty="0">
                <a:solidFill>
                  <a:srgbClr val="0A3069"/>
                </a:solidFill>
                <a:latin typeface="Consolas" pitchFamily="34" charset="0"/>
                <a:ea typeface="Consolas" pitchFamily="34" charset="-122"/>
                <a:cs typeface="Consolas" pitchFamily="34" charset="-120"/>
              </a:rPr>
              <a:t>"--demo"</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aplikasi.jalankanDemo();</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 </a:t>
            </a:r>
            <a:r>
              <a:rPr lang="en-US" altLang="en-US" sz="1100" dirty="0">
                <a:solidFill>
                  <a:srgbClr val="CF222E"/>
                </a:solidFill>
                <a:latin typeface="Consolas" pitchFamily="34" charset="0"/>
                <a:ea typeface="Consolas" pitchFamily="34" charset="-122"/>
                <a:cs typeface="Consolas" pitchFamily="34" charset="-120"/>
              </a:rPr>
              <a:t>else</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aplikasi.jalankan();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 </a:t>
            </a:r>
            <a:r>
              <a:rPr lang="en-US" altLang="en-US" sz="1100" dirty="0">
                <a:solidFill>
                  <a:srgbClr val="CF222E"/>
                </a:solidFill>
                <a:latin typeface="Consolas" pitchFamily="34" charset="0"/>
                <a:ea typeface="Consolas" pitchFamily="34" charset="-122"/>
                <a:cs typeface="Consolas" pitchFamily="34" charset="-120"/>
              </a:rPr>
              <a:t>catch</a:t>
            </a:r>
            <a:r>
              <a:rPr lang="en-US" altLang="en-US" sz="1100" dirty="0">
                <a:solidFill>
                  <a:srgbClr val="1F2328"/>
                </a:solidFill>
                <a:latin typeface="Consolas" pitchFamily="34" charset="0"/>
                <a:ea typeface="Consolas" pitchFamily="34" charset="-122"/>
                <a:cs typeface="Consolas" pitchFamily="34" charset="-120"/>
              </a:rPr>
              <a:t> (KedaiException | IOException | ... e) {</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System.exit(</a:t>
            </a:r>
            <a:r>
              <a:rPr lang="en-US" altLang="en-US" sz="1100" dirty="0">
                <a:solidFill>
                  <a:srgbClr val="0550AE"/>
                </a:solidFill>
                <a:latin typeface="Consolas" pitchFamily="34" charset="0"/>
                <a:ea typeface="Consolas" pitchFamily="34" charset="-122"/>
                <a:cs typeface="Consolas" pitchFamily="34" charset="-120"/>
              </a:rPr>
              <a:t>1</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F222E"/>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Miskonsepsi yang Sering Terjadi</a:t>
            </a:r>
            <a:endParaRPr lang="id-ID" sz="3200" dirty="0"/>
          </a:p>
        </p:txBody>
      </p:sp>
      <p:sp>
        <p:nvSpPr>
          <p:cNvPr id="5" name="Shape 2"/>
          <p:cNvSpPr/>
          <p:nvPr/>
        </p:nvSpPr>
        <p:spPr>
          <a:xfrm>
            <a:off x="548640" y="1439509"/>
            <a:ext cx="329184" cy="329184"/>
          </a:xfrm>
          <a:prstGeom prst="ellipse">
            <a:avLst/>
          </a:prstGeom>
          <a:solidFill>
            <a:srgbClr val="CF222E"/>
          </a:solidFill>
          <a:ln/>
        </p:spPr>
      </p:sp>
      <p:pic>
        <p:nvPicPr>
          <p:cNvPr id="6" name="Image 1" descr="preencoded.png">    </p:cNvPr>
          <p:cNvPicPr>
            <a:picLocks noChangeAspect="1"/>
          </p:cNvPicPr>
          <p:nvPr/>
        </p:nvPicPr>
        <p:blipFill>
          <a:blip r:embed="rId2"/>
          <a:stretch>
            <a:fillRect/>
          </a:stretch>
        </p:blipFill>
        <p:spPr>
          <a:xfrm>
            <a:off x="621060" y="1511930"/>
            <a:ext cx="184343" cy="184343"/>
          </a:xfrm>
          <a:prstGeom prst="rect">
            <a:avLst/>
          </a:prstGeom>
        </p:spPr>
      </p:pic>
      <p:sp>
        <p:nvSpPr>
          <p:cNvPr id="7" name="Text 3"/>
          <p:cNvSpPr txBox="1"/>
          <p:nvPr/>
        </p:nvSpPr>
        <p:spPr>
          <a:xfrm>
            <a:off x="987552" y="1439509"/>
            <a:ext cx="3886200" cy="329184"/>
          </a:xfrm>
          <a:prstGeom prst="rect">
            <a:avLst/>
          </a:prstGeom>
          <a:noFill/>
          <a:ln/>
        </p:spPr>
        <p:txBody>
          <a:bodyPr wrap="square" lIns="0" tIns="0" rIns="0" bIns="0" rtlCol="0" anchor="ctr"/>
          <a:lstStyle/>
          <a:p>
            <a:pPr indent="0" marL="0">
              <a:buNone/>
            </a:pPr>
            <a:r>
              <a:rPr lang="id-ID" altLang="en-US" sz="1600" b="1" dirty="0">
                <a:solidFill>
                  <a:srgbClr val="CF222E"/>
                </a:solidFill>
              </a:rPr>
              <a:t>Anggapan keliru</a:t>
            </a:r>
            <a:endParaRPr lang="id-ID" sz="1600" dirty="0"/>
          </a:p>
        </p:txBody>
      </p:sp>
      <p:sp>
        <p:nvSpPr>
          <p:cNvPr id="8" name="Shape 4"/>
          <p:cNvSpPr/>
          <p:nvPr/>
        </p:nvSpPr>
        <p:spPr>
          <a:xfrm>
            <a:off x="5166360" y="1439509"/>
            <a:ext cx="329184" cy="329184"/>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5238780" y="1511930"/>
            <a:ext cx="184343" cy="184343"/>
          </a:xfrm>
          <a:prstGeom prst="rect">
            <a:avLst/>
          </a:prstGeom>
        </p:spPr>
      </p:pic>
      <p:sp>
        <p:nvSpPr>
          <p:cNvPr id="10" name="Text 5"/>
          <p:cNvSpPr txBox="1"/>
          <p:nvPr/>
        </p:nvSpPr>
        <p:spPr>
          <a:xfrm>
            <a:off x="5605272" y="1439509"/>
            <a:ext cx="6019495" cy="329184"/>
          </a:xfrm>
          <a:prstGeom prst="rect">
            <a:avLst/>
          </a:prstGeom>
          <a:noFill/>
          <a:ln/>
        </p:spPr>
        <p:txBody>
          <a:bodyPr wrap="square" lIns="0" tIns="0" rIns="0" bIns="0" rtlCol="0" anchor="ctr"/>
          <a:lstStyle/>
          <a:p>
            <a:pPr indent="0" marL="0">
              <a:buNone/>
            </a:pPr>
            <a:r>
              <a:rPr lang="id-ID" altLang="en-US" sz="1600" b="1" dirty="0">
                <a:solidFill>
                  <a:srgbClr val="1A7F37"/>
                </a:solidFill>
              </a:rPr>
              <a:t>Yang benar</a:t>
            </a:r>
            <a:endParaRPr lang="id-ID" sz="1600" dirty="0"/>
          </a:p>
        </p:txBody>
      </p:sp>
      <p:sp>
        <p:nvSpPr>
          <p:cNvPr id="11" name="Shape 6"/>
          <p:cNvSpPr/>
          <p:nvPr/>
        </p:nvSpPr>
        <p:spPr>
          <a:xfrm>
            <a:off x="548640" y="1942429"/>
            <a:ext cx="4343400" cy="1388364"/>
          </a:xfrm>
          <a:prstGeom prst="roundRect">
            <a:avLst>
              <a:gd name="adj" fmla="val 5205"/>
            </a:avLst>
          </a:prstGeom>
          <a:solidFill>
            <a:srgbClr val="FFEBE9"/>
          </a:solidFill>
          <a:ln w="9525">
            <a:solidFill>
              <a:srgbClr val="FF8182"/>
            </a:solidFill>
            <a:prstDash val="solid"/>
          </a:ln>
        </p:spPr>
      </p:sp>
      <p:sp>
        <p:nvSpPr>
          <p:cNvPr id="12" name="Text 7"/>
          <p:cNvSpPr txBox="1"/>
          <p:nvPr/>
        </p:nvSpPr>
        <p:spPr>
          <a:xfrm>
            <a:off x="777240" y="2125309"/>
            <a:ext cx="3886200" cy="1114044"/>
          </a:xfrm>
          <a:prstGeom prst="rect">
            <a:avLst/>
          </a:prstGeom>
          <a:noFill/>
          <a:ln/>
        </p:spPr>
        <p:txBody>
          <a:bodyPr wrap="square" lIns="0" tIns="0" rIns="0" bIns="0" rtlCol="0" anchor="t"/>
          <a:lstStyle/>
          <a:p>
            <a:pPr indent="0" marL="0">
              <a:buNone/>
            </a:pPr>
            <a:r>
              <a:rPr lang="id-ID" altLang="en-US" sz="2200" dirty="0">
                <a:solidFill>
                  <a:srgbClr val="1F2328"/>
                </a:solidFill>
              </a:rPr>
              <a:t>“Arsitektur berlapis artinya </a:t>
            </a:r>
            <a:r>
              <a:rPr lang="id-ID" altLang="en-US" sz="2200" i="1" dirty="0">
                <a:solidFill>
                  <a:srgbClr val="1F2328"/>
                </a:solidFill>
              </a:rPr>
              <a:t>file</a:t>
            </a:r>
            <a:r>
              <a:rPr lang="id-ID" altLang="en-US" sz="2200" dirty="0">
                <a:solidFill>
                  <a:srgbClr val="1F2328"/>
                </a:solidFill>
              </a:rPr>
              <a:t>-nya dipisah-⁠pisah saja.”</a:t>
            </a:r>
            <a:endParaRPr lang="id-ID" sz="2200" dirty="0"/>
          </a:p>
        </p:txBody>
      </p:sp>
      <p:sp>
        <p:nvSpPr>
          <p:cNvPr id="13" name="Shape 8"/>
          <p:cNvSpPr/>
          <p:nvPr/>
        </p:nvSpPr>
        <p:spPr>
          <a:xfrm>
            <a:off x="5166360" y="1942429"/>
            <a:ext cx="6476695" cy="1388364"/>
          </a:xfrm>
          <a:prstGeom prst="roundRect">
            <a:avLst>
              <a:gd name="adj" fmla="val 5205"/>
            </a:avLst>
          </a:prstGeom>
          <a:solidFill>
            <a:srgbClr val="DAFBE1"/>
          </a:solidFill>
          <a:ln w="9525">
            <a:solidFill>
              <a:srgbClr val="4AC26B"/>
            </a:solidFill>
            <a:prstDash val="solid"/>
          </a:ln>
        </p:spPr>
      </p:sp>
      <p:sp>
        <p:nvSpPr>
          <p:cNvPr id="14" name="Text 9"/>
          <p:cNvSpPr txBox="1"/>
          <p:nvPr/>
        </p:nvSpPr>
        <p:spPr>
          <a:xfrm>
            <a:off x="5394960" y="2125309"/>
            <a:ext cx="6019495" cy="1114044"/>
          </a:xfrm>
          <a:prstGeom prst="rect">
            <a:avLst/>
          </a:prstGeom>
          <a:noFill/>
          <a:ln/>
        </p:spPr>
        <p:txBody>
          <a:bodyPr wrap="square" lIns="0" tIns="0" rIns="0" bIns="0" rtlCol="0" anchor="t"/>
          <a:lstStyle/>
          <a:p>
            <a:pPr indent="0" marL="0">
              <a:buNone/>
            </a:pPr>
            <a:r>
              <a:rPr lang="id-ID" altLang="en-US" sz="2200" dirty="0">
                <a:solidFill>
                  <a:srgbClr val="1F2328"/>
                </a:solidFill>
              </a:rPr>
              <a:t>Intinya </a:t>
            </a:r>
            <a:r>
              <a:rPr lang="id-ID" altLang="en-US" sz="2200" b="1" dirty="0">
                <a:solidFill>
                  <a:srgbClr val="1F2328"/>
                </a:solidFill>
              </a:rPr>
              <a:t>arah ketergantungan</a:t>
            </a:r>
            <a:r>
              <a:rPr lang="id-ID" altLang="en-US" sz="2200" dirty="0">
                <a:solidFill>
                  <a:srgbClr val="1F2328"/>
                </a:solidFill>
              </a:rPr>
              <a:t>: tampilan memakai layanan, layanan memakai model, dan model tidak tahu apa-⁠apa soal </a:t>
            </a:r>
            <a:r>
              <a:rPr lang="id-ID" altLang="en-US" sz="2200" i="1" dirty="0">
                <a:solidFill>
                  <a:srgbClr val="1F2328"/>
                </a:solidFill>
              </a:rPr>
              <a:t>keyboard</a:t>
            </a:r>
            <a:r>
              <a:rPr lang="id-ID" altLang="en-US" sz="2200" dirty="0">
                <a:solidFill>
                  <a:srgbClr val="1F2328"/>
                </a:solidFill>
              </a:rPr>
              <a:t> atau </a:t>
            </a:r>
            <a:r>
              <a:rPr lang="id-ID" altLang="en-US" sz="2200" i="1" dirty="0">
                <a:solidFill>
                  <a:srgbClr val="1F2328"/>
                </a:solidFill>
              </a:rPr>
              <a:t>file</a:t>
            </a:r>
            <a:r>
              <a:rPr lang="id-ID" altLang="en-US" sz="2200" dirty="0">
                <a:solidFill>
                  <a:srgbClr val="1F2328"/>
                </a:solidFill>
              </a:rPr>
              <a:t>.</a:t>
            </a:r>
            <a:endParaRPr lang="id-ID" sz="2200" dirty="0"/>
          </a:p>
        </p:txBody>
      </p:sp>
      <p:sp>
        <p:nvSpPr>
          <p:cNvPr id="15" name="Shape 10"/>
          <p:cNvSpPr/>
          <p:nvPr/>
        </p:nvSpPr>
        <p:spPr>
          <a:xfrm>
            <a:off x="548640" y="3531961"/>
            <a:ext cx="4343400" cy="1388364"/>
          </a:xfrm>
          <a:prstGeom prst="roundRect">
            <a:avLst>
              <a:gd name="adj" fmla="val 5205"/>
            </a:avLst>
          </a:prstGeom>
          <a:solidFill>
            <a:srgbClr val="FFEBE9"/>
          </a:solidFill>
          <a:ln w="9525">
            <a:solidFill>
              <a:srgbClr val="FF8182"/>
            </a:solidFill>
            <a:prstDash val="solid"/>
          </a:ln>
        </p:spPr>
      </p:sp>
      <p:sp>
        <p:nvSpPr>
          <p:cNvPr id="16" name="Text 11"/>
          <p:cNvSpPr txBox="1"/>
          <p:nvPr/>
        </p:nvSpPr>
        <p:spPr>
          <a:xfrm>
            <a:off x="777240" y="3714841"/>
            <a:ext cx="3886200" cy="1114044"/>
          </a:xfrm>
          <a:prstGeom prst="rect">
            <a:avLst/>
          </a:prstGeom>
          <a:noFill/>
          <a:ln/>
        </p:spPr>
        <p:txBody>
          <a:bodyPr wrap="square" lIns="0" tIns="0" rIns="0" bIns="0" rtlCol="0" anchor="t"/>
          <a:lstStyle/>
          <a:p>
            <a:pPr indent="0" marL="0">
              <a:buNone/>
            </a:pPr>
            <a:r>
              <a:rPr lang="id-ID" altLang="en-US" sz="2200" dirty="0">
                <a:solidFill>
                  <a:srgbClr val="1F2328"/>
                </a:solidFill>
              </a:rPr>
              <a:t>“Validasi cukup di tampilan saja.”</a:t>
            </a:r>
            <a:endParaRPr lang="id-ID" sz="2200" dirty="0"/>
          </a:p>
        </p:txBody>
      </p:sp>
      <p:sp>
        <p:nvSpPr>
          <p:cNvPr id="17" name="Shape 12"/>
          <p:cNvSpPr/>
          <p:nvPr/>
        </p:nvSpPr>
        <p:spPr>
          <a:xfrm>
            <a:off x="5166360" y="3531961"/>
            <a:ext cx="6476695" cy="1388364"/>
          </a:xfrm>
          <a:prstGeom prst="roundRect">
            <a:avLst>
              <a:gd name="adj" fmla="val 5205"/>
            </a:avLst>
          </a:prstGeom>
          <a:solidFill>
            <a:srgbClr val="DAFBE1"/>
          </a:solidFill>
          <a:ln w="9525">
            <a:solidFill>
              <a:srgbClr val="4AC26B"/>
            </a:solidFill>
            <a:prstDash val="solid"/>
          </a:ln>
        </p:spPr>
      </p:sp>
      <p:sp>
        <p:nvSpPr>
          <p:cNvPr id="18" name="Text 13"/>
          <p:cNvSpPr txBox="1"/>
          <p:nvPr/>
        </p:nvSpPr>
        <p:spPr>
          <a:xfrm>
            <a:off x="5394960" y="3714841"/>
            <a:ext cx="6019495" cy="1114044"/>
          </a:xfrm>
          <a:prstGeom prst="rect">
            <a:avLst/>
          </a:prstGeom>
          <a:noFill/>
          <a:ln/>
        </p:spPr>
        <p:txBody>
          <a:bodyPr wrap="square" lIns="0" tIns="0" rIns="0" bIns="0" rtlCol="0" anchor="t"/>
          <a:lstStyle/>
          <a:p>
            <a:pPr indent="0" marL="0">
              <a:buNone/>
            </a:pPr>
            <a:r>
              <a:rPr lang="id-ID" altLang="en-US" sz="2200" dirty="0">
                <a:solidFill>
                  <a:srgbClr val="1F2328"/>
                </a:solidFill>
              </a:rPr>
              <a:t>Tampilan memeriksa bentuk jawaban, tetapi aturan bisnis (harga &gt; 0, stok cukup) tetap dijaga model. Data juga bisa masuk dari </a:t>
            </a:r>
            <a:r>
              <a:rPr lang="id-ID" altLang="en-US" sz="2200" i="1" dirty="0">
                <a:solidFill>
                  <a:srgbClr val="1F2328"/>
                </a:solidFill>
              </a:rPr>
              <a:t>file</a:t>
            </a:r>
            <a:r>
              <a:rPr lang="id-ID" altLang="en-US" sz="2200" dirty="0">
                <a:solidFill>
                  <a:srgbClr val="1F2328"/>
                </a:solidFill>
              </a:rPr>
              <a:t> atau </a:t>
            </a:r>
            <a:r>
              <a:rPr lang="id-ID" altLang="en-US" sz="2200" i="1" dirty="0">
                <a:solidFill>
                  <a:srgbClr val="1F2328"/>
                </a:solidFill>
              </a:rPr>
              <a:t>unit test</a:t>
            </a:r>
            <a:r>
              <a:rPr lang="id-ID" altLang="en-US" sz="2200" dirty="0">
                <a:solidFill>
                  <a:srgbClr val="1F2328"/>
                </a:solidFill>
              </a:rPr>
              <a:t>.</a:t>
            </a:r>
            <a:endParaRPr lang="id-ID" sz="2200" dirty="0"/>
          </a:p>
        </p:txBody>
      </p:sp>
      <p:sp>
        <p:nvSpPr>
          <p:cNvPr id="19" name="Shape 14"/>
          <p:cNvSpPr/>
          <p:nvPr/>
        </p:nvSpPr>
        <p:spPr>
          <a:xfrm>
            <a:off x="548640" y="5121493"/>
            <a:ext cx="4343400" cy="1047496"/>
          </a:xfrm>
          <a:prstGeom prst="roundRect">
            <a:avLst>
              <a:gd name="adj" fmla="val 9144"/>
            </a:avLst>
          </a:prstGeom>
          <a:solidFill>
            <a:srgbClr val="FFEBE9"/>
          </a:solidFill>
          <a:ln w="9525">
            <a:solidFill>
              <a:srgbClr val="FF8182"/>
            </a:solidFill>
            <a:prstDash val="solid"/>
          </a:ln>
        </p:spPr>
      </p:sp>
      <p:sp>
        <p:nvSpPr>
          <p:cNvPr id="20" name="Text 15"/>
          <p:cNvSpPr txBox="1"/>
          <p:nvPr/>
        </p:nvSpPr>
        <p:spPr>
          <a:xfrm>
            <a:off x="777240" y="5304373"/>
            <a:ext cx="3886200" cy="773176"/>
          </a:xfrm>
          <a:prstGeom prst="rect">
            <a:avLst/>
          </a:prstGeom>
          <a:noFill/>
          <a:ln/>
        </p:spPr>
        <p:txBody>
          <a:bodyPr wrap="square" lIns="0" tIns="0" rIns="0" bIns="0" rtlCol="0" anchor="t"/>
          <a:lstStyle/>
          <a:p>
            <a:pPr indent="0" marL="0">
              <a:buNone/>
            </a:pPr>
            <a:r>
              <a:rPr lang="id-ID" altLang="en-US" sz="2200" dirty="0">
                <a:solidFill>
                  <a:srgbClr val="1F2328"/>
                </a:solidFill>
              </a:rPr>
              <a:t>“Semua </a:t>
            </a:r>
            <a:r>
              <a:rPr lang="id-ID" altLang="en-US" sz="2200" i="1" dirty="0">
                <a:solidFill>
                  <a:srgbClr val="1F2328"/>
                </a:solidFill>
              </a:rPr>
              <a:t>test</a:t>
            </a:r>
            <a:r>
              <a:rPr lang="id-ID" altLang="en-US" sz="2200" dirty="0">
                <a:solidFill>
                  <a:srgbClr val="1F2328"/>
                </a:solidFill>
              </a:rPr>
              <a:t> lulus berarti programnya bebas </a:t>
            </a:r>
            <a:r>
              <a:rPr lang="id-ID" altLang="en-US" sz="2200" i="1" dirty="0">
                <a:solidFill>
                  <a:srgbClr val="1F2328"/>
                </a:solidFill>
              </a:rPr>
              <a:t>bug</a:t>
            </a:r>
            <a:r>
              <a:rPr lang="id-ID" altLang="en-US" sz="2200" dirty="0">
                <a:solidFill>
                  <a:srgbClr val="1F2328"/>
                </a:solidFill>
              </a:rPr>
              <a:t>.”</a:t>
            </a:r>
            <a:endParaRPr lang="id-ID" sz="2200" dirty="0"/>
          </a:p>
        </p:txBody>
      </p:sp>
      <p:sp>
        <p:nvSpPr>
          <p:cNvPr id="21" name="Shape 16"/>
          <p:cNvSpPr/>
          <p:nvPr/>
        </p:nvSpPr>
        <p:spPr>
          <a:xfrm>
            <a:off x="5166360" y="5121493"/>
            <a:ext cx="6476695" cy="1047496"/>
          </a:xfrm>
          <a:prstGeom prst="roundRect">
            <a:avLst>
              <a:gd name="adj" fmla="val 9144"/>
            </a:avLst>
          </a:prstGeom>
          <a:solidFill>
            <a:srgbClr val="DAFBE1"/>
          </a:solidFill>
          <a:ln w="9525">
            <a:solidFill>
              <a:srgbClr val="4AC26B"/>
            </a:solidFill>
            <a:prstDash val="solid"/>
          </a:ln>
        </p:spPr>
      </p:sp>
      <p:sp>
        <p:nvSpPr>
          <p:cNvPr id="22" name="Text 17"/>
          <p:cNvSpPr txBox="1"/>
          <p:nvPr/>
        </p:nvSpPr>
        <p:spPr>
          <a:xfrm>
            <a:off x="5394960" y="5304373"/>
            <a:ext cx="6019495" cy="773176"/>
          </a:xfrm>
          <a:prstGeom prst="rect">
            <a:avLst/>
          </a:prstGeom>
          <a:noFill/>
          <a:ln/>
        </p:spPr>
        <p:txBody>
          <a:bodyPr wrap="square" lIns="0" tIns="0" rIns="0" bIns="0" rtlCol="0" anchor="t"/>
          <a:lstStyle/>
          <a:p>
            <a:pPr indent="0" marL="0">
              <a:buNone/>
            </a:pPr>
            <a:r>
              <a:rPr lang="id-ID" altLang="en-US" sz="2200" i="1" dirty="0">
                <a:solidFill>
                  <a:srgbClr val="1F2328"/>
                </a:solidFill>
              </a:rPr>
              <a:t>Test</a:t>
            </a:r>
            <a:r>
              <a:rPr lang="id-ID" altLang="en-US" sz="2200" dirty="0">
                <a:solidFill>
                  <a:srgbClr val="1F2328"/>
                </a:solidFill>
              </a:rPr>
              <a:t> hanya memeriksa kasus yang ditulis. Kasus batas yang tidak diuji tetap bisa menyimpan </a:t>
            </a:r>
            <a:r>
              <a:rPr lang="id-ID" altLang="en-US" sz="2200" i="1" dirty="0">
                <a:solidFill>
                  <a:srgbClr val="1F2328"/>
                </a:solidFill>
              </a:rPr>
              <a:t>bug</a:t>
            </a:r>
            <a:r>
              <a:rPr lang="id-ID" altLang="en-US" sz="2200" dirty="0">
                <a:solidFill>
                  <a:srgbClr val="1F2328"/>
                </a:solidFill>
              </a:rPr>
              <a: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860682"/>
            <a:ext cx="11094415" cy="1324864"/>
          </a:xfrm>
          <a:prstGeom prst="roundRect">
            <a:avLst>
              <a:gd name="adj" fmla="val 5716"/>
            </a:avLst>
          </a:prstGeom>
          <a:solidFill>
            <a:srgbClr val="FBEFFF"/>
          </a:solidFill>
          <a:ln w="9525">
            <a:solidFill>
              <a:srgbClr val="C297FF"/>
            </a:solidFill>
            <a:prstDash val="solid"/>
          </a:ln>
        </p:spPr>
      </p:sp>
      <p:sp>
        <p:nvSpPr>
          <p:cNvPr id="6" name="Shape 3"/>
          <p:cNvSpPr/>
          <p:nvPr/>
        </p:nvSpPr>
        <p:spPr>
          <a:xfrm>
            <a:off x="777240" y="2294514"/>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395098"/>
            <a:ext cx="256032" cy="256032"/>
          </a:xfrm>
          <a:prstGeom prst="rect">
            <a:avLst/>
          </a:prstGeom>
        </p:spPr>
      </p:pic>
      <p:sp>
        <p:nvSpPr>
          <p:cNvPr id="8" name="Text 4"/>
          <p:cNvSpPr txBox="1"/>
          <p:nvPr/>
        </p:nvSpPr>
        <p:spPr>
          <a:xfrm>
            <a:off x="1417320" y="2089282"/>
            <a:ext cx="9951415" cy="1050544"/>
          </a:xfrm>
          <a:prstGeom prst="rect">
            <a:avLst/>
          </a:prstGeom>
          <a:noFill/>
          <a:ln/>
        </p:spPr>
        <p:txBody>
          <a:bodyPr wrap="square" lIns="0" tIns="0" rIns="0" bIns="0" rtlCol="0" anchor="t"/>
          <a:lstStyle/>
          <a:p>
            <a:pPr indent="0" marL="0">
              <a:buNone/>
            </a:pPr>
            <a:r>
              <a:rPr lang="id-ID" altLang="en-US" sz="2800" dirty="0">
                <a:solidFill>
                  <a:srgbClr val="1F2328"/>
                </a:solidFill>
              </a:rPr>
              <a:t>Di KedaiKita, kode yang mencetak teks </a:t>
            </a:r>
            <a:r>
              <a:rPr lang="id-ID" altLang="en-US" sz="2800" dirty="0">
                <a:solidFill>
                  <a:srgbClr val="0A3069"/>
                </a:solidFill>
                <a:latin typeface="Consolas" pitchFamily="34" charset="0"/>
                <a:ea typeface="Consolas" pitchFamily="34" charset="-122"/>
                <a:cs typeface="Consolas" pitchFamily="34" charset="-120"/>
              </a:rPr>
              <a:t>Pilihan:</a:t>
            </a:r>
            <a:r>
              <a:rPr lang="id-ID" altLang="en-US" sz="2800" dirty="0">
                <a:solidFill>
                  <a:srgbClr val="1F2328"/>
                </a:solidFill>
              </a:rPr>
              <a:t> lalu membaca ketikan kasir seharusnya berada di lapisan ...</a:t>
            </a:r>
            <a:endParaRPr lang="id-ID" sz="2800" dirty="0"/>
          </a:p>
        </p:txBody>
      </p:sp>
      <p:sp>
        <p:nvSpPr>
          <p:cNvPr id="9" name="Shape 5"/>
          <p:cNvSpPr/>
          <p:nvPr/>
        </p:nvSpPr>
        <p:spPr>
          <a:xfrm>
            <a:off x="548640" y="3368426"/>
            <a:ext cx="5455768" cy="1018032"/>
          </a:xfrm>
          <a:prstGeom prst="roundRect">
            <a:avLst>
              <a:gd name="adj" fmla="val 9681"/>
            </a:avLst>
          </a:prstGeom>
          <a:solidFill>
            <a:srgbClr val="FFFFFF"/>
          </a:solidFill>
          <a:ln w="9525">
            <a:solidFill>
              <a:srgbClr val="D0D7DE"/>
            </a:solidFill>
            <a:prstDash val="solid"/>
          </a:ln>
        </p:spPr>
      </p:sp>
      <p:sp>
        <p:nvSpPr>
          <p:cNvPr id="10" name="Shape 6"/>
          <p:cNvSpPr/>
          <p:nvPr/>
        </p:nvSpPr>
        <p:spPr>
          <a:xfrm>
            <a:off x="749808" y="3648842"/>
            <a:ext cx="457200" cy="457200"/>
          </a:xfrm>
          <a:prstGeom prst="ellipse">
            <a:avLst/>
          </a:prstGeom>
          <a:solidFill>
            <a:srgbClr val="8250DF"/>
          </a:solidFill>
          <a:ln/>
        </p:spPr>
      </p:sp>
      <p:sp>
        <p:nvSpPr>
          <p:cNvPr id="11" name="Text 7"/>
          <p:cNvSpPr txBox="1"/>
          <p:nvPr/>
        </p:nvSpPr>
        <p:spPr>
          <a:xfrm>
            <a:off x="749808" y="364884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478154"/>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Model karena </a:t>
            </a:r>
            <a:r>
              <a:rPr lang="id-ID" altLang="en-US" sz="2400" dirty="0">
                <a:solidFill>
                  <a:srgbClr val="0A3069"/>
                </a:solidFill>
                <a:latin typeface="Consolas" pitchFamily="34" charset="0"/>
                <a:ea typeface="Consolas" pitchFamily="34" charset="-122"/>
                <a:cs typeface="Consolas" pitchFamily="34" charset="-120"/>
              </a:rPr>
              <a:t>Menu</a:t>
            </a:r>
            <a:r>
              <a:rPr lang="id-ID" altLang="en-US" sz="2400" dirty="0">
                <a:solidFill>
                  <a:srgbClr val="1F2328"/>
                </a:solidFill>
              </a:rPr>
              <a:t> dan </a:t>
            </a:r>
            <a:r>
              <a:rPr lang="id-ID" altLang="en-US" sz="2400" dirty="0">
                <a:solidFill>
                  <a:srgbClr val="0A3069"/>
                </a:solidFill>
                <a:latin typeface="Consolas" pitchFamily="34" charset="0"/>
                <a:ea typeface="Consolas" pitchFamily="34" charset="-122"/>
                <a:cs typeface="Consolas" pitchFamily="34" charset="-120"/>
              </a:rPr>
              <a:t>Pesanan</a:t>
            </a:r>
            <a:r>
              <a:rPr lang="id-ID" altLang="en-US" sz="2400" dirty="0">
                <a:solidFill>
                  <a:srgbClr val="1F2328"/>
                </a:solidFill>
              </a:rPr>
              <a:t> paling tahu datanya</a:t>
            </a:r>
            <a:endParaRPr lang="id-ID" sz="2400" dirty="0"/>
          </a:p>
        </p:txBody>
      </p:sp>
      <p:sp>
        <p:nvSpPr>
          <p:cNvPr id="13" name="Shape 9"/>
          <p:cNvSpPr/>
          <p:nvPr/>
        </p:nvSpPr>
        <p:spPr>
          <a:xfrm>
            <a:off x="6187288" y="3368426"/>
            <a:ext cx="5455768" cy="1018032"/>
          </a:xfrm>
          <a:prstGeom prst="roundRect">
            <a:avLst>
              <a:gd name="adj" fmla="val 9681"/>
            </a:avLst>
          </a:prstGeom>
          <a:solidFill>
            <a:srgbClr val="FFFFFF"/>
          </a:solidFill>
          <a:ln w="9525">
            <a:solidFill>
              <a:srgbClr val="D0D7DE"/>
            </a:solidFill>
            <a:prstDash val="solid"/>
          </a:ln>
        </p:spPr>
      </p:sp>
      <p:sp>
        <p:nvSpPr>
          <p:cNvPr id="14" name="Shape 10"/>
          <p:cNvSpPr/>
          <p:nvPr/>
        </p:nvSpPr>
        <p:spPr>
          <a:xfrm>
            <a:off x="6388456" y="3648842"/>
            <a:ext cx="457200" cy="457200"/>
          </a:xfrm>
          <a:prstGeom prst="ellipse">
            <a:avLst/>
          </a:prstGeom>
          <a:solidFill>
            <a:srgbClr val="8250DF"/>
          </a:solidFill>
          <a:ln/>
        </p:spPr>
      </p:sp>
      <p:sp>
        <p:nvSpPr>
          <p:cNvPr id="15" name="Text 11"/>
          <p:cNvSpPr txBox="1"/>
          <p:nvPr/>
        </p:nvSpPr>
        <p:spPr>
          <a:xfrm>
            <a:off x="6388456" y="364884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478154"/>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Penyimpanan karena ketikan kasir akhirnya disimpan ke </a:t>
            </a:r>
            <a:r>
              <a:rPr lang="id-ID" altLang="en-US" sz="2400" i="1" dirty="0">
                <a:solidFill>
                  <a:srgbClr val="1F2328"/>
                </a:solidFill>
              </a:rPr>
              <a:t>file</a:t>
            </a:r>
            <a:endParaRPr lang="id-ID" sz="2400" dirty="0"/>
          </a:p>
        </p:txBody>
      </p:sp>
      <p:sp>
        <p:nvSpPr>
          <p:cNvPr id="17" name="Shape 13"/>
          <p:cNvSpPr/>
          <p:nvPr/>
        </p:nvSpPr>
        <p:spPr>
          <a:xfrm>
            <a:off x="548640" y="4569338"/>
            <a:ext cx="5455768" cy="1018032"/>
          </a:xfrm>
          <a:prstGeom prst="roundRect">
            <a:avLst>
              <a:gd name="adj" fmla="val 9681"/>
            </a:avLst>
          </a:prstGeom>
          <a:solidFill>
            <a:srgbClr val="FFFFFF"/>
          </a:solidFill>
          <a:ln w="9525">
            <a:solidFill>
              <a:srgbClr val="D0D7DE"/>
            </a:solidFill>
            <a:prstDash val="solid"/>
          </a:ln>
        </p:spPr>
      </p:sp>
      <p:sp>
        <p:nvSpPr>
          <p:cNvPr id="18" name="Shape 14"/>
          <p:cNvSpPr/>
          <p:nvPr/>
        </p:nvSpPr>
        <p:spPr>
          <a:xfrm>
            <a:off x="749808" y="4849754"/>
            <a:ext cx="457200" cy="457200"/>
          </a:xfrm>
          <a:prstGeom prst="ellipse">
            <a:avLst/>
          </a:prstGeom>
          <a:solidFill>
            <a:srgbClr val="8250DF"/>
          </a:solidFill>
          <a:ln/>
        </p:spPr>
      </p:sp>
      <p:sp>
        <p:nvSpPr>
          <p:cNvPr id="19" name="Text 15"/>
          <p:cNvSpPr txBox="1"/>
          <p:nvPr/>
        </p:nvSpPr>
        <p:spPr>
          <a:xfrm>
            <a:off x="749808" y="484975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679066"/>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Layanan karena </a:t>
            </a:r>
            <a:r>
              <a:rPr lang="id-ID" altLang="en-US" sz="2400" dirty="0">
                <a:solidFill>
                  <a:srgbClr val="0A3069"/>
                </a:solidFill>
                <a:latin typeface="Consolas" pitchFamily="34" charset="0"/>
                <a:ea typeface="Consolas" pitchFamily="34" charset="-122"/>
                <a:cs typeface="Consolas" pitchFamily="34" charset="-120"/>
              </a:rPr>
              <a:t>LayananKasir</a:t>
            </a:r>
            <a:r>
              <a:rPr lang="id-ID" altLang="en-US" sz="2400" dirty="0">
                <a:solidFill>
                  <a:srgbClr val="1F2328"/>
                </a:solidFill>
              </a:rPr>
              <a:t> mengatur alur kerja</a:t>
            </a:r>
            <a:endParaRPr lang="id-ID" sz="2400" dirty="0"/>
          </a:p>
        </p:txBody>
      </p:sp>
      <p:sp>
        <p:nvSpPr>
          <p:cNvPr id="21" name="Shape 17"/>
          <p:cNvSpPr/>
          <p:nvPr/>
        </p:nvSpPr>
        <p:spPr>
          <a:xfrm>
            <a:off x="6187288" y="4569338"/>
            <a:ext cx="5455768" cy="1018032"/>
          </a:xfrm>
          <a:prstGeom prst="roundRect">
            <a:avLst>
              <a:gd name="adj" fmla="val 9681"/>
            </a:avLst>
          </a:prstGeom>
          <a:solidFill>
            <a:srgbClr val="FFFFFF"/>
          </a:solidFill>
          <a:ln w="9525">
            <a:solidFill>
              <a:srgbClr val="D0D7DE"/>
            </a:solidFill>
            <a:prstDash val="solid"/>
          </a:ln>
        </p:spPr>
      </p:sp>
      <p:sp>
        <p:nvSpPr>
          <p:cNvPr id="22" name="Shape 18"/>
          <p:cNvSpPr/>
          <p:nvPr/>
        </p:nvSpPr>
        <p:spPr>
          <a:xfrm>
            <a:off x="6388456" y="4849754"/>
            <a:ext cx="457200" cy="457200"/>
          </a:xfrm>
          <a:prstGeom prst="ellipse">
            <a:avLst/>
          </a:prstGeom>
          <a:solidFill>
            <a:srgbClr val="8250DF"/>
          </a:solidFill>
          <a:ln/>
        </p:spPr>
      </p:sp>
      <p:sp>
        <p:nvSpPr>
          <p:cNvPr id="23" name="Text 19"/>
          <p:cNvSpPr txBox="1"/>
          <p:nvPr/>
        </p:nvSpPr>
        <p:spPr>
          <a:xfrm>
            <a:off x="6388456" y="484975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679066"/>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Tampilan, yaitu </a:t>
            </a:r>
            <a:r>
              <a:rPr lang="id-ID" altLang="en-US" sz="2400" dirty="0">
                <a:solidFill>
                  <a:srgbClr val="0A3069"/>
                </a:solidFill>
                <a:latin typeface="Consolas" pitchFamily="34" charset="0"/>
                <a:ea typeface="Consolas" pitchFamily="34" charset="-122"/>
                <a:cs typeface="Consolas" pitchFamily="34" charset="-120"/>
              </a:rPr>
              <a:t>AplikasiKasir</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473540"/>
            <a:ext cx="11094415" cy="537718"/>
          </a:xfrm>
          <a:prstGeom prst="roundRect">
            <a:avLst>
              <a:gd name="adj" fmla="val 34701"/>
            </a:avLst>
          </a:prstGeom>
          <a:solidFill>
            <a:srgbClr val="F6F8FA"/>
          </a:solidFill>
          <a:ln w="9525">
            <a:solidFill>
              <a:srgbClr val="D0D7DE"/>
            </a:solidFill>
            <a:prstDash val="solid"/>
          </a:ln>
        </p:spPr>
      </p:sp>
      <p:sp>
        <p:nvSpPr>
          <p:cNvPr id="6" name="Text 3"/>
          <p:cNvSpPr txBox="1"/>
          <p:nvPr/>
        </p:nvSpPr>
        <p:spPr>
          <a:xfrm>
            <a:off x="822960" y="1610700"/>
            <a:ext cx="10545775" cy="263398"/>
          </a:xfrm>
          <a:prstGeom prst="rect">
            <a:avLst/>
          </a:prstGeom>
          <a:noFill/>
          <a:ln/>
        </p:spPr>
        <p:txBody>
          <a:bodyPr wrap="square" lIns="0" tIns="0" rIns="0" bIns="0" rtlCol="0" anchor="t"/>
          <a:lstStyle/>
          <a:p>
            <a:pPr indent="0" marL="0">
              <a:buNone/>
            </a:pPr>
            <a:r>
              <a:rPr lang="id-ID" altLang="en-US" sz="1700" dirty="0">
                <a:solidFill>
                  <a:srgbClr val="57606A"/>
                </a:solidFill>
              </a:rPr>
              <a:t>Di KedaiKita, kode yang mencetak teks </a:t>
            </a:r>
            <a:r>
              <a:rPr lang="id-ID" altLang="en-US" sz="1700" dirty="0">
                <a:solidFill>
                  <a:srgbClr val="0A3069"/>
                </a:solidFill>
                <a:latin typeface="Consolas" pitchFamily="34" charset="0"/>
                <a:ea typeface="Consolas" pitchFamily="34" charset="-122"/>
                <a:cs typeface="Consolas" pitchFamily="34" charset="-120"/>
              </a:rPr>
              <a:t>Pilihan:</a:t>
            </a:r>
            <a:r>
              <a:rPr lang="id-ID" altLang="en-US" sz="1700" dirty="0">
                <a:solidFill>
                  <a:srgbClr val="57606A"/>
                </a:solidFill>
              </a:rPr>
              <a:t> lalu membaca ketikan kasir seharusnya berada di lapisan ...</a:t>
            </a:r>
            <a:endParaRPr lang="id-ID" sz="1700" dirty="0"/>
          </a:p>
        </p:txBody>
      </p:sp>
      <p:sp>
        <p:nvSpPr>
          <p:cNvPr id="7" name="Shape 4"/>
          <p:cNvSpPr/>
          <p:nvPr/>
        </p:nvSpPr>
        <p:spPr>
          <a:xfrm>
            <a:off x="548640" y="2194138"/>
            <a:ext cx="5455768" cy="863092"/>
          </a:xfrm>
          <a:prstGeom prst="roundRect">
            <a:avLst>
              <a:gd name="adj" fmla="val 13469"/>
            </a:avLst>
          </a:prstGeom>
          <a:solidFill>
            <a:srgbClr val="FFFFFF"/>
          </a:solidFill>
          <a:ln w="9525">
            <a:solidFill>
              <a:srgbClr val="D0D7DE"/>
            </a:solidFill>
            <a:prstDash val="solid"/>
          </a:ln>
        </p:spPr>
      </p:sp>
      <p:sp>
        <p:nvSpPr>
          <p:cNvPr id="8" name="Shape 5"/>
          <p:cNvSpPr/>
          <p:nvPr/>
        </p:nvSpPr>
        <p:spPr>
          <a:xfrm>
            <a:off x="749808" y="2408514"/>
            <a:ext cx="434340" cy="434340"/>
          </a:xfrm>
          <a:prstGeom prst="ellipse">
            <a:avLst/>
          </a:prstGeom>
          <a:solidFill>
            <a:srgbClr val="8C959F"/>
          </a:solidFill>
          <a:ln/>
        </p:spPr>
      </p:sp>
      <p:sp>
        <p:nvSpPr>
          <p:cNvPr id="9" name="Text 6"/>
          <p:cNvSpPr txBox="1"/>
          <p:nvPr/>
        </p:nvSpPr>
        <p:spPr>
          <a:xfrm>
            <a:off x="749808" y="2408514"/>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A</a:t>
            </a:r>
            <a:endParaRPr lang="id-ID" sz="1700" dirty="0"/>
          </a:p>
        </p:txBody>
      </p:sp>
      <p:sp>
        <p:nvSpPr>
          <p:cNvPr id="10" name="Text 7"/>
          <p:cNvSpPr txBox="1"/>
          <p:nvPr/>
        </p:nvSpPr>
        <p:spPr>
          <a:xfrm>
            <a:off x="1353312" y="2303866"/>
            <a:ext cx="4541368" cy="643636"/>
          </a:xfrm>
          <a:prstGeom prst="rect">
            <a:avLst/>
          </a:prstGeom>
          <a:noFill/>
          <a:ln/>
        </p:spPr>
        <p:txBody>
          <a:bodyPr wrap="square" lIns="0" tIns="0" rIns="0" bIns="0" rtlCol="0" anchor="ctr"/>
          <a:lstStyle/>
          <a:p>
            <a:pPr indent="0" marL="0">
              <a:buNone/>
            </a:pPr>
            <a:r>
              <a:rPr lang="id-ID" altLang="en-US" sz="1900" dirty="0">
                <a:solidFill>
                  <a:srgbClr val="57606A"/>
                </a:solidFill>
              </a:rPr>
              <a:t>Model karena </a:t>
            </a:r>
            <a:r>
              <a:rPr lang="id-ID" altLang="en-US" sz="1900" dirty="0">
                <a:solidFill>
                  <a:srgbClr val="0A3069"/>
                </a:solidFill>
                <a:latin typeface="Consolas" pitchFamily="34" charset="0"/>
                <a:ea typeface="Consolas" pitchFamily="34" charset="-122"/>
                <a:cs typeface="Consolas" pitchFamily="34" charset="-120"/>
              </a:rPr>
              <a:t>Menu</a:t>
            </a:r>
            <a:r>
              <a:rPr lang="id-ID" altLang="en-US" sz="1900" dirty="0">
                <a:solidFill>
                  <a:srgbClr val="57606A"/>
                </a:solidFill>
              </a:rPr>
              <a:t> dan </a:t>
            </a:r>
            <a:r>
              <a:rPr lang="id-ID" altLang="en-US" sz="1900" dirty="0">
                <a:solidFill>
                  <a:srgbClr val="0A3069"/>
                </a:solidFill>
                <a:latin typeface="Consolas" pitchFamily="34" charset="0"/>
                <a:ea typeface="Consolas" pitchFamily="34" charset="-122"/>
                <a:cs typeface="Consolas" pitchFamily="34" charset="-120"/>
              </a:rPr>
              <a:t>Pesanan</a:t>
            </a:r>
            <a:r>
              <a:rPr lang="id-ID" altLang="en-US" sz="1900" dirty="0">
                <a:solidFill>
                  <a:srgbClr val="57606A"/>
                </a:solidFill>
              </a:rPr>
              <a:t> paling tahu datanya</a:t>
            </a:r>
            <a:endParaRPr lang="id-ID" sz="1900" dirty="0"/>
          </a:p>
        </p:txBody>
      </p:sp>
      <p:sp>
        <p:nvSpPr>
          <p:cNvPr id="11" name="Shape 8"/>
          <p:cNvSpPr/>
          <p:nvPr/>
        </p:nvSpPr>
        <p:spPr>
          <a:xfrm>
            <a:off x="6187288" y="2194138"/>
            <a:ext cx="5455768" cy="863092"/>
          </a:xfrm>
          <a:prstGeom prst="roundRect">
            <a:avLst>
              <a:gd name="adj" fmla="val 13469"/>
            </a:avLst>
          </a:prstGeom>
          <a:solidFill>
            <a:srgbClr val="FFFFFF"/>
          </a:solidFill>
          <a:ln w="9525">
            <a:solidFill>
              <a:srgbClr val="D0D7DE"/>
            </a:solidFill>
            <a:prstDash val="solid"/>
          </a:ln>
        </p:spPr>
      </p:sp>
      <p:sp>
        <p:nvSpPr>
          <p:cNvPr id="12" name="Shape 9"/>
          <p:cNvSpPr/>
          <p:nvPr/>
        </p:nvSpPr>
        <p:spPr>
          <a:xfrm>
            <a:off x="6388456" y="2408514"/>
            <a:ext cx="434340" cy="434340"/>
          </a:xfrm>
          <a:prstGeom prst="ellipse">
            <a:avLst/>
          </a:prstGeom>
          <a:solidFill>
            <a:srgbClr val="8C959F"/>
          </a:solidFill>
          <a:ln/>
        </p:spPr>
      </p:sp>
      <p:sp>
        <p:nvSpPr>
          <p:cNvPr id="13" name="Text 10"/>
          <p:cNvSpPr txBox="1"/>
          <p:nvPr/>
        </p:nvSpPr>
        <p:spPr>
          <a:xfrm>
            <a:off x="6388456" y="2408514"/>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B</a:t>
            </a:r>
            <a:endParaRPr lang="id-ID" sz="1700" dirty="0"/>
          </a:p>
        </p:txBody>
      </p:sp>
      <p:sp>
        <p:nvSpPr>
          <p:cNvPr id="14" name="Text 11"/>
          <p:cNvSpPr txBox="1"/>
          <p:nvPr/>
        </p:nvSpPr>
        <p:spPr>
          <a:xfrm>
            <a:off x="6991960" y="2303866"/>
            <a:ext cx="4541368" cy="643636"/>
          </a:xfrm>
          <a:prstGeom prst="rect">
            <a:avLst/>
          </a:prstGeom>
          <a:noFill/>
          <a:ln/>
        </p:spPr>
        <p:txBody>
          <a:bodyPr wrap="square" lIns="0" tIns="0" rIns="0" bIns="0" rtlCol="0" anchor="ctr"/>
          <a:lstStyle/>
          <a:p>
            <a:pPr indent="0" marL="0">
              <a:buNone/>
            </a:pPr>
            <a:r>
              <a:rPr lang="id-ID" altLang="en-US" sz="1900" dirty="0">
                <a:solidFill>
                  <a:srgbClr val="57606A"/>
                </a:solidFill>
              </a:rPr>
              <a:t>Penyimpanan karena ketikan kasir akhirnya disimpan ke </a:t>
            </a:r>
            <a:r>
              <a:rPr lang="id-ID" altLang="en-US" sz="1900" i="1" dirty="0">
                <a:solidFill>
                  <a:srgbClr val="57606A"/>
                </a:solidFill>
              </a:rPr>
              <a:t>file</a:t>
            </a:r>
            <a:endParaRPr lang="id-ID" sz="1900" dirty="0"/>
          </a:p>
        </p:txBody>
      </p:sp>
      <p:sp>
        <p:nvSpPr>
          <p:cNvPr id="15" name="Shape 12"/>
          <p:cNvSpPr/>
          <p:nvPr/>
        </p:nvSpPr>
        <p:spPr>
          <a:xfrm>
            <a:off x="548640" y="3240110"/>
            <a:ext cx="5455768" cy="863092"/>
          </a:xfrm>
          <a:prstGeom prst="roundRect">
            <a:avLst>
              <a:gd name="adj" fmla="val 13469"/>
            </a:avLst>
          </a:prstGeom>
          <a:solidFill>
            <a:srgbClr val="FFFFFF"/>
          </a:solidFill>
          <a:ln w="9525">
            <a:solidFill>
              <a:srgbClr val="D0D7DE"/>
            </a:solidFill>
            <a:prstDash val="solid"/>
          </a:ln>
        </p:spPr>
      </p:sp>
      <p:sp>
        <p:nvSpPr>
          <p:cNvPr id="16" name="Shape 13"/>
          <p:cNvSpPr/>
          <p:nvPr/>
        </p:nvSpPr>
        <p:spPr>
          <a:xfrm>
            <a:off x="749808" y="3454486"/>
            <a:ext cx="434340" cy="434340"/>
          </a:xfrm>
          <a:prstGeom prst="ellipse">
            <a:avLst/>
          </a:prstGeom>
          <a:solidFill>
            <a:srgbClr val="8C959F"/>
          </a:solidFill>
          <a:ln/>
        </p:spPr>
      </p:sp>
      <p:sp>
        <p:nvSpPr>
          <p:cNvPr id="17" name="Text 14"/>
          <p:cNvSpPr txBox="1"/>
          <p:nvPr/>
        </p:nvSpPr>
        <p:spPr>
          <a:xfrm>
            <a:off x="749808" y="3454486"/>
            <a:ext cx="434340" cy="434340"/>
          </a:xfrm>
          <a:prstGeom prst="rect">
            <a:avLst/>
          </a:prstGeom>
          <a:noFill/>
          <a:ln/>
        </p:spPr>
        <p:txBody>
          <a:bodyPr wrap="square" lIns="0" tIns="0" rIns="0" bIns="0" rtlCol="0" anchor="ctr"/>
          <a:lstStyle/>
          <a:p>
            <a:pPr algn="ctr" indent="0" marL="0">
              <a:buNone/>
            </a:pPr>
            <a:r>
              <a:rPr lang="id-ID" altLang="en-US" sz="1700" b="1" dirty="0">
                <a:solidFill>
                  <a:srgbClr val="FFFFFF"/>
                </a:solidFill>
              </a:rPr>
              <a:t>C</a:t>
            </a:r>
            <a:endParaRPr lang="id-ID" sz="1700" dirty="0"/>
          </a:p>
        </p:txBody>
      </p:sp>
      <p:sp>
        <p:nvSpPr>
          <p:cNvPr id="18" name="Text 15"/>
          <p:cNvSpPr txBox="1"/>
          <p:nvPr/>
        </p:nvSpPr>
        <p:spPr>
          <a:xfrm>
            <a:off x="1353312" y="3349838"/>
            <a:ext cx="4541368" cy="643636"/>
          </a:xfrm>
          <a:prstGeom prst="rect">
            <a:avLst/>
          </a:prstGeom>
          <a:noFill/>
          <a:ln/>
        </p:spPr>
        <p:txBody>
          <a:bodyPr wrap="square" lIns="0" tIns="0" rIns="0" bIns="0" rtlCol="0" anchor="ctr"/>
          <a:lstStyle/>
          <a:p>
            <a:pPr indent="0" marL="0">
              <a:buNone/>
            </a:pPr>
            <a:r>
              <a:rPr lang="id-ID" altLang="en-US" sz="1900" dirty="0">
                <a:solidFill>
                  <a:srgbClr val="57606A"/>
                </a:solidFill>
              </a:rPr>
              <a:t>Layanan karena </a:t>
            </a:r>
            <a:r>
              <a:rPr lang="id-ID" altLang="en-US" sz="1900" dirty="0">
                <a:solidFill>
                  <a:srgbClr val="0A3069"/>
                </a:solidFill>
                <a:latin typeface="Consolas" pitchFamily="34" charset="0"/>
                <a:ea typeface="Consolas" pitchFamily="34" charset="-122"/>
                <a:cs typeface="Consolas" pitchFamily="34" charset="-120"/>
              </a:rPr>
              <a:t>LayananKasir</a:t>
            </a:r>
            <a:r>
              <a:rPr lang="id-ID" altLang="en-US" sz="1900" dirty="0">
                <a:solidFill>
                  <a:srgbClr val="57606A"/>
                </a:solidFill>
              </a:rPr>
              <a:t> mengatur alur kerja</a:t>
            </a:r>
            <a:endParaRPr lang="id-ID" sz="1900" dirty="0"/>
          </a:p>
        </p:txBody>
      </p:sp>
      <p:sp>
        <p:nvSpPr>
          <p:cNvPr id="19" name="Shape 16"/>
          <p:cNvSpPr/>
          <p:nvPr/>
        </p:nvSpPr>
        <p:spPr>
          <a:xfrm>
            <a:off x="6187288" y="3240110"/>
            <a:ext cx="5455768" cy="863092"/>
          </a:xfrm>
          <a:prstGeom prst="roundRect">
            <a:avLst>
              <a:gd name="adj" fmla="val 13469"/>
            </a:avLst>
          </a:prstGeom>
          <a:solidFill>
            <a:srgbClr val="DAFBE1"/>
          </a:solidFill>
          <a:ln w="22225">
            <a:solidFill>
              <a:srgbClr val="1A7F37"/>
            </a:solidFill>
            <a:prstDash val="solid"/>
          </a:ln>
        </p:spPr>
      </p:sp>
      <p:sp>
        <p:nvSpPr>
          <p:cNvPr id="20" name="Shape 17"/>
          <p:cNvSpPr/>
          <p:nvPr/>
        </p:nvSpPr>
        <p:spPr>
          <a:xfrm>
            <a:off x="6388456" y="3454486"/>
            <a:ext cx="434340" cy="434340"/>
          </a:xfrm>
          <a:prstGeom prst="ellipse">
            <a:avLst/>
          </a:prstGeom>
          <a:solidFill>
            <a:srgbClr val="1A7F37"/>
          </a:solidFill>
          <a:ln/>
        </p:spPr>
      </p:sp>
      <p:pic>
        <p:nvPicPr>
          <p:cNvPr id="21" name="Image 1" descr="preencoded.png">    </p:cNvPr>
          <p:cNvPicPr>
            <a:picLocks noChangeAspect="1"/>
          </p:cNvPicPr>
          <p:nvPr/>
        </p:nvPicPr>
        <p:blipFill>
          <a:blip r:embed="rId2"/>
          <a:stretch>
            <a:fillRect/>
          </a:stretch>
        </p:blipFill>
        <p:spPr>
          <a:xfrm>
            <a:off x="6484010" y="3550041"/>
            <a:ext cx="243230" cy="243230"/>
          </a:xfrm>
          <a:prstGeom prst="rect">
            <a:avLst/>
          </a:prstGeom>
        </p:spPr>
      </p:pic>
      <p:sp>
        <p:nvSpPr>
          <p:cNvPr id="22" name="Text 18"/>
          <p:cNvSpPr txBox="1"/>
          <p:nvPr/>
        </p:nvSpPr>
        <p:spPr>
          <a:xfrm>
            <a:off x="6991960" y="3349838"/>
            <a:ext cx="4541368" cy="643636"/>
          </a:xfrm>
          <a:prstGeom prst="rect">
            <a:avLst/>
          </a:prstGeom>
          <a:noFill/>
          <a:ln/>
        </p:spPr>
        <p:txBody>
          <a:bodyPr wrap="square" lIns="0" tIns="0" rIns="0" bIns="0" rtlCol="0" anchor="ctr"/>
          <a:lstStyle/>
          <a:p>
            <a:pPr indent="0" marL="0">
              <a:buNone/>
            </a:pPr>
            <a:r>
              <a:rPr lang="id-ID" altLang="en-US" sz="1900" dirty="0">
                <a:solidFill>
                  <a:srgbClr val="1F2328"/>
                </a:solidFill>
              </a:rPr>
              <a:t>Tampilan, yaitu </a:t>
            </a:r>
            <a:r>
              <a:rPr lang="id-ID" altLang="en-US" sz="1900" dirty="0">
                <a:solidFill>
                  <a:srgbClr val="0A3069"/>
                </a:solidFill>
                <a:latin typeface="Consolas" pitchFamily="34" charset="0"/>
                <a:ea typeface="Consolas" pitchFamily="34" charset="-122"/>
                <a:cs typeface="Consolas" pitchFamily="34" charset="-120"/>
              </a:rPr>
              <a:t>AplikasiKasir</a:t>
            </a:r>
            <a:endParaRPr lang="id-ID" sz="1900" dirty="0"/>
          </a:p>
        </p:txBody>
      </p:sp>
      <p:sp>
        <p:nvSpPr>
          <p:cNvPr id="23" name="Shape 19"/>
          <p:cNvSpPr/>
          <p:nvPr/>
        </p:nvSpPr>
        <p:spPr>
          <a:xfrm>
            <a:off x="548640" y="4304370"/>
            <a:ext cx="11094415" cy="1817624"/>
          </a:xfrm>
          <a:prstGeom prst="roundRect">
            <a:avLst>
              <a:gd name="adj" fmla="val 3037"/>
            </a:avLst>
          </a:prstGeom>
          <a:solidFill>
            <a:srgbClr val="FFF8C5"/>
          </a:solidFill>
          <a:ln w="9525">
            <a:solidFill>
              <a:srgbClr val="D4A72C"/>
            </a:solidFill>
            <a:prstDash val="solid"/>
          </a:ln>
        </p:spPr>
      </p:sp>
      <p:sp>
        <p:nvSpPr>
          <p:cNvPr id="24" name="Shape 20"/>
          <p:cNvSpPr/>
          <p:nvPr/>
        </p:nvSpPr>
        <p:spPr>
          <a:xfrm>
            <a:off x="777240" y="4487250"/>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587834"/>
            <a:ext cx="256032" cy="256032"/>
          </a:xfrm>
          <a:prstGeom prst="rect">
            <a:avLst/>
          </a:prstGeom>
        </p:spPr>
      </p:pic>
      <p:sp>
        <p:nvSpPr>
          <p:cNvPr id="26" name="Text 21"/>
          <p:cNvSpPr txBox="1"/>
          <p:nvPr/>
        </p:nvSpPr>
        <p:spPr>
          <a:xfrm>
            <a:off x="1417320" y="4441530"/>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D</a:t>
            </a:r>
            <a:endParaRPr lang="id-ID" sz="1600" dirty="0"/>
          </a:p>
        </p:txBody>
      </p:sp>
      <p:sp>
        <p:nvSpPr>
          <p:cNvPr id="27" name="Text 22"/>
          <p:cNvSpPr txBox="1"/>
          <p:nvPr/>
        </p:nvSpPr>
        <p:spPr>
          <a:xfrm>
            <a:off x="1417320" y="4779858"/>
            <a:ext cx="9951415" cy="1268984"/>
          </a:xfrm>
          <a:prstGeom prst="rect">
            <a:avLst/>
          </a:prstGeom>
          <a:noFill/>
          <a:ln/>
        </p:spPr>
        <p:txBody>
          <a:bodyPr wrap="square" lIns="0" tIns="0" rIns="0" bIns="0" rtlCol="0" anchor="t"/>
          <a:lstStyle/>
          <a:p>
            <a:pPr indent="0" marL="0">
              <a:buNone/>
            </a:pPr>
            <a:r>
              <a:rPr lang="id-ID" altLang="en-US" sz="1900" dirty="0">
                <a:solidFill>
                  <a:srgbClr val="1F2328"/>
                </a:solidFill>
              </a:rPr>
              <a:t>Tanya jawab dengan pengguna (mencetak pertanyaan, membaca </a:t>
            </a:r>
            <a:r>
              <a:rPr lang="id-ID" altLang="en-US" sz="1900" i="1" dirty="0">
                <a:solidFill>
                  <a:srgbClr val="1F2328"/>
                </a:solidFill>
              </a:rPr>
              <a:t>keyboard</a:t>
            </a:r>
            <a:r>
              <a:rPr lang="id-ID" altLang="en-US" sz="1900" dirty="0">
                <a:solidFill>
                  <a:srgbClr val="1F2328"/>
                </a:solidFill>
              </a:rPr>
              <a:t>, memeriksa bentuk jawaban) adalah tugas lapisan tampilan. </a:t>
            </a:r>
            <a:r>
              <a:rPr lang="id-ID" altLang="en-US" sz="1900" dirty="0">
                <a:solidFill>
                  <a:srgbClr val="0A3069"/>
                </a:solidFill>
                <a:latin typeface="Consolas" pitchFamily="34" charset="0"/>
                <a:ea typeface="Consolas" pitchFamily="34" charset="-122"/>
                <a:cs typeface="Consolas" pitchFamily="34" charset="-120"/>
              </a:rPr>
              <a:t>LayananKasir</a:t>
            </a:r>
            <a:r>
              <a:rPr lang="id-ID" altLang="en-US" sz="1900" dirty="0">
                <a:solidFill>
                  <a:srgbClr val="1F2328"/>
                </a:solidFill>
              </a:rPr>
              <a:t> (C) mengatur alur kerja, tetapi menerima data yang sudah jadi dan tidak pernah membaca </a:t>
            </a:r>
            <a:r>
              <a:rPr lang="id-ID" altLang="en-US" sz="1900" i="1" dirty="0">
                <a:solidFill>
                  <a:srgbClr val="1F2328"/>
                </a:solidFill>
              </a:rPr>
              <a:t>keyboard</a:t>
            </a:r>
            <a:r>
              <a:rPr lang="id-ID" altLang="en-US" sz="1900" dirty="0">
                <a:solidFill>
                  <a:srgbClr val="1F2328"/>
                </a:solidFill>
              </a:rPr>
              <a:t>. Model (A) dan penyimpanan (B) sama sekali tidak boleh tahu ada </a:t>
            </a:r>
            <a:r>
              <a:rPr lang="id-ID" altLang="en-US" sz="1900" i="1" dirty="0">
                <a:solidFill>
                  <a:srgbClr val="1F2328"/>
                </a:solidFill>
              </a:rPr>
              <a:t>keyboard</a:t>
            </a:r>
            <a:r>
              <a:rPr lang="id-ID" altLang="en-US" sz="1900" dirty="0">
                <a:solidFill>
                  <a:srgbClr val="1F2328"/>
                </a:solidFill>
              </a:rPr>
              <a:t>.</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687775"/>
            <a:ext cx="11094415" cy="2192528"/>
          </a:xfrm>
          <a:prstGeom prst="roundRect">
            <a:avLst>
              <a:gd name="adj" fmla="val 2087"/>
            </a:avLst>
          </a:prstGeom>
          <a:solidFill>
            <a:srgbClr val="FBEFFF"/>
          </a:solidFill>
          <a:ln w="9525">
            <a:solidFill>
              <a:srgbClr val="C297FF"/>
            </a:solidFill>
            <a:prstDash val="solid"/>
          </a:ln>
        </p:spPr>
      </p:sp>
      <p:sp>
        <p:nvSpPr>
          <p:cNvPr id="6" name="Shape 3"/>
          <p:cNvSpPr/>
          <p:nvPr/>
        </p:nvSpPr>
        <p:spPr>
          <a:xfrm>
            <a:off x="777240" y="2555439"/>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656023"/>
            <a:ext cx="256032" cy="256032"/>
          </a:xfrm>
          <a:prstGeom prst="rect">
            <a:avLst/>
          </a:prstGeom>
        </p:spPr>
      </p:pic>
      <p:sp>
        <p:nvSpPr>
          <p:cNvPr id="8" name="Text 4"/>
          <p:cNvSpPr txBox="1"/>
          <p:nvPr/>
        </p:nvSpPr>
        <p:spPr>
          <a:xfrm>
            <a:off x="1417320" y="1916375"/>
            <a:ext cx="9951415" cy="1918208"/>
          </a:xfrm>
          <a:prstGeom prst="rect">
            <a:avLst/>
          </a:prstGeom>
          <a:noFill/>
          <a:ln/>
        </p:spPr>
        <p:txBody>
          <a:bodyPr wrap="square" lIns="0" tIns="0" rIns="0" bIns="0" rtlCol="0" anchor="t"/>
          <a:lstStyle/>
          <a:p>
            <a:pPr indent="0" marL="0">
              <a:buNone/>
            </a:pPr>
            <a:r>
              <a:rPr lang="id-ID" altLang="en-US" sz="2800" dirty="0">
                <a:solidFill>
                  <a:srgbClr val="1F2328"/>
                </a:solidFill>
              </a:rPr>
              <a:t>Aturan toko daring: “gratis ongkir jika belanja </a:t>
            </a:r>
            <a:r>
              <a:rPr lang="id-ID" altLang="en-US" sz="2800" b="1" dirty="0">
                <a:solidFill>
                  <a:srgbClr val="1F2328"/>
                </a:solidFill>
              </a:rPr>
              <a:t>minimal</a:t>
            </a:r>
            <a:r>
              <a:rPr lang="id-ID" altLang="en-US" sz="2800" dirty="0">
                <a:solidFill>
                  <a:srgbClr val="1F2328"/>
                </a:solidFill>
              </a:rPr>
              <a:t> Rp100.000”. Seorang pemrogram keliru menulis </a:t>
            </a:r>
            <a:r>
              <a:rPr lang="id-ID" altLang="en-US" sz="2800" dirty="0">
                <a:solidFill>
                  <a:srgbClr val="0A3069"/>
                </a:solidFill>
                <a:latin typeface="Consolas" pitchFamily="34" charset="0"/>
                <a:ea typeface="Consolas" pitchFamily="34" charset="-122"/>
                <a:cs typeface="Consolas" pitchFamily="34" charset="-120"/>
              </a:rPr>
              <a:t>subtotal &gt; 100000</a:t>
            </a:r>
            <a:r>
              <a:rPr lang="id-ID" altLang="en-US" sz="2800" dirty="0">
                <a:solidFill>
                  <a:srgbClr val="1F2328"/>
                </a:solidFill>
              </a:rPr>
              <a:t> alih-⁠alih </a:t>
            </a:r>
            <a:r>
              <a:rPr lang="id-ID" altLang="en-US" sz="2800" dirty="0">
                <a:solidFill>
                  <a:srgbClr val="0A3069"/>
                </a:solidFill>
                <a:latin typeface="Consolas" pitchFamily="34" charset="0"/>
                <a:ea typeface="Consolas" pitchFamily="34" charset="-122"/>
                <a:cs typeface="Consolas" pitchFamily="34" charset="-120"/>
              </a:rPr>
              <a:t>subtotal &gt;= 100000</a:t>
            </a:r>
            <a:r>
              <a:rPr lang="id-ID" altLang="en-US" sz="2800" dirty="0">
                <a:solidFill>
                  <a:srgbClr val="1F2328"/>
                </a:solidFill>
              </a:rPr>
              <a:t>. </a:t>
            </a:r>
            <a:r>
              <a:rPr lang="id-ID" altLang="en-US" sz="2800" i="1" dirty="0">
                <a:solidFill>
                  <a:srgbClr val="1F2328"/>
                </a:solidFill>
              </a:rPr>
              <a:t>Test</a:t>
            </a:r>
            <a:r>
              <a:rPr lang="id-ID" altLang="en-US" sz="2800" dirty="0">
                <a:solidFill>
                  <a:srgbClr val="1F2328"/>
                </a:solidFill>
              </a:rPr>
              <a:t> dengan belanja berapa yang </a:t>
            </a:r>
            <a:r>
              <a:rPr lang="id-ID" altLang="en-US" sz="2800" b="1" dirty="0">
                <a:solidFill>
                  <a:srgbClr val="1F2328"/>
                </a:solidFill>
              </a:rPr>
              <a:t>paling mungkin</a:t>
            </a:r>
            <a:r>
              <a:rPr lang="id-ID" altLang="en-US" sz="2800" dirty="0">
                <a:solidFill>
                  <a:srgbClr val="1F2328"/>
                </a:solidFill>
              </a:rPr>
              <a:t> menangkap kekeliruan ini?</a:t>
            </a:r>
            <a:endParaRPr lang="id-ID" sz="2800" dirty="0"/>
          </a:p>
        </p:txBody>
      </p:sp>
      <p:sp>
        <p:nvSpPr>
          <p:cNvPr id="9" name="Shape 5"/>
          <p:cNvSpPr/>
          <p:nvPr/>
        </p:nvSpPr>
        <p:spPr>
          <a:xfrm>
            <a:off x="548640" y="4063183"/>
            <a:ext cx="5455768" cy="790042"/>
          </a:xfrm>
          <a:prstGeom prst="roundRect">
            <a:avLst>
              <a:gd name="adj" fmla="val 16075"/>
            </a:avLst>
          </a:prstGeom>
          <a:solidFill>
            <a:srgbClr val="FFFFFF"/>
          </a:solidFill>
          <a:ln w="9525">
            <a:solidFill>
              <a:srgbClr val="D0D7DE"/>
            </a:solidFill>
            <a:prstDash val="solid"/>
          </a:ln>
        </p:spPr>
      </p:sp>
      <p:sp>
        <p:nvSpPr>
          <p:cNvPr id="10" name="Shape 6"/>
          <p:cNvSpPr/>
          <p:nvPr/>
        </p:nvSpPr>
        <p:spPr>
          <a:xfrm>
            <a:off x="749808" y="4229604"/>
            <a:ext cx="457200" cy="457200"/>
          </a:xfrm>
          <a:prstGeom prst="ellipse">
            <a:avLst/>
          </a:prstGeom>
          <a:solidFill>
            <a:srgbClr val="8250DF"/>
          </a:solidFill>
          <a:ln/>
        </p:spPr>
      </p:sp>
      <p:sp>
        <p:nvSpPr>
          <p:cNvPr id="11" name="Text 7"/>
          <p:cNvSpPr txBox="1"/>
          <p:nvPr/>
        </p:nvSpPr>
        <p:spPr>
          <a:xfrm>
            <a:off x="749808" y="422960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4172911"/>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Rp50.000</a:t>
            </a:r>
            <a:endParaRPr lang="id-ID" sz="2400" dirty="0"/>
          </a:p>
        </p:txBody>
      </p:sp>
      <p:sp>
        <p:nvSpPr>
          <p:cNvPr id="13" name="Shape 9"/>
          <p:cNvSpPr/>
          <p:nvPr/>
        </p:nvSpPr>
        <p:spPr>
          <a:xfrm>
            <a:off x="6187288" y="4063183"/>
            <a:ext cx="5455768" cy="790042"/>
          </a:xfrm>
          <a:prstGeom prst="roundRect">
            <a:avLst>
              <a:gd name="adj" fmla="val 16075"/>
            </a:avLst>
          </a:prstGeom>
          <a:solidFill>
            <a:srgbClr val="FFFFFF"/>
          </a:solidFill>
          <a:ln w="9525">
            <a:solidFill>
              <a:srgbClr val="D0D7DE"/>
            </a:solidFill>
            <a:prstDash val="solid"/>
          </a:ln>
        </p:spPr>
      </p:sp>
      <p:sp>
        <p:nvSpPr>
          <p:cNvPr id="14" name="Shape 10"/>
          <p:cNvSpPr/>
          <p:nvPr/>
        </p:nvSpPr>
        <p:spPr>
          <a:xfrm>
            <a:off x="6388456" y="4229604"/>
            <a:ext cx="457200" cy="457200"/>
          </a:xfrm>
          <a:prstGeom prst="ellipse">
            <a:avLst/>
          </a:prstGeom>
          <a:solidFill>
            <a:srgbClr val="8250DF"/>
          </a:solidFill>
          <a:ln/>
        </p:spPr>
      </p:sp>
      <p:sp>
        <p:nvSpPr>
          <p:cNvPr id="15" name="Text 11"/>
          <p:cNvSpPr txBox="1"/>
          <p:nvPr/>
        </p:nvSpPr>
        <p:spPr>
          <a:xfrm>
            <a:off x="6388456" y="422960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4172911"/>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Rp99.000</a:t>
            </a:r>
            <a:endParaRPr lang="id-ID" sz="2400" dirty="0"/>
          </a:p>
        </p:txBody>
      </p:sp>
      <p:sp>
        <p:nvSpPr>
          <p:cNvPr id="17" name="Shape 13"/>
          <p:cNvSpPr/>
          <p:nvPr/>
        </p:nvSpPr>
        <p:spPr>
          <a:xfrm>
            <a:off x="548640" y="5036105"/>
            <a:ext cx="5455768" cy="790042"/>
          </a:xfrm>
          <a:prstGeom prst="roundRect">
            <a:avLst>
              <a:gd name="adj" fmla="val 16075"/>
            </a:avLst>
          </a:prstGeom>
          <a:solidFill>
            <a:srgbClr val="FFFFFF"/>
          </a:solidFill>
          <a:ln w="9525">
            <a:solidFill>
              <a:srgbClr val="D0D7DE"/>
            </a:solidFill>
            <a:prstDash val="solid"/>
          </a:ln>
        </p:spPr>
      </p:sp>
      <p:sp>
        <p:nvSpPr>
          <p:cNvPr id="18" name="Shape 14"/>
          <p:cNvSpPr/>
          <p:nvPr/>
        </p:nvSpPr>
        <p:spPr>
          <a:xfrm>
            <a:off x="749808" y="5202526"/>
            <a:ext cx="457200" cy="457200"/>
          </a:xfrm>
          <a:prstGeom prst="ellipse">
            <a:avLst/>
          </a:prstGeom>
          <a:solidFill>
            <a:srgbClr val="8250DF"/>
          </a:solidFill>
          <a:ln/>
        </p:spPr>
      </p:sp>
      <p:sp>
        <p:nvSpPr>
          <p:cNvPr id="19" name="Text 15"/>
          <p:cNvSpPr txBox="1"/>
          <p:nvPr/>
        </p:nvSpPr>
        <p:spPr>
          <a:xfrm>
            <a:off x="749808" y="520252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5145833"/>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Tepat Rp100.000</a:t>
            </a:r>
            <a:endParaRPr lang="id-ID" sz="2400" dirty="0"/>
          </a:p>
        </p:txBody>
      </p:sp>
      <p:sp>
        <p:nvSpPr>
          <p:cNvPr id="21" name="Shape 17"/>
          <p:cNvSpPr/>
          <p:nvPr/>
        </p:nvSpPr>
        <p:spPr>
          <a:xfrm>
            <a:off x="6187288" y="5036105"/>
            <a:ext cx="5455768" cy="790042"/>
          </a:xfrm>
          <a:prstGeom prst="roundRect">
            <a:avLst>
              <a:gd name="adj" fmla="val 16075"/>
            </a:avLst>
          </a:prstGeom>
          <a:solidFill>
            <a:srgbClr val="FFFFFF"/>
          </a:solidFill>
          <a:ln w="9525">
            <a:solidFill>
              <a:srgbClr val="D0D7DE"/>
            </a:solidFill>
            <a:prstDash val="solid"/>
          </a:ln>
        </p:spPr>
      </p:sp>
      <p:sp>
        <p:nvSpPr>
          <p:cNvPr id="22" name="Shape 18"/>
          <p:cNvSpPr/>
          <p:nvPr/>
        </p:nvSpPr>
        <p:spPr>
          <a:xfrm>
            <a:off x="6388456" y="5202526"/>
            <a:ext cx="457200" cy="457200"/>
          </a:xfrm>
          <a:prstGeom prst="ellipse">
            <a:avLst/>
          </a:prstGeom>
          <a:solidFill>
            <a:srgbClr val="8250DF"/>
          </a:solidFill>
          <a:ln/>
        </p:spPr>
      </p:sp>
      <p:sp>
        <p:nvSpPr>
          <p:cNvPr id="23" name="Text 19"/>
          <p:cNvSpPr txBox="1"/>
          <p:nvPr/>
        </p:nvSpPr>
        <p:spPr>
          <a:xfrm>
            <a:off x="6388456" y="520252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5145833"/>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Rp150.000</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508851"/>
            <a:ext cx="11094415" cy="1110996"/>
          </a:xfrm>
          <a:prstGeom prst="roundRect">
            <a:avLst>
              <a:gd name="adj" fmla="val 8129"/>
            </a:avLst>
          </a:prstGeom>
          <a:solidFill>
            <a:srgbClr val="F6F8FA"/>
          </a:solidFill>
          <a:ln w="9525">
            <a:solidFill>
              <a:srgbClr val="D0D7DE"/>
            </a:solidFill>
            <a:prstDash val="solid"/>
          </a:ln>
        </p:spPr>
      </p:sp>
      <p:sp>
        <p:nvSpPr>
          <p:cNvPr id="6" name="Text 3"/>
          <p:cNvSpPr txBox="1"/>
          <p:nvPr/>
        </p:nvSpPr>
        <p:spPr>
          <a:xfrm>
            <a:off x="822960" y="1646011"/>
            <a:ext cx="10545775" cy="836676"/>
          </a:xfrm>
          <a:prstGeom prst="rect">
            <a:avLst/>
          </a:prstGeom>
          <a:noFill/>
          <a:ln/>
        </p:spPr>
        <p:txBody>
          <a:bodyPr wrap="square" lIns="0" tIns="0" rIns="0" bIns="0" rtlCol="0" anchor="t"/>
          <a:lstStyle/>
          <a:p>
            <a:pPr indent="0" marL="0">
              <a:buNone/>
            </a:pPr>
            <a:r>
              <a:rPr lang="id-ID" altLang="en-US" sz="1800" dirty="0">
                <a:solidFill>
                  <a:srgbClr val="57606A"/>
                </a:solidFill>
              </a:rPr>
              <a:t>Aturan toko daring: “gratis ongkir jika belanja </a:t>
            </a:r>
            <a:r>
              <a:rPr lang="id-ID" altLang="en-US" sz="1800" b="1" dirty="0">
                <a:solidFill>
                  <a:srgbClr val="57606A"/>
                </a:solidFill>
              </a:rPr>
              <a:t>minimal</a:t>
            </a:r>
            <a:r>
              <a:rPr lang="id-ID" altLang="en-US" sz="1800" dirty="0">
                <a:solidFill>
                  <a:srgbClr val="57606A"/>
                </a:solidFill>
              </a:rPr>
              <a:t> Rp100.000”. Seorang pemrogram keliru menulis </a:t>
            </a:r>
            <a:r>
              <a:rPr lang="id-ID" altLang="en-US" sz="1800" dirty="0">
                <a:solidFill>
                  <a:srgbClr val="0A3069"/>
                </a:solidFill>
                <a:latin typeface="Consolas" pitchFamily="34" charset="0"/>
                <a:ea typeface="Consolas" pitchFamily="34" charset="-122"/>
                <a:cs typeface="Consolas" pitchFamily="34" charset="-120"/>
              </a:rPr>
              <a:t>subtotal &gt; 100000</a:t>
            </a:r>
            <a:r>
              <a:rPr lang="id-ID" altLang="en-US" sz="1800" dirty="0">
                <a:solidFill>
                  <a:srgbClr val="57606A"/>
                </a:solidFill>
              </a:rPr>
              <a:t> alih-⁠alih </a:t>
            </a:r>
            <a:r>
              <a:rPr lang="id-ID" altLang="en-US" sz="1800" dirty="0">
                <a:solidFill>
                  <a:srgbClr val="0A3069"/>
                </a:solidFill>
                <a:latin typeface="Consolas" pitchFamily="34" charset="0"/>
                <a:ea typeface="Consolas" pitchFamily="34" charset="-122"/>
                <a:cs typeface="Consolas" pitchFamily="34" charset="-120"/>
              </a:rPr>
              <a:t>subtotal &gt;= 100000</a:t>
            </a:r>
            <a:r>
              <a:rPr lang="id-ID" altLang="en-US" sz="1800" dirty="0">
                <a:solidFill>
                  <a:srgbClr val="57606A"/>
                </a:solidFill>
              </a:rPr>
              <a:t>. </a:t>
            </a:r>
            <a:r>
              <a:rPr lang="id-ID" altLang="en-US" sz="1800" i="1" dirty="0">
                <a:solidFill>
                  <a:srgbClr val="57606A"/>
                </a:solidFill>
              </a:rPr>
              <a:t>Test</a:t>
            </a:r>
            <a:r>
              <a:rPr lang="id-ID" altLang="en-US" sz="1800" dirty="0">
                <a:solidFill>
                  <a:srgbClr val="57606A"/>
                </a:solidFill>
              </a:rPr>
              <a:t> dengan belanja berapa yang </a:t>
            </a:r>
            <a:r>
              <a:rPr lang="id-ID" altLang="en-US" sz="1800" b="1" dirty="0">
                <a:solidFill>
                  <a:srgbClr val="57606A"/>
                </a:solidFill>
              </a:rPr>
              <a:t>paling mungkin</a:t>
            </a:r>
            <a:r>
              <a:rPr lang="id-ID" altLang="en-US" sz="1800" dirty="0">
                <a:solidFill>
                  <a:srgbClr val="57606A"/>
                </a:solidFill>
              </a:rPr>
              <a:t> menangkap kekeliruan ini?</a:t>
            </a:r>
            <a:endParaRPr lang="id-ID" sz="1800" dirty="0"/>
          </a:p>
        </p:txBody>
      </p:sp>
      <p:sp>
        <p:nvSpPr>
          <p:cNvPr id="7" name="Shape 4"/>
          <p:cNvSpPr/>
          <p:nvPr/>
        </p:nvSpPr>
        <p:spPr>
          <a:xfrm>
            <a:off x="548640" y="2802727"/>
            <a:ext cx="5455768" cy="658368"/>
          </a:xfrm>
          <a:prstGeom prst="roundRect">
            <a:avLst>
              <a:gd name="adj" fmla="val 23148"/>
            </a:avLst>
          </a:prstGeom>
          <a:solidFill>
            <a:srgbClr val="FFFFFF"/>
          </a:solidFill>
          <a:ln w="9525">
            <a:solidFill>
              <a:srgbClr val="D0D7DE"/>
            </a:solidFill>
            <a:prstDash val="solid"/>
          </a:ln>
        </p:spPr>
      </p:sp>
      <p:sp>
        <p:nvSpPr>
          <p:cNvPr id="8" name="Shape 5"/>
          <p:cNvSpPr/>
          <p:nvPr/>
        </p:nvSpPr>
        <p:spPr>
          <a:xfrm>
            <a:off x="749808" y="2903311"/>
            <a:ext cx="457200" cy="457200"/>
          </a:xfrm>
          <a:prstGeom prst="ellipse">
            <a:avLst/>
          </a:prstGeom>
          <a:solidFill>
            <a:srgbClr val="8C959F"/>
          </a:solidFill>
          <a:ln/>
        </p:spPr>
      </p:sp>
      <p:sp>
        <p:nvSpPr>
          <p:cNvPr id="9" name="Text 6"/>
          <p:cNvSpPr txBox="1"/>
          <p:nvPr/>
        </p:nvSpPr>
        <p:spPr>
          <a:xfrm>
            <a:off x="749808" y="290331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0" name="Text 7"/>
          <p:cNvSpPr txBox="1"/>
          <p:nvPr/>
        </p:nvSpPr>
        <p:spPr>
          <a:xfrm>
            <a:off x="1353312" y="2912455"/>
            <a:ext cx="4541368" cy="438912"/>
          </a:xfrm>
          <a:prstGeom prst="rect">
            <a:avLst/>
          </a:prstGeom>
          <a:noFill/>
          <a:ln/>
        </p:spPr>
        <p:txBody>
          <a:bodyPr wrap="square" lIns="0" tIns="0" rIns="0" bIns="0" rtlCol="0" anchor="ctr"/>
          <a:lstStyle/>
          <a:p>
            <a:pPr indent="0" marL="0">
              <a:buNone/>
            </a:pPr>
            <a:r>
              <a:rPr lang="id-ID" altLang="en-US" sz="2000" dirty="0">
                <a:solidFill>
                  <a:srgbClr val="57606A"/>
                </a:solidFill>
              </a:rPr>
              <a:t>Rp50.000</a:t>
            </a:r>
            <a:endParaRPr lang="id-ID" sz="2000" dirty="0"/>
          </a:p>
        </p:txBody>
      </p:sp>
      <p:sp>
        <p:nvSpPr>
          <p:cNvPr id="11" name="Shape 8"/>
          <p:cNvSpPr/>
          <p:nvPr/>
        </p:nvSpPr>
        <p:spPr>
          <a:xfrm>
            <a:off x="6187288" y="2802727"/>
            <a:ext cx="5455768" cy="658368"/>
          </a:xfrm>
          <a:prstGeom prst="roundRect">
            <a:avLst>
              <a:gd name="adj" fmla="val 23148"/>
            </a:avLst>
          </a:prstGeom>
          <a:solidFill>
            <a:srgbClr val="FFFFFF"/>
          </a:solidFill>
          <a:ln w="9525">
            <a:solidFill>
              <a:srgbClr val="D0D7DE"/>
            </a:solidFill>
            <a:prstDash val="solid"/>
          </a:ln>
        </p:spPr>
      </p:sp>
      <p:sp>
        <p:nvSpPr>
          <p:cNvPr id="12" name="Shape 9"/>
          <p:cNvSpPr/>
          <p:nvPr/>
        </p:nvSpPr>
        <p:spPr>
          <a:xfrm>
            <a:off x="6388456" y="2903311"/>
            <a:ext cx="457200" cy="457200"/>
          </a:xfrm>
          <a:prstGeom prst="ellipse">
            <a:avLst/>
          </a:prstGeom>
          <a:solidFill>
            <a:srgbClr val="8C959F"/>
          </a:solidFill>
          <a:ln/>
        </p:spPr>
      </p:sp>
      <p:sp>
        <p:nvSpPr>
          <p:cNvPr id="13" name="Text 10"/>
          <p:cNvSpPr txBox="1"/>
          <p:nvPr/>
        </p:nvSpPr>
        <p:spPr>
          <a:xfrm>
            <a:off x="6388456" y="290331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4" name="Text 11"/>
          <p:cNvSpPr txBox="1"/>
          <p:nvPr/>
        </p:nvSpPr>
        <p:spPr>
          <a:xfrm>
            <a:off x="6991960" y="2912455"/>
            <a:ext cx="4541368" cy="438912"/>
          </a:xfrm>
          <a:prstGeom prst="rect">
            <a:avLst/>
          </a:prstGeom>
          <a:noFill/>
          <a:ln/>
        </p:spPr>
        <p:txBody>
          <a:bodyPr wrap="square" lIns="0" tIns="0" rIns="0" bIns="0" rtlCol="0" anchor="ctr"/>
          <a:lstStyle/>
          <a:p>
            <a:pPr indent="0" marL="0">
              <a:buNone/>
            </a:pPr>
            <a:r>
              <a:rPr lang="id-ID" altLang="en-US" sz="2000" dirty="0">
                <a:solidFill>
                  <a:srgbClr val="57606A"/>
                </a:solidFill>
              </a:rPr>
              <a:t>Rp99.000</a:t>
            </a:r>
            <a:endParaRPr lang="id-ID" sz="2000" dirty="0"/>
          </a:p>
        </p:txBody>
      </p:sp>
      <p:sp>
        <p:nvSpPr>
          <p:cNvPr id="15" name="Shape 12"/>
          <p:cNvSpPr/>
          <p:nvPr/>
        </p:nvSpPr>
        <p:spPr>
          <a:xfrm>
            <a:off x="548640" y="3643975"/>
            <a:ext cx="5455768" cy="658368"/>
          </a:xfrm>
          <a:prstGeom prst="roundRect">
            <a:avLst>
              <a:gd name="adj" fmla="val 23148"/>
            </a:avLst>
          </a:prstGeom>
          <a:solidFill>
            <a:srgbClr val="DAFBE1"/>
          </a:solidFill>
          <a:ln w="22225">
            <a:solidFill>
              <a:srgbClr val="1A7F37"/>
            </a:solidFill>
            <a:prstDash val="solid"/>
          </a:ln>
        </p:spPr>
      </p:sp>
      <p:sp>
        <p:nvSpPr>
          <p:cNvPr id="16" name="Shape 13"/>
          <p:cNvSpPr/>
          <p:nvPr/>
        </p:nvSpPr>
        <p:spPr>
          <a:xfrm>
            <a:off x="749808" y="3744559"/>
            <a:ext cx="457200" cy="457200"/>
          </a:xfrm>
          <a:prstGeom prst="ellipse">
            <a:avLst/>
          </a:prstGeom>
          <a:solidFill>
            <a:srgbClr val="1A7F37"/>
          </a:solidFill>
          <a:ln/>
        </p:spPr>
      </p:sp>
      <p:pic>
        <p:nvPicPr>
          <p:cNvPr id="17" name="Image 1" descr="preencoded.png">    </p:cNvPr>
          <p:cNvPicPr>
            <a:picLocks noChangeAspect="1"/>
          </p:cNvPicPr>
          <p:nvPr/>
        </p:nvPicPr>
        <p:blipFill>
          <a:blip r:embed="rId2"/>
          <a:stretch>
            <a:fillRect/>
          </a:stretch>
        </p:blipFill>
        <p:spPr>
          <a:xfrm>
            <a:off x="850392" y="3845143"/>
            <a:ext cx="256032" cy="256032"/>
          </a:xfrm>
          <a:prstGeom prst="rect">
            <a:avLst/>
          </a:prstGeom>
        </p:spPr>
      </p:pic>
      <p:sp>
        <p:nvSpPr>
          <p:cNvPr id="18" name="Text 14"/>
          <p:cNvSpPr txBox="1"/>
          <p:nvPr/>
        </p:nvSpPr>
        <p:spPr>
          <a:xfrm>
            <a:off x="1353312" y="3753703"/>
            <a:ext cx="4541368" cy="438912"/>
          </a:xfrm>
          <a:prstGeom prst="rect">
            <a:avLst/>
          </a:prstGeom>
          <a:noFill/>
          <a:ln/>
        </p:spPr>
        <p:txBody>
          <a:bodyPr wrap="square" lIns="0" tIns="0" rIns="0" bIns="0" rtlCol="0" anchor="ctr"/>
          <a:lstStyle/>
          <a:p>
            <a:pPr indent="0" marL="0">
              <a:buNone/>
            </a:pPr>
            <a:r>
              <a:rPr lang="id-ID" altLang="en-US" sz="2000" dirty="0">
                <a:solidFill>
                  <a:srgbClr val="1F2328"/>
                </a:solidFill>
              </a:rPr>
              <a:t>Tepat Rp100.000</a:t>
            </a:r>
            <a:endParaRPr lang="id-ID" sz="2000" dirty="0"/>
          </a:p>
        </p:txBody>
      </p:sp>
      <p:sp>
        <p:nvSpPr>
          <p:cNvPr id="19" name="Shape 15"/>
          <p:cNvSpPr/>
          <p:nvPr/>
        </p:nvSpPr>
        <p:spPr>
          <a:xfrm>
            <a:off x="6187288" y="3643975"/>
            <a:ext cx="5455768" cy="658368"/>
          </a:xfrm>
          <a:prstGeom prst="roundRect">
            <a:avLst>
              <a:gd name="adj" fmla="val 23148"/>
            </a:avLst>
          </a:prstGeom>
          <a:solidFill>
            <a:srgbClr val="FFFFFF"/>
          </a:solidFill>
          <a:ln w="9525">
            <a:solidFill>
              <a:srgbClr val="D0D7DE"/>
            </a:solidFill>
            <a:prstDash val="solid"/>
          </a:ln>
        </p:spPr>
      </p:sp>
      <p:sp>
        <p:nvSpPr>
          <p:cNvPr id="20" name="Shape 16"/>
          <p:cNvSpPr/>
          <p:nvPr/>
        </p:nvSpPr>
        <p:spPr>
          <a:xfrm>
            <a:off x="6388456" y="3744559"/>
            <a:ext cx="457200" cy="457200"/>
          </a:xfrm>
          <a:prstGeom prst="ellipse">
            <a:avLst/>
          </a:prstGeom>
          <a:solidFill>
            <a:srgbClr val="8C959F"/>
          </a:solidFill>
          <a:ln/>
        </p:spPr>
      </p:sp>
      <p:sp>
        <p:nvSpPr>
          <p:cNvPr id="21" name="Text 17"/>
          <p:cNvSpPr txBox="1"/>
          <p:nvPr/>
        </p:nvSpPr>
        <p:spPr>
          <a:xfrm>
            <a:off x="6388456" y="3744559"/>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2" name="Text 18"/>
          <p:cNvSpPr txBox="1"/>
          <p:nvPr/>
        </p:nvSpPr>
        <p:spPr>
          <a:xfrm>
            <a:off x="6991960" y="3753703"/>
            <a:ext cx="4541368" cy="438912"/>
          </a:xfrm>
          <a:prstGeom prst="rect">
            <a:avLst/>
          </a:prstGeom>
          <a:noFill/>
          <a:ln/>
        </p:spPr>
        <p:txBody>
          <a:bodyPr wrap="square" lIns="0" tIns="0" rIns="0" bIns="0" rtlCol="0" anchor="ctr"/>
          <a:lstStyle/>
          <a:p>
            <a:pPr indent="0" marL="0">
              <a:buNone/>
            </a:pPr>
            <a:r>
              <a:rPr lang="id-ID" altLang="en-US" sz="2000" dirty="0">
                <a:solidFill>
                  <a:srgbClr val="57606A"/>
                </a:solidFill>
              </a:rPr>
              <a:t>Rp150.000</a:t>
            </a:r>
            <a:endParaRPr lang="id-ID" sz="2000" dirty="0"/>
          </a:p>
        </p:txBody>
      </p:sp>
      <p:sp>
        <p:nvSpPr>
          <p:cNvPr id="23" name="Shape 19"/>
          <p:cNvSpPr/>
          <p:nvPr/>
        </p:nvSpPr>
        <p:spPr>
          <a:xfrm>
            <a:off x="548640" y="4503511"/>
            <a:ext cx="11094415" cy="1569720"/>
          </a:xfrm>
          <a:prstGeom prst="roundRect">
            <a:avLst>
              <a:gd name="adj" fmla="val 4072"/>
            </a:avLst>
          </a:prstGeom>
          <a:solidFill>
            <a:srgbClr val="FFF8C5"/>
          </a:solidFill>
          <a:ln w="9525">
            <a:solidFill>
              <a:srgbClr val="D4A72C"/>
            </a:solidFill>
            <a:prstDash val="solid"/>
          </a:ln>
        </p:spPr>
      </p:sp>
      <p:sp>
        <p:nvSpPr>
          <p:cNvPr id="24" name="Shape 20"/>
          <p:cNvSpPr/>
          <p:nvPr/>
        </p:nvSpPr>
        <p:spPr>
          <a:xfrm>
            <a:off x="777240" y="4686391"/>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786975"/>
            <a:ext cx="256032" cy="256032"/>
          </a:xfrm>
          <a:prstGeom prst="rect">
            <a:avLst/>
          </a:prstGeom>
        </p:spPr>
      </p:pic>
      <p:sp>
        <p:nvSpPr>
          <p:cNvPr id="26" name="Text 21"/>
          <p:cNvSpPr txBox="1"/>
          <p:nvPr/>
        </p:nvSpPr>
        <p:spPr>
          <a:xfrm>
            <a:off x="1417320" y="4640671"/>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C</a:t>
            </a:r>
            <a:endParaRPr lang="id-ID" sz="1600" dirty="0"/>
          </a:p>
        </p:txBody>
      </p:sp>
      <p:sp>
        <p:nvSpPr>
          <p:cNvPr id="27" name="Text 22"/>
          <p:cNvSpPr txBox="1"/>
          <p:nvPr/>
        </p:nvSpPr>
        <p:spPr>
          <a:xfrm>
            <a:off x="1417320" y="4978999"/>
            <a:ext cx="9951415" cy="1021080"/>
          </a:xfrm>
          <a:prstGeom prst="rect">
            <a:avLst/>
          </a:prstGeom>
          <a:noFill/>
          <a:ln/>
        </p:spPr>
        <p:txBody>
          <a:bodyPr wrap="square" lIns="0" tIns="0" rIns="0" bIns="0" rtlCol="0" anchor="t"/>
          <a:lstStyle/>
          <a:p>
            <a:pPr indent="0" marL="0">
              <a:buNone/>
            </a:pPr>
            <a:r>
              <a:rPr lang="id-ID" altLang="en-US" sz="2000" dirty="0">
                <a:solidFill>
                  <a:srgbClr val="1F2328"/>
                </a:solidFill>
              </a:rPr>
              <a:t>Untuk Rp50.000, Rp99.000, dan Rp150.000, kode yang benar dan kode yang keliru memberi hasil yang </a:t>
            </a:r>
            <a:r>
              <a:rPr lang="id-ID" altLang="en-US" sz="2000" b="1" dirty="0">
                <a:solidFill>
                  <a:srgbClr val="1F2328"/>
                </a:solidFill>
              </a:rPr>
              <a:t>sama</a:t>
            </a:r>
            <a:r>
              <a:rPr lang="id-ID" altLang="en-US" sz="2000" dirty="0">
                <a:solidFill>
                  <a:srgbClr val="1F2328"/>
                </a:solidFill>
              </a:rPr>
              <a:t> sehingga </a:t>
            </a:r>
            <a:r>
              <a:rPr lang="id-ID" altLang="en-US" sz="2000" i="1" dirty="0">
                <a:solidFill>
                  <a:srgbClr val="1F2328"/>
                </a:solidFill>
              </a:rPr>
              <a:t>test</a:t>
            </a:r>
            <a:r>
              <a:rPr lang="id-ID" altLang="en-US" sz="2000" dirty="0">
                <a:solidFill>
                  <a:srgbClr val="1F2328"/>
                </a:solidFill>
              </a:rPr>
              <a:t>-nya tetap lulus. Hanya di </a:t>
            </a:r>
            <a:r>
              <a:rPr lang="id-ID" altLang="en-US" sz="2000" b="1" dirty="0">
                <a:solidFill>
                  <a:srgbClr val="1F2328"/>
                </a:solidFill>
              </a:rPr>
              <a:t>batas</a:t>
            </a:r>
            <a:r>
              <a:rPr lang="id-ID" altLang="en-US" sz="2000" dirty="0">
                <a:solidFill>
                  <a:srgbClr val="1F2328"/>
                </a:solidFill>
              </a:rPr>
              <a:t> (tepat Rp100.000) keduanya berbeda: kode yang keliru masih menagih ongkir. Inilah alasan kasus batas wajib diuji.</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A7F37"/>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Ringkasan</a:t>
            </a:r>
            <a:endParaRPr lang="id-ID" sz="3200" dirty="0"/>
          </a:p>
        </p:txBody>
      </p:sp>
      <p:sp>
        <p:nvSpPr>
          <p:cNvPr id="5" name="Shape 2"/>
          <p:cNvSpPr/>
          <p:nvPr/>
        </p:nvSpPr>
        <p:spPr>
          <a:xfrm>
            <a:off x="548640" y="1470787"/>
            <a:ext cx="294386" cy="294386"/>
          </a:xfrm>
          <a:prstGeom prst="ellipse">
            <a:avLst/>
          </a:prstGeom>
          <a:solidFill>
            <a:srgbClr val="1A7F37"/>
          </a:solidFill>
          <a:ln/>
        </p:spPr>
      </p:sp>
      <p:pic>
        <p:nvPicPr>
          <p:cNvPr id="6" name="Image 1" descr="preencoded.png">    </p:cNvPr>
          <p:cNvPicPr>
            <a:picLocks noChangeAspect="1"/>
          </p:cNvPicPr>
          <p:nvPr/>
        </p:nvPicPr>
        <p:blipFill>
          <a:blip r:embed="rId2"/>
          <a:stretch>
            <a:fillRect/>
          </a:stretch>
        </p:blipFill>
        <p:spPr>
          <a:xfrm>
            <a:off x="613405" y="1535552"/>
            <a:ext cx="164856" cy="164856"/>
          </a:xfrm>
          <a:prstGeom prst="rect">
            <a:avLst/>
          </a:prstGeom>
        </p:spPr>
      </p:pic>
      <p:sp>
        <p:nvSpPr>
          <p:cNvPr id="7" name="Text 3"/>
          <p:cNvSpPr txBox="1"/>
          <p:nvPr/>
        </p:nvSpPr>
        <p:spPr>
          <a:xfrm>
            <a:off x="1051560" y="1463040"/>
            <a:ext cx="10591495" cy="665480"/>
          </a:xfrm>
          <a:prstGeom prst="rect">
            <a:avLst/>
          </a:prstGeom>
          <a:noFill/>
          <a:ln/>
        </p:spPr>
        <p:txBody>
          <a:bodyPr wrap="square" lIns="0" tIns="0" rIns="0" bIns="0" rtlCol="0" anchor="t"/>
          <a:lstStyle/>
          <a:p>
            <a:pPr indent="0" marL="0">
              <a:buNone/>
            </a:pPr>
            <a:r>
              <a:rPr lang="id-ID" altLang="en-US" sz="2000" dirty="0">
                <a:solidFill>
                  <a:srgbClr val="1F2328"/>
                </a:solidFill>
              </a:rPr>
              <a:t>Aplikasi dibangun dengan alur berulang: </a:t>
            </a:r>
            <a:r>
              <a:rPr lang="id-ID" altLang="en-US" sz="2000" b="1" dirty="0">
                <a:solidFill>
                  <a:srgbClr val="1F2328"/>
                </a:solidFill>
              </a:rPr>
              <a:t>kebutuhan → rancangan UML → implementasi → pengujian</a:t>
            </a:r>
            <a:r>
              <a:rPr lang="id-ID" altLang="en-US" sz="2000" dirty="0">
                <a:solidFill>
                  <a:srgbClr val="1F2328"/>
                </a:solidFill>
              </a:rPr>
              <a:t>.</a:t>
            </a:r>
            <a:endParaRPr lang="id-ID" sz="2000" dirty="0"/>
          </a:p>
        </p:txBody>
      </p:sp>
      <p:sp>
        <p:nvSpPr>
          <p:cNvPr id="8" name="Shape 4"/>
          <p:cNvSpPr/>
          <p:nvPr/>
        </p:nvSpPr>
        <p:spPr>
          <a:xfrm>
            <a:off x="548640" y="2291715"/>
            <a:ext cx="294386" cy="294386"/>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613405" y="2356480"/>
            <a:ext cx="164856" cy="164856"/>
          </a:xfrm>
          <a:prstGeom prst="rect">
            <a:avLst/>
          </a:prstGeom>
        </p:spPr>
      </p:pic>
      <p:sp>
        <p:nvSpPr>
          <p:cNvPr id="10" name="Text 5"/>
          <p:cNvSpPr txBox="1"/>
          <p:nvPr/>
        </p:nvSpPr>
        <p:spPr>
          <a:xfrm>
            <a:off x="1051560" y="2283968"/>
            <a:ext cx="10591495" cy="665480"/>
          </a:xfrm>
          <a:prstGeom prst="rect">
            <a:avLst/>
          </a:prstGeom>
          <a:noFill/>
          <a:ln/>
        </p:spPr>
        <p:txBody>
          <a:bodyPr wrap="square" lIns="0" tIns="0" rIns="0" bIns="0" rtlCol="0" anchor="t"/>
          <a:lstStyle/>
          <a:p>
            <a:pPr indent="0" marL="0">
              <a:buNone/>
            </a:pPr>
            <a:r>
              <a:rPr lang="id-ID" altLang="en-US" sz="2000" b="1" dirty="0">
                <a:solidFill>
                  <a:srgbClr val="1F2328"/>
                </a:solidFill>
              </a:rPr>
              <a:t>Arsitektur berlapis</a:t>
            </a:r>
            <a:r>
              <a:rPr lang="id-ID" altLang="en-US" sz="2000" dirty="0">
                <a:solidFill>
                  <a:srgbClr val="1F2328"/>
                </a:solidFill>
              </a:rPr>
              <a:t>: tampilan, layanan, model, penyimpanan. Lapisan atas memakai lapisan bawah, tidak sebaliknya.</a:t>
            </a:r>
            <a:endParaRPr lang="id-ID" sz="2000" dirty="0"/>
          </a:p>
        </p:txBody>
      </p:sp>
      <p:sp>
        <p:nvSpPr>
          <p:cNvPr id="11" name="Shape 6"/>
          <p:cNvSpPr/>
          <p:nvPr/>
        </p:nvSpPr>
        <p:spPr>
          <a:xfrm>
            <a:off x="548640" y="3112643"/>
            <a:ext cx="294386" cy="294386"/>
          </a:xfrm>
          <a:prstGeom prst="ellipse">
            <a:avLst/>
          </a:prstGeom>
          <a:solidFill>
            <a:srgbClr val="1A7F37"/>
          </a:solidFill>
          <a:ln/>
        </p:spPr>
      </p:sp>
      <p:pic>
        <p:nvPicPr>
          <p:cNvPr id="12" name="Image 3" descr="preencoded.png">    </p:cNvPr>
          <p:cNvPicPr>
            <a:picLocks noChangeAspect="1"/>
          </p:cNvPicPr>
          <p:nvPr/>
        </p:nvPicPr>
        <p:blipFill>
          <a:blip r:embed="rId4"/>
          <a:stretch>
            <a:fillRect/>
          </a:stretch>
        </p:blipFill>
        <p:spPr>
          <a:xfrm>
            <a:off x="613405" y="3177408"/>
            <a:ext cx="164856" cy="164856"/>
          </a:xfrm>
          <a:prstGeom prst="rect">
            <a:avLst/>
          </a:prstGeom>
        </p:spPr>
      </p:pic>
      <p:sp>
        <p:nvSpPr>
          <p:cNvPr id="13" name="Text 7"/>
          <p:cNvSpPr txBox="1"/>
          <p:nvPr/>
        </p:nvSpPr>
        <p:spPr>
          <a:xfrm>
            <a:off x="1051560" y="3104896"/>
            <a:ext cx="10591495" cy="665480"/>
          </a:xfrm>
          <a:prstGeom prst="rect">
            <a:avLst/>
          </a:prstGeom>
          <a:noFill/>
          <a:ln/>
        </p:spPr>
        <p:txBody>
          <a:bodyPr wrap="square" lIns="0" tIns="0" rIns="0" bIns="0" rtlCol="0" anchor="t"/>
          <a:lstStyle/>
          <a:p>
            <a:pPr indent="0" marL="0">
              <a:buNone/>
            </a:pPr>
            <a:r>
              <a:rPr lang="id-ID" altLang="en-US" sz="2000" b="1" dirty="0">
                <a:solidFill>
                  <a:srgbClr val="1F2328"/>
                </a:solidFill>
              </a:rPr>
              <a:t>Modul</a:t>
            </a:r>
            <a:r>
              <a:rPr lang="id-ID" altLang="en-US" sz="2000" dirty="0">
                <a:solidFill>
                  <a:srgbClr val="1F2328"/>
                </a:solidFill>
              </a:rPr>
              <a:t> adalah satu </a:t>
            </a:r>
            <a:r>
              <a:rPr lang="id-ID" altLang="en-US" sz="2000" i="1" dirty="0">
                <a:solidFill>
                  <a:srgbClr val="1F2328"/>
                </a:solidFill>
              </a:rPr>
              <a:t>file</a:t>
            </a:r>
            <a:r>
              <a:rPr lang="id-ID" altLang="en-US" sz="2000" dirty="0">
                <a:solidFill>
                  <a:srgbClr val="1F2328"/>
                </a:solidFill>
              </a:rPr>
              <a:t> kode; </a:t>
            </a:r>
            <a:r>
              <a:rPr lang="id-ID" altLang="en-US" sz="2000" b="1" i="1" dirty="0">
                <a:solidFill>
                  <a:srgbClr val="1F2328"/>
                </a:solidFill>
              </a:rPr>
              <a:t>package</a:t>
            </a:r>
            <a:r>
              <a:rPr lang="id-ID" altLang="en-US" sz="2000" dirty="0">
                <a:solidFill>
                  <a:srgbClr val="1F2328"/>
                </a:solidFill>
              </a:rPr>
              <a:t> mengelompokkannya dan memberi nama lengkap seperti </a:t>
            </a:r>
            <a:r>
              <a:rPr lang="id-ID" altLang="en-US" sz="2000" dirty="0">
                <a:solidFill>
                  <a:srgbClr val="1F2328"/>
                </a:solidFill>
                <a:latin typeface="Consolas" pitchFamily="34" charset="0"/>
                <a:ea typeface="Consolas" pitchFamily="34" charset="-122"/>
                <a:cs typeface="Consolas" pitchFamily="34" charset="-120"/>
              </a:rPr>
              <a:t>kedaikita.Menu</a:t>
            </a:r>
            <a:r>
              <a:rPr lang="id-ID" altLang="en-US" sz="2000" dirty="0">
                <a:solidFill>
                  <a:srgbClr val="1F2328"/>
                </a:solidFill>
              </a:rPr>
              <a:t>.</a:t>
            </a:r>
            <a:endParaRPr lang="id-ID" sz="2000" dirty="0"/>
          </a:p>
        </p:txBody>
      </p:sp>
      <p:sp>
        <p:nvSpPr>
          <p:cNvPr id="14" name="Shape 8"/>
          <p:cNvSpPr/>
          <p:nvPr/>
        </p:nvSpPr>
        <p:spPr>
          <a:xfrm>
            <a:off x="548640" y="3933571"/>
            <a:ext cx="294386" cy="294386"/>
          </a:xfrm>
          <a:prstGeom prst="ellipse">
            <a:avLst/>
          </a:prstGeom>
          <a:solidFill>
            <a:srgbClr val="1A7F37"/>
          </a:solidFill>
          <a:ln/>
        </p:spPr>
      </p:sp>
      <p:pic>
        <p:nvPicPr>
          <p:cNvPr id="15" name="Image 4" descr="preencoded.png">    </p:cNvPr>
          <p:cNvPicPr>
            <a:picLocks noChangeAspect="1"/>
          </p:cNvPicPr>
          <p:nvPr/>
        </p:nvPicPr>
        <p:blipFill>
          <a:blip r:embed="rId5"/>
          <a:stretch>
            <a:fillRect/>
          </a:stretch>
        </p:blipFill>
        <p:spPr>
          <a:xfrm>
            <a:off x="613405" y="3998336"/>
            <a:ext cx="164856" cy="164856"/>
          </a:xfrm>
          <a:prstGeom prst="rect">
            <a:avLst/>
          </a:prstGeom>
        </p:spPr>
      </p:pic>
      <p:sp>
        <p:nvSpPr>
          <p:cNvPr id="16" name="Text 9"/>
          <p:cNvSpPr txBox="1"/>
          <p:nvPr/>
        </p:nvSpPr>
        <p:spPr>
          <a:xfrm>
            <a:off x="1051560" y="3925824"/>
            <a:ext cx="10591495" cy="355600"/>
          </a:xfrm>
          <a:prstGeom prst="rect">
            <a:avLst/>
          </a:prstGeom>
          <a:noFill/>
          <a:ln/>
        </p:spPr>
        <p:txBody>
          <a:bodyPr wrap="square" lIns="0" tIns="0" rIns="0" bIns="0" rtlCol="0" anchor="t"/>
          <a:lstStyle/>
          <a:p>
            <a:pPr indent="0" marL="0">
              <a:buNone/>
            </a:pPr>
            <a:r>
              <a:rPr lang="id-ID" altLang="en-US" sz="2000" b="1" dirty="0">
                <a:solidFill>
                  <a:srgbClr val="1F2328"/>
                </a:solidFill>
              </a:rPr>
              <a:t>Persistensi</a:t>
            </a:r>
            <a:r>
              <a:rPr lang="id-ID" altLang="en-US" sz="2000" dirty="0">
                <a:solidFill>
                  <a:srgbClr val="1F2328"/>
                </a:solidFill>
              </a:rPr>
              <a:t> dengan CSV bertitik koma dan UTF-⁠8; </a:t>
            </a:r>
            <a:r>
              <a:rPr lang="id-ID" altLang="en-US" sz="2000" i="1" dirty="0">
                <a:solidFill>
                  <a:srgbClr val="1F2328"/>
                </a:solidFill>
              </a:rPr>
              <a:t>file</a:t>
            </a:r>
            <a:r>
              <a:rPr lang="id-ID" altLang="en-US" sz="2000" dirty="0">
                <a:solidFill>
                  <a:srgbClr val="1F2328"/>
                </a:solidFill>
              </a:rPr>
              <a:t> rusak dilaporkan lengkap dengan nomor baris.</a:t>
            </a:r>
            <a:endParaRPr lang="id-ID" sz="2000" dirty="0"/>
          </a:p>
        </p:txBody>
      </p:sp>
      <p:sp>
        <p:nvSpPr>
          <p:cNvPr id="17" name="Shape 10"/>
          <p:cNvSpPr/>
          <p:nvPr/>
        </p:nvSpPr>
        <p:spPr>
          <a:xfrm>
            <a:off x="548640" y="4444619"/>
            <a:ext cx="294386" cy="294386"/>
          </a:xfrm>
          <a:prstGeom prst="ellipse">
            <a:avLst/>
          </a:prstGeom>
          <a:solidFill>
            <a:srgbClr val="1A7F37"/>
          </a:solidFill>
          <a:ln/>
        </p:spPr>
      </p:sp>
      <p:pic>
        <p:nvPicPr>
          <p:cNvPr id="18" name="Image 5" descr="preencoded.png">    </p:cNvPr>
          <p:cNvPicPr>
            <a:picLocks noChangeAspect="1"/>
          </p:cNvPicPr>
          <p:nvPr/>
        </p:nvPicPr>
        <p:blipFill>
          <a:blip r:embed="rId6"/>
          <a:stretch>
            <a:fillRect/>
          </a:stretch>
        </p:blipFill>
        <p:spPr>
          <a:xfrm>
            <a:off x="613405" y="4509384"/>
            <a:ext cx="164856" cy="164856"/>
          </a:xfrm>
          <a:prstGeom prst="rect">
            <a:avLst/>
          </a:prstGeom>
        </p:spPr>
      </p:pic>
      <p:sp>
        <p:nvSpPr>
          <p:cNvPr id="19" name="Text 11"/>
          <p:cNvSpPr txBox="1"/>
          <p:nvPr/>
        </p:nvSpPr>
        <p:spPr>
          <a:xfrm>
            <a:off x="1051560" y="4436872"/>
            <a:ext cx="10591495" cy="355600"/>
          </a:xfrm>
          <a:prstGeom prst="rect">
            <a:avLst/>
          </a:prstGeom>
          <a:noFill/>
          <a:ln/>
        </p:spPr>
        <p:txBody>
          <a:bodyPr wrap="square" lIns="0" tIns="0" rIns="0" bIns="0" rtlCol="0" anchor="t"/>
          <a:lstStyle/>
          <a:p>
            <a:pPr indent="0" marL="0">
              <a:buNone/>
            </a:pPr>
            <a:r>
              <a:rPr lang="id-ID" altLang="en-US" sz="2000" dirty="0">
                <a:solidFill>
                  <a:srgbClr val="1F2328"/>
                </a:solidFill>
                <a:latin typeface="Consolas" pitchFamily="34" charset="0"/>
                <a:ea typeface="Consolas" pitchFamily="34" charset="-122"/>
                <a:cs typeface="Consolas" pitchFamily="34" charset="-120"/>
              </a:rPr>
              <a:t>with</a:t>
            </a:r>
            <a:r>
              <a:rPr lang="id-ID" altLang="en-US" sz="2000" dirty="0">
                <a:solidFill>
                  <a:srgbClr val="1F2328"/>
                </a:solidFill>
              </a:rPr>
              <a:t> (Python) dan </a:t>
            </a:r>
            <a:r>
              <a:rPr lang="id-ID" altLang="en-US" sz="2000" i="1" dirty="0">
                <a:solidFill>
                  <a:srgbClr val="1F2328"/>
                </a:solidFill>
              </a:rPr>
              <a:t>try-⁠with-⁠resources</a:t>
            </a:r>
            <a:r>
              <a:rPr lang="id-ID" altLang="en-US" sz="2000" dirty="0">
                <a:solidFill>
                  <a:srgbClr val="1F2328"/>
                </a:solidFill>
              </a:rPr>
              <a:t> (Java) menjamin </a:t>
            </a:r>
            <a:r>
              <a:rPr lang="id-ID" altLang="en-US" sz="2000" i="1" dirty="0">
                <a:solidFill>
                  <a:srgbClr val="1F2328"/>
                </a:solidFill>
              </a:rPr>
              <a:t>file</a:t>
            </a:r>
            <a:r>
              <a:rPr lang="id-ID" altLang="en-US" sz="2000" dirty="0">
                <a:solidFill>
                  <a:srgbClr val="1F2328"/>
                </a:solidFill>
              </a:rPr>
              <a:t> selalu ditutup.</a:t>
            </a:r>
            <a:endParaRPr lang="id-ID" sz="2000" dirty="0"/>
          </a:p>
        </p:txBody>
      </p:sp>
      <p:sp>
        <p:nvSpPr>
          <p:cNvPr id="20" name="Shape 12"/>
          <p:cNvSpPr/>
          <p:nvPr/>
        </p:nvSpPr>
        <p:spPr>
          <a:xfrm>
            <a:off x="548640" y="4955667"/>
            <a:ext cx="294386" cy="294386"/>
          </a:xfrm>
          <a:prstGeom prst="ellipse">
            <a:avLst/>
          </a:prstGeom>
          <a:solidFill>
            <a:srgbClr val="1A7F37"/>
          </a:solidFill>
          <a:ln/>
        </p:spPr>
      </p:sp>
      <p:pic>
        <p:nvPicPr>
          <p:cNvPr id="21" name="Image 6" descr="preencoded.png">    </p:cNvPr>
          <p:cNvPicPr>
            <a:picLocks noChangeAspect="1"/>
          </p:cNvPicPr>
          <p:nvPr/>
        </p:nvPicPr>
        <p:blipFill>
          <a:blip r:embed="rId7"/>
          <a:stretch>
            <a:fillRect/>
          </a:stretch>
        </p:blipFill>
        <p:spPr>
          <a:xfrm>
            <a:off x="613405" y="5020432"/>
            <a:ext cx="164856" cy="164856"/>
          </a:xfrm>
          <a:prstGeom prst="rect">
            <a:avLst/>
          </a:prstGeom>
        </p:spPr>
      </p:pic>
      <p:sp>
        <p:nvSpPr>
          <p:cNvPr id="22" name="Text 13"/>
          <p:cNvSpPr txBox="1"/>
          <p:nvPr/>
        </p:nvSpPr>
        <p:spPr>
          <a:xfrm>
            <a:off x="1051560" y="4947920"/>
            <a:ext cx="10591495" cy="355600"/>
          </a:xfrm>
          <a:prstGeom prst="rect">
            <a:avLst/>
          </a:prstGeom>
          <a:noFill/>
          <a:ln/>
        </p:spPr>
        <p:txBody>
          <a:bodyPr wrap="square" lIns="0" tIns="0" rIns="0" bIns="0" rtlCol="0" anchor="t"/>
          <a:lstStyle/>
          <a:p>
            <a:pPr indent="0" marL="0">
              <a:buNone/>
            </a:pPr>
            <a:r>
              <a:rPr lang="id-ID" altLang="en-US" sz="2000" b="1" i="1" dirty="0">
                <a:solidFill>
                  <a:srgbClr val="1F2328"/>
                </a:solidFill>
              </a:rPr>
              <a:t>Observer</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PencatatTransaksiCSV</a:t>
            </a:r>
            <a:r>
              <a:rPr lang="id-ID" altLang="en-US" sz="2000" dirty="0">
                <a:solidFill>
                  <a:srgbClr val="1F2328"/>
                </a:solidFill>
              </a:rPr>
              <a:t> mencatat pesanan LUNAS tanpa mengubah kelas </a:t>
            </a:r>
            <a:r>
              <a:rPr lang="id-ID" altLang="en-US" sz="2000" dirty="0">
                <a:solidFill>
                  <a:srgbClr val="1F2328"/>
                </a:solidFill>
                <a:latin typeface="Consolas" pitchFamily="34" charset="0"/>
                <a:ea typeface="Consolas" pitchFamily="34" charset="-122"/>
                <a:cs typeface="Consolas" pitchFamily="34" charset="-120"/>
              </a:rPr>
              <a:t>Pesanan</a:t>
            </a:r>
            <a:r>
              <a:rPr lang="id-ID" altLang="en-US" sz="2000" dirty="0">
                <a:solidFill>
                  <a:srgbClr val="1F2328"/>
                </a:solidFill>
              </a:rPr>
              <a:t>.</a:t>
            </a:r>
            <a:endParaRPr lang="id-ID" sz="2000" dirty="0"/>
          </a:p>
        </p:txBody>
      </p:sp>
      <p:sp>
        <p:nvSpPr>
          <p:cNvPr id="23" name="Shape 14"/>
          <p:cNvSpPr/>
          <p:nvPr/>
        </p:nvSpPr>
        <p:spPr>
          <a:xfrm>
            <a:off x="548640" y="5466715"/>
            <a:ext cx="294386" cy="294386"/>
          </a:xfrm>
          <a:prstGeom prst="ellipse">
            <a:avLst/>
          </a:prstGeom>
          <a:solidFill>
            <a:srgbClr val="1A7F37"/>
          </a:solidFill>
          <a:ln/>
        </p:spPr>
      </p:sp>
      <p:pic>
        <p:nvPicPr>
          <p:cNvPr id="24" name="Image 7" descr="preencoded.png">    </p:cNvPr>
          <p:cNvPicPr>
            <a:picLocks noChangeAspect="1"/>
          </p:cNvPicPr>
          <p:nvPr/>
        </p:nvPicPr>
        <p:blipFill>
          <a:blip r:embed="rId8"/>
          <a:stretch>
            <a:fillRect/>
          </a:stretch>
        </p:blipFill>
        <p:spPr>
          <a:xfrm>
            <a:off x="613405" y="5531480"/>
            <a:ext cx="164856" cy="164856"/>
          </a:xfrm>
          <a:prstGeom prst="rect">
            <a:avLst/>
          </a:prstGeom>
        </p:spPr>
      </p:pic>
      <p:sp>
        <p:nvSpPr>
          <p:cNvPr id="25" name="Text 15"/>
          <p:cNvSpPr txBox="1"/>
          <p:nvPr/>
        </p:nvSpPr>
        <p:spPr>
          <a:xfrm>
            <a:off x="1051560" y="5458968"/>
            <a:ext cx="10591495" cy="355600"/>
          </a:xfrm>
          <a:prstGeom prst="rect">
            <a:avLst/>
          </a:prstGeom>
          <a:noFill/>
          <a:ln/>
        </p:spPr>
        <p:txBody>
          <a:bodyPr wrap="square" lIns="0" tIns="0" rIns="0" bIns="0" rtlCol="0" anchor="t"/>
          <a:lstStyle/>
          <a:p>
            <a:pPr indent="0" marL="0">
              <a:buNone/>
            </a:pPr>
            <a:r>
              <a:rPr lang="id-ID" altLang="en-US" sz="2000" i="1" dirty="0">
                <a:solidFill>
                  <a:srgbClr val="1F2328"/>
                </a:solidFill>
              </a:rPr>
              <a:t>Input</a:t>
            </a:r>
            <a:r>
              <a:rPr lang="id-ID" altLang="en-US" sz="2000" dirty="0">
                <a:solidFill>
                  <a:srgbClr val="1F2328"/>
                </a:solidFill>
              </a:rPr>
              <a:t> aman: validasi, tanya ulang, tangani EOF. </a:t>
            </a:r>
            <a:r>
              <a:rPr lang="id-ID" altLang="en-US" sz="2000" b="1" i="1" dirty="0">
                <a:solidFill>
                  <a:srgbClr val="1F2328"/>
                </a:solidFill>
              </a:rPr>
              <a:t>Unit test</a:t>
            </a:r>
            <a:r>
              <a:rPr lang="id-ID" altLang="en-US" sz="2000" dirty="0">
                <a:solidFill>
                  <a:srgbClr val="1F2328"/>
                </a:solidFill>
              </a:rPr>
              <a:t> menguji kasus normal, gagal, dan batas.</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FFFFFF"/>
                </a:solidFill>
              </a:rPr>
              <a:t>Langkah Berikutnya</a:t>
            </a:r>
            <a:endParaRPr lang="id-ID" sz="3200" dirty="0"/>
          </a:p>
        </p:txBody>
      </p:sp>
      <p:sp>
        <p:nvSpPr>
          <p:cNvPr id="5" name="Shape 2"/>
          <p:cNvSpPr/>
          <p:nvPr/>
        </p:nvSpPr>
        <p:spPr>
          <a:xfrm>
            <a:off x="603504" y="1480439"/>
            <a:ext cx="137160" cy="137160"/>
          </a:xfrm>
          <a:prstGeom prst="roundRect">
            <a:avLst>
              <a:gd name="adj" fmla="val 166667"/>
            </a:avLst>
          </a:prstGeom>
          <a:solidFill>
            <a:srgbClr val="FB8F44"/>
          </a:solidFill>
          <a:ln/>
        </p:spPr>
      </p:sp>
      <p:sp>
        <p:nvSpPr>
          <p:cNvPr id="6" name="Text 3"/>
          <p:cNvSpPr txBox="1"/>
          <p:nvPr/>
        </p:nvSpPr>
        <p:spPr>
          <a:xfrm>
            <a:off x="932688" y="1417320"/>
            <a:ext cx="7114032" cy="572516"/>
          </a:xfrm>
          <a:prstGeom prst="rect">
            <a:avLst/>
          </a:prstGeom>
          <a:noFill/>
          <a:ln/>
        </p:spPr>
        <p:txBody>
          <a:bodyPr wrap="square" lIns="0" tIns="0" rIns="0" bIns="0" rtlCol="0" anchor="t"/>
          <a:lstStyle/>
          <a:p>
            <a:pPr indent="0" marL="0">
              <a:buNone/>
            </a:pPr>
            <a:r>
              <a:rPr lang="id-ID" altLang="en-US" sz="1700" dirty="0">
                <a:solidFill>
                  <a:srgbClr val="FFFFFF"/>
                </a:solidFill>
              </a:rPr>
              <a:t>Jalankan contoh 01⁠—⁠06, mode demo, mode interaktif, dan </a:t>
            </a:r>
            <a:r>
              <a:rPr lang="id-ID" altLang="en-US" sz="1700" i="1" dirty="0">
                <a:solidFill>
                  <a:srgbClr val="FFFFFF"/>
                </a:solidFill>
              </a:rPr>
              <a:t>unit test</a:t>
            </a:r>
            <a:r>
              <a:rPr lang="id-ID" altLang="en-US" sz="1700" dirty="0">
                <a:solidFill>
                  <a:srgbClr val="FFFFFF"/>
                </a:solidFill>
              </a:rPr>
              <a:t> KedaiKita di jalur pilihanmu.</a:t>
            </a:r>
            <a:endParaRPr lang="id-ID" sz="1700" dirty="0"/>
          </a:p>
        </p:txBody>
      </p:sp>
      <p:sp>
        <p:nvSpPr>
          <p:cNvPr id="7" name="Shape 4"/>
          <p:cNvSpPr/>
          <p:nvPr/>
        </p:nvSpPr>
        <p:spPr>
          <a:xfrm>
            <a:off x="603504" y="2190115"/>
            <a:ext cx="137160" cy="137160"/>
          </a:xfrm>
          <a:prstGeom prst="roundRect">
            <a:avLst>
              <a:gd name="adj" fmla="val 166667"/>
            </a:avLst>
          </a:prstGeom>
          <a:solidFill>
            <a:srgbClr val="FB8F44"/>
          </a:solidFill>
          <a:ln/>
        </p:spPr>
      </p:sp>
      <p:sp>
        <p:nvSpPr>
          <p:cNvPr id="8" name="Text 5"/>
          <p:cNvSpPr txBox="1"/>
          <p:nvPr/>
        </p:nvSpPr>
        <p:spPr>
          <a:xfrm>
            <a:off x="932688" y="2126996"/>
            <a:ext cx="7114032" cy="572516"/>
          </a:xfrm>
          <a:prstGeom prst="rect">
            <a:avLst/>
          </a:prstGeom>
          <a:noFill/>
          <a:ln/>
        </p:spPr>
        <p:txBody>
          <a:bodyPr wrap="square" lIns="0" tIns="0" rIns="0" bIns="0" rtlCol="0" anchor="t"/>
          <a:lstStyle/>
          <a:p>
            <a:pPr indent="0" marL="0">
              <a:buNone/>
            </a:pPr>
            <a:r>
              <a:rPr lang="id-ID" altLang="en-US" sz="1700" dirty="0">
                <a:solidFill>
                  <a:srgbClr val="FFFFFF"/>
                </a:solidFill>
              </a:rPr>
              <a:t>Kerjakan latihan dan kuis 10 soal, lalu baca spesifikasi proyek akhir di </a:t>
            </a:r>
            <a:r>
              <a:rPr lang="id-ID" altLang="en-US" sz="1700" dirty="0">
                <a:solidFill>
                  <a:srgbClr val="DDF4FF"/>
                </a:solidFill>
                <a:latin typeface="Consolas" pitchFamily="34" charset="0"/>
                <a:ea typeface="Consolas" pitchFamily="34" charset="-122"/>
                <a:cs typeface="Consolas" pitchFamily="34" charset="-120"/>
              </a:rPr>
              <a:t>proyek-akhir.md</a:t>
            </a:r>
            <a:r>
              <a:rPr lang="id-ID" altLang="en-US" sz="1700" dirty="0">
                <a:solidFill>
                  <a:srgbClr val="FFFFFF"/>
                </a:solidFill>
              </a:rPr>
              <a:t>.</a:t>
            </a:r>
            <a:endParaRPr lang="id-ID" sz="1700" dirty="0"/>
          </a:p>
        </p:txBody>
      </p:sp>
      <p:sp>
        <p:nvSpPr>
          <p:cNvPr id="9" name="Shape 6"/>
          <p:cNvSpPr/>
          <p:nvPr/>
        </p:nvSpPr>
        <p:spPr>
          <a:xfrm>
            <a:off x="603504" y="2899791"/>
            <a:ext cx="137160" cy="137160"/>
          </a:xfrm>
          <a:prstGeom prst="roundRect">
            <a:avLst>
              <a:gd name="adj" fmla="val 166667"/>
            </a:avLst>
          </a:prstGeom>
          <a:solidFill>
            <a:srgbClr val="FB8F44"/>
          </a:solidFill>
          <a:ln/>
        </p:spPr>
      </p:sp>
      <p:sp>
        <p:nvSpPr>
          <p:cNvPr id="10" name="Text 7"/>
          <p:cNvSpPr txBox="1"/>
          <p:nvPr/>
        </p:nvSpPr>
        <p:spPr>
          <a:xfrm>
            <a:off x="932688" y="2836672"/>
            <a:ext cx="7114032" cy="572516"/>
          </a:xfrm>
          <a:prstGeom prst="rect">
            <a:avLst/>
          </a:prstGeom>
          <a:noFill/>
          <a:ln/>
        </p:spPr>
        <p:txBody>
          <a:bodyPr wrap="square" lIns="0" tIns="0" rIns="0" bIns="0" rtlCol="0" anchor="t"/>
          <a:lstStyle/>
          <a:p>
            <a:pPr indent="0" marL="0">
              <a:buNone/>
            </a:pPr>
            <a:r>
              <a:rPr lang="id-ID" altLang="en-US" sz="1700" dirty="0">
                <a:solidFill>
                  <a:srgbClr val="FFFFFF"/>
                </a:solidFill>
              </a:rPr>
              <a:t>Mulai tahap 1 proyek akhir: tulis kebutuhan dan rancangan di </a:t>
            </a:r>
            <a:r>
              <a:rPr lang="id-ID" altLang="en-US" sz="1700" dirty="0">
                <a:solidFill>
                  <a:srgbClr val="DDF4FF"/>
                </a:solidFill>
                <a:latin typeface="Consolas" pitchFamily="34" charset="0"/>
                <a:ea typeface="Consolas" pitchFamily="34" charset="-122"/>
                <a:cs typeface="Consolas" pitchFamily="34" charset="-120"/>
              </a:rPr>
              <a:t>RANCANGAN.md</a:t>
            </a:r>
            <a:r>
              <a:rPr lang="id-ID" altLang="en-US" sz="1700" dirty="0">
                <a:solidFill>
                  <a:srgbClr val="FFFFFF"/>
                </a:solidFill>
              </a:rPr>
              <a:t>.</a:t>
            </a:r>
            <a:endParaRPr lang="id-ID" sz="1700" dirty="0"/>
          </a:p>
        </p:txBody>
      </p:sp>
      <p:sp>
        <p:nvSpPr>
          <p:cNvPr id="11" name="Text 8"/>
          <p:cNvSpPr txBox="1"/>
          <p:nvPr/>
        </p:nvSpPr>
        <p:spPr>
          <a:xfrm>
            <a:off x="548640" y="3683508"/>
            <a:ext cx="7498080" cy="365760"/>
          </a:xfrm>
          <a:prstGeom prst="rect">
            <a:avLst/>
          </a:prstGeom>
          <a:noFill/>
          <a:ln/>
        </p:spPr>
        <p:txBody>
          <a:bodyPr wrap="square" lIns="0" tIns="0" rIns="0" bIns="0" rtlCol="0" anchor="t"/>
          <a:lstStyle/>
          <a:p>
            <a:pPr indent="0" marL="0">
              <a:buNone/>
            </a:pPr>
            <a:r>
              <a:rPr lang="id-ID" altLang="en-US" sz="1700" b="1" dirty="0">
                <a:solidFill>
                  <a:srgbClr val="C9D7E8"/>
                </a:solidFill>
              </a:rPr>
              <a:t>Buka bahan pertemuan ini di GitHub:</a:t>
            </a:r>
            <a:endParaRPr lang="id-ID" sz="1700" dirty="0"/>
          </a:p>
        </p:txBody>
      </p:sp>
      <p:sp>
        <p:nvSpPr>
          <p:cNvPr id="12" name="Shape 9"/>
          <p:cNvSpPr/>
          <p:nvPr/>
        </p:nvSpPr>
        <p:spPr>
          <a:xfrm>
            <a:off x="548640" y="4140708"/>
            <a:ext cx="2389632" cy="420624"/>
          </a:xfrm>
          <a:prstGeom prst="roundRect">
            <a:avLst>
              <a:gd name="adj" fmla="val 108696"/>
            </a:avLst>
          </a:prstGeom>
          <a:solidFill>
            <a:srgbClr val="12407F"/>
          </a:solidFill>
          <a:ln w="12700">
            <a:solidFill>
              <a:srgbClr val="2F6FB5"/>
            </a:solidFill>
            <a:prstDash val="solid"/>
          </a:ln>
        </p:spPr>
      </p:sp>
      <p:pic>
        <p:nvPicPr>
          <p:cNvPr id="13" name="Image 1" descr="preencoded.png">    </p:cNvPr>
          <p:cNvPicPr>
            <a:picLocks noChangeAspect="1"/>
          </p:cNvPicPr>
          <p:nvPr/>
        </p:nvPicPr>
        <p:blipFill>
          <a:blip r:embed="rId2"/>
          <a:stretch>
            <a:fillRect/>
          </a:stretch>
        </p:blipFill>
        <p:spPr>
          <a:xfrm>
            <a:off x="694944" y="4223004"/>
            <a:ext cx="256032" cy="256032"/>
          </a:xfrm>
          <a:prstGeom prst="rect">
            <a:avLst/>
          </a:prstGeom>
        </p:spPr>
      </p:pic>
      <p:sp>
        <p:nvSpPr>
          <p:cNvPr id="14" name="Text 10"/>
          <p:cNvSpPr txBox="1"/>
          <p:nvPr/>
        </p:nvSpPr>
        <p:spPr>
          <a:xfrm>
            <a:off x="1051560" y="4140708"/>
            <a:ext cx="1795272" cy="420624"/>
          </a:xfrm>
          <a:prstGeom prst="rect">
            <a:avLst/>
          </a:prstGeom>
          <a:noFill/>
          <a:ln/>
        </p:spPr>
        <p:txBody>
          <a:bodyPr wrap="square" lIns="0" tIns="0" rIns="0" bIns="0" rtlCol="0" anchor="ctr"/>
          <a:lstStyle/>
          <a:p>
            <a:pPr indent="0" marL="0">
              <a:buNone/>
            </a:pPr>
            <a:r>
              <a:rPr lang="id-ID" altLang="en-US" sz="1300" b="1" u="sng" dirty="0">
                <a:solidFill>
                  <a:srgbClr val="FFFFFF"/>
                </a:solidFill>
                <a:hlinkClick r:id="rId3" invalidUrl="" action="" tgtFrame="" tooltip="README.md" history="1" highlightClick="0" endSnd="0">
                  <a:extLst>
                    <a:ext uri="{A12FA001-AC4F-418D-AE19-62706E023703}">
                      <ahyp:hlinkClr xmlns:ahyp="http://schemas.microsoft.com/office/drawing/2018/hyperlinkcolor" val="tx"/>
                    </a:ext>
                  </a:extLst>
                </a:hlinkClick>
              </a:rPr>
              <a:t>Konsep</a:t>
            </a:r>
            <a:endParaRPr lang="id-ID" sz="1300" dirty="0"/>
          </a:p>
        </p:txBody>
      </p:sp>
      <p:sp>
        <p:nvSpPr>
          <p:cNvPr id="15" name="Shape 11"/>
          <p:cNvSpPr/>
          <p:nvPr/>
        </p:nvSpPr>
        <p:spPr>
          <a:xfrm>
            <a:off x="3102864" y="4140708"/>
            <a:ext cx="2389632" cy="420624"/>
          </a:xfrm>
          <a:prstGeom prst="roundRect">
            <a:avLst>
              <a:gd name="adj" fmla="val 108696"/>
            </a:avLst>
          </a:prstGeom>
          <a:solidFill>
            <a:srgbClr val="12407F"/>
          </a:solidFill>
          <a:ln w="12700">
            <a:solidFill>
              <a:srgbClr val="2F6FB5"/>
            </a:solidFill>
            <a:prstDash val="solid"/>
          </a:ln>
        </p:spPr>
      </p:sp>
      <p:pic>
        <p:nvPicPr>
          <p:cNvPr id="16" name="Image 2" descr="preencoded.png">    </p:cNvPr>
          <p:cNvPicPr>
            <a:picLocks noChangeAspect="1"/>
          </p:cNvPicPr>
          <p:nvPr/>
        </p:nvPicPr>
        <p:blipFill>
          <a:blip r:embed="rId4"/>
          <a:stretch>
            <a:fillRect/>
          </a:stretch>
        </p:blipFill>
        <p:spPr>
          <a:xfrm>
            <a:off x="3249168" y="4223004"/>
            <a:ext cx="256032" cy="256032"/>
          </a:xfrm>
          <a:prstGeom prst="rect">
            <a:avLst/>
          </a:prstGeom>
        </p:spPr>
      </p:pic>
      <p:sp>
        <p:nvSpPr>
          <p:cNvPr id="17" name="Text 12"/>
          <p:cNvSpPr txBox="1"/>
          <p:nvPr/>
        </p:nvSpPr>
        <p:spPr>
          <a:xfrm>
            <a:off x="3605784" y="4140708"/>
            <a:ext cx="1795272" cy="420624"/>
          </a:xfrm>
          <a:prstGeom prst="rect">
            <a:avLst/>
          </a:prstGeom>
          <a:noFill/>
          <a:ln/>
        </p:spPr>
        <p:txBody>
          <a:bodyPr wrap="square" lIns="0" tIns="0" rIns="0" bIns="0" rtlCol="0" anchor="ctr"/>
          <a:lstStyle/>
          <a:p>
            <a:pPr indent="0" marL="0">
              <a:buNone/>
            </a:pPr>
            <a:r>
              <a:rPr lang="id-ID" altLang="en-US" sz="1300" b="1" u="sng" dirty="0">
                <a:solidFill>
                  <a:srgbClr val="FFFFFF"/>
                </a:solidFill>
                <a:hlinkClick r:id="rId5" invalidUrl="" action="" tgtFrame="" tooltip="python/README.md" history="1" highlightClick="0" endSnd="0">
                  <a:extLst>
                    <a:ext uri="{A12FA001-AC4F-418D-AE19-62706E023703}">
                      <ahyp:hlinkClr xmlns:ahyp="http://schemas.microsoft.com/office/drawing/2018/hyperlinkcolor" val="tx"/>
                    </a:ext>
                  </a:extLst>
                </a:hlinkClick>
              </a:rPr>
              <a:t>Praktik Python</a:t>
            </a:r>
            <a:endParaRPr lang="id-ID" sz="1300" dirty="0"/>
          </a:p>
        </p:txBody>
      </p:sp>
      <p:sp>
        <p:nvSpPr>
          <p:cNvPr id="18" name="Shape 13"/>
          <p:cNvSpPr/>
          <p:nvPr/>
        </p:nvSpPr>
        <p:spPr>
          <a:xfrm>
            <a:off x="5657088" y="4140708"/>
            <a:ext cx="2389632" cy="420624"/>
          </a:xfrm>
          <a:prstGeom prst="roundRect">
            <a:avLst>
              <a:gd name="adj" fmla="val 108696"/>
            </a:avLst>
          </a:prstGeom>
          <a:solidFill>
            <a:srgbClr val="12407F"/>
          </a:solidFill>
          <a:ln w="12700">
            <a:solidFill>
              <a:srgbClr val="2F6FB5"/>
            </a:solidFill>
            <a:prstDash val="solid"/>
          </a:ln>
        </p:spPr>
      </p:sp>
      <p:pic>
        <p:nvPicPr>
          <p:cNvPr id="19" name="Image 3" descr="preencoded.png">    </p:cNvPr>
          <p:cNvPicPr>
            <a:picLocks noChangeAspect="1"/>
          </p:cNvPicPr>
          <p:nvPr/>
        </p:nvPicPr>
        <p:blipFill>
          <a:blip r:embed="rId6"/>
          <a:stretch>
            <a:fillRect/>
          </a:stretch>
        </p:blipFill>
        <p:spPr>
          <a:xfrm>
            <a:off x="5803392" y="4223004"/>
            <a:ext cx="256032" cy="256032"/>
          </a:xfrm>
          <a:prstGeom prst="rect">
            <a:avLst/>
          </a:prstGeom>
        </p:spPr>
      </p:pic>
      <p:sp>
        <p:nvSpPr>
          <p:cNvPr id="20" name="Text 14"/>
          <p:cNvSpPr txBox="1"/>
          <p:nvPr/>
        </p:nvSpPr>
        <p:spPr>
          <a:xfrm>
            <a:off x="6160008" y="4140708"/>
            <a:ext cx="1795272" cy="420624"/>
          </a:xfrm>
          <a:prstGeom prst="rect">
            <a:avLst/>
          </a:prstGeom>
          <a:noFill/>
          <a:ln/>
        </p:spPr>
        <p:txBody>
          <a:bodyPr wrap="square" lIns="0" tIns="0" rIns="0" bIns="0" rtlCol="0" anchor="ctr"/>
          <a:lstStyle/>
          <a:p>
            <a:pPr indent="0" marL="0">
              <a:buNone/>
            </a:pPr>
            <a:r>
              <a:rPr lang="id-ID" altLang="en-US" sz="1300" b="1" u="sng" dirty="0">
                <a:solidFill>
                  <a:srgbClr val="FFFFFF"/>
                </a:solidFill>
                <a:hlinkClick r:id="rId7" invalidUrl="" action="" tgtFrame="" tooltip="java/README.md" history="1" highlightClick="0" endSnd="0">
                  <a:extLst>
                    <a:ext uri="{A12FA001-AC4F-418D-AE19-62706E023703}">
                      <ahyp:hlinkClr xmlns:ahyp="http://schemas.microsoft.com/office/drawing/2018/hyperlinkcolor" val="tx"/>
                    </a:ext>
                  </a:extLst>
                </a:hlinkClick>
              </a:rPr>
              <a:t>Praktik Java</a:t>
            </a:r>
            <a:endParaRPr lang="id-ID" sz="1300" dirty="0"/>
          </a:p>
        </p:txBody>
      </p:sp>
      <p:sp>
        <p:nvSpPr>
          <p:cNvPr id="21" name="Shape 15"/>
          <p:cNvSpPr/>
          <p:nvPr/>
        </p:nvSpPr>
        <p:spPr>
          <a:xfrm>
            <a:off x="548640" y="4689348"/>
            <a:ext cx="2389632" cy="420624"/>
          </a:xfrm>
          <a:prstGeom prst="roundRect">
            <a:avLst>
              <a:gd name="adj" fmla="val 108696"/>
            </a:avLst>
          </a:prstGeom>
          <a:solidFill>
            <a:srgbClr val="12407F"/>
          </a:solidFill>
          <a:ln w="12700">
            <a:solidFill>
              <a:srgbClr val="2F6FB5"/>
            </a:solidFill>
            <a:prstDash val="solid"/>
          </a:ln>
        </p:spPr>
      </p:sp>
      <p:pic>
        <p:nvPicPr>
          <p:cNvPr id="22" name="Image 4" descr="preencoded.png">    </p:cNvPr>
          <p:cNvPicPr>
            <a:picLocks noChangeAspect="1"/>
          </p:cNvPicPr>
          <p:nvPr/>
        </p:nvPicPr>
        <p:blipFill>
          <a:blip r:embed="rId8"/>
          <a:stretch>
            <a:fillRect/>
          </a:stretch>
        </p:blipFill>
        <p:spPr>
          <a:xfrm>
            <a:off x="694944" y="4771644"/>
            <a:ext cx="256032" cy="256032"/>
          </a:xfrm>
          <a:prstGeom prst="rect">
            <a:avLst/>
          </a:prstGeom>
        </p:spPr>
      </p:pic>
      <p:sp>
        <p:nvSpPr>
          <p:cNvPr id="23" name="Text 16"/>
          <p:cNvSpPr txBox="1"/>
          <p:nvPr/>
        </p:nvSpPr>
        <p:spPr>
          <a:xfrm>
            <a:off x="1051560" y="4689348"/>
            <a:ext cx="1795272" cy="420624"/>
          </a:xfrm>
          <a:prstGeom prst="rect">
            <a:avLst/>
          </a:prstGeom>
          <a:noFill/>
          <a:ln/>
        </p:spPr>
        <p:txBody>
          <a:bodyPr wrap="square" lIns="0" tIns="0" rIns="0" bIns="0" rtlCol="0" anchor="ctr"/>
          <a:lstStyle/>
          <a:p>
            <a:pPr indent="0" marL="0">
              <a:buNone/>
            </a:pPr>
            <a:r>
              <a:rPr lang="id-ID" altLang="en-US" sz="1300" b="1" u="sng" dirty="0">
                <a:solidFill>
                  <a:srgbClr val="FFFFFF"/>
                </a:solidFill>
                <a:hlinkClick r:id="rId9" invalidUrl="" action="" tgtFrame="" tooltip="jembatan-python-java.md" history="1" highlightClick="0" endSnd="0">
                  <a:extLst>
                    <a:ext uri="{A12FA001-AC4F-418D-AE19-62706E023703}">
                      <ahyp:hlinkClr xmlns:ahyp="http://schemas.microsoft.com/office/drawing/2018/hyperlinkcolor" val="tx"/>
                    </a:ext>
                  </a:extLst>
                </a:hlinkClick>
              </a:rPr>
              <a:t>Jembatan Python ↔ Java</a:t>
            </a:r>
            <a:endParaRPr lang="id-ID" sz="1300" dirty="0"/>
          </a:p>
        </p:txBody>
      </p:sp>
      <p:sp>
        <p:nvSpPr>
          <p:cNvPr id="24" name="Shape 17"/>
          <p:cNvSpPr/>
          <p:nvPr/>
        </p:nvSpPr>
        <p:spPr>
          <a:xfrm>
            <a:off x="3102864" y="4689348"/>
            <a:ext cx="2389632" cy="420624"/>
          </a:xfrm>
          <a:prstGeom prst="roundRect">
            <a:avLst>
              <a:gd name="adj" fmla="val 108696"/>
            </a:avLst>
          </a:prstGeom>
          <a:solidFill>
            <a:srgbClr val="12407F"/>
          </a:solidFill>
          <a:ln w="12700">
            <a:solidFill>
              <a:srgbClr val="2F6FB5"/>
            </a:solidFill>
            <a:prstDash val="solid"/>
          </a:ln>
        </p:spPr>
      </p:sp>
      <p:pic>
        <p:nvPicPr>
          <p:cNvPr id="25" name="Image 5" descr="preencoded.png">    </p:cNvPr>
          <p:cNvPicPr>
            <a:picLocks noChangeAspect="1"/>
          </p:cNvPicPr>
          <p:nvPr/>
        </p:nvPicPr>
        <p:blipFill>
          <a:blip r:embed="rId10"/>
          <a:stretch>
            <a:fillRect/>
          </a:stretch>
        </p:blipFill>
        <p:spPr>
          <a:xfrm>
            <a:off x="3249168" y="4771644"/>
            <a:ext cx="256032" cy="256032"/>
          </a:xfrm>
          <a:prstGeom prst="rect">
            <a:avLst/>
          </a:prstGeom>
        </p:spPr>
      </p:pic>
      <p:sp>
        <p:nvSpPr>
          <p:cNvPr id="26" name="Text 18"/>
          <p:cNvSpPr txBox="1"/>
          <p:nvPr/>
        </p:nvSpPr>
        <p:spPr>
          <a:xfrm>
            <a:off x="3605784" y="4689348"/>
            <a:ext cx="1795272" cy="420624"/>
          </a:xfrm>
          <a:prstGeom prst="rect">
            <a:avLst/>
          </a:prstGeom>
          <a:noFill/>
          <a:ln/>
        </p:spPr>
        <p:txBody>
          <a:bodyPr wrap="square" lIns="0" tIns="0" rIns="0" bIns="0" rtlCol="0" anchor="ctr"/>
          <a:lstStyle/>
          <a:p>
            <a:pPr indent="0" marL="0">
              <a:buNone/>
            </a:pPr>
            <a:r>
              <a:rPr lang="id-ID" altLang="en-US" sz="1300" b="1" u="sng" dirty="0">
                <a:solidFill>
                  <a:srgbClr val="FFFFFF"/>
                </a:solidFill>
                <a:hlinkClick r:id="rId11" invalidUrl="" action="" tgtFrame="" tooltip="latihan.md" history="1" highlightClick="0" endSnd="0">
                  <a:extLst>
                    <a:ext uri="{A12FA001-AC4F-418D-AE19-62706E023703}">
                      <ahyp:hlinkClr xmlns:ahyp="http://schemas.microsoft.com/office/drawing/2018/hyperlinkcolor" val="tx"/>
                    </a:ext>
                  </a:extLst>
                </a:hlinkClick>
              </a:rPr>
              <a:t>Latihan</a:t>
            </a:r>
            <a:endParaRPr lang="id-ID" sz="1300" dirty="0"/>
          </a:p>
        </p:txBody>
      </p:sp>
      <p:sp>
        <p:nvSpPr>
          <p:cNvPr id="27" name="Shape 19"/>
          <p:cNvSpPr/>
          <p:nvPr/>
        </p:nvSpPr>
        <p:spPr>
          <a:xfrm>
            <a:off x="5657088" y="4689348"/>
            <a:ext cx="2389632" cy="420624"/>
          </a:xfrm>
          <a:prstGeom prst="roundRect">
            <a:avLst>
              <a:gd name="adj" fmla="val 108696"/>
            </a:avLst>
          </a:prstGeom>
          <a:solidFill>
            <a:srgbClr val="12407F"/>
          </a:solidFill>
          <a:ln w="12700">
            <a:solidFill>
              <a:srgbClr val="2F6FB5"/>
            </a:solidFill>
            <a:prstDash val="solid"/>
          </a:ln>
        </p:spPr>
      </p:sp>
      <p:pic>
        <p:nvPicPr>
          <p:cNvPr id="28" name="Image 6" descr="preencoded.png">    </p:cNvPr>
          <p:cNvPicPr>
            <a:picLocks noChangeAspect="1"/>
          </p:cNvPicPr>
          <p:nvPr/>
        </p:nvPicPr>
        <p:blipFill>
          <a:blip r:embed="rId12"/>
          <a:stretch>
            <a:fillRect/>
          </a:stretch>
        </p:blipFill>
        <p:spPr>
          <a:xfrm>
            <a:off x="5803392" y="4771644"/>
            <a:ext cx="256032" cy="256032"/>
          </a:xfrm>
          <a:prstGeom prst="rect">
            <a:avLst/>
          </a:prstGeom>
        </p:spPr>
      </p:pic>
      <p:sp>
        <p:nvSpPr>
          <p:cNvPr id="29" name="Text 20"/>
          <p:cNvSpPr txBox="1"/>
          <p:nvPr/>
        </p:nvSpPr>
        <p:spPr>
          <a:xfrm>
            <a:off x="6160008" y="4689348"/>
            <a:ext cx="1795272" cy="420624"/>
          </a:xfrm>
          <a:prstGeom prst="rect">
            <a:avLst/>
          </a:prstGeom>
          <a:noFill/>
          <a:ln/>
        </p:spPr>
        <p:txBody>
          <a:bodyPr wrap="square" lIns="0" tIns="0" rIns="0" bIns="0" rtlCol="0" anchor="ctr"/>
          <a:lstStyle/>
          <a:p>
            <a:pPr indent="0" marL="0">
              <a:buNone/>
            </a:pPr>
            <a:r>
              <a:rPr lang="id-ID" altLang="en-US" sz="1300" b="1" u="sng" dirty="0">
                <a:solidFill>
                  <a:srgbClr val="FFFFFF"/>
                </a:solidFill>
                <a:hlinkClick r:id="rId13" invalidUrl="" action="" tgtFrame="" tooltip="kuis.md" history="1" highlightClick="0" endSnd="0">
                  <a:extLst>
                    <a:ext uri="{A12FA001-AC4F-418D-AE19-62706E023703}">
                      <ahyp:hlinkClr xmlns:ahyp="http://schemas.microsoft.com/office/drawing/2018/hyperlinkcolor" val="tx"/>
                    </a:ext>
                  </a:extLst>
                </a:hlinkClick>
              </a:rPr>
              <a:t>Kuis 10 soal</a:t>
            </a:r>
            <a:endParaRPr lang="id-ID" sz="1300" dirty="0"/>
          </a:p>
        </p:txBody>
      </p:sp>
      <p:sp>
        <p:nvSpPr>
          <p:cNvPr id="30" name="Shape 21"/>
          <p:cNvSpPr/>
          <p:nvPr/>
        </p:nvSpPr>
        <p:spPr>
          <a:xfrm>
            <a:off x="548640" y="5237988"/>
            <a:ext cx="2389632" cy="420624"/>
          </a:xfrm>
          <a:prstGeom prst="roundRect">
            <a:avLst>
              <a:gd name="adj" fmla="val 108696"/>
            </a:avLst>
          </a:prstGeom>
          <a:solidFill>
            <a:srgbClr val="12407F"/>
          </a:solidFill>
          <a:ln w="12700">
            <a:solidFill>
              <a:srgbClr val="2F6FB5"/>
            </a:solidFill>
            <a:prstDash val="solid"/>
          </a:ln>
        </p:spPr>
      </p:sp>
      <p:pic>
        <p:nvPicPr>
          <p:cNvPr id="31" name="Image 7" descr="preencoded.png">    </p:cNvPr>
          <p:cNvPicPr>
            <a:picLocks noChangeAspect="1"/>
          </p:cNvPicPr>
          <p:nvPr/>
        </p:nvPicPr>
        <p:blipFill>
          <a:blip r:embed="rId14"/>
          <a:stretch>
            <a:fillRect/>
          </a:stretch>
        </p:blipFill>
        <p:spPr>
          <a:xfrm>
            <a:off x="694944" y="5320284"/>
            <a:ext cx="256032" cy="256032"/>
          </a:xfrm>
          <a:prstGeom prst="rect">
            <a:avLst/>
          </a:prstGeom>
        </p:spPr>
      </p:pic>
      <p:sp>
        <p:nvSpPr>
          <p:cNvPr id="32" name="Text 22"/>
          <p:cNvSpPr txBox="1"/>
          <p:nvPr/>
        </p:nvSpPr>
        <p:spPr>
          <a:xfrm>
            <a:off x="1051560" y="5237988"/>
            <a:ext cx="1795272" cy="420624"/>
          </a:xfrm>
          <a:prstGeom prst="rect">
            <a:avLst/>
          </a:prstGeom>
          <a:noFill/>
          <a:ln/>
        </p:spPr>
        <p:txBody>
          <a:bodyPr wrap="square" lIns="0" tIns="0" rIns="0" bIns="0" rtlCol="0" anchor="ctr"/>
          <a:lstStyle/>
          <a:p>
            <a:pPr indent="0" marL="0">
              <a:buNone/>
            </a:pPr>
            <a:r>
              <a:rPr lang="id-ID" altLang="en-US" sz="1300" b="1" u="sng" dirty="0">
                <a:solidFill>
                  <a:srgbClr val="FFFFFF"/>
                </a:solidFill>
                <a:hlinkClick r:id="rId15" invalidUrl="" action="" tgtFrame="" tooltip="proyek-akhir.md" history="1" highlightClick="0" endSnd="0">
                  <a:extLst>
                    <a:ext uri="{A12FA001-AC4F-418D-AE19-62706E023703}">
                      <ahyp:hlinkClr xmlns:ahyp="http://schemas.microsoft.com/office/drawing/2018/hyperlinkcolor" val="tx"/>
                    </a:ext>
                  </a:extLst>
                </a:hlinkClick>
              </a:rPr>
              <a:t>Proyek akhir</a:t>
            </a:r>
            <a:endParaRPr lang="id-ID" sz="1300" dirty="0"/>
          </a:p>
        </p:txBody>
      </p:sp>
      <p:sp>
        <p:nvSpPr>
          <p:cNvPr id="33" name="Shape 23"/>
          <p:cNvSpPr/>
          <p:nvPr/>
        </p:nvSpPr>
        <p:spPr>
          <a:xfrm>
            <a:off x="8503920" y="1280160"/>
            <a:ext cx="2880360" cy="2880360"/>
          </a:xfrm>
          <a:prstGeom prst="roundRect">
            <a:avLst>
              <a:gd name="adj" fmla="val 1411"/>
            </a:avLst>
          </a:prstGeom>
          <a:solidFill>
            <a:srgbClr val="FFFFFF"/>
          </a:solidFill>
          <a:ln/>
        </p:spPr>
      </p:sp>
      <p:pic>
        <p:nvPicPr>
          <p:cNvPr id="34" name="Image 8" descr="Kode QR menuju folder pertemuan di GitHub">    </p:cNvPr>
          <p:cNvPicPr>
            <a:picLocks noChangeAspect="1"/>
          </p:cNvPicPr>
          <p:nvPr/>
        </p:nvPicPr>
        <p:blipFill>
          <a:blip r:embed="rId16"/>
          <a:stretch>
            <a:fillRect/>
          </a:stretch>
        </p:blipFill>
        <p:spPr>
          <a:xfrm>
            <a:off x="8641080" y="1417320"/>
            <a:ext cx="2606040" cy="2606040"/>
          </a:xfrm>
          <a:prstGeom prst="rect">
            <a:avLst/>
          </a:prstGeom>
        </p:spPr>
      </p:pic>
      <p:sp>
        <p:nvSpPr>
          <p:cNvPr id="35" name="Text 24"/>
          <p:cNvSpPr txBox="1"/>
          <p:nvPr/>
        </p:nvSpPr>
        <p:spPr>
          <a:xfrm>
            <a:off x="8458200" y="4297680"/>
            <a:ext cx="2971800" cy="640080"/>
          </a:xfrm>
          <a:prstGeom prst="rect">
            <a:avLst/>
          </a:prstGeom>
          <a:noFill/>
          <a:ln/>
        </p:spPr>
        <p:txBody>
          <a:bodyPr wrap="square" lIns="0" tIns="0" rIns="0" bIns="0" rtlCol="0" anchor="t"/>
          <a:lstStyle/>
          <a:p>
            <a:pPr algn="ctr" indent="0" marL="0">
              <a:buNone/>
            </a:pPr>
            <a:r>
              <a:rPr lang="id-ID" altLang="en-US" sz="1400" dirty="0">
                <a:solidFill>
                  <a:srgbClr val="C9D7E8"/>
                </a:solidFill>
              </a:rPr>
              <a:t>Pindai untuk membuka folder pertemuan ini di GitHub</a:t>
            </a:r>
            <a:endParaRPr lang="id-ID" sz="1400" dirty="0"/>
          </a:p>
        </p:txBody>
      </p:sp>
      <p:sp>
        <p:nvSpPr>
          <p:cNvPr id="36" name="Text 25"/>
          <p:cNvSpPr txBox="1"/>
          <p:nvPr/>
        </p:nvSpPr>
        <p:spPr>
          <a:xfrm>
            <a:off x="548640" y="5925312"/>
            <a:ext cx="11094415" cy="320040"/>
          </a:xfrm>
          <a:prstGeom prst="rect">
            <a:avLst/>
          </a:prstGeom>
          <a:noFill/>
          <a:ln/>
        </p:spPr>
        <p:txBody>
          <a:bodyPr wrap="square" lIns="0" tIns="0" rIns="0" bIns="0" rtlCol="0" anchor="ctr"/>
          <a:lstStyle/>
          <a:p>
            <a:pPr indent="0" marL="0">
              <a:buNone/>
            </a:pPr>
            <a:r>
              <a:rPr lang="en-US" altLang="en-US" sz="1300" u="sng" dirty="0">
                <a:solidFill>
                  <a:srgbClr val="54AEFF"/>
                </a:solidFill>
                <a:hlinkClick r:id="rId17" invalidUrl="" action="" tgtFrame="" tooltip="" history="1" highlightClick="0" endSnd="0">
                  <a:extLst>
                    <a:ext uri="{A12FA001-AC4F-418D-AE19-62706E023703}">
                      <ahyp:hlinkClr xmlns:ahyp="http://schemas.microsoft.com/office/drawing/2018/hyperlinkcolor" val="tx"/>
                    </a:ext>
                  </a:extLst>
                </a:hlinkClick>
              </a:rPr>
              <a:t>github.com/antonprafanto/PBO2026/tree/master/Pertemuan-15-Proyek-Terintegrasi</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PBO 2026">
  <a:themeElements>
    <a:clrScheme name="PBO 2026">
      <a:dk1>
        <a:srgbClr val="1F2328"/>
      </a:dk1>
      <a:lt1>
        <a:srgbClr val="FFFFFF"/>
      </a:lt1>
      <a:dk2>
        <a:srgbClr val="0A3069"/>
      </a:dk2>
      <a:lt2>
        <a:srgbClr val="F6F8FA"/>
      </a:lt2>
      <a:accent1>
        <a:srgbClr val="0969DA"/>
      </a:accent1>
      <a:accent2>
        <a:srgbClr val="BC4C00"/>
      </a:accent2>
      <a:accent3>
        <a:srgbClr val="1A7F37"/>
      </a:accent3>
      <a:accent4>
        <a:srgbClr val="8250DF"/>
      </a:accent4>
      <a:accent5>
        <a:srgbClr val="CF222E"/>
      </a:accent5>
      <a:accent6>
        <a:srgbClr val="9A6700"/>
      </a:accent6>
      <a:hlink>
        <a:srgbClr val="0969DA"/>
      </a:hlink>
      <a:folHlink>
        <a:srgbClr val="8250DF"/>
      </a:folHlink>
    </a:clrScheme>
    <a:fontScheme name="PBO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Informatika Universitas Mulawarman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PBO 2026 Pertemuan 15: Proyek Terintegrasi</dc:title>
  <dc:subject>Pemrograman Berorientasi Objek 2026</dc:subject>
  <dc:creator>PBO 2026 UNMUL</dc:creator>
  <cp:lastModifiedBy>PBO 2026 UNMUL</cp:lastModifiedBy>
  <cp:revision>1</cp:revision>
  <dcterms:created xsi:type="dcterms:W3CDTF">2026-10-15T02:18:35Z</dcterms:created>
  <dcterms:modified xsi:type="dcterms:W3CDTF">2026-10-15T02:18:35Z</dcterms:modified>
</cp:coreProperties>
</file>