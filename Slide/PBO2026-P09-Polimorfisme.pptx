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9d9d0e5f-8bfc-b9fc-4a20-40f00abbb341}">
          <p14:sldIdLst>
            <p14:sldId id="256"/>
            <p14:sldId id="257"/>
            <p14:sldId id="258"/>
            <p14:sldId id="259"/>
          </p14:sldIdLst>
        </p14:section>
        <p14:section name="Satu Perintah, Banyak Bentuk" id="{f6d2283c-ec05-1bf9-1486-1425c2b22e7e}">
          <p14:sldIdLst>
            <p14:sldId id="260"/>
            <p14:sldId id="261"/>
            <p14:sldId id="262"/>
            <p14:sldId id="263"/>
          </p14:sldIdLst>
        </p14:section>
        <p14:section name="Cara Kerja: Override dan Dynamic Dispatch" id="{d1dd5e56-3762-8104-6afe-9199435db581}">
          <p14:sldIdLst>
            <p14:sldId id="264"/>
            <p14:sldId id="265"/>
            <p14:sldId id="266"/>
          </p14:sldIdLst>
        </p14:section>
        <p14:section name="Koleksi Polimorfik dan Polimorfisme dari dalam Kelas" id="{82d83f78-936c-2f0e-2062-a2a23f7f73fe}">
          <p14:sldIdLst>
            <p14:sldId id="267"/>
            <p14:sldId id="268"/>
            <p14:sldId id="269"/>
            <p14:sldId id="270"/>
          </p14:sldIdLst>
        </p14:section>
        <p14:section name="Upcasting, Downcasting, dan Duck Typing" id="{264e662f-eb41-6e7c-f3bb-9289aa55b427}">
          <p14:sldIdLst>
            <p14:sldId id="271"/>
            <p14:sldId id="272"/>
            <p14:sldId id="273"/>
            <p14:sldId id="274"/>
          </p14:sldIdLst>
        </p14:section>
        <p14:section name="Overloading: Satu Nama, Parameter Berbeda" id="{0478ee63-bad5-4a8f-6e1d-fc9a42e1f3c0}">
          <p14:sldIdLst>
            <p14:sldId id="275"/>
            <p14:sldId id="276"/>
            <p14:sldId id="277"/>
          </p14:sldIdLst>
        </p14:section>
        <p14:section name="Studi Kasus KedaiKita" id="{a73235c5-2a51-a2ea-c152-fb5256937220}">
          <p14:sldIdLst>
            <p14:sldId id="278"/>
            <p14:sldId id="279"/>
            <p14:sldId id="280"/>
            <p14:sldId id="281"/>
          </p14:sldIdLst>
        </p14:section>
        <p14:section name="Cek Pemahaman" id="{be74ed06-6a7d-8a5a-867d-8c5c7932772f}">
          <p14:sldIdLst>
            <p14:sldId id="282"/>
            <p14:sldId id="283"/>
            <p14:sldId id="284"/>
            <p14:sldId id="285"/>
            <p14:sldId id="286"/>
          </p14:sldIdLst>
        </p14:section>
        <p14:section name="Penutup" id="{fc955c06-3123-ede4-a3b8-d253acf09f3b}">
          <p14:sldIdLst>
            <p14:sldId id="287"/>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Selamat datang kembali setelah UTS. Hari ini kita mempelajari pilar ketiga PBO, yaitu polimorfisme. Dengan polimorfisme, satu perintah yang sama bisa dijalankan dengan cara berbeda oleh objek yang berbeda. Hasilnya, kode pemanggil tetap pendek dan rapi, dan jenis baru bisa ditambahkan tanpa membongkar kode lama. Di akhir pertemuan, KedaiKita akan menerima pembayaran tunai, QRIS, dan kartu kredit lewat satu </a:t>
            </a:r>
            <a:r>
              <a:rPr lang="id-ID" dirty="0" i="1"/>
              <a:t>method</a:t>
            </a:r>
            <a:r>
              <a:rPr lang="id-ID" dirty="0"/>
              <a:t> yang sama. Semua bahan ada di folder Pertemuan-09-Polimorfisme di GitHub.</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enam kemampuan yang kita kejar hari ini. Sebagian besar berpusat pada satu ide: pemanggil cukup tahu apa yang diminta, sedangkan setiap objek tahu sendiri cara mengerjakannya. Di akhir pertemuan, cek lagi satu per satu dan coba jelaskan dengan kata-katamu sendiri. Urutan belajarnya sama seperti biasa: konsep di </a:t>
            </a:r>
            <a:r>
              <a:rPr lang="id-ID" dirty="0" i="1"/>
              <a:t>slide</a:t>
            </a:r>
            <a:r>
              <a:rPr lang="id-ID" dirty="0"/>
              <a:t> ini, praktik di halaman Python atau Java, halaman Jembatan Python ↔ Java, latihan, lalu kuis.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Pertemuan 08 adalah UTS, jadi materi terakhir kita ada di Pertemuan 07 tentang pewarisan. Ingat studi kasus saat itu: </a:t>
            </a:r>
            <a:r>
              <a:rPr lang="id-ID" dirty="0" i="1"/>
              <a:t>method</a:t>
            </a:r>
            <a:r>
              <a:rPr lang="id-ID" dirty="0"/>
              <a:t> yang menampilkan menu kedai hanya mencetak menu tanpa tahu jenisnya, tetapi makanan tampil dengan level pedas dan minuman tampil dengan suhu. Penjelasannya sengaja kita tunda sampai hari ini, dan jawabannya adalah polimorfisme. Kita juga pernah bertemu nilai bawaan di Python dan </a:t>
            </a:r>
            <a:r>
              <a:rPr lang="id-ID" dirty="0" i="1"/>
              <a:t>overloading</a:t>
            </a:r>
            <a:r>
              <a:rPr lang="id-ID" dirty="0"/>
              <a:t> konstruktor di Java pada Pertemuan 03. Hari ini keduanya dibahas tuntas.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alur kita hari ini. Kita mulai dari masalah kasir yang harus menerima banyak cara bayar, lalu mengenal polimorfisme lewat tombol Bayar di aplikasi. Setelah itu kita bedah cara kerjanya, memakainya untuk koleksi berisi bermacam objek, lalu membahas </a:t>
            </a:r>
            <a:r>
              <a:rPr lang="id-ID" dirty="0" i="1"/>
              <a:t>casting</a:t>
            </a:r>
            <a:r>
              <a:rPr lang="id-ID" dirty="0"/>
              <a:t>, </a:t>
            </a:r>
            <a:r>
              <a:rPr lang="id-ID" dirty="0" i="1"/>
              <a:t>duck typing</a:t>
            </a:r>
            <a:r>
              <a:rPr lang="id-ID" dirty="0"/>
              <a:t>, dan </a:t>
            </a:r>
            <a:r>
              <a:rPr lang="id-ID" dirty="0" i="1"/>
              <a:t>overloading</a:t>
            </a:r>
            <a:r>
              <a:rPr lang="id-ID" dirty="0"/>
              <a:t>. Di bagian akhir, semua ide itu dipakai di KedaiKita.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Kita mulai dari masalah nyata di KedaiKita, lalu mencari jalan keluarnya lewat analogi yang sudah sering kamu temui di ponsel.</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Pemilik KedaiKita ingin menerima tiga cara bayar: tunai dengan kembalian, QRIS yang memotong saldo </a:t>
            </a:r>
            <a:r>
              <a:rPr lang="id-ID" dirty="0" i="1"/>
              <a:t>e-wallet</a:t>
            </a:r>
            <a:r>
              <a:rPr lang="id-ID" dirty="0"/>
              <a:t>, dan kartu kredit dengan biaya layanan 2%. Cara yang paling cepat terpikir adalah satu fungsi </a:t>
            </a:r>
            <a:r>
              <a:rPr lang="en-US" dirty="0">
                <a:latin typeface="Consolas"/>
              </a:rPr>
              <a:t>bayar</a:t>
            </a:r>
            <a:r>
              <a:rPr lang="id-ID" dirty="0"/>
              <a:t> dengan percabangan: jika tunai lakukan ini, jika QRIS lakukan itu, dan seterusnya. Kodenya memang berjalan, tetapi tabel ini menunjukkan masalahnya ketika program tumbuh.</a:t>
            </a:r>
            <a:endParaRPr lang="id-ID" dirty="0"/>
          </a:p>
          <a:p>
            <a:r>
              <a:rPr lang="id-ID" dirty="0"/>
              <a:t>Pertanyaan untuk kelas: apa yang harus diubah jika besok kedai menerima </a:t>
            </a:r>
            <a:r>
              <a:rPr lang="id-ID" dirty="0" i="1"/>
              <a:t>voucher</a:t>
            </a:r>
            <a:r>
              <a:rPr lang="id-ID" dirty="0"/>
              <a:t>? Jawabannya: fungsi </a:t>
            </a:r>
            <a:r>
              <a:rPr lang="en-US" dirty="0">
                <a:latin typeface="Consolas"/>
              </a:rPr>
              <a:t>bayar</a:t>
            </a:r>
            <a:r>
              <a:rPr lang="id-ID" dirty="0"/>
              <a:t> dibongkar, begitu pula setiap tempat lain yang memeriksa jenis pembayaran.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Pikirkan tombol Bayar di aplikasi pesan-antar makanan. Kamu selalu menekan tombol yang sama, tetapi yang terjadi di baliknya berbeda-beda. Jika metodenya tunai, aplikasi memberi tahu pengemudi untuk menerima uang. Jika </a:t>
            </a:r>
            <a:r>
              <a:rPr lang="id-ID" dirty="0" i="1"/>
              <a:t>e-wallet</a:t>
            </a:r>
            <a:r>
              <a:rPr lang="id-ID" dirty="0"/>
              <a:t>, saldo dompet digitalmu langsung terpotong. Jika kartu kredit, aplikasi menghubungi bank. Tombol putar di ponselmu juga begitu: tombol yang sama bisa memutar lagu, video, atau </a:t>
            </a:r>
            <a:r>
              <a:rPr lang="id-ID" dirty="0" i="1"/>
              <a:t>podcast</a:t>
            </a:r>
            <a:r>
              <a:rPr lang="id-ID" dirty="0"/>
              <a:t>, dan setiap jenis media tahu sendiri cara memutar dirinya. Tabel di sebelah kanan menunjukkan padanannya dalam PBO.</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Kata polimorfisme berasal dari bahasa Yunani: </a:t>
            </a:r>
            <a:r>
              <a:rPr lang="id-ID" dirty="0" i="1"/>
              <a:t>poly</a:t>
            </a:r>
            <a:r>
              <a:rPr lang="id-ID" dirty="0"/>
              <a:t> berarti banyak dan </a:t>
            </a:r>
            <a:r>
              <a:rPr lang="id-ID" dirty="0" i="1"/>
              <a:t>morph</a:t>
            </a:r>
            <a:r>
              <a:rPr lang="id-ID" dirty="0"/>
              <a:t> berarti bentuk. Jadi, polimorfisme berarti banyak bentuk. Tanpa sadar, kamu sudah memakainya sejak kuliah pemrograman dasar. Untuk angka, tanda tambah berarti menjumlahkan; untuk teks, tanda tambah berarti menyambung. Di Pertemuan 07, mencetak objek </a:t>
            </a:r>
            <a:r>
              <a:rPr lang="en-US" dirty="0">
                <a:latin typeface="Consolas"/>
              </a:rPr>
              <a:t>Makanan</a:t>
            </a:r>
            <a:r>
              <a:rPr lang="id-ID" dirty="0"/>
              <a:t> dan </a:t>
            </a:r>
            <a:r>
              <a:rPr lang="en-US" dirty="0">
                <a:latin typeface="Consolas"/>
              </a:rPr>
              <a:t>Minuman</a:t>
            </a:r>
            <a:r>
              <a:rPr lang="id-ID" dirty="0"/>
              <a:t> juga menghasilkan teks yang berbeda. Kembali ke kasir: ia tidak perlu lagi bertanya jenis pembayaran. Ia cukup mengirim pesan yang sama, </a:t>
            </a:r>
            <a:r>
              <a:rPr lang="en-US" dirty="0">
                <a:latin typeface="Consolas"/>
              </a:rPr>
              <a:t>proses(total)</a:t>
            </a:r>
            <a:r>
              <a:rPr lang="id-ID" dirty="0"/>
              <a:t>, ke objek pembayaran apa pun yang diberikan pelanggan.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Polimorfisme yang paling sering dipakai berdiri di atas dua bahan. Pertama, kelas anak meng-</a:t>
            </a:r>
            <a:r>
              <a:rPr lang="id-ID" dirty="0" i="1"/>
              <a:t>override</a:t>
            </a:r>
            <a:r>
              <a:rPr lang="id-ID" dirty="0"/>
              <a:t> </a:t>
            </a:r>
            <a:r>
              <a:rPr lang="id-ID" dirty="0" i="1"/>
              <a:t>method</a:t>
            </a:r>
            <a:r>
              <a:rPr lang="id-ID" dirty="0"/>
              <a:t> induk, seperti di Pertemuan 07. Kedua, saat program berjalan, pemanggilan </a:t>
            </a:r>
            <a:r>
              <a:rPr lang="id-ID" dirty="0" i="1"/>
              <a:t>method</a:t>
            </a:r>
            <a:r>
              <a:rPr lang="id-ID" dirty="0"/>
              <a:t> memilih versi milik objek yang sebenarnya. Mekanisme kedua ini disebut </a:t>
            </a:r>
            <a:r>
              <a:rPr lang="id-ID" dirty="0" i="1"/>
              <a:t>dynamic dispatch</a:t>
            </a:r>
            <a:r>
              <a:rPr lang="id-ID" dirty="0"/>
              <a:t> atau </a:t>
            </a:r>
            <a:r>
              <a:rPr lang="id-ID" dirty="0" i="1"/>
              <a:t>late binding</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Bayangkan kardus berlabel Hewan yang ternyata berisi seekor kucing. Ketika kardus itu disuruh bersuara, yang terdengar tentu "Meong!", bukan suara hewan umum. Label kardus tidak mengubah isinya. Di kode, label kardus adalah tipe variabel, yaitu jenis yang ditulis saat variabel dideklarasikan, misalnya </a:t>
            </a:r>
            <a:r>
              <a:rPr lang="en-US" dirty="0">
                <a:latin typeface="Consolas"/>
              </a:rPr>
              <a:t>Hewan hewan</a:t>
            </a:r>
            <a:r>
              <a:rPr lang="id-ID" dirty="0"/>
              <a:t> di Java. Python tidak mewajibkan tipe variabel, tetapi idenya sama: variabel hanyalah label yang menunjuk objek. Isi kardus adalah tipe objek, yaitu kelas yang dipakai saat objek dibuat. Tipe objek melekat seumur hidup objek dan tidak pernah berubah.</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Di kedua bahasa, </a:t>
            </a:r>
            <a:r>
              <a:rPr lang="en-US" dirty="0">
                <a:latin typeface="Consolas"/>
              </a:rPr>
              <a:t>Kucing</a:t>
            </a:r>
            <a:r>
              <a:rPr lang="id-ID" dirty="0"/>
              <a:t> meng-</a:t>
            </a:r>
            <a:r>
              <a:rPr lang="id-ID" dirty="0" i="1"/>
              <a:t>override</a:t>
            </a:r>
            <a:r>
              <a:rPr lang="id-ID" dirty="0"/>
              <a:t> </a:t>
            </a:r>
            <a:r>
              <a:rPr lang="en-US" dirty="0">
                <a:latin typeface="Consolas"/>
              </a:rPr>
              <a:t>bersuara()</a:t>
            </a:r>
            <a:r>
              <a:rPr lang="id-ID" dirty="0"/>
              <a:t> milik </a:t>
            </a:r>
            <a:r>
              <a:rPr lang="en-US" dirty="0">
                <a:latin typeface="Consolas"/>
              </a:rPr>
              <a:t>Hewan</a:t>
            </a:r>
            <a:r>
              <a:rPr lang="id-ID" dirty="0"/>
              <a:t>. Di Java, variabel </a:t>
            </a:r>
            <a:r>
              <a:rPr lang="en-US" dirty="0">
                <a:latin typeface="Consolas"/>
              </a:rPr>
              <a:t>hewan</a:t>
            </a:r>
            <a:r>
              <a:rPr lang="id-ID" dirty="0"/>
              <a:t> bertipe </a:t>
            </a:r>
            <a:r>
              <a:rPr lang="en-US" dirty="0">
                <a:latin typeface="Consolas"/>
              </a:rPr>
              <a:t>Hewan</a:t>
            </a:r>
            <a:r>
              <a:rPr lang="id-ID" dirty="0"/>
              <a:t>, tetapi objeknya </a:t>
            </a:r>
            <a:r>
              <a:rPr lang="en-US" dirty="0">
                <a:latin typeface="Consolas"/>
              </a:rPr>
              <a:t>Kucing</a:t>
            </a:r>
            <a:r>
              <a:rPr lang="id-ID" dirty="0"/>
              <a:t>. Variabel itu lalu diarahkan ke objek </a:t>
            </a:r>
            <a:r>
              <a:rPr lang="en-US" dirty="0">
                <a:latin typeface="Consolas"/>
              </a:rPr>
              <a:t>Anjing</a:t>
            </a:r>
            <a:r>
              <a:rPr lang="id-ID" dirty="0"/>
              <a:t>. Baris pemanggilannya sama persis, tetapi hasilnya berbeda karena objek yang ditunjuk berbeda. Aturan emasnya: tipe variabel menentukan </a:t>
            </a:r>
            <a:r>
              <a:rPr lang="id-ID" dirty="0" i="1"/>
              <a:t>method</a:t>
            </a:r>
            <a:r>
              <a:rPr lang="id-ID" dirty="0"/>
              <a:t> apa yang boleh dipanggil, sedangkan tipe objek menentukan versi mana yang dijalankan. Bagaimana jika kelas objek tidak punya </a:t>
            </a:r>
            <a:r>
              <a:rPr lang="id-ID" dirty="0" i="1"/>
              <a:t>method</a:t>
            </a:r>
            <a:r>
              <a:rPr lang="id-ID" dirty="0"/>
              <a:t> itu? Program mencarinya mulai dari kelas objek, lalu naik ke kelas induk. </a:t>
            </a:r>
            <a:r>
              <a:rPr lang="en-US" dirty="0">
                <a:latin typeface="Consolas"/>
              </a:rPr>
              <a:t>Ikan</a:t>
            </a:r>
            <a:r>
              <a:rPr lang="id-ID" dirty="0"/>
              <a:t> tidak meng-</a:t>
            </a:r>
            <a:r>
              <a:rPr lang="id-ID" dirty="0" i="1"/>
              <a:t>override</a:t>
            </a:r>
            <a:r>
              <a:rPr lang="id-ID" dirty="0"/>
              <a:t>, jadi ikan memakai versi </a:t>
            </a:r>
            <a:r>
              <a:rPr lang="en-US" dirty="0">
                <a:latin typeface="Consolas"/>
              </a:rPr>
              <a:t>Hewan</a:t>
            </a:r>
            <a:r>
              <a:rPr lang="id-ID" dirty="0"/>
              <a:t>: "(diam saja)". Kode lengkapnya adalah contoh 01 di halaman praktik.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Kekuatan polimorfisme paling terasa ketika objek-objek berbeda jenis disimpan dalam satu koleksi, lalu diproses dengan satu perulangan. Setelah itu kita lihat bahwa polimorfisme juga bekerja dari dalam kelas induk sendiri.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Koleksi polimorfik adalah </a:t>
            </a:r>
            <a:r>
              <a:rPr lang="id-ID" dirty="0" i="1"/>
              <a:t>list</a:t>
            </a:r>
            <a:r>
              <a:rPr lang="id-ID" dirty="0"/>
              <a:t> yang dideklarasikan untuk tipe induk, tetapi isinya objek dari berbagai kelas anak. Di sini, satu </a:t>
            </a:r>
            <a:r>
              <a:rPr lang="id-ID" dirty="0" i="1"/>
              <a:t>list</a:t>
            </a:r>
            <a:r>
              <a:rPr lang="id-ID" dirty="0"/>
              <a:t> berisi persegi, persegi panjang, dan segitiga. Fungsi laporan hanya mengenal </a:t>
            </a:r>
            <a:r>
              <a:rPr lang="en-US" dirty="0">
                <a:latin typeface="Consolas"/>
              </a:rPr>
              <a:t>BangunDatar</a:t>
            </a:r>
            <a:r>
              <a:rPr lang="id-ID" dirty="0"/>
              <a:t>, dan setiap putaran memanggil </a:t>
            </a:r>
            <a:r>
              <a:rPr lang="en-US" dirty="0">
                <a:latin typeface="Consolas"/>
              </a:rPr>
              <a:t>luas()</a:t>
            </a:r>
            <a:r>
              <a:rPr lang="id-ID" dirty="0"/>
              <a:t> serta </a:t>
            </a:r>
            <a:r>
              <a:rPr lang="en-US" dirty="0">
                <a:latin typeface="Consolas"/>
              </a:rPr>
              <a:t>nama()</a:t>
            </a:r>
            <a:r>
              <a:rPr lang="id-ID" dirty="0"/>
              <a:t> milik objek yang sedang diproses. Suatu hari toko menjual potongan trapesium. Yang perlu ditulis hanyalah kelas </a:t>
            </a:r>
            <a:r>
              <a:rPr lang="en-US" dirty="0">
                <a:latin typeface="Consolas"/>
              </a:rPr>
              <a:t>Trapesium</a:t>
            </a:r>
            <a:r>
              <a:rPr lang="id-ID" dirty="0"/>
              <a:t>; fungsi laporan tidak disentuh sama sekali, dan trapesium 6/10 tinggi 4 tercetak dengan luas 32 cm2. Prinsip ini disebut terbuka untuk penambahan, tertutup untuk perubahan, dan dibahas lagi di Pertemuan 13. Objek </a:t>
            </a:r>
            <a:r>
              <a:rPr lang="en-US" dirty="0">
                <a:latin typeface="Consolas"/>
              </a:rPr>
              <a:t>BangunDatar()</a:t>
            </a:r>
            <a:r>
              <a:rPr lang="id-ID" dirty="0"/>
              <a:t> umum tercetak dengan luas 0. Janggal, bukan? Di Pertemuan 10 kita melarangnya dengan kelas abstrak.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Contoh 04 memakai kartu ucapan. Kelas induk </a:t>
            </a:r>
            <a:r>
              <a:rPr lang="en-US" dirty="0">
                <a:latin typeface="Consolas"/>
              </a:rPr>
              <a:t>KartuUcapan</a:t>
            </a:r>
            <a:r>
              <a:rPr lang="id-ID" dirty="0"/>
              <a:t> punya </a:t>
            </a:r>
            <a:r>
              <a:rPr lang="id-ID" dirty="0" i="1"/>
              <a:t>method</a:t>
            </a:r>
            <a:r>
              <a:rPr lang="id-ID" dirty="0"/>
              <a:t> </a:t>
            </a:r>
            <a:r>
              <a:rPr lang="en-US" dirty="0">
                <a:latin typeface="Consolas"/>
              </a:rPr>
              <a:t>tulis()</a:t>
            </a:r>
            <a:r>
              <a:rPr lang="id-ID" dirty="0"/>
              <a:t> yang mencetak kerangka kartu: garis, salam, isi, lalu nama pengirim. Di dalam </a:t>
            </a:r>
            <a:r>
              <a:rPr lang="en-US" dirty="0">
                <a:latin typeface="Consolas"/>
              </a:rPr>
              <a:t>tulis()</a:t>
            </a:r>
            <a:r>
              <a:rPr lang="id-ID" dirty="0"/>
              <a:t>, </a:t>
            </a:r>
            <a:r>
              <a:rPr lang="en-US" dirty="0">
                <a:latin typeface="Consolas"/>
              </a:rPr>
              <a:t>salam()</a:t>
            </a:r>
            <a:r>
              <a:rPr lang="id-ID" dirty="0"/>
              <a:t> dan </a:t>
            </a:r>
            <a:r>
              <a:rPr lang="en-US" dirty="0">
                <a:latin typeface="Consolas"/>
              </a:rPr>
              <a:t>isi()</a:t>
            </a:r>
            <a:r>
              <a:rPr lang="id-ID" dirty="0"/>
              <a:t> dipanggil lewat </a:t>
            </a:r>
            <a:r>
              <a:rPr lang="en-US" dirty="0">
                <a:latin typeface="Consolas"/>
              </a:rPr>
              <a:t>self</a:t>
            </a:r>
            <a:r>
              <a:rPr lang="id-ID" dirty="0"/>
              <a:t> di Python, atau lewat </a:t>
            </a:r>
            <a:r>
              <a:rPr lang="en-US" dirty="0">
                <a:latin typeface="Consolas"/>
              </a:rPr>
              <a:t>this</a:t>
            </a:r>
            <a:r>
              <a:rPr lang="id-ID" dirty="0"/>
              <a:t> di Java yang boleh tidak ditulis. </a:t>
            </a:r>
            <a:r>
              <a:rPr lang="en-US" dirty="0">
                <a:latin typeface="Consolas"/>
              </a:rPr>
              <a:t>KartuWisuda</a:t>
            </a:r>
            <a:r>
              <a:rPr lang="id-ID" dirty="0"/>
              <a:t> tidak menulis ulang </a:t>
            </a:r>
            <a:r>
              <a:rPr lang="en-US" dirty="0">
                <a:latin typeface="Consolas"/>
              </a:rPr>
              <a:t>tulis()</a:t>
            </a:r>
            <a:r>
              <a:rPr lang="id-ID" dirty="0"/>
              <a:t>; ia hanya meng-</a:t>
            </a:r>
            <a:r>
              <a:rPr lang="id-ID" dirty="0" i="1"/>
              <a:t>override</a:t>
            </a:r>
            <a:r>
              <a:rPr lang="id-ID" dirty="0"/>
              <a:t> </a:t>
            </a:r>
            <a:r>
              <a:rPr lang="en-US" dirty="0">
                <a:latin typeface="Consolas"/>
              </a:rPr>
              <a:t>salam()</a:t>
            </a:r>
            <a:r>
              <a:rPr lang="id-ID" dirty="0"/>
              <a:t> dan </a:t>
            </a:r>
            <a:r>
              <a:rPr lang="en-US" dirty="0">
                <a:latin typeface="Consolas"/>
              </a:rPr>
              <a:t>isi()</a:t>
            </a:r>
            <a:r>
              <a:rPr lang="id-ID" dirty="0"/>
              <a:t>.</a:t>
            </a:r>
            <a:endParaRPr lang="id-ID" dirty="0"/>
          </a:p>
          <a:p>
            <a:r>
              <a:rPr lang="id-ID" dirty="0"/>
              <a:t>Pertanyaan untuk kelas: ketika objek </a:t>
            </a:r>
            <a:r>
              <a:rPr lang="en-US" dirty="0">
                <a:latin typeface="Consolas"/>
              </a:rPr>
              <a:t>KartuWisuda</a:t>
            </a:r>
            <a:r>
              <a:rPr lang="id-ID" dirty="0"/>
              <a:t> untuk Dimas menjalankan </a:t>
            </a:r>
            <a:r>
              <a:rPr lang="en-US" dirty="0">
                <a:latin typeface="Consolas"/>
              </a:rPr>
              <a:t>tulis()</a:t>
            </a:r>
            <a:r>
              <a:rPr lang="id-ID" dirty="0"/>
              <a:t>, salam versi siapa yang tercetak? Jawabannya ada di </a:t>
            </a:r>
            <a:r>
              <a:rPr lang="id-ID" dirty="0" i="1"/>
              <a:t>slide</a:t>
            </a:r>
            <a:r>
              <a:rPr lang="id-ID" dirty="0"/>
              <a:t> berikutnya.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Bayangkan percetakan kartu ucapan di dekat kampus. Semua kartu dicetak dengan kerangka yang sama: salam, isi, lalu nama pengirim. Kerangka itu cukup ditulis sekali di kelas induk </a:t>
            </a:r>
            <a:r>
              <a:rPr lang="en-US" dirty="0">
                <a:latin typeface="Consolas"/>
              </a:rPr>
              <a:t>KartuUcapan</a:t>
            </a:r>
            <a:r>
              <a:rPr lang="id-ID" dirty="0"/>
              <a:t>, dalam </a:t>
            </a:r>
            <a:r>
              <a:rPr lang="id-ID" dirty="0" i="1"/>
              <a:t>method</a:t>
            </a:r>
            <a:r>
              <a:rPr lang="id-ID" dirty="0"/>
              <a:t> </a:t>
            </a:r>
            <a:r>
              <a:rPr lang="en-US" dirty="0">
                <a:latin typeface="Consolas"/>
              </a:rPr>
              <a:t>tulis()</a:t>
            </a:r>
            <a:r>
              <a:rPr lang="id-ID" dirty="0"/>
              <a:t>. Ketika objek </a:t>
            </a:r>
            <a:r>
              <a:rPr lang="en-US" dirty="0">
                <a:latin typeface="Consolas"/>
              </a:rPr>
              <a:t>KartuWisuda</a:t>
            </a:r>
            <a:r>
              <a:rPr lang="id-ID" dirty="0"/>
              <a:t> menjalankan </a:t>
            </a:r>
            <a:r>
              <a:rPr lang="en-US" dirty="0">
                <a:latin typeface="Consolas"/>
              </a:rPr>
              <a:t>tulis()</a:t>
            </a:r>
            <a:r>
              <a:rPr lang="id-ID" dirty="0"/>
              <a:t>, </a:t>
            </a:r>
            <a:r>
              <a:rPr lang="id-ID" dirty="0" i="1"/>
              <a:t>method</a:t>
            </a:r>
            <a:r>
              <a:rPr lang="id-ID" dirty="0"/>
              <a:t> yang berjalan memang milik induk. Namun, di dalamnya </a:t>
            </a:r>
            <a:r>
              <a:rPr lang="en-US" dirty="0">
                <a:latin typeface="Consolas"/>
              </a:rPr>
              <a:t>salam()</a:t>
            </a:r>
            <a:r>
              <a:rPr lang="id-ID" dirty="0"/>
              <a:t> dan </a:t>
            </a:r>
            <a:r>
              <a:rPr lang="en-US" dirty="0">
                <a:latin typeface="Consolas"/>
              </a:rPr>
              <a:t>isi()</a:t>
            </a:r>
            <a:r>
              <a:rPr lang="id-ID" dirty="0"/>
              <a:t> dipanggil lewat </a:t>
            </a:r>
            <a:r>
              <a:rPr lang="en-US" dirty="0">
                <a:latin typeface="Consolas"/>
              </a:rPr>
              <a:t>self</a:t>
            </a:r>
            <a:r>
              <a:rPr lang="id-ID" dirty="0"/>
              <a:t> atau </a:t>
            </a:r>
            <a:r>
              <a:rPr lang="en-US" dirty="0">
                <a:latin typeface="Consolas"/>
              </a:rPr>
              <a:t>this</a:t>
            </a:r>
            <a:r>
              <a:rPr lang="id-ID" dirty="0"/>
              <a:t>, yaitu objek kartu wisuda itu sendiri, sehingga versi </a:t>
            </a:r>
            <a:r>
              <a:rPr lang="en-US" dirty="0">
                <a:latin typeface="Consolas"/>
              </a:rPr>
              <a:t>KartuWisuda</a:t>
            </a:r>
            <a:r>
              <a:rPr lang="id-ID" dirty="0"/>
              <a:t> yang dipakai dan salamnya berbunyi "Selamat, Dimas, S.Kom.!". Pola kerangka di induk dan isian di anak ini diresmikan di Pertemuan 10 dengan nama </a:t>
            </a:r>
            <a:r>
              <a:rPr lang="id-ID" dirty="0" i="1"/>
              <a:t>template method</a:t>
            </a:r>
            <a:r>
              <a:rPr lang="id-ID" dirty="0"/>
              <a:t>. Kodenya ada di contoh 04.</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Kadang sebuah kelas anak punya kemampuan khusus yang tidak dimiliki saudaranya. Kita belajar cara aman memakainya, lalu melihat gaya polimorfisme Python yang bahkan tidak membutuhkan pewarisan.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Bayangkan Sistem Informasi Akademik kampus. Mahasiswa dan dosen sama-sama pengguna, jadi keduanya bisa membuka profil. Namun, hanya mahasiswa yang bisa mengisi KRS. Memandang mahasiswa sebagai pengguna umum disebut </a:t>
            </a:r>
            <a:r>
              <a:rPr lang="id-ID" dirty="0" i="1"/>
              <a:t>upcasting</a:t>
            </a:r>
            <a:r>
              <a:rPr lang="id-ID" dirty="0"/>
              <a:t>, dan itu selalu aman. Sebaliknya, memandang pengguna sebagai mahasiswa disebut </a:t>
            </a:r>
            <a:r>
              <a:rPr lang="id-ID" dirty="0" i="1"/>
              <a:t>downcasting</a:t>
            </a:r>
            <a:r>
              <a:rPr lang="id-ID" dirty="0"/>
              <a:t>, dan itu harus dipastikan dulu. Analoginya petugas parkir: sebelum meminta SIM C, ia harus yakin dulu bahwa kendaraannya motor. Python tidak punya </a:t>
            </a:r>
            <a:r>
              <a:rPr lang="id-ID" dirty="0" i="1"/>
              <a:t>cast</a:t>
            </a:r>
            <a:r>
              <a:rPr lang="id-ID" dirty="0"/>
              <a:t> karena variabelnya tidak bertipe, sedangkan Java menulis nama kelas tujuan di dalam kurung. Jika tebakannya salah, Java berhenti dengan </a:t>
            </a:r>
            <a:r>
              <a:rPr lang="en-US" dirty="0">
                <a:latin typeface="Consolas"/>
              </a:rPr>
              <a:t>ClassCastException</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i="1"/>
              <a:t>List</a:t>
            </a:r>
            <a:r>
              <a:rPr lang="id-ID" dirty="0"/>
              <a:t> </a:t>
            </a:r>
            <a:r>
              <a:rPr lang="en-US" dirty="0">
                <a:latin typeface="Consolas"/>
              </a:rPr>
              <a:t>daftar</a:t>
            </a:r>
            <a:r>
              <a:rPr lang="id-ID" dirty="0"/>
              <a:t> berisi dua mahasiswa dan seorang dosen. Di Python, setelah </a:t>
            </a:r>
            <a:r>
              <a:rPr lang="en-US" dirty="0">
                <a:latin typeface="Consolas"/>
              </a:rPr>
              <a:t>isinstance</a:t>
            </a:r>
            <a:r>
              <a:rPr lang="id-ID" dirty="0"/>
              <a:t> bernilai benar, </a:t>
            </a:r>
            <a:r>
              <a:rPr lang="id-ID" dirty="0" i="1"/>
              <a:t>method</a:t>
            </a:r>
            <a:r>
              <a:rPr lang="id-ID" dirty="0"/>
              <a:t> khusus langsung bisa dipanggil. Di Java, </a:t>
            </a:r>
            <a:r>
              <a:rPr lang="en-US" dirty="0">
                <a:latin typeface="Consolas"/>
              </a:rPr>
              <a:t>instanceof</a:t>
            </a:r>
            <a:r>
              <a:rPr lang="id-ID" dirty="0"/>
              <a:t> hanya bertanya; </a:t>
            </a:r>
            <a:r>
              <a:rPr lang="id-ID" dirty="0" i="1"/>
              <a:t>compiler</a:t>
            </a:r>
            <a:r>
              <a:rPr lang="id-ID" dirty="0"/>
              <a:t> tetap memandang </a:t>
            </a:r>
            <a:r>
              <a:rPr lang="en-US" dirty="0">
                <a:latin typeface="Consolas"/>
              </a:rPr>
              <a:t>pengguna</a:t>
            </a:r>
            <a:r>
              <a:rPr lang="id-ID" dirty="0"/>
              <a:t> sebagai </a:t>
            </a:r>
            <a:r>
              <a:rPr lang="en-US" dirty="0">
                <a:latin typeface="Consolas"/>
              </a:rPr>
              <a:t>Pengguna</a:t>
            </a:r>
            <a:r>
              <a:rPr lang="id-ID" dirty="0"/>
              <a:t> sampai kita melakukan </a:t>
            </a:r>
            <a:r>
              <a:rPr lang="id-ID" dirty="0" i="1"/>
              <a:t>cast</a:t>
            </a:r>
            <a:r>
              <a:rPr lang="id-ID" dirty="0"/>
              <a:t>. Cabang pertama memakai cara klasik: periksa, lalu </a:t>
            </a:r>
            <a:r>
              <a:rPr lang="id-ID" dirty="0" i="1"/>
              <a:t>cast</a:t>
            </a:r>
            <a:r>
              <a:rPr lang="id-ID" dirty="0"/>
              <a:t> ke variabel </a:t>
            </a:r>
            <a:r>
              <a:rPr lang="en-US" dirty="0">
                <a:latin typeface="Consolas"/>
              </a:rPr>
              <a:t>mhs</a:t>
            </a:r>
            <a:r>
              <a:rPr lang="id-ID" dirty="0"/>
              <a:t>. Cabang kedua memakai bentuk sejak Java 16 yang memeriksa sekaligus menyiapkan variabel </a:t>
            </a:r>
            <a:r>
              <a:rPr lang="en-US" dirty="0">
                <a:latin typeface="Consolas"/>
              </a:rPr>
              <a:t>dosen</a:t>
            </a:r>
            <a:r>
              <a:rPr lang="id-ID" dirty="0"/>
              <a:t>. Ingat peringatannya: pemeriksaan jenis ibarat obat, bukan makanan sehari-hari. Pakai hanya untuk fitur yang benar-benar khusus; untuk perilaku bersama, cukup </a:t>
            </a:r>
            <a:r>
              <a:rPr lang="id-ID" dirty="0" i="1"/>
              <a:t>override</a:t>
            </a:r>
            <a:r>
              <a:rPr lang="id-ID" dirty="0"/>
              <a:t>. Kode lengkapnya adalah contoh 03 di halaman praktik.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Ada pepatah: jika sesuatu berjalan seperti bebek dan berbunyi seperti bebek, anggap saja ia bebek. Dari situlah nama </a:t>
            </a:r>
            <a:r>
              <a:rPr lang="id-ID" dirty="0" i="1"/>
              <a:t>duck typing</a:t>
            </a:r>
            <a:r>
              <a:rPr lang="id-ID" dirty="0"/>
              <a:t> berasal. Bayangkan pagi di asrama mahasiswa. Yang membangunkan penghuni bisa ayam jago tetangga, alarm ponsel, atau kentongan pos ronda. Ketiganya tidak bersaudara, tetapi kamu tidak peduli siapa mereka; yang penting ketiganya bisa berbunyi. Python menganut gaya ini secara alami. Java mewajibkan tipe bersama, misalnya kelas induk </a:t>
            </a:r>
            <a:r>
              <a:rPr lang="en-US" dirty="0">
                <a:latin typeface="Consolas"/>
              </a:rPr>
              <a:t>SumberBunyi</a:t>
            </a:r>
            <a:r>
              <a:rPr lang="id-ID" dirty="0"/>
              <a:t> di contoh 05. Namun, "ayam jago adalah sumber bunyi" terdengar dipaksakan. Untuk kemampuan bersama seperti ini, Java punya alat yang lebih tepat, yaitu </a:t>
            </a:r>
            <a:r>
              <a:rPr lang="id-ID" dirty="0" i="1"/>
              <a:t>interface</a:t>
            </a:r>
            <a:r>
              <a:rPr lang="id-ID" dirty="0"/>
              <a:t>, yang kita pelajari di Pertemuan 10.</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Polimorfisme yang dibahas sejauh ini terjadi saat program berjalan. Ada satu bentuk lagi yang terjadi saat program dikompilasi. Bayangkan katalog perpustakaan kampus: menunya satu, yaitu Cari, tetapi kamu boleh mencari dengan judul, dengan tahun terbit, atau dengan keduanya.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i="1"/>
              <a:t>Compiler</a:t>
            </a:r>
            <a:r>
              <a:rPr lang="id-ID" dirty="0"/>
              <a:t> Java memilih versi yang cocok berdasarkan tipe argumen yang tertulis di kode. Karena itu </a:t>
            </a:r>
            <a:r>
              <a:rPr lang="id-ID" dirty="0" i="1"/>
              <a:t>overloading</a:t>
            </a:r>
            <a:r>
              <a:rPr lang="id-ID" dirty="0"/>
              <a:t> disebut polimorfisme waktu kompilasi, sedangkan </a:t>
            </a:r>
            <a:r>
              <a:rPr lang="id-ID" dirty="0" i="1"/>
              <a:t>override</a:t>
            </a:r>
            <a:r>
              <a:rPr lang="id-ID" dirty="0"/>
              <a:t> ditambah </a:t>
            </a:r>
            <a:r>
              <a:rPr lang="id-ID" dirty="0" i="1"/>
              <a:t>dynamic dispatch</a:t>
            </a:r>
            <a:r>
              <a:rPr lang="id-ID" dirty="0"/>
              <a:t> disebut polimorfisme waktu berjalan. Kamu sebenarnya sudah lama memakai </a:t>
            </a:r>
            <a:r>
              <a:rPr lang="id-ID" dirty="0" i="1"/>
              <a:t>overloading</a:t>
            </a:r>
            <a:r>
              <a:rPr lang="id-ID" dirty="0"/>
              <a:t>: </a:t>
            </a:r>
            <a:r>
              <a:rPr lang="en-US" dirty="0">
                <a:latin typeface="Consolas"/>
              </a:rPr>
              <a:t>System.out.println</a:t>
            </a:r>
            <a:r>
              <a:rPr lang="id-ID" dirty="0"/>
              <a:t> punya versi untuk </a:t>
            </a:r>
            <a:r>
              <a:rPr lang="en-US" dirty="0">
                <a:latin typeface="Consolas"/>
              </a:rPr>
              <a:t>int</a:t>
            </a:r>
            <a:r>
              <a:rPr lang="id-ID" dirty="0"/>
              <a:t>, </a:t>
            </a:r>
            <a:r>
              <a:rPr lang="en-US" dirty="0">
                <a:latin typeface="Consolas"/>
              </a:rPr>
              <a:t>String</a:t>
            </a:r>
            <a:r>
              <a:rPr lang="id-ID" dirty="0"/>
              <a:t>, </a:t>
            </a:r>
            <a:r>
              <a:rPr lang="en-US" dirty="0">
                <a:latin typeface="Consolas"/>
              </a:rPr>
              <a:t>boolean</a:t>
            </a:r>
            <a:r>
              <a:rPr lang="id-ID" dirty="0"/>
              <a:t>, dan lainnya. Hati-hati, </a:t>
            </a:r>
            <a:r>
              <a:rPr lang="en-US" dirty="0">
                <a:latin typeface="Consolas"/>
              </a:rPr>
              <a:t>int hitung(int x)</a:t>
            </a:r>
            <a:r>
              <a:rPr lang="id-ID" dirty="0"/>
              <a:t> dan </a:t>
            </a:r>
            <a:r>
              <a:rPr lang="en-US" dirty="0">
                <a:latin typeface="Consolas"/>
              </a:rPr>
              <a:t>String hitung(int x)</a:t>
            </a:r>
            <a:r>
              <a:rPr lang="id-ID" dirty="0"/>
              <a:t> ditolak </a:t>
            </a:r>
            <a:r>
              <a:rPr lang="id-ID" dirty="0" i="1"/>
              <a:t>compiler</a:t>
            </a:r>
            <a:r>
              <a:rPr lang="id-ID" dirty="0"/>
              <a:t> karena saat memanggil </a:t>
            </a:r>
            <a:r>
              <a:rPr lang="en-US" dirty="0">
                <a:latin typeface="Consolas"/>
              </a:rPr>
              <a:t>hitung(5)</a:t>
            </a:r>
            <a:r>
              <a:rPr lang="id-ID" dirty="0"/>
              <a:t> ia tidak bisa menebak versi yang dimaksud. Di Python, dua </a:t>
            </a:r>
            <a:r>
              <a:rPr lang="en-US" dirty="0">
                <a:latin typeface="Consolas"/>
              </a:rPr>
              <a:t>def sapa</a:t>
            </a:r>
            <a:r>
              <a:rPr lang="id-ID" dirty="0"/>
              <a:t> dalam satu kelas tidak menghasilkan </a:t>
            </a:r>
            <a:r>
              <a:rPr lang="id-ID" dirty="0" i="1"/>
              <a:t>error</a:t>
            </a:r>
            <a:r>
              <a:rPr lang="id-ID" dirty="0"/>
              <a:t>, tetapi </a:t>
            </a:r>
            <a:r>
              <a:rPr lang="en-US" dirty="0">
                <a:latin typeface="Consolas"/>
              </a:rPr>
              <a:t>def</a:t>
            </a:r>
            <a:r>
              <a:rPr lang="id-ID" dirty="0"/>
              <a:t> pertama hilang. Penggantinya adalah nilai bawaan, argumen kata kunci, dan </a:t>
            </a:r>
            <a:r>
              <a:rPr lang="en-US" dirty="0">
                <a:latin typeface="Consolas"/>
              </a:rPr>
              <a:t>*args</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Tabel ini merangkum dua istilah yang sering tertukar.</a:t>
            </a:r>
            <a:endParaRPr lang="id-ID" dirty="0"/>
          </a:p>
          <a:p>
            <a:r>
              <a:rPr lang="id-ID" dirty="0"/>
              <a:t>Pertanyaan untuk kelas: jika kelas anak menulis </a:t>
            </a:r>
            <a:r>
              <a:rPr lang="id-ID" dirty="0" i="1"/>
              <a:t>method</a:t>
            </a:r>
            <a:r>
              <a:rPr lang="id-ID" dirty="0"/>
              <a:t> bernama sama dengan induknya tetapi parameternya berbeda, apa yang terjadi di Java? Jawabannya: itu menjadi </a:t>
            </a:r>
            <a:r>
              <a:rPr lang="id-ID" dirty="0" i="1"/>
              <a:t>overloading</a:t>
            </a:r>
            <a:r>
              <a:rPr lang="id-ID" dirty="0"/>
              <a:t>, bukan </a:t>
            </a:r>
            <a:r>
              <a:rPr lang="id-ID" dirty="0" i="1"/>
              <a:t>override</a:t>
            </a:r>
            <a:r>
              <a:rPr lang="id-ID" dirty="0"/>
              <a:t>. Karena itu, selalu tulis </a:t>
            </a:r>
            <a:r>
              <a:rPr lang="en-US" dirty="0">
                <a:latin typeface="Consolas"/>
              </a:rPr>
              <a:t>@Override</a:t>
            </a:r>
            <a:r>
              <a:rPr lang="id-ID" dirty="0"/>
              <a:t> agar </a:t>
            </a:r>
            <a:r>
              <a:rPr lang="id-ID" dirty="0" i="1"/>
              <a:t>compiler</a:t>
            </a:r>
            <a:r>
              <a:rPr lang="id-ID" dirty="0"/>
              <a:t> protes jika ternyata tidak ada yang ditimpa. Jalur Java punya contoh 07 yang menarik: variabel </a:t>
            </a:r>
            <a:r>
              <a:rPr lang="en-US" dirty="0">
                <a:latin typeface="Consolas"/>
              </a:rPr>
              <a:t>rina</a:t>
            </a:r>
            <a:r>
              <a:rPr lang="id-ID" dirty="0"/>
              <a:t> bertipe </a:t>
            </a:r>
            <a:r>
              <a:rPr lang="en-US" dirty="0">
                <a:latin typeface="Consolas"/>
              </a:rPr>
              <a:t>Tamu</a:t>
            </a:r>
            <a:r>
              <a:rPr lang="id-ID" dirty="0"/>
              <a:t>, tetapi objeknya </a:t>
            </a:r>
            <a:r>
              <a:rPr lang="en-US" dirty="0">
                <a:latin typeface="Consolas"/>
              </a:rPr>
              <a:t>TamuVip</a:t>
            </a:r>
            <a:r>
              <a:rPr lang="id-ID" dirty="0"/>
              <a:t>. Versi </a:t>
            </a:r>
            <a:r>
              <a:rPr lang="id-ID" dirty="0" i="1"/>
              <a:t>overload</a:t>
            </a:r>
            <a:r>
              <a:rPr lang="id-ID" dirty="0"/>
              <a:t> </a:t>
            </a:r>
            <a:r>
              <a:rPr lang="en-US" dirty="0">
                <a:latin typeface="Consolas"/>
              </a:rPr>
              <a:t>sambut(Tamu)</a:t>
            </a:r>
            <a:r>
              <a:rPr lang="id-ID" dirty="0"/>
              <a:t> yang dipakai karena dipilih dari tipe variabel, sedangkan </a:t>
            </a:r>
            <a:r>
              <a:rPr lang="en-US" dirty="0">
                <a:latin typeface="Consolas"/>
              </a:rPr>
              <a:t>rina.fasilitas()</a:t>
            </a:r>
            <a:r>
              <a:rPr lang="id-ID" dirty="0"/>
              <a:t> memakai versi VIP karena </a:t>
            </a:r>
            <a:r>
              <a:rPr lang="id-ID" dirty="0" i="1"/>
              <a:t>override</a:t>
            </a:r>
            <a:r>
              <a:rPr lang="id-ID" dirty="0"/>
              <a:t> mengikuti objek. Satu prinsip menyatukan aturan </a:t>
            </a:r>
            <a:r>
              <a:rPr lang="id-ID" dirty="0" i="1"/>
              <a:t>override</a:t>
            </a:r>
            <a:r>
              <a:rPr lang="id-ID" dirty="0"/>
              <a:t>: objek anak harus bisa dipakai di mana pun objek induk diharapkan.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Saatnya menyelesaikan masalah kasir di awal pertemuan. Kelas </a:t>
            </a:r>
            <a:r>
              <a:rPr lang="en-US" dirty="0">
                <a:latin typeface="Consolas"/>
              </a:rPr>
              <a:t>Menu</a:t>
            </a:r>
            <a:r>
              <a:rPr lang="id-ID" dirty="0"/>
              <a:t>, </a:t>
            </a:r>
            <a:r>
              <a:rPr lang="en-US" dirty="0">
                <a:latin typeface="Consolas"/>
              </a:rPr>
              <a:t>Makanan</a:t>
            </a:r>
            <a:r>
              <a:rPr lang="id-ID" dirty="0"/>
              <a:t>, </a:t>
            </a:r>
            <a:r>
              <a:rPr lang="en-US" dirty="0">
                <a:latin typeface="Consolas"/>
              </a:rPr>
              <a:t>Minuman</a:t>
            </a:r>
            <a:r>
              <a:rPr lang="id-ID" dirty="0"/>
              <a:t>, </a:t>
            </a:r>
            <a:r>
              <a:rPr lang="en-US" dirty="0">
                <a:latin typeface="Consolas"/>
              </a:rPr>
              <a:t>ItemPesanan</a:t>
            </a:r>
            <a:r>
              <a:rPr lang="id-ID" dirty="0"/>
              <a:t>, </a:t>
            </a:r>
            <a:r>
              <a:rPr lang="en-US" dirty="0">
                <a:latin typeface="Consolas"/>
              </a:rPr>
              <a:t>Kedai</a:t>
            </a:r>
            <a:r>
              <a:rPr lang="id-ID" dirty="0"/>
              <a:t>, dan </a:t>
            </a:r>
            <a:r>
              <a:rPr lang="en-US" dirty="0">
                <a:latin typeface="Consolas"/>
              </a:rPr>
              <a:t>Pelanggan</a:t>
            </a:r>
            <a:r>
              <a:rPr lang="id-ID" dirty="0"/>
              <a:t> sama seperti Pertemuan 07. Yang baru adalah keluarga kelas pembayaran dan </a:t>
            </a:r>
            <a:r>
              <a:rPr lang="id-ID" dirty="0" i="1"/>
              <a:t>method</a:t>
            </a:r>
            <a:r>
              <a:rPr lang="id-ID" dirty="0"/>
              <a:t> </a:t>
            </a:r>
            <a:r>
              <a:rPr lang="en-US" dirty="0">
                <a:latin typeface="Consolas"/>
              </a:rPr>
              <a:t>bayar()</a:t>
            </a:r>
            <a:r>
              <a:rPr lang="id-ID" dirty="0"/>
              <a:t> di </a:t>
            </a:r>
            <a:r>
              <a:rPr lang="en-US" dirty="0">
                <a:latin typeface="Consolas"/>
              </a:rPr>
              <a:t>Pesanan</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onsolas"/>
              </a:rPr>
              <a:t>Pembayaran</a:t>
            </a:r>
            <a:r>
              <a:rPr lang="id-ID" dirty="0"/>
              <a:t> menjadi kelas induk dengan tiga </a:t>
            </a:r>
            <a:r>
              <a:rPr lang="id-ID" dirty="0" i="1"/>
              <a:t>method</a:t>
            </a:r>
            <a:r>
              <a:rPr lang="id-ID" dirty="0"/>
              <a:t>: nama metode, biaya layanan yang bawaannya 0, dan proses pembayaran. Ketiga kelas anak meng-</a:t>
            </a:r>
            <a:r>
              <a:rPr lang="id-ID" dirty="0" i="1"/>
              <a:t>override</a:t>
            </a:r>
            <a:r>
              <a:rPr lang="id-ID" dirty="0"/>
              <a:t> yang perlu saja; hanya kartu kredit yang meng-</a:t>
            </a:r>
            <a:r>
              <a:rPr lang="id-ID" dirty="0" i="1"/>
              <a:t>override</a:t>
            </a:r>
            <a:r>
              <a:rPr lang="id-ID" dirty="0"/>
              <a:t> biaya layanan sebesar 2%. Setiap kelas menyimpan datanya sendiri: tunai menyimpan uang yang diterima, QRIS menyimpan saldo, dan kartu menyimpan nama bank. Pesanan kini punya status: BARU, lalu LUNAS setelah pembayaran berhasil. Jika gagal, statusnya tetap BARU sehingga bisa dibayar lagi dengan cara lain. Pelanggan mendapat 1 poin untuk setiap Rp10.000 dari total pesanan, tanpa biaya layanan. Di Python, dua </a:t>
            </a:r>
            <a:r>
              <a:rPr lang="en-US" dirty="0">
                <a:latin typeface="Consolas"/>
              </a:rPr>
              <a:t>tambahItem</a:t>
            </a:r>
            <a:r>
              <a:rPr lang="id-ID" dirty="0"/>
              <a:t> cukup ditulis sebagai satu </a:t>
            </a:r>
            <a:r>
              <a:rPr lang="id-ID" dirty="0" i="1"/>
              <a:t>method</a:t>
            </a:r>
            <a:r>
              <a:rPr lang="id-ID" dirty="0"/>
              <a:t> </a:t>
            </a:r>
            <a:r>
              <a:rPr lang="en-US" dirty="0">
                <a:latin typeface="Consolas"/>
              </a:rPr>
              <a:t>tambah_item(menu, jumlah=1)</a:t>
            </a:r>
            <a:r>
              <a:rPr lang="id-ID" dirty="0"/>
              <a:t> dengan nilai bawaan.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inti studi kasus. </a:t>
            </a:r>
            <a:r>
              <a:rPr lang="id-ID" dirty="0" i="1"/>
              <a:t>Method</a:t>
            </a:r>
            <a:r>
              <a:rPr lang="id-ID" dirty="0"/>
              <a:t> </a:t>
            </a:r>
            <a:r>
              <a:rPr lang="en-US" dirty="0">
                <a:latin typeface="Consolas"/>
              </a:rPr>
              <a:t>bayar()</a:t>
            </a:r>
            <a:r>
              <a:rPr lang="id-ID" dirty="0"/>
              <a:t> menerima pembayaran jenis apa pun karena parameternya bertipe </a:t>
            </a:r>
            <a:r>
              <a:rPr lang="en-US" dirty="0">
                <a:latin typeface="Consolas"/>
              </a:rPr>
              <a:t>Pembayaran</a:t>
            </a:r>
            <a:r>
              <a:rPr lang="id-ID" dirty="0"/>
              <a:t>. Di dalamnya ada tiga panggilan polimorfik: biaya layanan, nama metode yang dicetak di bagian yang dilewati, dan proses. Perhatikan bahwa </a:t>
            </a:r>
            <a:r>
              <a:rPr lang="en-US" dirty="0">
                <a:latin typeface="Consolas"/>
              </a:rPr>
              <a:t>bayar()</a:t>
            </a:r>
            <a:r>
              <a:rPr lang="id-ID" dirty="0"/>
              <a:t> tidak punya satu pun percabangan berdasarkan jenis pembayaran. Saat Siti membayar dengan QRIS bersaldo Rp20.000, </a:t>
            </a:r>
            <a:r>
              <a:rPr lang="en-US" dirty="0">
                <a:latin typeface="Consolas"/>
              </a:rPr>
              <a:t>proses()</a:t>
            </a:r>
            <a:r>
              <a:rPr lang="id-ID" dirty="0"/>
              <a:t> versi QRIS gagal sehingga status tetap BARU. Program lalu memanggil </a:t>
            </a:r>
            <a:r>
              <a:rPr lang="en-US" dirty="0">
                <a:latin typeface="Consolas"/>
              </a:rPr>
              <a:t>bayar()</a:t>
            </a:r>
            <a:r>
              <a:rPr lang="id-ID" dirty="0"/>
              <a:t> yang sama dengan kartu kredit BNI: muncul biaya layanan Rp620, total Rp31.620, dan status LUNAS dengan 3 poin. Jika besok kedai menerima </a:t>
            </a:r>
            <a:r>
              <a:rPr lang="id-ID" dirty="0" i="1"/>
              <a:t>voucher</a:t>
            </a:r>
            <a:r>
              <a:rPr lang="id-ID" dirty="0"/>
              <a:t>, cukup tulis kelas </a:t>
            </a:r>
            <a:r>
              <a:rPr lang="en-US" dirty="0">
                <a:latin typeface="Consolas"/>
              </a:rPr>
              <a:t>PembayaranVoucher</a:t>
            </a:r>
            <a:r>
              <a:rPr lang="id-ID" dirty="0"/>
              <a:t>. Itulah Latihan 5.</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Pelanggan sering memesan satu porsi saja. Agar </a:t>
            </a:r>
            <a:r>
              <a:rPr lang="en-US" dirty="0">
                <a:latin typeface="Consolas"/>
              </a:rPr>
              <a:t>tambah_item</a:t>
            </a:r>
            <a:r>
              <a:rPr lang="id-ID" dirty="0"/>
              <a:t> bisa dipanggil tanpa jumlah, Python cukup memberi nilai bawaan </a:t>
            </a:r>
            <a:r>
              <a:rPr lang="en-US" dirty="0">
                <a:latin typeface="Consolas"/>
              </a:rPr>
              <a:t>jumlah: int = 1</a:t>
            </a:r>
            <a:r>
              <a:rPr lang="id-ID" dirty="0"/>
              <a:t> pada satu </a:t>
            </a:r>
            <a:r>
              <a:rPr lang="id-ID" dirty="0" i="1"/>
              <a:t>method</a:t>
            </a:r>
            <a:r>
              <a:rPr lang="id-ID" dirty="0"/>
              <a:t>. Java tidak punya nilai bawaan untuk parameter, jadi dibuat versi </a:t>
            </a:r>
            <a:r>
              <a:rPr lang="id-ID" dirty="0" i="1"/>
              <a:t>overload</a:t>
            </a:r>
            <a:r>
              <a:rPr lang="id-ID" dirty="0"/>
              <a:t> yang lebih pendek. Versi itu tidak menulis ulang isinya, tetapi meneruskan pekerjaan ke versi lengkap dengan jumlah 1. Di program utama, pesanan Budi memakai keduanya: 2 kopi dengan jumlah tertulis, lalu 1 nasi goreng tanpa jumlah. Pola yang sama dipakai konstruktor </a:t>
            </a:r>
            <a:r>
              <a:rPr lang="en-US" dirty="0">
                <a:latin typeface="Consolas"/>
              </a:rPr>
              <a:t>Perpustakaan</a:t>
            </a:r>
            <a:r>
              <a:rPr lang="id-ID" dirty="0"/>
              <a:t> di contoh 06. Perbandingan lengkapnya ada di halaman Jembatan Python ↔ Java.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Tiga anggapan keliru ini paling sering muncul saat belajar polimorfisme. Ajak kelas menebak dulu mengapa anggapan di kiri salah. Tiga miskonsepsi lain dibahas di bagian 11 halaman konsep: menganggap tipe variabel yang menentukan </a:t>
            </a:r>
            <a:r>
              <a:rPr lang="id-ID" dirty="0" i="1"/>
              <a:t>method</a:t>
            </a:r>
            <a:r>
              <a:rPr lang="id-ID" dirty="0"/>
              <a:t> yang dijalankan, menganggap makin sering memeriksa jenis objek makin aman, dan menganggap dua </a:t>
            </a:r>
            <a:r>
              <a:rPr lang="id-ID" dirty="0" i="1"/>
              <a:t>method</a:t>
            </a:r>
            <a:r>
              <a:rPr lang="id-ID" dirty="0"/>
              <a:t> boleh bernama sama asalkan tipe kembaliannya berbeda.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Beri waktu sekitar 30 detik untuk berpikir, lalu minta mahasiswa mengangkat tangan sesuai pilihannya. Soal ini menguji inti cara kerja polimorfisme yang baru saja kita lihat lewat gambar kardus. Jawaban dan pembahasannya ada di </a:t>
            </a:r>
            <a:r>
              <a:rPr lang="id-ID" dirty="0" i="1"/>
              <a:t>slide</a:t>
            </a:r>
            <a:r>
              <a:rPr lang="id-ID" dirty="0"/>
              <a:t> berikutnya. Kuis lengkap berisi 10 soal ada di </a:t>
            </a:r>
            <a:r>
              <a:rPr lang="id-ID" dirty="0" i="1"/>
              <a:t>file</a:t>
            </a:r>
            <a:r>
              <a:rPr lang="id-ID" dirty="0"/>
              <a:t> kuis.md pada folder pertemuan ini.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D. Inilah </a:t>
            </a:r>
            <a:r>
              <a:rPr lang="id-ID" dirty="0" i="1"/>
              <a:t>dynamic dispatch</a:t>
            </a:r>
            <a:r>
              <a:rPr lang="id-ID" dirty="0"/>
              <a:t>. Variabel bertipe </a:t>
            </a:r>
            <a:r>
              <a:rPr lang="en-US" dirty="0">
                <a:latin typeface="Consolas"/>
              </a:rPr>
              <a:t>Hewan</a:t>
            </a:r>
            <a:r>
              <a:rPr lang="id-ID" dirty="0"/>
              <a:t> yang menunjuk objek </a:t>
            </a:r>
            <a:r>
              <a:rPr lang="en-US" dirty="0">
                <a:latin typeface="Consolas"/>
              </a:rPr>
              <a:t>Kucing</a:t>
            </a:r>
            <a:r>
              <a:rPr lang="id-ID" dirty="0"/>
              <a:t> menjalankan </a:t>
            </a:r>
            <a:r>
              <a:rPr lang="en-US" dirty="0">
                <a:latin typeface="Consolas"/>
              </a:rPr>
              <a:t>bersuara()</a:t>
            </a:r>
            <a:r>
              <a:rPr lang="id-ID" dirty="0"/>
              <a:t> milik </a:t>
            </a:r>
            <a:r>
              <a:rPr lang="en-US" dirty="0">
                <a:latin typeface="Consolas"/>
              </a:rPr>
              <a:t>Kucing</a:t>
            </a:r>
            <a:r>
              <a:rPr lang="id-ID" dirty="0"/>
              <a:t>. Tipe variabel (pilihan A) hanya menentukan </a:t>
            </a:r>
            <a:r>
              <a:rPr lang="id-ID" dirty="0" i="1"/>
              <a:t>method</a:t>
            </a:r>
            <a:r>
              <a:rPr lang="id-ID" dirty="0"/>
              <a:t> apa saja yang </a:t>
            </a:r>
            <a:r>
              <a:rPr lang="id-ID" dirty="0" b="1"/>
              <a:t>boleh dipanggil</a:t>
            </a:r>
            <a:r>
              <a:rPr lang="id-ID" dirty="0"/>
              <a:t> di Java, bukan versi mana yang berjalan. Pilihan B dan C tidak berpengaruh sama sekali.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Soal ini menguji pemahaman </a:t>
            </a:r>
            <a:r>
              <a:rPr lang="id-ID" dirty="0" i="1"/>
              <a:t>duck typing</a:t>
            </a:r>
            <a:r>
              <a:rPr lang="id-ID" dirty="0"/>
              <a:t> sekaligus membedakannya dari dua istilah lain yang kita pelajari hari ini, yaitu pemeriksaan jenis objek dan </a:t>
            </a:r>
            <a:r>
              <a:rPr lang="id-ID" dirty="0" i="1"/>
              <a:t>overloading</a:t>
            </a:r>
            <a:r>
              <a:rPr lang="id-ID" dirty="0"/>
              <a:t>. Ingatkan kelas pada pagi di asrama: yang penting bisa berbunyi, bukan siapa. Jawabannya ada di </a:t>
            </a:r>
            <a:r>
              <a:rPr lang="id-ID" dirty="0" i="1"/>
              <a:t>slide</a:t>
            </a:r>
            <a:r>
              <a:rPr lang="id-ID" dirty="0"/>
              <a:t> berikutnya.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B. "Jika berbunyi seperti bebek, anggap saja bebek." Ayam jago, alarm, dan kentongan tanpa induk bersama tetap bisa diproses asalkan punya </a:t>
            </a:r>
            <a:r>
              <a:rPr lang="en-US" dirty="0">
                <a:latin typeface="Consolas"/>
              </a:rPr>
              <a:t>bunyikan()</a:t>
            </a:r>
            <a:r>
              <a:rPr lang="id-ID" dirty="0"/>
              <a:t>. Pilihan A keliru: Java justru butuh tipe bersama. Pilihan C adalah pemeriksaan jenis, kebalikan dari semangat </a:t>
            </a:r>
            <a:r>
              <a:rPr lang="id-ID" dirty="0" i="1"/>
              <a:t>duck typing</a:t>
            </a:r>
            <a:r>
              <a:rPr lang="id-ID" dirty="0"/>
              <a:t>. Pilihan D adalah </a:t>
            </a:r>
            <a:r>
              <a:rPr lang="id-ID" dirty="0" i="1"/>
              <a:t>overloading</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tujuh hal yang perlu kamu bawa pulang hari ini. Jika ada yang masih samar, baca lagi bagian yang sesuai di halaman konsep, lalu jalankan contohnya di halaman praktik. Ada satu kejanggalan yang sengaja kita biarkan: kelas </a:t>
            </a:r>
            <a:r>
              <a:rPr lang="en-US" dirty="0">
                <a:latin typeface="Consolas"/>
              </a:rPr>
              <a:t>Pembayaran</a:t>
            </a:r>
            <a:r>
              <a:rPr lang="id-ID" dirty="0"/>
              <a:t> umum masih bisa dibuat objeknya dengan nama metode "Pembayaran umum". Di Pertemuan 10, kita memperbaikinya dengan kelas abstrak, lalu berkenalan dengan </a:t>
            </a:r>
            <a:r>
              <a:rPr lang="id-ID" dirty="0" i="1"/>
              <a:t>interface</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Semua bahan pertemuan ini ada di folder Pertemuan-09-Polimorfisme di GitHub. Mulailah dari halaman praktik sesuai jalurmu. Jalur Java punya satu contoh tambahan, yaitu contoh 07 tentang </a:t>
            </a:r>
            <a:r>
              <a:rPr lang="id-ID" dirty="0" i="1"/>
              <a:t>overload</a:t>
            </a:r>
            <a:r>
              <a:rPr lang="id-ID" dirty="0"/>
              <a:t> yang dipilih saat kompilasi dan </a:t>
            </a:r>
            <a:r>
              <a:rPr lang="id-ID" dirty="0" i="1"/>
              <a:t>override</a:t>
            </a:r>
            <a:r>
              <a:rPr lang="id-ID" dirty="0"/>
              <a:t> yang dipilih saat berjalan. Simpan semua percobaanmu di folder PBO-latihan-saya/pertemuan-09, bukan di folder materi. Sampai jumpa di Pertemuan 10.</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00200"/>
            <a:ext cx="7589520" cy="182880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GIAN">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697480" y="2377440"/>
            <a:ext cx="8778240" cy="96012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09 · Polimorfisme</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SI">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0A3069"/>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57606A"/>
                </a:solidFill>
              </a:rPr>
              <a:t>PBO 2026 · Pertemuan 09 · Polimorfisme</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ELAP">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09 · Polimorfisme</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29-3.png"/><Relationship Id="rId2" Type="http://schemas.openxmlformats.org/officeDocument/2006/relationships/image" Target="../media/image-29-3.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4-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4.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1.png"/><Relationship Id="rId3" Type="http://schemas.openxmlformats.org/officeDocument/2006/relationships/slideLayout" Target="../slideLayouts/slideLayout4.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7-3.png"/><Relationship Id="rId3" Type="http://schemas.openxmlformats.org/officeDocument/2006/relationships/image" Target="../media/image-29-3.png"/><Relationship Id="rId4" Type="http://schemas.openxmlformats.org/officeDocument/2006/relationships/slideLayout" Target="../slideLayouts/slideLayout4.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1.png"/><Relationship Id="rId3" Type="http://schemas.openxmlformats.org/officeDocument/2006/relationships/slideLayout" Target="../slideLayouts/slideLayout4.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7-3.png"/><Relationship Id="rId3" Type="http://schemas.openxmlformats.org/officeDocument/2006/relationships/image" Target="../media/image-29-3.png"/><Relationship Id="rId4" Type="http://schemas.openxmlformats.org/officeDocument/2006/relationships/slideLayout" Target="../slideLayouts/slideLayout4.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7-3.png"/><Relationship Id="rId3" Type="http://schemas.openxmlformats.org/officeDocument/2006/relationships/image" Target="../media/image-27-3.png"/><Relationship Id="rId4" Type="http://schemas.openxmlformats.org/officeDocument/2006/relationships/image" Target="../media/image-27-3.png"/><Relationship Id="rId5" Type="http://schemas.openxmlformats.org/officeDocument/2006/relationships/image" Target="../media/image-27-3.png"/><Relationship Id="rId6" Type="http://schemas.openxmlformats.org/officeDocument/2006/relationships/image" Target="../media/image-27-3.png"/><Relationship Id="rId7" Type="http://schemas.openxmlformats.org/officeDocument/2006/relationships/image" Target="../media/image-27-3.png"/><Relationship Id="rId8" Type="http://schemas.openxmlformats.org/officeDocument/2006/relationships/image" Target="../media/image-27-3.png"/><Relationship Id="rId9" Type="http://schemas.openxmlformats.org/officeDocument/2006/relationships/slideLayout" Target="../slideLayouts/slideLayout4.xml"/><Relationship Id="rId10"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hyperlink" Target="https://github.com/antonprafanto/PBO2026/blob/master/Pertemuan-09-Polimorfisme/README.md" TargetMode="External"/><Relationship Id="rId5" Type="http://schemas.openxmlformats.org/officeDocument/2006/relationships/hyperlink" Target="https://github.com/antonprafanto/PBO2026/blob/master/Pertemuan-09-Polimorfisme/python/README.md" TargetMode="External"/><Relationship Id="rId7" Type="http://schemas.openxmlformats.org/officeDocument/2006/relationships/hyperlink" Target="https://github.com/antonprafanto/PBO2026/blob/master/Pertemuan-09-Polimorfisme/java/README.md" TargetMode="External"/><Relationship Id="rId9" Type="http://schemas.openxmlformats.org/officeDocument/2006/relationships/hyperlink" Target="https://github.com/antonprafanto/PBO2026/blob/master/Pertemuan-09-Polimorfisme/jembatan-python-java.md" TargetMode="External"/><Relationship Id="rId11" Type="http://schemas.openxmlformats.org/officeDocument/2006/relationships/hyperlink" Target="https://github.com/antonprafanto/PBO2026/blob/master/Pertemuan-09-Polimorfisme/latihan.md" TargetMode="External"/><Relationship Id="rId13" Type="http://schemas.openxmlformats.org/officeDocument/2006/relationships/hyperlink" Target="https://github.com/antonprafanto/PBO2026/blob/master/Pertemuan-09-Polimorfisme/kuis.md" TargetMode="External"/><Relationship Id="rId15" Type="http://schemas.openxmlformats.org/officeDocument/2006/relationships/hyperlink" Target="https://github.com/antonprafanto/PBO2026/tree/master/Pertemuan-09-Polimorfisme" TargetMode="External"/><Relationship Id="rId1" Type="http://schemas.openxmlformats.org/officeDocument/2006/relationships/image" Target="../media/image-33-1.png"/><Relationship Id="rId2" Type="http://schemas.openxmlformats.org/officeDocument/2006/relationships/image" Target="../media/image-33-2.png"/><Relationship Id="rId4" Type="http://schemas.openxmlformats.org/officeDocument/2006/relationships/image" Target="../media/image-33-3.png"/><Relationship Id="rId6" Type="http://schemas.openxmlformats.org/officeDocument/2006/relationships/image" Target="../media/image-33-3.png"/><Relationship Id="rId8" Type="http://schemas.openxmlformats.org/officeDocument/2006/relationships/image" Target="../media/image-33-5.png"/><Relationship Id="rId10" Type="http://schemas.openxmlformats.org/officeDocument/2006/relationships/image" Target="../media/image-33-6.png"/><Relationship Id="rId12" Type="http://schemas.openxmlformats.org/officeDocument/2006/relationships/image" Target="../media/image-33-7.png"/><Relationship Id="rId14" Type="http://schemas.openxmlformats.org/officeDocument/2006/relationships/image" Target="../media/image-33-8.png"/><Relationship Id="rId16" Type="http://schemas.openxmlformats.org/officeDocument/2006/relationships/slideLayout" Target="../slideLayouts/slideLayout5.xml"/><Relationship Id="rId17"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97280"/>
            <a:ext cx="7680960" cy="365760"/>
          </a:xfrm>
          <a:prstGeom prst="rect">
            <a:avLst/>
          </a:prstGeom>
          <a:noFill/>
          <a:ln/>
        </p:spPr>
        <p:txBody>
          <a:bodyPr wrap="square" lIns="0" tIns="0" rIns="0" bIns="0" rtlCol="0" anchor="t"/>
          <a:lstStyle/>
          <a:p>
            <a:pPr indent="0" marL="0">
              <a:buNone/>
            </a:pPr>
            <a:r>
              <a:rPr lang="id-ID" altLang="en-US" sz="1500" b="1" spc="200" kern="0" dirty="0">
                <a:solidFill>
                  <a:srgbClr val="54AEFF"/>
                </a:solidFill>
              </a:rPr>
              <a:t>PEMROGRAMAN BERORIENTASI OBJEK 2026</a:t>
            </a:r>
            <a:endParaRPr lang="id-ID" sz="1500" dirty="0"/>
          </a:p>
        </p:txBody>
      </p:sp>
      <p:sp>
        <p:nvSpPr>
          <p:cNvPr id="3" name="Text 0"/>
          <p:cNvSpPr/>
          <p:nvPr>
            <p:ph idx="100" type="title" hasCustomPrompt="1"/>
          </p:nvPr>
        </p:nvSpPr>
        <p:spPr>
          <a:xfrm>
            <a:off x="731520" y="1600200"/>
            <a:ext cx="7589520" cy="1828800"/>
          </a:xfrm>
          <a:prstGeom prst="rect">
            <a:avLst/>
          </a:prstGeom>
          <a:noFill/>
          <a:ln/>
        </p:spPr>
        <p:txBody>
          <a:bodyPr wrap="square" lIns="0" tIns="0" rIns="0" bIns="0" rtlCol="0" anchor="t"/>
          <a:lstStyle/>
          <a:p>
            <a:pPr algn="l" indent="0" marL="0">
              <a:buNone/>
            </a:pPr>
            <a:r>
              <a:rPr lang="id-ID" altLang="en-US" sz="4800" b="1" dirty="0">
                <a:solidFill>
                  <a:srgbClr val="FFFFFF"/>
                </a:solidFill>
              </a:rPr>
              <a:t>Polimorfisme</a:t>
            </a:r>
            <a:endParaRPr lang="id-ID" sz="4800" dirty="0"/>
          </a:p>
        </p:txBody>
      </p:sp>
      <p:sp>
        <p:nvSpPr>
          <p:cNvPr id="4" name="Text 2"/>
          <p:cNvSpPr txBox="1"/>
          <p:nvPr/>
        </p:nvSpPr>
        <p:spPr>
          <a:xfrm>
            <a:off x="731520" y="2663952"/>
            <a:ext cx="7589520" cy="1097280"/>
          </a:xfrm>
          <a:prstGeom prst="rect">
            <a:avLst/>
          </a:prstGeom>
          <a:noFill/>
          <a:ln/>
        </p:spPr>
        <p:txBody>
          <a:bodyPr wrap="square" lIns="0" tIns="0" rIns="0" bIns="0" rtlCol="0" anchor="t"/>
          <a:lstStyle/>
          <a:p>
            <a:pPr indent="0" marL="0">
              <a:buNone/>
            </a:pPr>
            <a:r>
              <a:rPr lang="id-ID" altLang="en-US" sz="2200" dirty="0">
                <a:solidFill>
                  <a:srgbClr val="C9D7E8"/>
                </a:solidFill>
              </a:rPr>
              <a:t>Satu perintah, banyak bentuk: setiap objek menjawab dengan caranya sendiri</a:t>
            </a:r>
            <a:endParaRPr lang="id-ID" sz="2200" dirty="0"/>
          </a:p>
        </p:txBody>
      </p:sp>
      <p:sp>
        <p:nvSpPr>
          <p:cNvPr id="5" name="Text 3"/>
          <p:cNvSpPr txBox="1"/>
          <p:nvPr/>
        </p:nvSpPr>
        <p:spPr>
          <a:xfrm>
            <a:off x="731520" y="5349240"/>
            <a:ext cx="7589520" cy="731520"/>
          </a:xfrm>
          <a:prstGeom prst="rect">
            <a:avLst/>
          </a:prstGeom>
          <a:noFill/>
          <a:ln/>
        </p:spPr>
        <p:txBody>
          <a:bodyPr wrap="square" lIns="0" tIns="0" rIns="0" bIns="0" rtlCol="0" anchor="t"/>
          <a:lstStyle/>
          <a:p>
            <a:pPr indent="0" marL="0">
              <a:buNone/>
            </a:pPr>
            <a:r>
              <a:rPr lang="id-ID" altLang="en-US" sz="1500" dirty="0">
                <a:solidFill>
                  <a:srgbClr val="9FB3C8"/>
                </a:solidFill>
              </a:rPr>
              <a:t>Program Studi Informatika · Universitas Mulawarman</a:t>
            </a:r>
            <a:endParaRPr lang="id-ID" sz="1500" dirty="0"/>
          </a:p>
          <a:p>
            <a:pPr indent="0" marL="0">
              <a:buNone/>
            </a:pPr>
            <a:r>
              <a:rPr lang="id-ID" altLang="en-US" sz="1500" dirty="0">
                <a:solidFill>
                  <a:srgbClr val="9FB3C8"/>
                </a:solidFill>
              </a:rPr>
              <a:t>Jalur praktik: Python dan Java</a:t>
            </a:r>
            <a:endParaRPr lang="id-ID" sz="1500" dirty="0"/>
          </a:p>
        </p:txBody>
      </p:sp>
      <p:sp>
        <p:nvSpPr>
          <p:cNvPr id="6" name="Shape 4"/>
          <p:cNvSpPr/>
          <p:nvPr/>
        </p:nvSpPr>
        <p:spPr>
          <a:xfrm>
            <a:off x="8549640" y="1691640"/>
            <a:ext cx="3017520" cy="3017520"/>
          </a:xfrm>
          <a:prstGeom prst="ellipse">
            <a:avLst/>
          </a:prstGeom>
          <a:solidFill>
            <a:srgbClr val="0969DA"/>
          </a:solidFill>
          <a:ln/>
        </p:spPr>
      </p:sp>
      <p:sp>
        <p:nvSpPr>
          <p:cNvPr id="7" name="Shape 5"/>
          <p:cNvSpPr/>
          <p:nvPr/>
        </p:nvSpPr>
        <p:spPr>
          <a:xfrm>
            <a:off x="8385048" y="1527048"/>
            <a:ext cx="3346704" cy="3346704"/>
          </a:xfrm>
          <a:prstGeom prst="ellipse">
            <a:avLst/>
          </a:prstGeom>
          <a:ln w="19050">
            <a:solidFill>
              <a:srgbClr val="54AEFF"/>
            </a:solidFill>
            <a:prstDash val="solid"/>
          </a:ln>
        </p:spPr>
      </p:sp>
      <p:sp>
        <p:nvSpPr>
          <p:cNvPr id="8" name="Text 6"/>
          <p:cNvSpPr txBox="1"/>
          <p:nvPr/>
        </p:nvSpPr>
        <p:spPr>
          <a:xfrm>
            <a:off x="8549640" y="2258568"/>
            <a:ext cx="3017520" cy="365760"/>
          </a:xfrm>
          <a:prstGeom prst="rect">
            <a:avLst/>
          </a:prstGeom>
          <a:noFill/>
          <a:ln/>
        </p:spPr>
        <p:txBody>
          <a:bodyPr wrap="square" lIns="0" tIns="0" rIns="0" bIns="0" rtlCol="0" anchor="t"/>
          <a:lstStyle/>
          <a:p>
            <a:pPr algn="ctr" indent="0" marL="0">
              <a:buNone/>
            </a:pPr>
            <a:r>
              <a:rPr lang="id-ID" altLang="en-US" sz="1600" b="1" spc="300" kern="0" dirty="0">
                <a:solidFill>
                  <a:srgbClr val="DDF4FF"/>
                </a:solidFill>
              </a:rPr>
              <a:t>PERTEMUAN</a:t>
            </a:r>
            <a:endParaRPr lang="id-ID" sz="1600" dirty="0"/>
          </a:p>
        </p:txBody>
      </p:sp>
      <p:sp>
        <p:nvSpPr>
          <p:cNvPr id="9" name="Text 7"/>
          <p:cNvSpPr txBox="1"/>
          <p:nvPr/>
        </p:nvSpPr>
        <p:spPr>
          <a:xfrm>
            <a:off x="8549640" y="2560320"/>
            <a:ext cx="3017520" cy="1463040"/>
          </a:xfrm>
          <a:prstGeom prst="rect">
            <a:avLst/>
          </a:prstGeom>
          <a:noFill/>
          <a:ln/>
        </p:spPr>
        <p:txBody>
          <a:bodyPr wrap="square" lIns="0" tIns="0" rIns="0" bIns="0" rtlCol="0" anchor="ctr"/>
          <a:lstStyle/>
          <a:p>
            <a:pPr algn="ctr" indent="0" marL="0">
              <a:buNone/>
            </a:pPr>
            <a:r>
              <a:rPr lang="id-ID" altLang="en-US" sz="9600" b="1" dirty="0">
                <a:solidFill>
                  <a:srgbClr val="FFFFFF"/>
                </a:solidFill>
              </a:rPr>
              <a:t>09</a:t>
            </a:r>
            <a:endParaRPr lang="id-ID" sz="9600" dirty="0"/>
          </a:p>
        </p:txBody>
      </p:sp>
      <p:sp>
        <p:nvSpPr>
          <p:cNvPr id="10" name="Text 8"/>
          <p:cNvSpPr txBox="1"/>
          <p:nvPr/>
        </p:nvSpPr>
        <p:spPr>
          <a:xfrm>
            <a:off x="8549640" y="4069080"/>
            <a:ext cx="3017520" cy="365760"/>
          </a:xfrm>
          <a:prstGeom prst="rect">
            <a:avLst/>
          </a:prstGeom>
          <a:noFill/>
          <a:ln/>
        </p:spPr>
        <p:txBody>
          <a:bodyPr wrap="square" lIns="0" tIns="0" rIns="0" bIns="0" rtlCol="0" anchor="t"/>
          <a:lstStyle/>
          <a:p>
            <a:pPr algn="ctr" indent="0" marL="0">
              <a:buNone/>
            </a:pPr>
            <a:r>
              <a:rPr lang="id-ID" altLang="en-US" sz="1500" dirty="0">
                <a:solidFill>
                  <a:srgbClr val="DDF4FF"/>
                </a:solidFill>
              </a:rPr>
              <a:t>dari 16</a:t>
            </a:r>
            <a:endParaRPr lang="id-ID"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Tujuan Pembelajaran</a:t>
            </a:r>
            <a:endParaRPr lang="id-ID" sz="3200" dirty="0"/>
          </a:p>
        </p:txBody>
      </p:sp>
      <p:sp>
        <p:nvSpPr>
          <p:cNvPr id="5" name="Text 2"/>
          <p:cNvSpPr txBox="1"/>
          <p:nvPr/>
        </p:nvSpPr>
        <p:spPr>
          <a:xfrm>
            <a:off x="548640" y="1417320"/>
            <a:ext cx="11094415" cy="365760"/>
          </a:xfrm>
          <a:prstGeom prst="rect">
            <a:avLst/>
          </a:prstGeom>
          <a:noFill/>
          <a:ln/>
        </p:spPr>
        <p:txBody>
          <a:bodyPr wrap="square" lIns="0" tIns="0" rIns="0" bIns="0" rtlCol="0" anchor="t"/>
          <a:lstStyle/>
          <a:p>
            <a:pPr indent="0" marL="0">
              <a:buNone/>
            </a:pPr>
            <a:r>
              <a:rPr lang="id-ID" altLang="en-US" sz="1800" dirty="0">
                <a:solidFill>
                  <a:srgbClr val="57606A"/>
                </a:solidFill>
              </a:rPr>
              <a:t>Setelah pertemuan ini, kamu mampu:</a:t>
            </a:r>
            <a:endParaRPr lang="id-ID" sz="1800" dirty="0"/>
          </a:p>
        </p:txBody>
      </p:sp>
      <p:sp>
        <p:nvSpPr>
          <p:cNvPr id="6" name="Shape 3"/>
          <p:cNvSpPr/>
          <p:nvPr/>
        </p:nvSpPr>
        <p:spPr>
          <a:xfrm>
            <a:off x="548640" y="1920240"/>
            <a:ext cx="5432908" cy="1212342"/>
          </a:xfrm>
          <a:prstGeom prst="roundRect">
            <a:avLst>
              <a:gd name="adj" fmla="val 6827"/>
            </a:avLst>
          </a:prstGeom>
          <a:solidFill>
            <a:srgbClr val="F6F8FA"/>
          </a:solidFill>
          <a:ln w="9525">
            <a:solidFill>
              <a:srgbClr val="D0D7DE"/>
            </a:solidFill>
            <a:prstDash val="solid"/>
          </a:ln>
        </p:spPr>
      </p:sp>
      <p:sp>
        <p:nvSpPr>
          <p:cNvPr id="7" name="Shape 4"/>
          <p:cNvSpPr/>
          <p:nvPr/>
        </p:nvSpPr>
        <p:spPr>
          <a:xfrm>
            <a:off x="777240" y="2084832"/>
            <a:ext cx="457200" cy="457200"/>
          </a:xfrm>
          <a:prstGeom prst="ellipse">
            <a:avLst/>
          </a:prstGeom>
          <a:solidFill>
            <a:srgbClr val="0969DA"/>
          </a:solidFill>
          <a:ln/>
        </p:spPr>
      </p:sp>
      <p:sp>
        <p:nvSpPr>
          <p:cNvPr id="8" name="Text 5"/>
          <p:cNvSpPr txBox="1"/>
          <p:nvPr/>
        </p:nvSpPr>
        <p:spPr>
          <a:xfrm>
            <a:off x="777240"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1</a:t>
            </a:r>
            <a:endParaRPr lang="id-ID" sz="1800" dirty="0"/>
          </a:p>
        </p:txBody>
      </p:sp>
      <p:sp>
        <p:nvSpPr>
          <p:cNvPr id="9" name="Text 6"/>
          <p:cNvSpPr txBox="1"/>
          <p:nvPr/>
        </p:nvSpPr>
        <p:spPr>
          <a:xfrm>
            <a:off x="1417320" y="2084832"/>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Menjelaskan arti </a:t>
            </a:r>
            <a:r>
              <a:rPr lang="id-ID" altLang="en-US" sz="1900" b="1" dirty="0">
                <a:solidFill>
                  <a:srgbClr val="1F2328"/>
                </a:solidFill>
              </a:rPr>
              <a:t>polimorfisme</a:t>
            </a:r>
            <a:r>
              <a:rPr lang="id-ID" altLang="en-US" sz="1900" dirty="0">
                <a:solidFill>
                  <a:srgbClr val="1F2328"/>
                </a:solidFill>
              </a:rPr>
              <a:t> dengan analogi sehari-⁠hari dan mengenali wujudnya di dalam kode.</a:t>
            </a:r>
            <a:endParaRPr lang="id-ID" sz="1900" dirty="0"/>
          </a:p>
        </p:txBody>
      </p:sp>
      <p:sp>
        <p:nvSpPr>
          <p:cNvPr id="10" name="Shape 7"/>
          <p:cNvSpPr/>
          <p:nvPr/>
        </p:nvSpPr>
        <p:spPr>
          <a:xfrm>
            <a:off x="6210148" y="1920240"/>
            <a:ext cx="5432908" cy="1212342"/>
          </a:xfrm>
          <a:prstGeom prst="roundRect">
            <a:avLst>
              <a:gd name="adj" fmla="val 6827"/>
            </a:avLst>
          </a:prstGeom>
          <a:solidFill>
            <a:srgbClr val="F6F8FA"/>
          </a:solidFill>
          <a:ln w="9525">
            <a:solidFill>
              <a:srgbClr val="D0D7DE"/>
            </a:solidFill>
            <a:prstDash val="solid"/>
          </a:ln>
        </p:spPr>
      </p:sp>
      <p:sp>
        <p:nvSpPr>
          <p:cNvPr id="11" name="Shape 8"/>
          <p:cNvSpPr/>
          <p:nvPr/>
        </p:nvSpPr>
        <p:spPr>
          <a:xfrm>
            <a:off x="6438748" y="2084832"/>
            <a:ext cx="457200" cy="457200"/>
          </a:xfrm>
          <a:prstGeom prst="ellipse">
            <a:avLst/>
          </a:prstGeom>
          <a:solidFill>
            <a:srgbClr val="0969DA"/>
          </a:solidFill>
          <a:ln/>
        </p:spPr>
      </p:sp>
      <p:sp>
        <p:nvSpPr>
          <p:cNvPr id="12" name="Text 9"/>
          <p:cNvSpPr txBox="1"/>
          <p:nvPr/>
        </p:nvSpPr>
        <p:spPr>
          <a:xfrm>
            <a:off x="6438748"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2</a:t>
            </a:r>
            <a:endParaRPr lang="id-ID" sz="1800" dirty="0"/>
          </a:p>
        </p:txBody>
      </p:sp>
      <p:sp>
        <p:nvSpPr>
          <p:cNvPr id="13" name="Text 10"/>
          <p:cNvSpPr txBox="1"/>
          <p:nvPr/>
        </p:nvSpPr>
        <p:spPr>
          <a:xfrm>
            <a:off x="7078828" y="2084832"/>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Menjelaskan cara kerja polimorfisme: </a:t>
            </a:r>
            <a:r>
              <a:rPr lang="id-ID" altLang="en-US" sz="1900" i="1" dirty="0">
                <a:solidFill>
                  <a:srgbClr val="1F2328"/>
                </a:solidFill>
              </a:rPr>
              <a:t>override</a:t>
            </a:r>
            <a:r>
              <a:rPr lang="id-ID" altLang="en-US" sz="1900" dirty="0">
                <a:solidFill>
                  <a:srgbClr val="1F2328"/>
                </a:solidFill>
              </a:rPr>
              <a:t> + </a:t>
            </a:r>
            <a:r>
              <a:rPr lang="id-ID" altLang="en-US" sz="1900" b="1" i="1" dirty="0">
                <a:solidFill>
                  <a:srgbClr val="1F2328"/>
                </a:solidFill>
              </a:rPr>
              <a:t>dynamic dispatch</a:t>
            </a:r>
            <a:r>
              <a:rPr lang="id-ID" altLang="en-US" sz="1900" dirty="0">
                <a:solidFill>
                  <a:srgbClr val="1F2328"/>
                </a:solidFill>
              </a:rPr>
              <a:t>, termasuk beda </a:t>
            </a:r>
            <a:r>
              <a:rPr lang="id-ID" altLang="en-US" sz="1900" b="1" dirty="0">
                <a:solidFill>
                  <a:srgbClr val="1F2328"/>
                </a:solidFill>
              </a:rPr>
              <a:t>tipe variabel</a:t>
            </a:r>
            <a:r>
              <a:rPr lang="id-ID" altLang="en-US" sz="1900" dirty="0">
                <a:solidFill>
                  <a:srgbClr val="1F2328"/>
                </a:solidFill>
              </a:rPr>
              <a:t> dan </a:t>
            </a:r>
            <a:r>
              <a:rPr lang="id-ID" altLang="en-US" sz="1900" b="1" dirty="0">
                <a:solidFill>
                  <a:srgbClr val="1F2328"/>
                </a:solidFill>
              </a:rPr>
              <a:t>tipe objek</a:t>
            </a:r>
            <a:r>
              <a:rPr lang="id-ID" altLang="en-US" sz="1900" dirty="0">
                <a:solidFill>
                  <a:srgbClr val="1F2328"/>
                </a:solidFill>
              </a:rPr>
              <a:t>.</a:t>
            </a:r>
            <a:endParaRPr lang="id-ID" sz="1900" dirty="0"/>
          </a:p>
        </p:txBody>
      </p:sp>
      <p:sp>
        <p:nvSpPr>
          <p:cNvPr id="14" name="Shape 11"/>
          <p:cNvSpPr/>
          <p:nvPr/>
        </p:nvSpPr>
        <p:spPr>
          <a:xfrm>
            <a:off x="548640" y="3315462"/>
            <a:ext cx="5432908" cy="1212342"/>
          </a:xfrm>
          <a:prstGeom prst="roundRect">
            <a:avLst>
              <a:gd name="adj" fmla="val 6827"/>
            </a:avLst>
          </a:prstGeom>
          <a:solidFill>
            <a:srgbClr val="F6F8FA"/>
          </a:solidFill>
          <a:ln w="9525">
            <a:solidFill>
              <a:srgbClr val="D0D7DE"/>
            </a:solidFill>
            <a:prstDash val="solid"/>
          </a:ln>
        </p:spPr>
      </p:sp>
      <p:sp>
        <p:nvSpPr>
          <p:cNvPr id="15" name="Shape 12"/>
          <p:cNvSpPr/>
          <p:nvPr/>
        </p:nvSpPr>
        <p:spPr>
          <a:xfrm>
            <a:off x="777240" y="3480054"/>
            <a:ext cx="457200" cy="457200"/>
          </a:xfrm>
          <a:prstGeom prst="ellipse">
            <a:avLst/>
          </a:prstGeom>
          <a:solidFill>
            <a:srgbClr val="0969DA"/>
          </a:solidFill>
          <a:ln/>
        </p:spPr>
      </p:sp>
      <p:sp>
        <p:nvSpPr>
          <p:cNvPr id="16" name="Text 13"/>
          <p:cNvSpPr txBox="1"/>
          <p:nvPr/>
        </p:nvSpPr>
        <p:spPr>
          <a:xfrm>
            <a:off x="777240" y="348005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3</a:t>
            </a:r>
            <a:endParaRPr lang="id-ID" sz="1800" dirty="0"/>
          </a:p>
        </p:txBody>
      </p:sp>
      <p:sp>
        <p:nvSpPr>
          <p:cNvPr id="17" name="Text 14"/>
          <p:cNvSpPr txBox="1"/>
          <p:nvPr/>
        </p:nvSpPr>
        <p:spPr>
          <a:xfrm>
            <a:off x="1417320" y="3480054"/>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Merancang </a:t>
            </a:r>
            <a:r>
              <a:rPr lang="id-ID" altLang="en-US" sz="1900" b="1" dirty="0">
                <a:solidFill>
                  <a:srgbClr val="1F2328"/>
                </a:solidFill>
              </a:rPr>
              <a:t>koleksi polimorfik</a:t>
            </a:r>
            <a:r>
              <a:rPr lang="id-ID" altLang="en-US" sz="1900" dirty="0">
                <a:solidFill>
                  <a:srgbClr val="1F2328"/>
                </a:solidFill>
              </a:rPr>
              <a:t> sehingga jenis baru bisa ditambahkan tanpa mengubah kode pemanggil.</a:t>
            </a:r>
            <a:endParaRPr lang="id-ID" sz="1900" dirty="0"/>
          </a:p>
        </p:txBody>
      </p:sp>
      <p:sp>
        <p:nvSpPr>
          <p:cNvPr id="18" name="Shape 15"/>
          <p:cNvSpPr/>
          <p:nvPr/>
        </p:nvSpPr>
        <p:spPr>
          <a:xfrm>
            <a:off x="6210148" y="3315462"/>
            <a:ext cx="5432908" cy="1212342"/>
          </a:xfrm>
          <a:prstGeom prst="roundRect">
            <a:avLst>
              <a:gd name="adj" fmla="val 6827"/>
            </a:avLst>
          </a:prstGeom>
          <a:solidFill>
            <a:srgbClr val="F6F8FA"/>
          </a:solidFill>
          <a:ln w="9525">
            <a:solidFill>
              <a:srgbClr val="D0D7DE"/>
            </a:solidFill>
            <a:prstDash val="solid"/>
          </a:ln>
        </p:spPr>
      </p:sp>
      <p:sp>
        <p:nvSpPr>
          <p:cNvPr id="19" name="Shape 16"/>
          <p:cNvSpPr/>
          <p:nvPr/>
        </p:nvSpPr>
        <p:spPr>
          <a:xfrm>
            <a:off x="6438748" y="3480054"/>
            <a:ext cx="457200" cy="457200"/>
          </a:xfrm>
          <a:prstGeom prst="ellipse">
            <a:avLst/>
          </a:prstGeom>
          <a:solidFill>
            <a:srgbClr val="0969DA"/>
          </a:solidFill>
          <a:ln/>
        </p:spPr>
      </p:sp>
      <p:sp>
        <p:nvSpPr>
          <p:cNvPr id="20" name="Text 17"/>
          <p:cNvSpPr txBox="1"/>
          <p:nvPr/>
        </p:nvSpPr>
        <p:spPr>
          <a:xfrm>
            <a:off x="6438748" y="348005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4</a:t>
            </a:r>
            <a:endParaRPr lang="id-ID" sz="1800" dirty="0"/>
          </a:p>
        </p:txBody>
      </p:sp>
      <p:sp>
        <p:nvSpPr>
          <p:cNvPr id="21" name="Text 18"/>
          <p:cNvSpPr txBox="1"/>
          <p:nvPr/>
        </p:nvSpPr>
        <p:spPr>
          <a:xfrm>
            <a:off x="7078828" y="3480054"/>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Membedakan </a:t>
            </a:r>
            <a:r>
              <a:rPr lang="id-ID" altLang="en-US" sz="1900" b="1" i="1" dirty="0">
                <a:solidFill>
                  <a:srgbClr val="1F2328"/>
                </a:solidFill>
              </a:rPr>
              <a:t>upcasting</a:t>
            </a:r>
            <a:r>
              <a:rPr lang="id-ID" altLang="en-US" sz="1900" dirty="0">
                <a:solidFill>
                  <a:srgbClr val="1F2328"/>
                </a:solidFill>
              </a:rPr>
              <a:t> dan </a:t>
            </a:r>
            <a:r>
              <a:rPr lang="id-ID" altLang="en-US" sz="1900" b="1" i="1" dirty="0">
                <a:solidFill>
                  <a:srgbClr val="1F2328"/>
                </a:solidFill>
              </a:rPr>
              <a:t>downcasting</a:t>
            </a:r>
            <a:r>
              <a:rPr lang="id-ID" altLang="en-US" sz="1900" dirty="0">
                <a:solidFill>
                  <a:srgbClr val="1F2328"/>
                </a:solidFill>
              </a:rPr>
              <a:t>, serta tahu kapan jenis objek perlu diperiksa dengan </a:t>
            </a:r>
            <a:r>
              <a:rPr lang="id-ID" altLang="en-US" sz="1900" dirty="0">
                <a:solidFill>
                  <a:srgbClr val="1F2328"/>
                </a:solidFill>
                <a:latin typeface="Consolas" pitchFamily="34" charset="0"/>
                <a:ea typeface="Consolas" pitchFamily="34" charset="-122"/>
                <a:cs typeface="Consolas" pitchFamily="34" charset="-120"/>
              </a:rPr>
              <a:t>isinstance</a:t>
            </a:r>
            <a:r>
              <a:rPr lang="id-ID" altLang="en-US" sz="1900" dirty="0">
                <a:solidFill>
                  <a:srgbClr val="1F2328"/>
                </a:solidFill>
              </a:rPr>
              <a:t>/</a:t>
            </a:r>
            <a:r>
              <a:rPr lang="id-ID" altLang="en-US" sz="1900" dirty="0">
                <a:solidFill>
                  <a:srgbClr val="1F2328"/>
                </a:solidFill>
                <a:latin typeface="Consolas" pitchFamily="34" charset="0"/>
                <a:ea typeface="Consolas" pitchFamily="34" charset="-122"/>
                <a:cs typeface="Consolas" pitchFamily="34" charset="-120"/>
              </a:rPr>
              <a:t>instanceof</a:t>
            </a:r>
            <a:r>
              <a:rPr lang="id-ID" altLang="en-US" sz="1900" dirty="0">
                <a:solidFill>
                  <a:srgbClr val="1F2328"/>
                </a:solidFill>
              </a:rPr>
              <a:t>.</a:t>
            </a:r>
            <a:endParaRPr lang="id-ID" sz="1900" dirty="0"/>
          </a:p>
        </p:txBody>
      </p:sp>
      <p:sp>
        <p:nvSpPr>
          <p:cNvPr id="22" name="Shape 19"/>
          <p:cNvSpPr/>
          <p:nvPr/>
        </p:nvSpPr>
        <p:spPr>
          <a:xfrm>
            <a:off x="548640" y="4710684"/>
            <a:ext cx="5432908" cy="1212342"/>
          </a:xfrm>
          <a:prstGeom prst="roundRect">
            <a:avLst>
              <a:gd name="adj" fmla="val 6827"/>
            </a:avLst>
          </a:prstGeom>
          <a:solidFill>
            <a:srgbClr val="F6F8FA"/>
          </a:solidFill>
          <a:ln w="9525">
            <a:solidFill>
              <a:srgbClr val="D0D7DE"/>
            </a:solidFill>
            <a:prstDash val="solid"/>
          </a:ln>
        </p:spPr>
      </p:sp>
      <p:sp>
        <p:nvSpPr>
          <p:cNvPr id="23" name="Shape 20"/>
          <p:cNvSpPr/>
          <p:nvPr/>
        </p:nvSpPr>
        <p:spPr>
          <a:xfrm>
            <a:off x="777240" y="4875276"/>
            <a:ext cx="457200" cy="457200"/>
          </a:xfrm>
          <a:prstGeom prst="ellipse">
            <a:avLst/>
          </a:prstGeom>
          <a:solidFill>
            <a:srgbClr val="0969DA"/>
          </a:solidFill>
          <a:ln/>
        </p:spPr>
      </p:sp>
      <p:sp>
        <p:nvSpPr>
          <p:cNvPr id="24" name="Text 21"/>
          <p:cNvSpPr txBox="1"/>
          <p:nvPr/>
        </p:nvSpPr>
        <p:spPr>
          <a:xfrm>
            <a:off x="777240" y="487527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5</a:t>
            </a:r>
            <a:endParaRPr lang="id-ID" sz="1800" dirty="0"/>
          </a:p>
        </p:txBody>
      </p:sp>
      <p:sp>
        <p:nvSpPr>
          <p:cNvPr id="25" name="Text 22"/>
          <p:cNvSpPr txBox="1"/>
          <p:nvPr/>
        </p:nvSpPr>
        <p:spPr>
          <a:xfrm>
            <a:off x="1417320" y="4875276"/>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Menjelaskan </a:t>
            </a:r>
            <a:r>
              <a:rPr lang="id-ID" altLang="en-US" sz="1900" b="1" i="1" dirty="0">
                <a:solidFill>
                  <a:srgbClr val="1F2328"/>
                </a:solidFill>
              </a:rPr>
              <a:t>duck typing</a:t>
            </a:r>
            <a:r>
              <a:rPr lang="id-ID" altLang="en-US" sz="1900" dirty="0">
                <a:solidFill>
                  <a:srgbClr val="1F2328"/>
                </a:solidFill>
              </a:rPr>
              <a:t> di Python dan alasan Java membutuhkan tipe bersama.</a:t>
            </a:r>
            <a:endParaRPr lang="id-ID" sz="1900" dirty="0"/>
          </a:p>
        </p:txBody>
      </p:sp>
      <p:sp>
        <p:nvSpPr>
          <p:cNvPr id="26" name="Shape 23"/>
          <p:cNvSpPr/>
          <p:nvPr/>
        </p:nvSpPr>
        <p:spPr>
          <a:xfrm>
            <a:off x="6210148" y="4710684"/>
            <a:ext cx="5432908" cy="1212342"/>
          </a:xfrm>
          <a:prstGeom prst="roundRect">
            <a:avLst>
              <a:gd name="adj" fmla="val 6827"/>
            </a:avLst>
          </a:prstGeom>
          <a:solidFill>
            <a:srgbClr val="F6F8FA"/>
          </a:solidFill>
          <a:ln w="9525">
            <a:solidFill>
              <a:srgbClr val="D0D7DE"/>
            </a:solidFill>
            <a:prstDash val="solid"/>
          </a:ln>
        </p:spPr>
      </p:sp>
      <p:sp>
        <p:nvSpPr>
          <p:cNvPr id="27" name="Shape 24"/>
          <p:cNvSpPr/>
          <p:nvPr/>
        </p:nvSpPr>
        <p:spPr>
          <a:xfrm>
            <a:off x="6438748" y="4875276"/>
            <a:ext cx="457200" cy="457200"/>
          </a:xfrm>
          <a:prstGeom prst="ellipse">
            <a:avLst/>
          </a:prstGeom>
          <a:solidFill>
            <a:srgbClr val="0969DA"/>
          </a:solidFill>
          <a:ln/>
        </p:spPr>
      </p:sp>
      <p:sp>
        <p:nvSpPr>
          <p:cNvPr id="28" name="Text 25"/>
          <p:cNvSpPr txBox="1"/>
          <p:nvPr/>
        </p:nvSpPr>
        <p:spPr>
          <a:xfrm>
            <a:off x="6438748" y="487527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6</a:t>
            </a:r>
            <a:endParaRPr lang="id-ID" sz="1800" dirty="0"/>
          </a:p>
        </p:txBody>
      </p:sp>
      <p:sp>
        <p:nvSpPr>
          <p:cNvPr id="29" name="Text 26"/>
          <p:cNvSpPr txBox="1"/>
          <p:nvPr/>
        </p:nvSpPr>
        <p:spPr>
          <a:xfrm>
            <a:off x="7078828" y="4875276"/>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Membedakan </a:t>
            </a:r>
            <a:r>
              <a:rPr lang="id-ID" altLang="en-US" sz="1900" i="1" dirty="0">
                <a:solidFill>
                  <a:srgbClr val="1F2328"/>
                </a:solidFill>
              </a:rPr>
              <a:t>overriding</a:t>
            </a:r>
            <a:r>
              <a:rPr lang="id-ID" altLang="en-US" sz="1900" dirty="0">
                <a:solidFill>
                  <a:srgbClr val="1F2328"/>
                </a:solidFill>
              </a:rPr>
              <a:t> dan </a:t>
            </a:r>
            <a:r>
              <a:rPr lang="id-ID" altLang="en-US" sz="1900" i="1" dirty="0">
                <a:solidFill>
                  <a:srgbClr val="1F2328"/>
                </a:solidFill>
              </a:rPr>
              <a:t>overloading</a:t>
            </a:r>
            <a:r>
              <a:rPr lang="id-ID" altLang="en-US" sz="1900" dirty="0">
                <a:solidFill>
                  <a:srgbClr val="1F2328"/>
                </a:solidFill>
              </a:rPr>
              <a:t>, serta memakai pengganti </a:t>
            </a:r>
            <a:r>
              <a:rPr lang="id-ID" altLang="en-US" sz="1900" i="1" dirty="0">
                <a:solidFill>
                  <a:srgbClr val="1F2328"/>
                </a:solidFill>
              </a:rPr>
              <a:t>overloading</a:t>
            </a:r>
            <a:r>
              <a:rPr lang="id-ID" altLang="en-US" sz="1900" dirty="0">
                <a:solidFill>
                  <a:srgbClr val="1F2328"/>
                </a:solidFill>
              </a:rPr>
              <a:t> di Python.</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Mengingat Kembali</a:t>
            </a:r>
            <a:endParaRPr lang="id-ID" sz="3200" dirty="0"/>
          </a:p>
        </p:txBody>
      </p:sp>
      <p:sp>
        <p:nvSpPr>
          <p:cNvPr id="5" name="Shape 2"/>
          <p:cNvSpPr/>
          <p:nvPr/>
        </p:nvSpPr>
        <p:spPr>
          <a:xfrm>
            <a:off x="548640" y="1600383"/>
            <a:ext cx="2377440" cy="4346448"/>
          </a:xfrm>
          <a:prstGeom prst="roundRect">
            <a:avLst>
              <a:gd name="adj" fmla="val 2663"/>
            </a:avLst>
          </a:prstGeom>
          <a:solidFill>
            <a:srgbClr val="DDF4FF"/>
          </a:solidFill>
          <a:ln w="9525">
            <a:solidFill>
              <a:srgbClr val="54AEFF"/>
            </a:solidFill>
            <a:prstDash val="solid"/>
          </a:ln>
        </p:spPr>
      </p:sp>
      <p:sp>
        <p:nvSpPr>
          <p:cNvPr id="6" name="Shape 3"/>
          <p:cNvSpPr/>
          <p:nvPr/>
        </p:nvSpPr>
        <p:spPr>
          <a:xfrm>
            <a:off x="1188720" y="2813487"/>
            <a:ext cx="1097280" cy="1097280"/>
          </a:xfrm>
          <a:prstGeom prst="ellipse">
            <a:avLst/>
          </a:prstGeom>
          <a:solidFill>
            <a:srgbClr val="0969DA"/>
          </a:solidFill>
          <a:ln/>
        </p:spPr>
      </p:sp>
      <p:pic>
        <p:nvPicPr>
          <p:cNvPr id="7" name="Image 1" descr="preencoded.png">    </p:cNvPr>
          <p:cNvPicPr>
            <a:picLocks noChangeAspect="1"/>
          </p:cNvPicPr>
          <p:nvPr/>
        </p:nvPicPr>
        <p:blipFill>
          <a:blip r:embed="rId2"/>
          <a:stretch>
            <a:fillRect/>
          </a:stretch>
        </p:blipFill>
        <p:spPr>
          <a:xfrm>
            <a:off x="1430122" y="3054888"/>
            <a:ext cx="614477" cy="614477"/>
          </a:xfrm>
          <a:prstGeom prst="rect">
            <a:avLst/>
          </a:prstGeom>
        </p:spPr>
      </p:pic>
      <p:sp>
        <p:nvSpPr>
          <p:cNvPr id="8" name="Text 4"/>
          <p:cNvSpPr txBox="1"/>
          <p:nvPr/>
        </p:nvSpPr>
        <p:spPr>
          <a:xfrm>
            <a:off x="731520" y="4093647"/>
            <a:ext cx="2011680" cy="640080"/>
          </a:xfrm>
          <a:prstGeom prst="rect">
            <a:avLst/>
          </a:prstGeom>
          <a:noFill/>
          <a:ln/>
        </p:spPr>
        <p:txBody>
          <a:bodyPr wrap="square" lIns="0" tIns="0" rIns="0" bIns="0" rtlCol="0" anchor="t"/>
          <a:lstStyle/>
          <a:p>
            <a:pPr algn="ctr" indent="0" marL="0">
              <a:buNone/>
            </a:pPr>
            <a:r>
              <a:rPr lang="id-ID" altLang="en-US" sz="1600" b="1" dirty="0">
                <a:solidFill>
                  <a:srgbClr val="0A3069"/>
                </a:solidFill>
              </a:rPr>
              <a:t>Dari pertemuan sebelumnya</a:t>
            </a:r>
            <a:endParaRPr lang="id-ID" sz="1600" dirty="0"/>
          </a:p>
        </p:txBody>
      </p:sp>
      <p:sp>
        <p:nvSpPr>
          <p:cNvPr id="9" name="Shape 5"/>
          <p:cNvSpPr/>
          <p:nvPr/>
        </p:nvSpPr>
        <p:spPr>
          <a:xfrm>
            <a:off x="3346704" y="1992051"/>
            <a:ext cx="137160" cy="137160"/>
          </a:xfrm>
          <a:prstGeom prst="roundRect">
            <a:avLst>
              <a:gd name="adj" fmla="val 166667"/>
            </a:avLst>
          </a:prstGeom>
          <a:solidFill>
            <a:srgbClr val="0969DA"/>
          </a:solidFill>
          <a:ln/>
        </p:spPr>
      </p:sp>
      <p:sp>
        <p:nvSpPr>
          <p:cNvPr id="10" name="Text 6"/>
          <p:cNvSpPr txBox="1"/>
          <p:nvPr/>
        </p:nvSpPr>
        <p:spPr>
          <a:xfrm>
            <a:off x="3675888" y="1874703"/>
            <a:ext cx="7967167" cy="789432"/>
          </a:xfrm>
          <a:prstGeom prst="rect">
            <a:avLst/>
          </a:prstGeom>
          <a:noFill/>
          <a:ln/>
        </p:spPr>
        <p:txBody>
          <a:bodyPr wrap="square" lIns="0" tIns="0" rIns="0" bIns="0" rtlCol="0" anchor="t"/>
          <a:lstStyle/>
          <a:p>
            <a:pPr indent="0" marL="0">
              <a:buNone/>
            </a:pPr>
            <a:r>
              <a:rPr lang="id-ID" altLang="en-US" sz="2400" b="1" dirty="0">
                <a:solidFill>
                  <a:srgbClr val="1F2328"/>
                </a:solidFill>
              </a:rPr>
              <a:t>Pewarisan</a:t>
            </a:r>
            <a:r>
              <a:rPr lang="id-ID" altLang="en-US" sz="2400" dirty="0">
                <a:solidFill>
                  <a:srgbClr val="1F2328"/>
                </a:solidFill>
              </a:rPr>
              <a:t>: kelas anak mewarisi atribut dan </a:t>
            </a:r>
            <a:r>
              <a:rPr lang="id-ID" altLang="en-US" sz="2400" i="1" dirty="0">
                <a:solidFill>
                  <a:srgbClr val="1F2328"/>
                </a:solidFill>
              </a:rPr>
              <a:t>method</a:t>
            </a:r>
            <a:r>
              <a:rPr lang="id-ID" altLang="en-US" sz="2400" dirty="0">
                <a:solidFill>
                  <a:srgbClr val="1F2328"/>
                </a:solidFill>
              </a:rPr>
              <a:t> induk. </a:t>
            </a:r>
            <a:r>
              <a:rPr lang="id-ID" altLang="en-US" sz="2400" dirty="0">
                <a:solidFill>
                  <a:srgbClr val="1F2328"/>
                </a:solidFill>
                <a:latin typeface="Consolas" pitchFamily="34" charset="0"/>
                <a:ea typeface="Consolas" pitchFamily="34" charset="-122"/>
                <a:cs typeface="Consolas" pitchFamily="34" charset="-120"/>
              </a:rPr>
              <a:t>Makanan</a:t>
            </a:r>
            <a:r>
              <a:rPr lang="id-ID" altLang="en-US" sz="2400" dirty="0">
                <a:solidFill>
                  <a:srgbClr val="1F2328"/>
                </a:solidFill>
              </a:rPr>
              <a:t> </a:t>
            </a:r>
            <a:r>
              <a:rPr lang="id-ID" altLang="en-US" sz="2400" b="1" dirty="0">
                <a:solidFill>
                  <a:srgbClr val="1F2328"/>
                </a:solidFill>
              </a:rPr>
              <a:t>adalah</a:t>
            </a:r>
            <a:r>
              <a:rPr lang="id-ID" altLang="en-US" sz="2400" dirty="0">
                <a:solidFill>
                  <a:srgbClr val="1F2328"/>
                </a:solidFill>
              </a:rPr>
              <a:t> </a:t>
            </a:r>
            <a:r>
              <a:rPr lang="id-ID" altLang="en-US" sz="2400" dirty="0">
                <a:solidFill>
                  <a:srgbClr val="1F2328"/>
                </a:solidFill>
                <a:latin typeface="Consolas" pitchFamily="34" charset="0"/>
                <a:ea typeface="Consolas" pitchFamily="34" charset="-122"/>
                <a:cs typeface="Consolas" pitchFamily="34" charset="-120"/>
              </a:rPr>
              <a:t>Menu</a:t>
            </a:r>
            <a:r>
              <a:rPr lang="id-ID" altLang="en-US" sz="2400" dirty="0">
                <a:solidFill>
                  <a:srgbClr val="1F2328"/>
                </a:solidFill>
              </a:rPr>
              <a:t> (</a:t>
            </a:r>
            <a:r>
              <a:rPr lang="id-ID" altLang="en-US" sz="2400" i="1" dirty="0">
                <a:solidFill>
                  <a:srgbClr val="1F2328"/>
                </a:solidFill>
              </a:rPr>
              <a:t>is-⁠a</a:t>
            </a:r>
            <a:r>
              <a:rPr lang="id-ID" altLang="en-US" sz="2400" dirty="0">
                <a:solidFill>
                  <a:srgbClr val="1F2328"/>
                </a:solidFill>
              </a:rPr>
              <a:t>).</a:t>
            </a:r>
            <a:endParaRPr lang="id-ID" sz="2400" dirty="0"/>
          </a:p>
        </p:txBody>
      </p:sp>
      <p:sp>
        <p:nvSpPr>
          <p:cNvPr id="11" name="Shape 7"/>
          <p:cNvSpPr/>
          <p:nvPr/>
        </p:nvSpPr>
        <p:spPr>
          <a:xfrm>
            <a:off x="3346704" y="3010083"/>
            <a:ext cx="137160" cy="137160"/>
          </a:xfrm>
          <a:prstGeom prst="roundRect">
            <a:avLst>
              <a:gd name="adj" fmla="val 166667"/>
            </a:avLst>
          </a:prstGeom>
          <a:solidFill>
            <a:srgbClr val="0969DA"/>
          </a:solidFill>
          <a:ln/>
        </p:spPr>
      </p:sp>
      <p:sp>
        <p:nvSpPr>
          <p:cNvPr id="12" name="Text 8"/>
          <p:cNvSpPr txBox="1"/>
          <p:nvPr/>
        </p:nvSpPr>
        <p:spPr>
          <a:xfrm>
            <a:off x="3675888" y="2892735"/>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Kelas anak boleh meng-⁠</a:t>
            </a:r>
            <a:r>
              <a:rPr lang="id-ID" altLang="en-US" sz="2400" b="1" i="1" dirty="0">
                <a:solidFill>
                  <a:srgbClr val="1F2328"/>
                </a:solidFill>
              </a:rPr>
              <a:t>override</a:t>
            </a:r>
            <a:r>
              <a:rPr lang="id-ID" altLang="en-US" sz="2400" dirty="0">
                <a:solidFill>
                  <a:srgbClr val="1F2328"/>
                </a:solidFill>
              </a:rPr>
              <a:t> </a:t>
            </a:r>
            <a:r>
              <a:rPr lang="id-ID" altLang="en-US" sz="2400" i="1" dirty="0">
                <a:solidFill>
                  <a:srgbClr val="1F2328"/>
                </a:solidFill>
              </a:rPr>
              <a:t>method</a:t>
            </a:r>
            <a:r>
              <a:rPr lang="id-ID" altLang="en-US" sz="2400" dirty="0">
                <a:solidFill>
                  <a:srgbClr val="1F2328"/>
                </a:solidFill>
              </a:rPr>
              <a:t> induk: nama dan parameter sama, isinya ditulis ulang.</a:t>
            </a:r>
            <a:endParaRPr lang="id-ID" sz="2400" dirty="0"/>
          </a:p>
        </p:txBody>
      </p:sp>
      <p:sp>
        <p:nvSpPr>
          <p:cNvPr id="13" name="Shape 9"/>
          <p:cNvSpPr/>
          <p:nvPr/>
        </p:nvSpPr>
        <p:spPr>
          <a:xfrm>
            <a:off x="3346704" y="4028115"/>
            <a:ext cx="137160" cy="137160"/>
          </a:xfrm>
          <a:prstGeom prst="roundRect">
            <a:avLst>
              <a:gd name="adj" fmla="val 166667"/>
            </a:avLst>
          </a:prstGeom>
          <a:solidFill>
            <a:srgbClr val="0969DA"/>
          </a:solidFill>
          <a:ln/>
        </p:spPr>
      </p:sp>
      <p:sp>
        <p:nvSpPr>
          <p:cNvPr id="14" name="Text 10"/>
          <p:cNvSpPr txBox="1"/>
          <p:nvPr/>
        </p:nvSpPr>
        <p:spPr>
          <a:xfrm>
            <a:off x="3675888" y="3910767"/>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Objek anak juga terhitung objek induk; diperiksa dengan </a:t>
            </a:r>
            <a:r>
              <a:rPr lang="id-ID" altLang="en-US" sz="2400" dirty="0">
                <a:solidFill>
                  <a:srgbClr val="1F2328"/>
                </a:solidFill>
                <a:latin typeface="Consolas" pitchFamily="34" charset="0"/>
                <a:ea typeface="Consolas" pitchFamily="34" charset="-122"/>
                <a:cs typeface="Consolas" pitchFamily="34" charset="-120"/>
              </a:rPr>
              <a:t>isinstance</a:t>
            </a:r>
            <a:r>
              <a:rPr lang="id-ID" altLang="en-US" sz="2400" dirty="0">
                <a:solidFill>
                  <a:srgbClr val="1F2328"/>
                </a:solidFill>
              </a:rPr>
              <a:t> (Python) atau </a:t>
            </a:r>
            <a:r>
              <a:rPr lang="id-ID" altLang="en-US" sz="2400" dirty="0">
                <a:solidFill>
                  <a:srgbClr val="1F2328"/>
                </a:solidFill>
                <a:latin typeface="Consolas" pitchFamily="34" charset="0"/>
                <a:ea typeface="Consolas" pitchFamily="34" charset="-122"/>
                <a:cs typeface="Consolas" pitchFamily="34" charset="-120"/>
              </a:rPr>
              <a:t>instanceof</a:t>
            </a:r>
            <a:r>
              <a:rPr lang="id-ID" altLang="en-US" sz="2400" dirty="0">
                <a:solidFill>
                  <a:srgbClr val="1F2328"/>
                </a:solidFill>
              </a:rPr>
              <a:t> (Java).</a:t>
            </a:r>
            <a:endParaRPr lang="id-ID" sz="2400" dirty="0"/>
          </a:p>
        </p:txBody>
      </p:sp>
      <p:sp>
        <p:nvSpPr>
          <p:cNvPr id="15" name="Shape 11"/>
          <p:cNvSpPr/>
          <p:nvPr/>
        </p:nvSpPr>
        <p:spPr>
          <a:xfrm>
            <a:off x="3346704" y="5046147"/>
            <a:ext cx="137160" cy="137160"/>
          </a:xfrm>
          <a:prstGeom prst="roundRect">
            <a:avLst>
              <a:gd name="adj" fmla="val 166667"/>
            </a:avLst>
          </a:prstGeom>
          <a:solidFill>
            <a:srgbClr val="0969DA"/>
          </a:solidFill>
          <a:ln/>
        </p:spPr>
      </p:sp>
      <p:sp>
        <p:nvSpPr>
          <p:cNvPr id="16" name="Text 12"/>
          <p:cNvSpPr txBox="1"/>
          <p:nvPr/>
        </p:nvSpPr>
        <p:spPr>
          <a:xfrm>
            <a:off x="3675888" y="4928799"/>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Teka-⁠teki Pertemuan 07: menu dicetak tanpa tahu jenisnya, tetapi makanan dan minuman tampil berbeda. Mengapa?</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Agenda Hari Ini</a:t>
            </a:r>
            <a:endParaRPr lang="id-ID" sz="3200" dirty="0"/>
          </a:p>
        </p:txBody>
      </p:sp>
      <p:sp>
        <p:nvSpPr>
          <p:cNvPr id="5" name="Shape 2"/>
          <p:cNvSpPr/>
          <p:nvPr/>
        </p:nvSpPr>
        <p:spPr>
          <a:xfrm>
            <a:off x="548640" y="1709420"/>
            <a:ext cx="3515258" cy="1824736"/>
          </a:xfrm>
          <a:prstGeom prst="roundRect">
            <a:avLst>
              <a:gd name="adj" fmla="val 3013"/>
            </a:avLst>
          </a:prstGeom>
          <a:solidFill>
            <a:srgbClr val="F6F8FA"/>
          </a:solidFill>
          <a:ln w="9525">
            <a:solidFill>
              <a:srgbClr val="D0D7DE"/>
            </a:solidFill>
            <a:prstDash val="solid"/>
          </a:ln>
        </p:spPr>
      </p:sp>
      <p:sp>
        <p:nvSpPr>
          <p:cNvPr id="6" name="Shape 3"/>
          <p:cNvSpPr/>
          <p:nvPr/>
        </p:nvSpPr>
        <p:spPr>
          <a:xfrm>
            <a:off x="777240" y="1938020"/>
            <a:ext cx="512064" cy="512064"/>
          </a:xfrm>
          <a:prstGeom prst="ellipse">
            <a:avLst/>
          </a:prstGeom>
          <a:solidFill>
            <a:srgbClr val="0969DA"/>
          </a:solidFill>
          <a:ln/>
        </p:spPr>
      </p:sp>
      <p:sp>
        <p:nvSpPr>
          <p:cNvPr id="7" name="Text 4"/>
          <p:cNvSpPr txBox="1"/>
          <p:nvPr/>
        </p:nvSpPr>
        <p:spPr>
          <a:xfrm>
            <a:off x="777240"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1</a:t>
            </a:r>
            <a:endParaRPr lang="id-ID" sz="2000" dirty="0"/>
          </a:p>
        </p:txBody>
      </p:sp>
      <p:sp>
        <p:nvSpPr>
          <p:cNvPr id="8" name="Text 5"/>
          <p:cNvSpPr txBox="1"/>
          <p:nvPr/>
        </p:nvSpPr>
        <p:spPr>
          <a:xfrm>
            <a:off x="777240"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Satu perintah, banyak bentuk</a:t>
            </a:r>
            <a:endParaRPr lang="id-ID" sz="2200" dirty="0"/>
          </a:p>
        </p:txBody>
      </p:sp>
      <p:sp>
        <p:nvSpPr>
          <p:cNvPr id="9" name="Shape 6"/>
          <p:cNvSpPr/>
          <p:nvPr/>
        </p:nvSpPr>
        <p:spPr>
          <a:xfrm>
            <a:off x="4338218" y="1709420"/>
            <a:ext cx="3515258" cy="1824736"/>
          </a:xfrm>
          <a:prstGeom prst="roundRect">
            <a:avLst>
              <a:gd name="adj" fmla="val 3013"/>
            </a:avLst>
          </a:prstGeom>
          <a:solidFill>
            <a:srgbClr val="F6F8FA"/>
          </a:solidFill>
          <a:ln w="9525">
            <a:solidFill>
              <a:srgbClr val="D0D7DE"/>
            </a:solidFill>
            <a:prstDash val="solid"/>
          </a:ln>
        </p:spPr>
      </p:sp>
      <p:sp>
        <p:nvSpPr>
          <p:cNvPr id="10" name="Shape 7"/>
          <p:cNvSpPr/>
          <p:nvPr/>
        </p:nvSpPr>
        <p:spPr>
          <a:xfrm>
            <a:off x="4566818" y="1938020"/>
            <a:ext cx="512064" cy="512064"/>
          </a:xfrm>
          <a:prstGeom prst="ellipse">
            <a:avLst/>
          </a:prstGeom>
          <a:solidFill>
            <a:srgbClr val="0969DA"/>
          </a:solidFill>
          <a:ln/>
        </p:spPr>
      </p:sp>
      <p:sp>
        <p:nvSpPr>
          <p:cNvPr id="11" name="Text 8"/>
          <p:cNvSpPr txBox="1"/>
          <p:nvPr/>
        </p:nvSpPr>
        <p:spPr>
          <a:xfrm>
            <a:off x="4566818"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2</a:t>
            </a:r>
            <a:endParaRPr lang="id-ID" sz="2000" dirty="0"/>
          </a:p>
        </p:txBody>
      </p:sp>
      <p:sp>
        <p:nvSpPr>
          <p:cNvPr id="12" name="Text 9"/>
          <p:cNvSpPr txBox="1"/>
          <p:nvPr/>
        </p:nvSpPr>
        <p:spPr>
          <a:xfrm>
            <a:off x="4566818"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Cara kerja: </a:t>
            </a:r>
            <a:r>
              <a:rPr lang="id-ID" altLang="en-US" sz="2200" i="1" dirty="0">
                <a:solidFill>
                  <a:srgbClr val="1F2328"/>
                </a:solidFill>
              </a:rPr>
              <a:t>override</a:t>
            </a:r>
            <a:r>
              <a:rPr lang="id-ID" altLang="en-US" sz="2200" dirty="0">
                <a:solidFill>
                  <a:srgbClr val="1F2328"/>
                </a:solidFill>
              </a:rPr>
              <a:t> dan </a:t>
            </a:r>
            <a:r>
              <a:rPr lang="id-ID" altLang="en-US" sz="2200" i="1" dirty="0">
                <a:solidFill>
                  <a:srgbClr val="1F2328"/>
                </a:solidFill>
              </a:rPr>
              <a:t>dynamic dispatch</a:t>
            </a:r>
            <a:endParaRPr lang="id-ID" sz="2200" dirty="0"/>
          </a:p>
        </p:txBody>
      </p:sp>
      <p:sp>
        <p:nvSpPr>
          <p:cNvPr id="13" name="Shape 10"/>
          <p:cNvSpPr/>
          <p:nvPr/>
        </p:nvSpPr>
        <p:spPr>
          <a:xfrm>
            <a:off x="8127797" y="1709420"/>
            <a:ext cx="3515258" cy="1824736"/>
          </a:xfrm>
          <a:prstGeom prst="roundRect">
            <a:avLst>
              <a:gd name="adj" fmla="val 3013"/>
            </a:avLst>
          </a:prstGeom>
          <a:solidFill>
            <a:srgbClr val="F6F8FA"/>
          </a:solidFill>
          <a:ln w="9525">
            <a:solidFill>
              <a:srgbClr val="D0D7DE"/>
            </a:solidFill>
            <a:prstDash val="solid"/>
          </a:ln>
        </p:spPr>
      </p:sp>
      <p:sp>
        <p:nvSpPr>
          <p:cNvPr id="14" name="Shape 11"/>
          <p:cNvSpPr/>
          <p:nvPr/>
        </p:nvSpPr>
        <p:spPr>
          <a:xfrm>
            <a:off x="8356397" y="1938020"/>
            <a:ext cx="512064" cy="512064"/>
          </a:xfrm>
          <a:prstGeom prst="ellipse">
            <a:avLst/>
          </a:prstGeom>
          <a:solidFill>
            <a:srgbClr val="0969DA"/>
          </a:solidFill>
          <a:ln/>
        </p:spPr>
      </p:sp>
      <p:sp>
        <p:nvSpPr>
          <p:cNvPr id="15" name="Text 12"/>
          <p:cNvSpPr txBox="1"/>
          <p:nvPr/>
        </p:nvSpPr>
        <p:spPr>
          <a:xfrm>
            <a:off x="8356397"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3</a:t>
            </a:r>
            <a:endParaRPr lang="id-ID" sz="2000" dirty="0"/>
          </a:p>
        </p:txBody>
      </p:sp>
      <p:sp>
        <p:nvSpPr>
          <p:cNvPr id="16" name="Text 13"/>
          <p:cNvSpPr txBox="1"/>
          <p:nvPr/>
        </p:nvSpPr>
        <p:spPr>
          <a:xfrm>
            <a:off x="8356397"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Koleksi polimorfik dan </a:t>
            </a:r>
            <a:r>
              <a:rPr lang="id-ID" altLang="en-US" sz="2200" dirty="0">
                <a:solidFill>
                  <a:srgbClr val="1F2328"/>
                </a:solidFill>
                <a:latin typeface="Consolas" pitchFamily="34" charset="0"/>
                <a:ea typeface="Consolas" pitchFamily="34" charset="-122"/>
                <a:cs typeface="Consolas" pitchFamily="34" charset="-120"/>
              </a:rPr>
              <a:t>self</a:t>
            </a:r>
            <a:r>
              <a:rPr lang="id-ID" altLang="en-US" sz="2200" dirty="0">
                <a:solidFill>
                  <a:srgbClr val="1F2328"/>
                </a:solidFill>
              </a:rPr>
              <a:t>/</a:t>
            </a:r>
            <a:r>
              <a:rPr lang="id-ID" altLang="en-US" sz="2200" dirty="0">
                <a:solidFill>
                  <a:srgbClr val="1F2328"/>
                </a:solidFill>
                <a:latin typeface="Consolas" pitchFamily="34" charset="0"/>
                <a:ea typeface="Consolas" pitchFamily="34" charset="-122"/>
                <a:cs typeface="Consolas" pitchFamily="34" charset="-120"/>
              </a:rPr>
              <a:t>this</a:t>
            </a:r>
            <a:endParaRPr lang="id-ID" sz="2200" dirty="0"/>
          </a:p>
        </p:txBody>
      </p:sp>
      <p:sp>
        <p:nvSpPr>
          <p:cNvPr id="17" name="Shape 14"/>
          <p:cNvSpPr/>
          <p:nvPr/>
        </p:nvSpPr>
        <p:spPr>
          <a:xfrm>
            <a:off x="548640" y="3808476"/>
            <a:ext cx="3515258" cy="1824736"/>
          </a:xfrm>
          <a:prstGeom prst="roundRect">
            <a:avLst>
              <a:gd name="adj" fmla="val 3013"/>
            </a:avLst>
          </a:prstGeom>
          <a:solidFill>
            <a:srgbClr val="F6F8FA"/>
          </a:solidFill>
          <a:ln w="9525">
            <a:solidFill>
              <a:srgbClr val="D0D7DE"/>
            </a:solidFill>
            <a:prstDash val="solid"/>
          </a:ln>
        </p:spPr>
      </p:sp>
      <p:sp>
        <p:nvSpPr>
          <p:cNvPr id="18" name="Shape 15"/>
          <p:cNvSpPr/>
          <p:nvPr/>
        </p:nvSpPr>
        <p:spPr>
          <a:xfrm>
            <a:off x="777240" y="4037076"/>
            <a:ext cx="512064" cy="512064"/>
          </a:xfrm>
          <a:prstGeom prst="ellipse">
            <a:avLst/>
          </a:prstGeom>
          <a:solidFill>
            <a:srgbClr val="0969DA"/>
          </a:solidFill>
          <a:ln/>
        </p:spPr>
      </p:sp>
      <p:sp>
        <p:nvSpPr>
          <p:cNvPr id="19" name="Text 16"/>
          <p:cNvSpPr txBox="1"/>
          <p:nvPr/>
        </p:nvSpPr>
        <p:spPr>
          <a:xfrm>
            <a:off x="777240"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4</a:t>
            </a:r>
            <a:endParaRPr lang="id-ID" sz="2000" dirty="0"/>
          </a:p>
        </p:txBody>
      </p:sp>
      <p:sp>
        <p:nvSpPr>
          <p:cNvPr id="20" name="Text 17"/>
          <p:cNvSpPr txBox="1"/>
          <p:nvPr/>
        </p:nvSpPr>
        <p:spPr>
          <a:xfrm>
            <a:off x="777240" y="4677156"/>
            <a:ext cx="3058058" cy="773176"/>
          </a:xfrm>
          <a:prstGeom prst="rect">
            <a:avLst/>
          </a:prstGeom>
          <a:noFill/>
          <a:ln/>
        </p:spPr>
        <p:txBody>
          <a:bodyPr wrap="square" lIns="0" tIns="0" rIns="0" bIns="0" rtlCol="0" anchor="t"/>
          <a:lstStyle/>
          <a:p>
            <a:pPr indent="0" marL="0">
              <a:buNone/>
            </a:pPr>
            <a:r>
              <a:rPr lang="id-ID" altLang="en-US" sz="2200" i="1" dirty="0">
                <a:solidFill>
                  <a:srgbClr val="1F2328"/>
                </a:solidFill>
              </a:rPr>
              <a:t>Upcasting</a:t>
            </a:r>
            <a:r>
              <a:rPr lang="id-ID" altLang="en-US" sz="2200" dirty="0">
                <a:solidFill>
                  <a:srgbClr val="1F2328"/>
                </a:solidFill>
              </a:rPr>
              <a:t>, </a:t>
            </a:r>
            <a:r>
              <a:rPr lang="id-ID" altLang="en-US" sz="2200" i="1" dirty="0">
                <a:solidFill>
                  <a:srgbClr val="1F2328"/>
                </a:solidFill>
              </a:rPr>
              <a:t>downcasting</a:t>
            </a:r>
            <a:r>
              <a:rPr lang="id-ID" altLang="en-US" sz="2200" dirty="0">
                <a:solidFill>
                  <a:srgbClr val="1F2328"/>
                </a:solidFill>
              </a:rPr>
              <a:t>, dan </a:t>
            </a:r>
            <a:r>
              <a:rPr lang="id-ID" altLang="en-US" sz="2200" i="1" dirty="0">
                <a:solidFill>
                  <a:srgbClr val="1F2328"/>
                </a:solidFill>
              </a:rPr>
              <a:t>duck typing</a:t>
            </a:r>
            <a:endParaRPr lang="id-ID" sz="2200" dirty="0"/>
          </a:p>
        </p:txBody>
      </p:sp>
      <p:sp>
        <p:nvSpPr>
          <p:cNvPr id="21" name="Shape 18"/>
          <p:cNvSpPr/>
          <p:nvPr/>
        </p:nvSpPr>
        <p:spPr>
          <a:xfrm>
            <a:off x="4338218" y="3808476"/>
            <a:ext cx="3515258" cy="1824736"/>
          </a:xfrm>
          <a:prstGeom prst="roundRect">
            <a:avLst>
              <a:gd name="adj" fmla="val 3013"/>
            </a:avLst>
          </a:prstGeom>
          <a:solidFill>
            <a:srgbClr val="F6F8FA"/>
          </a:solidFill>
          <a:ln w="9525">
            <a:solidFill>
              <a:srgbClr val="D0D7DE"/>
            </a:solidFill>
            <a:prstDash val="solid"/>
          </a:ln>
        </p:spPr>
      </p:sp>
      <p:sp>
        <p:nvSpPr>
          <p:cNvPr id="22" name="Shape 19"/>
          <p:cNvSpPr/>
          <p:nvPr/>
        </p:nvSpPr>
        <p:spPr>
          <a:xfrm>
            <a:off x="4566818" y="4037076"/>
            <a:ext cx="512064" cy="512064"/>
          </a:xfrm>
          <a:prstGeom prst="ellipse">
            <a:avLst/>
          </a:prstGeom>
          <a:solidFill>
            <a:srgbClr val="0969DA"/>
          </a:solidFill>
          <a:ln/>
        </p:spPr>
      </p:sp>
      <p:sp>
        <p:nvSpPr>
          <p:cNvPr id="23" name="Text 20"/>
          <p:cNvSpPr txBox="1"/>
          <p:nvPr/>
        </p:nvSpPr>
        <p:spPr>
          <a:xfrm>
            <a:off x="4566818"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5</a:t>
            </a:r>
            <a:endParaRPr lang="id-ID" sz="2000" dirty="0"/>
          </a:p>
        </p:txBody>
      </p:sp>
      <p:sp>
        <p:nvSpPr>
          <p:cNvPr id="24" name="Text 21"/>
          <p:cNvSpPr txBox="1"/>
          <p:nvPr/>
        </p:nvSpPr>
        <p:spPr>
          <a:xfrm>
            <a:off x="4566818" y="4677156"/>
            <a:ext cx="3058058" cy="773176"/>
          </a:xfrm>
          <a:prstGeom prst="rect">
            <a:avLst/>
          </a:prstGeom>
          <a:noFill/>
          <a:ln/>
        </p:spPr>
        <p:txBody>
          <a:bodyPr wrap="square" lIns="0" tIns="0" rIns="0" bIns="0" rtlCol="0" anchor="t"/>
          <a:lstStyle/>
          <a:p>
            <a:pPr indent="0" marL="0">
              <a:buNone/>
            </a:pPr>
            <a:r>
              <a:rPr lang="id-ID" altLang="en-US" sz="2200" i="1" dirty="0">
                <a:solidFill>
                  <a:srgbClr val="1F2328"/>
                </a:solidFill>
              </a:rPr>
              <a:t>Overloading</a:t>
            </a:r>
            <a:r>
              <a:rPr lang="id-ID" altLang="en-US" sz="2200" dirty="0">
                <a:solidFill>
                  <a:srgbClr val="1F2328"/>
                </a:solidFill>
              </a:rPr>
              <a:t> dan penggantinya di Python</a:t>
            </a:r>
            <a:endParaRPr lang="id-ID" sz="2200" dirty="0"/>
          </a:p>
        </p:txBody>
      </p:sp>
      <p:sp>
        <p:nvSpPr>
          <p:cNvPr id="25" name="Shape 22"/>
          <p:cNvSpPr/>
          <p:nvPr/>
        </p:nvSpPr>
        <p:spPr>
          <a:xfrm>
            <a:off x="8127797" y="3808476"/>
            <a:ext cx="3515258" cy="1824736"/>
          </a:xfrm>
          <a:prstGeom prst="roundRect">
            <a:avLst>
              <a:gd name="adj" fmla="val 3013"/>
            </a:avLst>
          </a:prstGeom>
          <a:solidFill>
            <a:srgbClr val="F6F8FA"/>
          </a:solidFill>
          <a:ln w="9525">
            <a:solidFill>
              <a:srgbClr val="D0D7DE"/>
            </a:solidFill>
            <a:prstDash val="solid"/>
          </a:ln>
        </p:spPr>
      </p:sp>
      <p:sp>
        <p:nvSpPr>
          <p:cNvPr id="26" name="Shape 23"/>
          <p:cNvSpPr/>
          <p:nvPr/>
        </p:nvSpPr>
        <p:spPr>
          <a:xfrm>
            <a:off x="8356397" y="4037076"/>
            <a:ext cx="512064" cy="512064"/>
          </a:xfrm>
          <a:prstGeom prst="ellipse">
            <a:avLst/>
          </a:prstGeom>
          <a:solidFill>
            <a:srgbClr val="0969DA"/>
          </a:solidFill>
          <a:ln/>
        </p:spPr>
      </p:sp>
      <p:sp>
        <p:nvSpPr>
          <p:cNvPr id="27" name="Text 24"/>
          <p:cNvSpPr txBox="1"/>
          <p:nvPr/>
        </p:nvSpPr>
        <p:spPr>
          <a:xfrm>
            <a:off x="8356397"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6</a:t>
            </a:r>
            <a:endParaRPr lang="id-ID" sz="2000" dirty="0"/>
          </a:p>
        </p:txBody>
      </p:sp>
      <p:sp>
        <p:nvSpPr>
          <p:cNvPr id="28" name="Text 25"/>
          <p:cNvSpPr txBox="1"/>
          <p:nvPr/>
        </p:nvSpPr>
        <p:spPr>
          <a:xfrm>
            <a:off x="8356397" y="4677156"/>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Studi kasus KedaiKita: banyak cara bayar</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1</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1</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Satu Perintah, Banyak Bentuk</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Dari kasir yang kebingungan menuju satu perintah untuk semua jenis pembayaran.</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Masalah: Kasir dengan Banyak Cara Bayar</a:t>
            </a:r>
            <a:endParaRPr lang="id-ID"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43243"/>
          <a:ext cx="11094415" cy="914400"/>
        </p:xfrm>
        <a:graphic>
          <a:graphicData uri="http://schemas.openxmlformats.org/drawingml/2006/table">
            <a:tbl>
              <a:tblPr/>
              <a:tblGrid>
                <a:gridCol w="5500084"/>
                <a:gridCol w="5594331"/>
              </a:tblGrid>
              <a:tr h="508254">
                <a:tc>
                  <a:txBody>
                    <a:bodyPr/>
                    <a:lstStyle/>
                    <a:p>
                      <a:pPr indent="0" marL="0">
                        <a:buNone/>
                      </a:pPr>
                      <a:r>
                        <a:rPr lang="id-ID" altLang="en-US" sz="2100" b="1" dirty="0">
                          <a:solidFill>
                            <a:srgbClr val="FFFFFF"/>
                          </a:solidFill>
                          <a:latin typeface="Calibri" pitchFamily="34" charset="0"/>
                          <a:ea typeface="Calibri" pitchFamily="34" charset="-122"/>
                          <a:cs typeface="Calibri" pitchFamily="34" charset="-120"/>
                        </a:rPr>
                        <a:t>Kejadian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100" b="1" dirty="0">
                          <a:solidFill>
                            <a:srgbClr val="FFFFFF"/>
                          </a:solidFill>
                          <a:latin typeface="Calibri" pitchFamily="34" charset="0"/>
                          <a:ea typeface="Calibri" pitchFamily="34" charset="-122"/>
                          <a:cs typeface="Calibri" pitchFamily="34" charset="-120"/>
                        </a:rPr>
                        <a:t>Akibatnya, pada kode berpercabangan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33628">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Kedai ingin menerima </a:t>
                      </a:r>
                      <a:r>
                        <a:rPr lang="id-ID" altLang="en-US" sz="2100" i="1" dirty="0">
                          <a:solidFill>
                            <a:srgbClr val="1F2328"/>
                          </a:solidFill>
                          <a:latin typeface="Calibri" pitchFamily="34" charset="0"/>
                          <a:ea typeface="Calibri" pitchFamily="34" charset="-122"/>
                          <a:cs typeface="Calibri" pitchFamily="34" charset="-120"/>
                        </a:rPr>
                        <a:t>voucher</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Fungsi </a:t>
                      </a:r>
                      <a:r>
                        <a:rPr lang="id-ID" altLang="en-US" sz="2100" dirty="0">
                          <a:solidFill>
                            <a:srgbClr val="0A3069"/>
                          </a:solidFill>
                          <a:latin typeface="Consolas" pitchFamily="34" charset="0"/>
                          <a:ea typeface="Consolas" pitchFamily="34" charset="-122"/>
                          <a:cs typeface="Consolas" pitchFamily="34" charset="-120"/>
                        </a:rPr>
                        <a:t>bayar</a:t>
                      </a:r>
                      <a:r>
                        <a:rPr lang="id-ID" altLang="en-US" sz="2100" dirty="0">
                          <a:solidFill>
                            <a:srgbClr val="1F2328"/>
                          </a:solidFill>
                          <a:latin typeface="Calibri" pitchFamily="34" charset="0"/>
                          <a:ea typeface="Calibri" pitchFamily="34" charset="-122"/>
                          <a:cs typeface="Calibri" pitchFamily="34" charset="-120"/>
                        </a:rPr>
                        <a:t> harus </a:t>
                      </a:r>
                      <a:r>
                        <a:rPr lang="id-ID" altLang="en-US" sz="2100" b="1" dirty="0">
                          <a:solidFill>
                            <a:srgbClr val="1F2328"/>
                          </a:solidFill>
                          <a:latin typeface="Calibri" pitchFamily="34" charset="0"/>
                          <a:ea typeface="Calibri" pitchFamily="34" charset="-122"/>
                          <a:cs typeface="Calibri" pitchFamily="34" charset="-120"/>
                        </a:rPr>
                        <a:t>dibongkar</a:t>
                      </a:r>
                      <a:r>
                        <a:rPr lang="id-ID" altLang="en-US" sz="2100" dirty="0">
                          <a:solidFill>
                            <a:srgbClr val="1F2328"/>
                          </a:solidFill>
                          <a:latin typeface="Calibri" pitchFamily="34" charset="0"/>
                          <a:ea typeface="Calibri" pitchFamily="34" charset="-122"/>
                          <a:cs typeface="Calibri" pitchFamily="34" charset="-120"/>
                        </a:rPr>
                        <a:t> untuk menambah satu cabang lagi</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33628">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Struk, laporan harian, dan biaya layanan juga butuh tahu jenis pembayaran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Percabangan </a:t>
                      </a:r>
                      <a:r>
                        <a:rPr lang="id-ID" altLang="en-US" sz="2100" b="1" dirty="0">
                          <a:solidFill>
                            <a:srgbClr val="1F2328"/>
                          </a:solidFill>
                          <a:latin typeface="Calibri" pitchFamily="34" charset="0"/>
                          <a:ea typeface="Calibri" pitchFamily="34" charset="-122"/>
                          <a:cs typeface="Calibri" pitchFamily="34" charset="-120"/>
                        </a:rPr>
                        <a:t>tersebar</a:t>
                      </a:r>
                      <a:r>
                        <a:rPr lang="id-ID" altLang="en-US" sz="2100" dirty="0">
                          <a:solidFill>
                            <a:srgbClr val="1F2328"/>
                          </a:solidFill>
                          <a:latin typeface="Calibri" pitchFamily="34" charset="0"/>
                          <a:ea typeface="Calibri" pitchFamily="34" charset="-122"/>
                          <a:cs typeface="Calibri" pitchFamily="34" charset="-120"/>
                        </a:rPr>
                        <a:t>; lupa mengubah satu tempat, hasil tidak konsisten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33628">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Ada yang menulis </a:t>
                      </a:r>
                      <a:r>
                        <a:rPr lang="id-ID" altLang="en-US" sz="2100" dirty="0">
                          <a:solidFill>
                            <a:srgbClr val="0A3069"/>
                          </a:solidFill>
                          <a:latin typeface="Consolas" pitchFamily="34" charset="0"/>
                          <a:ea typeface="Consolas" pitchFamily="34" charset="-122"/>
                          <a:cs typeface="Consolas" pitchFamily="34" charset="-120"/>
                        </a:rPr>
                        <a:t>"Tunai"</a:t>
                      </a:r>
                      <a:r>
                        <a:rPr lang="id-ID" altLang="en-US" sz="2100" dirty="0">
                          <a:solidFill>
                            <a:srgbClr val="1F2328"/>
                          </a:solidFill>
                          <a:latin typeface="Calibri" pitchFamily="34" charset="0"/>
                          <a:ea typeface="Calibri" pitchFamily="34" charset="-122"/>
                          <a:cs typeface="Calibri" pitchFamily="34" charset="-120"/>
                        </a:rPr>
                        <a:t> dengan huruf T besar</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Tidak ada cabang yang cocok; kesalahan baru ketahuan saat program berjalan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33628">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Aturan QRIS diubah</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Fungsi berisi aturan tunai dan kartu ikut disentuh; bagian lain bisa rusak</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532897"/>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605318"/>
            <a:ext cx="184343" cy="184343"/>
          </a:xfrm>
          <a:prstGeom prst="rect">
            <a:avLst/>
          </a:prstGeom>
        </p:spPr>
      </p:pic>
      <p:sp>
        <p:nvSpPr>
          <p:cNvPr id="8" name="Text 3"/>
          <p:cNvSpPr txBox="1"/>
          <p:nvPr/>
        </p:nvSpPr>
        <p:spPr>
          <a:xfrm>
            <a:off x="1005840" y="5514609"/>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Akar masalahnya: </a:t>
            </a:r>
            <a:r>
              <a:rPr lang="id-ID" altLang="en-US" sz="1800" b="1" dirty="0">
                <a:solidFill>
                  <a:srgbClr val="57606A"/>
                </a:solidFill>
              </a:rPr>
              <a:t>pemanggil</a:t>
            </a:r>
            <a:r>
              <a:rPr lang="id-ID" altLang="en-US" sz="1800" dirty="0">
                <a:solidFill>
                  <a:srgbClr val="57606A"/>
                </a:solidFill>
              </a:rPr>
              <a:t> dipaksa tahu semua jenis. Seharusnya ia cukup berkata “bayar!”, lalu setiap jenis mengurus dirinya.</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9A67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Satu Tombol “Bayar”, Banyak Perilaku</a:t>
            </a:r>
            <a:endParaRPr lang="id-ID" sz="3200" dirty="0"/>
          </a:p>
        </p:txBody>
      </p:sp>
      <p:sp>
        <p:nvSpPr>
          <p:cNvPr id="5" name="Shape 2"/>
          <p:cNvSpPr/>
          <p:nvPr/>
        </p:nvSpPr>
        <p:spPr>
          <a:xfrm>
            <a:off x="548640" y="1498397"/>
            <a:ext cx="5074920" cy="4589272"/>
          </a:xfrm>
          <a:prstGeom prst="roundRect">
            <a:avLst>
              <a:gd name="adj" fmla="val 635"/>
            </a:avLst>
          </a:prstGeom>
          <a:solidFill>
            <a:srgbClr val="FFF8C5"/>
          </a:solidFill>
          <a:ln w="9525">
            <a:solidFill>
              <a:srgbClr val="D4A72C"/>
            </a:solidFill>
            <a:prstDash val="solid"/>
          </a:ln>
        </p:spPr>
      </p:sp>
      <p:sp>
        <p:nvSpPr>
          <p:cNvPr id="6" name="Shape 3"/>
          <p:cNvSpPr/>
          <p:nvPr/>
        </p:nvSpPr>
        <p:spPr>
          <a:xfrm>
            <a:off x="822960" y="1726997"/>
            <a:ext cx="457200" cy="457200"/>
          </a:xfrm>
          <a:prstGeom prst="ellipse">
            <a:avLst/>
          </a:prstGeom>
          <a:solidFill>
            <a:srgbClr val="9A6700"/>
          </a:solidFill>
          <a:ln/>
        </p:spPr>
      </p:sp>
      <p:pic>
        <p:nvPicPr>
          <p:cNvPr id="7" name="Image 1" descr="preencoded.png">    </p:cNvPr>
          <p:cNvPicPr>
            <a:picLocks noChangeAspect="1"/>
          </p:cNvPicPr>
          <p:nvPr/>
        </p:nvPicPr>
        <p:blipFill>
          <a:blip r:embed="rId2"/>
          <a:stretch>
            <a:fillRect/>
          </a:stretch>
        </p:blipFill>
        <p:spPr>
          <a:xfrm>
            <a:off x="923544" y="1827581"/>
            <a:ext cx="256032" cy="256032"/>
          </a:xfrm>
          <a:prstGeom prst="rect">
            <a:avLst/>
          </a:prstGeom>
        </p:spPr>
      </p:pic>
      <p:sp>
        <p:nvSpPr>
          <p:cNvPr id="8" name="Text 4"/>
          <p:cNvSpPr txBox="1"/>
          <p:nvPr/>
        </p:nvSpPr>
        <p:spPr>
          <a:xfrm>
            <a:off x="1417320" y="1772717"/>
            <a:ext cx="2743200" cy="365760"/>
          </a:xfrm>
          <a:prstGeom prst="rect">
            <a:avLst/>
          </a:prstGeom>
          <a:noFill/>
          <a:ln/>
        </p:spPr>
        <p:txBody>
          <a:bodyPr wrap="square" lIns="0" tIns="0" rIns="0" bIns="0" rtlCol="0" anchor="t"/>
          <a:lstStyle/>
          <a:p>
            <a:pPr indent="0" marL="0">
              <a:buNone/>
            </a:pPr>
            <a:r>
              <a:rPr lang="id-ID" altLang="en-US" sz="1600" b="1" dirty="0">
                <a:solidFill>
                  <a:srgbClr val="9A6700"/>
                </a:solidFill>
              </a:rPr>
              <a:t>Analogi</a:t>
            </a:r>
            <a:endParaRPr lang="id-ID" sz="1600" dirty="0"/>
          </a:p>
        </p:txBody>
      </p:sp>
      <p:sp>
        <p:nvSpPr>
          <p:cNvPr id="9" name="Shape 5"/>
          <p:cNvSpPr/>
          <p:nvPr/>
        </p:nvSpPr>
        <p:spPr>
          <a:xfrm>
            <a:off x="923544" y="2453437"/>
            <a:ext cx="137160" cy="137160"/>
          </a:xfrm>
          <a:prstGeom prst="roundRect">
            <a:avLst>
              <a:gd name="adj" fmla="val 166667"/>
            </a:avLst>
          </a:prstGeom>
          <a:solidFill>
            <a:srgbClr val="9A6700"/>
          </a:solidFill>
          <a:ln/>
        </p:spPr>
      </p:sp>
      <p:sp>
        <p:nvSpPr>
          <p:cNvPr id="10" name="Text 6"/>
          <p:cNvSpPr txBox="1"/>
          <p:nvPr/>
        </p:nvSpPr>
        <p:spPr>
          <a:xfrm>
            <a:off x="1252728" y="2367077"/>
            <a:ext cx="3867912" cy="975360"/>
          </a:xfrm>
          <a:prstGeom prst="rect">
            <a:avLst/>
          </a:prstGeom>
          <a:noFill/>
          <a:ln/>
        </p:spPr>
        <p:txBody>
          <a:bodyPr wrap="square" lIns="0" tIns="0" rIns="0" bIns="0" rtlCol="0" anchor="t"/>
          <a:lstStyle/>
          <a:p>
            <a:pPr indent="0" marL="0">
              <a:buNone/>
            </a:pPr>
            <a:r>
              <a:rPr lang="id-ID" altLang="en-US" sz="2000" dirty="0">
                <a:solidFill>
                  <a:srgbClr val="1F2328"/>
                </a:solidFill>
              </a:rPr>
              <a:t>Di aplikasi pesan-⁠antar makanan, kamu selalu menekan tombol </a:t>
            </a:r>
            <a:r>
              <a:rPr lang="id-ID" altLang="en-US" sz="2000" b="1" dirty="0">
                <a:solidFill>
                  <a:srgbClr val="1F2328"/>
                </a:solidFill>
              </a:rPr>
              <a:t>Bayar</a:t>
            </a:r>
            <a:r>
              <a:rPr lang="id-ID" altLang="en-US" sz="2000" dirty="0">
                <a:solidFill>
                  <a:srgbClr val="1F2328"/>
                </a:solidFill>
              </a:rPr>
              <a:t> yang sama.</a:t>
            </a:r>
            <a:endParaRPr lang="id-ID" sz="2000" dirty="0"/>
          </a:p>
        </p:txBody>
      </p:sp>
      <p:sp>
        <p:nvSpPr>
          <p:cNvPr id="11" name="Shape 7"/>
          <p:cNvSpPr/>
          <p:nvPr/>
        </p:nvSpPr>
        <p:spPr>
          <a:xfrm>
            <a:off x="923544" y="3602533"/>
            <a:ext cx="137160" cy="137160"/>
          </a:xfrm>
          <a:prstGeom prst="roundRect">
            <a:avLst>
              <a:gd name="adj" fmla="val 166667"/>
            </a:avLst>
          </a:prstGeom>
          <a:solidFill>
            <a:srgbClr val="9A6700"/>
          </a:solidFill>
          <a:ln/>
        </p:spPr>
      </p:sp>
      <p:sp>
        <p:nvSpPr>
          <p:cNvPr id="12" name="Text 8"/>
          <p:cNvSpPr txBox="1"/>
          <p:nvPr/>
        </p:nvSpPr>
        <p:spPr>
          <a:xfrm>
            <a:off x="1252728" y="3516173"/>
            <a:ext cx="3867912" cy="975360"/>
          </a:xfrm>
          <a:prstGeom prst="rect">
            <a:avLst/>
          </a:prstGeom>
          <a:noFill/>
          <a:ln/>
        </p:spPr>
        <p:txBody>
          <a:bodyPr wrap="square" lIns="0" tIns="0" rIns="0" bIns="0" rtlCol="0" anchor="t"/>
          <a:lstStyle/>
          <a:p>
            <a:pPr indent="0" marL="0">
              <a:buNone/>
            </a:pPr>
            <a:r>
              <a:rPr lang="id-ID" altLang="en-US" sz="2000" dirty="0">
                <a:solidFill>
                  <a:srgbClr val="1F2328"/>
                </a:solidFill>
              </a:rPr>
              <a:t>Tunai: pengemudi menerima uang. </a:t>
            </a:r>
            <a:r>
              <a:rPr lang="id-ID" altLang="en-US" sz="2000" i="1" dirty="0">
                <a:solidFill>
                  <a:srgbClr val="1F2328"/>
                </a:solidFill>
              </a:rPr>
              <a:t>E-⁠wallet</a:t>
            </a:r>
            <a:r>
              <a:rPr lang="id-ID" altLang="en-US" sz="2000" dirty="0">
                <a:solidFill>
                  <a:srgbClr val="1F2328"/>
                </a:solidFill>
              </a:rPr>
              <a:t>: saldo terpotong. Kartu kredit: aplikasi menghubungi bank.</a:t>
            </a:r>
            <a:endParaRPr lang="id-ID" sz="2000" dirty="0"/>
          </a:p>
        </p:txBody>
      </p:sp>
      <p:sp>
        <p:nvSpPr>
          <p:cNvPr id="13" name="Shape 9"/>
          <p:cNvSpPr/>
          <p:nvPr/>
        </p:nvSpPr>
        <p:spPr>
          <a:xfrm>
            <a:off x="923544" y="4751629"/>
            <a:ext cx="137160" cy="137160"/>
          </a:xfrm>
          <a:prstGeom prst="roundRect">
            <a:avLst>
              <a:gd name="adj" fmla="val 166667"/>
            </a:avLst>
          </a:prstGeom>
          <a:solidFill>
            <a:srgbClr val="9A6700"/>
          </a:solidFill>
          <a:ln/>
        </p:spPr>
      </p:sp>
      <p:sp>
        <p:nvSpPr>
          <p:cNvPr id="14" name="Text 10"/>
          <p:cNvSpPr txBox="1"/>
          <p:nvPr/>
        </p:nvSpPr>
        <p:spPr>
          <a:xfrm>
            <a:off x="1252728" y="4665269"/>
            <a:ext cx="3867912" cy="1285240"/>
          </a:xfrm>
          <a:prstGeom prst="rect">
            <a:avLst/>
          </a:prstGeom>
          <a:noFill/>
          <a:ln/>
        </p:spPr>
        <p:txBody>
          <a:bodyPr wrap="square" lIns="0" tIns="0" rIns="0" bIns="0" rtlCol="0" anchor="t"/>
          <a:lstStyle/>
          <a:p>
            <a:pPr indent="0" marL="0">
              <a:buNone/>
            </a:pPr>
            <a:r>
              <a:rPr lang="id-ID" altLang="en-US" sz="2000" dirty="0">
                <a:solidFill>
                  <a:srgbClr val="1F2328"/>
                </a:solidFill>
              </a:rPr>
              <a:t>Tombolnya satu, perilakunya banyak. Tombol putar di ponselmu juga bisa memutar lagu, video, atau </a:t>
            </a:r>
            <a:r>
              <a:rPr lang="id-ID" altLang="en-US" sz="2000" i="1" dirty="0">
                <a:solidFill>
                  <a:srgbClr val="1F2328"/>
                </a:solidFill>
              </a:rPr>
              <a:t>podcast</a:t>
            </a:r>
            <a:r>
              <a:rPr lang="id-ID" altLang="en-US" sz="2000" dirty="0">
                <a:solidFill>
                  <a:srgbClr val="1F2328"/>
                </a:solidFill>
              </a:rPr>
              <a:t>.</a:t>
            </a:r>
            <a:endParaRPr lang="id-ID" sz="2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943600" y="2342693"/>
          <a:ext cx="5699455" cy="914400"/>
        </p:xfrm>
        <a:graphic>
          <a:graphicData uri="http://schemas.openxmlformats.org/drawingml/2006/table">
            <a:tbl>
              <a:tblPr/>
              <a:tblGrid>
                <a:gridCol w="2802353"/>
                <a:gridCol w="2897103"/>
              </a:tblGrid>
              <a:tr h="492760">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Aplikasi pesan-⁠antar</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PBO</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Tombol </a:t>
                      </a:r>
                      <a:r>
                        <a:rPr lang="id-ID" altLang="en-US" sz="2000" b="1" dirty="0">
                          <a:solidFill>
                            <a:srgbClr val="1F2328"/>
                          </a:solidFill>
                          <a:latin typeface="Calibri" pitchFamily="34" charset="0"/>
                          <a:ea typeface="Calibri" pitchFamily="34" charset="-122"/>
                          <a:cs typeface="Calibri" pitchFamily="34" charset="-120"/>
                        </a:rPr>
                        <a:t>Bayar</a:t>
                      </a:r>
                      <a:r>
                        <a:rPr lang="id-ID" altLang="en-US" sz="2000" dirty="0">
                          <a:solidFill>
                            <a:srgbClr val="1F2328"/>
                          </a:solidFill>
                          <a:latin typeface="Calibri" pitchFamily="34" charset="0"/>
                          <a:ea typeface="Calibri" pitchFamily="34" charset="-122"/>
                          <a:cs typeface="Calibri" pitchFamily="34" charset="-120"/>
                        </a:rPr>
                        <a:t> yang selalu sama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Pemanggilan </a:t>
                      </a:r>
                      <a:r>
                        <a:rPr lang="id-ID" altLang="en-US" sz="2000" i="1" dirty="0">
                          <a:solidFill>
                            <a:srgbClr val="1F2328"/>
                          </a:solidFill>
                          <a:latin typeface="Calibri" pitchFamily="34" charset="0"/>
                          <a:ea typeface="Calibri" pitchFamily="34" charset="-122"/>
                          <a:cs typeface="Calibri" pitchFamily="34" charset="-120"/>
                        </a:rPr>
                        <a:t>method</a:t>
                      </a:r>
                      <a:r>
                        <a:rPr lang="id-ID" altLang="en-US" sz="2000" dirty="0">
                          <a:solidFill>
                            <a:srgbClr val="1F2328"/>
                          </a:solidFill>
                          <a:latin typeface="Calibri" pitchFamily="34" charset="0"/>
                          <a:ea typeface="Calibri" pitchFamily="34" charset="-122"/>
                          <a:cs typeface="Calibri" pitchFamily="34" charset="-120"/>
                        </a:rPr>
                        <a:t> yang sama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Tunai, </a:t>
                      </a:r>
                      <a:r>
                        <a:rPr lang="id-ID" altLang="en-US" sz="2000" i="1" dirty="0">
                          <a:solidFill>
                            <a:srgbClr val="1F2328"/>
                          </a:solidFill>
                          <a:latin typeface="Calibri" pitchFamily="34" charset="0"/>
                          <a:ea typeface="Calibri" pitchFamily="34" charset="-122"/>
                          <a:cs typeface="Calibri" pitchFamily="34" charset="-120"/>
                        </a:rPr>
                        <a:t>e-⁠wallet</a:t>
                      </a:r>
                      <a:r>
                        <a:rPr lang="id-ID" altLang="en-US" sz="2000" dirty="0">
                          <a:solidFill>
                            <a:srgbClr val="1F2328"/>
                          </a:solidFill>
                          <a:latin typeface="Calibri" pitchFamily="34" charset="0"/>
                          <a:ea typeface="Calibri" pitchFamily="34" charset="-122"/>
                          <a:cs typeface="Calibri" pitchFamily="34" charset="-120"/>
                        </a:rPr>
                        <a:t>, kartu kredit</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Objek dari kelas yang berbeda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Yang terjadi di balik tombol</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Versi </a:t>
                      </a:r>
                      <a:r>
                        <a:rPr lang="id-ID" altLang="en-US" sz="2000" i="1" dirty="0">
                          <a:solidFill>
                            <a:srgbClr val="1F2328"/>
                          </a:solidFill>
                          <a:latin typeface="Calibri" pitchFamily="34" charset="0"/>
                          <a:ea typeface="Calibri" pitchFamily="34" charset="-122"/>
                          <a:cs typeface="Calibri" pitchFamily="34" charset="-120"/>
                        </a:rPr>
                        <a:t>method</a:t>
                      </a:r>
                      <a:r>
                        <a:rPr lang="id-ID" altLang="en-US" sz="2000" dirty="0">
                          <a:solidFill>
                            <a:srgbClr val="1F2328"/>
                          </a:solidFill>
                          <a:latin typeface="Calibri" pitchFamily="34" charset="0"/>
                          <a:ea typeface="Calibri" pitchFamily="34" charset="-122"/>
                          <a:cs typeface="Calibri" pitchFamily="34" charset="-120"/>
                        </a:rPr>
                        <a:t> milik setiap objek</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Polimorfisme: “Banyak Bentuk”</a:t>
            </a:r>
            <a:endParaRPr lang="id-ID" sz="3200" dirty="0"/>
          </a:p>
        </p:txBody>
      </p:sp>
      <p:sp>
        <p:nvSpPr>
          <p:cNvPr id="5" name="Text 2"/>
          <p:cNvSpPr txBox="1"/>
          <p:nvPr/>
        </p:nvSpPr>
        <p:spPr>
          <a:xfrm>
            <a:off x="548640" y="1554084"/>
            <a:ext cx="11094415" cy="548640"/>
          </a:xfrm>
          <a:prstGeom prst="rect">
            <a:avLst/>
          </a:prstGeom>
          <a:noFill/>
          <a:ln/>
        </p:spPr>
        <p:txBody>
          <a:bodyPr wrap="square" lIns="0" tIns="0" rIns="0" bIns="0" rtlCol="0" anchor="t"/>
          <a:lstStyle/>
          <a:p>
            <a:pPr indent="0" marL="0">
              <a:buNone/>
            </a:pPr>
            <a:r>
              <a:rPr lang="id-ID" altLang="en-US" sz="3000" b="1" dirty="0">
                <a:solidFill>
                  <a:srgbClr val="0969DA"/>
                </a:solidFill>
              </a:rPr>
              <a:t>Polimorfisme (</a:t>
            </a:r>
            <a:r>
              <a:rPr lang="id-ID" altLang="en-US" sz="3000" b="1" i="1" dirty="0">
                <a:solidFill>
                  <a:srgbClr val="0969DA"/>
                </a:solidFill>
              </a:rPr>
              <a:t>polymorphism</a:t>
            </a:r>
            <a:r>
              <a:rPr lang="id-ID" altLang="en-US" sz="3000" b="1" dirty="0">
                <a:solidFill>
                  <a:srgbClr val="0969DA"/>
                </a:solidFill>
              </a:rPr>
              <a:t>)</a:t>
            </a:r>
            <a:endParaRPr lang="id-ID" sz="3000" dirty="0"/>
          </a:p>
        </p:txBody>
      </p:sp>
      <p:sp>
        <p:nvSpPr>
          <p:cNvPr id="6" name="Shape 3"/>
          <p:cNvSpPr/>
          <p:nvPr/>
        </p:nvSpPr>
        <p:spPr>
          <a:xfrm>
            <a:off x="548640" y="2267316"/>
            <a:ext cx="11094415" cy="1571244"/>
          </a:xfrm>
          <a:prstGeom prst="roundRect">
            <a:avLst>
              <a:gd name="adj" fmla="val 4064"/>
            </a:avLst>
          </a:prstGeom>
          <a:solidFill>
            <a:srgbClr val="DDF4FF"/>
          </a:solidFill>
          <a:ln w="9525">
            <a:solidFill>
              <a:srgbClr val="54AEFF"/>
            </a:solidFill>
            <a:prstDash val="solid"/>
          </a:ln>
        </p:spPr>
      </p:sp>
      <p:sp>
        <p:nvSpPr>
          <p:cNvPr id="7" name="Shape 4"/>
          <p:cNvSpPr/>
          <p:nvPr/>
        </p:nvSpPr>
        <p:spPr>
          <a:xfrm>
            <a:off x="804672" y="2778618"/>
            <a:ext cx="548640" cy="548640"/>
          </a:xfrm>
          <a:prstGeom prst="ellipse">
            <a:avLst/>
          </a:prstGeom>
          <a:solidFill>
            <a:srgbClr val="0969DA"/>
          </a:solidFill>
          <a:ln/>
        </p:spPr>
      </p:sp>
      <p:pic>
        <p:nvPicPr>
          <p:cNvPr id="8" name="Image 1" descr="preencoded.png">    </p:cNvPr>
          <p:cNvPicPr>
            <a:picLocks noChangeAspect="1"/>
          </p:cNvPicPr>
          <p:nvPr/>
        </p:nvPicPr>
        <p:blipFill>
          <a:blip r:embed="rId2"/>
          <a:stretch>
            <a:fillRect/>
          </a:stretch>
        </p:blipFill>
        <p:spPr>
          <a:xfrm>
            <a:off x="925373" y="2899319"/>
            <a:ext cx="307238" cy="307238"/>
          </a:xfrm>
          <a:prstGeom prst="rect">
            <a:avLst/>
          </a:prstGeom>
        </p:spPr>
      </p:pic>
      <p:sp>
        <p:nvSpPr>
          <p:cNvPr id="9" name="Text 5"/>
          <p:cNvSpPr txBox="1"/>
          <p:nvPr/>
        </p:nvSpPr>
        <p:spPr>
          <a:xfrm>
            <a:off x="1554480" y="2541636"/>
            <a:ext cx="9859975" cy="1205484"/>
          </a:xfrm>
          <a:prstGeom prst="rect">
            <a:avLst/>
          </a:prstGeom>
          <a:noFill/>
          <a:ln/>
        </p:spPr>
        <p:txBody>
          <a:bodyPr wrap="square" lIns="0" tIns="0" rIns="0" bIns="0" rtlCol="0" anchor="t"/>
          <a:lstStyle/>
          <a:p>
            <a:pPr indent="0" marL="0">
              <a:buNone/>
            </a:pPr>
            <a:r>
              <a:rPr lang="id-ID" altLang="en-US" sz="2200" dirty="0">
                <a:solidFill>
                  <a:srgbClr val="1F2328"/>
                </a:solidFill>
              </a:rPr>
              <a:t>Kemampuan objek-⁠objek dari kelas yang berbeda untuk menanggapi pemanggilan </a:t>
            </a:r>
            <a:r>
              <a:rPr lang="id-ID" altLang="en-US" sz="2200" i="1" dirty="0">
                <a:solidFill>
                  <a:srgbClr val="1F2328"/>
                </a:solidFill>
              </a:rPr>
              <a:t>method</a:t>
            </a:r>
            <a:r>
              <a:rPr lang="id-ID" altLang="en-US" sz="2200" dirty="0">
                <a:solidFill>
                  <a:srgbClr val="1F2328"/>
                </a:solidFill>
              </a:rPr>
              <a:t> yang sama dengan </a:t>
            </a:r>
            <a:r>
              <a:rPr lang="id-ID" altLang="en-US" sz="2200" b="1" dirty="0">
                <a:solidFill>
                  <a:srgbClr val="1F2328"/>
                </a:solidFill>
              </a:rPr>
              <a:t>cara masing-⁠masing</a:t>
            </a:r>
            <a:r>
              <a:rPr lang="id-ID" altLang="en-US" sz="2200" dirty="0">
                <a:solidFill>
                  <a:srgbClr val="1F2328"/>
                </a:solidFill>
              </a:rPr>
              <a:t>. Pemanggil cukup tahu </a:t>
            </a:r>
            <a:r>
              <a:rPr lang="id-ID" altLang="en-US" sz="2200" i="1" dirty="0">
                <a:solidFill>
                  <a:srgbClr val="1F2328"/>
                </a:solidFill>
              </a:rPr>
              <a:t>apa</a:t>
            </a:r>
            <a:r>
              <a:rPr lang="id-ID" altLang="en-US" sz="2200" dirty="0">
                <a:solidFill>
                  <a:srgbClr val="1F2328"/>
                </a:solidFill>
              </a:rPr>
              <a:t> yang diminta, tanpa perlu tahu </a:t>
            </a:r>
            <a:r>
              <a:rPr lang="id-ID" altLang="en-US" sz="2200" i="1" dirty="0">
                <a:solidFill>
                  <a:srgbClr val="1F2328"/>
                </a:solidFill>
              </a:rPr>
              <a:t>bagaimana</a:t>
            </a:r>
            <a:r>
              <a:rPr lang="id-ID" altLang="en-US" sz="2200" dirty="0">
                <a:solidFill>
                  <a:srgbClr val="1F2328"/>
                </a:solidFill>
              </a:rPr>
              <a:t> setiap objek mengerjakannya.</a:t>
            </a:r>
            <a:endParaRPr lang="id-ID" sz="2200" dirty="0"/>
          </a:p>
        </p:txBody>
      </p:sp>
      <p:sp>
        <p:nvSpPr>
          <p:cNvPr id="10" name="Shape 6"/>
          <p:cNvSpPr/>
          <p:nvPr/>
        </p:nvSpPr>
        <p:spPr>
          <a:xfrm>
            <a:off x="603504" y="4382120"/>
            <a:ext cx="137160" cy="137160"/>
          </a:xfrm>
          <a:prstGeom prst="roundRect">
            <a:avLst>
              <a:gd name="adj" fmla="val 166667"/>
            </a:avLst>
          </a:prstGeom>
          <a:solidFill>
            <a:srgbClr val="0969DA"/>
          </a:solidFill>
          <a:ln/>
        </p:spPr>
      </p:sp>
      <p:sp>
        <p:nvSpPr>
          <p:cNvPr id="11" name="Text 7"/>
          <p:cNvSpPr txBox="1"/>
          <p:nvPr/>
        </p:nvSpPr>
        <p:spPr>
          <a:xfrm>
            <a:off x="932688" y="4295760"/>
            <a:ext cx="10710367" cy="355600"/>
          </a:xfrm>
          <a:prstGeom prst="rect">
            <a:avLst/>
          </a:prstGeom>
          <a:noFill/>
          <a:ln/>
        </p:spPr>
        <p:txBody>
          <a:bodyPr wrap="square" lIns="0" tIns="0" rIns="0" bIns="0" rtlCol="0" anchor="t"/>
          <a:lstStyle/>
          <a:p>
            <a:pPr indent="0" marL="0">
              <a:buNone/>
            </a:pPr>
            <a:r>
              <a:rPr lang="id-ID" altLang="en-US" sz="2000" dirty="0">
                <a:solidFill>
                  <a:srgbClr val="1F2328"/>
                </a:solidFill>
              </a:rPr>
              <a:t>Dari bahasa Yunani: </a:t>
            </a:r>
            <a:r>
              <a:rPr lang="id-ID" altLang="en-US" sz="2000" i="1" dirty="0">
                <a:solidFill>
                  <a:srgbClr val="1F2328"/>
                </a:solidFill>
              </a:rPr>
              <a:t>poly</a:t>
            </a:r>
            <a:r>
              <a:rPr lang="id-ID" altLang="en-US" sz="2000" dirty="0">
                <a:solidFill>
                  <a:srgbClr val="1F2328"/>
                </a:solidFill>
              </a:rPr>
              <a:t> berarti “banyak” dan </a:t>
            </a:r>
            <a:r>
              <a:rPr lang="id-ID" altLang="en-US" sz="2000" i="1" dirty="0">
                <a:solidFill>
                  <a:srgbClr val="1F2328"/>
                </a:solidFill>
              </a:rPr>
              <a:t>morph</a:t>
            </a:r>
            <a:r>
              <a:rPr lang="id-ID" altLang="en-US" sz="2000" dirty="0">
                <a:solidFill>
                  <a:srgbClr val="1F2328"/>
                </a:solidFill>
              </a:rPr>
              <a:t> berarti “bentuk”.</a:t>
            </a:r>
            <a:endParaRPr lang="id-ID" sz="2000" dirty="0"/>
          </a:p>
        </p:txBody>
      </p:sp>
      <p:sp>
        <p:nvSpPr>
          <p:cNvPr id="12" name="Shape 8"/>
          <p:cNvSpPr/>
          <p:nvPr/>
        </p:nvSpPr>
        <p:spPr>
          <a:xfrm>
            <a:off x="603504" y="4929744"/>
            <a:ext cx="137160" cy="137160"/>
          </a:xfrm>
          <a:prstGeom prst="roundRect">
            <a:avLst>
              <a:gd name="adj" fmla="val 166667"/>
            </a:avLst>
          </a:prstGeom>
          <a:solidFill>
            <a:srgbClr val="0969DA"/>
          </a:solidFill>
          <a:ln/>
        </p:spPr>
      </p:sp>
      <p:sp>
        <p:nvSpPr>
          <p:cNvPr id="13" name="Text 9"/>
          <p:cNvSpPr txBox="1"/>
          <p:nvPr/>
        </p:nvSpPr>
        <p:spPr>
          <a:xfrm>
            <a:off x="932688" y="4843384"/>
            <a:ext cx="10710367" cy="665480"/>
          </a:xfrm>
          <a:prstGeom prst="rect">
            <a:avLst/>
          </a:prstGeom>
          <a:noFill/>
          <a:ln/>
        </p:spPr>
        <p:txBody>
          <a:bodyPr wrap="square" lIns="0" tIns="0" rIns="0" bIns="0" rtlCol="0" anchor="t"/>
          <a:lstStyle/>
          <a:p>
            <a:pPr indent="0" marL="0">
              <a:buNone/>
            </a:pPr>
            <a:r>
              <a:rPr lang="id-ID" altLang="en-US" sz="2000" dirty="0">
                <a:solidFill>
                  <a:srgbClr val="1F2328"/>
                </a:solidFill>
              </a:rPr>
              <a:t>Sudah lama kamu pakai: </a:t>
            </a:r>
            <a:r>
              <a:rPr lang="id-ID" altLang="en-US" sz="2000" dirty="0">
                <a:solidFill>
                  <a:srgbClr val="1F2328"/>
                </a:solidFill>
                <a:latin typeface="Consolas" pitchFamily="34" charset="0"/>
                <a:ea typeface="Consolas" pitchFamily="34" charset="-122"/>
                <a:cs typeface="Consolas" pitchFamily="34" charset="-120"/>
              </a:rPr>
              <a:t>2 + 3</a:t>
            </a:r>
            <a:r>
              <a:rPr lang="id-ID" altLang="en-US" sz="2000" dirty="0">
                <a:solidFill>
                  <a:srgbClr val="1F2328"/>
                </a:solidFill>
              </a:rPr>
              <a:t> berarti menjumlahkan, sedangkan </a:t>
            </a:r>
            <a:r>
              <a:rPr lang="id-ID" altLang="en-US" sz="2000" dirty="0">
                <a:solidFill>
                  <a:srgbClr val="1F2328"/>
                </a:solidFill>
                <a:latin typeface="Consolas" pitchFamily="34" charset="0"/>
                <a:ea typeface="Consolas" pitchFamily="34" charset="-122"/>
                <a:cs typeface="Consolas" pitchFamily="34" charset="-120"/>
              </a:rPr>
              <a:t>"Kopi" + "Susu"</a:t>
            </a:r>
            <a:r>
              <a:rPr lang="id-ID" altLang="en-US" sz="2000" dirty="0">
                <a:solidFill>
                  <a:srgbClr val="1F2328"/>
                </a:solidFill>
              </a:rPr>
              <a:t> berarti menyambung.</a:t>
            </a:r>
            <a:endParaRPr lang="id-ID" sz="2000" dirty="0"/>
          </a:p>
        </p:txBody>
      </p:sp>
      <p:sp>
        <p:nvSpPr>
          <p:cNvPr id="14" name="Shape 10"/>
          <p:cNvSpPr/>
          <p:nvPr/>
        </p:nvSpPr>
        <p:spPr>
          <a:xfrm>
            <a:off x="603504" y="5787248"/>
            <a:ext cx="137160" cy="137160"/>
          </a:xfrm>
          <a:prstGeom prst="roundRect">
            <a:avLst>
              <a:gd name="adj" fmla="val 166667"/>
            </a:avLst>
          </a:prstGeom>
          <a:solidFill>
            <a:srgbClr val="0969DA"/>
          </a:solidFill>
          <a:ln/>
        </p:spPr>
      </p:sp>
      <p:sp>
        <p:nvSpPr>
          <p:cNvPr id="15" name="Text 11"/>
          <p:cNvSpPr txBox="1"/>
          <p:nvPr/>
        </p:nvSpPr>
        <p:spPr>
          <a:xfrm>
            <a:off x="932688" y="5700888"/>
            <a:ext cx="10710367" cy="355600"/>
          </a:xfrm>
          <a:prstGeom prst="rect">
            <a:avLst/>
          </a:prstGeom>
          <a:noFill/>
          <a:ln/>
        </p:spPr>
        <p:txBody>
          <a:bodyPr wrap="square" lIns="0" tIns="0" rIns="0" bIns="0" rtlCol="0" anchor="t"/>
          <a:lstStyle/>
          <a:p>
            <a:pPr indent="0" marL="0">
              <a:buNone/>
            </a:pPr>
            <a:r>
              <a:rPr lang="id-ID" altLang="en-US" sz="2000" dirty="0">
                <a:solidFill>
                  <a:srgbClr val="1F2328"/>
                </a:solidFill>
              </a:rPr>
              <a:t>Kasir tidak lagi bertanya “kamu jenis apa?”, tetapi cukup mengirim pesan </a:t>
            </a:r>
            <a:r>
              <a:rPr lang="id-ID" altLang="en-US" sz="2000" dirty="0">
                <a:solidFill>
                  <a:srgbClr val="1F2328"/>
                </a:solidFill>
                <a:latin typeface="Consolas" pitchFamily="34" charset="0"/>
                <a:ea typeface="Consolas" pitchFamily="34" charset="-122"/>
                <a:cs typeface="Consolas" pitchFamily="34" charset="-120"/>
              </a:rPr>
              <a:t>proses(total)</a:t>
            </a:r>
            <a:r>
              <a:rPr lang="id-ID" altLang="en-US" sz="2000" dirty="0">
                <a:solidFill>
                  <a:srgbClr val="1F2328"/>
                </a:solidFill>
              </a:rPr>
              <a:t>.</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2</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2</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3800" b="1" dirty="0">
                <a:solidFill>
                  <a:srgbClr val="FFFFFF"/>
                </a:solidFill>
              </a:rPr>
              <a:t>Cara Kerja: </a:t>
            </a:r>
            <a:r>
              <a:rPr lang="id-ID" altLang="en-US" sz="3800" b="1" i="1" dirty="0">
                <a:solidFill>
                  <a:srgbClr val="FFFFFF"/>
                </a:solidFill>
              </a:rPr>
              <a:t>Override</a:t>
            </a:r>
            <a:r>
              <a:rPr lang="id-ID" altLang="en-US" sz="3800" b="1" dirty="0">
                <a:solidFill>
                  <a:srgbClr val="FFFFFF"/>
                </a:solidFill>
              </a:rPr>
              <a:t> dan </a:t>
            </a:r>
            <a:r>
              <a:rPr lang="id-ID" altLang="en-US" sz="3800" b="1" i="1" dirty="0">
                <a:solidFill>
                  <a:srgbClr val="FFFFFF"/>
                </a:solidFill>
              </a:rPr>
              <a:t>Dynamic Dispatch</a:t>
            </a:r>
            <a:endParaRPr lang="id-ID" sz="38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Versi </a:t>
            </a:r>
            <a:r>
              <a:rPr lang="id-ID" altLang="en-US" sz="2200" i="1" dirty="0">
                <a:solidFill>
                  <a:srgbClr val="C9D7E8"/>
                </a:solidFill>
              </a:rPr>
              <a:t>method</a:t>
            </a:r>
            <a:r>
              <a:rPr lang="id-ID" altLang="en-US" sz="2200" dirty="0">
                <a:solidFill>
                  <a:srgbClr val="C9D7E8"/>
                </a:solidFill>
              </a:rPr>
              <a:t> yang berjalan dipilih saat program berjalan, sesuai objek yang sebenarnya.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Tipe Variabel dan Tipe Objek</a:t>
            </a:r>
            <a:endParaRPr lang="id-ID" sz="3200" dirty="0"/>
          </a:p>
        </p:txBody>
      </p:sp>
      <p:pic>
        <p:nvPicPr>
          <p:cNvPr id="5" name="Image 1" descr="Label kardus adalah tipe variabel, isinya adalah tipe objek. Untuk method yang di-override, yang menentukan adalah tipe objek.">    </p:cNvPr>
          <p:cNvPicPr>
            <a:picLocks noChangeAspect="1"/>
          </p:cNvPicPr>
          <p:nvPr/>
        </p:nvPicPr>
        <p:blipFill>
          <a:blip r:embed="rId2"/>
          <a:stretch>
            <a:fillRect/>
          </a:stretch>
        </p:blipFill>
        <p:spPr>
          <a:xfrm>
            <a:off x="548640" y="1417320"/>
            <a:ext cx="11094415" cy="3557178"/>
          </a:xfrm>
          <a:prstGeom prst="rect">
            <a:avLst/>
          </a:prstGeom>
        </p:spPr>
      </p:pic>
      <p:sp>
        <p:nvSpPr>
          <p:cNvPr id="6" name="Text 2"/>
          <p:cNvSpPr txBox="1"/>
          <p:nvPr/>
        </p:nvSpPr>
        <p:spPr>
          <a:xfrm>
            <a:off x="1005840" y="5084226"/>
            <a:ext cx="10180015" cy="663956"/>
          </a:xfrm>
          <a:prstGeom prst="rect">
            <a:avLst/>
          </a:prstGeom>
          <a:noFill/>
          <a:ln/>
        </p:spPr>
        <p:txBody>
          <a:bodyPr wrap="square" lIns="0" tIns="0" rIns="0" bIns="0" rtlCol="0" anchor="t"/>
          <a:lstStyle/>
          <a:p>
            <a:pPr algn="ctr" indent="0" marL="0">
              <a:buNone/>
            </a:pPr>
            <a:r>
              <a:rPr lang="id-ID" altLang="en-US" sz="1700" dirty="0">
                <a:solidFill>
                  <a:srgbClr val="57606A"/>
                </a:solidFill>
              </a:rPr>
              <a:t>Label kardus adalah tipe variabel, isinya adalah tipe objek. Untuk </a:t>
            </a:r>
            <a:r>
              <a:rPr lang="id-ID" altLang="en-US" sz="1700" i="1" dirty="0">
                <a:solidFill>
                  <a:srgbClr val="57606A"/>
                </a:solidFill>
              </a:rPr>
              <a:t>method</a:t>
            </a:r>
            <a:r>
              <a:rPr lang="id-ID" altLang="en-US" sz="1700" dirty="0">
                <a:solidFill>
                  <a:srgbClr val="57606A"/>
                </a:solidFill>
              </a:rPr>
              <a:t> yang di-⁠</a:t>
            </a:r>
            <a:r>
              <a:rPr lang="id-ID" altLang="en-US" sz="1700" i="1" dirty="0">
                <a:solidFill>
                  <a:srgbClr val="57606A"/>
                </a:solidFill>
              </a:rPr>
              <a:t>override</a:t>
            </a:r>
            <a:r>
              <a:rPr lang="id-ID" altLang="en-US" sz="1700" dirty="0">
                <a:solidFill>
                  <a:srgbClr val="57606A"/>
                </a:solidFill>
              </a:rPr>
              <a:t>, yang menentukan adalah tipe objek.</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Satu Variabel, Berganti Objek</a:t>
            </a:r>
            <a:endParaRPr lang="id-ID" sz="3200" dirty="0"/>
          </a:p>
        </p:txBody>
      </p:sp>
      <p:sp>
        <p:nvSpPr>
          <p:cNvPr id="5" name="Text 2"/>
          <p:cNvSpPr txBox="1"/>
          <p:nvPr/>
        </p:nvSpPr>
        <p:spPr>
          <a:xfrm>
            <a:off x="548640" y="1573225"/>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Baris </a:t>
            </a:r>
            <a:r>
              <a:rPr lang="id-ID" altLang="en-US" sz="1800" dirty="0">
                <a:solidFill>
                  <a:srgbClr val="0A3069"/>
                </a:solidFill>
                <a:latin typeface="Consolas" pitchFamily="34" charset="0"/>
                <a:ea typeface="Consolas" pitchFamily="34" charset="-122"/>
                <a:cs typeface="Consolas" pitchFamily="34" charset="-120"/>
              </a:rPr>
              <a:t>hewan.bersuara()</a:t>
            </a:r>
            <a:r>
              <a:rPr lang="id-ID" altLang="en-US" sz="1800" dirty="0">
                <a:solidFill>
                  <a:srgbClr val="57606A"/>
                </a:solidFill>
              </a:rPr>
              <a:t> ditulis persis sama dua kali, tetapi hasilnya berbeda: </a:t>
            </a:r>
            <a:r>
              <a:rPr lang="id-ID" altLang="en-US" sz="1800" dirty="0">
                <a:solidFill>
                  <a:srgbClr val="0A3069"/>
                </a:solidFill>
                <a:latin typeface="Consolas" pitchFamily="34" charset="0"/>
                <a:ea typeface="Consolas" pitchFamily="34" charset="-122"/>
                <a:cs typeface="Consolas" pitchFamily="34" charset="-120"/>
              </a:rPr>
              <a:t>Meong!</a:t>
            </a:r>
            <a:r>
              <a:rPr lang="id-ID" altLang="en-US" sz="1800" dirty="0">
                <a:solidFill>
                  <a:srgbClr val="57606A"/>
                </a:solidFill>
              </a:rPr>
              <a:t> lalu </a:t>
            </a:r>
            <a:r>
              <a:rPr lang="id-ID" altLang="en-US" sz="1800" dirty="0">
                <a:solidFill>
                  <a:srgbClr val="0A3069"/>
                </a:solidFill>
                <a:latin typeface="Consolas" pitchFamily="34" charset="0"/>
                <a:ea typeface="Consolas" pitchFamily="34" charset="-122"/>
                <a:cs typeface="Consolas" pitchFamily="34" charset="-120"/>
              </a:rPr>
              <a:t>Guk guk!</a:t>
            </a:r>
            <a:r>
              <a:rPr lang="id-ID" altLang="en-US" sz="1800" dirty="0">
                <a:solidFill>
                  <a:srgbClr val="57606A"/>
                </a:solidFill>
              </a:rPr>
              <a:t>.</a:t>
            </a:r>
            <a:endParaRPr lang="id-ID" sz="1800" dirty="0"/>
          </a:p>
        </p:txBody>
      </p:sp>
      <p:sp>
        <p:nvSpPr>
          <p:cNvPr id="6" name="Shape 3"/>
          <p:cNvSpPr/>
          <p:nvPr/>
        </p:nvSpPr>
        <p:spPr>
          <a:xfrm>
            <a:off x="548640" y="2007565"/>
            <a:ext cx="1051560" cy="329184"/>
          </a:xfrm>
          <a:prstGeom prst="roundRect">
            <a:avLst>
              <a:gd name="adj" fmla="val 138889"/>
            </a:avLst>
          </a:prstGeom>
          <a:solidFill>
            <a:srgbClr val="3572A5"/>
          </a:solidFill>
          <a:ln/>
        </p:spPr>
      </p:sp>
      <p:sp>
        <p:nvSpPr>
          <p:cNvPr id="7" name="Text 4"/>
          <p:cNvSpPr txBox="1"/>
          <p:nvPr/>
        </p:nvSpPr>
        <p:spPr>
          <a:xfrm>
            <a:off x="548640" y="2007565"/>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007565"/>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python/contoh/contoh01_satu_perintah_banyak_bentuk.py</a:t>
            </a:r>
            <a:endParaRPr lang="id-ID" sz="1100" dirty="0"/>
          </a:p>
        </p:txBody>
      </p:sp>
      <p:sp>
        <p:nvSpPr>
          <p:cNvPr id="9" name="Shape 6"/>
          <p:cNvSpPr/>
          <p:nvPr/>
        </p:nvSpPr>
        <p:spPr>
          <a:xfrm>
            <a:off x="548640" y="2428189"/>
            <a:ext cx="5432908" cy="3493008"/>
          </a:xfrm>
          <a:prstGeom prst="roundRect">
            <a:avLst>
              <a:gd name="adj" fmla="val 685"/>
            </a:avLst>
          </a:prstGeom>
          <a:solidFill>
            <a:srgbClr val="F6F8FA"/>
          </a:solidFill>
          <a:ln w="9525">
            <a:solidFill>
              <a:srgbClr val="D0D7DE"/>
            </a:solidFill>
            <a:prstDash val="solid"/>
          </a:ln>
        </p:spPr>
      </p:sp>
      <p:sp>
        <p:nvSpPr>
          <p:cNvPr id="10" name="Text 7"/>
          <p:cNvSpPr txBox="1"/>
          <p:nvPr/>
        </p:nvSpPr>
        <p:spPr>
          <a:xfrm>
            <a:off x="658368" y="2519629"/>
            <a:ext cx="5213452" cy="3310128"/>
          </a:xfrm>
          <a:prstGeom prst="rect">
            <a:avLst/>
          </a:prstGeom>
          <a:noFill/>
          <a:ln/>
        </p:spPr>
        <p:txBody>
          <a:bodyPr wrap="square" lIns="0" tIns="0" rIns="0" bIns="0" rtlCol="0" anchor="t"/>
          <a:lstStyle/>
          <a:p>
            <a:pPr indent="0" marL="0">
              <a:buNone/>
            </a:pPr>
            <a:r>
              <a:rPr lang="en-US" altLang="en-US" sz="1800" dirty="0">
                <a:solidFill>
                  <a:srgbClr val="CF222E"/>
                </a:solidFill>
                <a:latin typeface="Consolas" pitchFamily="34" charset="0"/>
                <a:ea typeface="Consolas" pitchFamily="34" charset="-122"/>
                <a:cs typeface="Consolas" pitchFamily="34" charset="-120"/>
              </a:rPr>
              <a:t>class</a:t>
            </a:r>
            <a:r>
              <a:rPr lang="en-US" altLang="en-US" sz="1800" dirty="0">
                <a:solidFill>
                  <a:srgbClr val="1F2328"/>
                </a:solidFill>
                <a:latin typeface="Consolas" pitchFamily="34" charset="0"/>
                <a:ea typeface="Consolas" pitchFamily="34" charset="-122"/>
                <a:cs typeface="Consolas" pitchFamily="34" charset="-120"/>
              </a:rPr>
              <a:t> </a:t>
            </a:r>
            <a:r>
              <a:rPr lang="en-US" altLang="en-US" sz="1800" dirty="0">
                <a:solidFill>
                  <a:srgbClr val="953800"/>
                </a:solidFill>
                <a:latin typeface="Consolas" pitchFamily="34" charset="0"/>
                <a:ea typeface="Consolas" pitchFamily="34" charset="-122"/>
                <a:cs typeface="Consolas" pitchFamily="34" charset="-120"/>
              </a:rPr>
              <a:t>Kucing</a:t>
            </a:r>
            <a:r>
              <a:rPr lang="en-US" altLang="en-US" sz="1800" dirty="0">
                <a:solidFill>
                  <a:srgbClr val="1F2328"/>
                </a:solidFill>
                <a:latin typeface="Consolas" pitchFamily="34" charset="0"/>
                <a:ea typeface="Consolas" pitchFamily="34" charset="-122"/>
                <a:cs typeface="Consolas" pitchFamily="34" charset="-120"/>
              </a:rPr>
              <a:t>(Hewan):</a:t>
            </a:r>
            <a:endParaRPr lang="en-US" sz="1800" dirty="0"/>
          </a:p>
          <a:p>
            <a:pPr indent="0" marL="0">
              <a:buNone/>
            </a:pPr>
            <a:r>
              <a:rPr lang="en-US" altLang="en-US" sz="1800" dirty="0">
                <a:solidFill>
                  <a:srgbClr val="1F2328"/>
                </a:solidFill>
                <a:latin typeface="Consolas" pitchFamily="34" charset="0"/>
                <a:ea typeface="Consolas" pitchFamily="34" charset="-122"/>
                <a:cs typeface="Consolas" pitchFamily="34" charset="-120"/>
              </a:rPr>
              <a:t>    </a:t>
            </a:r>
            <a:r>
              <a:rPr lang="en-US" altLang="en-US" sz="1800" dirty="0">
                <a:solidFill>
                  <a:srgbClr val="CF222E"/>
                </a:solidFill>
                <a:latin typeface="Consolas" pitchFamily="34" charset="0"/>
                <a:ea typeface="Consolas" pitchFamily="34" charset="-122"/>
                <a:cs typeface="Consolas" pitchFamily="34" charset="-120"/>
              </a:rPr>
              <a:t>def</a:t>
            </a:r>
            <a:r>
              <a:rPr lang="en-US" altLang="en-US" sz="1800" dirty="0">
                <a:solidFill>
                  <a:srgbClr val="1F2328"/>
                </a:solidFill>
                <a:latin typeface="Consolas" pitchFamily="34" charset="0"/>
                <a:ea typeface="Consolas" pitchFamily="34" charset="-122"/>
                <a:cs typeface="Consolas" pitchFamily="34" charset="-120"/>
              </a:rPr>
              <a:t> </a:t>
            </a:r>
            <a:r>
              <a:rPr lang="en-US" altLang="en-US" sz="1800" dirty="0">
                <a:solidFill>
                  <a:srgbClr val="8250DF"/>
                </a:solidFill>
                <a:latin typeface="Consolas" pitchFamily="34" charset="0"/>
                <a:ea typeface="Consolas" pitchFamily="34" charset="-122"/>
                <a:cs typeface="Consolas" pitchFamily="34" charset="-120"/>
              </a:rPr>
              <a:t>bersuara</a:t>
            </a:r>
            <a:r>
              <a:rPr lang="en-US" altLang="en-US" sz="1800" dirty="0">
                <a:solidFill>
                  <a:srgbClr val="1F2328"/>
                </a:solidFill>
                <a:latin typeface="Consolas" pitchFamily="34" charset="0"/>
                <a:ea typeface="Consolas" pitchFamily="34" charset="-122"/>
                <a:cs typeface="Consolas" pitchFamily="34" charset="-120"/>
              </a:rPr>
              <a:t>(</a:t>
            </a:r>
            <a:r>
              <a:rPr lang="en-US" altLang="en-US" sz="1800" dirty="0">
                <a:solidFill>
                  <a:srgbClr val="0550AE"/>
                </a:solidFill>
                <a:latin typeface="Consolas" pitchFamily="34" charset="0"/>
                <a:ea typeface="Consolas" pitchFamily="34" charset="-122"/>
                <a:cs typeface="Consolas" pitchFamily="34" charset="-120"/>
              </a:rPr>
              <a:t>self</a:t>
            </a:r>
            <a:r>
              <a:rPr lang="en-US" altLang="en-US" sz="1800" dirty="0">
                <a:solidFill>
                  <a:srgbClr val="1F2328"/>
                </a:solidFill>
                <a:latin typeface="Consolas" pitchFamily="34" charset="0"/>
                <a:ea typeface="Consolas" pitchFamily="34" charset="-122"/>
                <a:cs typeface="Consolas" pitchFamily="34" charset="-120"/>
              </a:rPr>
              <a:t>) -&gt; </a:t>
            </a:r>
            <a:r>
              <a:rPr lang="en-US" altLang="en-US" sz="1800" dirty="0">
                <a:solidFill>
                  <a:srgbClr val="0550AE"/>
                </a:solidFill>
                <a:latin typeface="Consolas" pitchFamily="34" charset="0"/>
                <a:ea typeface="Consolas" pitchFamily="34" charset="-122"/>
                <a:cs typeface="Consolas" pitchFamily="34" charset="-120"/>
              </a:rPr>
              <a:t>str</a:t>
            </a:r>
            <a:r>
              <a:rPr lang="en-US" alt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altLang="en-US" sz="1800" dirty="0">
                <a:solidFill>
                  <a:srgbClr val="1F2328"/>
                </a:solidFill>
                <a:latin typeface="Consolas" pitchFamily="34" charset="0"/>
                <a:ea typeface="Consolas" pitchFamily="34" charset="-122"/>
                <a:cs typeface="Consolas" pitchFamily="34" charset="-120"/>
              </a:rPr>
              <a:t>        </a:t>
            </a:r>
            <a:r>
              <a:rPr lang="en-US" altLang="en-US" sz="1800" dirty="0">
                <a:solidFill>
                  <a:srgbClr val="CF222E"/>
                </a:solidFill>
                <a:latin typeface="Consolas" pitchFamily="34" charset="0"/>
                <a:ea typeface="Consolas" pitchFamily="34" charset="-122"/>
                <a:cs typeface="Consolas" pitchFamily="34" charset="-120"/>
              </a:rPr>
              <a:t>return</a:t>
            </a:r>
            <a:r>
              <a:rPr lang="en-US" altLang="en-US" sz="1800" dirty="0">
                <a:solidFill>
                  <a:srgbClr val="1F2328"/>
                </a:solidFill>
                <a:latin typeface="Consolas" pitchFamily="34" charset="0"/>
                <a:ea typeface="Consolas" pitchFamily="34" charset="-122"/>
                <a:cs typeface="Consolas" pitchFamily="34" charset="-120"/>
              </a:rPr>
              <a:t> </a:t>
            </a:r>
            <a:r>
              <a:rPr lang="en-US" altLang="en-US" sz="1800" dirty="0">
                <a:solidFill>
                  <a:srgbClr val="0A3069"/>
                </a:solidFill>
                <a:latin typeface="Consolas" pitchFamily="34" charset="0"/>
                <a:ea typeface="Consolas" pitchFamily="34" charset="-122"/>
                <a:cs typeface="Consolas" pitchFamily="34" charset="-120"/>
              </a:rPr>
              <a:t>"Meong!"</a:t>
            </a:r>
            <a:endParaRPr lang="en-US" sz="1800" dirty="0"/>
          </a:p>
          <a:p>
            <a:pPr indent="0" marL="0">
              <a:buNone/>
            </a:pPr>
            <a:r>
              <a:rPr lang="en-US" altLang="en-US" sz="1800" dirty="0">
                <a:solidFill>
                  <a:srgbClr val="000000"/>
                </a:solidFill>
                <a:latin typeface="Consolas" pitchFamily="34" charset="0"/>
                <a:ea typeface="Consolas" pitchFamily="34" charset="-122"/>
                <a:cs typeface="Consolas" pitchFamily="34" charset="-120"/>
              </a:rPr>
              <a:t> </a:t>
            </a:r>
            <a:endParaRPr lang="en-US" sz="1800" dirty="0"/>
          </a:p>
          <a:p>
            <a:pPr indent="0" marL="0">
              <a:buNone/>
            </a:pPr>
            <a:r>
              <a:rPr lang="en-US" altLang="en-US" sz="1800" i="1" dirty="0">
                <a:solidFill>
                  <a:srgbClr val="6E7781"/>
                </a:solidFill>
                <a:latin typeface="Consolas" pitchFamily="34" charset="0"/>
                <a:ea typeface="Consolas" pitchFamily="34" charset="-122"/>
                <a:cs typeface="Consolas" pitchFamily="34" charset="-120"/>
              </a:rPr>
              <a:t># ... di dalam main()</a:t>
            </a:r>
            <a:endParaRPr lang="en-US" sz="1800" dirty="0"/>
          </a:p>
          <a:p>
            <a:pPr indent="0" marL="0">
              <a:buNone/>
            </a:pPr>
            <a:r>
              <a:rPr lang="en-US" altLang="en-US" sz="1800" dirty="0">
                <a:solidFill>
                  <a:srgbClr val="1F2328"/>
                </a:solidFill>
                <a:latin typeface="Consolas" pitchFamily="34" charset="0"/>
                <a:ea typeface="Consolas" pitchFamily="34" charset="-122"/>
                <a:cs typeface="Consolas" pitchFamily="34" charset="-120"/>
              </a:rPr>
              <a:t>hewan = Kucing(</a:t>
            </a:r>
            <a:r>
              <a:rPr lang="en-US" altLang="en-US" sz="1800" dirty="0">
                <a:solidFill>
                  <a:srgbClr val="0A3069"/>
                </a:solidFill>
                <a:latin typeface="Consolas" pitchFamily="34" charset="0"/>
                <a:ea typeface="Consolas" pitchFamily="34" charset="-122"/>
                <a:cs typeface="Consolas" pitchFamily="34" charset="-120"/>
              </a:rPr>
              <a:t>"Oyen"</a:t>
            </a:r>
            <a:r>
              <a:rPr lang="en-US" alt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altLang="en-US" sz="1800" dirty="0">
                <a:solidFill>
                  <a:srgbClr val="0550AE"/>
                </a:solidFill>
                <a:latin typeface="Consolas" pitchFamily="34" charset="0"/>
                <a:ea typeface="Consolas" pitchFamily="34" charset="-122"/>
                <a:cs typeface="Consolas" pitchFamily="34" charset="-120"/>
              </a:rPr>
              <a:t>print</a:t>
            </a:r>
            <a:r>
              <a:rPr lang="en-US" altLang="en-US" sz="1800" dirty="0">
                <a:solidFill>
                  <a:srgbClr val="1F2328"/>
                </a:solidFill>
                <a:latin typeface="Consolas" pitchFamily="34" charset="0"/>
                <a:ea typeface="Consolas" pitchFamily="34" charset="-122"/>
                <a:cs typeface="Consolas" pitchFamily="34" charset="-120"/>
              </a:rPr>
              <a:t>(hewan.bersuara())</a:t>
            </a:r>
            <a:endParaRPr lang="en-US" sz="1800" dirty="0"/>
          </a:p>
          <a:p>
            <a:pPr indent="0" marL="0">
              <a:buNone/>
            </a:pPr>
            <a:r>
              <a:rPr lang="en-US" altLang="en-US" sz="1800" dirty="0">
                <a:solidFill>
                  <a:srgbClr val="1F2328"/>
                </a:solidFill>
                <a:latin typeface="Consolas" pitchFamily="34" charset="0"/>
                <a:ea typeface="Consolas" pitchFamily="34" charset="-122"/>
                <a:cs typeface="Consolas" pitchFamily="34" charset="-120"/>
              </a:rPr>
              <a:t>hewan = Anjing(</a:t>
            </a:r>
            <a:r>
              <a:rPr lang="en-US" altLang="en-US" sz="1800" dirty="0">
                <a:solidFill>
                  <a:srgbClr val="0A3069"/>
                </a:solidFill>
                <a:latin typeface="Consolas" pitchFamily="34" charset="0"/>
                <a:ea typeface="Consolas" pitchFamily="34" charset="-122"/>
                <a:cs typeface="Consolas" pitchFamily="34" charset="-120"/>
              </a:rPr>
              <a:t>"Bruno"</a:t>
            </a:r>
            <a:r>
              <a:rPr lang="en-US" alt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altLang="en-US" sz="1800" dirty="0">
                <a:solidFill>
                  <a:srgbClr val="0550AE"/>
                </a:solidFill>
                <a:latin typeface="Consolas" pitchFamily="34" charset="0"/>
                <a:ea typeface="Consolas" pitchFamily="34" charset="-122"/>
                <a:cs typeface="Consolas" pitchFamily="34" charset="-120"/>
              </a:rPr>
              <a:t>print</a:t>
            </a:r>
            <a:r>
              <a:rPr lang="en-US" altLang="en-US" sz="1800" dirty="0">
                <a:solidFill>
                  <a:srgbClr val="1F2328"/>
                </a:solidFill>
                <a:latin typeface="Consolas" pitchFamily="34" charset="0"/>
                <a:ea typeface="Consolas" pitchFamily="34" charset="-122"/>
                <a:cs typeface="Consolas" pitchFamily="34" charset="-120"/>
              </a:rPr>
              <a:t>(hewan.bersuara())</a:t>
            </a:r>
            <a:endParaRPr lang="en-US" sz="1800" dirty="0"/>
          </a:p>
        </p:txBody>
      </p:sp>
      <p:sp>
        <p:nvSpPr>
          <p:cNvPr id="11" name="Shape 8"/>
          <p:cNvSpPr/>
          <p:nvPr/>
        </p:nvSpPr>
        <p:spPr>
          <a:xfrm>
            <a:off x="6210148" y="2007565"/>
            <a:ext cx="1051560" cy="329184"/>
          </a:xfrm>
          <a:prstGeom prst="roundRect">
            <a:avLst>
              <a:gd name="adj" fmla="val 138889"/>
            </a:avLst>
          </a:prstGeom>
          <a:solidFill>
            <a:srgbClr val="B07219"/>
          </a:solidFill>
          <a:ln/>
        </p:spPr>
      </p:sp>
      <p:sp>
        <p:nvSpPr>
          <p:cNvPr id="12" name="Text 9"/>
          <p:cNvSpPr txBox="1"/>
          <p:nvPr/>
        </p:nvSpPr>
        <p:spPr>
          <a:xfrm>
            <a:off x="6210148" y="2007565"/>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007565"/>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java/contoh/Contoh01SatuPerintahBanyakBentuk.java</a:t>
            </a:r>
            <a:endParaRPr lang="id-ID" sz="1100" dirty="0"/>
          </a:p>
        </p:txBody>
      </p:sp>
      <p:sp>
        <p:nvSpPr>
          <p:cNvPr id="14" name="Shape 11"/>
          <p:cNvSpPr/>
          <p:nvPr/>
        </p:nvSpPr>
        <p:spPr>
          <a:xfrm>
            <a:off x="6210148" y="2428189"/>
            <a:ext cx="5432908" cy="3493008"/>
          </a:xfrm>
          <a:prstGeom prst="roundRect">
            <a:avLst>
              <a:gd name="adj" fmla="val 685"/>
            </a:avLst>
          </a:prstGeom>
          <a:solidFill>
            <a:srgbClr val="F6F8FA"/>
          </a:solidFill>
          <a:ln w="9525">
            <a:solidFill>
              <a:srgbClr val="D0D7DE"/>
            </a:solidFill>
            <a:prstDash val="solid"/>
          </a:ln>
        </p:spPr>
      </p:sp>
      <p:sp>
        <p:nvSpPr>
          <p:cNvPr id="15" name="Text 12"/>
          <p:cNvSpPr txBox="1"/>
          <p:nvPr/>
        </p:nvSpPr>
        <p:spPr>
          <a:xfrm>
            <a:off x="6319876" y="2519629"/>
            <a:ext cx="5213452" cy="3310128"/>
          </a:xfrm>
          <a:prstGeom prst="rect">
            <a:avLst/>
          </a:prstGeom>
          <a:noFill/>
          <a:ln/>
        </p:spPr>
        <p:txBody>
          <a:bodyPr wrap="square" lIns="0" tIns="0" rIns="0" bIns="0" rtlCol="0" anchor="t"/>
          <a:lstStyle/>
          <a:p>
            <a:pPr indent="0" marL="0">
              <a:buNone/>
            </a:pPr>
            <a:r>
              <a:rPr lang="en-US" altLang="en-US" sz="1800" dirty="0">
                <a:solidFill>
                  <a:srgbClr val="CF222E"/>
                </a:solidFill>
                <a:latin typeface="Consolas" pitchFamily="34" charset="0"/>
                <a:ea typeface="Consolas" pitchFamily="34" charset="-122"/>
                <a:cs typeface="Consolas" pitchFamily="34" charset="-120"/>
              </a:rPr>
              <a:t>class</a:t>
            </a:r>
            <a:r>
              <a:rPr lang="en-US" altLang="en-US" sz="1800" dirty="0">
                <a:solidFill>
                  <a:srgbClr val="1F2328"/>
                </a:solidFill>
                <a:latin typeface="Consolas" pitchFamily="34" charset="0"/>
                <a:ea typeface="Consolas" pitchFamily="34" charset="-122"/>
                <a:cs typeface="Consolas" pitchFamily="34" charset="-120"/>
              </a:rPr>
              <a:t> </a:t>
            </a:r>
            <a:r>
              <a:rPr lang="en-US" altLang="en-US" sz="1800" dirty="0">
                <a:solidFill>
                  <a:srgbClr val="953800"/>
                </a:solidFill>
                <a:latin typeface="Consolas" pitchFamily="34" charset="0"/>
                <a:ea typeface="Consolas" pitchFamily="34" charset="-122"/>
                <a:cs typeface="Consolas" pitchFamily="34" charset="-120"/>
              </a:rPr>
              <a:t>Kucing</a:t>
            </a:r>
            <a:r>
              <a:rPr lang="en-US" altLang="en-US" sz="1800" dirty="0">
                <a:solidFill>
                  <a:srgbClr val="1F2328"/>
                </a:solidFill>
                <a:latin typeface="Consolas" pitchFamily="34" charset="0"/>
                <a:ea typeface="Consolas" pitchFamily="34" charset="-122"/>
                <a:cs typeface="Consolas" pitchFamily="34" charset="-120"/>
              </a:rPr>
              <a:t> </a:t>
            </a:r>
            <a:r>
              <a:rPr lang="en-US" altLang="en-US" sz="1800" dirty="0">
                <a:solidFill>
                  <a:srgbClr val="CF222E"/>
                </a:solidFill>
                <a:latin typeface="Consolas" pitchFamily="34" charset="0"/>
                <a:ea typeface="Consolas" pitchFamily="34" charset="-122"/>
                <a:cs typeface="Consolas" pitchFamily="34" charset="-120"/>
              </a:rPr>
              <a:t>extends</a:t>
            </a:r>
            <a:r>
              <a:rPr lang="en-US" altLang="en-US" sz="1800" dirty="0">
                <a:solidFill>
                  <a:srgbClr val="1F2328"/>
                </a:solidFill>
                <a:latin typeface="Consolas" pitchFamily="34" charset="0"/>
                <a:ea typeface="Consolas" pitchFamily="34" charset="-122"/>
                <a:cs typeface="Consolas" pitchFamily="34" charset="-120"/>
              </a:rPr>
              <a:t> Hewan {</a:t>
            </a:r>
            <a:endParaRPr lang="en-US" sz="1800" dirty="0"/>
          </a:p>
          <a:p>
            <a:pPr indent="0" marL="0">
              <a:buNone/>
            </a:pPr>
            <a:r>
              <a:rPr lang="en-US" altLang="en-US" sz="1800" i="1" dirty="0">
                <a:solidFill>
                  <a:srgbClr val="6E7781"/>
                </a:solidFill>
                <a:latin typeface="Consolas" pitchFamily="34" charset="0"/>
                <a:ea typeface="Consolas" pitchFamily="34" charset="-122"/>
                <a:cs typeface="Consolas" pitchFamily="34" charset="-120"/>
              </a:rPr>
              <a:t>    // ... (dilewati)</a:t>
            </a:r>
            <a:endParaRPr lang="en-US" sz="1800" dirty="0"/>
          </a:p>
          <a:p>
            <a:pPr indent="0" marL="0">
              <a:buNone/>
            </a:pPr>
            <a:r>
              <a:rPr lang="en-US" altLang="en-US" sz="1800" dirty="0">
                <a:solidFill>
                  <a:srgbClr val="1F2328"/>
                </a:solidFill>
                <a:latin typeface="Consolas" pitchFamily="34" charset="0"/>
                <a:ea typeface="Consolas" pitchFamily="34" charset="-122"/>
                <a:cs typeface="Consolas" pitchFamily="34" charset="-120"/>
              </a:rPr>
              <a:t>    </a:t>
            </a:r>
            <a:r>
              <a:rPr lang="en-US" altLang="en-US" sz="1800" dirty="0">
                <a:solidFill>
                  <a:srgbClr val="8250DF"/>
                </a:solidFill>
                <a:latin typeface="Consolas" pitchFamily="34" charset="0"/>
                <a:ea typeface="Consolas" pitchFamily="34" charset="-122"/>
                <a:cs typeface="Consolas" pitchFamily="34" charset="-120"/>
              </a:rPr>
              <a:t>@Override</a:t>
            </a:r>
            <a:endParaRPr lang="en-US" sz="1800" dirty="0"/>
          </a:p>
          <a:p>
            <a:pPr indent="0" marL="0">
              <a:buNone/>
            </a:pPr>
            <a:r>
              <a:rPr lang="en-US" altLang="en-US" sz="1800" dirty="0">
                <a:solidFill>
                  <a:srgbClr val="1F2328"/>
                </a:solidFill>
                <a:latin typeface="Consolas" pitchFamily="34" charset="0"/>
                <a:ea typeface="Consolas" pitchFamily="34" charset="-122"/>
                <a:cs typeface="Consolas" pitchFamily="34" charset="-120"/>
              </a:rPr>
              <a:t>    </a:t>
            </a:r>
            <a:r>
              <a:rPr lang="en-US" altLang="en-US" sz="1800" dirty="0">
                <a:solidFill>
                  <a:srgbClr val="CF222E"/>
                </a:solidFill>
                <a:latin typeface="Consolas" pitchFamily="34" charset="0"/>
                <a:ea typeface="Consolas" pitchFamily="34" charset="-122"/>
                <a:cs typeface="Consolas" pitchFamily="34" charset="-120"/>
              </a:rPr>
              <a:t>public</a:t>
            </a:r>
            <a:r>
              <a:rPr lang="en-US" altLang="en-US" sz="1800" dirty="0">
                <a:solidFill>
                  <a:srgbClr val="1F2328"/>
                </a:solidFill>
                <a:latin typeface="Consolas" pitchFamily="34" charset="0"/>
                <a:ea typeface="Consolas" pitchFamily="34" charset="-122"/>
                <a:cs typeface="Consolas" pitchFamily="34" charset="-120"/>
              </a:rPr>
              <a:t> String </a:t>
            </a:r>
            <a:r>
              <a:rPr lang="en-US" altLang="en-US" sz="1800" dirty="0">
                <a:solidFill>
                  <a:srgbClr val="8250DF"/>
                </a:solidFill>
                <a:latin typeface="Consolas" pitchFamily="34" charset="0"/>
                <a:ea typeface="Consolas" pitchFamily="34" charset="-122"/>
                <a:cs typeface="Consolas" pitchFamily="34" charset="-120"/>
              </a:rPr>
              <a:t>bersuara</a:t>
            </a:r>
            <a:r>
              <a:rPr lang="en-US" altLang="en-US" sz="1800" dirty="0">
                <a:solidFill>
                  <a:srgbClr val="1F2328"/>
                </a:solidFill>
                <a:latin typeface="Consolas" pitchFamily="34" charset="0"/>
                <a:ea typeface="Consolas" pitchFamily="34" charset="-122"/>
                <a:cs typeface="Consolas" pitchFamily="34" charset="-120"/>
              </a:rPr>
              <a:t>() {</a:t>
            </a:r>
            <a:endParaRPr lang="en-US" sz="1800" dirty="0"/>
          </a:p>
          <a:p>
            <a:pPr indent="0" marL="0">
              <a:buNone/>
            </a:pPr>
            <a:r>
              <a:rPr lang="en-US" altLang="en-US" sz="1800" dirty="0">
                <a:solidFill>
                  <a:srgbClr val="1F2328"/>
                </a:solidFill>
                <a:latin typeface="Consolas" pitchFamily="34" charset="0"/>
                <a:ea typeface="Consolas" pitchFamily="34" charset="-122"/>
                <a:cs typeface="Consolas" pitchFamily="34" charset="-120"/>
              </a:rPr>
              <a:t>        </a:t>
            </a:r>
            <a:r>
              <a:rPr lang="en-US" altLang="en-US" sz="1800" dirty="0">
                <a:solidFill>
                  <a:srgbClr val="CF222E"/>
                </a:solidFill>
                <a:latin typeface="Consolas" pitchFamily="34" charset="0"/>
                <a:ea typeface="Consolas" pitchFamily="34" charset="-122"/>
                <a:cs typeface="Consolas" pitchFamily="34" charset="-120"/>
              </a:rPr>
              <a:t>return</a:t>
            </a:r>
            <a:r>
              <a:rPr lang="en-US" altLang="en-US" sz="1800" dirty="0">
                <a:solidFill>
                  <a:srgbClr val="1F2328"/>
                </a:solidFill>
                <a:latin typeface="Consolas" pitchFamily="34" charset="0"/>
                <a:ea typeface="Consolas" pitchFamily="34" charset="-122"/>
                <a:cs typeface="Consolas" pitchFamily="34" charset="-120"/>
              </a:rPr>
              <a:t> </a:t>
            </a:r>
            <a:r>
              <a:rPr lang="en-US" altLang="en-US" sz="1800" dirty="0">
                <a:solidFill>
                  <a:srgbClr val="0A3069"/>
                </a:solidFill>
                <a:latin typeface="Consolas" pitchFamily="34" charset="0"/>
                <a:ea typeface="Consolas" pitchFamily="34" charset="-122"/>
                <a:cs typeface="Consolas" pitchFamily="34" charset="-120"/>
              </a:rPr>
              <a:t>"Meong!"</a:t>
            </a:r>
            <a:r>
              <a:rPr lang="en-US" alt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altLang="en-US" sz="1800" dirty="0">
                <a:solidFill>
                  <a:srgbClr val="1F2328"/>
                </a:solidFill>
                <a:latin typeface="Consolas" pitchFamily="34" charset="0"/>
                <a:ea typeface="Consolas" pitchFamily="34" charset="-122"/>
                <a:cs typeface="Consolas" pitchFamily="34" charset="-120"/>
              </a:rPr>
              <a:t>    }</a:t>
            </a:r>
            <a:endParaRPr lang="en-US" sz="1800" dirty="0"/>
          </a:p>
          <a:p>
            <a:pPr indent="0" marL="0">
              <a:buNone/>
            </a:pPr>
            <a:r>
              <a:rPr lang="en-US" alt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altLang="en-US" sz="1800" i="1" dirty="0">
                <a:solidFill>
                  <a:srgbClr val="6E7781"/>
                </a:solidFill>
                <a:latin typeface="Consolas" pitchFamily="34" charset="0"/>
                <a:ea typeface="Consolas" pitchFamily="34" charset="-122"/>
                <a:cs typeface="Consolas" pitchFamily="34" charset="-120"/>
              </a:rPr>
              <a:t>// ... di dalam main</a:t>
            </a:r>
            <a:endParaRPr lang="en-US" sz="1800" dirty="0"/>
          </a:p>
          <a:p>
            <a:pPr indent="0" marL="0">
              <a:buNone/>
            </a:pPr>
            <a:r>
              <a:rPr lang="en-US" altLang="en-US" sz="1800" dirty="0">
                <a:solidFill>
                  <a:srgbClr val="1F2328"/>
                </a:solidFill>
                <a:latin typeface="Consolas" pitchFamily="34" charset="0"/>
                <a:ea typeface="Consolas" pitchFamily="34" charset="-122"/>
                <a:cs typeface="Consolas" pitchFamily="34" charset="-120"/>
              </a:rPr>
              <a:t>Hewan hewan = </a:t>
            </a:r>
            <a:r>
              <a:rPr lang="en-US" altLang="en-US" sz="1800" dirty="0">
                <a:solidFill>
                  <a:srgbClr val="CF222E"/>
                </a:solidFill>
                <a:latin typeface="Consolas" pitchFamily="34" charset="0"/>
                <a:ea typeface="Consolas" pitchFamily="34" charset="-122"/>
                <a:cs typeface="Consolas" pitchFamily="34" charset="-120"/>
              </a:rPr>
              <a:t>new</a:t>
            </a:r>
            <a:r>
              <a:rPr lang="en-US" altLang="en-US" sz="1800" dirty="0">
                <a:solidFill>
                  <a:srgbClr val="1F2328"/>
                </a:solidFill>
                <a:latin typeface="Consolas" pitchFamily="34" charset="0"/>
                <a:ea typeface="Consolas" pitchFamily="34" charset="-122"/>
                <a:cs typeface="Consolas" pitchFamily="34" charset="-120"/>
              </a:rPr>
              <a:t> Kucing(</a:t>
            </a:r>
            <a:r>
              <a:rPr lang="en-US" altLang="en-US" sz="1800" dirty="0">
                <a:solidFill>
                  <a:srgbClr val="0A3069"/>
                </a:solidFill>
                <a:latin typeface="Consolas" pitchFamily="34" charset="0"/>
                <a:ea typeface="Consolas" pitchFamily="34" charset="-122"/>
                <a:cs typeface="Consolas" pitchFamily="34" charset="-120"/>
              </a:rPr>
              <a:t>"Oyen"</a:t>
            </a:r>
            <a:r>
              <a:rPr lang="en-US" alt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altLang="en-US" sz="1800" dirty="0">
                <a:solidFill>
                  <a:srgbClr val="1F2328"/>
                </a:solidFill>
                <a:latin typeface="Consolas" pitchFamily="34" charset="0"/>
                <a:ea typeface="Consolas" pitchFamily="34" charset="-122"/>
                <a:cs typeface="Consolas" pitchFamily="34" charset="-120"/>
              </a:rPr>
              <a:t>System.out.println(hewan.bersuara());</a:t>
            </a:r>
            <a:endParaRPr lang="en-US" sz="1800" dirty="0"/>
          </a:p>
          <a:p>
            <a:pPr indent="0" marL="0">
              <a:buNone/>
            </a:pPr>
            <a:r>
              <a:rPr lang="en-US" altLang="en-US" sz="1800" dirty="0">
                <a:solidFill>
                  <a:srgbClr val="1F2328"/>
                </a:solidFill>
                <a:latin typeface="Consolas" pitchFamily="34" charset="0"/>
                <a:ea typeface="Consolas" pitchFamily="34" charset="-122"/>
                <a:cs typeface="Consolas" pitchFamily="34" charset="-120"/>
              </a:rPr>
              <a:t>hewan = </a:t>
            </a:r>
            <a:r>
              <a:rPr lang="en-US" altLang="en-US" sz="1800" dirty="0">
                <a:solidFill>
                  <a:srgbClr val="CF222E"/>
                </a:solidFill>
                <a:latin typeface="Consolas" pitchFamily="34" charset="0"/>
                <a:ea typeface="Consolas" pitchFamily="34" charset="-122"/>
                <a:cs typeface="Consolas" pitchFamily="34" charset="-120"/>
              </a:rPr>
              <a:t>new</a:t>
            </a:r>
            <a:r>
              <a:rPr lang="en-US" altLang="en-US" sz="1800" dirty="0">
                <a:solidFill>
                  <a:srgbClr val="1F2328"/>
                </a:solidFill>
                <a:latin typeface="Consolas" pitchFamily="34" charset="0"/>
                <a:ea typeface="Consolas" pitchFamily="34" charset="-122"/>
                <a:cs typeface="Consolas" pitchFamily="34" charset="-120"/>
              </a:rPr>
              <a:t> Anjing(</a:t>
            </a:r>
            <a:r>
              <a:rPr lang="en-US" altLang="en-US" sz="1800" dirty="0">
                <a:solidFill>
                  <a:srgbClr val="0A3069"/>
                </a:solidFill>
                <a:latin typeface="Consolas" pitchFamily="34" charset="0"/>
                <a:ea typeface="Consolas" pitchFamily="34" charset="-122"/>
                <a:cs typeface="Consolas" pitchFamily="34" charset="-120"/>
              </a:rPr>
              <a:t>"Bruno"</a:t>
            </a:r>
            <a:r>
              <a:rPr lang="en-US" alt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altLang="en-US" sz="1800" dirty="0">
                <a:solidFill>
                  <a:srgbClr val="1F2328"/>
                </a:solidFill>
                <a:latin typeface="Consolas" pitchFamily="34" charset="0"/>
                <a:ea typeface="Consolas" pitchFamily="34" charset="-122"/>
                <a:cs typeface="Consolas" pitchFamily="34" charset="-120"/>
              </a:rPr>
              <a:t>System.out.println(hewan.bersuara());</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3</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3</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3200" b="1" dirty="0">
                <a:solidFill>
                  <a:srgbClr val="FFFFFF"/>
                </a:solidFill>
              </a:rPr>
              <a:t>Koleksi Polimorfik dan</a:t>
            </a:r>
            <a:endParaRPr lang="id-ID" sz="3200" dirty="0"/>
          </a:p>
          <a:p>
            <a:pPr algn="l" indent="0" marL="0">
              <a:buNone/>
            </a:pPr>
            <a:r>
              <a:rPr lang="id-ID" altLang="en-US" sz="3200" b="1" dirty="0">
                <a:solidFill>
                  <a:srgbClr val="FFFFFF"/>
                </a:solidFill>
              </a:rPr>
              <a:t>Polimorfisme dari dalam Kelas</a:t>
            </a:r>
            <a:endParaRPr lang="id-ID" sz="3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Satu perulangan untuk banyak jenis objek, dan </a:t>
            </a:r>
            <a:r>
              <a:rPr lang="id-ID" altLang="en-US" sz="2200" dirty="0">
                <a:solidFill>
                  <a:srgbClr val="DDF4FF"/>
                </a:solidFill>
                <a:latin typeface="Consolas" pitchFamily="34" charset="0"/>
                <a:ea typeface="Consolas" pitchFamily="34" charset="-122"/>
                <a:cs typeface="Consolas" pitchFamily="34" charset="-120"/>
              </a:rPr>
              <a:t>self</a:t>
            </a:r>
            <a:r>
              <a:rPr lang="id-ID" altLang="en-US" sz="2200" dirty="0">
                <a:solidFill>
                  <a:srgbClr val="C9D7E8"/>
                </a:solidFill>
              </a:rPr>
              <a:t>/</a:t>
            </a:r>
            <a:r>
              <a:rPr lang="id-ID" altLang="en-US" sz="2200" dirty="0">
                <a:solidFill>
                  <a:srgbClr val="DDF4FF"/>
                </a:solidFill>
                <a:latin typeface="Consolas" pitchFamily="34" charset="0"/>
                <a:ea typeface="Consolas" pitchFamily="34" charset="-122"/>
                <a:cs typeface="Consolas" pitchFamily="34" charset="-120"/>
              </a:rPr>
              <a:t>this</a:t>
            </a:r>
            <a:r>
              <a:rPr lang="id-ID" altLang="en-US" sz="2200" dirty="0">
                <a:solidFill>
                  <a:srgbClr val="C9D7E8"/>
                </a:solidFill>
              </a:rPr>
              <a:t> yang selalu menunjuk objek sebenarnya.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Jenis Baru tanpa Mengubah Pemanggil</a:t>
            </a:r>
            <a:endParaRPr lang="id-ID" sz="3200" dirty="0"/>
          </a:p>
        </p:txBody>
      </p:sp>
      <p:sp>
        <p:nvSpPr>
          <p:cNvPr id="5" name="Text 2"/>
          <p:cNvSpPr txBox="1"/>
          <p:nvPr/>
        </p:nvSpPr>
        <p:spPr>
          <a:xfrm>
            <a:off x="548640" y="1777091"/>
            <a:ext cx="11094415" cy="603504"/>
          </a:xfrm>
          <a:prstGeom prst="rect">
            <a:avLst/>
          </a:prstGeom>
          <a:noFill/>
          <a:ln/>
        </p:spPr>
        <p:txBody>
          <a:bodyPr wrap="square" lIns="0" tIns="0" rIns="0" bIns="0" rtlCol="0" anchor="t"/>
          <a:lstStyle/>
          <a:p>
            <a:pPr indent="0" marL="0">
              <a:buNone/>
            </a:pPr>
            <a:r>
              <a:rPr lang="id-ID" altLang="en-US" sz="1800" dirty="0">
                <a:solidFill>
                  <a:srgbClr val="57606A"/>
                </a:solidFill>
              </a:rPr>
              <a:t>Fungsi laporan tidak menyebut satu pun kelas anak. </a:t>
            </a:r>
            <a:r>
              <a:rPr lang="id-ID" altLang="en-US" sz="1800" dirty="0">
                <a:solidFill>
                  <a:srgbClr val="0A3069"/>
                </a:solidFill>
                <a:latin typeface="Consolas" pitchFamily="34" charset="0"/>
                <a:ea typeface="Consolas" pitchFamily="34" charset="-122"/>
                <a:cs typeface="Consolas" pitchFamily="34" charset="-120"/>
              </a:rPr>
              <a:t>Trapesium</a:t>
            </a:r>
            <a:r>
              <a:rPr lang="id-ID" altLang="en-US" sz="1800" dirty="0">
                <a:solidFill>
                  <a:srgbClr val="57606A"/>
                </a:solidFill>
              </a:rPr>
              <a:t> ditambahkan belakangan dan langsung ikut dihitung.</a:t>
            </a:r>
            <a:endParaRPr lang="id-ID" sz="1800" dirty="0"/>
          </a:p>
        </p:txBody>
      </p:sp>
      <p:sp>
        <p:nvSpPr>
          <p:cNvPr id="6" name="Shape 3"/>
          <p:cNvSpPr/>
          <p:nvPr/>
        </p:nvSpPr>
        <p:spPr>
          <a:xfrm>
            <a:off x="548640" y="2490323"/>
            <a:ext cx="1051560" cy="329184"/>
          </a:xfrm>
          <a:prstGeom prst="roundRect">
            <a:avLst>
              <a:gd name="adj" fmla="val 138889"/>
            </a:avLst>
          </a:prstGeom>
          <a:solidFill>
            <a:srgbClr val="3572A5"/>
          </a:solidFill>
          <a:ln/>
        </p:spPr>
      </p:sp>
      <p:sp>
        <p:nvSpPr>
          <p:cNvPr id="7" name="Text 4"/>
          <p:cNvSpPr txBox="1"/>
          <p:nvPr/>
        </p:nvSpPr>
        <p:spPr>
          <a:xfrm>
            <a:off x="548640" y="2490323"/>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490323"/>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python/contoh/contoh02_koleksi_polimorfik.py</a:t>
            </a:r>
            <a:endParaRPr lang="id-ID" sz="1100" dirty="0"/>
          </a:p>
        </p:txBody>
      </p:sp>
      <p:sp>
        <p:nvSpPr>
          <p:cNvPr id="9" name="Shape 6"/>
          <p:cNvSpPr/>
          <p:nvPr/>
        </p:nvSpPr>
        <p:spPr>
          <a:xfrm>
            <a:off x="548640" y="2910947"/>
            <a:ext cx="5432908" cy="2728722"/>
          </a:xfrm>
          <a:prstGeom prst="roundRect">
            <a:avLst>
              <a:gd name="adj" fmla="val 1123"/>
            </a:avLst>
          </a:prstGeom>
          <a:solidFill>
            <a:srgbClr val="F6F8FA"/>
          </a:solidFill>
          <a:ln w="9525">
            <a:solidFill>
              <a:srgbClr val="D0D7DE"/>
            </a:solidFill>
            <a:prstDash val="solid"/>
          </a:ln>
        </p:spPr>
      </p:sp>
      <p:sp>
        <p:nvSpPr>
          <p:cNvPr id="10" name="Text 7"/>
          <p:cNvSpPr txBox="1"/>
          <p:nvPr/>
        </p:nvSpPr>
        <p:spPr>
          <a:xfrm>
            <a:off x="658368" y="3002387"/>
            <a:ext cx="5213452" cy="2545842"/>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def</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cetak_laporan</a:t>
            </a:r>
            <a:r>
              <a:rPr lang="en-US" altLang="en-US" sz="1100" dirty="0">
                <a:solidFill>
                  <a:srgbClr val="1F2328"/>
                </a:solidFill>
                <a:latin typeface="Consolas" pitchFamily="34" charset="0"/>
                <a:ea typeface="Consolas" pitchFamily="34" charset="-122"/>
                <a:cs typeface="Consolas" pitchFamily="34" charset="-120"/>
              </a:rPr>
              <a:t>(daftar: </a:t>
            </a:r>
            <a:r>
              <a:rPr lang="en-US" altLang="en-US" sz="1100" dirty="0">
                <a:solidFill>
                  <a:srgbClr val="0550AE"/>
                </a:solidFill>
                <a:latin typeface="Consolas" pitchFamily="34" charset="0"/>
                <a:ea typeface="Consolas" pitchFamily="34" charset="-122"/>
                <a:cs typeface="Consolas" pitchFamily="34" charset="-120"/>
              </a:rPr>
              <a:t>list</a:t>
            </a:r>
            <a:r>
              <a:rPr lang="en-US" altLang="en-US" sz="1100" dirty="0">
                <a:solidFill>
                  <a:srgbClr val="1F2328"/>
                </a:solidFill>
                <a:latin typeface="Consolas" pitchFamily="34" charset="0"/>
                <a:ea typeface="Consolas" pitchFamily="34" charset="-122"/>
                <a:cs typeface="Consolas" pitchFamily="34" charset="-120"/>
              </a:rPr>
              <a:t>[BangunDatar]):</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total = </a:t>
            </a:r>
            <a:r>
              <a:rPr lang="en-US" altLang="en-US" sz="1100" dirty="0">
                <a:solidFill>
                  <a:srgbClr val="0550AE"/>
                </a:solidFill>
                <a:latin typeface="Consolas" pitchFamily="34" charset="0"/>
                <a:ea typeface="Consolas" pitchFamily="34" charset="-122"/>
                <a:cs typeface="Consolas" pitchFamily="34" charset="-120"/>
              </a:rPr>
              <a:t>0</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for</a:t>
            </a:r>
            <a:r>
              <a:rPr lang="en-US" altLang="en-US" sz="1100" dirty="0">
                <a:solidFill>
                  <a:srgbClr val="1F2328"/>
                </a:solidFill>
                <a:latin typeface="Consolas" pitchFamily="34" charset="0"/>
                <a:ea typeface="Consolas" pitchFamily="34" charset="-122"/>
                <a:cs typeface="Consolas" pitchFamily="34" charset="-120"/>
              </a:rPr>
              <a:t> bangun in daftar:</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luas = bangun.luas()</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print</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A3069"/>
                </a:solidFill>
                <a:latin typeface="Consolas" pitchFamily="34" charset="0"/>
                <a:ea typeface="Consolas" pitchFamily="34" charset="-122"/>
                <a:cs typeface="Consolas" pitchFamily="34" charset="-120"/>
              </a:rPr>
              <a:t>f"{</a:t>
            </a:r>
            <a:r>
              <a:rPr lang="en-US" altLang="en-US" sz="1100" dirty="0">
                <a:solidFill>
                  <a:srgbClr val="1F2328"/>
                </a:solidFill>
                <a:latin typeface="Consolas" pitchFamily="34" charset="0"/>
                <a:ea typeface="Consolas" pitchFamily="34" charset="-122"/>
                <a:cs typeface="Consolas" pitchFamily="34" charset="-120"/>
              </a:rPr>
              <a:t>bangun.nama()</a:t>
            </a:r>
            <a:r>
              <a:rPr lang="en-US" altLang="en-US" sz="1100" dirty="0">
                <a:solidFill>
                  <a:srgbClr val="0A3069"/>
                </a:solidFill>
                <a:latin typeface="Consolas" pitchFamily="34" charset="0"/>
                <a:ea typeface="Consolas" pitchFamily="34" charset="-122"/>
                <a:cs typeface="Consolas" pitchFamily="34" charset="-120"/>
              </a:rPr>
              <a:t>:&lt;30} luas {</a:t>
            </a:r>
            <a:r>
              <a:rPr lang="en-US" altLang="en-US" sz="1100" dirty="0">
                <a:solidFill>
                  <a:srgbClr val="1F2328"/>
                </a:solidFill>
                <a:latin typeface="Consolas" pitchFamily="34" charset="0"/>
                <a:ea typeface="Consolas" pitchFamily="34" charset="-122"/>
                <a:cs typeface="Consolas" pitchFamily="34" charset="-120"/>
              </a:rPr>
              <a:t>luas</a:t>
            </a:r>
            <a:r>
              <a:rPr lang="en-US" altLang="en-US" sz="1100" dirty="0">
                <a:solidFill>
                  <a:srgbClr val="0A3069"/>
                </a:solidFill>
                <a:latin typeface="Consolas" pitchFamily="34" charset="0"/>
                <a:ea typeface="Consolas" pitchFamily="34" charset="-122"/>
                <a:cs typeface="Consolas" pitchFamily="34" charset="-120"/>
              </a:rPr>
              <a:t>:&gt;4} cm2"</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total += luas</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print</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A3069"/>
                </a:solidFill>
                <a:latin typeface="Consolas" pitchFamily="34" charset="0"/>
                <a:ea typeface="Consolas" pitchFamily="34" charset="-122"/>
                <a:cs typeface="Consolas" pitchFamily="34" charset="-120"/>
              </a:rPr>
              <a:t>f"Total luas: {</a:t>
            </a:r>
            <a:r>
              <a:rPr lang="en-US" altLang="en-US" sz="1100" dirty="0">
                <a:solidFill>
                  <a:srgbClr val="1F2328"/>
                </a:solidFill>
                <a:latin typeface="Consolas" pitchFamily="34" charset="0"/>
                <a:ea typeface="Consolas" pitchFamily="34" charset="-122"/>
                <a:cs typeface="Consolas" pitchFamily="34" charset="-120"/>
              </a:rPr>
              <a:t>total</a:t>
            </a:r>
            <a:r>
              <a:rPr lang="en-US" altLang="en-US" sz="1100" dirty="0">
                <a:solidFill>
                  <a:srgbClr val="0A3069"/>
                </a:solidFill>
                <a:latin typeface="Consolas" pitchFamily="34" charset="0"/>
                <a:ea typeface="Consolas" pitchFamily="34" charset="-122"/>
                <a:cs typeface="Consolas" pitchFamily="34" charset="-120"/>
              </a:rPr>
              <a:t>} cm2"</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 dalam main()</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daftar = [Persegi(</a:t>
            </a:r>
            <a:r>
              <a:rPr lang="en-US" altLang="en-US" sz="1100" dirty="0">
                <a:solidFill>
                  <a:srgbClr val="0550AE"/>
                </a:solidFill>
                <a:latin typeface="Consolas" pitchFamily="34" charset="0"/>
                <a:ea typeface="Consolas" pitchFamily="34" charset="-122"/>
                <a:cs typeface="Consolas" pitchFamily="34" charset="-120"/>
              </a:rPr>
              <a:t>10</a:t>
            </a:r>
            <a:r>
              <a:rPr lang="en-US" altLang="en-US" sz="1100" dirty="0">
                <a:solidFill>
                  <a:srgbClr val="1F2328"/>
                </a:solidFill>
                <a:latin typeface="Consolas" pitchFamily="34" charset="0"/>
                <a:ea typeface="Consolas" pitchFamily="34" charset="-122"/>
                <a:cs typeface="Consolas" pitchFamily="34" charset="-120"/>
              </a:rPr>
              <a:t>), PersegiPanjang(</a:t>
            </a:r>
            <a:r>
              <a:rPr lang="en-US" altLang="en-US" sz="1100" dirty="0">
                <a:solidFill>
                  <a:srgbClr val="0550AE"/>
                </a:solidFill>
                <a:latin typeface="Consolas" pitchFamily="34" charset="0"/>
                <a:ea typeface="Consolas" pitchFamily="34" charset="-122"/>
                <a:cs typeface="Consolas" pitchFamily="34" charset="-120"/>
              </a:rPr>
              <a:t>12</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5</a:t>
            </a:r>
            <a:r>
              <a:rPr lang="en-US" altLang="en-US" sz="1100" dirty="0">
                <a:solidFill>
                  <a:srgbClr val="1F2328"/>
                </a:solidFill>
                <a:latin typeface="Consolas" pitchFamily="34" charset="0"/>
                <a:ea typeface="Consolas" pitchFamily="34" charset="-122"/>
                <a:cs typeface="Consolas" pitchFamily="34" charset="-120"/>
              </a:rPr>
              <a:t>), Segitiga(</a:t>
            </a:r>
            <a:r>
              <a:rPr lang="en-US" altLang="en-US" sz="1100" dirty="0">
                <a:solidFill>
                  <a:srgbClr val="0550AE"/>
                </a:solidFill>
                <a:latin typeface="Consolas" pitchFamily="34" charset="0"/>
                <a:ea typeface="Consolas" pitchFamily="34" charset="-122"/>
                <a:cs typeface="Consolas" pitchFamily="34" charset="-120"/>
              </a:rPr>
              <a:t>8</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6</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daftar.append(Trapesium(</a:t>
            </a:r>
            <a:r>
              <a:rPr lang="en-US" altLang="en-US" sz="1100" dirty="0">
                <a:solidFill>
                  <a:srgbClr val="0550AE"/>
                </a:solidFill>
                <a:latin typeface="Consolas" pitchFamily="34" charset="0"/>
                <a:ea typeface="Consolas" pitchFamily="34" charset="-122"/>
                <a:cs typeface="Consolas" pitchFamily="34" charset="-120"/>
              </a:rPr>
              <a:t>6</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10</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4</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daftar.append(BangunDatar())</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cetak_laporan(daftar)</a:t>
            </a:r>
            <a:endParaRPr lang="en-US" sz="1100" dirty="0"/>
          </a:p>
        </p:txBody>
      </p:sp>
      <p:sp>
        <p:nvSpPr>
          <p:cNvPr id="11" name="Shape 8"/>
          <p:cNvSpPr/>
          <p:nvPr/>
        </p:nvSpPr>
        <p:spPr>
          <a:xfrm>
            <a:off x="6210148" y="2490323"/>
            <a:ext cx="1051560" cy="329184"/>
          </a:xfrm>
          <a:prstGeom prst="roundRect">
            <a:avLst>
              <a:gd name="adj" fmla="val 138889"/>
            </a:avLst>
          </a:prstGeom>
          <a:solidFill>
            <a:srgbClr val="B07219"/>
          </a:solidFill>
          <a:ln/>
        </p:spPr>
      </p:sp>
      <p:sp>
        <p:nvSpPr>
          <p:cNvPr id="12" name="Text 9"/>
          <p:cNvSpPr txBox="1"/>
          <p:nvPr/>
        </p:nvSpPr>
        <p:spPr>
          <a:xfrm>
            <a:off x="6210148" y="2490323"/>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490323"/>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java/contoh/Contoh02KoleksiPolimorfik.java</a:t>
            </a:r>
            <a:endParaRPr lang="id-ID" sz="1100" dirty="0"/>
          </a:p>
        </p:txBody>
      </p:sp>
      <p:sp>
        <p:nvSpPr>
          <p:cNvPr id="14" name="Shape 11"/>
          <p:cNvSpPr/>
          <p:nvPr/>
        </p:nvSpPr>
        <p:spPr>
          <a:xfrm>
            <a:off x="6210148" y="2910947"/>
            <a:ext cx="5432908" cy="2728722"/>
          </a:xfrm>
          <a:prstGeom prst="roundRect">
            <a:avLst>
              <a:gd name="adj" fmla="val 1123"/>
            </a:avLst>
          </a:prstGeom>
          <a:solidFill>
            <a:srgbClr val="F6F8FA"/>
          </a:solidFill>
          <a:ln w="9525">
            <a:solidFill>
              <a:srgbClr val="D0D7DE"/>
            </a:solidFill>
            <a:prstDash val="solid"/>
          </a:ln>
        </p:spPr>
      </p:sp>
      <p:sp>
        <p:nvSpPr>
          <p:cNvPr id="15" name="Text 12"/>
          <p:cNvSpPr txBox="1"/>
          <p:nvPr/>
        </p:nvSpPr>
        <p:spPr>
          <a:xfrm>
            <a:off x="6319876" y="3002387"/>
            <a:ext cx="5213452" cy="2545842"/>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static</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void</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cetakLaporan</a:t>
            </a:r>
            <a:r>
              <a:rPr lang="en-US" altLang="en-US" sz="1100" dirty="0">
                <a:solidFill>
                  <a:srgbClr val="1F2328"/>
                </a:solidFill>
                <a:latin typeface="Consolas" pitchFamily="34" charset="0"/>
                <a:ea typeface="Consolas" pitchFamily="34" charset="-122"/>
                <a:cs typeface="Consolas" pitchFamily="34" charset="-120"/>
              </a:rPr>
              <a:t>(List&lt;BangunDatar&gt; daftar)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 total = </a:t>
            </a:r>
            <a:r>
              <a:rPr lang="en-US" altLang="en-US" sz="1100" dirty="0">
                <a:solidFill>
                  <a:srgbClr val="0550AE"/>
                </a:solidFill>
                <a:latin typeface="Consolas" pitchFamily="34" charset="0"/>
                <a:ea typeface="Consolas" pitchFamily="34" charset="-122"/>
                <a:cs typeface="Consolas" pitchFamily="34" charset="-120"/>
              </a:rPr>
              <a:t>0</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for</a:t>
            </a:r>
            <a:r>
              <a:rPr lang="en-US" altLang="en-US" sz="1100" dirty="0">
                <a:solidFill>
                  <a:srgbClr val="1F2328"/>
                </a:solidFill>
                <a:latin typeface="Consolas" pitchFamily="34" charset="0"/>
                <a:ea typeface="Consolas" pitchFamily="34" charset="-122"/>
                <a:cs typeface="Consolas" pitchFamily="34" charset="-120"/>
              </a:rPr>
              <a:t> (BangunDatar bangun : daftar)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 luas = bangun.luas();</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total += luas;</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System.out.println(</a:t>
            </a:r>
            <a:r>
              <a:rPr lang="en-US" altLang="en-US" sz="1100" dirty="0">
                <a:solidFill>
                  <a:srgbClr val="0A3069"/>
                </a:solidFill>
                <a:latin typeface="Consolas" pitchFamily="34" charset="0"/>
                <a:ea typeface="Consolas" pitchFamily="34" charset="-122"/>
                <a:cs typeface="Consolas" pitchFamily="34" charset="-120"/>
              </a:rPr>
              <a:t>"Total luas: "</a:t>
            </a:r>
            <a:r>
              <a:rPr lang="en-US" altLang="en-US" sz="1100" dirty="0">
                <a:solidFill>
                  <a:srgbClr val="1F2328"/>
                </a:solidFill>
                <a:latin typeface="Consolas" pitchFamily="34" charset="0"/>
                <a:ea typeface="Consolas" pitchFamily="34" charset="-122"/>
                <a:cs typeface="Consolas" pitchFamily="34" charset="-120"/>
              </a:rPr>
              <a:t> + total + </a:t>
            </a:r>
            <a:r>
              <a:rPr lang="en-US" altLang="en-US" sz="1100" dirty="0">
                <a:solidFill>
                  <a:srgbClr val="0A3069"/>
                </a:solidFill>
                <a:latin typeface="Consolas" pitchFamily="34" charset="0"/>
                <a:ea typeface="Consolas" pitchFamily="34" charset="-122"/>
                <a:cs typeface="Consolas" pitchFamily="34" charset="-120"/>
              </a:rPr>
              <a:t>" cm2"</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 dalam main</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List&lt;BangunDatar&gt; daftar = </a:t>
            </a:r>
            <a:r>
              <a:rPr lang="en-US" altLang="en-US" sz="1100" dirty="0">
                <a:solidFill>
                  <a:srgbClr val="CF222E"/>
                </a:solidFill>
                <a:latin typeface="Consolas" pitchFamily="34" charset="0"/>
                <a:ea typeface="Consolas" pitchFamily="34" charset="-122"/>
                <a:cs typeface="Consolas" pitchFamily="34" charset="-120"/>
              </a:rPr>
              <a:t>new</a:t>
            </a:r>
            <a:r>
              <a:rPr lang="en-US" altLang="en-US" sz="1100" dirty="0">
                <a:solidFill>
                  <a:srgbClr val="1F2328"/>
                </a:solidFill>
                <a:latin typeface="Consolas" pitchFamily="34" charset="0"/>
                <a:ea typeface="Consolas" pitchFamily="34" charset="-122"/>
                <a:cs typeface="Consolas" pitchFamily="34" charset="-120"/>
              </a:rPr>
              <a:t> ArrayList&lt;&gt;();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daftar.add: Persegi, PersegiPanjang, Segitiga</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daftar.add(</a:t>
            </a:r>
            <a:r>
              <a:rPr lang="en-US" altLang="en-US" sz="1100" dirty="0">
                <a:solidFill>
                  <a:srgbClr val="CF222E"/>
                </a:solidFill>
                <a:latin typeface="Consolas" pitchFamily="34" charset="0"/>
                <a:ea typeface="Consolas" pitchFamily="34" charset="-122"/>
                <a:cs typeface="Consolas" pitchFamily="34" charset="-120"/>
              </a:rPr>
              <a:t>new</a:t>
            </a:r>
            <a:r>
              <a:rPr lang="en-US" altLang="en-US" sz="1100" dirty="0">
                <a:solidFill>
                  <a:srgbClr val="1F2328"/>
                </a:solidFill>
                <a:latin typeface="Consolas" pitchFamily="34" charset="0"/>
                <a:ea typeface="Consolas" pitchFamily="34" charset="-122"/>
                <a:cs typeface="Consolas" pitchFamily="34" charset="-120"/>
              </a:rPr>
              <a:t> Trapesium(</a:t>
            </a:r>
            <a:r>
              <a:rPr lang="en-US" altLang="en-US" sz="1100" dirty="0">
                <a:solidFill>
                  <a:srgbClr val="0550AE"/>
                </a:solidFill>
                <a:latin typeface="Consolas" pitchFamily="34" charset="0"/>
                <a:ea typeface="Consolas" pitchFamily="34" charset="-122"/>
                <a:cs typeface="Consolas" pitchFamily="34" charset="-120"/>
              </a:rPr>
              <a:t>6</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10</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4</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daftar.add(</a:t>
            </a:r>
            <a:r>
              <a:rPr lang="en-US" altLang="en-US" sz="1100" dirty="0">
                <a:solidFill>
                  <a:srgbClr val="CF222E"/>
                </a:solidFill>
                <a:latin typeface="Consolas" pitchFamily="34" charset="0"/>
                <a:ea typeface="Consolas" pitchFamily="34" charset="-122"/>
                <a:cs typeface="Consolas" pitchFamily="34" charset="-120"/>
              </a:rPr>
              <a:t>new</a:t>
            </a:r>
            <a:r>
              <a:rPr lang="en-US" altLang="en-US" sz="1100" dirty="0">
                <a:solidFill>
                  <a:srgbClr val="1F2328"/>
                </a:solidFill>
                <a:latin typeface="Consolas" pitchFamily="34" charset="0"/>
                <a:ea typeface="Consolas" pitchFamily="34" charset="-122"/>
                <a:cs typeface="Consolas" pitchFamily="34" charset="-120"/>
              </a:rPr>
              <a:t> BangunDatar());</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cetakLaporan(daftar);</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Kerangka di Induk, Isian di Anak</a:t>
            </a:r>
            <a:endParaRPr lang="id-ID" sz="3200" dirty="0"/>
          </a:p>
        </p:txBody>
      </p:sp>
      <p:sp>
        <p:nvSpPr>
          <p:cNvPr id="5" name="Text 2"/>
          <p:cNvSpPr txBox="1"/>
          <p:nvPr/>
        </p:nvSpPr>
        <p:spPr>
          <a:xfrm>
            <a:off x="548640" y="1702255"/>
            <a:ext cx="11094415" cy="324612"/>
          </a:xfrm>
          <a:prstGeom prst="rect">
            <a:avLst/>
          </a:prstGeom>
          <a:noFill/>
          <a:ln/>
        </p:spPr>
        <p:txBody>
          <a:bodyPr wrap="square" lIns="0" tIns="0" rIns="0" bIns="0" rtlCol="0" anchor="t"/>
          <a:lstStyle/>
          <a:p>
            <a:pPr indent="0" marL="0">
              <a:buNone/>
            </a:pPr>
            <a:r>
              <a:rPr lang="id-ID" altLang="en-US" sz="1800" dirty="0">
                <a:solidFill>
                  <a:srgbClr val="0A3069"/>
                </a:solidFill>
                <a:latin typeface="Consolas" pitchFamily="34" charset="0"/>
                <a:ea typeface="Consolas" pitchFamily="34" charset="-122"/>
                <a:cs typeface="Consolas" pitchFamily="34" charset="-120"/>
              </a:rPr>
              <a:t>tulis()</a:t>
            </a:r>
            <a:r>
              <a:rPr lang="id-ID" altLang="en-US" sz="1800" dirty="0">
                <a:solidFill>
                  <a:srgbClr val="57606A"/>
                </a:solidFill>
              </a:rPr>
              <a:t> hanya ditulis sekali di </a:t>
            </a:r>
            <a:r>
              <a:rPr lang="id-ID" altLang="en-US" sz="1800" dirty="0">
                <a:solidFill>
                  <a:srgbClr val="0A3069"/>
                </a:solidFill>
                <a:latin typeface="Consolas" pitchFamily="34" charset="0"/>
                <a:ea typeface="Consolas" pitchFamily="34" charset="-122"/>
                <a:cs typeface="Consolas" pitchFamily="34" charset="-120"/>
              </a:rPr>
              <a:t>KartuUcapan</a:t>
            </a:r>
            <a:r>
              <a:rPr lang="id-ID" altLang="en-US" sz="1800" dirty="0">
                <a:solidFill>
                  <a:srgbClr val="57606A"/>
                </a:solidFill>
              </a:rPr>
              <a:t>. </a:t>
            </a:r>
            <a:r>
              <a:rPr lang="id-ID" altLang="en-US" sz="1800" dirty="0">
                <a:solidFill>
                  <a:srgbClr val="0A3069"/>
                </a:solidFill>
                <a:latin typeface="Consolas" pitchFamily="34" charset="0"/>
                <a:ea typeface="Consolas" pitchFamily="34" charset="-122"/>
                <a:cs typeface="Consolas" pitchFamily="34" charset="-120"/>
              </a:rPr>
              <a:t>KartuWisuda</a:t>
            </a:r>
            <a:r>
              <a:rPr lang="id-ID" altLang="en-US" sz="1800" dirty="0">
                <a:solidFill>
                  <a:srgbClr val="57606A"/>
                </a:solidFill>
              </a:rPr>
              <a:t> cukup meng-⁠</a:t>
            </a:r>
            <a:r>
              <a:rPr lang="id-ID" altLang="en-US" sz="1800" i="1" dirty="0">
                <a:solidFill>
                  <a:srgbClr val="57606A"/>
                </a:solidFill>
              </a:rPr>
              <a:t>override</a:t>
            </a:r>
            <a:r>
              <a:rPr lang="id-ID" altLang="en-US" sz="1800" dirty="0">
                <a:solidFill>
                  <a:srgbClr val="57606A"/>
                </a:solidFill>
              </a:rPr>
              <a:t> </a:t>
            </a:r>
            <a:r>
              <a:rPr lang="id-ID" altLang="en-US" sz="1800" dirty="0">
                <a:solidFill>
                  <a:srgbClr val="0A3069"/>
                </a:solidFill>
                <a:latin typeface="Consolas" pitchFamily="34" charset="0"/>
                <a:ea typeface="Consolas" pitchFamily="34" charset="-122"/>
                <a:cs typeface="Consolas" pitchFamily="34" charset="-120"/>
              </a:rPr>
              <a:t>salam()</a:t>
            </a:r>
            <a:r>
              <a:rPr lang="id-ID" altLang="en-US" sz="1800" dirty="0">
                <a:solidFill>
                  <a:srgbClr val="57606A"/>
                </a:solidFill>
              </a:rPr>
              <a:t> dan </a:t>
            </a:r>
            <a:r>
              <a:rPr lang="id-ID" altLang="en-US" sz="1800" dirty="0">
                <a:solidFill>
                  <a:srgbClr val="0A3069"/>
                </a:solidFill>
                <a:latin typeface="Consolas" pitchFamily="34" charset="0"/>
                <a:ea typeface="Consolas" pitchFamily="34" charset="-122"/>
                <a:cs typeface="Consolas" pitchFamily="34" charset="-120"/>
              </a:rPr>
              <a:t>isi()</a:t>
            </a:r>
            <a:r>
              <a:rPr lang="id-ID" altLang="en-US" sz="1800" dirty="0">
                <a:solidFill>
                  <a:srgbClr val="57606A"/>
                </a:solidFill>
              </a:rPr>
              <a:t>.</a:t>
            </a:r>
            <a:endParaRPr lang="id-ID" sz="1800" dirty="0"/>
          </a:p>
        </p:txBody>
      </p:sp>
      <p:sp>
        <p:nvSpPr>
          <p:cNvPr id="6" name="Shape 3"/>
          <p:cNvSpPr/>
          <p:nvPr/>
        </p:nvSpPr>
        <p:spPr>
          <a:xfrm>
            <a:off x="548640" y="2136595"/>
            <a:ext cx="1051560" cy="329184"/>
          </a:xfrm>
          <a:prstGeom prst="roundRect">
            <a:avLst>
              <a:gd name="adj" fmla="val 138889"/>
            </a:avLst>
          </a:prstGeom>
          <a:solidFill>
            <a:srgbClr val="3572A5"/>
          </a:solidFill>
          <a:ln/>
        </p:spPr>
      </p:sp>
      <p:sp>
        <p:nvSpPr>
          <p:cNvPr id="7" name="Text 4"/>
          <p:cNvSpPr txBox="1"/>
          <p:nvPr/>
        </p:nvSpPr>
        <p:spPr>
          <a:xfrm>
            <a:off x="548640" y="2136595"/>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136595"/>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python/contoh/contoh04_polimorfisme_dari_dalam_kelas.py</a:t>
            </a:r>
            <a:endParaRPr lang="id-ID" sz="1100" dirty="0"/>
          </a:p>
        </p:txBody>
      </p:sp>
      <p:sp>
        <p:nvSpPr>
          <p:cNvPr id="9" name="Shape 6"/>
          <p:cNvSpPr/>
          <p:nvPr/>
        </p:nvSpPr>
        <p:spPr>
          <a:xfrm>
            <a:off x="548640" y="2557219"/>
            <a:ext cx="5432908" cy="3185795"/>
          </a:xfrm>
          <a:prstGeom prst="roundRect">
            <a:avLst>
              <a:gd name="adj" fmla="val 824"/>
            </a:avLst>
          </a:prstGeom>
          <a:solidFill>
            <a:srgbClr val="F6F8FA"/>
          </a:solidFill>
          <a:ln w="9525">
            <a:solidFill>
              <a:srgbClr val="D0D7DE"/>
            </a:solidFill>
            <a:prstDash val="solid"/>
          </a:ln>
        </p:spPr>
      </p:sp>
      <p:sp>
        <p:nvSpPr>
          <p:cNvPr id="10" name="Text 7"/>
          <p:cNvSpPr txBox="1"/>
          <p:nvPr/>
        </p:nvSpPr>
        <p:spPr>
          <a:xfrm>
            <a:off x="658368" y="2648659"/>
            <a:ext cx="5213452" cy="3002915"/>
          </a:xfrm>
          <a:prstGeom prst="rect">
            <a:avLst/>
          </a:prstGeom>
          <a:noFill/>
          <a:ln/>
        </p:spPr>
        <p:txBody>
          <a:bodyPr wrap="square" lIns="0" tIns="0" rIns="0" bIns="0" rtlCol="0" anchor="t"/>
          <a:lstStyle/>
          <a:p>
            <a:pPr indent="0" marL="0">
              <a:buNone/>
            </a:pPr>
            <a:r>
              <a:rPr lang="en-US" altLang="en-US" sz="1150" dirty="0">
                <a:solidFill>
                  <a:srgbClr val="CF222E"/>
                </a:solidFill>
                <a:latin typeface="Consolas" pitchFamily="34" charset="0"/>
                <a:ea typeface="Consolas" pitchFamily="34" charset="-122"/>
                <a:cs typeface="Consolas" pitchFamily="34" charset="-120"/>
              </a:rPr>
              <a:t>class</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953800"/>
                </a:solidFill>
                <a:latin typeface="Consolas" pitchFamily="34" charset="0"/>
                <a:ea typeface="Consolas" pitchFamily="34" charset="-122"/>
                <a:cs typeface="Consolas" pitchFamily="34" charset="-120"/>
              </a:rPr>
              <a:t>KartuUcapan</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def</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8250DF"/>
                </a:solidFill>
                <a:latin typeface="Consolas" pitchFamily="34" charset="0"/>
                <a:ea typeface="Consolas" pitchFamily="34" charset="-122"/>
                <a:cs typeface="Consolas" pitchFamily="34" charset="-120"/>
              </a:rPr>
              <a:t>tulis</a:t>
            </a:r>
            <a:r>
              <a:rPr lang="en-US" altLang="en-US" sz="1150" dirty="0">
                <a:solidFill>
                  <a:srgbClr val="1F2328"/>
                </a:solidFill>
                <a:latin typeface="Consolas" pitchFamily="34" charset="0"/>
                <a:ea typeface="Consolas" pitchFamily="34" charset="-122"/>
                <a:cs typeface="Consolas" pitchFamily="34" charset="-120"/>
              </a:rPr>
              <a:t>(</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550AE"/>
                </a:solidFill>
                <a:latin typeface="Consolas" pitchFamily="34" charset="0"/>
                <a:ea typeface="Consolas" pitchFamily="34" charset="-122"/>
                <a:cs typeface="Consolas" pitchFamily="34" charset="-120"/>
              </a:rPr>
              <a:t>print</a:t>
            </a:r>
            <a:r>
              <a:rPr lang="en-US" altLang="en-US" sz="1150" dirty="0">
                <a:solidFill>
                  <a:srgbClr val="1F2328"/>
                </a:solidFill>
                <a:latin typeface="Consolas" pitchFamily="34" charset="0"/>
                <a:ea typeface="Consolas" pitchFamily="34" charset="-122"/>
                <a:cs typeface="Consolas" pitchFamily="34" charset="-120"/>
              </a:rPr>
              <a:t>(</a:t>
            </a:r>
            <a:r>
              <a:rPr lang="en-US" altLang="en-US" sz="1150" dirty="0">
                <a:solidFill>
                  <a:srgbClr val="0A3069"/>
                </a:solidFill>
                <a:latin typeface="Consolas" pitchFamily="34" charset="0"/>
                <a:ea typeface="Consolas" pitchFamily="34" charset="-122"/>
                <a:cs typeface="Consolas" pitchFamily="34" charset="-120"/>
              </a:rPr>
              <a:t>"-"</a:t>
            </a:r>
            <a:r>
              <a:rPr lang="en-US" altLang="en-US" sz="1150" dirty="0">
                <a:solidFill>
                  <a:srgbClr val="1F2328"/>
                </a:solidFill>
                <a:latin typeface="Consolas" pitchFamily="34" charset="0"/>
                <a:ea typeface="Consolas" pitchFamily="34" charset="-122"/>
                <a:cs typeface="Consolas" pitchFamily="34" charset="-120"/>
              </a:rPr>
              <a:t> * </a:t>
            </a:r>
            <a:r>
              <a:rPr lang="en-US" altLang="en-US" sz="1150" dirty="0">
                <a:solidFill>
                  <a:srgbClr val="0550AE"/>
                </a:solidFill>
                <a:latin typeface="Consolas" pitchFamily="34" charset="0"/>
                <a:ea typeface="Consolas" pitchFamily="34" charset="-122"/>
                <a:cs typeface="Consolas" pitchFamily="34" charset="-120"/>
              </a:rPr>
              <a:t>40</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550AE"/>
                </a:solidFill>
                <a:latin typeface="Consolas" pitchFamily="34" charset="0"/>
                <a:ea typeface="Consolas" pitchFamily="34" charset="-122"/>
                <a:cs typeface="Consolas" pitchFamily="34" charset="-120"/>
              </a:rPr>
              <a:t>print</a:t>
            </a:r>
            <a:r>
              <a:rPr lang="en-US" altLang="en-US" sz="1150" dirty="0">
                <a:solidFill>
                  <a:srgbClr val="1F2328"/>
                </a:solidFill>
                <a:latin typeface="Consolas" pitchFamily="34" charset="0"/>
                <a:ea typeface="Consolas" pitchFamily="34" charset="-122"/>
                <a:cs typeface="Consolas" pitchFamily="34" charset="-120"/>
              </a:rPr>
              <a:t>(</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.salam())</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550AE"/>
                </a:solidFill>
                <a:latin typeface="Consolas" pitchFamily="34" charset="0"/>
                <a:ea typeface="Consolas" pitchFamily="34" charset="-122"/>
                <a:cs typeface="Consolas" pitchFamily="34" charset="-120"/>
              </a:rPr>
              <a:t>print</a:t>
            </a:r>
            <a:r>
              <a:rPr lang="en-US" altLang="en-US" sz="1150" dirty="0">
                <a:solidFill>
                  <a:srgbClr val="1F2328"/>
                </a:solidFill>
                <a:latin typeface="Consolas" pitchFamily="34" charset="0"/>
                <a:ea typeface="Consolas" pitchFamily="34" charset="-122"/>
                <a:cs typeface="Consolas" pitchFamily="34" charset="-120"/>
              </a:rPr>
              <a:t>(</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.isi())</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000000"/>
                </a:solidFill>
                <a:latin typeface="Consolas" pitchFamily="34" charset="0"/>
                <a:ea typeface="Consolas" pitchFamily="34" charset="-122"/>
                <a:cs typeface="Consolas" pitchFamily="34" charset="-120"/>
              </a:rPr>
              <a:t> </a:t>
            </a:r>
            <a:endParaRPr lang="en-US" sz="1150" dirty="0"/>
          </a:p>
          <a:p>
            <a:pPr indent="0" marL="0">
              <a:buNone/>
            </a:pPr>
            <a:r>
              <a:rPr lang="en-US" altLang="en-US" sz="1150" dirty="0">
                <a:solidFill>
                  <a:srgbClr val="CF222E"/>
                </a:solidFill>
                <a:latin typeface="Consolas" pitchFamily="34" charset="0"/>
                <a:ea typeface="Consolas" pitchFamily="34" charset="-122"/>
                <a:cs typeface="Consolas" pitchFamily="34" charset="-120"/>
              </a:rPr>
              <a:t>class</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953800"/>
                </a:solidFill>
                <a:latin typeface="Consolas" pitchFamily="34" charset="0"/>
                <a:ea typeface="Consolas" pitchFamily="34" charset="-122"/>
                <a:cs typeface="Consolas" pitchFamily="34" charset="-120"/>
              </a:rPr>
              <a:t>KartuWisuda</a:t>
            </a:r>
            <a:r>
              <a:rPr lang="en-US" altLang="en-US" sz="1150" dirty="0">
                <a:solidFill>
                  <a:srgbClr val="1F2328"/>
                </a:solidFill>
                <a:latin typeface="Consolas" pitchFamily="34" charset="0"/>
                <a:ea typeface="Consolas" pitchFamily="34" charset="-122"/>
                <a:cs typeface="Consolas" pitchFamily="34" charset="-120"/>
              </a:rPr>
              <a:t>(KartuUcapan):</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def</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8250DF"/>
                </a:solidFill>
                <a:latin typeface="Consolas" pitchFamily="34" charset="0"/>
                <a:ea typeface="Consolas" pitchFamily="34" charset="-122"/>
                <a:cs typeface="Consolas" pitchFamily="34" charset="-120"/>
              </a:rPr>
              <a:t>salam</a:t>
            </a:r>
            <a:r>
              <a:rPr lang="en-US" altLang="en-US" sz="1150" dirty="0">
                <a:solidFill>
                  <a:srgbClr val="1F2328"/>
                </a:solidFill>
                <a:latin typeface="Consolas" pitchFamily="34" charset="0"/>
                <a:ea typeface="Consolas" pitchFamily="34" charset="-122"/>
                <a:cs typeface="Consolas" pitchFamily="34" charset="-120"/>
              </a:rPr>
              <a:t>(</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 -&gt; </a:t>
            </a:r>
            <a:r>
              <a:rPr lang="en-US" altLang="en-US" sz="1150" dirty="0">
                <a:solidFill>
                  <a:srgbClr val="0550AE"/>
                </a:solidFill>
                <a:latin typeface="Consolas" pitchFamily="34" charset="0"/>
                <a:ea typeface="Consolas" pitchFamily="34" charset="-122"/>
                <a:cs typeface="Consolas" pitchFamily="34" charset="-120"/>
              </a:rPr>
              <a:t>str</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return</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A3069"/>
                </a:solidFill>
                <a:latin typeface="Consolas" pitchFamily="34" charset="0"/>
                <a:ea typeface="Consolas" pitchFamily="34" charset="-122"/>
                <a:cs typeface="Consolas" pitchFamily="34" charset="-120"/>
              </a:rPr>
              <a:t>f"Selamat, {</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._penerima</a:t>
            </a:r>
            <a:r>
              <a:rPr lang="en-US" altLang="en-US" sz="1150" dirty="0">
                <a:solidFill>
                  <a:srgbClr val="0A3069"/>
                </a:solidFill>
                <a:latin typeface="Consolas" pitchFamily="34" charset="0"/>
                <a:ea typeface="Consolas" pitchFamily="34" charset="-122"/>
                <a:cs typeface="Consolas" pitchFamily="34" charset="-120"/>
              </a:rPr>
              <a:t>}, S.Kom.!"</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p:txBody>
      </p:sp>
      <p:sp>
        <p:nvSpPr>
          <p:cNvPr id="11" name="Shape 8"/>
          <p:cNvSpPr/>
          <p:nvPr/>
        </p:nvSpPr>
        <p:spPr>
          <a:xfrm>
            <a:off x="6210148" y="2136595"/>
            <a:ext cx="1051560" cy="329184"/>
          </a:xfrm>
          <a:prstGeom prst="roundRect">
            <a:avLst>
              <a:gd name="adj" fmla="val 138889"/>
            </a:avLst>
          </a:prstGeom>
          <a:solidFill>
            <a:srgbClr val="B07219"/>
          </a:solidFill>
          <a:ln/>
        </p:spPr>
      </p:sp>
      <p:sp>
        <p:nvSpPr>
          <p:cNvPr id="12" name="Text 9"/>
          <p:cNvSpPr txBox="1"/>
          <p:nvPr/>
        </p:nvSpPr>
        <p:spPr>
          <a:xfrm>
            <a:off x="6210148" y="2136595"/>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136595"/>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java/contoh/Contoh04PolimorfismeDariDalamKelas.java</a:t>
            </a:r>
            <a:endParaRPr lang="id-ID" sz="1100" dirty="0"/>
          </a:p>
        </p:txBody>
      </p:sp>
      <p:sp>
        <p:nvSpPr>
          <p:cNvPr id="14" name="Shape 11"/>
          <p:cNvSpPr/>
          <p:nvPr/>
        </p:nvSpPr>
        <p:spPr>
          <a:xfrm>
            <a:off x="6210148" y="2557219"/>
            <a:ext cx="5432908" cy="3185795"/>
          </a:xfrm>
          <a:prstGeom prst="roundRect">
            <a:avLst>
              <a:gd name="adj" fmla="val 824"/>
            </a:avLst>
          </a:prstGeom>
          <a:solidFill>
            <a:srgbClr val="F6F8FA"/>
          </a:solidFill>
          <a:ln w="9525">
            <a:solidFill>
              <a:srgbClr val="D0D7DE"/>
            </a:solidFill>
            <a:prstDash val="solid"/>
          </a:ln>
        </p:spPr>
      </p:sp>
      <p:sp>
        <p:nvSpPr>
          <p:cNvPr id="15" name="Text 12"/>
          <p:cNvSpPr txBox="1"/>
          <p:nvPr/>
        </p:nvSpPr>
        <p:spPr>
          <a:xfrm>
            <a:off x="6319876" y="2648659"/>
            <a:ext cx="5213452" cy="3002915"/>
          </a:xfrm>
          <a:prstGeom prst="rect">
            <a:avLst/>
          </a:prstGeom>
          <a:noFill/>
          <a:ln/>
        </p:spPr>
        <p:txBody>
          <a:bodyPr wrap="square" lIns="0" tIns="0" rIns="0" bIns="0" rtlCol="0" anchor="t"/>
          <a:lstStyle/>
          <a:p>
            <a:pPr indent="0" marL="0">
              <a:buNone/>
            </a:pPr>
            <a:r>
              <a:rPr lang="en-US" altLang="en-US" sz="1150" dirty="0">
                <a:solidFill>
                  <a:srgbClr val="CF222E"/>
                </a:solidFill>
                <a:latin typeface="Consolas" pitchFamily="34" charset="0"/>
                <a:ea typeface="Consolas" pitchFamily="34" charset="-122"/>
                <a:cs typeface="Consolas" pitchFamily="34" charset="-120"/>
              </a:rPr>
              <a:t>class</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953800"/>
                </a:solidFill>
                <a:latin typeface="Consolas" pitchFamily="34" charset="0"/>
                <a:ea typeface="Consolas" pitchFamily="34" charset="-122"/>
                <a:cs typeface="Consolas" pitchFamily="34" charset="-120"/>
              </a:rPr>
              <a:t>KartuUcapan</a:t>
            </a: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public</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void</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8250DF"/>
                </a:solidFill>
                <a:latin typeface="Consolas" pitchFamily="34" charset="0"/>
                <a:ea typeface="Consolas" pitchFamily="34" charset="-122"/>
                <a:cs typeface="Consolas" pitchFamily="34" charset="-120"/>
              </a:rPr>
              <a:t>tulis</a:t>
            </a: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System.out.println(</a:t>
            </a:r>
            <a:r>
              <a:rPr lang="en-US" altLang="en-US" sz="1150" dirty="0">
                <a:solidFill>
                  <a:srgbClr val="0A3069"/>
                </a:solidFill>
                <a:latin typeface="Consolas" pitchFamily="34" charset="0"/>
                <a:ea typeface="Consolas" pitchFamily="34" charset="-122"/>
                <a:cs typeface="Consolas" pitchFamily="34" charset="-120"/>
              </a:rPr>
              <a:t>"-"</a:t>
            </a:r>
            <a:r>
              <a:rPr lang="en-US" altLang="en-US" sz="1150" dirty="0">
                <a:solidFill>
                  <a:srgbClr val="1F2328"/>
                </a:solidFill>
                <a:latin typeface="Consolas" pitchFamily="34" charset="0"/>
                <a:ea typeface="Consolas" pitchFamily="34" charset="-122"/>
                <a:cs typeface="Consolas" pitchFamily="34" charset="-120"/>
              </a:rPr>
              <a:t>.repeat(</a:t>
            </a:r>
            <a:r>
              <a:rPr lang="en-US" altLang="en-US" sz="1150" dirty="0">
                <a:solidFill>
                  <a:srgbClr val="0550AE"/>
                </a:solidFill>
                <a:latin typeface="Consolas" pitchFamily="34" charset="0"/>
                <a:ea typeface="Consolas" pitchFamily="34" charset="-122"/>
                <a:cs typeface="Consolas" pitchFamily="34" charset="-120"/>
              </a:rPr>
              <a:t>40</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System.out.println(salam());</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System.out.println(isi());</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CF222E"/>
                </a:solidFill>
                <a:latin typeface="Consolas" pitchFamily="34" charset="0"/>
                <a:ea typeface="Consolas" pitchFamily="34" charset="-122"/>
                <a:cs typeface="Consolas" pitchFamily="34" charset="-120"/>
              </a:rPr>
              <a:t>class</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953800"/>
                </a:solidFill>
                <a:latin typeface="Consolas" pitchFamily="34" charset="0"/>
                <a:ea typeface="Consolas" pitchFamily="34" charset="-122"/>
                <a:cs typeface="Consolas" pitchFamily="34" charset="-120"/>
              </a:rPr>
              <a:t>KartuWisuda</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extends</a:t>
            </a:r>
            <a:r>
              <a:rPr lang="en-US" altLang="en-US" sz="1150" dirty="0">
                <a:solidFill>
                  <a:srgbClr val="1F2328"/>
                </a:solidFill>
                <a:latin typeface="Consolas" pitchFamily="34" charset="0"/>
                <a:ea typeface="Consolas" pitchFamily="34" charset="-122"/>
                <a:cs typeface="Consolas" pitchFamily="34" charset="-120"/>
              </a:rPr>
              <a:t> KartuUcapan {</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8250DF"/>
                </a:solidFill>
                <a:latin typeface="Consolas" pitchFamily="34" charset="0"/>
                <a:ea typeface="Consolas" pitchFamily="34" charset="-122"/>
                <a:cs typeface="Consolas" pitchFamily="34" charset="-120"/>
              </a:rPr>
              <a:t>@Override</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public</a:t>
            </a:r>
            <a:r>
              <a:rPr lang="en-US" altLang="en-US" sz="1150" dirty="0">
                <a:solidFill>
                  <a:srgbClr val="1F2328"/>
                </a:solidFill>
                <a:latin typeface="Consolas" pitchFamily="34" charset="0"/>
                <a:ea typeface="Consolas" pitchFamily="34" charset="-122"/>
                <a:cs typeface="Consolas" pitchFamily="34" charset="-120"/>
              </a:rPr>
              <a:t> String </a:t>
            </a:r>
            <a:r>
              <a:rPr lang="en-US" altLang="en-US" sz="1150" dirty="0">
                <a:solidFill>
                  <a:srgbClr val="8250DF"/>
                </a:solidFill>
                <a:latin typeface="Consolas" pitchFamily="34" charset="0"/>
                <a:ea typeface="Consolas" pitchFamily="34" charset="-122"/>
                <a:cs typeface="Consolas" pitchFamily="34" charset="-120"/>
              </a:rPr>
              <a:t>salam</a:t>
            </a: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return</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A3069"/>
                </a:solidFill>
                <a:latin typeface="Consolas" pitchFamily="34" charset="0"/>
                <a:ea typeface="Consolas" pitchFamily="34" charset="-122"/>
                <a:cs typeface="Consolas" pitchFamily="34" charset="-120"/>
              </a:rPr>
              <a:t>"Selamat, "</a:t>
            </a:r>
            <a:r>
              <a:rPr lang="en-US" altLang="en-US" sz="1150" dirty="0">
                <a:solidFill>
                  <a:srgbClr val="1F2328"/>
                </a:solidFill>
                <a:latin typeface="Consolas" pitchFamily="34" charset="0"/>
                <a:ea typeface="Consolas" pitchFamily="34" charset="-122"/>
                <a:cs typeface="Consolas" pitchFamily="34" charset="-120"/>
              </a:rPr>
              <a:t> + getPenerima() + </a:t>
            </a:r>
            <a:r>
              <a:rPr lang="en-US" altLang="en-US" sz="1150" dirty="0">
                <a:solidFill>
                  <a:srgbClr val="0A3069"/>
                </a:solidFill>
                <a:latin typeface="Consolas" pitchFamily="34" charset="0"/>
                <a:ea typeface="Consolas" pitchFamily="34" charset="-122"/>
                <a:cs typeface="Consolas" pitchFamily="34" charset="-120"/>
              </a:rPr>
              <a:t>", S.Kom.!"</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a:t>
            </a:r>
            <a:endParaRPr lang="en-US" sz="11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Polimorfisme dari dalam Kelas: </a:t>
            </a:r>
            <a:r>
              <a:rPr lang="id-ID" altLang="en-US" sz="3200" b="1" dirty="0">
                <a:solidFill>
                  <a:srgbClr val="0A3069"/>
                </a:solidFill>
                <a:latin typeface="Consolas" pitchFamily="34" charset="0"/>
                <a:ea typeface="Consolas" pitchFamily="34" charset="-122"/>
                <a:cs typeface="Consolas" pitchFamily="34" charset="-120"/>
              </a:rPr>
              <a:t>self</a:t>
            </a:r>
            <a:r>
              <a:rPr lang="id-ID" altLang="en-US" sz="3200" b="1" dirty="0">
                <a:solidFill>
                  <a:srgbClr val="0A3069"/>
                </a:solidFill>
              </a:rPr>
              <a:t> dan </a:t>
            </a:r>
            <a:r>
              <a:rPr lang="id-ID" altLang="en-US" sz="3200" b="1" dirty="0">
                <a:solidFill>
                  <a:srgbClr val="0A3069"/>
                </a:solidFill>
                <a:latin typeface="Consolas" pitchFamily="34" charset="0"/>
                <a:ea typeface="Consolas" pitchFamily="34" charset="-122"/>
                <a:cs typeface="Consolas" pitchFamily="34" charset="-120"/>
              </a:rPr>
              <a:t>this</a:t>
            </a:r>
            <a:endParaRPr lang="id-ID" sz="3200" dirty="0"/>
          </a:p>
        </p:txBody>
      </p:sp>
      <p:pic>
        <p:nvPicPr>
          <p:cNvPr id="5" name="Image 1" descr="self/this selalu menunjuk objek yang sebenarnya, bahkan ketika kode yang berjalan ditulis di kelas induk.">    </p:cNvPr>
          <p:cNvPicPr>
            <a:picLocks noChangeAspect="1"/>
          </p:cNvPicPr>
          <p:nvPr/>
        </p:nvPicPr>
        <p:blipFill>
          <a:blip r:embed="rId2"/>
          <a:stretch>
            <a:fillRect/>
          </a:stretch>
        </p:blipFill>
        <p:spPr>
          <a:xfrm>
            <a:off x="548640" y="2450683"/>
            <a:ext cx="11094415" cy="2241877"/>
          </a:xfrm>
          <a:prstGeom prst="rect">
            <a:avLst/>
          </a:prstGeom>
        </p:spPr>
      </p:pic>
      <p:sp>
        <p:nvSpPr>
          <p:cNvPr id="6" name="Text 2"/>
          <p:cNvSpPr txBox="1"/>
          <p:nvPr/>
        </p:nvSpPr>
        <p:spPr>
          <a:xfrm>
            <a:off x="1005840" y="4802287"/>
            <a:ext cx="10180015" cy="427990"/>
          </a:xfrm>
          <a:prstGeom prst="rect">
            <a:avLst/>
          </a:prstGeom>
          <a:noFill/>
          <a:ln/>
        </p:spPr>
        <p:txBody>
          <a:bodyPr wrap="square" lIns="0" tIns="0" rIns="0" bIns="0" rtlCol="0" anchor="t"/>
          <a:lstStyle/>
          <a:p>
            <a:pPr algn="ctr" indent="0" marL="0">
              <a:buNone/>
            </a:pPr>
            <a:r>
              <a:rPr lang="id-ID" altLang="en-US" sz="1700" dirty="0">
                <a:solidFill>
                  <a:srgbClr val="57606A"/>
                </a:solidFill>
                <a:latin typeface="Consolas" pitchFamily="34" charset="0"/>
                <a:ea typeface="Consolas" pitchFamily="34" charset="-122"/>
                <a:cs typeface="Consolas" pitchFamily="34" charset="-120"/>
              </a:rPr>
              <a:t>self</a:t>
            </a:r>
            <a:r>
              <a:rPr lang="id-ID" altLang="en-US" sz="1700" dirty="0">
                <a:solidFill>
                  <a:srgbClr val="57606A"/>
                </a:solidFill>
              </a:rPr>
              <a:t>/</a:t>
            </a:r>
            <a:r>
              <a:rPr lang="id-ID" altLang="en-US" sz="1700" dirty="0">
                <a:solidFill>
                  <a:srgbClr val="57606A"/>
                </a:solidFill>
                <a:latin typeface="Consolas" pitchFamily="34" charset="0"/>
                <a:ea typeface="Consolas" pitchFamily="34" charset="-122"/>
                <a:cs typeface="Consolas" pitchFamily="34" charset="-120"/>
              </a:rPr>
              <a:t>this</a:t>
            </a:r>
            <a:r>
              <a:rPr lang="id-ID" altLang="en-US" sz="1700" dirty="0">
                <a:solidFill>
                  <a:srgbClr val="57606A"/>
                </a:solidFill>
              </a:rPr>
              <a:t> selalu menunjuk objek yang sebenarnya, bahkan ketika kode yang berjalan ditulis di kelas induk.</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4</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4</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3800" b="1" i="1" dirty="0">
                <a:solidFill>
                  <a:srgbClr val="FFFFFF"/>
                </a:solidFill>
              </a:rPr>
              <a:t>Upcasting</a:t>
            </a:r>
            <a:r>
              <a:rPr lang="id-ID" altLang="en-US" sz="3800" b="1" dirty="0">
                <a:solidFill>
                  <a:srgbClr val="FFFFFF"/>
                </a:solidFill>
              </a:rPr>
              <a:t>, </a:t>
            </a:r>
            <a:r>
              <a:rPr lang="id-ID" altLang="en-US" sz="3800" b="1" i="1" dirty="0">
                <a:solidFill>
                  <a:srgbClr val="FFFFFF"/>
                </a:solidFill>
              </a:rPr>
              <a:t>Downcasting</a:t>
            </a:r>
            <a:r>
              <a:rPr lang="id-ID" altLang="en-US" sz="3800" b="1" dirty="0">
                <a:solidFill>
                  <a:srgbClr val="FFFFFF"/>
                </a:solidFill>
              </a:rPr>
              <a:t>, dan </a:t>
            </a:r>
            <a:r>
              <a:rPr lang="id-ID" altLang="en-US" sz="3800" b="1" i="1" dirty="0">
                <a:solidFill>
                  <a:srgbClr val="FFFFFF"/>
                </a:solidFill>
              </a:rPr>
              <a:t>Duck Typing</a:t>
            </a:r>
            <a:endParaRPr lang="id-ID" sz="38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Memandang objek sebagai induk atau sebagai anak, lalu polimorfisme tanpa induk bersama.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Upcasting</a:t>
            </a:r>
            <a:r>
              <a:rPr lang="id-ID" altLang="en-US" sz="3200" b="1" dirty="0">
                <a:solidFill>
                  <a:srgbClr val="0A3069"/>
                </a:solidFill>
              </a:rPr>
              <a:t> dan </a:t>
            </a:r>
            <a:r>
              <a:rPr lang="id-ID" altLang="en-US" sz="3200" b="1" i="1" dirty="0">
                <a:solidFill>
                  <a:srgbClr val="0A3069"/>
                </a:solidFill>
              </a:rPr>
              <a:t>Downcasting</a:t>
            </a:r>
            <a:endParaRPr lang="id-ID" sz="3200" dirty="0"/>
          </a:p>
        </p:txBody>
      </p:sp>
      <p:sp>
        <p:nvSpPr>
          <p:cNvPr id="5" name="Shape 2"/>
          <p:cNvSpPr/>
          <p:nvPr/>
        </p:nvSpPr>
        <p:spPr>
          <a:xfrm>
            <a:off x="548640" y="1849907"/>
            <a:ext cx="5364328" cy="3752342"/>
          </a:xfrm>
          <a:prstGeom prst="roundRect">
            <a:avLst>
              <a:gd name="adj" fmla="val 831"/>
            </a:avLst>
          </a:prstGeom>
          <a:solidFill>
            <a:srgbClr val="FFFFFF"/>
          </a:solidFill>
          <a:ln w="12700">
            <a:solidFill>
              <a:srgbClr val="54AEFF"/>
            </a:solidFill>
            <a:prstDash val="solid"/>
          </a:ln>
        </p:spPr>
      </p:sp>
      <p:sp>
        <p:nvSpPr>
          <p:cNvPr id="6" name="Shape 3"/>
          <p:cNvSpPr/>
          <p:nvPr/>
        </p:nvSpPr>
        <p:spPr>
          <a:xfrm>
            <a:off x="548640" y="1849907"/>
            <a:ext cx="5364328" cy="658368"/>
          </a:xfrm>
          <a:prstGeom prst="roundRect">
            <a:avLst>
              <a:gd name="adj" fmla="val 27006"/>
            </a:avLst>
          </a:prstGeom>
          <a:solidFill>
            <a:srgbClr val="0969DA"/>
          </a:solidFill>
          <a:ln/>
        </p:spPr>
      </p:sp>
      <p:sp>
        <p:nvSpPr>
          <p:cNvPr id="7" name="Shape 4"/>
          <p:cNvSpPr/>
          <p:nvPr/>
        </p:nvSpPr>
        <p:spPr>
          <a:xfrm>
            <a:off x="548640" y="2179091"/>
            <a:ext cx="5364328" cy="329184"/>
          </a:xfrm>
          <a:prstGeom prst="rect">
            <a:avLst/>
          </a:prstGeom>
          <a:solidFill>
            <a:srgbClr val="0969DA"/>
          </a:solidFill>
          <a:ln/>
        </p:spPr>
      </p:sp>
      <p:sp>
        <p:nvSpPr>
          <p:cNvPr id="8" name="Text 5"/>
          <p:cNvSpPr txBox="1"/>
          <p:nvPr/>
        </p:nvSpPr>
        <p:spPr>
          <a:xfrm>
            <a:off x="822960" y="1849907"/>
            <a:ext cx="4815688" cy="658368"/>
          </a:xfrm>
          <a:prstGeom prst="rect">
            <a:avLst/>
          </a:prstGeom>
          <a:noFill/>
          <a:ln/>
        </p:spPr>
        <p:txBody>
          <a:bodyPr wrap="square" lIns="0" tIns="0" rIns="0" bIns="0" rtlCol="0" anchor="ctr"/>
          <a:lstStyle/>
          <a:p>
            <a:pPr indent="0" marL="0">
              <a:buNone/>
            </a:pPr>
            <a:r>
              <a:rPr lang="id-ID" altLang="en-US" sz="2200" b="1" i="1" dirty="0">
                <a:solidFill>
                  <a:srgbClr val="FFFFFF"/>
                </a:solidFill>
              </a:rPr>
              <a:t>Upcasting</a:t>
            </a:r>
            <a:r>
              <a:rPr lang="id-ID" altLang="en-US" sz="2200" b="1" dirty="0">
                <a:solidFill>
                  <a:srgbClr val="FFFFFF"/>
                </a:solidFill>
              </a:rPr>
              <a:t>: anak sebagai induk</a:t>
            </a:r>
            <a:endParaRPr lang="id-ID" sz="2200" dirty="0"/>
          </a:p>
        </p:txBody>
      </p:sp>
      <p:sp>
        <p:nvSpPr>
          <p:cNvPr id="9" name="Shape 6"/>
          <p:cNvSpPr/>
          <p:nvPr/>
        </p:nvSpPr>
        <p:spPr>
          <a:xfrm>
            <a:off x="877824" y="2861208"/>
            <a:ext cx="137160" cy="137160"/>
          </a:xfrm>
          <a:prstGeom prst="roundRect">
            <a:avLst>
              <a:gd name="adj" fmla="val 166667"/>
            </a:avLst>
          </a:prstGeom>
          <a:solidFill>
            <a:srgbClr val="0969DA"/>
          </a:solidFill>
          <a:ln/>
        </p:spPr>
      </p:sp>
      <p:sp>
        <p:nvSpPr>
          <p:cNvPr id="10" name="Text 7"/>
          <p:cNvSpPr txBox="1"/>
          <p:nvPr/>
        </p:nvSpPr>
        <p:spPr>
          <a:xfrm>
            <a:off x="1207008" y="2782595"/>
            <a:ext cx="4431640" cy="634492"/>
          </a:xfrm>
          <a:prstGeom prst="rect">
            <a:avLst/>
          </a:prstGeom>
          <a:noFill/>
          <a:ln/>
        </p:spPr>
        <p:txBody>
          <a:bodyPr wrap="square" lIns="0" tIns="0" rIns="0" bIns="0" rtlCol="0" anchor="t"/>
          <a:lstStyle/>
          <a:p>
            <a:pPr indent="0" marL="0">
              <a:buNone/>
            </a:pPr>
            <a:r>
              <a:rPr lang="id-ID" altLang="en-US" sz="1900" dirty="0">
                <a:solidFill>
                  <a:srgbClr val="1F2328"/>
                </a:solidFill>
              </a:rPr>
              <a:t>Objek </a:t>
            </a:r>
            <a:r>
              <a:rPr lang="id-ID" altLang="en-US" sz="1900" dirty="0">
                <a:solidFill>
                  <a:srgbClr val="1F2328"/>
                </a:solidFill>
                <a:latin typeface="Consolas" pitchFamily="34" charset="0"/>
                <a:ea typeface="Consolas" pitchFamily="34" charset="-122"/>
                <a:cs typeface="Consolas" pitchFamily="34" charset="-120"/>
              </a:rPr>
              <a:t>Mahasiswa</a:t>
            </a:r>
            <a:r>
              <a:rPr lang="id-ID" altLang="en-US" sz="1900" dirty="0">
                <a:solidFill>
                  <a:srgbClr val="1F2328"/>
                </a:solidFill>
              </a:rPr>
              <a:t> disimpan di variabel atau </a:t>
            </a:r>
            <a:r>
              <a:rPr lang="id-ID" altLang="en-US" sz="1900" i="1" dirty="0">
                <a:solidFill>
                  <a:srgbClr val="1F2328"/>
                </a:solidFill>
              </a:rPr>
              <a:t>list</a:t>
            </a:r>
            <a:r>
              <a:rPr lang="id-ID" altLang="en-US" sz="1900" dirty="0">
                <a:solidFill>
                  <a:srgbClr val="1F2328"/>
                </a:solidFill>
              </a:rPr>
              <a:t> bertipe </a:t>
            </a:r>
            <a:r>
              <a:rPr lang="id-ID" altLang="en-US" sz="1900" dirty="0">
                <a:solidFill>
                  <a:srgbClr val="1F2328"/>
                </a:solidFill>
                <a:latin typeface="Consolas" pitchFamily="34" charset="0"/>
                <a:ea typeface="Consolas" pitchFamily="34" charset="-122"/>
                <a:cs typeface="Consolas" pitchFamily="34" charset="-120"/>
              </a:rPr>
              <a:t>Pengguna</a:t>
            </a:r>
            <a:r>
              <a:rPr lang="id-ID" altLang="en-US" sz="1900" dirty="0">
                <a:solidFill>
                  <a:srgbClr val="1F2328"/>
                </a:solidFill>
              </a:rPr>
              <a:t>.</a:t>
            </a:r>
            <a:endParaRPr lang="id-ID" sz="1900" dirty="0"/>
          </a:p>
        </p:txBody>
      </p:sp>
      <p:sp>
        <p:nvSpPr>
          <p:cNvPr id="11" name="Shape 8"/>
          <p:cNvSpPr/>
          <p:nvPr/>
        </p:nvSpPr>
        <p:spPr>
          <a:xfrm>
            <a:off x="877824" y="3669436"/>
            <a:ext cx="137160" cy="137160"/>
          </a:xfrm>
          <a:prstGeom prst="roundRect">
            <a:avLst>
              <a:gd name="adj" fmla="val 166667"/>
            </a:avLst>
          </a:prstGeom>
          <a:solidFill>
            <a:srgbClr val="0969DA"/>
          </a:solidFill>
          <a:ln/>
        </p:spPr>
      </p:sp>
      <p:sp>
        <p:nvSpPr>
          <p:cNvPr id="12" name="Text 9"/>
          <p:cNvSpPr txBox="1"/>
          <p:nvPr/>
        </p:nvSpPr>
        <p:spPr>
          <a:xfrm>
            <a:off x="1207008" y="3590823"/>
            <a:ext cx="4431640" cy="634492"/>
          </a:xfrm>
          <a:prstGeom prst="rect">
            <a:avLst/>
          </a:prstGeom>
          <a:noFill/>
          <a:ln/>
        </p:spPr>
        <p:txBody>
          <a:bodyPr wrap="square" lIns="0" tIns="0" rIns="0" bIns="0" rtlCol="0" anchor="t"/>
          <a:lstStyle/>
          <a:p>
            <a:pPr indent="0" marL="0">
              <a:buNone/>
            </a:pPr>
            <a:r>
              <a:rPr lang="id-ID" altLang="en-US" sz="1900" dirty="0">
                <a:solidFill>
                  <a:srgbClr val="1F2328"/>
                </a:solidFill>
              </a:rPr>
              <a:t>Selalu </a:t>
            </a:r>
            <a:r>
              <a:rPr lang="id-ID" altLang="en-US" sz="1900" b="1" dirty="0">
                <a:solidFill>
                  <a:srgbClr val="1F2328"/>
                </a:solidFill>
              </a:rPr>
              <a:t>aman</a:t>
            </a:r>
            <a:r>
              <a:rPr lang="id-ID" altLang="en-US" sz="1900" dirty="0">
                <a:solidFill>
                  <a:srgbClr val="1F2328"/>
                </a:solidFill>
              </a:rPr>
              <a:t> dan terjadi </a:t>
            </a:r>
            <a:r>
              <a:rPr lang="id-ID" altLang="en-US" sz="1900" b="1" dirty="0">
                <a:solidFill>
                  <a:srgbClr val="1F2328"/>
                </a:solidFill>
              </a:rPr>
              <a:t>otomatis</a:t>
            </a:r>
            <a:r>
              <a:rPr lang="id-ID" altLang="en-US" sz="1900" dirty="0">
                <a:solidFill>
                  <a:srgbClr val="1F2328"/>
                </a:solidFill>
              </a:rPr>
              <a:t>: setiap mahasiswa pasti pengguna.</a:t>
            </a:r>
            <a:endParaRPr lang="id-ID" sz="1900" dirty="0"/>
          </a:p>
        </p:txBody>
      </p:sp>
      <p:sp>
        <p:nvSpPr>
          <p:cNvPr id="13" name="Shape 10"/>
          <p:cNvSpPr/>
          <p:nvPr/>
        </p:nvSpPr>
        <p:spPr>
          <a:xfrm>
            <a:off x="877824" y="4477664"/>
            <a:ext cx="137160" cy="137160"/>
          </a:xfrm>
          <a:prstGeom prst="roundRect">
            <a:avLst>
              <a:gd name="adj" fmla="val 166667"/>
            </a:avLst>
          </a:prstGeom>
          <a:solidFill>
            <a:srgbClr val="0969DA"/>
          </a:solidFill>
          <a:ln/>
        </p:spPr>
      </p:sp>
      <p:sp>
        <p:nvSpPr>
          <p:cNvPr id="14" name="Text 11"/>
          <p:cNvSpPr txBox="1"/>
          <p:nvPr/>
        </p:nvSpPr>
        <p:spPr>
          <a:xfrm>
            <a:off x="1207008" y="4399051"/>
            <a:ext cx="4431640" cy="634492"/>
          </a:xfrm>
          <a:prstGeom prst="rect">
            <a:avLst/>
          </a:prstGeom>
          <a:noFill/>
          <a:ln/>
        </p:spPr>
        <p:txBody>
          <a:bodyPr wrap="square" lIns="0" tIns="0" rIns="0" bIns="0" rtlCol="0" anchor="t"/>
          <a:lstStyle/>
          <a:p>
            <a:pPr indent="0" marL="0">
              <a:buNone/>
            </a:pPr>
            <a:r>
              <a:rPr lang="id-ID" altLang="en-US" sz="1900" dirty="0">
                <a:solidFill>
                  <a:srgbClr val="1F2328"/>
                </a:solidFill>
              </a:rPr>
              <a:t>Hanya boleh meminta yang bisa dilakukan semua pengguna, misalnya </a:t>
            </a:r>
            <a:r>
              <a:rPr lang="id-ID" altLang="en-US" sz="1900" dirty="0">
                <a:solidFill>
                  <a:srgbClr val="1F2328"/>
                </a:solidFill>
                <a:latin typeface="Consolas" pitchFamily="34" charset="0"/>
                <a:ea typeface="Consolas" pitchFamily="34" charset="-122"/>
                <a:cs typeface="Consolas" pitchFamily="34" charset="-120"/>
              </a:rPr>
              <a:t>peran()</a:t>
            </a:r>
            <a:r>
              <a:rPr lang="id-ID" altLang="en-US" sz="1900" dirty="0">
                <a:solidFill>
                  <a:srgbClr val="1F2328"/>
                </a:solidFill>
              </a:rPr>
              <a:t>.</a:t>
            </a:r>
            <a:endParaRPr lang="id-ID" sz="1900" dirty="0"/>
          </a:p>
        </p:txBody>
      </p:sp>
      <p:sp>
        <p:nvSpPr>
          <p:cNvPr id="15" name="Shape 12"/>
          <p:cNvSpPr/>
          <p:nvPr/>
        </p:nvSpPr>
        <p:spPr>
          <a:xfrm>
            <a:off x="6278728" y="1849907"/>
            <a:ext cx="5364328" cy="3752342"/>
          </a:xfrm>
          <a:prstGeom prst="roundRect">
            <a:avLst>
              <a:gd name="adj" fmla="val 831"/>
            </a:avLst>
          </a:prstGeom>
          <a:solidFill>
            <a:srgbClr val="FFFFFF"/>
          </a:solidFill>
          <a:ln w="12700">
            <a:solidFill>
              <a:srgbClr val="4AC26B"/>
            </a:solidFill>
            <a:prstDash val="solid"/>
          </a:ln>
        </p:spPr>
      </p:sp>
      <p:sp>
        <p:nvSpPr>
          <p:cNvPr id="16" name="Shape 13"/>
          <p:cNvSpPr/>
          <p:nvPr/>
        </p:nvSpPr>
        <p:spPr>
          <a:xfrm>
            <a:off x="6278728" y="1849907"/>
            <a:ext cx="5364328" cy="658368"/>
          </a:xfrm>
          <a:prstGeom prst="roundRect">
            <a:avLst>
              <a:gd name="adj" fmla="val 27006"/>
            </a:avLst>
          </a:prstGeom>
          <a:solidFill>
            <a:srgbClr val="1A7F37"/>
          </a:solidFill>
          <a:ln/>
        </p:spPr>
      </p:sp>
      <p:sp>
        <p:nvSpPr>
          <p:cNvPr id="17" name="Shape 14"/>
          <p:cNvSpPr/>
          <p:nvPr/>
        </p:nvSpPr>
        <p:spPr>
          <a:xfrm>
            <a:off x="6278728" y="2179091"/>
            <a:ext cx="5364328" cy="329184"/>
          </a:xfrm>
          <a:prstGeom prst="rect">
            <a:avLst/>
          </a:prstGeom>
          <a:solidFill>
            <a:srgbClr val="1A7F37"/>
          </a:solidFill>
          <a:ln/>
        </p:spPr>
      </p:sp>
      <p:sp>
        <p:nvSpPr>
          <p:cNvPr id="18" name="Text 15"/>
          <p:cNvSpPr txBox="1"/>
          <p:nvPr/>
        </p:nvSpPr>
        <p:spPr>
          <a:xfrm>
            <a:off x="6553048" y="1849907"/>
            <a:ext cx="4815688" cy="658368"/>
          </a:xfrm>
          <a:prstGeom prst="rect">
            <a:avLst/>
          </a:prstGeom>
          <a:noFill/>
          <a:ln/>
        </p:spPr>
        <p:txBody>
          <a:bodyPr wrap="square" lIns="0" tIns="0" rIns="0" bIns="0" rtlCol="0" anchor="ctr"/>
          <a:lstStyle/>
          <a:p>
            <a:pPr indent="0" marL="0">
              <a:buNone/>
            </a:pPr>
            <a:r>
              <a:rPr lang="id-ID" altLang="en-US" sz="2200" b="1" i="1" dirty="0">
                <a:solidFill>
                  <a:srgbClr val="FFFFFF"/>
                </a:solidFill>
              </a:rPr>
              <a:t>Downcasting</a:t>
            </a:r>
            <a:r>
              <a:rPr lang="id-ID" altLang="en-US" sz="2200" b="1" dirty="0">
                <a:solidFill>
                  <a:srgbClr val="FFFFFF"/>
                </a:solidFill>
              </a:rPr>
              <a:t>: induk sebagai anak</a:t>
            </a:r>
            <a:endParaRPr lang="id-ID" sz="2200" dirty="0"/>
          </a:p>
        </p:txBody>
      </p:sp>
      <p:sp>
        <p:nvSpPr>
          <p:cNvPr id="19" name="Shape 16"/>
          <p:cNvSpPr/>
          <p:nvPr/>
        </p:nvSpPr>
        <p:spPr>
          <a:xfrm>
            <a:off x="6607912" y="2861208"/>
            <a:ext cx="137160" cy="137160"/>
          </a:xfrm>
          <a:prstGeom prst="roundRect">
            <a:avLst>
              <a:gd name="adj" fmla="val 166667"/>
            </a:avLst>
          </a:prstGeom>
          <a:solidFill>
            <a:srgbClr val="1A7F37"/>
          </a:solidFill>
          <a:ln/>
        </p:spPr>
      </p:sp>
      <p:sp>
        <p:nvSpPr>
          <p:cNvPr id="20" name="Text 17"/>
          <p:cNvSpPr txBox="1"/>
          <p:nvPr/>
        </p:nvSpPr>
        <p:spPr>
          <a:xfrm>
            <a:off x="6937096" y="2782595"/>
            <a:ext cx="4431640" cy="634492"/>
          </a:xfrm>
          <a:prstGeom prst="rect">
            <a:avLst/>
          </a:prstGeom>
          <a:noFill/>
          <a:ln/>
        </p:spPr>
        <p:txBody>
          <a:bodyPr wrap="square" lIns="0" tIns="0" rIns="0" bIns="0" rtlCol="0" anchor="t"/>
          <a:lstStyle/>
          <a:p>
            <a:pPr indent="0" marL="0">
              <a:buNone/>
            </a:pPr>
            <a:r>
              <a:rPr lang="id-ID" altLang="en-US" sz="1900" dirty="0">
                <a:solidFill>
                  <a:srgbClr val="1F2328"/>
                </a:solidFill>
              </a:rPr>
              <a:t>Dibutuhkan untuk memanggil </a:t>
            </a:r>
            <a:r>
              <a:rPr lang="id-ID" altLang="en-US" sz="1900" i="1" dirty="0">
                <a:solidFill>
                  <a:srgbClr val="1F2328"/>
                </a:solidFill>
              </a:rPr>
              <a:t>method</a:t>
            </a:r>
            <a:r>
              <a:rPr lang="id-ID" altLang="en-US" sz="1900" dirty="0">
                <a:solidFill>
                  <a:srgbClr val="1F2328"/>
                </a:solidFill>
              </a:rPr>
              <a:t> khusus, misalnya </a:t>
            </a:r>
            <a:r>
              <a:rPr lang="id-ID" altLang="en-US" sz="1900" dirty="0">
                <a:solidFill>
                  <a:srgbClr val="1F2328"/>
                </a:solidFill>
                <a:latin typeface="Consolas" pitchFamily="34" charset="0"/>
                <a:ea typeface="Consolas" pitchFamily="34" charset="-122"/>
                <a:cs typeface="Consolas" pitchFamily="34" charset="-120"/>
              </a:rPr>
              <a:t>isi_krs()</a:t>
            </a:r>
            <a:r>
              <a:rPr lang="id-ID" altLang="en-US" sz="1900" dirty="0">
                <a:solidFill>
                  <a:srgbClr val="1F2328"/>
                </a:solidFill>
              </a:rPr>
              <a:t>/</a:t>
            </a:r>
            <a:r>
              <a:rPr lang="id-ID" altLang="en-US" sz="1900" dirty="0">
                <a:solidFill>
                  <a:srgbClr val="1F2328"/>
                </a:solidFill>
                <a:latin typeface="Consolas" pitchFamily="34" charset="0"/>
                <a:ea typeface="Consolas" pitchFamily="34" charset="-122"/>
                <a:cs typeface="Consolas" pitchFamily="34" charset="-120"/>
              </a:rPr>
              <a:t>isiKrs()</a:t>
            </a:r>
            <a:r>
              <a:rPr lang="id-ID" altLang="en-US" sz="1900" dirty="0">
                <a:solidFill>
                  <a:srgbClr val="1F2328"/>
                </a:solidFill>
              </a:rPr>
              <a:t>.</a:t>
            </a:r>
            <a:endParaRPr lang="id-ID" sz="1900" dirty="0"/>
          </a:p>
        </p:txBody>
      </p:sp>
      <p:sp>
        <p:nvSpPr>
          <p:cNvPr id="21" name="Shape 18"/>
          <p:cNvSpPr/>
          <p:nvPr/>
        </p:nvSpPr>
        <p:spPr>
          <a:xfrm>
            <a:off x="6607912" y="3669436"/>
            <a:ext cx="137160" cy="137160"/>
          </a:xfrm>
          <a:prstGeom prst="roundRect">
            <a:avLst>
              <a:gd name="adj" fmla="val 166667"/>
            </a:avLst>
          </a:prstGeom>
          <a:solidFill>
            <a:srgbClr val="1A7F37"/>
          </a:solidFill>
          <a:ln/>
        </p:spPr>
      </p:sp>
      <p:sp>
        <p:nvSpPr>
          <p:cNvPr id="22" name="Text 19"/>
          <p:cNvSpPr txBox="1"/>
          <p:nvPr/>
        </p:nvSpPr>
        <p:spPr>
          <a:xfrm>
            <a:off x="6937096" y="3590823"/>
            <a:ext cx="4431640" cy="634492"/>
          </a:xfrm>
          <a:prstGeom prst="rect">
            <a:avLst/>
          </a:prstGeom>
          <a:noFill/>
          <a:ln/>
        </p:spPr>
        <p:txBody>
          <a:bodyPr wrap="square" lIns="0" tIns="0" rIns="0" bIns="0" rtlCol="0" anchor="t"/>
          <a:lstStyle/>
          <a:p>
            <a:pPr indent="0" marL="0">
              <a:buNone/>
            </a:pPr>
            <a:r>
              <a:rPr lang="id-ID" altLang="en-US" sz="1900" b="1" dirty="0">
                <a:solidFill>
                  <a:srgbClr val="1F2328"/>
                </a:solidFill>
              </a:rPr>
              <a:t>Tidak selalu aman</a:t>
            </a:r>
            <a:r>
              <a:rPr lang="id-ID" altLang="en-US" sz="1900" dirty="0">
                <a:solidFill>
                  <a:srgbClr val="1F2328"/>
                </a:solidFill>
              </a:rPr>
              <a:t>: belum tentu setiap pengguna adalah mahasiswa.</a:t>
            </a:r>
            <a:endParaRPr lang="id-ID" sz="1900" dirty="0"/>
          </a:p>
        </p:txBody>
      </p:sp>
      <p:sp>
        <p:nvSpPr>
          <p:cNvPr id="23" name="Shape 20"/>
          <p:cNvSpPr/>
          <p:nvPr/>
        </p:nvSpPr>
        <p:spPr>
          <a:xfrm>
            <a:off x="6607912" y="4477664"/>
            <a:ext cx="137160" cy="137160"/>
          </a:xfrm>
          <a:prstGeom prst="roundRect">
            <a:avLst>
              <a:gd name="adj" fmla="val 166667"/>
            </a:avLst>
          </a:prstGeom>
          <a:solidFill>
            <a:srgbClr val="1A7F37"/>
          </a:solidFill>
          <a:ln/>
        </p:spPr>
      </p:sp>
      <p:sp>
        <p:nvSpPr>
          <p:cNvPr id="24" name="Text 21"/>
          <p:cNvSpPr txBox="1"/>
          <p:nvPr/>
        </p:nvSpPr>
        <p:spPr>
          <a:xfrm>
            <a:off x="6937096" y="4399051"/>
            <a:ext cx="4431640" cy="928878"/>
          </a:xfrm>
          <a:prstGeom prst="rect">
            <a:avLst/>
          </a:prstGeom>
          <a:noFill/>
          <a:ln/>
        </p:spPr>
        <p:txBody>
          <a:bodyPr wrap="square" lIns="0" tIns="0" rIns="0" bIns="0" rtlCol="0" anchor="t"/>
          <a:lstStyle/>
          <a:p>
            <a:pPr indent="0" marL="0">
              <a:buNone/>
            </a:pPr>
            <a:r>
              <a:rPr lang="id-ID" altLang="en-US" sz="1900" dirty="0">
                <a:solidFill>
                  <a:srgbClr val="1F2328"/>
                </a:solidFill>
              </a:rPr>
              <a:t>Periksa dulu dengan </a:t>
            </a:r>
            <a:r>
              <a:rPr lang="id-ID" altLang="en-US" sz="1900" dirty="0">
                <a:solidFill>
                  <a:srgbClr val="1F2328"/>
                </a:solidFill>
                <a:latin typeface="Consolas" pitchFamily="34" charset="0"/>
                <a:ea typeface="Consolas" pitchFamily="34" charset="-122"/>
                <a:cs typeface="Consolas" pitchFamily="34" charset="-120"/>
              </a:rPr>
              <a:t>isinstance</a:t>
            </a:r>
            <a:r>
              <a:rPr lang="id-ID" altLang="en-US" sz="1900" dirty="0">
                <a:solidFill>
                  <a:srgbClr val="1F2328"/>
                </a:solidFill>
              </a:rPr>
              <a:t>/</a:t>
            </a:r>
            <a:r>
              <a:rPr lang="id-ID" altLang="en-US" sz="1900" dirty="0">
                <a:solidFill>
                  <a:srgbClr val="1F2328"/>
                </a:solidFill>
                <a:latin typeface="Consolas" pitchFamily="34" charset="0"/>
                <a:ea typeface="Consolas" pitchFamily="34" charset="-122"/>
                <a:cs typeface="Consolas" pitchFamily="34" charset="-120"/>
              </a:rPr>
              <a:t>instanceof</a:t>
            </a:r>
            <a:r>
              <a:rPr lang="id-ID" altLang="en-US" sz="1900" dirty="0">
                <a:solidFill>
                  <a:srgbClr val="1F2328"/>
                </a:solidFill>
              </a:rPr>
              <a:t>. Java menulis </a:t>
            </a:r>
            <a:r>
              <a:rPr lang="id-ID" altLang="en-US" sz="1900" i="1" dirty="0">
                <a:solidFill>
                  <a:srgbClr val="1F2328"/>
                </a:solidFill>
              </a:rPr>
              <a:t>cast</a:t>
            </a:r>
            <a:r>
              <a:rPr lang="id-ID" altLang="en-US" sz="1900" dirty="0">
                <a:solidFill>
                  <a:srgbClr val="1F2328"/>
                </a:solidFill>
              </a:rPr>
              <a:t>: </a:t>
            </a:r>
            <a:r>
              <a:rPr lang="id-ID" altLang="en-US" sz="1900" dirty="0">
                <a:solidFill>
                  <a:srgbClr val="1F2328"/>
                </a:solidFill>
                <a:latin typeface="Consolas" pitchFamily="34" charset="0"/>
                <a:ea typeface="Consolas" pitchFamily="34" charset="-122"/>
                <a:cs typeface="Consolas" pitchFamily="34" charset="-120"/>
              </a:rPr>
              <a:t>(Mahasiswa) pengguna</a:t>
            </a:r>
            <a:r>
              <a:rPr lang="id-ID" altLang="en-US" sz="1900" dirty="0">
                <a:solidFill>
                  <a:srgbClr val="1F2328"/>
                </a:solidFill>
              </a:rPr>
              <a:t>.</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Memeriksa Jenis sebelum Memakai Fitur Khusus</a:t>
            </a:r>
            <a:endParaRPr lang="id-ID" sz="3200" dirty="0"/>
          </a:p>
        </p:txBody>
      </p:sp>
      <p:sp>
        <p:nvSpPr>
          <p:cNvPr id="5" name="Text 2"/>
          <p:cNvSpPr txBox="1"/>
          <p:nvPr/>
        </p:nvSpPr>
        <p:spPr>
          <a:xfrm>
            <a:off x="548640" y="1773944"/>
            <a:ext cx="11094415" cy="603504"/>
          </a:xfrm>
          <a:prstGeom prst="rect">
            <a:avLst/>
          </a:prstGeom>
          <a:noFill/>
          <a:ln/>
        </p:spPr>
        <p:txBody>
          <a:bodyPr wrap="square" lIns="0" tIns="0" rIns="0" bIns="0" rtlCol="0" anchor="t"/>
          <a:lstStyle/>
          <a:p>
            <a:pPr indent="0" marL="0">
              <a:buNone/>
            </a:pPr>
            <a:r>
              <a:rPr lang="id-ID" altLang="en-US" sz="1800" dirty="0">
                <a:solidFill>
                  <a:srgbClr val="57606A"/>
                </a:solidFill>
              </a:rPr>
              <a:t>Jenis objek diperiksa dulu, baru </a:t>
            </a:r>
            <a:r>
              <a:rPr lang="id-ID" altLang="en-US" sz="1800" i="1" dirty="0">
                <a:solidFill>
                  <a:srgbClr val="57606A"/>
                </a:solidFill>
              </a:rPr>
              <a:t>method</a:t>
            </a:r>
            <a:r>
              <a:rPr lang="id-ID" altLang="en-US" sz="1800" dirty="0">
                <a:solidFill>
                  <a:srgbClr val="57606A"/>
                </a:solidFill>
              </a:rPr>
              <a:t> khususnya dipanggil. Java boleh memakai </a:t>
            </a:r>
            <a:r>
              <a:rPr lang="id-ID" altLang="en-US" sz="1800" i="1" dirty="0">
                <a:solidFill>
                  <a:srgbClr val="57606A"/>
                </a:solidFill>
              </a:rPr>
              <a:t>cast</a:t>
            </a:r>
            <a:r>
              <a:rPr lang="id-ID" altLang="en-US" sz="1800" dirty="0">
                <a:solidFill>
                  <a:srgbClr val="57606A"/>
                </a:solidFill>
              </a:rPr>
              <a:t> atau bentuk singkat </a:t>
            </a:r>
            <a:r>
              <a:rPr lang="id-ID" altLang="en-US" sz="1800" dirty="0">
                <a:solidFill>
                  <a:srgbClr val="0A3069"/>
                </a:solidFill>
                <a:latin typeface="Consolas" pitchFamily="34" charset="0"/>
                <a:ea typeface="Consolas" pitchFamily="34" charset="-122"/>
                <a:cs typeface="Consolas" pitchFamily="34" charset="-120"/>
              </a:rPr>
              <a:t>instanceof Dosen dosen</a:t>
            </a:r>
            <a:r>
              <a:rPr lang="id-ID" altLang="en-US" sz="1800" dirty="0">
                <a:solidFill>
                  <a:srgbClr val="57606A"/>
                </a:solidFill>
              </a:rPr>
              <a:t>.</a:t>
            </a:r>
            <a:endParaRPr lang="id-ID" sz="1800" dirty="0"/>
          </a:p>
        </p:txBody>
      </p:sp>
      <p:sp>
        <p:nvSpPr>
          <p:cNvPr id="6" name="Shape 3"/>
          <p:cNvSpPr/>
          <p:nvPr/>
        </p:nvSpPr>
        <p:spPr>
          <a:xfrm>
            <a:off x="548640" y="2487176"/>
            <a:ext cx="1051560" cy="329184"/>
          </a:xfrm>
          <a:prstGeom prst="roundRect">
            <a:avLst>
              <a:gd name="adj" fmla="val 138889"/>
            </a:avLst>
          </a:prstGeom>
          <a:solidFill>
            <a:srgbClr val="3572A5"/>
          </a:solidFill>
          <a:ln/>
        </p:spPr>
      </p:sp>
      <p:sp>
        <p:nvSpPr>
          <p:cNvPr id="7" name="Text 4"/>
          <p:cNvSpPr txBox="1"/>
          <p:nvPr/>
        </p:nvSpPr>
        <p:spPr>
          <a:xfrm>
            <a:off x="548640" y="2487176"/>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487176"/>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python/contoh/contoh03_cek_jenis_objek.py</a:t>
            </a:r>
            <a:endParaRPr lang="id-ID" sz="1100" dirty="0"/>
          </a:p>
        </p:txBody>
      </p:sp>
      <p:sp>
        <p:nvSpPr>
          <p:cNvPr id="9" name="Shape 6"/>
          <p:cNvSpPr/>
          <p:nvPr/>
        </p:nvSpPr>
        <p:spPr>
          <a:xfrm>
            <a:off x="548640" y="2907800"/>
            <a:ext cx="5432908" cy="1634744"/>
          </a:xfrm>
          <a:prstGeom prst="roundRect">
            <a:avLst>
              <a:gd name="adj" fmla="val 3129"/>
            </a:avLst>
          </a:prstGeom>
          <a:solidFill>
            <a:srgbClr val="F6F8FA"/>
          </a:solidFill>
          <a:ln w="9525">
            <a:solidFill>
              <a:srgbClr val="D0D7DE"/>
            </a:solidFill>
            <a:prstDash val="solid"/>
          </a:ln>
        </p:spPr>
      </p:sp>
      <p:sp>
        <p:nvSpPr>
          <p:cNvPr id="10" name="Text 7"/>
          <p:cNvSpPr txBox="1"/>
          <p:nvPr/>
        </p:nvSpPr>
        <p:spPr>
          <a:xfrm>
            <a:off x="658368" y="2999240"/>
            <a:ext cx="5213452" cy="1451864"/>
          </a:xfrm>
          <a:prstGeom prst="rect">
            <a:avLst/>
          </a:prstGeom>
          <a:noFill/>
          <a:ln/>
        </p:spPr>
        <p:txBody>
          <a:bodyPr wrap="square" lIns="0" tIns="0" rIns="0" bIns="0" rtlCol="0" anchor="t"/>
          <a:lstStyle/>
          <a:p>
            <a:pPr indent="0" marL="0">
              <a:buNone/>
            </a:pPr>
            <a:r>
              <a:rPr lang="en-US" altLang="en-US" sz="1150" dirty="0">
                <a:solidFill>
                  <a:srgbClr val="CF222E"/>
                </a:solidFill>
                <a:latin typeface="Consolas" pitchFamily="34" charset="0"/>
                <a:ea typeface="Consolas" pitchFamily="34" charset="-122"/>
                <a:cs typeface="Consolas" pitchFamily="34" charset="-120"/>
              </a:rPr>
              <a:t>for</a:t>
            </a:r>
            <a:r>
              <a:rPr lang="en-US" altLang="en-US" sz="1150" dirty="0">
                <a:solidFill>
                  <a:srgbClr val="1F2328"/>
                </a:solidFill>
                <a:latin typeface="Consolas" pitchFamily="34" charset="0"/>
                <a:ea typeface="Consolas" pitchFamily="34" charset="-122"/>
                <a:cs typeface="Consolas" pitchFamily="34" charset="-120"/>
              </a:rPr>
              <a:t> pengguna in daftar:</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if</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550AE"/>
                </a:solidFill>
                <a:latin typeface="Consolas" pitchFamily="34" charset="0"/>
                <a:ea typeface="Consolas" pitchFamily="34" charset="-122"/>
                <a:cs typeface="Consolas" pitchFamily="34" charset="-120"/>
              </a:rPr>
              <a:t>isinstance</a:t>
            </a:r>
            <a:r>
              <a:rPr lang="en-US" altLang="en-US" sz="1150" dirty="0">
                <a:solidFill>
                  <a:srgbClr val="1F2328"/>
                </a:solidFill>
                <a:latin typeface="Consolas" pitchFamily="34" charset="0"/>
                <a:ea typeface="Consolas" pitchFamily="34" charset="-122"/>
                <a:cs typeface="Consolas" pitchFamily="34" charset="-120"/>
              </a:rPr>
              <a:t>(pengguna, Mahasiswa):</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550AE"/>
                </a:solidFill>
                <a:latin typeface="Consolas" pitchFamily="34" charset="0"/>
                <a:ea typeface="Consolas" pitchFamily="34" charset="-122"/>
                <a:cs typeface="Consolas" pitchFamily="34" charset="-120"/>
              </a:rPr>
              <a:t>print</a:t>
            </a:r>
            <a:r>
              <a:rPr lang="en-US" altLang="en-US" sz="1150" dirty="0">
                <a:solidFill>
                  <a:srgbClr val="1F2328"/>
                </a:solidFill>
                <a:latin typeface="Consolas" pitchFamily="34" charset="0"/>
                <a:ea typeface="Consolas" pitchFamily="34" charset="-122"/>
                <a:cs typeface="Consolas" pitchFamily="34" charset="-120"/>
              </a:rPr>
              <a:t>(pengguna.isi_krs(</a:t>
            </a:r>
            <a:r>
              <a:rPr lang="en-US" altLang="en-US" sz="1150" dirty="0">
                <a:solidFill>
                  <a:srgbClr val="0550AE"/>
                </a:solidFill>
                <a:latin typeface="Consolas" pitchFamily="34" charset="0"/>
                <a:ea typeface="Consolas" pitchFamily="34" charset="-122"/>
                <a:cs typeface="Consolas" pitchFamily="34" charset="-120"/>
              </a:rPr>
              <a:t>21</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elif</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550AE"/>
                </a:solidFill>
                <a:latin typeface="Consolas" pitchFamily="34" charset="0"/>
                <a:ea typeface="Consolas" pitchFamily="34" charset="-122"/>
                <a:cs typeface="Consolas" pitchFamily="34" charset="-120"/>
              </a:rPr>
              <a:t>isinstance</a:t>
            </a:r>
            <a:r>
              <a:rPr lang="en-US" altLang="en-US" sz="1150" dirty="0">
                <a:solidFill>
                  <a:srgbClr val="1F2328"/>
                </a:solidFill>
                <a:latin typeface="Consolas" pitchFamily="34" charset="0"/>
                <a:ea typeface="Consolas" pitchFamily="34" charset="-122"/>
                <a:cs typeface="Consolas" pitchFamily="34" charset="-120"/>
              </a:rPr>
              <a:t>(pengguna, Dosen):</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550AE"/>
                </a:solidFill>
                <a:latin typeface="Consolas" pitchFamily="34" charset="0"/>
                <a:ea typeface="Consolas" pitchFamily="34" charset="-122"/>
                <a:cs typeface="Consolas" pitchFamily="34" charset="-120"/>
              </a:rPr>
              <a:t>print</a:t>
            </a:r>
            <a:r>
              <a:rPr lang="en-US" altLang="en-US" sz="1150" dirty="0">
                <a:solidFill>
                  <a:srgbClr val="1F2328"/>
                </a:solidFill>
                <a:latin typeface="Consolas" pitchFamily="34" charset="0"/>
                <a:ea typeface="Consolas" pitchFamily="34" charset="-122"/>
                <a:cs typeface="Consolas" pitchFamily="34" charset="-120"/>
              </a:rPr>
              <a:t>(pengguna.input_nilai(</a:t>
            </a:r>
            <a:r>
              <a:rPr lang="en-US" altLang="en-US" sz="1150" dirty="0">
                <a:solidFill>
                  <a:srgbClr val="0A3069"/>
                </a:solidFill>
                <a:latin typeface="Consolas" pitchFamily="34" charset="0"/>
                <a:ea typeface="Consolas" pitchFamily="34" charset="-122"/>
                <a:cs typeface="Consolas" pitchFamily="34" charset="-120"/>
              </a:rPr>
              <a:t>"PBO"</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A3069"/>
                </a:solidFill>
                <a:latin typeface="Consolas" pitchFamily="34" charset="0"/>
                <a:ea typeface="Consolas" pitchFamily="34" charset="-122"/>
                <a:cs typeface="Consolas" pitchFamily="34" charset="-120"/>
              </a:rPr>
              <a:t>"A"</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p:txBody>
      </p:sp>
      <p:sp>
        <p:nvSpPr>
          <p:cNvPr id="11" name="Shape 8"/>
          <p:cNvSpPr/>
          <p:nvPr/>
        </p:nvSpPr>
        <p:spPr>
          <a:xfrm>
            <a:off x="6210148" y="2487176"/>
            <a:ext cx="1051560" cy="329184"/>
          </a:xfrm>
          <a:prstGeom prst="roundRect">
            <a:avLst>
              <a:gd name="adj" fmla="val 138889"/>
            </a:avLst>
          </a:prstGeom>
          <a:solidFill>
            <a:srgbClr val="B07219"/>
          </a:solidFill>
          <a:ln/>
        </p:spPr>
      </p:sp>
      <p:sp>
        <p:nvSpPr>
          <p:cNvPr id="12" name="Text 9"/>
          <p:cNvSpPr txBox="1"/>
          <p:nvPr/>
        </p:nvSpPr>
        <p:spPr>
          <a:xfrm>
            <a:off x="6210148" y="2487176"/>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487176"/>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java/contoh/Contoh03UpcastingDowncasting.java</a:t>
            </a:r>
            <a:endParaRPr lang="id-ID" sz="1100" dirty="0"/>
          </a:p>
        </p:txBody>
      </p:sp>
      <p:sp>
        <p:nvSpPr>
          <p:cNvPr id="14" name="Shape 11"/>
          <p:cNvSpPr/>
          <p:nvPr/>
        </p:nvSpPr>
        <p:spPr>
          <a:xfrm>
            <a:off x="6210148" y="2907800"/>
            <a:ext cx="5432908" cy="1634744"/>
          </a:xfrm>
          <a:prstGeom prst="roundRect">
            <a:avLst>
              <a:gd name="adj" fmla="val 3129"/>
            </a:avLst>
          </a:prstGeom>
          <a:solidFill>
            <a:srgbClr val="F6F8FA"/>
          </a:solidFill>
          <a:ln w="9525">
            <a:solidFill>
              <a:srgbClr val="D0D7DE"/>
            </a:solidFill>
            <a:prstDash val="solid"/>
          </a:ln>
        </p:spPr>
      </p:sp>
      <p:sp>
        <p:nvSpPr>
          <p:cNvPr id="15" name="Text 12"/>
          <p:cNvSpPr txBox="1"/>
          <p:nvPr/>
        </p:nvSpPr>
        <p:spPr>
          <a:xfrm>
            <a:off x="6319876" y="2999240"/>
            <a:ext cx="5213452" cy="1451864"/>
          </a:xfrm>
          <a:prstGeom prst="rect">
            <a:avLst/>
          </a:prstGeom>
          <a:noFill/>
          <a:ln/>
        </p:spPr>
        <p:txBody>
          <a:bodyPr wrap="square" lIns="0" tIns="0" rIns="0" bIns="0" rtlCol="0" anchor="t"/>
          <a:lstStyle/>
          <a:p>
            <a:pPr indent="0" marL="0">
              <a:buNone/>
            </a:pPr>
            <a:r>
              <a:rPr lang="en-US" altLang="en-US" sz="1150" dirty="0">
                <a:solidFill>
                  <a:srgbClr val="CF222E"/>
                </a:solidFill>
                <a:latin typeface="Consolas" pitchFamily="34" charset="0"/>
                <a:ea typeface="Consolas" pitchFamily="34" charset="-122"/>
                <a:cs typeface="Consolas" pitchFamily="34" charset="-120"/>
              </a:rPr>
              <a:t>for</a:t>
            </a:r>
            <a:r>
              <a:rPr lang="en-US" altLang="en-US" sz="1150" dirty="0">
                <a:solidFill>
                  <a:srgbClr val="1F2328"/>
                </a:solidFill>
                <a:latin typeface="Consolas" pitchFamily="34" charset="0"/>
                <a:ea typeface="Consolas" pitchFamily="34" charset="-122"/>
                <a:cs typeface="Consolas" pitchFamily="34" charset="-120"/>
              </a:rPr>
              <a:t> (Pengguna pengguna : daftar)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if</a:t>
            </a:r>
            <a:r>
              <a:rPr lang="en-US" altLang="en-US" sz="1150" dirty="0">
                <a:solidFill>
                  <a:srgbClr val="1F2328"/>
                </a:solidFill>
                <a:latin typeface="Consolas" pitchFamily="34" charset="0"/>
                <a:ea typeface="Consolas" pitchFamily="34" charset="-122"/>
                <a:cs typeface="Consolas" pitchFamily="34" charset="-120"/>
              </a:rPr>
              <a:t> (pengguna </a:t>
            </a:r>
            <a:r>
              <a:rPr lang="en-US" altLang="en-US" sz="1150" dirty="0">
                <a:solidFill>
                  <a:srgbClr val="CF222E"/>
                </a:solidFill>
                <a:latin typeface="Consolas" pitchFamily="34" charset="0"/>
                <a:ea typeface="Consolas" pitchFamily="34" charset="-122"/>
                <a:cs typeface="Consolas" pitchFamily="34" charset="-120"/>
              </a:rPr>
              <a:t>instanceof</a:t>
            </a:r>
            <a:r>
              <a:rPr lang="en-US" altLang="en-US" sz="1150" dirty="0">
                <a:solidFill>
                  <a:srgbClr val="1F2328"/>
                </a:solidFill>
                <a:latin typeface="Consolas" pitchFamily="34" charset="0"/>
                <a:ea typeface="Consolas" pitchFamily="34" charset="-122"/>
                <a:cs typeface="Consolas" pitchFamily="34" charset="-120"/>
              </a:rPr>
              <a:t> Mahasiswa)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Mahasiswa mhs = (Mahasiswa) pengguna;</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System.out.println(mhs.isiKrs(</a:t>
            </a:r>
            <a:r>
              <a:rPr lang="en-US" altLang="en-US" sz="1150" dirty="0">
                <a:solidFill>
                  <a:srgbClr val="0550AE"/>
                </a:solidFill>
                <a:latin typeface="Consolas" pitchFamily="34" charset="0"/>
                <a:ea typeface="Consolas" pitchFamily="34" charset="-122"/>
                <a:cs typeface="Consolas" pitchFamily="34" charset="-120"/>
              </a:rPr>
              <a:t>21</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 </a:t>
            </a:r>
            <a:r>
              <a:rPr lang="en-US" altLang="en-US" sz="1150" dirty="0">
                <a:solidFill>
                  <a:srgbClr val="CF222E"/>
                </a:solidFill>
                <a:latin typeface="Consolas" pitchFamily="34" charset="0"/>
                <a:ea typeface="Consolas" pitchFamily="34" charset="-122"/>
                <a:cs typeface="Consolas" pitchFamily="34" charset="-120"/>
              </a:rPr>
              <a:t>else</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if</a:t>
            </a:r>
            <a:r>
              <a:rPr lang="en-US" altLang="en-US" sz="1150" dirty="0">
                <a:solidFill>
                  <a:srgbClr val="1F2328"/>
                </a:solidFill>
                <a:latin typeface="Consolas" pitchFamily="34" charset="0"/>
                <a:ea typeface="Consolas" pitchFamily="34" charset="-122"/>
                <a:cs typeface="Consolas" pitchFamily="34" charset="-120"/>
              </a:rPr>
              <a:t> (pengguna </a:t>
            </a:r>
            <a:r>
              <a:rPr lang="en-US" altLang="en-US" sz="1150" dirty="0">
                <a:solidFill>
                  <a:srgbClr val="CF222E"/>
                </a:solidFill>
                <a:latin typeface="Consolas" pitchFamily="34" charset="0"/>
                <a:ea typeface="Consolas" pitchFamily="34" charset="-122"/>
                <a:cs typeface="Consolas" pitchFamily="34" charset="-120"/>
              </a:rPr>
              <a:t>instanceof</a:t>
            </a:r>
            <a:r>
              <a:rPr lang="en-US" altLang="en-US" sz="1150" dirty="0">
                <a:solidFill>
                  <a:srgbClr val="1F2328"/>
                </a:solidFill>
                <a:latin typeface="Consolas" pitchFamily="34" charset="0"/>
                <a:ea typeface="Consolas" pitchFamily="34" charset="-122"/>
                <a:cs typeface="Consolas" pitchFamily="34" charset="-120"/>
              </a:rPr>
              <a:t> Dosen dosen)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System.out.println(dosen.inputNilai(</a:t>
            </a:r>
            <a:r>
              <a:rPr lang="en-US" altLang="en-US" sz="1150" dirty="0">
                <a:solidFill>
                  <a:srgbClr val="0A3069"/>
                </a:solidFill>
                <a:latin typeface="Consolas" pitchFamily="34" charset="0"/>
                <a:ea typeface="Consolas" pitchFamily="34" charset="-122"/>
                <a:cs typeface="Consolas" pitchFamily="34" charset="-120"/>
              </a:rPr>
              <a:t>"PBO"</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A3069"/>
                </a:solidFill>
                <a:latin typeface="Consolas" pitchFamily="34" charset="0"/>
                <a:ea typeface="Consolas" pitchFamily="34" charset="-122"/>
                <a:cs typeface="Consolas" pitchFamily="34" charset="-120"/>
              </a:rPr>
              <a:t>"A"</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a:t>
            </a:r>
            <a:endParaRPr lang="en-US" sz="1150" dirty="0"/>
          </a:p>
        </p:txBody>
      </p:sp>
      <p:sp>
        <p:nvSpPr>
          <p:cNvPr id="16" name="Shape 13"/>
          <p:cNvSpPr/>
          <p:nvPr/>
        </p:nvSpPr>
        <p:spPr>
          <a:xfrm>
            <a:off x="548640" y="4771144"/>
            <a:ext cx="11094415" cy="872871"/>
          </a:xfrm>
          <a:prstGeom prst="roundRect">
            <a:avLst>
              <a:gd name="adj" fmla="val 10974"/>
            </a:avLst>
          </a:prstGeom>
          <a:solidFill>
            <a:srgbClr val="0D1117"/>
          </a:solidFill>
          <a:ln/>
        </p:spPr>
      </p:sp>
      <p:sp>
        <p:nvSpPr>
          <p:cNvPr id="17" name="Shape 14"/>
          <p:cNvSpPr/>
          <p:nvPr/>
        </p:nvSpPr>
        <p:spPr>
          <a:xfrm>
            <a:off x="713232" y="4899160"/>
            <a:ext cx="960120" cy="292608"/>
          </a:xfrm>
          <a:prstGeom prst="roundRect">
            <a:avLst>
              <a:gd name="adj" fmla="val 156250"/>
            </a:avLst>
          </a:prstGeom>
          <a:solidFill>
            <a:srgbClr val="30363D"/>
          </a:solidFill>
          <a:ln/>
        </p:spPr>
      </p:sp>
      <p:sp>
        <p:nvSpPr>
          <p:cNvPr id="18" name="Text 15"/>
          <p:cNvSpPr txBox="1"/>
          <p:nvPr/>
        </p:nvSpPr>
        <p:spPr>
          <a:xfrm>
            <a:off x="713232" y="4899160"/>
            <a:ext cx="960120" cy="292608"/>
          </a:xfrm>
          <a:prstGeom prst="rect">
            <a:avLst/>
          </a:prstGeom>
          <a:noFill/>
          <a:ln/>
        </p:spPr>
        <p:txBody>
          <a:bodyPr wrap="square" lIns="0" tIns="0" rIns="0" bIns="0" rtlCol="0" anchor="ctr"/>
          <a:lstStyle/>
          <a:p>
            <a:pPr algn="ctr" indent="0" marL="0">
              <a:buNone/>
            </a:pPr>
            <a:r>
              <a:rPr lang="id-ID" altLang="en-US" sz="1200" b="1" i="1" dirty="0">
                <a:solidFill>
                  <a:srgbClr val="E6EDF3"/>
                </a:solidFill>
              </a:rPr>
              <a:t>Output</a:t>
            </a:r>
            <a:endParaRPr lang="id-ID" sz="1200" dirty="0"/>
          </a:p>
        </p:txBody>
      </p:sp>
      <p:sp>
        <p:nvSpPr>
          <p:cNvPr id="19" name="Text 16"/>
          <p:cNvSpPr txBox="1"/>
          <p:nvPr/>
        </p:nvSpPr>
        <p:spPr>
          <a:xfrm>
            <a:off x="1828800" y="4899160"/>
            <a:ext cx="9631375" cy="653415"/>
          </a:xfrm>
          <a:prstGeom prst="rect">
            <a:avLst/>
          </a:prstGeom>
          <a:noFill/>
          <a:ln/>
        </p:spPr>
        <p:txBody>
          <a:bodyPr wrap="square" lIns="0" tIns="0" rIns="0" bIns="0" rtlCol="0" anchor="t"/>
          <a:lstStyle/>
          <a:p>
            <a:pPr indent="0" marL="0">
              <a:buNone/>
            </a:pPr>
            <a:r>
              <a:rPr lang="en-US" altLang="en-US" sz="1250" dirty="0">
                <a:solidFill>
                  <a:srgbClr val="E6EDF3"/>
                </a:solidFill>
                <a:latin typeface="Consolas" pitchFamily="34" charset="0"/>
                <a:ea typeface="Consolas" pitchFamily="34" charset="-122"/>
                <a:cs typeface="Consolas" pitchFamily="34" charset="-120"/>
              </a:rPr>
              <a:t>Ayu Lestari (2409106001) mengisi KRS 21 SKS</a:t>
            </a:r>
            <a:endParaRPr lang="en-US" sz="1250" dirty="0"/>
          </a:p>
          <a:p>
            <a:pPr indent="0" marL="0">
              <a:buNone/>
            </a:pPr>
            <a:r>
              <a:rPr lang="en-US" altLang="en-US" sz="1250" dirty="0">
                <a:solidFill>
                  <a:srgbClr val="E6EDF3"/>
                </a:solidFill>
                <a:latin typeface="Consolas" pitchFamily="34" charset="0"/>
                <a:ea typeface="Consolas" pitchFamily="34" charset="-122"/>
                <a:cs typeface="Consolas" pitchFamily="34" charset="-120"/>
              </a:rPr>
              <a:t>Rahmat Hidayat memasukkan nilai PBO: A</a:t>
            </a:r>
            <a:endParaRPr lang="en-US" sz="1250" dirty="0"/>
          </a:p>
          <a:p>
            <a:pPr indent="0" marL="0">
              <a:buNone/>
            </a:pPr>
            <a:r>
              <a:rPr lang="en-US" altLang="en-US" sz="1250" dirty="0">
                <a:solidFill>
                  <a:srgbClr val="E6EDF3"/>
                </a:solidFill>
                <a:latin typeface="Consolas" pitchFamily="34" charset="0"/>
                <a:ea typeface="Consolas" pitchFamily="34" charset="-122"/>
                <a:cs typeface="Consolas" pitchFamily="34" charset="-120"/>
              </a:rPr>
              <a:t>Bima Saputra (2409106002) mengisi KRS 21 SKS</a:t>
            </a:r>
            <a:endParaRPr lang="en-US" sz="12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Duck Typing</a:t>
            </a:r>
            <a:r>
              <a:rPr lang="id-ID" altLang="en-US" sz="3200" b="1" dirty="0">
                <a:solidFill>
                  <a:srgbClr val="0A3069"/>
                </a:solidFill>
              </a:rPr>
              <a:t>: Yang Penting Bisa, Bukan Siapa</a:t>
            </a:r>
            <a:endParaRPr lang="id-ID"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56710"/>
          <a:ext cx="11094415" cy="914400"/>
        </p:xfrm>
        <a:graphic>
          <a:graphicData uri="http://schemas.openxmlformats.org/drawingml/2006/table">
            <a:tbl>
              <a:tblPr/>
              <a:tblGrid>
                <a:gridCol w="3564021"/>
                <a:gridCol w="4946774"/>
                <a:gridCol w="2583621"/>
              </a:tblGrid>
              <a:tr h="508254">
                <a:tc>
                  <a:txBody>
                    <a:bodyPr/>
                    <a:lstStyle/>
                    <a:p>
                      <a:pPr indent="0" marL="0">
                        <a:buNone/>
                      </a:pPr>
                      <a:r>
                        <a:rPr lang="id-ID" altLang="en-US" sz="2100" b="1" dirty="0">
                          <a:solidFill>
                            <a:srgbClr val="FFFFFF"/>
                          </a:solidFill>
                          <a:latin typeface="Calibri" pitchFamily="34" charset="0"/>
                          <a:ea typeface="Calibri" pitchFamily="34" charset="-122"/>
                          <a:cs typeface="Calibri" pitchFamily="34" charset="-120"/>
                        </a:rPr>
                        <a:t>Situasi</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100" b="1" dirty="0">
                          <a:solidFill>
                            <a:srgbClr val="FFFFFF"/>
                          </a:solidFill>
                          <a:latin typeface="Calibri" pitchFamily="34" charset="0"/>
                          <a:ea typeface="Calibri" pitchFamily="34" charset="-122"/>
                          <a:cs typeface="Calibri" pitchFamily="34" charset="-120"/>
                        </a:rPr>
                        <a:t>Python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100" b="1" dirty="0">
                          <a:solidFill>
                            <a:srgbClr val="FFFFFF"/>
                          </a:solidFill>
                          <a:latin typeface="Calibri" pitchFamily="34" charset="0"/>
                          <a:ea typeface="Calibri" pitchFamily="34" charset="-122"/>
                          <a:cs typeface="Calibri" pitchFamily="34" charset="-120"/>
                        </a:rPr>
                        <a:t>Java</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1159002">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Objek tanpa induk bersama, tetapi sama-⁠sama punya </a:t>
                      </a:r>
                      <a:r>
                        <a:rPr lang="id-ID" altLang="en-US" sz="2100" dirty="0">
                          <a:solidFill>
                            <a:srgbClr val="0A3069"/>
                          </a:solidFill>
                          <a:latin typeface="Consolas" pitchFamily="34" charset="0"/>
                          <a:ea typeface="Consolas" pitchFamily="34" charset="-122"/>
                          <a:cs typeface="Consolas" pitchFamily="34" charset="-120"/>
                        </a:rPr>
                        <a:t>bunyikan()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Bisa diproses dengan satu perulangan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Ditolak </a:t>
                      </a:r>
                      <a:r>
                        <a:rPr lang="id-ID" altLang="en-US" sz="2100" i="1" dirty="0">
                          <a:solidFill>
                            <a:srgbClr val="1F2328"/>
                          </a:solidFill>
                          <a:latin typeface="Calibri" pitchFamily="34" charset="0"/>
                          <a:ea typeface="Calibri" pitchFamily="34" charset="-122"/>
                          <a:cs typeface="Calibri" pitchFamily="34" charset="-120"/>
                        </a:rPr>
                        <a:t>compiler</a:t>
                      </a:r>
                      <a:r>
                        <a:rPr lang="id-ID" altLang="en-US" sz="2100" dirty="0">
                          <a:solidFill>
                            <a:srgbClr val="1F2328"/>
                          </a:solidFill>
                          <a:latin typeface="Calibri" pitchFamily="34" charset="0"/>
                          <a:ea typeface="Calibri" pitchFamily="34" charset="-122"/>
                          <a:cs typeface="Calibri" pitchFamily="34" charset="-120"/>
                        </a:rPr>
                        <a:t>; objek-⁠objek itu butuh </a:t>
                      </a:r>
                      <a:r>
                        <a:rPr lang="id-ID" altLang="en-US" sz="2100" b="1" dirty="0">
                          <a:solidFill>
                            <a:srgbClr val="1F2328"/>
                          </a:solidFill>
                          <a:latin typeface="Calibri" pitchFamily="34" charset="0"/>
                          <a:ea typeface="Calibri" pitchFamily="34" charset="-122"/>
                          <a:cs typeface="Calibri" pitchFamily="34" charset="-120"/>
                        </a:rPr>
                        <a:t>tipe bersama</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33628">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Ada objek yang ternyata tidak punya </a:t>
                      </a:r>
                      <a:r>
                        <a:rPr lang="id-ID" altLang="en-US" sz="2100" dirty="0">
                          <a:solidFill>
                            <a:srgbClr val="0A3069"/>
                          </a:solidFill>
                          <a:latin typeface="Consolas" pitchFamily="34" charset="0"/>
                          <a:ea typeface="Consolas" pitchFamily="34" charset="-122"/>
                          <a:cs typeface="Consolas" pitchFamily="34" charset="-120"/>
                        </a:rPr>
                        <a:t>bunyikan()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0A3069"/>
                          </a:solidFill>
                          <a:latin typeface="Consolas" pitchFamily="34" charset="0"/>
                          <a:ea typeface="Consolas" pitchFamily="34" charset="-122"/>
                          <a:cs typeface="Consolas" pitchFamily="34" charset="-120"/>
                        </a:rPr>
                        <a:t>AttributeError</a:t>
                      </a:r>
                      <a:r>
                        <a:rPr lang="id-ID" altLang="en-US" sz="2100" dirty="0">
                          <a:solidFill>
                            <a:srgbClr val="1F2328"/>
                          </a:solidFill>
                          <a:latin typeface="Calibri" pitchFamily="34" charset="0"/>
                          <a:ea typeface="Calibri" pitchFamily="34" charset="-122"/>
                          <a:cs typeface="Calibri" pitchFamily="34" charset="-120"/>
                        </a:rPr>
                        <a:t> saat program berjalan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Sudah ketahuan saat kompilasi</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33628">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Kelebihan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Luwes dan ringkas</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Kesalahan tertangkap lebih awal</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238110"/>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310530"/>
            <a:ext cx="184343" cy="184343"/>
          </a:xfrm>
          <a:prstGeom prst="rect">
            <a:avLst/>
          </a:prstGeom>
        </p:spPr>
      </p:pic>
      <p:sp>
        <p:nvSpPr>
          <p:cNvPr id="8" name="Text 3"/>
          <p:cNvSpPr txBox="1"/>
          <p:nvPr/>
        </p:nvSpPr>
        <p:spPr>
          <a:xfrm>
            <a:off x="1005840" y="5219822"/>
            <a:ext cx="10637215" cy="603504"/>
          </a:xfrm>
          <a:prstGeom prst="rect">
            <a:avLst/>
          </a:prstGeom>
          <a:noFill/>
          <a:ln/>
        </p:spPr>
        <p:txBody>
          <a:bodyPr wrap="square" lIns="0" tIns="0" rIns="0" bIns="0" rtlCol="0" anchor="t"/>
          <a:lstStyle/>
          <a:p>
            <a:pPr indent="0" marL="0">
              <a:buNone/>
            </a:pPr>
            <a:r>
              <a:rPr lang="id-ID" altLang="en-US" sz="1800" i="1" dirty="0">
                <a:solidFill>
                  <a:srgbClr val="57606A"/>
                </a:solidFill>
              </a:rPr>
              <a:t>Duck typing</a:t>
            </a:r>
            <a:r>
              <a:rPr lang="id-ID" altLang="en-US" sz="1800" dirty="0">
                <a:solidFill>
                  <a:srgbClr val="57606A"/>
                </a:solidFill>
              </a:rPr>
              <a:t>: objek dianggap cocok selama punya </a:t>
            </a:r>
            <a:r>
              <a:rPr lang="id-ID" altLang="en-US" sz="1800" i="1" dirty="0">
                <a:solidFill>
                  <a:srgbClr val="57606A"/>
                </a:solidFill>
              </a:rPr>
              <a:t>method</a:t>
            </a:r>
            <a:r>
              <a:rPr lang="id-ID" altLang="en-US" sz="1800" dirty="0">
                <a:solidFill>
                  <a:srgbClr val="57606A"/>
                </a:solidFill>
              </a:rPr>
              <a:t> yang dibutuhkan, walaupun tidak mewarisi induk yang sama.</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5</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5</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3600" b="1" i="1" dirty="0">
                <a:solidFill>
                  <a:srgbClr val="FFFFFF"/>
                </a:solidFill>
              </a:rPr>
              <a:t>Overloading</a:t>
            </a:r>
            <a:r>
              <a:rPr lang="id-ID" altLang="en-US" sz="3600" b="1" dirty="0">
                <a:solidFill>
                  <a:srgbClr val="FFFFFF"/>
                </a:solidFill>
              </a:rPr>
              <a:t>: Satu Nama, Parameter Berbeda</a:t>
            </a:r>
            <a:endParaRPr lang="id-ID" sz="36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Bentuk polimorfisme yang dipilih saat kompilasi, dan bentuk ini khusus Java.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Overloading</a:t>
            </a:r>
            <a:r>
              <a:rPr lang="id-ID" altLang="en-US" sz="3200" b="1" dirty="0">
                <a:solidFill>
                  <a:srgbClr val="0A3069"/>
                </a:solidFill>
              </a:rPr>
              <a:t> di Java</a:t>
            </a:r>
            <a:endParaRPr lang="id-ID" sz="3200" dirty="0"/>
          </a:p>
        </p:txBody>
      </p:sp>
      <p:sp>
        <p:nvSpPr>
          <p:cNvPr id="5" name="Text 2"/>
          <p:cNvSpPr txBox="1"/>
          <p:nvPr/>
        </p:nvSpPr>
        <p:spPr>
          <a:xfrm>
            <a:off x="548640" y="1697248"/>
            <a:ext cx="11094415" cy="548640"/>
          </a:xfrm>
          <a:prstGeom prst="rect">
            <a:avLst/>
          </a:prstGeom>
          <a:noFill/>
          <a:ln/>
        </p:spPr>
        <p:txBody>
          <a:bodyPr wrap="square" lIns="0" tIns="0" rIns="0" bIns="0" rtlCol="0" anchor="t"/>
          <a:lstStyle/>
          <a:p>
            <a:pPr indent="0" marL="0">
              <a:buNone/>
            </a:pPr>
            <a:r>
              <a:rPr lang="id-ID" altLang="en-US" sz="3000" b="1" i="1" dirty="0">
                <a:solidFill>
                  <a:srgbClr val="0969DA"/>
                </a:solidFill>
              </a:rPr>
              <a:t>Overloading</a:t>
            </a:r>
            <a:endParaRPr lang="id-ID" sz="3000" dirty="0"/>
          </a:p>
        </p:txBody>
      </p:sp>
      <p:sp>
        <p:nvSpPr>
          <p:cNvPr id="6" name="Shape 3"/>
          <p:cNvSpPr/>
          <p:nvPr/>
        </p:nvSpPr>
        <p:spPr>
          <a:xfrm>
            <a:off x="548640" y="2410480"/>
            <a:ext cx="11094415" cy="1230376"/>
          </a:xfrm>
          <a:prstGeom prst="roundRect">
            <a:avLst>
              <a:gd name="adj" fmla="val 6628"/>
            </a:avLst>
          </a:prstGeom>
          <a:solidFill>
            <a:srgbClr val="DDF4FF"/>
          </a:solidFill>
          <a:ln w="9525">
            <a:solidFill>
              <a:srgbClr val="54AEFF"/>
            </a:solidFill>
            <a:prstDash val="solid"/>
          </a:ln>
        </p:spPr>
      </p:sp>
      <p:sp>
        <p:nvSpPr>
          <p:cNvPr id="7" name="Shape 4"/>
          <p:cNvSpPr/>
          <p:nvPr/>
        </p:nvSpPr>
        <p:spPr>
          <a:xfrm>
            <a:off x="804672" y="2751348"/>
            <a:ext cx="548640" cy="548640"/>
          </a:xfrm>
          <a:prstGeom prst="ellipse">
            <a:avLst/>
          </a:prstGeom>
          <a:solidFill>
            <a:srgbClr val="0969DA"/>
          </a:solidFill>
          <a:ln/>
        </p:spPr>
      </p:sp>
      <p:pic>
        <p:nvPicPr>
          <p:cNvPr id="8" name="Image 1" descr="preencoded.png">    </p:cNvPr>
          <p:cNvPicPr>
            <a:picLocks noChangeAspect="1"/>
          </p:cNvPicPr>
          <p:nvPr/>
        </p:nvPicPr>
        <p:blipFill>
          <a:blip r:embed="rId2"/>
          <a:stretch>
            <a:fillRect/>
          </a:stretch>
        </p:blipFill>
        <p:spPr>
          <a:xfrm>
            <a:off x="925373" y="2872049"/>
            <a:ext cx="307238" cy="307238"/>
          </a:xfrm>
          <a:prstGeom prst="rect">
            <a:avLst/>
          </a:prstGeom>
        </p:spPr>
      </p:pic>
      <p:sp>
        <p:nvSpPr>
          <p:cNvPr id="9" name="Text 5"/>
          <p:cNvSpPr txBox="1"/>
          <p:nvPr/>
        </p:nvSpPr>
        <p:spPr>
          <a:xfrm>
            <a:off x="1554480" y="2684800"/>
            <a:ext cx="9859975" cy="864616"/>
          </a:xfrm>
          <a:prstGeom prst="rect">
            <a:avLst/>
          </a:prstGeom>
          <a:noFill/>
          <a:ln/>
        </p:spPr>
        <p:txBody>
          <a:bodyPr wrap="square" lIns="0" tIns="0" rIns="0" bIns="0" rtlCol="0" anchor="t"/>
          <a:lstStyle/>
          <a:p>
            <a:pPr indent="0" marL="0">
              <a:buNone/>
            </a:pPr>
            <a:r>
              <a:rPr lang="id-ID" altLang="en-US" sz="2200" dirty="0">
                <a:solidFill>
                  <a:srgbClr val="1F2328"/>
                </a:solidFill>
              </a:rPr>
              <a:t>Menulis beberapa </a:t>
            </a:r>
            <a:r>
              <a:rPr lang="id-ID" altLang="en-US" sz="2200" i="1" dirty="0">
                <a:solidFill>
                  <a:srgbClr val="1F2328"/>
                </a:solidFill>
              </a:rPr>
              <a:t>method</a:t>
            </a:r>
            <a:r>
              <a:rPr lang="id-ID" altLang="en-US" sz="2200" dirty="0">
                <a:solidFill>
                  <a:srgbClr val="1F2328"/>
                </a:solidFill>
              </a:rPr>
              <a:t> (atau konstruktor) dengan </a:t>
            </a:r>
            <a:r>
              <a:rPr lang="id-ID" altLang="en-US" sz="2200" b="1" dirty="0">
                <a:solidFill>
                  <a:srgbClr val="1F2328"/>
                </a:solidFill>
              </a:rPr>
              <a:t>nama yang sama</a:t>
            </a:r>
            <a:r>
              <a:rPr lang="id-ID" altLang="en-US" sz="2200" dirty="0">
                <a:solidFill>
                  <a:srgbClr val="1F2328"/>
                </a:solidFill>
              </a:rPr>
              <a:t> di kelas yang sama, tetapi </a:t>
            </a:r>
            <a:r>
              <a:rPr lang="id-ID" altLang="en-US" sz="2200" b="1" dirty="0">
                <a:solidFill>
                  <a:srgbClr val="1F2328"/>
                </a:solidFill>
              </a:rPr>
              <a:t>daftar parameternya berbeda</a:t>
            </a:r>
            <a:r>
              <a:rPr lang="id-ID" altLang="en-US" sz="2200" dirty="0">
                <a:solidFill>
                  <a:srgbClr val="1F2328"/>
                </a:solidFill>
              </a:rPr>
              <a:t>: jumlahnya, tipenya, atau urutan tipenya.</a:t>
            </a:r>
            <a:endParaRPr lang="id-ID" sz="2200" dirty="0"/>
          </a:p>
        </p:txBody>
      </p:sp>
      <p:sp>
        <p:nvSpPr>
          <p:cNvPr id="10" name="Shape 6"/>
          <p:cNvSpPr/>
          <p:nvPr/>
        </p:nvSpPr>
        <p:spPr>
          <a:xfrm>
            <a:off x="603504" y="4184416"/>
            <a:ext cx="137160" cy="137160"/>
          </a:xfrm>
          <a:prstGeom prst="roundRect">
            <a:avLst>
              <a:gd name="adj" fmla="val 166667"/>
            </a:avLst>
          </a:prstGeom>
          <a:solidFill>
            <a:srgbClr val="0969DA"/>
          </a:solidFill>
          <a:ln/>
        </p:spPr>
      </p:sp>
      <p:sp>
        <p:nvSpPr>
          <p:cNvPr id="11" name="Text 7"/>
          <p:cNvSpPr txBox="1"/>
          <p:nvPr/>
        </p:nvSpPr>
        <p:spPr>
          <a:xfrm>
            <a:off x="932688" y="4098056"/>
            <a:ext cx="10710367" cy="355600"/>
          </a:xfrm>
          <a:prstGeom prst="rect">
            <a:avLst/>
          </a:prstGeom>
          <a:noFill/>
          <a:ln/>
        </p:spPr>
        <p:txBody>
          <a:bodyPr wrap="square" lIns="0" tIns="0" rIns="0" bIns="0" rtlCol="0" anchor="t"/>
          <a:lstStyle/>
          <a:p>
            <a:pPr indent="0" marL="0">
              <a:buNone/>
            </a:pPr>
            <a:r>
              <a:rPr lang="id-ID" altLang="en-US" sz="2000" dirty="0">
                <a:solidFill>
                  <a:srgbClr val="1F2328"/>
                </a:solidFill>
              </a:rPr>
              <a:t>Contoh: </a:t>
            </a:r>
            <a:r>
              <a:rPr lang="id-ID" altLang="en-US" sz="2000" dirty="0">
                <a:solidFill>
                  <a:srgbClr val="1F2328"/>
                </a:solidFill>
                <a:latin typeface="Consolas" pitchFamily="34" charset="0"/>
                <a:ea typeface="Consolas" pitchFamily="34" charset="-122"/>
                <a:cs typeface="Consolas" pitchFamily="34" charset="-120"/>
              </a:rPr>
              <a:t>cari(String)</a:t>
            </a:r>
            <a:r>
              <a:rPr lang="id-ID" altLang="en-US" sz="2000" dirty="0">
                <a:solidFill>
                  <a:srgbClr val="1F2328"/>
                </a:solidFill>
              </a:rPr>
              <a:t>, </a:t>
            </a:r>
            <a:r>
              <a:rPr lang="id-ID" altLang="en-US" sz="2000" dirty="0">
                <a:solidFill>
                  <a:srgbClr val="1F2328"/>
                </a:solidFill>
                <a:latin typeface="Consolas" pitchFamily="34" charset="0"/>
                <a:ea typeface="Consolas" pitchFamily="34" charset="-122"/>
                <a:cs typeface="Consolas" pitchFamily="34" charset="-120"/>
              </a:rPr>
              <a:t>cari(int)</a:t>
            </a:r>
            <a:r>
              <a:rPr lang="id-ID" altLang="en-US" sz="2000" dirty="0">
                <a:solidFill>
                  <a:srgbClr val="1F2328"/>
                </a:solidFill>
              </a:rPr>
              <a:t>, dan </a:t>
            </a:r>
            <a:r>
              <a:rPr lang="id-ID" altLang="en-US" sz="2000" dirty="0">
                <a:solidFill>
                  <a:srgbClr val="1F2328"/>
                </a:solidFill>
                <a:latin typeface="Consolas" pitchFamily="34" charset="0"/>
                <a:ea typeface="Consolas" pitchFamily="34" charset="-122"/>
                <a:cs typeface="Consolas" pitchFamily="34" charset="-120"/>
              </a:rPr>
              <a:t>cari(String, int)</a:t>
            </a:r>
            <a:r>
              <a:rPr lang="id-ID" altLang="en-US" sz="2000" dirty="0">
                <a:solidFill>
                  <a:srgbClr val="1F2328"/>
                </a:solidFill>
              </a:rPr>
              <a:t> di kelas </a:t>
            </a:r>
            <a:r>
              <a:rPr lang="id-ID" altLang="en-US" sz="2000" dirty="0">
                <a:solidFill>
                  <a:srgbClr val="1F2328"/>
                </a:solidFill>
                <a:latin typeface="Consolas" pitchFamily="34" charset="0"/>
                <a:ea typeface="Consolas" pitchFamily="34" charset="-122"/>
                <a:cs typeface="Consolas" pitchFamily="34" charset="-120"/>
              </a:rPr>
              <a:t>Perpustakaan</a:t>
            </a:r>
            <a:r>
              <a:rPr lang="id-ID" altLang="en-US" sz="2000" dirty="0">
                <a:solidFill>
                  <a:srgbClr val="1F2328"/>
                </a:solidFill>
              </a:rPr>
              <a:t>.</a:t>
            </a:r>
            <a:endParaRPr lang="id-ID" sz="2000" dirty="0"/>
          </a:p>
        </p:txBody>
      </p:sp>
      <p:sp>
        <p:nvSpPr>
          <p:cNvPr id="12" name="Shape 8"/>
          <p:cNvSpPr/>
          <p:nvPr/>
        </p:nvSpPr>
        <p:spPr>
          <a:xfrm>
            <a:off x="603504" y="4732040"/>
            <a:ext cx="137160" cy="137160"/>
          </a:xfrm>
          <a:prstGeom prst="roundRect">
            <a:avLst>
              <a:gd name="adj" fmla="val 166667"/>
            </a:avLst>
          </a:prstGeom>
          <a:solidFill>
            <a:srgbClr val="0969DA"/>
          </a:solidFill>
          <a:ln/>
        </p:spPr>
      </p:sp>
      <p:sp>
        <p:nvSpPr>
          <p:cNvPr id="13" name="Text 9"/>
          <p:cNvSpPr txBox="1"/>
          <p:nvPr/>
        </p:nvSpPr>
        <p:spPr>
          <a:xfrm>
            <a:off x="932688" y="4645680"/>
            <a:ext cx="10710367" cy="665480"/>
          </a:xfrm>
          <a:prstGeom prst="rect">
            <a:avLst/>
          </a:prstGeom>
          <a:noFill/>
          <a:ln/>
        </p:spPr>
        <p:txBody>
          <a:bodyPr wrap="square" lIns="0" tIns="0" rIns="0" bIns="0" rtlCol="0" anchor="t"/>
          <a:lstStyle/>
          <a:p>
            <a:pPr indent="0" marL="0">
              <a:buNone/>
            </a:pPr>
            <a:r>
              <a:rPr lang="id-ID" altLang="en-US" sz="2000" dirty="0">
                <a:solidFill>
                  <a:srgbClr val="1F2328"/>
                </a:solidFill>
              </a:rPr>
              <a:t>Dipilih </a:t>
            </a:r>
            <a:r>
              <a:rPr lang="id-ID" altLang="en-US" sz="2000" i="1" dirty="0">
                <a:solidFill>
                  <a:srgbClr val="1F2328"/>
                </a:solidFill>
              </a:rPr>
              <a:t>compiler</a:t>
            </a:r>
            <a:r>
              <a:rPr lang="id-ID" altLang="en-US" sz="2000" dirty="0">
                <a:solidFill>
                  <a:srgbClr val="1F2328"/>
                </a:solidFill>
              </a:rPr>
              <a:t> saat kompilasi: </a:t>
            </a:r>
            <a:r>
              <a:rPr lang="id-ID" altLang="en-US" sz="2000" b="1" dirty="0">
                <a:solidFill>
                  <a:srgbClr val="1F2328"/>
                </a:solidFill>
              </a:rPr>
              <a:t>polimorfisme waktu kompilasi</a:t>
            </a:r>
            <a:r>
              <a:rPr lang="id-ID" altLang="en-US" sz="2000" dirty="0">
                <a:solidFill>
                  <a:srgbClr val="1F2328"/>
                </a:solidFill>
              </a:rPr>
              <a:t>. Tipe kembalian saja tidak cukup membedakan.</a:t>
            </a:r>
            <a:endParaRPr lang="id-ID" sz="2000" dirty="0"/>
          </a:p>
        </p:txBody>
      </p:sp>
      <p:sp>
        <p:nvSpPr>
          <p:cNvPr id="14" name="Shape 10"/>
          <p:cNvSpPr/>
          <p:nvPr/>
        </p:nvSpPr>
        <p:spPr>
          <a:xfrm>
            <a:off x="603504" y="5589544"/>
            <a:ext cx="137160" cy="137160"/>
          </a:xfrm>
          <a:prstGeom prst="roundRect">
            <a:avLst>
              <a:gd name="adj" fmla="val 166667"/>
            </a:avLst>
          </a:prstGeom>
          <a:solidFill>
            <a:srgbClr val="0969DA"/>
          </a:solidFill>
          <a:ln/>
        </p:spPr>
      </p:sp>
      <p:sp>
        <p:nvSpPr>
          <p:cNvPr id="15" name="Text 11"/>
          <p:cNvSpPr txBox="1"/>
          <p:nvPr/>
        </p:nvSpPr>
        <p:spPr>
          <a:xfrm>
            <a:off x="932688" y="5503184"/>
            <a:ext cx="10710367" cy="355600"/>
          </a:xfrm>
          <a:prstGeom prst="rect">
            <a:avLst/>
          </a:prstGeom>
          <a:noFill/>
          <a:ln/>
        </p:spPr>
        <p:txBody>
          <a:bodyPr wrap="square" lIns="0" tIns="0" rIns="0" bIns="0" rtlCol="0" anchor="t"/>
          <a:lstStyle/>
          <a:p>
            <a:pPr indent="0" marL="0">
              <a:buNone/>
            </a:pPr>
            <a:r>
              <a:rPr lang="id-ID" altLang="en-US" sz="2000" dirty="0">
                <a:solidFill>
                  <a:srgbClr val="1F2328"/>
                </a:solidFill>
              </a:rPr>
              <a:t>Python </a:t>
            </a:r>
            <a:r>
              <a:rPr lang="id-ID" altLang="en-US" sz="2000" b="1" dirty="0">
                <a:solidFill>
                  <a:srgbClr val="1F2328"/>
                </a:solidFill>
              </a:rPr>
              <a:t>tidak punya</a:t>
            </a:r>
            <a:r>
              <a:rPr lang="id-ID" altLang="en-US" sz="2000" dirty="0">
                <a:solidFill>
                  <a:srgbClr val="1F2328"/>
                </a:solidFill>
              </a:rPr>
              <a:t> </a:t>
            </a:r>
            <a:r>
              <a:rPr lang="id-ID" altLang="en-US" sz="2000" i="1" dirty="0">
                <a:solidFill>
                  <a:srgbClr val="1F2328"/>
                </a:solidFill>
              </a:rPr>
              <a:t>overloading</a:t>
            </a:r>
            <a:r>
              <a:rPr lang="id-ID" altLang="en-US" sz="2000" dirty="0">
                <a:solidFill>
                  <a:srgbClr val="1F2328"/>
                </a:solidFill>
              </a:rPr>
              <a:t>: </a:t>
            </a:r>
            <a:r>
              <a:rPr lang="id-ID" altLang="en-US" sz="2000" dirty="0">
                <a:solidFill>
                  <a:srgbClr val="1F2328"/>
                </a:solidFill>
                <a:latin typeface="Consolas" pitchFamily="34" charset="0"/>
                <a:ea typeface="Consolas" pitchFamily="34" charset="-122"/>
                <a:cs typeface="Consolas" pitchFamily="34" charset="-120"/>
              </a:rPr>
              <a:t>def</a:t>
            </a:r>
            <a:r>
              <a:rPr lang="id-ID" altLang="en-US" sz="2000" dirty="0">
                <a:solidFill>
                  <a:srgbClr val="1F2328"/>
                </a:solidFill>
              </a:rPr>
              <a:t> kedua diam-⁠diam menimpa </a:t>
            </a:r>
            <a:r>
              <a:rPr lang="id-ID" altLang="en-US" sz="2000" dirty="0">
                <a:solidFill>
                  <a:srgbClr val="1F2328"/>
                </a:solidFill>
                <a:latin typeface="Consolas" pitchFamily="34" charset="0"/>
                <a:ea typeface="Consolas" pitchFamily="34" charset="-122"/>
                <a:cs typeface="Consolas" pitchFamily="34" charset="-120"/>
              </a:rPr>
              <a:t>def</a:t>
            </a:r>
            <a:r>
              <a:rPr lang="id-ID" altLang="en-US" sz="2000" dirty="0">
                <a:solidFill>
                  <a:srgbClr val="1F2328"/>
                </a:solidFill>
              </a:rPr>
              <a:t> pertama.</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Overriding</a:t>
            </a:r>
            <a:r>
              <a:rPr lang="id-ID" altLang="en-US" sz="3200" b="1" dirty="0">
                <a:solidFill>
                  <a:srgbClr val="0A3069"/>
                </a:solidFill>
              </a:rPr>
              <a:t> dan </a:t>
            </a:r>
            <a:r>
              <a:rPr lang="id-ID" altLang="en-US" sz="3200" b="1" i="1" dirty="0">
                <a:solidFill>
                  <a:srgbClr val="0A3069"/>
                </a:solidFill>
              </a:rPr>
              <a:t>Overloading</a:t>
            </a:r>
            <a:endParaRPr lang="id-ID"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461806"/>
          <a:ext cx="11094415" cy="914400"/>
        </p:xfrm>
        <a:graphic>
          <a:graphicData uri="http://schemas.openxmlformats.org/drawingml/2006/table">
            <a:tbl>
              <a:tblPr/>
              <a:tblGrid>
                <a:gridCol w="1809632"/>
                <a:gridCol w="4083839"/>
                <a:gridCol w="5200943"/>
              </a:tblGrid>
              <a:tr h="508254">
                <a:tc>
                  <a:txBody>
                    <a:bodyPr/>
                    <a:lstStyle/>
                    <a:p>
                      <a:pPr indent="0" marL="0">
                        <a:buNone/>
                      </a:pPr>
                      <a:r>
                        <a:rPr lang="id-ID" altLang="en-US" sz="2100" b="1" dirty="0">
                          <a:solidFill>
                            <a:srgbClr val="FFFFFF"/>
                          </a:solidFill>
                          <a:latin typeface="Calibri" pitchFamily="34" charset="0"/>
                          <a:ea typeface="Calibri" pitchFamily="34" charset="-122"/>
                          <a:cs typeface="Calibri" pitchFamily="34" charset="-120"/>
                        </a:rPr>
                        <a:t>Aspek</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100" b="1" i="1" dirty="0">
                          <a:solidFill>
                            <a:srgbClr val="FFFFFF"/>
                          </a:solidFill>
                          <a:latin typeface="Calibri" pitchFamily="34" charset="0"/>
                          <a:ea typeface="Calibri" pitchFamily="34" charset="-122"/>
                          <a:cs typeface="Calibri" pitchFamily="34" charset="-120"/>
                        </a:rPr>
                        <a:t>Overriding</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100" b="1" i="1" dirty="0">
                          <a:solidFill>
                            <a:srgbClr val="FFFFFF"/>
                          </a:solidFill>
                          <a:latin typeface="Calibri" pitchFamily="34" charset="0"/>
                          <a:ea typeface="Calibri" pitchFamily="34" charset="-122"/>
                          <a:cs typeface="Calibri" pitchFamily="34" charset="-120"/>
                        </a:rPr>
                        <a:t>Overloading</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33628">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Letak</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Di kelas </a:t>
                      </a:r>
                      <a:r>
                        <a:rPr lang="id-ID" altLang="en-US" sz="2100" b="1" dirty="0">
                          <a:solidFill>
                            <a:srgbClr val="1F2328"/>
                          </a:solidFill>
                          <a:latin typeface="Calibri" pitchFamily="34" charset="0"/>
                          <a:ea typeface="Calibri" pitchFamily="34" charset="-122"/>
                          <a:cs typeface="Calibri" pitchFamily="34" charset="-120"/>
                        </a:rPr>
                        <a:t>anak</a:t>
                      </a:r>
                      <a:r>
                        <a:rPr lang="id-ID" altLang="en-US" sz="2100" dirty="0">
                          <a:solidFill>
                            <a:srgbClr val="1F2328"/>
                          </a:solidFill>
                          <a:latin typeface="Calibri" pitchFamily="34" charset="0"/>
                          <a:ea typeface="Calibri" pitchFamily="34" charset="-122"/>
                          <a:cs typeface="Calibri" pitchFamily="34" charset="-120"/>
                        </a:rPr>
                        <a:t>, menimpa </a:t>
                      </a:r>
                      <a:r>
                        <a:rPr lang="id-ID" altLang="en-US" sz="2100" i="1" dirty="0">
                          <a:solidFill>
                            <a:srgbClr val="1F2328"/>
                          </a:solidFill>
                          <a:latin typeface="Calibri" pitchFamily="34" charset="0"/>
                          <a:ea typeface="Calibri" pitchFamily="34" charset="-122"/>
                          <a:cs typeface="Calibri" pitchFamily="34" charset="-120"/>
                        </a:rPr>
                        <a:t>method</a:t>
                      </a:r>
                      <a:r>
                        <a:rPr lang="id-ID" altLang="en-US" sz="2100" dirty="0">
                          <a:solidFill>
                            <a:srgbClr val="1F2328"/>
                          </a:solidFill>
                          <a:latin typeface="Calibri" pitchFamily="34" charset="0"/>
                          <a:ea typeface="Calibri" pitchFamily="34" charset="-122"/>
                          <a:cs typeface="Calibri" pitchFamily="34" charset="-120"/>
                        </a:rPr>
                        <a:t> induk</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Di kelas yang </a:t>
                      </a:r>
                      <a:r>
                        <a:rPr lang="id-ID" altLang="en-US" sz="2100" b="1" dirty="0">
                          <a:solidFill>
                            <a:srgbClr val="1F2328"/>
                          </a:solidFill>
                          <a:latin typeface="Calibri" pitchFamily="34" charset="0"/>
                          <a:ea typeface="Calibri" pitchFamily="34" charset="-122"/>
                          <a:cs typeface="Calibri" pitchFamily="34" charset="-120"/>
                        </a:rPr>
                        <a:t>sama</a:t>
                      </a:r>
                      <a:r>
                        <a:rPr lang="id-ID" altLang="en-US" sz="2100" dirty="0">
                          <a:solidFill>
                            <a:srgbClr val="1F2328"/>
                          </a:solidFill>
                          <a:latin typeface="Calibri" pitchFamily="34" charset="0"/>
                          <a:ea typeface="Calibri" pitchFamily="34" charset="-122"/>
                          <a:cs typeface="Calibri" pitchFamily="34" charset="-120"/>
                        </a:rPr>
                        <a:t> (atau ditambah di kelas anak)</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33628">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Daftar parameter</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b="1" dirty="0">
                          <a:solidFill>
                            <a:srgbClr val="1F2328"/>
                          </a:solidFill>
                          <a:latin typeface="Calibri" pitchFamily="34" charset="0"/>
                          <a:ea typeface="Calibri" pitchFamily="34" charset="-122"/>
                          <a:cs typeface="Calibri" pitchFamily="34" charset="-120"/>
                        </a:rPr>
                        <a:t>Sama</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b="1" dirty="0">
                          <a:solidFill>
                            <a:srgbClr val="1F2328"/>
                          </a:solidFill>
                          <a:latin typeface="Calibri" pitchFamily="34" charset="0"/>
                          <a:ea typeface="Calibri" pitchFamily="34" charset="-122"/>
                          <a:cs typeface="Calibri" pitchFamily="34" charset="-120"/>
                        </a:rPr>
                        <a:t>Berbeda</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33628">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Versi dipilih</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Saat program berjalan, berdasarkan </a:t>
                      </a:r>
                      <a:r>
                        <a:rPr lang="id-ID" altLang="en-US" sz="2100" b="1" dirty="0">
                          <a:solidFill>
                            <a:srgbClr val="1F2328"/>
                          </a:solidFill>
                          <a:latin typeface="Calibri" pitchFamily="34" charset="0"/>
                          <a:ea typeface="Calibri" pitchFamily="34" charset="-122"/>
                          <a:cs typeface="Calibri" pitchFamily="34" charset="-120"/>
                        </a:rPr>
                        <a:t>tipe objek</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Saat kompilasi, berdasarkan </a:t>
                      </a:r>
                      <a:r>
                        <a:rPr lang="id-ID" altLang="en-US" sz="2100" b="1" dirty="0">
                          <a:solidFill>
                            <a:srgbClr val="1F2328"/>
                          </a:solidFill>
                          <a:latin typeface="Calibri" pitchFamily="34" charset="0"/>
                          <a:ea typeface="Calibri" pitchFamily="34" charset="-122"/>
                          <a:cs typeface="Calibri" pitchFamily="34" charset="-120"/>
                        </a:rPr>
                        <a:t>tipe argumen</a:t>
                      </a:r>
                      <a:r>
                        <a:rPr lang="id-ID" altLang="en-US" sz="2100" dirty="0">
                          <a:solidFill>
                            <a:srgbClr val="1F2328"/>
                          </a:solidFill>
                          <a:latin typeface="Calibri" pitchFamily="34" charset="0"/>
                          <a:ea typeface="Calibri" pitchFamily="34" charset="-122"/>
                          <a:cs typeface="Calibri" pitchFamily="34" charset="-120"/>
                        </a:rPr>
                        <a:t> yang tertulis</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33628">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Tujuan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Mengganti perilaku untuk jenis yang lebih khusus</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Menyediakan beberapa cara memanggil satu kemampuan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33628">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Python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Ada</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Tidak ada; pakai nilai bawaan, argumen kata kunci, atau </a:t>
                      </a:r>
                      <a:r>
                        <a:rPr lang="id-ID" altLang="en-US" sz="2100" dirty="0">
                          <a:solidFill>
                            <a:srgbClr val="0A3069"/>
                          </a:solidFill>
                          <a:latin typeface="Consolas" pitchFamily="34" charset="0"/>
                          <a:ea typeface="Consolas" pitchFamily="34" charset="-122"/>
                          <a:cs typeface="Consolas" pitchFamily="34" charset="-120"/>
                        </a:rPr>
                        <a:t>*args</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1216152" y="2633472"/>
            <a:ext cx="722376" cy="722376"/>
          </a:xfrm>
          <a:prstGeom prst="rect">
            <a:avLst/>
          </a:prstGeom>
        </p:spPr>
      </p:pic>
      <p:sp>
        <p:nvSpPr>
          <p:cNvPr id="4" name="Text 1"/>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FB8F44"/>
                </a:solidFill>
              </a:rPr>
              <a:t>STUDI KASUS</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Studi Kasus KedaiKita</a:t>
            </a:r>
            <a:endParaRPr lang="id-ID" sz="4200" dirty="0"/>
          </a:p>
        </p:txBody>
      </p:sp>
      <p:sp>
        <p:nvSpPr>
          <p:cNvPr id="6" name="Text 3"/>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Satu </a:t>
            </a:r>
            <a:r>
              <a:rPr lang="id-ID" altLang="en-US" sz="2200" i="1" dirty="0">
                <a:solidFill>
                  <a:srgbClr val="C9D7E8"/>
                </a:solidFill>
              </a:rPr>
              <a:t>method</a:t>
            </a:r>
            <a:r>
              <a:rPr lang="id-ID" altLang="en-US" sz="2200" dirty="0">
                <a:solidFill>
                  <a:srgbClr val="C9D7E8"/>
                </a:solidFill>
              </a:rPr>
              <a:t> </a:t>
            </a:r>
            <a:r>
              <a:rPr lang="id-ID" altLang="en-US" sz="2200" dirty="0">
                <a:solidFill>
                  <a:srgbClr val="DDF4FF"/>
                </a:solidFill>
                <a:latin typeface="Consolas" pitchFamily="34" charset="0"/>
                <a:ea typeface="Consolas" pitchFamily="34" charset="-122"/>
                <a:cs typeface="Consolas" pitchFamily="34" charset="-120"/>
              </a:rPr>
              <a:t>bayar()</a:t>
            </a:r>
            <a:r>
              <a:rPr lang="id-ID" altLang="en-US" sz="2200" dirty="0">
                <a:solidFill>
                  <a:srgbClr val="C9D7E8"/>
                </a:solidFill>
              </a:rPr>
              <a:t> untuk tunai, QRIS, dan kartu kredit.</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Rancangan: </a:t>
            </a:r>
            <a:r>
              <a:rPr lang="id-ID" altLang="en-US" sz="3200" b="1" dirty="0">
                <a:solidFill>
                  <a:srgbClr val="0A3069"/>
                </a:solidFill>
                <a:latin typeface="Consolas" pitchFamily="34" charset="0"/>
                <a:ea typeface="Consolas" pitchFamily="34" charset="-122"/>
                <a:cs typeface="Consolas" pitchFamily="34" charset="-120"/>
              </a:rPr>
              <a:t>Pembayaran</a:t>
            </a:r>
            <a:r>
              <a:rPr lang="id-ID" altLang="en-US" sz="3200" b="1" dirty="0">
                <a:solidFill>
                  <a:srgbClr val="0A3069"/>
                </a:solidFill>
              </a:rPr>
              <a:t> dan Tiga Kelas Anak</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pic>
        <p:nvPicPr>
          <p:cNvPr id="7" name="Image 1" descr="Kotak anak hanya memuat tambahannya; ketiganya juga meng-override namaMetode() dan proses(total). Nama bergaya Java.">    </p:cNvPr>
          <p:cNvPicPr>
            <a:picLocks noChangeAspect="1"/>
          </p:cNvPicPr>
          <p:nvPr/>
        </p:nvPicPr>
        <p:blipFill>
          <a:blip r:embed="rId2"/>
          <a:stretch>
            <a:fillRect/>
          </a:stretch>
        </p:blipFill>
        <p:spPr>
          <a:xfrm>
            <a:off x="1877379" y="1417320"/>
            <a:ext cx="8436938" cy="4045204"/>
          </a:xfrm>
          <a:prstGeom prst="rect">
            <a:avLst/>
          </a:prstGeom>
        </p:spPr>
      </p:pic>
      <p:sp>
        <p:nvSpPr>
          <p:cNvPr id="8" name="Text 4"/>
          <p:cNvSpPr txBox="1"/>
          <p:nvPr/>
        </p:nvSpPr>
        <p:spPr>
          <a:xfrm>
            <a:off x="1005840" y="5572252"/>
            <a:ext cx="10180015" cy="691388"/>
          </a:xfrm>
          <a:prstGeom prst="rect">
            <a:avLst/>
          </a:prstGeom>
          <a:noFill/>
          <a:ln/>
        </p:spPr>
        <p:txBody>
          <a:bodyPr wrap="square" lIns="0" tIns="0" rIns="0" bIns="0" rtlCol="0" anchor="t"/>
          <a:lstStyle/>
          <a:p>
            <a:pPr algn="ctr" indent="0" marL="0">
              <a:buNone/>
            </a:pPr>
            <a:r>
              <a:rPr lang="id-ID" altLang="en-US" sz="1700" dirty="0">
                <a:solidFill>
                  <a:srgbClr val="57606A"/>
                </a:solidFill>
              </a:rPr>
              <a:t>Kotak anak hanya memuat tambahannya; ketiganya juga meng-⁠</a:t>
            </a:r>
            <a:r>
              <a:rPr lang="id-ID" altLang="en-US" sz="1700" i="1" dirty="0">
                <a:solidFill>
                  <a:srgbClr val="57606A"/>
                </a:solidFill>
              </a:rPr>
              <a:t>override</a:t>
            </a:r>
            <a:r>
              <a:rPr lang="id-ID" altLang="en-US" sz="1700" dirty="0">
                <a:solidFill>
                  <a:srgbClr val="57606A"/>
                </a:solidFill>
              </a:rPr>
              <a:t> </a:t>
            </a:r>
            <a:r>
              <a:rPr lang="id-ID" altLang="en-US" sz="1700" dirty="0">
                <a:solidFill>
                  <a:srgbClr val="57606A"/>
                </a:solidFill>
                <a:latin typeface="Consolas" pitchFamily="34" charset="0"/>
                <a:ea typeface="Consolas" pitchFamily="34" charset="-122"/>
                <a:cs typeface="Consolas" pitchFamily="34" charset="-120"/>
              </a:rPr>
              <a:t>namaMetode()</a:t>
            </a:r>
            <a:r>
              <a:rPr lang="id-ID" altLang="en-US" sz="1700" dirty="0">
                <a:solidFill>
                  <a:srgbClr val="57606A"/>
                </a:solidFill>
              </a:rPr>
              <a:t> dan </a:t>
            </a:r>
            <a:r>
              <a:rPr lang="id-ID" altLang="en-US" sz="1700" dirty="0">
                <a:solidFill>
                  <a:srgbClr val="57606A"/>
                </a:solidFill>
                <a:latin typeface="Consolas" pitchFamily="34" charset="0"/>
                <a:ea typeface="Consolas" pitchFamily="34" charset="-122"/>
                <a:cs typeface="Consolas" pitchFamily="34" charset="-120"/>
              </a:rPr>
              <a:t>proses(total)</a:t>
            </a:r>
            <a:r>
              <a:rPr lang="id-ID" altLang="en-US" sz="1700" dirty="0">
                <a:solidFill>
                  <a:srgbClr val="57606A"/>
                </a:solidFill>
              </a:rPr>
              <a:t>. Nama bergaya Java.</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latin typeface="Consolas" pitchFamily="34" charset="0"/>
                <a:ea typeface="Consolas" pitchFamily="34" charset="-122"/>
                <a:cs typeface="Consolas" pitchFamily="34" charset="-120"/>
              </a:rPr>
              <a:t>bayar()</a:t>
            </a:r>
            <a:r>
              <a:rPr lang="id-ID" altLang="en-US" sz="3200" b="1" dirty="0">
                <a:solidFill>
                  <a:srgbClr val="0A3069"/>
                </a:solidFill>
              </a:rPr>
              <a:t>: Tanpa Satu Pun Percabangan Jenis</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sp>
        <p:nvSpPr>
          <p:cNvPr id="7" name="Text 4"/>
          <p:cNvSpPr txBox="1"/>
          <p:nvPr/>
        </p:nvSpPr>
        <p:spPr>
          <a:xfrm>
            <a:off x="548640" y="1846326"/>
            <a:ext cx="11094415" cy="603504"/>
          </a:xfrm>
          <a:prstGeom prst="rect">
            <a:avLst/>
          </a:prstGeom>
          <a:noFill/>
          <a:ln/>
        </p:spPr>
        <p:txBody>
          <a:bodyPr wrap="square" lIns="0" tIns="0" rIns="0" bIns="0" rtlCol="0" anchor="t"/>
          <a:lstStyle/>
          <a:p>
            <a:pPr indent="0" marL="0">
              <a:buNone/>
            </a:pPr>
            <a:r>
              <a:rPr lang="id-ID" altLang="en-US" sz="1800" dirty="0">
                <a:solidFill>
                  <a:srgbClr val="57606A"/>
                </a:solidFill>
              </a:rPr>
              <a:t>Biaya layanan, nama metode, dan proses dijawab oleh objek pembayaran yang sebenarnya. Tidak ada </a:t>
            </a:r>
            <a:r>
              <a:rPr lang="id-ID" altLang="en-US" sz="1800" dirty="0">
                <a:solidFill>
                  <a:srgbClr val="0A3069"/>
                </a:solidFill>
                <a:latin typeface="Consolas" pitchFamily="34" charset="0"/>
                <a:ea typeface="Consolas" pitchFamily="34" charset="-122"/>
                <a:cs typeface="Consolas" pitchFamily="34" charset="-120"/>
              </a:rPr>
              <a:t>isinstance</a:t>
            </a:r>
            <a:r>
              <a:rPr lang="id-ID" altLang="en-US" sz="1800" dirty="0">
                <a:solidFill>
                  <a:srgbClr val="57606A"/>
                </a:solidFill>
              </a:rPr>
              <a:t>/</a:t>
            </a:r>
            <a:r>
              <a:rPr lang="id-ID" altLang="en-US" sz="1800" dirty="0">
                <a:solidFill>
                  <a:srgbClr val="0A3069"/>
                </a:solidFill>
                <a:latin typeface="Consolas" pitchFamily="34" charset="0"/>
                <a:ea typeface="Consolas" pitchFamily="34" charset="-122"/>
                <a:cs typeface="Consolas" pitchFamily="34" charset="-120"/>
              </a:rPr>
              <a:t>instanceof</a:t>
            </a:r>
            <a:r>
              <a:rPr lang="id-ID" altLang="en-US" sz="1800" dirty="0">
                <a:solidFill>
                  <a:srgbClr val="57606A"/>
                </a:solidFill>
              </a:rPr>
              <a:t>.</a:t>
            </a:r>
            <a:endParaRPr lang="id-ID" sz="1800" dirty="0"/>
          </a:p>
        </p:txBody>
      </p:sp>
      <p:sp>
        <p:nvSpPr>
          <p:cNvPr id="8" name="Shape 5"/>
          <p:cNvSpPr/>
          <p:nvPr/>
        </p:nvSpPr>
        <p:spPr>
          <a:xfrm>
            <a:off x="548640" y="2559558"/>
            <a:ext cx="1051560" cy="329184"/>
          </a:xfrm>
          <a:prstGeom prst="roundRect">
            <a:avLst>
              <a:gd name="adj" fmla="val 138889"/>
            </a:avLst>
          </a:prstGeom>
          <a:solidFill>
            <a:srgbClr val="3572A5"/>
          </a:solidFill>
          <a:ln/>
        </p:spPr>
      </p:sp>
      <p:sp>
        <p:nvSpPr>
          <p:cNvPr id="9" name="Text 6"/>
          <p:cNvSpPr txBox="1"/>
          <p:nvPr/>
        </p:nvSpPr>
        <p:spPr>
          <a:xfrm>
            <a:off x="548640" y="2559558"/>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10" name="Text 7"/>
          <p:cNvSpPr txBox="1"/>
          <p:nvPr/>
        </p:nvSpPr>
        <p:spPr>
          <a:xfrm>
            <a:off x="1737360" y="2559558"/>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python/studi-kasus/pesanan.py</a:t>
            </a:r>
            <a:endParaRPr lang="id-ID" sz="1100" dirty="0"/>
          </a:p>
        </p:txBody>
      </p:sp>
      <p:sp>
        <p:nvSpPr>
          <p:cNvPr id="11" name="Shape 8"/>
          <p:cNvSpPr/>
          <p:nvPr/>
        </p:nvSpPr>
        <p:spPr>
          <a:xfrm>
            <a:off x="548640" y="2980182"/>
            <a:ext cx="5432908" cy="2563876"/>
          </a:xfrm>
          <a:prstGeom prst="roundRect">
            <a:avLst>
              <a:gd name="adj" fmla="val 1272"/>
            </a:avLst>
          </a:prstGeom>
          <a:solidFill>
            <a:srgbClr val="F6F8FA"/>
          </a:solidFill>
          <a:ln w="9525">
            <a:solidFill>
              <a:srgbClr val="D0D7DE"/>
            </a:solidFill>
            <a:prstDash val="solid"/>
          </a:ln>
        </p:spPr>
      </p:sp>
      <p:sp>
        <p:nvSpPr>
          <p:cNvPr id="12" name="Text 9"/>
          <p:cNvSpPr txBox="1"/>
          <p:nvPr/>
        </p:nvSpPr>
        <p:spPr>
          <a:xfrm>
            <a:off x="658368" y="3071622"/>
            <a:ext cx="5213452" cy="2380996"/>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def</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bayar</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 pembayaran: Pembayaran) -&gt; </a:t>
            </a:r>
            <a:r>
              <a:rPr lang="en-US" altLang="en-US" sz="1100" dirty="0">
                <a:solidFill>
                  <a:srgbClr val="0550AE"/>
                </a:solidFill>
                <a:latin typeface="Consolas" pitchFamily="34" charset="0"/>
                <a:ea typeface="Consolas" pitchFamily="34" charset="-122"/>
                <a:cs typeface="Consolas" pitchFamily="34" charset="-120"/>
              </a:rPr>
              <a:t>bool</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A3069"/>
                </a:solidFill>
                <a:latin typeface="Consolas" pitchFamily="34" charset="0"/>
                <a:ea typeface="Consolas" pitchFamily="34" charset="-122"/>
                <a:cs typeface="Consolas" pitchFamily="34" charset="-120"/>
              </a:rPr>
              <a:t>"""Membayar pesanan dengan metode pembayaran apa pun."""</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total =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.hitung_total()</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biaya = pembayaran.hitung_biaya_layanan(total)</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total_bayar = total + biaya</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berhasil = pembayaran.proses(total_bayar)</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if</a:t>
            </a:r>
            <a:r>
              <a:rPr lang="en-US" altLang="en-US" sz="1100" dirty="0">
                <a:solidFill>
                  <a:srgbClr val="1F2328"/>
                </a:solidFill>
                <a:latin typeface="Consolas" pitchFamily="34" charset="0"/>
                <a:ea typeface="Consolas" pitchFamily="34" charset="-122"/>
                <a:cs typeface="Consolas" pitchFamily="34" charset="-120"/>
              </a:rPr>
              <a:t> berhasil:</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._status = </a:t>
            </a:r>
            <a:r>
              <a:rPr lang="en-US" altLang="en-US" sz="1100" dirty="0">
                <a:solidFill>
                  <a:srgbClr val="0A3069"/>
                </a:solidFill>
                <a:latin typeface="Consolas" pitchFamily="34" charset="0"/>
                <a:ea typeface="Consolas" pitchFamily="34" charset="-122"/>
                <a:cs typeface="Consolas" pitchFamily="34" charset="-120"/>
              </a:rPr>
              <a:t>"LUNAS"</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else</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return</a:t>
            </a:r>
            <a:r>
              <a:rPr lang="en-US" altLang="en-US" sz="1100" dirty="0">
                <a:solidFill>
                  <a:srgbClr val="1F2328"/>
                </a:solidFill>
                <a:latin typeface="Consolas" pitchFamily="34" charset="0"/>
                <a:ea typeface="Consolas" pitchFamily="34" charset="-122"/>
                <a:cs typeface="Consolas" pitchFamily="34" charset="-120"/>
              </a:rPr>
              <a:t> berhasil</a:t>
            </a:r>
            <a:endParaRPr lang="en-US" sz="1100" dirty="0"/>
          </a:p>
        </p:txBody>
      </p:sp>
      <p:sp>
        <p:nvSpPr>
          <p:cNvPr id="13" name="Shape 10"/>
          <p:cNvSpPr/>
          <p:nvPr/>
        </p:nvSpPr>
        <p:spPr>
          <a:xfrm>
            <a:off x="6210148" y="2559558"/>
            <a:ext cx="1051560" cy="329184"/>
          </a:xfrm>
          <a:prstGeom prst="roundRect">
            <a:avLst>
              <a:gd name="adj" fmla="val 138889"/>
            </a:avLst>
          </a:prstGeom>
          <a:solidFill>
            <a:srgbClr val="B07219"/>
          </a:solidFill>
          <a:ln/>
        </p:spPr>
      </p:sp>
      <p:sp>
        <p:nvSpPr>
          <p:cNvPr id="14" name="Text 11"/>
          <p:cNvSpPr txBox="1"/>
          <p:nvPr/>
        </p:nvSpPr>
        <p:spPr>
          <a:xfrm>
            <a:off x="6210148" y="2559558"/>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5" name="Text 12"/>
          <p:cNvSpPr txBox="1"/>
          <p:nvPr/>
        </p:nvSpPr>
        <p:spPr>
          <a:xfrm>
            <a:off x="7398868" y="2559558"/>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java/studi-kasus/Pesanan.java</a:t>
            </a:r>
            <a:endParaRPr lang="id-ID" sz="1100" dirty="0"/>
          </a:p>
        </p:txBody>
      </p:sp>
      <p:sp>
        <p:nvSpPr>
          <p:cNvPr id="16" name="Shape 13"/>
          <p:cNvSpPr/>
          <p:nvPr/>
        </p:nvSpPr>
        <p:spPr>
          <a:xfrm>
            <a:off x="6210148" y="2980182"/>
            <a:ext cx="5432908" cy="2563876"/>
          </a:xfrm>
          <a:prstGeom prst="roundRect">
            <a:avLst>
              <a:gd name="adj" fmla="val 1272"/>
            </a:avLst>
          </a:prstGeom>
          <a:solidFill>
            <a:srgbClr val="F6F8FA"/>
          </a:solidFill>
          <a:ln w="9525">
            <a:solidFill>
              <a:srgbClr val="D0D7DE"/>
            </a:solidFill>
            <a:prstDash val="solid"/>
          </a:ln>
        </p:spPr>
      </p:sp>
      <p:sp>
        <p:nvSpPr>
          <p:cNvPr id="17" name="Text 14"/>
          <p:cNvSpPr txBox="1"/>
          <p:nvPr/>
        </p:nvSpPr>
        <p:spPr>
          <a:xfrm>
            <a:off x="6319876" y="3071622"/>
            <a:ext cx="5213452" cy="2380996"/>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public</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boolean</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bayar</a:t>
            </a:r>
            <a:r>
              <a:rPr lang="en-US" altLang="en-US" sz="1100" dirty="0">
                <a:solidFill>
                  <a:srgbClr val="1F2328"/>
                </a:solidFill>
                <a:latin typeface="Consolas" pitchFamily="34" charset="0"/>
                <a:ea typeface="Consolas" pitchFamily="34" charset="-122"/>
                <a:cs typeface="Consolas" pitchFamily="34" charset="-120"/>
              </a:rPr>
              <a:t>(Pembayaran pembayaran)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 total = hitungTotal();</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 biaya = pembayaran.hitungBiayaLayanan(total);</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 totalBayar = total + biaya;</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boolean</a:t>
            </a:r>
            <a:r>
              <a:rPr lang="en-US" altLang="en-US" sz="1100" dirty="0">
                <a:solidFill>
                  <a:srgbClr val="1F2328"/>
                </a:solidFill>
                <a:latin typeface="Consolas" pitchFamily="34" charset="0"/>
                <a:ea typeface="Consolas" pitchFamily="34" charset="-122"/>
                <a:cs typeface="Consolas" pitchFamily="34" charset="-120"/>
              </a:rPr>
              <a:t> berhasil = pembayaran.proses(totalBayar);</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if</a:t>
            </a:r>
            <a:r>
              <a:rPr lang="en-US" altLang="en-US" sz="1100" dirty="0">
                <a:solidFill>
                  <a:srgbClr val="1F2328"/>
                </a:solidFill>
                <a:latin typeface="Consolas" pitchFamily="34" charset="0"/>
                <a:ea typeface="Consolas" pitchFamily="34" charset="-122"/>
                <a:cs typeface="Consolas" pitchFamily="34" charset="-120"/>
              </a:rPr>
              <a:t> (berhasil)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status = </a:t>
            </a:r>
            <a:r>
              <a:rPr lang="en-US" altLang="en-US" sz="1100" dirty="0">
                <a:solidFill>
                  <a:srgbClr val="0A3069"/>
                </a:solidFill>
                <a:latin typeface="Consolas" pitchFamily="34" charset="0"/>
                <a:ea typeface="Consolas" pitchFamily="34" charset="-122"/>
                <a:cs typeface="Consolas" pitchFamily="34" charset="-120"/>
              </a:rPr>
              <a:t>"LUNAS"</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 </a:t>
            </a:r>
            <a:r>
              <a:rPr lang="en-US" altLang="en-US" sz="1100" dirty="0">
                <a:solidFill>
                  <a:srgbClr val="CF222E"/>
                </a:solidFill>
                <a:latin typeface="Consolas" pitchFamily="34" charset="0"/>
                <a:ea typeface="Consolas" pitchFamily="34" charset="-122"/>
                <a:cs typeface="Consolas" pitchFamily="34" charset="-120"/>
              </a:rPr>
              <a:t>else</a:t>
            </a: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return</a:t>
            </a:r>
            <a:r>
              <a:rPr lang="en-US" altLang="en-US" sz="1100" dirty="0">
                <a:solidFill>
                  <a:srgbClr val="1F2328"/>
                </a:solidFill>
                <a:latin typeface="Consolas" pitchFamily="34" charset="0"/>
                <a:ea typeface="Consolas" pitchFamily="34" charset="-122"/>
                <a:cs typeface="Consolas" pitchFamily="34" charset="-120"/>
              </a:rPr>
              <a:t> berhasil;</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Pesan Satu Porsi: Nilai Bawaan dan </a:t>
            </a:r>
            <a:r>
              <a:rPr lang="id-ID" altLang="en-US" sz="3200" b="1" i="1" dirty="0">
                <a:solidFill>
                  <a:srgbClr val="0A3069"/>
                </a:solidFill>
              </a:rPr>
              <a:t>Overloading</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sp>
        <p:nvSpPr>
          <p:cNvPr id="7" name="Text 4"/>
          <p:cNvSpPr txBox="1"/>
          <p:nvPr/>
        </p:nvSpPr>
        <p:spPr>
          <a:xfrm>
            <a:off x="548640" y="2107532"/>
            <a:ext cx="11094415" cy="603504"/>
          </a:xfrm>
          <a:prstGeom prst="rect">
            <a:avLst/>
          </a:prstGeom>
          <a:noFill/>
          <a:ln/>
        </p:spPr>
        <p:txBody>
          <a:bodyPr wrap="square" lIns="0" tIns="0" rIns="0" bIns="0" rtlCol="0" anchor="t"/>
          <a:lstStyle/>
          <a:p>
            <a:pPr indent="0" marL="0">
              <a:buNone/>
            </a:pPr>
            <a:r>
              <a:rPr lang="id-ID" altLang="en-US" sz="1800" dirty="0">
                <a:solidFill>
                  <a:srgbClr val="57606A"/>
                </a:solidFill>
              </a:rPr>
              <a:t>Memanggil </a:t>
            </a:r>
            <a:r>
              <a:rPr lang="id-ID" altLang="en-US" sz="1800" dirty="0">
                <a:solidFill>
                  <a:srgbClr val="0A3069"/>
                </a:solidFill>
                <a:latin typeface="Consolas" pitchFamily="34" charset="0"/>
                <a:ea typeface="Consolas" pitchFamily="34" charset="-122"/>
                <a:cs typeface="Consolas" pitchFamily="34" charset="-120"/>
              </a:rPr>
              <a:t>tambah_item(menu)</a:t>
            </a:r>
            <a:r>
              <a:rPr lang="id-ID" altLang="en-US" sz="1800" dirty="0">
                <a:solidFill>
                  <a:srgbClr val="57606A"/>
                </a:solidFill>
              </a:rPr>
              <a:t>/</a:t>
            </a:r>
            <a:r>
              <a:rPr lang="id-ID" altLang="en-US" sz="1800" dirty="0">
                <a:solidFill>
                  <a:srgbClr val="0A3069"/>
                </a:solidFill>
                <a:latin typeface="Consolas" pitchFamily="34" charset="0"/>
                <a:ea typeface="Consolas" pitchFamily="34" charset="-122"/>
                <a:cs typeface="Consolas" pitchFamily="34" charset="-120"/>
              </a:rPr>
              <a:t>tambahItem(menu)</a:t>
            </a:r>
            <a:r>
              <a:rPr lang="id-ID" altLang="en-US" sz="1800" dirty="0">
                <a:solidFill>
                  <a:srgbClr val="57606A"/>
                </a:solidFill>
              </a:rPr>
              <a:t> tanpa jumlah berarti 1 porsi. Python memakai nilai bawaan, Java memakai </a:t>
            </a:r>
            <a:r>
              <a:rPr lang="id-ID" altLang="en-US" sz="1800" i="1" dirty="0">
                <a:solidFill>
                  <a:srgbClr val="57606A"/>
                </a:solidFill>
              </a:rPr>
              <a:t>overloading</a:t>
            </a:r>
            <a:r>
              <a:rPr lang="id-ID" altLang="en-US" sz="1800" dirty="0">
                <a:solidFill>
                  <a:srgbClr val="57606A"/>
                </a:solidFill>
              </a:rPr>
              <a:t>.</a:t>
            </a:r>
            <a:endParaRPr lang="id-ID" sz="1800" dirty="0"/>
          </a:p>
        </p:txBody>
      </p:sp>
      <p:sp>
        <p:nvSpPr>
          <p:cNvPr id="8" name="Shape 5"/>
          <p:cNvSpPr/>
          <p:nvPr/>
        </p:nvSpPr>
        <p:spPr>
          <a:xfrm>
            <a:off x="548640" y="2820764"/>
            <a:ext cx="1051560" cy="329184"/>
          </a:xfrm>
          <a:prstGeom prst="roundRect">
            <a:avLst>
              <a:gd name="adj" fmla="val 138889"/>
            </a:avLst>
          </a:prstGeom>
          <a:solidFill>
            <a:srgbClr val="3572A5"/>
          </a:solidFill>
          <a:ln/>
        </p:spPr>
      </p:sp>
      <p:sp>
        <p:nvSpPr>
          <p:cNvPr id="9" name="Text 6"/>
          <p:cNvSpPr txBox="1"/>
          <p:nvPr/>
        </p:nvSpPr>
        <p:spPr>
          <a:xfrm>
            <a:off x="548640" y="2820764"/>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10" name="Text 7"/>
          <p:cNvSpPr txBox="1"/>
          <p:nvPr/>
        </p:nvSpPr>
        <p:spPr>
          <a:xfrm>
            <a:off x="1737360" y="2820764"/>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python/studi-kasus/pesanan.py</a:t>
            </a:r>
            <a:endParaRPr lang="id-ID" sz="1100" dirty="0"/>
          </a:p>
        </p:txBody>
      </p:sp>
      <p:sp>
        <p:nvSpPr>
          <p:cNvPr id="11" name="Shape 8"/>
          <p:cNvSpPr/>
          <p:nvPr/>
        </p:nvSpPr>
        <p:spPr>
          <a:xfrm>
            <a:off x="548640" y="3241388"/>
            <a:ext cx="5432908" cy="1941957"/>
          </a:xfrm>
          <a:prstGeom prst="roundRect">
            <a:avLst>
              <a:gd name="adj" fmla="val 2217"/>
            </a:avLst>
          </a:prstGeom>
          <a:solidFill>
            <a:srgbClr val="F6F8FA"/>
          </a:solidFill>
          <a:ln w="9525">
            <a:solidFill>
              <a:srgbClr val="D0D7DE"/>
            </a:solidFill>
            <a:prstDash val="solid"/>
          </a:ln>
        </p:spPr>
      </p:sp>
      <p:sp>
        <p:nvSpPr>
          <p:cNvPr id="12" name="Text 9"/>
          <p:cNvSpPr txBox="1"/>
          <p:nvPr/>
        </p:nvSpPr>
        <p:spPr>
          <a:xfrm>
            <a:off x="658368" y="3332828"/>
            <a:ext cx="5213452" cy="1759077"/>
          </a:xfrm>
          <a:prstGeom prst="rect">
            <a:avLst/>
          </a:prstGeom>
          <a:noFill/>
          <a:ln/>
        </p:spPr>
        <p:txBody>
          <a:bodyPr wrap="square" lIns="0" tIns="0" rIns="0" bIns="0" rtlCol="0" anchor="t"/>
          <a:lstStyle/>
          <a:p>
            <a:pPr indent="0" marL="0">
              <a:buNone/>
            </a:pPr>
            <a:r>
              <a:rPr lang="en-US" altLang="en-US" sz="1250" dirty="0">
                <a:solidFill>
                  <a:srgbClr val="CF222E"/>
                </a:solidFill>
                <a:latin typeface="Consolas" pitchFamily="34" charset="0"/>
                <a:ea typeface="Consolas" pitchFamily="34" charset="-122"/>
                <a:cs typeface="Consolas" pitchFamily="34" charset="-120"/>
              </a:rPr>
              <a:t>def</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8250DF"/>
                </a:solidFill>
                <a:latin typeface="Consolas" pitchFamily="34" charset="0"/>
                <a:ea typeface="Consolas" pitchFamily="34" charset="-122"/>
                <a:cs typeface="Consolas" pitchFamily="34" charset="-120"/>
              </a:rPr>
              <a:t>tambah_item</a:t>
            </a:r>
            <a:r>
              <a:rPr lang="en-US" altLang="en-US" sz="1250" dirty="0">
                <a:solidFill>
                  <a:srgbClr val="1F2328"/>
                </a:solidFill>
                <a:latin typeface="Consolas" pitchFamily="34" charset="0"/>
                <a:ea typeface="Consolas" pitchFamily="34" charset="-122"/>
                <a:cs typeface="Consolas" pitchFamily="34" charset="-120"/>
              </a:rPr>
              <a:t>(</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 menu: Menu, jumlah: </a:t>
            </a:r>
            <a:r>
              <a:rPr lang="en-US" altLang="en-US" sz="1250" dirty="0">
                <a:solidFill>
                  <a:srgbClr val="0550AE"/>
                </a:solidFill>
                <a:latin typeface="Consolas" pitchFamily="34" charset="0"/>
                <a:ea typeface="Consolas" pitchFamily="34" charset="-122"/>
                <a:cs typeface="Consolas" pitchFamily="34" charset="-120"/>
              </a:rPr>
              <a:t>int</a:t>
            </a:r>
            <a:r>
              <a:rPr lang="en-US" altLang="en-US" sz="1250" dirty="0">
                <a:solidFill>
                  <a:srgbClr val="1F2328"/>
                </a:solidFill>
                <a:latin typeface="Consolas" pitchFamily="34" charset="0"/>
                <a:ea typeface="Consolas" pitchFamily="34" charset="-122"/>
                <a:cs typeface="Consolas" pitchFamily="34" charset="-120"/>
              </a:rPr>
              <a:t> = </a:t>
            </a:r>
            <a:r>
              <a:rPr lang="en-US" altLang="en-US" sz="1250" dirty="0">
                <a:solidFill>
                  <a:srgbClr val="0550AE"/>
                </a:solidFill>
                <a:latin typeface="Consolas" pitchFamily="34" charset="0"/>
                <a:ea typeface="Consolas" pitchFamily="34" charset="-122"/>
                <a:cs typeface="Consolas" pitchFamily="34" charset="-120"/>
              </a:rPr>
              <a:t>1</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item = ItemPesanan(menu, jumlah)</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menu.kurangi_stok(jumlah)</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._daftar_item.append(item)</a:t>
            </a:r>
            <a:endParaRPr lang="en-US" sz="1250" dirty="0"/>
          </a:p>
        </p:txBody>
      </p:sp>
      <p:sp>
        <p:nvSpPr>
          <p:cNvPr id="13" name="Shape 10"/>
          <p:cNvSpPr/>
          <p:nvPr/>
        </p:nvSpPr>
        <p:spPr>
          <a:xfrm>
            <a:off x="6210148" y="2820764"/>
            <a:ext cx="1051560" cy="329184"/>
          </a:xfrm>
          <a:prstGeom prst="roundRect">
            <a:avLst>
              <a:gd name="adj" fmla="val 138889"/>
            </a:avLst>
          </a:prstGeom>
          <a:solidFill>
            <a:srgbClr val="B07219"/>
          </a:solidFill>
          <a:ln/>
        </p:spPr>
      </p:sp>
      <p:sp>
        <p:nvSpPr>
          <p:cNvPr id="14" name="Text 11"/>
          <p:cNvSpPr txBox="1"/>
          <p:nvPr/>
        </p:nvSpPr>
        <p:spPr>
          <a:xfrm>
            <a:off x="6210148" y="2820764"/>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5" name="Text 12"/>
          <p:cNvSpPr txBox="1"/>
          <p:nvPr/>
        </p:nvSpPr>
        <p:spPr>
          <a:xfrm>
            <a:off x="7398868" y="2820764"/>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java/studi-kasus/Pesanan.java</a:t>
            </a:r>
            <a:endParaRPr lang="id-ID" sz="1100" dirty="0"/>
          </a:p>
        </p:txBody>
      </p:sp>
      <p:sp>
        <p:nvSpPr>
          <p:cNvPr id="16" name="Shape 13"/>
          <p:cNvSpPr/>
          <p:nvPr/>
        </p:nvSpPr>
        <p:spPr>
          <a:xfrm>
            <a:off x="6210148" y="3241388"/>
            <a:ext cx="5432908" cy="1941957"/>
          </a:xfrm>
          <a:prstGeom prst="roundRect">
            <a:avLst>
              <a:gd name="adj" fmla="val 2217"/>
            </a:avLst>
          </a:prstGeom>
          <a:solidFill>
            <a:srgbClr val="F6F8FA"/>
          </a:solidFill>
          <a:ln w="9525">
            <a:solidFill>
              <a:srgbClr val="D0D7DE"/>
            </a:solidFill>
            <a:prstDash val="solid"/>
          </a:ln>
        </p:spPr>
      </p:sp>
      <p:sp>
        <p:nvSpPr>
          <p:cNvPr id="17" name="Text 14"/>
          <p:cNvSpPr txBox="1"/>
          <p:nvPr/>
        </p:nvSpPr>
        <p:spPr>
          <a:xfrm>
            <a:off x="6319876" y="3332828"/>
            <a:ext cx="5213452" cy="1759077"/>
          </a:xfrm>
          <a:prstGeom prst="rect">
            <a:avLst/>
          </a:prstGeom>
          <a:noFill/>
          <a:ln/>
        </p:spPr>
        <p:txBody>
          <a:bodyPr wrap="square" lIns="0" tIns="0" rIns="0" bIns="0" rtlCol="0" anchor="t"/>
          <a:lstStyle/>
          <a:p>
            <a:pPr indent="0" marL="0">
              <a:buNone/>
            </a:pPr>
            <a:r>
              <a:rPr lang="en-US" altLang="en-US" sz="1250" dirty="0">
                <a:solidFill>
                  <a:srgbClr val="CF222E"/>
                </a:solidFill>
                <a:latin typeface="Consolas" pitchFamily="34" charset="0"/>
                <a:ea typeface="Consolas" pitchFamily="34" charset="-122"/>
                <a:cs typeface="Consolas" pitchFamily="34" charset="-120"/>
              </a:rPr>
              <a:t>public</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void</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8250DF"/>
                </a:solidFill>
                <a:latin typeface="Consolas" pitchFamily="34" charset="0"/>
                <a:ea typeface="Consolas" pitchFamily="34" charset="-122"/>
                <a:cs typeface="Consolas" pitchFamily="34" charset="-120"/>
              </a:rPr>
              <a:t>tambahItem</a:t>
            </a:r>
            <a:r>
              <a:rPr lang="en-US" altLang="en-US" sz="1250" dirty="0">
                <a:solidFill>
                  <a:srgbClr val="1F2328"/>
                </a:solidFill>
                <a:latin typeface="Consolas" pitchFamily="34" charset="0"/>
                <a:ea typeface="Consolas" pitchFamily="34" charset="-122"/>
                <a:cs typeface="Consolas" pitchFamily="34" charset="-120"/>
              </a:rPr>
              <a:t>(Menu menu, </a:t>
            </a:r>
            <a:r>
              <a:rPr lang="en-US" altLang="en-US" sz="1250" dirty="0">
                <a:solidFill>
                  <a:srgbClr val="CF222E"/>
                </a:solidFill>
                <a:latin typeface="Consolas" pitchFamily="34" charset="0"/>
                <a:ea typeface="Consolas" pitchFamily="34" charset="-122"/>
                <a:cs typeface="Consolas" pitchFamily="34" charset="-120"/>
              </a:rPr>
              <a:t>int</a:t>
            </a:r>
            <a:r>
              <a:rPr lang="en-US" altLang="en-US" sz="1250" dirty="0">
                <a:solidFill>
                  <a:srgbClr val="1F2328"/>
                </a:solidFill>
                <a:latin typeface="Consolas" pitchFamily="34" charset="0"/>
                <a:ea typeface="Consolas" pitchFamily="34" charset="-122"/>
                <a:cs typeface="Consolas" pitchFamily="34" charset="-120"/>
              </a:rPr>
              <a:t> jumlah)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ItemPesanan item = </a:t>
            </a:r>
            <a:r>
              <a:rPr lang="en-US" altLang="en-US" sz="1250" dirty="0">
                <a:solidFill>
                  <a:srgbClr val="CF222E"/>
                </a:solidFill>
                <a:latin typeface="Consolas" pitchFamily="34" charset="0"/>
                <a:ea typeface="Consolas" pitchFamily="34" charset="-122"/>
                <a:cs typeface="Consolas" pitchFamily="34" charset="-120"/>
              </a:rPr>
              <a:t>new</a:t>
            </a:r>
            <a:r>
              <a:rPr lang="en-US" altLang="en-US" sz="1250" dirty="0">
                <a:solidFill>
                  <a:srgbClr val="1F2328"/>
                </a:solidFill>
                <a:latin typeface="Consolas" pitchFamily="34" charset="0"/>
                <a:ea typeface="Consolas" pitchFamily="34" charset="-122"/>
                <a:cs typeface="Consolas" pitchFamily="34" charset="-120"/>
              </a:rPr>
              <a:t> ItemPesanan(menu, jumlah);</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menu.kurangiStok(jumlah);</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daftarItem.add(item);</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i="1" dirty="0">
                <a:solidFill>
                  <a:srgbClr val="6E7781"/>
                </a:solidFill>
                <a:latin typeface="Consolas" pitchFamily="34" charset="0"/>
                <a:ea typeface="Consolas" pitchFamily="34" charset="-122"/>
                <a:cs typeface="Consolas" pitchFamily="34" charset="-120"/>
              </a:rPr>
              <a:t>// ... (dilewati)</a:t>
            </a:r>
            <a:endParaRPr lang="en-US" sz="1250" dirty="0"/>
          </a:p>
          <a:p>
            <a:pPr indent="0" marL="0">
              <a:buNone/>
            </a:pPr>
            <a:r>
              <a:rPr lang="en-US" altLang="en-US" sz="1250" dirty="0">
                <a:solidFill>
                  <a:srgbClr val="CF222E"/>
                </a:solidFill>
                <a:latin typeface="Consolas" pitchFamily="34" charset="0"/>
                <a:ea typeface="Consolas" pitchFamily="34" charset="-122"/>
                <a:cs typeface="Consolas" pitchFamily="34" charset="-120"/>
              </a:rPr>
              <a:t>public</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void</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8250DF"/>
                </a:solidFill>
                <a:latin typeface="Consolas" pitchFamily="34" charset="0"/>
                <a:ea typeface="Consolas" pitchFamily="34" charset="-122"/>
                <a:cs typeface="Consolas" pitchFamily="34" charset="-120"/>
              </a:rPr>
              <a:t>tambahItem</a:t>
            </a:r>
            <a:r>
              <a:rPr lang="en-US" altLang="en-US" sz="1250" dirty="0">
                <a:solidFill>
                  <a:srgbClr val="1F2328"/>
                </a:solidFill>
                <a:latin typeface="Consolas" pitchFamily="34" charset="0"/>
                <a:ea typeface="Consolas" pitchFamily="34" charset="-122"/>
                <a:cs typeface="Consolas" pitchFamily="34" charset="-120"/>
              </a:rPr>
              <a:t>(Menu menu)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tambahItem(menu, </a:t>
            </a:r>
            <a:r>
              <a:rPr lang="en-US" altLang="en-US" sz="1250" dirty="0">
                <a:solidFill>
                  <a:srgbClr val="0550AE"/>
                </a:solidFill>
                <a:latin typeface="Consolas" pitchFamily="34" charset="0"/>
                <a:ea typeface="Consolas" pitchFamily="34" charset="-122"/>
                <a:cs typeface="Consolas" pitchFamily="34" charset="-120"/>
              </a:rPr>
              <a:t>1</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a:t>
            </a:r>
            <a:endParaRPr lang="en-US" sz="12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F222E"/>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Miskonsepsi yang Sering Terjadi</a:t>
            </a:r>
            <a:endParaRPr lang="id-ID" sz="3200" dirty="0"/>
          </a:p>
        </p:txBody>
      </p:sp>
      <p:sp>
        <p:nvSpPr>
          <p:cNvPr id="5" name="Shape 2"/>
          <p:cNvSpPr/>
          <p:nvPr/>
        </p:nvSpPr>
        <p:spPr>
          <a:xfrm>
            <a:off x="548640" y="1589181"/>
            <a:ext cx="329184" cy="329184"/>
          </a:xfrm>
          <a:prstGeom prst="ellipse">
            <a:avLst/>
          </a:prstGeom>
          <a:solidFill>
            <a:srgbClr val="CF222E"/>
          </a:solidFill>
          <a:ln/>
        </p:spPr>
      </p:sp>
      <p:pic>
        <p:nvPicPr>
          <p:cNvPr id="6" name="Image 1" descr="preencoded.png">    </p:cNvPr>
          <p:cNvPicPr>
            <a:picLocks noChangeAspect="1"/>
          </p:cNvPicPr>
          <p:nvPr/>
        </p:nvPicPr>
        <p:blipFill>
          <a:blip r:embed="rId2"/>
          <a:stretch>
            <a:fillRect/>
          </a:stretch>
        </p:blipFill>
        <p:spPr>
          <a:xfrm>
            <a:off x="621060" y="1661602"/>
            <a:ext cx="184343" cy="184343"/>
          </a:xfrm>
          <a:prstGeom prst="rect">
            <a:avLst/>
          </a:prstGeom>
        </p:spPr>
      </p:pic>
      <p:sp>
        <p:nvSpPr>
          <p:cNvPr id="7" name="Text 3"/>
          <p:cNvSpPr txBox="1"/>
          <p:nvPr/>
        </p:nvSpPr>
        <p:spPr>
          <a:xfrm>
            <a:off x="987552" y="1589181"/>
            <a:ext cx="3886200" cy="329184"/>
          </a:xfrm>
          <a:prstGeom prst="rect">
            <a:avLst/>
          </a:prstGeom>
          <a:noFill/>
          <a:ln/>
        </p:spPr>
        <p:txBody>
          <a:bodyPr wrap="square" lIns="0" tIns="0" rIns="0" bIns="0" rtlCol="0" anchor="ctr"/>
          <a:lstStyle/>
          <a:p>
            <a:pPr indent="0" marL="0">
              <a:buNone/>
            </a:pPr>
            <a:r>
              <a:rPr lang="id-ID" altLang="en-US" sz="1600" b="1" dirty="0">
                <a:solidFill>
                  <a:srgbClr val="CF222E"/>
                </a:solidFill>
              </a:rPr>
              <a:t>Anggapan keliru</a:t>
            </a:r>
            <a:endParaRPr lang="id-ID" sz="1600" dirty="0"/>
          </a:p>
        </p:txBody>
      </p:sp>
      <p:sp>
        <p:nvSpPr>
          <p:cNvPr id="8" name="Shape 4"/>
          <p:cNvSpPr/>
          <p:nvPr/>
        </p:nvSpPr>
        <p:spPr>
          <a:xfrm>
            <a:off x="5166360" y="1589181"/>
            <a:ext cx="329184" cy="329184"/>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5238780" y="1661602"/>
            <a:ext cx="184343" cy="184343"/>
          </a:xfrm>
          <a:prstGeom prst="rect">
            <a:avLst/>
          </a:prstGeom>
        </p:spPr>
      </p:pic>
      <p:sp>
        <p:nvSpPr>
          <p:cNvPr id="10" name="Text 5"/>
          <p:cNvSpPr txBox="1"/>
          <p:nvPr/>
        </p:nvSpPr>
        <p:spPr>
          <a:xfrm>
            <a:off x="5605272" y="1589181"/>
            <a:ext cx="6019495" cy="329184"/>
          </a:xfrm>
          <a:prstGeom prst="rect">
            <a:avLst/>
          </a:prstGeom>
          <a:noFill/>
          <a:ln/>
        </p:spPr>
        <p:txBody>
          <a:bodyPr wrap="square" lIns="0" tIns="0" rIns="0" bIns="0" rtlCol="0" anchor="ctr"/>
          <a:lstStyle/>
          <a:p>
            <a:pPr indent="0" marL="0">
              <a:buNone/>
            </a:pPr>
            <a:r>
              <a:rPr lang="id-ID" altLang="en-US" sz="1600" b="1" dirty="0">
                <a:solidFill>
                  <a:srgbClr val="1A7F37"/>
                </a:solidFill>
              </a:rPr>
              <a:t>Yang benar</a:t>
            </a:r>
            <a:endParaRPr lang="id-ID" sz="1600" dirty="0"/>
          </a:p>
        </p:txBody>
      </p:sp>
      <p:sp>
        <p:nvSpPr>
          <p:cNvPr id="11" name="Shape 6"/>
          <p:cNvSpPr/>
          <p:nvPr/>
        </p:nvSpPr>
        <p:spPr>
          <a:xfrm>
            <a:off x="548640" y="2092101"/>
            <a:ext cx="4343400" cy="1155954"/>
          </a:xfrm>
          <a:prstGeom prst="roundRect">
            <a:avLst>
              <a:gd name="adj" fmla="val 7509"/>
            </a:avLst>
          </a:prstGeom>
          <a:solidFill>
            <a:srgbClr val="FFEBE9"/>
          </a:solidFill>
          <a:ln w="9525">
            <a:solidFill>
              <a:srgbClr val="FF8182"/>
            </a:solidFill>
            <a:prstDash val="solid"/>
          </a:ln>
        </p:spPr>
      </p:sp>
      <p:sp>
        <p:nvSpPr>
          <p:cNvPr id="12" name="Text 7"/>
          <p:cNvSpPr txBox="1"/>
          <p:nvPr/>
        </p:nvSpPr>
        <p:spPr>
          <a:xfrm>
            <a:off x="777240" y="2274981"/>
            <a:ext cx="3886200" cy="881634"/>
          </a:xfrm>
          <a:prstGeom prst="rect">
            <a:avLst/>
          </a:prstGeom>
          <a:noFill/>
          <a:ln/>
        </p:spPr>
        <p:txBody>
          <a:bodyPr wrap="square" lIns="0" tIns="0" rIns="0" bIns="0" rtlCol="0" anchor="t"/>
          <a:lstStyle/>
          <a:p>
            <a:pPr indent="0" marL="0">
              <a:buNone/>
            </a:pPr>
            <a:r>
              <a:rPr lang="id-ID" altLang="en-US" sz="1700" dirty="0">
                <a:solidFill>
                  <a:srgbClr val="1F2328"/>
                </a:solidFill>
              </a:rPr>
              <a:t>“Polimorfisme butuh percabangan </a:t>
            </a:r>
            <a:r>
              <a:rPr lang="id-ID" altLang="en-US" sz="1700" dirty="0">
                <a:solidFill>
                  <a:srgbClr val="1F2328"/>
                </a:solidFill>
                <a:latin typeface="Consolas" pitchFamily="34" charset="0"/>
                <a:ea typeface="Consolas" pitchFamily="34" charset="-122"/>
                <a:cs typeface="Consolas" pitchFamily="34" charset="-120"/>
              </a:rPr>
              <a:t>if</a:t>
            </a:r>
            <a:r>
              <a:rPr lang="id-ID" altLang="en-US" sz="1700" dirty="0">
                <a:solidFill>
                  <a:srgbClr val="1F2328"/>
                </a:solidFill>
              </a:rPr>
              <a:t>/</a:t>
            </a:r>
            <a:r>
              <a:rPr lang="id-ID" altLang="en-US" sz="1700" dirty="0">
                <a:solidFill>
                  <a:srgbClr val="1F2328"/>
                </a:solidFill>
                <a:latin typeface="Consolas" pitchFamily="34" charset="0"/>
                <a:ea typeface="Consolas" pitchFamily="34" charset="-122"/>
                <a:cs typeface="Consolas" pitchFamily="34" charset="-120"/>
              </a:rPr>
              <a:t>else</a:t>
            </a:r>
            <a:r>
              <a:rPr lang="id-ID" altLang="en-US" sz="1700" dirty="0">
                <a:solidFill>
                  <a:srgbClr val="1F2328"/>
                </a:solidFill>
              </a:rPr>
              <a:t> untuk memilih versi </a:t>
            </a:r>
            <a:r>
              <a:rPr lang="id-ID" altLang="en-US" sz="1700" i="1" dirty="0">
                <a:solidFill>
                  <a:srgbClr val="1F2328"/>
                </a:solidFill>
              </a:rPr>
              <a:t>method</a:t>
            </a:r>
            <a:r>
              <a:rPr lang="id-ID" altLang="en-US" sz="1700" dirty="0">
                <a:solidFill>
                  <a:srgbClr val="1F2328"/>
                </a:solidFill>
              </a:rPr>
              <a:t> yang tepat.”</a:t>
            </a:r>
            <a:endParaRPr lang="id-ID" sz="1700" dirty="0"/>
          </a:p>
        </p:txBody>
      </p:sp>
      <p:sp>
        <p:nvSpPr>
          <p:cNvPr id="13" name="Shape 8"/>
          <p:cNvSpPr/>
          <p:nvPr/>
        </p:nvSpPr>
        <p:spPr>
          <a:xfrm>
            <a:off x="5166360" y="2092101"/>
            <a:ext cx="6476695" cy="1155954"/>
          </a:xfrm>
          <a:prstGeom prst="roundRect">
            <a:avLst>
              <a:gd name="adj" fmla="val 7509"/>
            </a:avLst>
          </a:prstGeom>
          <a:solidFill>
            <a:srgbClr val="DAFBE1"/>
          </a:solidFill>
          <a:ln w="9525">
            <a:solidFill>
              <a:srgbClr val="4AC26B"/>
            </a:solidFill>
            <a:prstDash val="solid"/>
          </a:ln>
        </p:spPr>
      </p:sp>
      <p:sp>
        <p:nvSpPr>
          <p:cNvPr id="14" name="Text 9"/>
          <p:cNvSpPr txBox="1"/>
          <p:nvPr/>
        </p:nvSpPr>
        <p:spPr>
          <a:xfrm>
            <a:off x="5394960" y="2274981"/>
            <a:ext cx="6019495" cy="881634"/>
          </a:xfrm>
          <a:prstGeom prst="rect">
            <a:avLst/>
          </a:prstGeom>
          <a:noFill/>
          <a:ln/>
        </p:spPr>
        <p:txBody>
          <a:bodyPr wrap="square" lIns="0" tIns="0" rIns="0" bIns="0" rtlCol="0" anchor="t"/>
          <a:lstStyle/>
          <a:p>
            <a:pPr indent="0" marL="0">
              <a:buNone/>
            </a:pPr>
            <a:r>
              <a:rPr lang="id-ID" altLang="en-US" sz="1700" dirty="0">
                <a:solidFill>
                  <a:srgbClr val="1F2328"/>
                </a:solidFill>
              </a:rPr>
              <a:t>Justru sebaliknya: polimorfisme </a:t>
            </a:r>
            <a:r>
              <a:rPr lang="id-ID" altLang="en-US" sz="1700" b="1" dirty="0">
                <a:solidFill>
                  <a:srgbClr val="1F2328"/>
                </a:solidFill>
              </a:rPr>
              <a:t>menggantikan</a:t>
            </a:r>
            <a:r>
              <a:rPr lang="id-ID" altLang="en-US" sz="1700" dirty="0">
                <a:solidFill>
                  <a:srgbClr val="1F2328"/>
                </a:solidFill>
              </a:rPr>
              <a:t> percabangan berdasarkan jenis. Pemilihan versi dikerjakan otomatis oleh </a:t>
            </a:r>
            <a:r>
              <a:rPr lang="id-ID" altLang="en-US" sz="1700" i="1" dirty="0">
                <a:solidFill>
                  <a:srgbClr val="1F2328"/>
                </a:solidFill>
              </a:rPr>
              <a:t>dynamic dispatch</a:t>
            </a:r>
            <a:r>
              <a:rPr lang="id-ID" altLang="en-US" sz="1700" dirty="0">
                <a:solidFill>
                  <a:srgbClr val="1F2328"/>
                </a:solidFill>
              </a:rPr>
              <a:t>.</a:t>
            </a:r>
            <a:endParaRPr lang="id-ID" sz="1700" dirty="0"/>
          </a:p>
        </p:txBody>
      </p:sp>
      <p:sp>
        <p:nvSpPr>
          <p:cNvPr id="15" name="Shape 10"/>
          <p:cNvSpPr/>
          <p:nvPr/>
        </p:nvSpPr>
        <p:spPr>
          <a:xfrm>
            <a:off x="548640" y="3449223"/>
            <a:ext cx="4343400" cy="1155954"/>
          </a:xfrm>
          <a:prstGeom prst="roundRect">
            <a:avLst>
              <a:gd name="adj" fmla="val 7509"/>
            </a:avLst>
          </a:prstGeom>
          <a:solidFill>
            <a:srgbClr val="FFEBE9"/>
          </a:solidFill>
          <a:ln w="9525">
            <a:solidFill>
              <a:srgbClr val="FF8182"/>
            </a:solidFill>
            <a:prstDash val="solid"/>
          </a:ln>
        </p:spPr>
      </p:sp>
      <p:sp>
        <p:nvSpPr>
          <p:cNvPr id="16" name="Text 11"/>
          <p:cNvSpPr txBox="1"/>
          <p:nvPr/>
        </p:nvSpPr>
        <p:spPr>
          <a:xfrm>
            <a:off x="777240" y="3632103"/>
            <a:ext cx="3886200" cy="881634"/>
          </a:xfrm>
          <a:prstGeom prst="rect">
            <a:avLst/>
          </a:prstGeom>
          <a:noFill/>
          <a:ln/>
        </p:spPr>
        <p:txBody>
          <a:bodyPr wrap="square" lIns="0" tIns="0" rIns="0" bIns="0" rtlCol="0" anchor="t"/>
          <a:lstStyle/>
          <a:p>
            <a:pPr indent="0" marL="0">
              <a:buNone/>
            </a:pPr>
            <a:r>
              <a:rPr lang="id-ID" altLang="en-US" sz="1700" dirty="0">
                <a:solidFill>
                  <a:srgbClr val="1F2328"/>
                </a:solidFill>
              </a:rPr>
              <a:t>“</a:t>
            </a:r>
            <a:r>
              <a:rPr lang="id-ID" altLang="en-US" sz="1700" i="1" dirty="0">
                <a:solidFill>
                  <a:srgbClr val="1F2328"/>
                </a:solidFill>
              </a:rPr>
              <a:t>Casting</a:t>
            </a:r>
            <a:r>
              <a:rPr lang="id-ID" altLang="en-US" sz="1700" dirty="0">
                <a:solidFill>
                  <a:srgbClr val="1F2328"/>
                </a:solidFill>
              </a:rPr>
              <a:t> mengubah objek menjadi kelas lain.”</a:t>
            </a:r>
            <a:endParaRPr lang="id-ID" sz="1700" dirty="0"/>
          </a:p>
        </p:txBody>
      </p:sp>
      <p:sp>
        <p:nvSpPr>
          <p:cNvPr id="17" name="Shape 12"/>
          <p:cNvSpPr/>
          <p:nvPr/>
        </p:nvSpPr>
        <p:spPr>
          <a:xfrm>
            <a:off x="5166360" y="3449223"/>
            <a:ext cx="6476695" cy="1155954"/>
          </a:xfrm>
          <a:prstGeom prst="roundRect">
            <a:avLst>
              <a:gd name="adj" fmla="val 7509"/>
            </a:avLst>
          </a:prstGeom>
          <a:solidFill>
            <a:srgbClr val="DAFBE1"/>
          </a:solidFill>
          <a:ln w="9525">
            <a:solidFill>
              <a:srgbClr val="4AC26B"/>
            </a:solidFill>
            <a:prstDash val="solid"/>
          </a:ln>
        </p:spPr>
      </p:sp>
      <p:sp>
        <p:nvSpPr>
          <p:cNvPr id="18" name="Text 13"/>
          <p:cNvSpPr txBox="1"/>
          <p:nvPr/>
        </p:nvSpPr>
        <p:spPr>
          <a:xfrm>
            <a:off x="5394960" y="3632103"/>
            <a:ext cx="6019495" cy="881634"/>
          </a:xfrm>
          <a:prstGeom prst="rect">
            <a:avLst/>
          </a:prstGeom>
          <a:noFill/>
          <a:ln/>
        </p:spPr>
        <p:txBody>
          <a:bodyPr wrap="square" lIns="0" tIns="0" rIns="0" bIns="0" rtlCol="0" anchor="t"/>
          <a:lstStyle/>
          <a:p>
            <a:pPr indent="0" marL="0">
              <a:buNone/>
            </a:pPr>
            <a:r>
              <a:rPr lang="id-ID" altLang="en-US" sz="1700" i="1" dirty="0">
                <a:solidFill>
                  <a:srgbClr val="1F2328"/>
                </a:solidFill>
              </a:rPr>
              <a:t>Casting</a:t>
            </a:r>
            <a:r>
              <a:rPr lang="id-ID" altLang="en-US" sz="1700" dirty="0">
                <a:solidFill>
                  <a:srgbClr val="1F2328"/>
                </a:solidFill>
              </a:rPr>
              <a:t> hanya mengubah cara kita </a:t>
            </a:r>
            <a:r>
              <a:rPr lang="id-ID" altLang="en-US" sz="1700" b="1" dirty="0">
                <a:solidFill>
                  <a:srgbClr val="1F2328"/>
                </a:solidFill>
              </a:rPr>
              <a:t>memandang</a:t>
            </a:r>
            <a:r>
              <a:rPr lang="id-ID" altLang="en-US" sz="1700" dirty="0">
                <a:solidFill>
                  <a:srgbClr val="1F2328"/>
                </a:solidFill>
              </a:rPr>
              <a:t> objek. Objek </a:t>
            </a:r>
            <a:r>
              <a:rPr lang="id-ID" altLang="en-US" sz="1700" dirty="0">
                <a:solidFill>
                  <a:srgbClr val="1F2328"/>
                </a:solidFill>
                <a:latin typeface="Consolas" pitchFamily="34" charset="0"/>
                <a:ea typeface="Consolas" pitchFamily="34" charset="-122"/>
                <a:cs typeface="Consolas" pitchFamily="34" charset="-120"/>
              </a:rPr>
              <a:t>Dosen</a:t>
            </a:r>
            <a:r>
              <a:rPr lang="id-ID" altLang="en-US" sz="1700" dirty="0">
                <a:solidFill>
                  <a:srgbClr val="1F2328"/>
                </a:solidFill>
              </a:rPr>
              <a:t> tetap </a:t>
            </a:r>
            <a:r>
              <a:rPr lang="id-ID" altLang="en-US" sz="1700" dirty="0">
                <a:solidFill>
                  <a:srgbClr val="1F2328"/>
                </a:solidFill>
                <a:latin typeface="Consolas" pitchFamily="34" charset="0"/>
                <a:ea typeface="Consolas" pitchFamily="34" charset="-122"/>
                <a:cs typeface="Consolas" pitchFamily="34" charset="-120"/>
              </a:rPr>
              <a:t>Dosen</a:t>
            </a:r>
            <a:r>
              <a:rPr lang="id-ID" altLang="en-US" sz="1700" dirty="0">
                <a:solidFill>
                  <a:srgbClr val="1F2328"/>
                </a:solidFill>
              </a:rPr>
              <a:t> selamanya, jadi memaksanya dipandang sebagai </a:t>
            </a:r>
            <a:r>
              <a:rPr lang="id-ID" altLang="en-US" sz="1700" dirty="0">
                <a:solidFill>
                  <a:srgbClr val="1F2328"/>
                </a:solidFill>
                <a:latin typeface="Consolas" pitchFamily="34" charset="0"/>
                <a:ea typeface="Consolas" pitchFamily="34" charset="-122"/>
                <a:cs typeface="Consolas" pitchFamily="34" charset="-120"/>
              </a:rPr>
              <a:t>Mahasiswa</a:t>
            </a:r>
            <a:r>
              <a:rPr lang="id-ID" altLang="en-US" sz="1700" dirty="0">
                <a:solidFill>
                  <a:srgbClr val="1F2328"/>
                </a:solidFill>
              </a:rPr>
              <a:t> berakhir dengan </a:t>
            </a:r>
            <a:r>
              <a:rPr lang="id-ID" altLang="en-US" sz="1700" dirty="0">
                <a:solidFill>
                  <a:srgbClr val="1F2328"/>
                </a:solidFill>
                <a:latin typeface="Consolas" pitchFamily="34" charset="0"/>
                <a:ea typeface="Consolas" pitchFamily="34" charset="-122"/>
                <a:cs typeface="Consolas" pitchFamily="34" charset="-120"/>
              </a:rPr>
              <a:t>ClassCastException</a:t>
            </a:r>
            <a:r>
              <a:rPr lang="id-ID" altLang="en-US" sz="1700" dirty="0">
                <a:solidFill>
                  <a:srgbClr val="1F2328"/>
                </a:solidFill>
              </a:rPr>
              <a:t>.</a:t>
            </a:r>
            <a:endParaRPr lang="id-ID" sz="1700" dirty="0"/>
          </a:p>
        </p:txBody>
      </p:sp>
      <p:sp>
        <p:nvSpPr>
          <p:cNvPr id="19" name="Shape 14"/>
          <p:cNvSpPr/>
          <p:nvPr/>
        </p:nvSpPr>
        <p:spPr>
          <a:xfrm>
            <a:off x="548640" y="4806345"/>
            <a:ext cx="4343400" cy="1155954"/>
          </a:xfrm>
          <a:prstGeom prst="roundRect">
            <a:avLst>
              <a:gd name="adj" fmla="val 7509"/>
            </a:avLst>
          </a:prstGeom>
          <a:solidFill>
            <a:srgbClr val="FFEBE9"/>
          </a:solidFill>
          <a:ln w="9525">
            <a:solidFill>
              <a:srgbClr val="FF8182"/>
            </a:solidFill>
            <a:prstDash val="solid"/>
          </a:ln>
        </p:spPr>
      </p:sp>
      <p:sp>
        <p:nvSpPr>
          <p:cNvPr id="20" name="Text 15"/>
          <p:cNvSpPr txBox="1"/>
          <p:nvPr/>
        </p:nvSpPr>
        <p:spPr>
          <a:xfrm>
            <a:off x="777240" y="4989225"/>
            <a:ext cx="3886200" cy="881634"/>
          </a:xfrm>
          <a:prstGeom prst="rect">
            <a:avLst/>
          </a:prstGeom>
          <a:noFill/>
          <a:ln/>
        </p:spPr>
        <p:txBody>
          <a:bodyPr wrap="square" lIns="0" tIns="0" rIns="0" bIns="0" rtlCol="0" anchor="t"/>
          <a:lstStyle/>
          <a:p>
            <a:pPr indent="0" marL="0">
              <a:buNone/>
            </a:pPr>
            <a:r>
              <a:rPr lang="id-ID" altLang="en-US" sz="1700" dirty="0">
                <a:solidFill>
                  <a:srgbClr val="1F2328"/>
                </a:solidFill>
              </a:rPr>
              <a:t>“Python tidak punya polimorfisme karena tidak punya </a:t>
            </a:r>
            <a:r>
              <a:rPr lang="id-ID" altLang="en-US" sz="1700" i="1" dirty="0">
                <a:solidFill>
                  <a:srgbClr val="1F2328"/>
                </a:solidFill>
              </a:rPr>
              <a:t>overloading</a:t>
            </a:r>
            <a:r>
              <a:rPr lang="id-ID" altLang="en-US" sz="1700" dirty="0">
                <a:solidFill>
                  <a:srgbClr val="1F2328"/>
                </a:solidFill>
              </a:rPr>
              <a:t>.”</a:t>
            </a:r>
            <a:endParaRPr lang="id-ID" sz="1700" dirty="0"/>
          </a:p>
        </p:txBody>
      </p:sp>
      <p:sp>
        <p:nvSpPr>
          <p:cNvPr id="21" name="Shape 16"/>
          <p:cNvSpPr/>
          <p:nvPr/>
        </p:nvSpPr>
        <p:spPr>
          <a:xfrm>
            <a:off x="5166360" y="4806345"/>
            <a:ext cx="6476695" cy="1155954"/>
          </a:xfrm>
          <a:prstGeom prst="roundRect">
            <a:avLst>
              <a:gd name="adj" fmla="val 7509"/>
            </a:avLst>
          </a:prstGeom>
          <a:solidFill>
            <a:srgbClr val="DAFBE1"/>
          </a:solidFill>
          <a:ln w="9525">
            <a:solidFill>
              <a:srgbClr val="4AC26B"/>
            </a:solidFill>
            <a:prstDash val="solid"/>
          </a:ln>
        </p:spPr>
      </p:sp>
      <p:sp>
        <p:nvSpPr>
          <p:cNvPr id="22" name="Text 17"/>
          <p:cNvSpPr txBox="1"/>
          <p:nvPr/>
        </p:nvSpPr>
        <p:spPr>
          <a:xfrm>
            <a:off x="5394960" y="4989225"/>
            <a:ext cx="6019495" cy="881634"/>
          </a:xfrm>
          <a:prstGeom prst="rect">
            <a:avLst/>
          </a:prstGeom>
          <a:noFill/>
          <a:ln/>
        </p:spPr>
        <p:txBody>
          <a:bodyPr wrap="square" lIns="0" tIns="0" rIns="0" bIns="0" rtlCol="0" anchor="t"/>
          <a:lstStyle/>
          <a:p>
            <a:pPr indent="0" marL="0">
              <a:buNone/>
            </a:pPr>
            <a:r>
              <a:rPr lang="id-ID" altLang="en-US" sz="1700" i="1" dirty="0">
                <a:solidFill>
                  <a:srgbClr val="1F2328"/>
                </a:solidFill>
              </a:rPr>
              <a:t>Overloading</a:t>
            </a:r>
            <a:r>
              <a:rPr lang="id-ID" altLang="en-US" sz="1700" dirty="0">
                <a:solidFill>
                  <a:srgbClr val="1F2328"/>
                </a:solidFill>
              </a:rPr>
              <a:t> hanyalah satu bentuk polimorfisme. Python punya polimorfisme waktu berjalan (</a:t>
            </a:r>
            <a:r>
              <a:rPr lang="id-ID" altLang="en-US" sz="1700" i="1" dirty="0">
                <a:solidFill>
                  <a:srgbClr val="1F2328"/>
                </a:solidFill>
              </a:rPr>
              <a:t>override</a:t>
            </a:r>
            <a:r>
              <a:rPr lang="id-ID" altLang="en-US" sz="1700" dirty="0">
                <a:solidFill>
                  <a:srgbClr val="1F2328"/>
                </a:solidFill>
              </a:rPr>
              <a:t> + </a:t>
            </a:r>
            <a:r>
              <a:rPr lang="id-ID" altLang="en-US" sz="1700" i="1" dirty="0">
                <a:solidFill>
                  <a:srgbClr val="1F2328"/>
                </a:solidFill>
              </a:rPr>
              <a:t>dynamic dispatch</a:t>
            </a:r>
            <a:r>
              <a:rPr lang="id-ID" altLang="en-US" sz="1700" dirty="0">
                <a:solidFill>
                  <a:srgbClr val="1F2328"/>
                </a:solidFill>
              </a:rPr>
              <a:t>), bahkan lebih luwes lewat </a:t>
            </a:r>
            <a:r>
              <a:rPr lang="id-ID" altLang="en-US" sz="1700" i="1" dirty="0">
                <a:solidFill>
                  <a:srgbClr val="1F2328"/>
                </a:solidFill>
              </a:rPr>
              <a:t>duck typing</a:t>
            </a:r>
            <a:r>
              <a:rPr lang="id-ID" altLang="en-US" sz="1700" dirty="0">
                <a:solidFill>
                  <a:srgbClr val="1F2328"/>
                </a:solidFill>
              </a:rPr>
              <a:t>.</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860682"/>
            <a:ext cx="11094415" cy="1324864"/>
          </a:xfrm>
          <a:prstGeom prst="roundRect">
            <a:avLst>
              <a:gd name="adj" fmla="val 5716"/>
            </a:avLst>
          </a:prstGeom>
          <a:solidFill>
            <a:srgbClr val="FBEFFF"/>
          </a:solidFill>
          <a:ln w="9525">
            <a:solidFill>
              <a:srgbClr val="C297FF"/>
            </a:solidFill>
            <a:prstDash val="solid"/>
          </a:ln>
        </p:spPr>
      </p:sp>
      <p:sp>
        <p:nvSpPr>
          <p:cNvPr id="6" name="Shape 3"/>
          <p:cNvSpPr/>
          <p:nvPr/>
        </p:nvSpPr>
        <p:spPr>
          <a:xfrm>
            <a:off x="777240" y="2294514"/>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395098"/>
            <a:ext cx="256032" cy="256032"/>
          </a:xfrm>
          <a:prstGeom prst="rect">
            <a:avLst/>
          </a:prstGeom>
        </p:spPr>
      </p:pic>
      <p:sp>
        <p:nvSpPr>
          <p:cNvPr id="8" name="Text 4"/>
          <p:cNvSpPr txBox="1"/>
          <p:nvPr/>
        </p:nvSpPr>
        <p:spPr>
          <a:xfrm>
            <a:off x="1417320" y="2089282"/>
            <a:ext cx="9951415" cy="1050544"/>
          </a:xfrm>
          <a:prstGeom prst="rect">
            <a:avLst/>
          </a:prstGeom>
          <a:noFill/>
          <a:ln/>
        </p:spPr>
        <p:txBody>
          <a:bodyPr wrap="square" lIns="0" tIns="0" rIns="0" bIns="0" rtlCol="0" anchor="t"/>
          <a:lstStyle/>
          <a:p>
            <a:pPr indent="0" marL="0">
              <a:buNone/>
            </a:pPr>
            <a:r>
              <a:rPr lang="id-ID" altLang="en-US" sz="2800" dirty="0">
                <a:solidFill>
                  <a:srgbClr val="1F2328"/>
                </a:solidFill>
              </a:rPr>
              <a:t>Untuk </a:t>
            </a:r>
            <a:r>
              <a:rPr lang="id-ID" altLang="en-US" sz="2800" i="1" dirty="0">
                <a:solidFill>
                  <a:srgbClr val="1F2328"/>
                </a:solidFill>
              </a:rPr>
              <a:t>method</a:t>
            </a:r>
            <a:r>
              <a:rPr lang="id-ID" altLang="en-US" sz="2800" dirty="0">
                <a:solidFill>
                  <a:srgbClr val="1F2328"/>
                </a:solidFill>
              </a:rPr>
              <a:t> yang di-⁠</a:t>
            </a:r>
            <a:r>
              <a:rPr lang="id-ID" altLang="en-US" sz="2800" i="1" dirty="0">
                <a:solidFill>
                  <a:srgbClr val="1F2328"/>
                </a:solidFill>
              </a:rPr>
              <a:t>override</a:t>
            </a:r>
            <a:r>
              <a:rPr lang="id-ID" altLang="en-US" sz="2800" dirty="0">
                <a:solidFill>
                  <a:srgbClr val="1F2328"/>
                </a:solidFill>
              </a:rPr>
              <a:t>, versi mana yang dijalankan ditentukan oleh ...</a:t>
            </a:r>
            <a:endParaRPr lang="id-ID" sz="2800" dirty="0"/>
          </a:p>
        </p:txBody>
      </p:sp>
      <p:sp>
        <p:nvSpPr>
          <p:cNvPr id="9" name="Shape 5"/>
          <p:cNvSpPr/>
          <p:nvPr/>
        </p:nvSpPr>
        <p:spPr>
          <a:xfrm>
            <a:off x="548640" y="3368426"/>
            <a:ext cx="5455768" cy="1018032"/>
          </a:xfrm>
          <a:prstGeom prst="roundRect">
            <a:avLst>
              <a:gd name="adj" fmla="val 9681"/>
            </a:avLst>
          </a:prstGeom>
          <a:solidFill>
            <a:srgbClr val="FFFFFF"/>
          </a:solidFill>
          <a:ln w="9525">
            <a:solidFill>
              <a:srgbClr val="D0D7DE"/>
            </a:solidFill>
            <a:prstDash val="solid"/>
          </a:ln>
        </p:spPr>
      </p:sp>
      <p:sp>
        <p:nvSpPr>
          <p:cNvPr id="10" name="Shape 6"/>
          <p:cNvSpPr/>
          <p:nvPr/>
        </p:nvSpPr>
        <p:spPr>
          <a:xfrm>
            <a:off x="749808" y="3648842"/>
            <a:ext cx="457200" cy="457200"/>
          </a:xfrm>
          <a:prstGeom prst="ellipse">
            <a:avLst/>
          </a:prstGeom>
          <a:solidFill>
            <a:srgbClr val="8250DF"/>
          </a:solidFill>
          <a:ln/>
        </p:spPr>
      </p:sp>
      <p:sp>
        <p:nvSpPr>
          <p:cNvPr id="11" name="Text 7"/>
          <p:cNvSpPr txBox="1"/>
          <p:nvPr/>
        </p:nvSpPr>
        <p:spPr>
          <a:xfrm>
            <a:off x="749808" y="364884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3478154"/>
            <a:ext cx="4541368" cy="798576"/>
          </a:xfrm>
          <a:prstGeom prst="rect">
            <a:avLst/>
          </a:prstGeom>
          <a:noFill/>
          <a:ln/>
        </p:spPr>
        <p:txBody>
          <a:bodyPr wrap="square" lIns="0" tIns="0" rIns="0" bIns="0" rtlCol="0" anchor="ctr"/>
          <a:lstStyle/>
          <a:p>
            <a:pPr indent="0" marL="0">
              <a:buNone/>
            </a:pPr>
            <a:r>
              <a:rPr lang="id-ID" altLang="en-US" sz="2400" dirty="0">
                <a:solidFill>
                  <a:srgbClr val="1F2328"/>
                </a:solidFill>
              </a:rPr>
              <a:t>tipe variabel yang tertulis di kode</a:t>
            </a:r>
            <a:endParaRPr lang="id-ID" sz="2400" dirty="0"/>
          </a:p>
        </p:txBody>
      </p:sp>
      <p:sp>
        <p:nvSpPr>
          <p:cNvPr id="13" name="Shape 9"/>
          <p:cNvSpPr/>
          <p:nvPr/>
        </p:nvSpPr>
        <p:spPr>
          <a:xfrm>
            <a:off x="6187288" y="3368426"/>
            <a:ext cx="5455768" cy="1018032"/>
          </a:xfrm>
          <a:prstGeom prst="roundRect">
            <a:avLst>
              <a:gd name="adj" fmla="val 9681"/>
            </a:avLst>
          </a:prstGeom>
          <a:solidFill>
            <a:srgbClr val="FFFFFF"/>
          </a:solidFill>
          <a:ln w="9525">
            <a:solidFill>
              <a:srgbClr val="D0D7DE"/>
            </a:solidFill>
            <a:prstDash val="solid"/>
          </a:ln>
        </p:spPr>
      </p:sp>
      <p:sp>
        <p:nvSpPr>
          <p:cNvPr id="14" name="Shape 10"/>
          <p:cNvSpPr/>
          <p:nvPr/>
        </p:nvSpPr>
        <p:spPr>
          <a:xfrm>
            <a:off x="6388456" y="3648842"/>
            <a:ext cx="457200" cy="457200"/>
          </a:xfrm>
          <a:prstGeom prst="ellipse">
            <a:avLst/>
          </a:prstGeom>
          <a:solidFill>
            <a:srgbClr val="8250DF"/>
          </a:solidFill>
          <a:ln/>
        </p:spPr>
      </p:sp>
      <p:sp>
        <p:nvSpPr>
          <p:cNvPr id="15" name="Text 11"/>
          <p:cNvSpPr txBox="1"/>
          <p:nvPr/>
        </p:nvSpPr>
        <p:spPr>
          <a:xfrm>
            <a:off x="6388456" y="364884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3478154"/>
            <a:ext cx="4541368" cy="798576"/>
          </a:xfrm>
          <a:prstGeom prst="rect">
            <a:avLst/>
          </a:prstGeom>
          <a:noFill/>
          <a:ln/>
        </p:spPr>
        <p:txBody>
          <a:bodyPr wrap="square" lIns="0" tIns="0" rIns="0" bIns="0" rtlCol="0" anchor="ctr"/>
          <a:lstStyle/>
          <a:p>
            <a:pPr indent="0" marL="0">
              <a:buNone/>
            </a:pPr>
            <a:r>
              <a:rPr lang="id-ID" altLang="en-US" sz="2400" dirty="0">
                <a:solidFill>
                  <a:srgbClr val="1F2328"/>
                </a:solidFill>
              </a:rPr>
              <a:t>kelas yang paling dulu ditulis di dalam </a:t>
            </a:r>
            <a:r>
              <a:rPr lang="id-ID" altLang="en-US" sz="2400" i="1" dirty="0">
                <a:solidFill>
                  <a:srgbClr val="1F2328"/>
                </a:solidFill>
              </a:rPr>
              <a:t>file</a:t>
            </a:r>
            <a:endParaRPr lang="id-ID" sz="2400" dirty="0"/>
          </a:p>
        </p:txBody>
      </p:sp>
      <p:sp>
        <p:nvSpPr>
          <p:cNvPr id="17" name="Shape 13"/>
          <p:cNvSpPr/>
          <p:nvPr/>
        </p:nvSpPr>
        <p:spPr>
          <a:xfrm>
            <a:off x="548640" y="4569338"/>
            <a:ext cx="5455768" cy="1018032"/>
          </a:xfrm>
          <a:prstGeom prst="roundRect">
            <a:avLst>
              <a:gd name="adj" fmla="val 9681"/>
            </a:avLst>
          </a:prstGeom>
          <a:solidFill>
            <a:srgbClr val="FFFFFF"/>
          </a:solidFill>
          <a:ln w="9525">
            <a:solidFill>
              <a:srgbClr val="D0D7DE"/>
            </a:solidFill>
            <a:prstDash val="solid"/>
          </a:ln>
        </p:spPr>
      </p:sp>
      <p:sp>
        <p:nvSpPr>
          <p:cNvPr id="18" name="Shape 14"/>
          <p:cNvSpPr/>
          <p:nvPr/>
        </p:nvSpPr>
        <p:spPr>
          <a:xfrm>
            <a:off x="749808" y="4849754"/>
            <a:ext cx="457200" cy="457200"/>
          </a:xfrm>
          <a:prstGeom prst="ellipse">
            <a:avLst/>
          </a:prstGeom>
          <a:solidFill>
            <a:srgbClr val="8250DF"/>
          </a:solidFill>
          <a:ln/>
        </p:spPr>
      </p:sp>
      <p:sp>
        <p:nvSpPr>
          <p:cNvPr id="19" name="Text 15"/>
          <p:cNvSpPr txBox="1"/>
          <p:nvPr/>
        </p:nvSpPr>
        <p:spPr>
          <a:xfrm>
            <a:off x="749808" y="484975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4679066"/>
            <a:ext cx="4541368" cy="798576"/>
          </a:xfrm>
          <a:prstGeom prst="rect">
            <a:avLst/>
          </a:prstGeom>
          <a:noFill/>
          <a:ln/>
        </p:spPr>
        <p:txBody>
          <a:bodyPr wrap="square" lIns="0" tIns="0" rIns="0" bIns="0" rtlCol="0" anchor="ctr"/>
          <a:lstStyle/>
          <a:p>
            <a:pPr indent="0" marL="0">
              <a:buNone/>
            </a:pPr>
            <a:r>
              <a:rPr lang="id-ID" altLang="en-US" sz="2400" dirty="0">
                <a:solidFill>
                  <a:srgbClr val="1F2328"/>
                </a:solidFill>
              </a:rPr>
              <a:t>jumlah kelas anak yang dimiliki kelas induk</a:t>
            </a:r>
            <a:endParaRPr lang="id-ID" sz="2400" dirty="0"/>
          </a:p>
        </p:txBody>
      </p:sp>
      <p:sp>
        <p:nvSpPr>
          <p:cNvPr id="21" name="Shape 17"/>
          <p:cNvSpPr/>
          <p:nvPr/>
        </p:nvSpPr>
        <p:spPr>
          <a:xfrm>
            <a:off x="6187288" y="4569338"/>
            <a:ext cx="5455768" cy="1018032"/>
          </a:xfrm>
          <a:prstGeom prst="roundRect">
            <a:avLst>
              <a:gd name="adj" fmla="val 9681"/>
            </a:avLst>
          </a:prstGeom>
          <a:solidFill>
            <a:srgbClr val="FFFFFF"/>
          </a:solidFill>
          <a:ln w="9525">
            <a:solidFill>
              <a:srgbClr val="D0D7DE"/>
            </a:solidFill>
            <a:prstDash val="solid"/>
          </a:ln>
        </p:spPr>
      </p:sp>
      <p:sp>
        <p:nvSpPr>
          <p:cNvPr id="22" name="Shape 18"/>
          <p:cNvSpPr/>
          <p:nvPr/>
        </p:nvSpPr>
        <p:spPr>
          <a:xfrm>
            <a:off x="6388456" y="4849754"/>
            <a:ext cx="457200" cy="457200"/>
          </a:xfrm>
          <a:prstGeom prst="ellipse">
            <a:avLst/>
          </a:prstGeom>
          <a:solidFill>
            <a:srgbClr val="8250DF"/>
          </a:solidFill>
          <a:ln/>
        </p:spPr>
      </p:sp>
      <p:sp>
        <p:nvSpPr>
          <p:cNvPr id="23" name="Text 19"/>
          <p:cNvSpPr txBox="1"/>
          <p:nvPr/>
        </p:nvSpPr>
        <p:spPr>
          <a:xfrm>
            <a:off x="6388456" y="484975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4679066"/>
            <a:ext cx="4541368" cy="798576"/>
          </a:xfrm>
          <a:prstGeom prst="rect">
            <a:avLst/>
          </a:prstGeom>
          <a:noFill/>
          <a:ln/>
        </p:spPr>
        <p:txBody>
          <a:bodyPr wrap="square" lIns="0" tIns="0" rIns="0" bIns="0" rtlCol="0" anchor="ctr"/>
          <a:lstStyle/>
          <a:p>
            <a:pPr indent="0" marL="0">
              <a:buNone/>
            </a:pPr>
            <a:r>
              <a:rPr lang="id-ID" altLang="en-US" sz="2400" dirty="0">
                <a:solidFill>
                  <a:srgbClr val="1F2328"/>
                </a:solidFill>
              </a:rPr>
              <a:t>tipe objek yang sebenarnya, saat program berjalan</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513972"/>
            <a:ext cx="11094415" cy="553212"/>
          </a:xfrm>
          <a:prstGeom prst="roundRect">
            <a:avLst>
              <a:gd name="adj" fmla="val 32785"/>
            </a:avLst>
          </a:prstGeom>
          <a:solidFill>
            <a:srgbClr val="F6F8FA"/>
          </a:solidFill>
          <a:ln w="9525">
            <a:solidFill>
              <a:srgbClr val="D0D7DE"/>
            </a:solidFill>
            <a:prstDash val="solid"/>
          </a:ln>
        </p:spPr>
      </p:sp>
      <p:sp>
        <p:nvSpPr>
          <p:cNvPr id="6" name="Text 3"/>
          <p:cNvSpPr txBox="1"/>
          <p:nvPr/>
        </p:nvSpPr>
        <p:spPr>
          <a:xfrm>
            <a:off x="822960" y="1651132"/>
            <a:ext cx="10545775" cy="278892"/>
          </a:xfrm>
          <a:prstGeom prst="rect">
            <a:avLst/>
          </a:prstGeom>
          <a:noFill/>
          <a:ln/>
        </p:spPr>
        <p:txBody>
          <a:bodyPr wrap="square" lIns="0" tIns="0" rIns="0" bIns="0" rtlCol="0" anchor="t"/>
          <a:lstStyle/>
          <a:p>
            <a:pPr indent="0" marL="0">
              <a:buNone/>
            </a:pPr>
            <a:r>
              <a:rPr lang="id-ID" altLang="en-US" sz="1800" dirty="0">
                <a:solidFill>
                  <a:srgbClr val="57606A"/>
                </a:solidFill>
              </a:rPr>
              <a:t>Untuk </a:t>
            </a:r>
            <a:r>
              <a:rPr lang="id-ID" altLang="en-US" sz="1800" i="1" dirty="0">
                <a:solidFill>
                  <a:srgbClr val="57606A"/>
                </a:solidFill>
              </a:rPr>
              <a:t>method</a:t>
            </a:r>
            <a:r>
              <a:rPr lang="id-ID" altLang="en-US" sz="1800" dirty="0">
                <a:solidFill>
                  <a:srgbClr val="57606A"/>
                </a:solidFill>
              </a:rPr>
              <a:t> yang di-⁠</a:t>
            </a:r>
            <a:r>
              <a:rPr lang="id-ID" altLang="en-US" sz="1800" i="1" dirty="0">
                <a:solidFill>
                  <a:srgbClr val="57606A"/>
                </a:solidFill>
              </a:rPr>
              <a:t>override</a:t>
            </a:r>
            <a:r>
              <a:rPr lang="id-ID" altLang="en-US" sz="1800" dirty="0">
                <a:solidFill>
                  <a:srgbClr val="57606A"/>
                </a:solidFill>
              </a:rPr>
              <a:t>, versi mana yang dijalankan ditentukan oleh ...</a:t>
            </a:r>
            <a:endParaRPr lang="id-ID" sz="1800" dirty="0"/>
          </a:p>
        </p:txBody>
      </p:sp>
      <p:sp>
        <p:nvSpPr>
          <p:cNvPr id="7" name="Shape 4"/>
          <p:cNvSpPr/>
          <p:nvPr/>
        </p:nvSpPr>
        <p:spPr>
          <a:xfrm>
            <a:off x="548640" y="2250064"/>
            <a:ext cx="5455768" cy="658368"/>
          </a:xfrm>
          <a:prstGeom prst="roundRect">
            <a:avLst>
              <a:gd name="adj" fmla="val 23148"/>
            </a:avLst>
          </a:prstGeom>
          <a:solidFill>
            <a:srgbClr val="FFFFFF"/>
          </a:solidFill>
          <a:ln w="9525">
            <a:solidFill>
              <a:srgbClr val="D0D7DE"/>
            </a:solidFill>
            <a:prstDash val="solid"/>
          </a:ln>
        </p:spPr>
      </p:sp>
      <p:sp>
        <p:nvSpPr>
          <p:cNvPr id="8" name="Shape 5"/>
          <p:cNvSpPr/>
          <p:nvPr/>
        </p:nvSpPr>
        <p:spPr>
          <a:xfrm>
            <a:off x="749808" y="2350648"/>
            <a:ext cx="457200" cy="457200"/>
          </a:xfrm>
          <a:prstGeom prst="ellipse">
            <a:avLst/>
          </a:prstGeom>
          <a:solidFill>
            <a:srgbClr val="8C959F"/>
          </a:solidFill>
          <a:ln/>
        </p:spPr>
      </p:sp>
      <p:sp>
        <p:nvSpPr>
          <p:cNvPr id="9" name="Text 6"/>
          <p:cNvSpPr txBox="1"/>
          <p:nvPr/>
        </p:nvSpPr>
        <p:spPr>
          <a:xfrm>
            <a:off x="749808" y="2350648"/>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0" name="Text 7"/>
          <p:cNvSpPr txBox="1"/>
          <p:nvPr/>
        </p:nvSpPr>
        <p:spPr>
          <a:xfrm>
            <a:off x="1353312" y="2359792"/>
            <a:ext cx="4541368" cy="438912"/>
          </a:xfrm>
          <a:prstGeom prst="rect">
            <a:avLst/>
          </a:prstGeom>
          <a:noFill/>
          <a:ln/>
        </p:spPr>
        <p:txBody>
          <a:bodyPr wrap="square" lIns="0" tIns="0" rIns="0" bIns="0" rtlCol="0" anchor="ctr"/>
          <a:lstStyle/>
          <a:p>
            <a:pPr indent="0" marL="0">
              <a:buNone/>
            </a:pPr>
            <a:r>
              <a:rPr lang="id-ID" altLang="en-US" sz="2000" dirty="0">
                <a:solidFill>
                  <a:srgbClr val="57606A"/>
                </a:solidFill>
              </a:rPr>
              <a:t>tipe variabel yang tertulis di kode</a:t>
            </a:r>
            <a:endParaRPr lang="id-ID" sz="2000" dirty="0"/>
          </a:p>
        </p:txBody>
      </p:sp>
      <p:sp>
        <p:nvSpPr>
          <p:cNvPr id="11" name="Shape 8"/>
          <p:cNvSpPr/>
          <p:nvPr/>
        </p:nvSpPr>
        <p:spPr>
          <a:xfrm>
            <a:off x="6187288" y="2250064"/>
            <a:ext cx="5455768" cy="658368"/>
          </a:xfrm>
          <a:prstGeom prst="roundRect">
            <a:avLst>
              <a:gd name="adj" fmla="val 23148"/>
            </a:avLst>
          </a:prstGeom>
          <a:solidFill>
            <a:srgbClr val="FFFFFF"/>
          </a:solidFill>
          <a:ln w="9525">
            <a:solidFill>
              <a:srgbClr val="D0D7DE"/>
            </a:solidFill>
            <a:prstDash val="solid"/>
          </a:ln>
        </p:spPr>
      </p:sp>
      <p:sp>
        <p:nvSpPr>
          <p:cNvPr id="12" name="Shape 9"/>
          <p:cNvSpPr/>
          <p:nvPr/>
        </p:nvSpPr>
        <p:spPr>
          <a:xfrm>
            <a:off x="6388456" y="2350648"/>
            <a:ext cx="457200" cy="457200"/>
          </a:xfrm>
          <a:prstGeom prst="ellipse">
            <a:avLst/>
          </a:prstGeom>
          <a:solidFill>
            <a:srgbClr val="8C959F"/>
          </a:solidFill>
          <a:ln/>
        </p:spPr>
      </p:sp>
      <p:sp>
        <p:nvSpPr>
          <p:cNvPr id="13" name="Text 10"/>
          <p:cNvSpPr txBox="1"/>
          <p:nvPr/>
        </p:nvSpPr>
        <p:spPr>
          <a:xfrm>
            <a:off x="6388456" y="2350648"/>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4" name="Text 11"/>
          <p:cNvSpPr txBox="1"/>
          <p:nvPr/>
        </p:nvSpPr>
        <p:spPr>
          <a:xfrm>
            <a:off x="6991960" y="2359792"/>
            <a:ext cx="4541368" cy="438912"/>
          </a:xfrm>
          <a:prstGeom prst="rect">
            <a:avLst/>
          </a:prstGeom>
          <a:noFill/>
          <a:ln/>
        </p:spPr>
        <p:txBody>
          <a:bodyPr wrap="square" lIns="0" tIns="0" rIns="0" bIns="0" rtlCol="0" anchor="ctr"/>
          <a:lstStyle/>
          <a:p>
            <a:pPr indent="0" marL="0">
              <a:buNone/>
            </a:pPr>
            <a:r>
              <a:rPr lang="id-ID" altLang="en-US" sz="2000" dirty="0">
                <a:solidFill>
                  <a:srgbClr val="57606A"/>
                </a:solidFill>
              </a:rPr>
              <a:t>kelas yang paling dulu ditulis di dalam </a:t>
            </a:r>
            <a:r>
              <a:rPr lang="id-ID" altLang="en-US" sz="2000" i="1" dirty="0">
                <a:solidFill>
                  <a:srgbClr val="57606A"/>
                </a:solidFill>
              </a:rPr>
              <a:t>file</a:t>
            </a:r>
            <a:endParaRPr lang="id-ID" sz="2000" dirty="0"/>
          </a:p>
        </p:txBody>
      </p:sp>
      <p:sp>
        <p:nvSpPr>
          <p:cNvPr id="15" name="Shape 12"/>
          <p:cNvSpPr/>
          <p:nvPr/>
        </p:nvSpPr>
        <p:spPr>
          <a:xfrm>
            <a:off x="548640" y="3091312"/>
            <a:ext cx="5455768" cy="894080"/>
          </a:xfrm>
          <a:prstGeom prst="roundRect">
            <a:avLst>
              <a:gd name="adj" fmla="val 12552"/>
            </a:avLst>
          </a:prstGeom>
          <a:solidFill>
            <a:srgbClr val="FFFFFF"/>
          </a:solidFill>
          <a:ln w="9525">
            <a:solidFill>
              <a:srgbClr val="D0D7DE"/>
            </a:solidFill>
            <a:prstDash val="solid"/>
          </a:ln>
        </p:spPr>
      </p:sp>
      <p:sp>
        <p:nvSpPr>
          <p:cNvPr id="16" name="Shape 13"/>
          <p:cNvSpPr/>
          <p:nvPr/>
        </p:nvSpPr>
        <p:spPr>
          <a:xfrm>
            <a:off x="749808" y="3309752"/>
            <a:ext cx="457200" cy="457200"/>
          </a:xfrm>
          <a:prstGeom prst="ellipse">
            <a:avLst/>
          </a:prstGeom>
          <a:solidFill>
            <a:srgbClr val="8C959F"/>
          </a:solidFill>
          <a:ln/>
        </p:spPr>
      </p:sp>
      <p:sp>
        <p:nvSpPr>
          <p:cNvPr id="17" name="Text 14"/>
          <p:cNvSpPr txBox="1"/>
          <p:nvPr/>
        </p:nvSpPr>
        <p:spPr>
          <a:xfrm>
            <a:off x="749808" y="330975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18" name="Text 15"/>
          <p:cNvSpPr txBox="1"/>
          <p:nvPr/>
        </p:nvSpPr>
        <p:spPr>
          <a:xfrm>
            <a:off x="1353312" y="3201040"/>
            <a:ext cx="4541368" cy="674624"/>
          </a:xfrm>
          <a:prstGeom prst="rect">
            <a:avLst/>
          </a:prstGeom>
          <a:noFill/>
          <a:ln/>
        </p:spPr>
        <p:txBody>
          <a:bodyPr wrap="square" lIns="0" tIns="0" rIns="0" bIns="0" rtlCol="0" anchor="ctr"/>
          <a:lstStyle/>
          <a:p>
            <a:pPr indent="0" marL="0">
              <a:buNone/>
            </a:pPr>
            <a:r>
              <a:rPr lang="id-ID" altLang="en-US" sz="2000" dirty="0">
                <a:solidFill>
                  <a:srgbClr val="57606A"/>
                </a:solidFill>
              </a:rPr>
              <a:t>jumlah kelas anak yang dimiliki kelas induk</a:t>
            </a:r>
            <a:endParaRPr lang="id-ID" sz="2000" dirty="0"/>
          </a:p>
        </p:txBody>
      </p:sp>
      <p:sp>
        <p:nvSpPr>
          <p:cNvPr id="19" name="Shape 16"/>
          <p:cNvSpPr/>
          <p:nvPr/>
        </p:nvSpPr>
        <p:spPr>
          <a:xfrm>
            <a:off x="6187288" y="3091312"/>
            <a:ext cx="5455768" cy="894080"/>
          </a:xfrm>
          <a:prstGeom prst="roundRect">
            <a:avLst>
              <a:gd name="adj" fmla="val 12552"/>
            </a:avLst>
          </a:prstGeom>
          <a:solidFill>
            <a:srgbClr val="DAFBE1"/>
          </a:solidFill>
          <a:ln w="22225">
            <a:solidFill>
              <a:srgbClr val="1A7F37"/>
            </a:solidFill>
            <a:prstDash val="solid"/>
          </a:ln>
        </p:spPr>
      </p:sp>
      <p:sp>
        <p:nvSpPr>
          <p:cNvPr id="20" name="Shape 17"/>
          <p:cNvSpPr/>
          <p:nvPr/>
        </p:nvSpPr>
        <p:spPr>
          <a:xfrm>
            <a:off x="6388456" y="3309752"/>
            <a:ext cx="457200" cy="457200"/>
          </a:xfrm>
          <a:prstGeom prst="ellipse">
            <a:avLst/>
          </a:prstGeom>
          <a:solidFill>
            <a:srgbClr val="1A7F37"/>
          </a:solidFill>
          <a:ln/>
        </p:spPr>
      </p:sp>
      <p:pic>
        <p:nvPicPr>
          <p:cNvPr id="21" name="Image 1" descr="preencoded.png">    </p:cNvPr>
          <p:cNvPicPr>
            <a:picLocks noChangeAspect="1"/>
          </p:cNvPicPr>
          <p:nvPr/>
        </p:nvPicPr>
        <p:blipFill>
          <a:blip r:embed="rId2"/>
          <a:stretch>
            <a:fillRect/>
          </a:stretch>
        </p:blipFill>
        <p:spPr>
          <a:xfrm>
            <a:off x="6489040" y="3410336"/>
            <a:ext cx="256032" cy="256032"/>
          </a:xfrm>
          <a:prstGeom prst="rect">
            <a:avLst/>
          </a:prstGeom>
        </p:spPr>
      </p:pic>
      <p:sp>
        <p:nvSpPr>
          <p:cNvPr id="22" name="Text 18"/>
          <p:cNvSpPr txBox="1"/>
          <p:nvPr/>
        </p:nvSpPr>
        <p:spPr>
          <a:xfrm>
            <a:off x="6991960" y="3201040"/>
            <a:ext cx="4541368" cy="674624"/>
          </a:xfrm>
          <a:prstGeom prst="rect">
            <a:avLst/>
          </a:prstGeom>
          <a:noFill/>
          <a:ln/>
        </p:spPr>
        <p:txBody>
          <a:bodyPr wrap="square" lIns="0" tIns="0" rIns="0" bIns="0" rtlCol="0" anchor="ctr"/>
          <a:lstStyle/>
          <a:p>
            <a:pPr indent="0" marL="0">
              <a:buNone/>
            </a:pPr>
            <a:r>
              <a:rPr lang="id-ID" altLang="en-US" sz="2000" dirty="0">
                <a:solidFill>
                  <a:srgbClr val="1F2328"/>
                </a:solidFill>
              </a:rPr>
              <a:t>tipe objek yang sebenarnya, saat program berjalan</a:t>
            </a:r>
            <a:endParaRPr lang="id-ID" sz="2000" dirty="0"/>
          </a:p>
        </p:txBody>
      </p:sp>
      <p:sp>
        <p:nvSpPr>
          <p:cNvPr id="23" name="Shape 19"/>
          <p:cNvSpPr/>
          <p:nvPr/>
        </p:nvSpPr>
        <p:spPr>
          <a:xfrm>
            <a:off x="548640" y="4186560"/>
            <a:ext cx="11094415" cy="1879600"/>
          </a:xfrm>
          <a:prstGeom prst="roundRect">
            <a:avLst>
              <a:gd name="adj" fmla="val 2840"/>
            </a:avLst>
          </a:prstGeom>
          <a:solidFill>
            <a:srgbClr val="FFF8C5"/>
          </a:solidFill>
          <a:ln w="9525">
            <a:solidFill>
              <a:srgbClr val="D4A72C"/>
            </a:solidFill>
            <a:prstDash val="solid"/>
          </a:ln>
        </p:spPr>
      </p:sp>
      <p:sp>
        <p:nvSpPr>
          <p:cNvPr id="24" name="Shape 20"/>
          <p:cNvSpPr/>
          <p:nvPr/>
        </p:nvSpPr>
        <p:spPr>
          <a:xfrm>
            <a:off x="777240" y="4369440"/>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470024"/>
            <a:ext cx="256032" cy="256032"/>
          </a:xfrm>
          <a:prstGeom prst="rect">
            <a:avLst/>
          </a:prstGeom>
        </p:spPr>
      </p:pic>
      <p:sp>
        <p:nvSpPr>
          <p:cNvPr id="26" name="Text 21"/>
          <p:cNvSpPr txBox="1"/>
          <p:nvPr/>
        </p:nvSpPr>
        <p:spPr>
          <a:xfrm>
            <a:off x="1417320" y="4323720"/>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D</a:t>
            </a:r>
            <a:endParaRPr lang="id-ID" sz="1600" dirty="0"/>
          </a:p>
        </p:txBody>
      </p:sp>
      <p:sp>
        <p:nvSpPr>
          <p:cNvPr id="27" name="Text 22"/>
          <p:cNvSpPr txBox="1"/>
          <p:nvPr/>
        </p:nvSpPr>
        <p:spPr>
          <a:xfrm>
            <a:off x="1417320" y="4662048"/>
            <a:ext cx="9951415" cy="1330960"/>
          </a:xfrm>
          <a:prstGeom prst="rect">
            <a:avLst/>
          </a:prstGeom>
          <a:noFill/>
          <a:ln/>
        </p:spPr>
        <p:txBody>
          <a:bodyPr wrap="square" lIns="0" tIns="0" rIns="0" bIns="0" rtlCol="0" anchor="t"/>
          <a:lstStyle/>
          <a:p>
            <a:pPr indent="0" marL="0">
              <a:buNone/>
            </a:pPr>
            <a:r>
              <a:rPr lang="id-ID" altLang="en-US" sz="2000" dirty="0">
                <a:solidFill>
                  <a:srgbClr val="1F2328"/>
                </a:solidFill>
              </a:rPr>
              <a:t>Inilah </a:t>
            </a:r>
            <a:r>
              <a:rPr lang="id-ID" altLang="en-US" sz="2000" i="1" dirty="0">
                <a:solidFill>
                  <a:srgbClr val="1F2328"/>
                </a:solidFill>
              </a:rPr>
              <a:t>dynamic dispatch</a:t>
            </a:r>
            <a:r>
              <a:rPr lang="id-ID" altLang="en-US" sz="2000" dirty="0">
                <a:solidFill>
                  <a:srgbClr val="1F2328"/>
                </a:solidFill>
              </a:rPr>
              <a:t>. Variabel bertipe </a:t>
            </a:r>
            <a:r>
              <a:rPr lang="id-ID" altLang="en-US" sz="2000" dirty="0">
                <a:solidFill>
                  <a:srgbClr val="0A3069"/>
                </a:solidFill>
                <a:latin typeface="Consolas" pitchFamily="34" charset="0"/>
                <a:ea typeface="Consolas" pitchFamily="34" charset="-122"/>
                <a:cs typeface="Consolas" pitchFamily="34" charset="-120"/>
              </a:rPr>
              <a:t>Hewan</a:t>
            </a:r>
            <a:r>
              <a:rPr lang="id-ID" altLang="en-US" sz="2000" dirty="0">
                <a:solidFill>
                  <a:srgbClr val="1F2328"/>
                </a:solidFill>
              </a:rPr>
              <a:t> yang menunjuk objek </a:t>
            </a:r>
            <a:r>
              <a:rPr lang="id-ID" altLang="en-US" sz="2000" dirty="0">
                <a:solidFill>
                  <a:srgbClr val="0A3069"/>
                </a:solidFill>
                <a:latin typeface="Consolas" pitchFamily="34" charset="0"/>
                <a:ea typeface="Consolas" pitchFamily="34" charset="-122"/>
                <a:cs typeface="Consolas" pitchFamily="34" charset="-120"/>
              </a:rPr>
              <a:t>Kucing</a:t>
            </a:r>
            <a:r>
              <a:rPr lang="id-ID" altLang="en-US" sz="2000" dirty="0">
                <a:solidFill>
                  <a:srgbClr val="1F2328"/>
                </a:solidFill>
              </a:rPr>
              <a:t> menjalankan </a:t>
            </a:r>
            <a:r>
              <a:rPr lang="id-ID" altLang="en-US" sz="2000" dirty="0">
                <a:solidFill>
                  <a:srgbClr val="0A3069"/>
                </a:solidFill>
                <a:latin typeface="Consolas" pitchFamily="34" charset="0"/>
                <a:ea typeface="Consolas" pitchFamily="34" charset="-122"/>
                <a:cs typeface="Consolas" pitchFamily="34" charset="-120"/>
              </a:rPr>
              <a:t>bersuara()</a:t>
            </a:r>
            <a:r>
              <a:rPr lang="id-ID" altLang="en-US" sz="2000" dirty="0">
                <a:solidFill>
                  <a:srgbClr val="1F2328"/>
                </a:solidFill>
              </a:rPr>
              <a:t> milik </a:t>
            </a:r>
            <a:r>
              <a:rPr lang="id-ID" altLang="en-US" sz="2000" dirty="0">
                <a:solidFill>
                  <a:srgbClr val="0A3069"/>
                </a:solidFill>
                <a:latin typeface="Consolas" pitchFamily="34" charset="0"/>
                <a:ea typeface="Consolas" pitchFamily="34" charset="-122"/>
                <a:cs typeface="Consolas" pitchFamily="34" charset="-120"/>
              </a:rPr>
              <a:t>Kucing</a:t>
            </a:r>
            <a:r>
              <a:rPr lang="id-ID" altLang="en-US" sz="2000" dirty="0">
                <a:solidFill>
                  <a:srgbClr val="1F2328"/>
                </a:solidFill>
              </a:rPr>
              <a:t>. Tipe variabel (pilihan A) hanya menentukan </a:t>
            </a:r>
            <a:r>
              <a:rPr lang="id-ID" altLang="en-US" sz="2000" i="1" dirty="0">
                <a:solidFill>
                  <a:srgbClr val="1F2328"/>
                </a:solidFill>
              </a:rPr>
              <a:t>method</a:t>
            </a:r>
            <a:r>
              <a:rPr lang="id-ID" altLang="en-US" sz="2000" dirty="0">
                <a:solidFill>
                  <a:srgbClr val="1F2328"/>
                </a:solidFill>
              </a:rPr>
              <a:t> apa saja yang </a:t>
            </a:r>
            <a:r>
              <a:rPr lang="id-ID" altLang="en-US" sz="2000" b="1" dirty="0">
                <a:solidFill>
                  <a:srgbClr val="1F2328"/>
                </a:solidFill>
              </a:rPr>
              <a:t>boleh dipanggil</a:t>
            </a:r>
            <a:r>
              <a:rPr lang="id-ID" altLang="en-US" sz="2000" dirty="0">
                <a:solidFill>
                  <a:srgbClr val="1F2328"/>
                </a:solidFill>
              </a:rPr>
              <a:t> di Java, bukan versi mana yang berjalan. Pilihan B dan C tidak berpengaruh sama sekali.</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574353"/>
            <a:ext cx="11094415" cy="891032"/>
          </a:xfrm>
          <a:prstGeom prst="roundRect">
            <a:avLst>
              <a:gd name="adj" fmla="val 12638"/>
            </a:avLst>
          </a:prstGeom>
          <a:solidFill>
            <a:srgbClr val="FBEFFF"/>
          </a:solidFill>
          <a:ln w="9525">
            <a:solidFill>
              <a:srgbClr val="C297FF"/>
            </a:solidFill>
            <a:prstDash val="solid"/>
          </a:ln>
        </p:spPr>
      </p:sp>
      <p:sp>
        <p:nvSpPr>
          <p:cNvPr id="6" name="Shape 3"/>
          <p:cNvSpPr/>
          <p:nvPr/>
        </p:nvSpPr>
        <p:spPr>
          <a:xfrm>
            <a:off x="777240" y="1791269"/>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1891853"/>
            <a:ext cx="256032" cy="256032"/>
          </a:xfrm>
          <a:prstGeom prst="rect">
            <a:avLst/>
          </a:prstGeom>
        </p:spPr>
      </p:pic>
      <p:sp>
        <p:nvSpPr>
          <p:cNvPr id="8" name="Text 4"/>
          <p:cNvSpPr txBox="1"/>
          <p:nvPr/>
        </p:nvSpPr>
        <p:spPr>
          <a:xfrm>
            <a:off x="1417320" y="1802953"/>
            <a:ext cx="9951415" cy="616712"/>
          </a:xfrm>
          <a:prstGeom prst="rect">
            <a:avLst/>
          </a:prstGeom>
          <a:noFill/>
          <a:ln/>
        </p:spPr>
        <p:txBody>
          <a:bodyPr wrap="square" lIns="0" tIns="0" rIns="0" bIns="0" rtlCol="0" anchor="t"/>
          <a:lstStyle/>
          <a:p>
            <a:pPr indent="0" marL="0">
              <a:buNone/>
            </a:pPr>
            <a:r>
              <a:rPr lang="id-ID" altLang="en-US" sz="2800" dirty="0">
                <a:solidFill>
                  <a:srgbClr val="1F2328"/>
                </a:solidFill>
              </a:rPr>
              <a:t>Apa yang dimaksud dengan </a:t>
            </a:r>
            <a:r>
              <a:rPr lang="id-ID" altLang="en-US" sz="2800" b="1" i="1" dirty="0">
                <a:solidFill>
                  <a:srgbClr val="1F2328"/>
                </a:solidFill>
              </a:rPr>
              <a:t>duck typing</a:t>
            </a:r>
            <a:r>
              <a:rPr lang="id-ID" altLang="en-US" sz="2800" dirty="0">
                <a:solidFill>
                  <a:srgbClr val="1F2328"/>
                </a:solidFill>
              </a:rPr>
              <a:t>?</a:t>
            </a:r>
            <a:endParaRPr lang="id-ID" sz="2800" dirty="0"/>
          </a:p>
        </p:txBody>
      </p:sp>
      <p:sp>
        <p:nvSpPr>
          <p:cNvPr id="9" name="Shape 5"/>
          <p:cNvSpPr/>
          <p:nvPr/>
        </p:nvSpPr>
        <p:spPr>
          <a:xfrm>
            <a:off x="548640" y="2648265"/>
            <a:ext cx="5455768" cy="1761744"/>
          </a:xfrm>
          <a:prstGeom prst="roundRect">
            <a:avLst>
              <a:gd name="adj" fmla="val 3233"/>
            </a:avLst>
          </a:prstGeom>
          <a:solidFill>
            <a:srgbClr val="FFFFFF"/>
          </a:solidFill>
          <a:ln w="9525">
            <a:solidFill>
              <a:srgbClr val="D0D7DE"/>
            </a:solidFill>
            <a:prstDash val="solid"/>
          </a:ln>
        </p:spPr>
      </p:sp>
      <p:sp>
        <p:nvSpPr>
          <p:cNvPr id="10" name="Shape 6"/>
          <p:cNvSpPr/>
          <p:nvPr/>
        </p:nvSpPr>
        <p:spPr>
          <a:xfrm>
            <a:off x="749808" y="3300537"/>
            <a:ext cx="457200" cy="457200"/>
          </a:xfrm>
          <a:prstGeom prst="ellipse">
            <a:avLst/>
          </a:prstGeom>
          <a:solidFill>
            <a:srgbClr val="8250DF"/>
          </a:solidFill>
          <a:ln/>
        </p:spPr>
      </p:sp>
      <p:sp>
        <p:nvSpPr>
          <p:cNvPr id="11" name="Text 7"/>
          <p:cNvSpPr txBox="1"/>
          <p:nvPr/>
        </p:nvSpPr>
        <p:spPr>
          <a:xfrm>
            <a:off x="749808" y="3300537"/>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2757993"/>
            <a:ext cx="4541368" cy="1542288"/>
          </a:xfrm>
          <a:prstGeom prst="rect">
            <a:avLst/>
          </a:prstGeom>
          <a:noFill/>
          <a:ln/>
        </p:spPr>
        <p:txBody>
          <a:bodyPr wrap="square" lIns="0" tIns="0" rIns="0" bIns="0" rtlCol="0" anchor="ctr"/>
          <a:lstStyle/>
          <a:p>
            <a:pPr indent="0" marL="0">
              <a:buNone/>
            </a:pPr>
            <a:r>
              <a:rPr lang="id-ID" altLang="en-US" sz="2400" dirty="0">
                <a:solidFill>
                  <a:srgbClr val="1F2328"/>
                </a:solidFill>
              </a:rPr>
              <a:t>Java mengizinkan objek tanpa induk bersama disimpan dalam satu </a:t>
            </a:r>
            <a:r>
              <a:rPr lang="id-ID" altLang="en-US" sz="2400" dirty="0">
                <a:solidFill>
                  <a:srgbClr val="0A3069"/>
                </a:solidFill>
                <a:latin typeface="Consolas" pitchFamily="34" charset="0"/>
                <a:ea typeface="Consolas" pitchFamily="34" charset="-122"/>
                <a:cs typeface="Consolas" pitchFamily="34" charset="-120"/>
              </a:rPr>
              <a:t>List</a:t>
            </a:r>
            <a:endParaRPr lang="id-ID" sz="2400" dirty="0"/>
          </a:p>
        </p:txBody>
      </p:sp>
      <p:sp>
        <p:nvSpPr>
          <p:cNvPr id="13" name="Shape 9"/>
          <p:cNvSpPr/>
          <p:nvPr/>
        </p:nvSpPr>
        <p:spPr>
          <a:xfrm>
            <a:off x="6187288" y="2648265"/>
            <a:ext cx="5455768" cy="1761744"/>
          </a:xfrm>
          <a:prstGeom prst="roundRect">
            <a:avLst>
              <a:gd name="adj" fmla="val 3233"/>
            </a:avLst>
          </a:prstGeom>
          <a:solidFill>
            <a:srgbClr val="FFFFFF"/>
          </a:solidFill>
          <a:ln w="9525">
            <a:solidFill>
              <a:srgbClr val="D0D7DE"/>
            </a:solidFill>
            <a:prstDash val="solid"/>
          </a:ln>
        </p:spPr>
      </p:sp>
      <p:sp>
        <p:nvSpPr>
          <p:cNvPr id="14" name="Shape 10"/>
          <p:cNvSpPr/>
          <p:nvPr/>
        </p:nvSpPr>
        <p:spPr>
          <a:xfrm>
            <a:off x="6388456" y="3300537"/>
            <a:ext cx="457200" cy="457200"/>
          </a:xfrm>
          <a:prstGeom prst="ellipse">
            <a:avLst/>
          </a:prstGeom>
          <a:solidFill>
            <a:srgbClr val="8250DF"/>
          </a:solidFill>
          <a:ln/>
        </p:spPr>
      </p:sp>
      <p:sp>
        <p:nvSpPr>
          <p:cNvPr id="15" name="Text 11"/>
          <p:cNvSpPr txBox="1"/>
          <p:nvPr/>
        </p:nvSpPr>
        <p:spPr>
          <a:xfrm>
            <a:off x="6388456" y="3300537"/>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2757993"/>
            <a:ext cx="4541368" cy="1542288"/>
          </a:xfrm>
          <a:prstGeom prst="rect">
            <a:avLst/>
          </a:prstGeom>
          <a:noFill/>
          <a:ln/>
        </p:spPr>
        <p:txBody>
          <a:bodyPr wrap="square" lIns="0" tIns="0" rIns="0" bIns="0" rtlCol="0" anchor="ctr"/>
          <a:lstStyle/>
          <a:p>
            <a:pPr indent="0" marL="0">
              <a:buNone/>
            </a:pPr>
            <a:r>
              <a:rPr lang="id-ID" altLang="en-US" sz="2400" dirty="0">
                <a:solidFill>
                  <a:srgbClr val="1F2328"/>
                </a:solidFill>
              </a:rPr>
              <a:t>Python menganggap objek cocok selama ia punya </a:t>
            </a:r>
            <a:r>
              <a:rPr lang="id-ID" altLang="en-US" sz="2400" i="1" dirty="0">
                <a:solidFill>
                  <a:srgbClr val="1F2328"/>
                </a:solidFill>
              </a:rPr>
              <a:t>method</a:t>
            </a:r>
            <a:r>
              <a:rPr lang="id-ID" altLang="en-US" sz="2400" dirty="0">
                <a:solidFill>
                  <a:srgbClr val="1F2328"/>
                </a:solidFill>
              </a:rPr>
              <a:t> yang dibutuhkan, tanpa memeriksa kelasnya</a:t>
            </a:r>
            <a:endParaRPr lang="id-ID" sz="2400" dirty="0"/>
          </a:p>
        </p:txBody>
      </p:sp>
      <p:sp>
        <p:nvSpPr>
          <p:cNvPr id="17" name="Shape 13"/>
          <p:cNvSpPr/>
          <p:nvPr/>
        </p:nvSpPr>
        <p:spPr>
          <a:xfrm>
            <a:off x="548640" y="4592889"/>
            <a:ext cx="5455768" cy="1389888"/>
          </a:xfrm>
          <a:prstGeom prst="roundRect">
            <a:avLst>
              <a:gd name="adj" fmla="val 5194"/>
            </a:avLst>
          </a:prstGeom>
          <a:solidFill>
            <a:srgbClr val="FFFFFF"/>
          </a:solidFill>
          <a:ln w="9525">
            <a:solidFill>
              <a:srgbClr val="D0D7DE"/>
            </a:solidFill>
            <a:prstDash val="solid"/>
          </a:ln>
        </p:spPr>
      </p:sp>
      <p:sp>
        <p:nvSpPr>
          <p:cNvPr id="18" name="Shape 14"/>
          <p:cNvSpPr/>
          <p:nvPr/>
        </p:nvSpPr>
        <p:spPr>
          <a:xfrm>
            <a:off x="749808" y="5059233"/>
            <a:ext cx="457200" cy="457200"/>
          </a:xfrm>
          <a:prstGeom prst="ellipse">
            <a:avLst/>
          </a:prstGeom>
          <a:solidFill>
            <a:srgbClr val="8250DF"/>
          </a:solidFill>
          <a:ln/>
        </p:spPr>
      </p:sp>
      <p:sp>
        <p:nvSpPr>
          <p:cNvPr id="19" name="Text 15"/>
          <p:cNvSpPr txBox="1"/>
          <p:nvPr/>
        </p:nvSpPr>
        <p:spPr>
          <a:xfrm>
            <a:off x="749808" y="5059233"/>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4702617"/>
            <a:ext cx="4541368" cy="1170432"/>
          </a:xfrm>
          <a:prstGeom prst="rect">
            <a:avLst/>
          </a:prstGeom>
          <a:noFill/>
          <a:ln/>
        </p:spPr>
        <p:txBody>
          <a:bodyPr wrap="square" lIns="0" tIns="0" rIns="0" bIns="0" rtlCol="0" anchor="ctr"/>
          <a:lstStyle/>
          <a:p>
            <a:pPr indent="0" marL="0">
              <a:buNone/>
            </a:pPr>
            <a:r>
              <a:rPr lang="id-ID" altLang="en-US" sz="2400" dirty="0">
                <a:solidFill>
                  <a:srgbClr val="1F2328"/>
                </a:solidFill>
              </a:rPr>
              <a:t>Teknik memeriksa jenis objek dengan </a:t>
            </a:r>
            <a:r>
              <a:rPr lang="id-ID" altLang="en-US" sz="2400" dirty="0">
                <a:solidFill>
                  <a:srgbClr val="0A3069"/>
                </a:solidFill>
                <a:latin typeface="Consolas" pitchFamily="34" charset="0"/>
                <a:ea typeface="Consolas" pitchFamily="34" charset="-122"/>
                <a:cs typeface="Consolas" pitchFamily="34" charset="-120"/>
              </a:rPr>
              <a:t>isinstance</a:t>
            </a:r>
            <a:r>
              <a:rPr lang="id-ID" altLang="en-US" sz="2400" dirty="0">
                <a:solidFill>
                  <a:srgbClr val="1F2328"/>
                </a:solidFill>
              </a:rPr>
              <a:t> sebelum memanggil </a:t>
            </a:r>
            <a:r>
              <a:rPr lang="id-ID" altLang="en-US" sz="2400" i="1" dirty="0">
                <a:solidFill>
                  <a:srgbClr val="1F2328"/>
                </a:solidFill>
              </a:rPr>
              <a:t>method</a:t>
            </a:r>
            <a:endParaRPr lang="id-ID" sz="2400" dirty="0"/>
          </a:p>
        </p:txBody>
      </p:sp>
      <p:sp>
        <p:nvSpPr>
          <p:cNvPr id="21" name="Shape 17"/>
          <p:cNvSpPr/>
          <p:nvPr/>
        </p:nvSpPr>
        <p:spPr>
          <a:xfrm>
            <a:off x="6187288" y="4592889"/>
            <a:ext cx="5455768" cy="1389888"/>
          </a:xfrm>
          <a:prstGeom prst="roundRect">
            <a:avLst>
              <a:gd name="adj" fmla="val 5194"/>
            </a:avLst>
          </a:prstGeom>
          <a:solidFill>
            <a:srgbClr val="FFFFFF"/>
          </a:solidFill>
          <a:ln w="9525">
            <a:solidFill>
              <a:srgbClr val="D0D7DE"/>
            </a:solidFill>
            <a:prstDash val="solid"/>
          </a:ln>
        </p:spPr>
      </p:sp>
      <p:sp>
        <p:nvSpPr>
          <p:cNvPr id="22" name="Shape 18"/>
          <p:cNvSpPr/>
          <p:nvPr/>
        </p:nvSpPr>
        <p:spPr>
          <a:xfrm>
            <a:off x="6388456" y="5059233"/>
            <a:ext cx="457200" cy="457200"/>
          </a:xfrm>
          <a:prstGeom prst="ellipse">
            <a:avLst/>
          </a:prstGeom>
          <a:solidFill>
            <a:srgbClr val="8250DF"/>
          </a:solidFill>
          <a:ln/>
        </p:spPr>
      </p:sp>
      <p:sp>
        <p:nvSpPr>
          <p:cNvPr id="23" name="Text 19"/>
          <p:cNvSpPr txBox="1"/>
          <p:nvPr/>
        </p:nvSpPr>
        <p:spPr>
          <a:xfrm>
            <a:off x="6388456" y="5059233"/>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4702617"/>
            <a:ext cx="4541368" cy="1170432"/>
          </a:xfrm>
          <a:prstGeom prst="rect">
            <a:avLst/>
          </a:prstGeom>
          <a:noFill/>
          <a:ln/>
        </p:spPr>
        <p:txBody>
          <a:bodyPr wrap="square" lIns="0" tIns="0" rIns="0" bIns="0" rtlCol="0" anchor="ctr"/>
          <a:lstStyle/>
          <a:p>
            <a:pPr indent="0" marL="0">
              <a:buNone/>
            </a:pPr>
            <a:r>
              <a:rPr lang="id-ID" altLang="en-US" sz="2400" dirty="0">
                <a:solidFill>
                  <a:srgbClr val="1F2328"/>
                </a:solidFill>
              </a:rPr>
              <a:t>Teknik menulis beberapa </a:t>
            </a:r>
            <a:r>
              <a:rPr lang="id-ID" altLang="en-US" sz="2400" i="1" dirty="0">
                <a:solidFill>
                  <a:srgbClr val="1F2328"/>
                </a:solidFill>
              </a:rPr>
              <a:t>method</a:t>
            </a:r>
            <a:r>
              <a:rPr lang="id-ID" altLang="en-US" sz="2400" dirty="0">
                <a:solidFill>
                  <a:srgbClr val="1F2328"/>
                </a:solidFill>
              </a:rPr>
              <a:t> bernama sama dengan parameter berbeda</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532108"/>
            <a:ext cx="11094415" cy="522224"/>
          </a:xfrm>
          <a:prstGeom prst="roundRect">
            <a:avLst>
              <a:gd name="adj" fmla="val 36791"/>
            </a:avLst>
          </a:prstGeom>
          <a:solidFill>
            <a:srgbClr val="F6F8FA"/>
          </a:solidFill>
          <a:ln w="9525">
            <a:solidFill>
              <a:srgbClr val="D0D7DE"/>
            </a:solidFill>
            <a:prstDash val="solid"/>
          </a:ln>
        </p:spPr>
      </p:sp>
      <p:sp>
        <p:nvSpPr>
          <p:cNvPr id="6" name="Text 3"/>
          <p:cNvSpPr txBox="1"/>
          <p:nvPr/>
        </p:nvSpPr>
        <p:spPr>
          <a:xfrm>
            <a:off x="822960" y="1669268"/>
            <a:ext cx="10545775" cy="247904"/>
          </a:xfrm>
          <a:prstGeom prst="rect">
            <a:avLst/>
          </a:prstGeom>
          <a:noFill/>
          <a:ln/>
        </p:spPr>
        <p:txBody>
          <a:bodyPr wrap="square" lIns="0" tIns="0" rIns="0" bIns="0" rtlCol="0" anchor="t"/>
          <a:lstStyle/>
          <a:p>
            <a:pPr indent="0" marL="0">
              <a:buNone/>
            </a:pPr>
            <a:r>
              <a:rPr lang="id-ID" altLang="en-US" sz="1600" dirty="0">
                <a:solidFill>
                  <a:srgbClr val="57606A"/>
                </a:solidFill>
              </a:rPr>
              <a:t>Apa yang dimaksud dengan </a:t>
            </a:r>
            <a:r>
              <a:rPr lang="id-ID" altLang="en-US" sz="1600" b="1" i="1" dirty="0">
                <a:solidFill>
                  <a:srgbClr val="57606A"/>
                </a:solidFill>
              </a:rPr>
              <a:t>duck typing</a:t>
            </a:r>
            <a:r>
              <a:rPr lang="id-ID" altLang="en-US" sz="1600" dirty="0">
                <a:solidFill>
                  <a:srgbClr val="57606A"/>
                </a:solidFill>
              </a:rPr>
              <a:t>?</a:t>
            </a:r>
            <a:endParaRPr lang="id-ID" sz="1600" dirty="0"/>
          </a:p>
        </p:txBody>
      </p:sp>
      <p:sp>
        <p:nvSpPr>
          <p:cNvPr id="7" name="Shape 4"/>
          <p:cNvSpPr/>
          <p:nvPr/>
        </p:nvSpPr>
        <p:spPr>
          <a:xfrm>
            <a:off x="548640" y="2237212"/>
            <a:ext cx="5455768" cy="1110996"/>
          </a:xfrm>
          <a:prstGeom prst="roundRect">
            <a:avLst>
              <a:gd name="adj" fmla="val 8129"/>
            </a:avLst>
          </a:prstGeom>
          <a:solidFill>
            <a:srgbClr val="FFFFFF"/>
          </a:solidFill>
          <a:ln w="9525">
            <a:solidFill>
              <a:srgbClr val="D0D7DE"/>
            </a:solidFill>
            <a:prstDash val="solid"/>
          </a:ln>
        </p:spPr>
      </p:sp>
      <p:sp>
        <p:nvSpPr>
          <p:cNvPr id="8" name="Shape 5"/>
          <p:cNvSpPr/>
          <p:nvPr/>
        </p:nvSpPr>
        <p:spPr>
          <a:xfrm>
            <a:off x="749808" y="2586970"/>
            <a:ext cx="411480" cy="411480"/>
          </a:xfrm>
          <a:prstGeom prst="ellipse">
            <a:avLst/>
          </a:prstGeom>
          <a:solidFill>
            <a:srgbClr val="8C959F"/>
          </a:solidFill>
          <a:ln/>
        </p:spPr>
      </p:sp>
      <p:sp>
        <p:nvSpPr>
          <p:cNvPr id="9" name="Text 6"/>
          <p:cNvSpPr txBox="1"/>
          <p:nvPr/>
        </p:nvSpPr>
        <p:spPr>
          <a:xfrm>
            <a:off x="749808" y="2586970"/>
            <a:ext cx="411480" cy="411480"/>
          </a:xfrm>
          <a:prstGeom prst="rect">
            <a:avLst/>
          </a:prstGeom>
          <a:noFill/>
          <a:ln/>
        </p:spPr>
        <p:txBody>
          <a:bodyPr wrap="square" lIns="0" tIns="0" rIns="0" bIns="0" rtlCol="0" anchor="ctr"/>
          <a:lstStyle/>
          <a:p>
            <a:pPr algn="ctr" indent="0" marL="0">
              <a:buNone/>
            </a:pPr>
            <a:r>
              <a:rPr lang="id-ID" altLang="en-US" sz="1600" b="1" dirty="0">
                <a:solidFill>
                  <a:srgbClr val="FFFFFF"/>
                </a:solidFill>
              </a:rPr>
              <a:t>A</a:t>
            </a:r>
            <a:endParaRPr lang="id-ID" sz="1600" dirty="0"/>
          </a:p>
        </p:txBody>
      </p:sp>
      <p:sp>
        <p:nvSpPr>
          <p:cNvPr id="10" name="Text 7"/>
          <p:cNvSpPr txBox="1"/>
          <p:nvPr/>
        </p:nvSpPr>
        <p:spPr>
          <a:xfrm>
            <a:off x="1353312" y="2346940"/>
            <a:ext cx="4541368" cy="891540"/>
          </a:xfrm>
          <a:prstGeom prst="rect">
            <a:avLst/>
          </a:prstGeom>
          <a:noFill/>
          <a:ln/>
        </p:spPr>
        <p:txBody>
          <a:bodyPr wrap="square" lIns="0" tIns="0" rIns="0" bIns="0" rtlCol="0" anchor="ctr"/>
          <a:lstStyle/>
          <a:p>
            <a:pPr indent="0" marL="0">
              <a:buNone/>
            </a:pPr>
            <a:r>
              <a:rPr lang="id-ID" altLang="en-US" sz="1800" dirty="0">
                <a:solidFill>
                  <a:srgbClr val="57606A"/>
                </a:solidFill>
              </a:rPr>
              <a:t>Java mengizinkan objek tanpa induk bersama disimpan dalam satu </a:t>
            </a:r>
            <a:r>
              <a:rPr lang="id-ID" altLang="en-US" sz="1800" dirty="0">
                <a:solidFill>
                  <a:srgbClr val="0A3069"/>
                </a:solidFill>
                <a:latin typeface="Consolas" pitchFamily="34" charset="0"/>
                <a:ea typeface="Consolas" pitchFamily="34" charset="-122"/>
                <a:cs typeface="Consolas" pitchFamily="34" charset="-120"/>
              </a:rPr>
              <a:t>List</a:t>
            </a:r>
            <a:endParaRPr lang="id-ID" sz="1800" dirty="0"/>
          </a:p>
        </p:txBody>
      </p:sp>
      <p:sp>
        <p:nvSpPr>
          <p:cNvPr id="11" name="Shape 8"/>
          <p:cNvSpPr/>
          <p:nvPr/>
        </p:nvSpPr>
        <p:spPr>
          <a:xfrm>
            <a:off x="6187288" y="2237212"/>
            <a:ext cx="5455768" cy="1110996"/>
          </a:xfrm>
          <a:prstGeom prst="roundRect">
            <a:avLst>
              <a:gd name="adj" fmla="val 8129"/>
            </a:avLst>
          </a:prstGeom>
          <a:solidFill>
            <a:srgbClr val="DAFBE1"/>
          </a:solidFill>
          <a:ln w="22225">
            <a:solidFill>
              <a:srgbClr val="1A7F37"/>
            </a:solidFill>
            <a:prstDash val="solid"/>
          </a:ln>
        </p:spPr>
      </p:sp>
      <p:sp>
        <p:nvSpPr>
          <p:cNvPr id="12" name="Shape 9"/>
          <p:cNvSpPr/>
          <p:nvPr/>
        </p:nvSpPr>
        <p:spPr>
          <a:xfrm>
            <a:off x="6388456" y="2586970"/>
            <a:ext cx="411480" cy="411480"/>
          </a:xfrm>
          <a:prstGeom prst="ellipse">
            <a:avLst/>
          </a:prstGeom>
          <a:solidFill>
            <a:srgbClr val="1A7F37"/>
          </a:solidFill>
          <a:ln/>
        </p:spPr>
      </p:sp>
      <p:pic>
        <p:nvPicPr>
          <p:cNvPr id="13" name="Image 1" descr="preencoded.png">    </p:cNvPr>
          <p:cNvPicPr>
            <a:picLocks noChangeAspect="1"/>
          </p:cNvPicPr>
          <p:nvPr/>
        </p:nvPicPr>
        <p:blipFill>
          <a:blip r:embed="rId2"/>
          <a:stretch>
            <a:fillRect/>
          </a:stretch>
        </p:blipFill>
        <p:spPr>
          <a:xfrm>
            <a:off x="6478981" y="2677495"/>
            <a:ext cx="230429" cy="230429"/>
          </a:xfrm>
          <a:prstGeom prst="rect">
            <a:avLst/>
          </a:prstGeom>
        </p:spPr>
      </p:pic>
      <p:sp>
        <p:nvSpPr>
          <p:cNvPr id="14" name="Text 10"/>
          <p:cNvSpPr txBox="1"/>
          <p:nvPr/>
        </p:nvSpPr>
        <p:spPr>
          <a:xfrm>
            <a:off x="6991960" y="2346940"/>
            <a:ext cx="4541368" cy="891540"/>
          </a:xfrm>
          <a:prstGeom prst="rect">
            <a:avLst/>
          </a:prstGeom>
          <a:noFill/>
          <a:ln/>
        </p:spPr>
        <p:txBody>
          <a:bodyPr wrap="square" lIns="0" tIns="0" rIns="0" bIns="0" rtlCol="0" anchor="ctr"/>
          <a:lstStyle/>
          <a:p>
            <a:pPr indent="0" marL="0">
              <a:buNone/>
            </a:pPr>
            <a:r>
              <a:rPr lang="id-ID" altLang="en-US" sz="1800" dirty="0">
                <a:solidFill>
                  <a:srgbClr val="1F2328"/>
                </a:solidFill>
              </a:rPr>
              <a:t>Python menganggap objek cocok selama ia punya </a:t>
            </a:r>
            <a:r>
              <a:rPr lang="id-ID" altLang="en-US" sz="1800" i="1" dirty="0">
                <a:solidFill>
                  <a:srgbClr val="1F2328"/>
                </a:solidFill>
              </a:rPr>
              <a:t>method</a:t>
            </a:r>
            <a:r>
              <a:rPr lang="id-ID" altLang="en-US" sz="1800" dirty="0">
                <a:solidFill>
                  <a:srgbClr val="1F2328"/>
                </a:solidFill>
              </a:rPr>
              <a:t> yang dibutuhkan, tanpa memeriksa kelasnya</a:t>
            </a:r>
            <a:endParaRPr lang="id-ID" sz="1800" dirty="0"/>
          </a:p>
        </p:txBody>
      </p:sp>
      <p:sp>
        <p:nvSpPr>
          <p:cNvPr id="15" name="Shape 11"/>
          <p:cNvSpPr/>
          <p:nvPr/>
        </p:nvSpPr>
        <p:spPr>
          <a:xfrm>
            <a:off x="548640" y="3531088"/>
            <a:ext cx="5455768" cy="832104"/>
          </a:xfrm>
          <a:prstGeom prst="roundRect">
            <a:avLst>
              <a:gd name="adj" fmla="val 14491"/>
            </a:avLst>
          </a:prstGeom>
          <a:solidFill>
            <a:srgbClr val="FFFFFF"/>
          </a:solidFill>
          <a:ln w="9525">
            <a:solidFill>
              <a:srgbClr val="D0D7DE"/>
            </a:solidFill>
            <a:prstDash val="solid"/>
          </a:ln>
        </p:spPr>
      </p:sp>
      <p:sp>
        <p:nvSpPr>
          <p:cNvPr id="16" name="Shape 12"/>
          <p:cNvSpPr/>
          <p:nvPr/>
        </p:nvSpPr>
        <p:spPr>
          <a:xfrm>
            <a:off x="749808" y="3741400"/>
            <a:ext cx="411480" cy="411480"/>
          </a:xfrm>
          <a:prstGeom prst="ellipse">
            <a:avLst/>
          </a:prstGeom>
          <a:solidFill>
            <a:srgbClr val="8C959F"/>
          </a:solidFill>
          <a:ln/>
        </p:spPr>
      </p:sp>
      <p:sp>
        <p:nvSpPr>
          <p:cNvPr id="17" name="Text 13"/>
          <p:cNvSpPr txBox="1"/>
          <p:nvPr/>
        </p:nvSpPr>
        <p:spPr>
          <a:xfrm>
            <a:off x="749808" y="3741400"/>
            <a:ext cx="411480" cy="411480"/>
          </a:xfrm>
          <a:prstGeom prst="rect">
            <a:avLst/>
          </a:prstGeom>
          <a:noFill/>
          <a:ln/>
        </p:spPr>
        <p:txBody>
          <a:bodyPr wrap="square" lIns="0" tIns="0" rIns="0" bIns="0" rtlCol="0" anchor="ctr"/>
          <a:lstStyle/>
          <a:p>
            <a:pPr algn="ctr" indent="0" marL="0">
              <a:buNone/>
            </a:pPr>
            <a:r>
              <a:rPr lang="id-ID" altLang="en-US" sz="1600" b="1" dirty="0">
                <a:solidFill>
                  <a:srgbClr val="FFFFFF"/>
                </a:solidFill>
              </a:rPr>
              <a:t>C</a:t>
            </a:r>
            <a:endParaRPr lang="id-ID" sz="1600" dirty="0"/>
          </a:p>
        </p:txBody>
      </p:sp>
      <p:sp>
        <p:nvSpPr>
          <p:cNvPr id="18" name="Text 14"/>
          <p:cNvSpPr txBox="1"/>
          <p:nvPr/>
        </p:nvSpPr>
        <p:spPr>
          <a:xfrm>
            <a:off x="1353312" y="3640816"/>
            <a:ext cx="4541368" cy="612648"/>
          </a:xfrm>
          <a:prstGeom prst="rect">
            <a:avLst/>
          </a:prstGeom>
          <a:noFill/>
          <a:ln/>
        </p:spPr>
        <p:txBody>
          <a:bodyPr wrap="square" lIns="0" tIns="0" rIns="0" bIns="0" rtlCol="0" anchor="ctr"/>
          <a:lstStyle/>
          <a:p>
            <a:pPr indent="0" marL="0">
              <a:buNone/>
            </a:pPr>
            <a:r>
              <a:rPr lang="id-ID" altLang="en-US" sz="1800" dirty="0">
                <a:solidFill>
                  <a:srgbClr val="57606A"/>
                </a:solidFill>
              </a:rPr>
              <a:t>Teknik memeriksa jenis objek dengan </a:t>
            </a:r>
            <a:r>
              <a:rPr lang="id-ID" altLang="en-US" sz="1800" dirty="0">
                <a:solidFill>
                  <a:srgbClr val="0A3069"/>
                </a:solidFill>
                <a:latin typeface="Consolas" pitchFamily="34" charset="0"/>
                <a:ea typeface="Consolas" pitchFamily="34" charset="-122"/>
                <a:cs typeface="Consolas" pitchFamily="34" charset="-120"/>
              </a:rPr>
              <a:t>isinstance</a:t>
            </a:r>
            <a:r>
              <a:rPr lang="id-ID" altLang="en-US" sz="1800" dirty="0">
                <a:solidFill>
                  <a:srgbClr val="57606A"/>
                </a:solidFill>
              </a:rPr>
              <a:t> sebelum memanggil </a:t>
            </a:r>
            <a:r>
              <a:rPr lang="id-ID" altLang="en-US" sz="1800" i="1" dirty="0">
                <a:solidFill>
                  <a:srgbClr val="57606A"/>
                </a:solidFill>
              </a:rPr>
              <a:t>method</a:t>
            </a:r>
            <a:endParaRPr lang="id-ID" sz="1800" dirty="0"/>
          </a:p>
        </p:txBody>
      </p:sp>
      <p:sp>
        <p:nvSpPr>
          <p:cNvPr id="19" name="Shape 15"/>
          <p:cNvSpPr/>
          <p:nvPr/>
        </p:nvSpPr>
        <p:spPr>
          <a:xfrm>
            <a:off x="6187288" y="3531088"/>
            <a:ext cx="5455768" cy="832104"/>
          </a:xfrm>
          <a:prstGeom prst="roundRect">
            <a:avLst>
              <a:gd name="adj" fmla="val 14491"/>
            </a:avLst>
          </a:prstGeom>
          <a:solidFill>
            <a:srgbClr val="FFFFFF"/>
          </a:solidFill>
          <a:ln w="9525">
            <a:solidFill>
              <a:srgbClr val="D0D7DE"/>
            </a:solidFill>
            <a:prstDash val="solid"/>
          </a:ln>
        </p:spPr>
      </p:sp>
      <p:sp>
        <p:nvSpPr>
          <p:cNvPr id="20" name="Shape 16"/>
          <p:cNvSpPr/>
          <p:nvPr/>
        </p:nvSpPr>
        <p:spPr>
          <a:xfrm>
            <a:off x="6388456" y="3741400"/>
            <a:ext cx="411480" cy="411480"/>
          </a:xfrm>
          <a:prstGeom prst="ellipse">
            <a:avLst/>
          </a:prstGeom>
          <a:solidFill>
            <a:srgbClr val="8C959F"/>
          </a:solidFill>
          <a:ln/>
        </p:spPr>
      </p:sp>
      <p:sp>
        <p:nvSpPr>
          <p:cNvPr id="21" name="Text 17"/>
          <p:cNvSpPr txBox="1"/>
          <p:nvPr/>
        </p:nvSpPr>
        <p:spPr>
          <a:xfrm>
            <a:off x="6388456" y="3741400"/>
            <a:ext cx="411480" cy="411480"/>
          </a:xfrm>
          <a:prstGeom prst="rect">
            <a:avLst/>
          </a:prstGeom>
          <a:noFill/>
          <a:ln/>
        </p:spPr>
        <p:txBody>
          <a:bodyPr wrap="square" lIns="0" tIns="0" rIns="0" bIns="0" rtlCol="0" anchor="ctr"/>
          <a:lstStyle/>
          <a:p>
            <a:pPr algn="ctr" indent="0" marL="0">
              <a:buNone/>
            </a:pPr>
            <a:r>
              <a:rPr lang="id-ID" altLang="en-US" sz="1600" b="1" dirty="0">
                <a:solidFill>
                  <a:srgbClr val="FFFFFF"/>
                </a:solidFill>
              </a:rPr>
              <a:t>D</a:t>
            </a:r>
            <a:endParaRPr lang="id-ID" sz="1600" dirty="0"/>
          </a:p>
        </p:txBody>
      </p:sp>
      <p:sp>
        <p:nvSpPr>
          <p:cNvPr id="22" name="Text 18"/>
          <p:cNvSpPr txBox="1"/>
          <p:nvPr/>
        </p:nvSpPr>
        <p:spPr>
          <a:xfrm>
            <a:off x="6991960" y="3640816"/>
            <a:ext cx="4541368" cy="612648"/>
          </a:xfrm>
          <a:prstGeom prst="rect">
            <a:avLst/>
          </a:prstGeom>
          <a:noFill/>
          <a:ln/>
        </p:spPr>
        <p:txBody>
          <a:bodyPr wrap="square" lIns="0" tIns="0" rIns="0" bIns="0" rtlCol="0" anchor="ctr"/>
          <a:lstStyle/>
          <a:p>
            <a:pPr indent="0" marL="0">
              <a:buNone/>
            </a:pPr>
            <a:r>
              <a:rPr lang="id-ID" altLang="en-US" sz="1800" dirty="0">
                <a:solidFill>
                  <a:srgbClr val="57606A"/>
                </a:solidFill>
              </a:rPr>
              <a:t>Teknik menulis beberapa </a:t>
            </a:r>
            <a:r>
              <a:rPr lang="id-ID" altLang="en-US" sz="1800" i="1" dirty="0">
                <a:solidFill>
                  <a:srgbClr val="57606A"/>
                </a:solidFill>
              </a:rPr>
              <a:t>method</a:t>
            </a:r>
            <a:r>
              <a:rPr lang="id-ID" altLang="en-US" sz="1800" dirty="0">
                <a:solidFill>
                  <a:srgbClr val="57606A"/>
                </a:solidFill>
              </a:rPr>
              <a:t> bernama sama dengan parameter berbeda</a:t>
            </a:r>
            <a:endParaRPr lang="id-ID" sz="1800" dirty="0"/>
          </a:p>
        </p:txBody>
      </p:sp>
      <p:sp>
        <p:nvSpPr>
          <p:cNvPr id="23" name="Shape 19"/>
          <p:cNvSpPr/>
          <p:nvPr/>
        </p:nvSpPr>
        <p:spPr>
          <a:xfrm>
            <a:off x="548640" y="4564360"/>
            <a:ext cx="11094415" cy="1476756"/>
          </a:xfrm>
          <a:prstGeom prst="roundRect">
            <a:avLst>
              <a:gd name="adj" fmla="val 4601"/>
            </a:avLst>
          </a:prstGeom>
          <a:solidFill>
            <a:srgbClr val="FFF8C5"/>
          </a:solidFill>
          <a:ln w="9525">
            <a:solidFill>
              <a:srgbClr val="D4A72C"/>
            </a:solidFill>
            <a:prstDash val="solid"/>
          </a:ln>
        </p:spPr>
      </p:sp>
      <p:sp>
        <p:nvSpPr>
          <p:cNvPr id="24" name="Shape 20"/>
          <p:cNvSpPr/>
          <p:nvPr/>
        </p:nvSpPr>
        <p:spPr>
          <a:xfrm>
            <a:off x="777240" y="4747240"/>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847824"/>
            <a:ext cx="256032" cy="256032"/>
          </a:xfrm>
          <a:prstGeom prst="rect">
            <a:avLst/>
          </a:prstGeom>
        </p:spPr>
      </p:pic>
      <p:sp>
        <p:nvSpPr>
          <p:cNvPr id="26" name="Text 21"/>
          <p:cNvSpPr txBox="1"/>
          <p:nvPr/>
        </p:nvSpPr>
        <p:spPr>
          <a:xfrm>
            <a:off x="1417320" y="4701520"/>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B</a:t>
            </a:r>
            <a:endParaRPr lang="id-ID" sz="1600" dirty="0"/>
          </a:p>
        </p:txBody>
      </p:sp>
      <p:sp>
        <p:nvSpPr>
          <p:cNvPr id="27" name="Text 22"/>
          <p:cNvSpPr txBox="1"/>
          <p:nvPr/>
        </p:nvSpPr>
        <p:spPr>
          <a:xfrm>
            <a:off x="1417320" y="5039848"/>
            <a:ext cx="9951415" cy="928116"/>
          </a:xfrm>
          <a:prstGeom prst="rect">
            <a:avLst/>
          </a:prstGeom>
          <a:noFill/>
          <a:ln/>
        </p:spPr>
        <p:txBody>
          <a:bodyPr wrap="square" lIns="0" tIns="0" rIns="0" bIns="0" rtlCol="0" anchor="t"/>
          <a:lstStyle/>
          <a:p>
            <a:pPr indent="0" marL="0">
              <a:buNone/>
            </a:pPr>
            <a:r>
              <a:rPr lang="id-ID" altLang="en-US" sz="1800" dirty="0">
                <a:solidFill>
                  <a:srgbClr val="1F2328"/>
                </a:solidFill>
              </a:rPr>
              <a:t>“Jika berbunyi seperti bebek, anggap saja bebek.” Ayam jago, alarm, dan kentongan tanpa induk bersama tetap bisa diproses asalkan punya </a:t>
            </a:r>
            <a:r>
              <a:rPr lang="id-ID" altLang="en-US" sz="1800" dirty="0">
                <a:solidFill>
                  <a:srgbClr val="0A3069"/>
                </a:solidFill>
                <a:latin typeface="Consolas" pitchFamily="34" charset="0"/>
                <a:ea typeface="Consolas" pitchFamily="34" charset="-122"/>
                <a:cs typeface="Consolas" pitchFamily="34" charset="-120"/>
              </a:rPr>
              <a:t>bunyikan()</a:t>
            </a:r>
            <a:r>
              <a:rPr lang="id-ID" altLang="en-US" sz="1800" dirty="0">
                <a:solidFill>
                  <a:srgbClr val="1F2328"/>
                </a:solidFill>
              </a:rPr>
              <a:t>. Pilihan A keliru: Java justru butuh tipe bersama. Pilihan C adalah pemeriksaan jenis, kebalikan dari semangat </a:t>
            </a:r>
            <a:r>
              <a:rPr lang="id-ID" altLang="en-US" sz="1800" i="1" dirty="0">
                <a:solidFill>
                  <a:srgbClr val="1F2328"/>
                </a:solidFill>
              </a:rPr>
              <a:t>duck typing</a:t>
            </a:r>
            <a:r>
              <a:rPr lang="id-ID" altLang="en-US" sz="1800" dirty="0">
                <a:solidFill>
                  <a:srgbClr val="1F2328"/>
                </a:solidFill>
              </a:rPr>
              <a:t>. Pilihan D adalah </a:t>
            </a:r>
            <a:r>
              <a:rPr lang="id-ID" altLang="en-US" sz="1800" i="1" dirty="0">
                <a:solidFill>
                  <a:srgbClr val="1F2328"/>
                </a:solidFill>
              </a:rPr>
              <a:t>overloading</a:t>
            </a:r>
            <a:r>
              <a:rPr lang="id-ID" altLang="en-US" sz="1800" dirty="0">
                <a:solidFill>
                  <a:srgbClr val="1F2328"/>
                </a:solidFill>
              </a:rPr>
              <a:t>.</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A7F37"/>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Ringkasan</a:t>
            </a:r>
            <a:endParaRPr lang="id-ID" sz="3200" dirty="0"/>
          </a:p>
        </p:txBody>
      </p:sp>
      <p:sp>
        <p:nvSpPr>
          <p:cNvPr id="5" name="Shape 2"/>
          <p:cNvSpPr/>
          <p:nvPr/>
        </p:nvSpPr>
        <p:spPr>
          <a:xfrm>
            <a:off x="548640" y="1471174"/>
            <a:ext cx="309105" cy="309105"/>
          </a:xfrm>
          <a:prstGeom prst="ellipse">
            <a:avLst/>
          </a:prstGeom>
          <a:solidFill>
            <a:srgbClr val="1A7F37"/>
          </a:solidFill>
          <a:ln/>
        </p:spPr>
      </p:sp>
      <p:pic>
        <p:nvPicPr>
          <p:cNvPr id="6" name="Image 1" descr="preencoded.png">    </p:cNvPr>
          <p:cNvPicPr>
            <a:picLocks noChangeAspect="1"/>
          </p:cNvPicPr>
          <p:nvPr/>
        </p:nvPicPr>
        <p:blipFill>
          <a:blip r:embed="rId2"/>
          <a:stretch>
            <a:fillRect/>
          </a:stretch>
        </p:blipFill>
        <p:spPr>
          <a:xfrm>
            <a:off x="616643" y="1539178"/>
            <a:ext cx="173099" cy="173099"/>
          </a:xfrm>
          <a:prstGeom prst="rect">
            <a:avLst/>
          </a:prstGeom>
        </p:spPr>
      </p:pic>
      <p:sp>
        <p:nvSpPr>
          <p:cNvPr id="7" name="Text 3"/>
          <p:cNvSpPr txBox="1"/>
          <p:nvPr/>
        </p:nvSpPr>
        <p:spPr>
          <a:xfrm>
            <a:off x="1051560" y="1463040"/>
            <a:ext cx="10591495" cy="696468"/>
          </a:xfrm>
          <a:prstGeom prst="rect">
            <a:avLst/>
          </a:prstGeom>
          <a:noFill/>
          <a:ln/>
        </p:spPr>
        <p:txBody>
          <a:bodyPr wrap="square" lIns="0" tIns="0" rIns="0" bIns="0" rtlCol="0" anchor="t"/>
          <a:lstStyle/>
          <a:p>
            <a:pPr indent="0" marL="0">
              <a:buNone/>
            </a:pPr>
            <a:r>
              <a:rPr lang="id-ID" altLang="en-US" sz="2100" b="1" dirty="0">
                <a:solidFill>
                  <a:srgbClr val="1F2328"/>
                </a:solidFill>
              </a:rPr>
              <a:t>Polimorfisme</a:t>
            </a:r>
            <a:r>
              <a:rPr lang="id-ID" altLang="en-US" sz="2100" dirty="0">
                <a:solidFill>
                  <a:srgbClr val="1F2328"/>
                </a:solidFill>
              </a:rPr>
              <a:t>: pemanggilan </a:t>
            </a:r>
            <a:r>
              <a:rPr lang="id-ID" altLang="en-US" sz="2100" i="1" dirty="0">
                <a:solidFill>
                  <a:srgbClr val="1F2328"/>
                </a:solidFill>
              </a:rPr>
              <a:t>method</a:t>
            </a:r>
            <a:r>
              <a:rPr lang="id-ID" altLang="en-US" sz="2100" dirty="0">
                <a:solidFill>
                  <a:srgbClr val="1F2328"/>
                </a:solidFill>
              </a:rPr>
              <a:t> yang sama ditanggapi dengan cara berbeda oleh objek yang berbeda.</a:t>
            </a:r>
            <a:endParaRPr lang="id-ID" sz="2100" dirty="0"/>
          </a:p>
        </p:txBody>
      </p:sp>
      <p:sp>
        <p:nvSpPr>
          <p:cNvPr id="8" name="Shape 4"/>
          <p:cNvSpPr/>
          <p:nvPr/>
        </p:nvSpPr>
        <p:spPr>
          <a:xfrm>
            <a:off x="548640" y="2323090"/>
            <a:ext cx="309105" cy="309105"/>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616643" y="2391094"/>
            <a:ext cx="173099" cy="173099"/>
          </a:xfrm>
          <a:prstGeom prst="rect">
            <a:avLst/>
          </a:prstGeom>
        </p:spPr>
      </p:pic>
      <p:sp>
        <p:nvSpPr>
          <p:cNvPr id="10" name="Text 5"/>
          <p:cNvSpPr txBox="1"/>
          <p:nvPr/>
        </p:nvSpPr>
        <p:spPr>
          <a:xfrm>
            <a:off x="1051560" y="2314956"/>
            <a:ext cx="10591495" cy="371094"/>
          </a:xfrm>
          <a:prstGeom prst="rect">
            <a:avLst/>
          </a:prstGeom>
          <a:noFill/>
          <a:ln/>
        </p:spPr>
        <p:txBody>
          <a:bodyPr wrap="square" lIns="0" tIns="0" rIns="0" bIns="0" rtlCol="0" anchor="t"/>
          <a:lstStyle/>
          <a:p>
            <a:pPr indent="0" marL="0">
              <a:buNone/>
            </a:pPr>
            <a:r>
              <a:rPr lang="id-ID" altLang="en-US" sz="2100" dirty="0">
                <a:solidFill>
                  <a:srgbClr val="1F2328"/>
                </a:solidFill>
              </a:rPr>
              <a:t>Polimorfisme waktu berjalan = </a:t>
            </a:r>
            <a:r>
              <a:rPr lang="id-ID" altLang="en-US" sz="2100" b="1" i="1" dirty="0">
                <a:solidFill>
                  <a:srgbClr val="1F2328"/>
                </a:solidFill>
              </a:rPr>
              <a:t>override</a:t>
            </a:r>
            <a:r>
              <a:rPr lang="id-ID" altLang="en-US" sz="2100" dirty="0">
                <a:solidFill>
                  <a:srgbClr val="1F2328"/>
                </a:solidFill>
              </a:rPr>
              <a:t> + </a:t>
            </a:r>
            <a:r>
              <a:rPr lang="id-ID" altLang="en-US" sz="2100" b="1" i="1" dirty="0">
                <a:solidFill>
                  <a:srgbClr val="1F2328"/>
                </a:solidFill>
              </a:rPr>
              <a:t>dynamic dispatch</a:t>
            </a:r>
            <a:r>
              <a:rPr lang="id-ID" altLang="en-US" sz="2100" dirty="0">
                <a:solidFill>
                  <a:srgbClr val="1F2328"/>
                </a:solidFill>
              </a:rPr>
              <a:t>; versinya ditentukan </a:t>
            </a:r>
            <a:r>
              <a:rPr lang="id-ID" altLang="en-US" sz="2100" b="1" dirty="0">
                <a:solidFill>
                  <a:srgbClr val="1F2328"/>
                </a:solidFill>
              </a:rPr>
              <a:t>tipe objek</a:t>
            </a:r>
            <a:r>
              <a:rPr lang="id-ID" altLang="en-US" sz="2100" dirty="0">
                <a:solidFill>
                  <a:srgbClr val="1F2328"/>
                </a:solidFill>
              </a:rPr>
              <a:t>.</a:t>
            </a:r>
            <a:endParaRPr lang="id-ID" sz="2100" dirty="0"/>
          </a:p>
        </p:txBody>
      </p:sp>
      <p:sp>
        <p:nvSpPr>
          <p:cNvPr id="11" name="Shape 6"/>
          <p:cNvSpPr/>
          <p:nvPr/>
        </p:nvSpPr>
        <p:spPr>
          <a:xfrm>
            <a:off x="548640" y="2849632"/>
            <a:ext cx="309105" cy="309105"/>
          </a:xfrm>
          <a:prstGeom prst="ellipse">
            <a:avLst/>
          </a:prstGeom>
          <a:solidFill>
            <a:srgbClr val="1A7F37"/>
          </a:solidFill>
          <a:ln/>
        </p:spPr>
      </p:sp>
      <p:pic>
        <p:nvPicPr>
          <p:cNvPr id="12" name="Image 3" descr="preencoded.png">    </p:cNvPr>
          <p:cNvPicPr>
            <a:picLocks noChangeAspect="1"/>
          </p:cNvPicPr>
          <p:nvPr/>
        </p:nvPicPr>
        <p:blipFill>
          <a:blip r:embed="rId4"/>
          <a:stretch>
            <a:fillRect/>
          </a:stretch>
        </p:blipFill>
        <p:spPr>
          <a:xfrm>
            <a:off x="616643" y="2917636"/>
            <a:ext cx="173099" cy="173099"/>
          </a:xfrm>
          <a:prstGeom prst="rect">
            <a:avLst/>
          </a:prstGeom>
        </p:spPr>
      </p:pic>
      <p:sp>
        <p:nvSpPr>
          <p:cNvPr id="13" name="Text 7"/>
          <p:cNvSpPr txBox="1"/>
          <p:nvPr/>
        </p:nvSpPr>
        <p:spPr>
          <a:xfrm>
            <a:off x="1051560" y="2841498"/>
            <a:ext cx="10591495" cy="696468"/>
          </a:xfrm>
          <a:prstGeom prst="rect">
            <a:avLst/>
          </a:prstGeom>
          <a:noFill/>
          <a:ln/>
        </p:spPr>
        <p:txBody>
          <a:bodyPr wrap="square" lIns="0" tIns="0" rIns="0" bIns="0" rtlCol="0" anchor="t"/>
          <a:lstStyle/>
          <a:p>
            <a:pPr indent="0" marL="0">
              <a:buNone/>
            </a:pPr>
            <a:r>
              <a:rPr lang="id-ID" altLang="en-US" sz="2100" b="1" dirty="0">
                <a:solidFill>
                  <a:srgbClr val="1F2328"/>
                </a:solidFill>
              </a:rPr>
              <a:t>Koleksi polimorfik</a:t>
            </a:r>
            <a:r>
              <a:rPr lang="id-ID" altLang="en-US" sz="2100" dirty="0">
                <a:solidFill>
                  <a:srgbClr val="1F2328"/>
                </a:solidFill>
              </a:rPr>
              <a:t>: satu perulangan untuk banyak jenis; jenis baru cukup ditambahkan sebagai kelas baru.</a:t>
            </a:r>
            <a:endParaRPr lang="id-ID" sz="2100" dirty="0"/>
          </a:p>
        </p:txBody>
      </p:sp>
      <p:sp>
        <p:nvSpPr>
          <p:cNvPr id="14" name="Shape 8"/>
          <p:cNvSpPr/>
          <p:nvPr/>
        </p:nvSpPr>
        <p:spPr>
          <a:xfrm>
            <a:off x="548640" y="3701548"/>
            <a:ext cx="309105" cy="309105"/>
          </a:xfrm>
          <a:prstGeom prst="ellipse">
            <a:avLst/>
          </a:prstGeom>
          <a:solidFill>
            <a:srgbClr val="1A7F37"/>
          </a:solidFill>
          <a:ln/>
        </p:spPr>
      </p:sp>
      <p:pic>
        <p:nvPicPr>
          <p:cNvPr id="15" name="Image 4" descr="preencoded.png">    </p:cNvPr>
          <p:cNvPicPr>
            <a:picLocks noChangeAspect="1"/>
          </p:cNvPicPr>
          <p:nvPr/>
        </p:nvPicPr>
        <p:blipFill>
          <a:blip r:embed="rId5"/>
          <a:stretch>
            <a:fillRect/>
          </a:stretch>
        </p:blipFill>
        <p:spPr>
          <a:xfrm>
            <a:off x="616643" y="3769552"/>
            <a:ext cx="173099" cy="173099"/>
          </a:xfrm>
          <a:prstGeom prst="rect">
            <a:avLst/>
          </a:prstGeom>
        </p:spPr>
      </p:pic>
      <p:sp>
        <p:nvSpPr>
          <p:cNvPr id="16" name="Text 9"/>
          <p:cNvSpPr txBox="1"/>
          <p:nvPr/>
        </p:nvSpPr>
        <p:spPr>
          <a:xfrm>
            <a:off x="1051560" y="3693414"/>
            <a:ext cx="10591495" cy="696468"/>
          </a:xfrm>
          <a:prstGeom prst="rect">
            <a:avLst/>
          </a:prstGeom>
          <a:noFill/>
          <a:ln/>
        </p:spPr>
        <p:txBody>
          <a:bodyPr wrap="square" lIns="0" tIns="0" rIns="0" bIns="0" rtlCol="0" anchor="t"/>
          <a:lstStyle/>
          <a:p>
            <a:pPr indent="0" marL="0">
              <a:buNone/>
            </a:pPr>
            <a:r>
              <a:rPr lang="id-ID" altLang="en-US" sz="2100" dirty="0">
                <a:solidFill>
                  <a:srgbClr val="1F2328"/>
                </a:solidFill>
                <a:latin typeface="Consolas" pitchFamily="34" charset="0"/>
                <a:ea typeface="Consolas" pitchFamily="34" charset="-122"/>
                <a:cs typeface="Consolas" pitchFamily="34" charset="-120"/>
              </a:rPr>
              <a:t>self</a:t>
            </a:r>
            <a:r>
              <a:rPr lang="id-ID" altLang="en-US" sz="2100" dirty="0">
                <a:solidFill>
                  <a:srgbClr val="1F2328"/>
                </a:solidFill>
              </a:rPr>
              <a:t>/</a:t>
            </a:r>
            <a:r>
              <a:rPr lang="id-ID" altLang="en-US" sz="2100" dirty="0">
                <a:solidFill>
                  <a:srgbClr val="1F2328"/>
                </a:solidFill>
                <a:latin typeface="Consolas" pitchFamily="34" charset="0"/>
                <a:ea typeface="Consolas" pitchFamily="34" charset="-122"/>
                <a:cs typeface="Consolas" pitchFamily="34" charset="-120"/>
              </a:rPr>
              <a:t>this</a:t>
            </a:r>
            <a:r>
              <a:rPr lang="id-ID" altLang="en-US" sz="2100" dirty="0">
                <a:solidFill>
                  <a:srgbClr val="1F2328"/>
                </a:solidFill>
              </a:rPr>
              <a:t> selalu menunjuk objek sebenarnya, jadi </a:t>
            </a:r>
            <a:r>
              <a:rPr lang="id-ID" altLang="en-US" sz="2100" i="1" dirty="0">
                <a:solidFill>
                  <a:srgbClr val="1F2328"/>
                </a:solidFill>
              </a:rPr>
              <a:t>method</a:t>
            </a:r>
            <a:r>
              <a:rPr lang="id-ID" altLang="en-US" sz="2100" dirty="0">
                <a:solidFill>
                  <a:srgbClr val="1F2328"/>
                </a:solidFill>
              </a:rPr>
              <a:t> induk yang memanggil </a:t>
            </a:r>
            <a:r>
              <a:rPr lang="id-ID" altLang="en-US" sz="2100" i="1" dirty="0">
                <a:solidFill>
                  <a:srgbClr val="1F2328"/>
                </a:solidFill>
              </a:rPr>
              <a:t>method</a:t>
            </a:r>
            <a:r>
              <a:rPr lang="id-ID" altLang="en-US" sz="2100" dirty="0">
                <a:solidFill>
                  <a:srgbClr val="1F2328"/>
                </a:solidFill>
              </a:rPr>
              <a:t> lain juga polimorfik.</a:t>
            </a:r>
            <a:endParaRPr lang="id-ID" sz="2100" dirty="0"/>
          </a:p>
        </p:txBody>
      </p:sp>
      <p:sp>
        <p:nvSpPr>
          <p:cNvPr id="17" name="Shape 10"/>
          <p:cNvSpPr/>
          <p:nvPr/>
        </p:nvSpPr>
        <p:spPr>
          <a:xfrm>
            <a:off x="548640" y="4553464"/>
            <a:ext cx="309105" cy="309105"/>
          </a:xfrm>
          <a:prstGeom prst="ellipse">
            <a:avLst/>
          </a:prstGeom>
          <a:solidFill>
            <a:srgbClr val="1A7F37"/>
          </a:solidFill>
          <a:ln/>
        </p:spPr>
      </p:sp>
      <p:pic>
        <p:nvPicPr>
          <p:cNvPr id="18" name="Image 5" descr="preencoded.png">    </p:cNvPr>
          <p:cNvPicPr>
            <a:picLocks noChangeAspect="1"/>
          </p:cNvPicPr>
          <p:nvPr/>
        </p:nvPicPr>
        <p:blipFill>
          <a:blip r:embed="rId6"/>
          <a:stretch>
            <a:fillRect/>
          </a:stretch>
        </p:blipFill>
        <p:spPr>
          <a:xfrm>
            <a:off x="616643" y="4621468"/>
            <a:ext cx="173099" cy="173099"/>
          </a:xfrm>
          <a:prstGeom prst="rect">
            <a:avLst/>
          </a:prstGeom>
        </p:spPr>
      </p:pic>
      <p:sp>
        <p:nvSpPr>
          <p:cNvPr id="19" name="Text 11"/>
          <p:cNvSpPr txBox="1"/>
          <p:nvPr/>
        </p:nvSpPr>
        <p:spPr>
          <a:xfrm>
            <a:off x="1051560" y="4545330"/>
            <a:ext cx="10591495" cy="371094"/>
          </a:xfrm>
          <a:prstGeom prst="rect">
            <a:avLst/>
          </a:prstGeom>
          <a:noFill/>
          <a:ln/>
        </p:spPr>
        <p:txBody>
          <a:bodyPr wrap="square" lIns="0" tIns="0" rIns="0" bIns="0" rtlCol="0" anchor="t"/>
          <a:lstStyle/>
          <a:p>
            <a:pPr indent="0" marL="0">
              <a:buNone/>
            </a:pPr>
            <a:r>
              <a:rPr lang="id-ID" altLang="en-US" sz="2100" b="1" i="1" dirty="0">
                <a:solidFill>
                  <a:srgbClr val="1F2328"/>
                </a:solidFill>
              </a:rPr>
              <a:t>Upcasting</a:t>
            </a:r>
            <a:r>
              <a:rPr lang="id-ID" altLang="en-US" sz="2100" dirty="0">
                <a:solidFill>
                  <a:srgbClr val="1F2328"/>
                </a:solidFill>
              </a:rPr>
              <a:t> selalu aman. </a:t>
            </a:r>
            <a:r>
              <a:rPr lang="id-ID" altLang="en-US" sz="2100" b="1" i="1" dirty="0">
                <a:solidFill>
                  <a:srgbClr val="1F2328"/>
                </a:solidFill>
              </a:rPr>
              <a:t>Downcasting</a:t>
            </a:r>
            <a:r>
              <a:rPr lang="id-ID" altLang="en-US" sz="2100" dirty="0">
                <a:solidFill>
                  <a:srgbClr val="1F2328"/>
                </a:solidFill>
              </a:rPr>
              <a:t> harus didahului </a:t>
            </a:r>
            <a:r>
              <a:rPr lang="id-ID" altLang="en-US" sz="2100" dirty="0">
                <a:solidFill>
                  <a:srgbClr val="1F2328"/>
                </a:solidFill>
                <a:latin typeface="Consolas" pitchFamily="34" charset="0"/>
                <a:ea typeface="Consolas" pitchFamily="34" charset="-122"/>
                <a:cs typeface="Consolas" pitchFamily="34" charset="-120"/>
              </a:rPr>
              <a:t>isinstance</a:t>
            </a:r>
            <a:r>
              <a:rPr lang="id-ID" altLang="en-US" sz="2100" dirty="0">
                <a:solidFill>
                  <a:srgbClr val="1F2328"/>
                </a:solidFill>
              </a:rPr>
              <a:t>/</a:t>
            </a:r>
            <a:r>
              <a:rPr lang="id-ID" altLang="en-US" sz="2100" dirty="0">
                <a:solidFill>
                  <a:srgbClr val="1F2328"/>
                </a:solidFill>
                <a:latin typeface="Consolas" pitchFamily="34" charset="0"/>
                <a:ea typeface="Consolas" pitchFamily="34" charset="-122"/>
                <a:cs typeface="Consolas" pitchFamily="34" charset="-120"/>
              </a:rPr>
              <a:t>instanceof</a:t>
            </a:r>
            <a:r>
              <a:rPr lang="id-ID" altLang="en-US" sz="2100" dirty="0">
                <a:solidFill>
                  <a:srgbClr val="1F2328"/>
                </a:solidFill>
              </a:rPr>
              <a:t>.</a:t>
            </a:r>
            <a:endParaRPr lang="id-ID" sz="2100" dirty="0"/>
          </a:p>
        </p:txBody>
      </p:sp>
      <p:sp>
        <p:nvSpPr>
          <p:cNvPr id="20" name="Shape 12"/>
          <p:cNvSpPr/>
          <p:nvPr/>
        </p:nvSpPr>
        <p:spPr>
          <a:xfrm>
            <a:off x="548640" y="5080006"/>
            <a:ext cx="309105" cy="309105"/>
          </a:xfrm>
          <a:prstGeom prst="ellipse">
            <a:avLst/>
          </a:prstGeom>
          <a:solidFill>
            <a:srgbClr val="1A7F37"/>
          </a:solidFill>
          <a:ln/>
        </p:spPr>
      </p:sp>
      <p:pic>
        <p:nvPicPr>
          <p:cNvPr id="21" name="Image 6" descr="preencoded.png">    </p:cNvPr>
          <p:cNvPicPr>
            <a:picLocks noChangeAspect="1"/>
          </p:cNvPicPr>
          <p:nvPr/>
        </p:nvPicPr>
        <p:blipFill>
          <a:blip r:embed="rId7"/>
          <a:stretch>
            <a:fillRect/>
          </a:stretch>
        </p:blipFill>
        <p:spPr>
          <a:xfrm>
            <a:off x="616643" y="5148010"/>
            <a:ext cx="173099" cy="173099"/>
          </a:xfrm>
          <a:prstGeom prst="rect">
            <a:avLst/>
          </a:prstGeom>
        </p:spPr>
      </p:pic>
      <p:sp>
        <p:nvSpPr>
          <p:cNvPr id="22" name="Text 13"/>
          <p:cNvSpPr txBox="1"/>
          <p:nvPr/>
        </p:nvSpPr>
        <p:spPr>
          <a:xfrm>
            <a:off x="1051560" y="5071872"/>
            <a:ext cx="10591495" cy="371094"/>
          </a:xfrm>
          <a:prstGeom prst="rect">
            <a:avLst/>
          </a:prstGeom>
          <a:noFill/>
          <a:ln/>
        </p:spPr>
        <p:txBody>
          <a:bodyPr wrap="square" lIns="0" tIns="0" rIns="0" bIns="0" rtlCol="0" anchor="t"/>
          <a:lstStyle/>
          <a:p>
            <a:pPr indent="0" marL="0">
              <a:buNone/>
            </a:pPr>
            <a:r>
              <a:rPr lang="id-ID" altLang="en-US" sz="2100" dirty="0">
                <a:solidFill>
                  <a:srgbClr val="1F2328"/>
                </a:solidFill>
              </a:rPr>
              <a:t>Python: </a:t>
            </a:r>
            <a:r>
              <a:rPr lang="id-ID" altLang="en-US" sz="2100" b="1" i="1" dirty="0">
                <a:solidFill>
                  <a:srgbClr val="1F2328"/>
                </a:solidFill>
              </a:rPr>
              <a:t>duck typing</a:t>
            </a:r>
            <a:r>
              <a:rPr lang="id-ID" altLang="en-US" sz="2100" dirty="0">
                <a:solidFill>
                  <a:srgbClr val="1F2328"/>
                </a:solidFill>
              </a:rPr>
              <a:t>, tanpa </a:t>
            </a:r>
            <a:r>
              <a:rPr lang="id-ID" altLang="en-US" sz="2100" i="1" dirty="0">
                <a:solidFill>
                  <a:srgbClr val="1F2328"/>
                </a:solidFill>
              </a:rPr>
              <a:t>overloading</a:t>
            </a:r>
            <a:r>
              <a:rPr lang="id-ID" altLang="en-US" sz="2100" dirty="0">
                <a:solidFill>
                  <a:srgbClr val="1F2328"/>
                </a:solidFill>
              </a:rPr>
              <a:t>. Java: butuh tipe bersama dan punya </a:t>
            </a:r>
            <a:r>
              <a:rPr lang="id-ID" altLang="en-US" sz="2100" b="1" i="1" dirty="0">
                <a:solidFill>
                  <a:srgbClr val="1F2328"/>
                </a:solidFill>
              </a:rPr>
              <a:t>overloading</a:t>
            </a:r>
            <a:r>
              <a:rPr lang="id-ID" altLang="en-US" sz="2100" dirty="0">
                <a:solidFill>
                  <a:srgbClr val="1F2328"/>
                </a:solidFill>
              </a:rPr>
              <a:t>.</a:t>
            </a:r>
            <a:endParaRPr lang="id-ID" sz="2100" dirty="0"/>
          </a:p>
        </p:txBody>
      </p:sp>
      <p:sp>
        <p:nvSpPr>
          <p:cNvPr id="23" name="Shape 14"/>
          <p:cNvSpPr/>
          <p:nvPr/>
        </p:nvSpPr>
        <p:spPr>
          <a:xfrm>
            <a:off x="548640" y="5606548"/>
            <a:ext cx="309105" cy="309105"/>
          </a:xfrm>
          <a:prstGeom prst="ellipse">
            <a:avLst/>
          </a:prstGeom>
          <a:solidFill>
            <a:srgbClr val="1A7F37"/>
          </a:solidFill>
          <a:ln/>
        </p:spPr>
      </p:sp>
      <p:pic>
        <p:nvPicPr>
          <p:cNvPr id="24" name="Image 7" descr="preencoded.png">    </p:cNvPr>
          <p:cNvPicPr>
            <a:picLocks noChangeAspect="1"/>
          </p:cNvPicPr>
          <p:nvPr/>
        </p:nvPicPr>
        <p:blipFill>
          <a:blip r:embed="rId8"/>
          <a:stretch>
            <a:fillRect/>
          </a:stretch>
        </p:blipFill>
        <p:spPr>
          <a:xfrm>
            <a:off x="616643" y="5674552"/>
            <a:ext cx="173099" cy="173099"/>
          </a:xfrm>
          <a:prstGeom prst="rect">
            <a:avLst/>
          </a:prstGeom>
        </p:spPr>
      </p:pic>
      <p:sp>
        <p:nvSpPr>
          <p:cNvPr id="25" name="Text 15"/>
          <p:cNvSpPr txBox="1"/>
          <p:nvPr/>
        </p:nvSpPr>
        <p:spPr>
          <a:xfrm>
            <a:off x="1051560" y="5598414"/>
            <a:ext cx="10591495" cy="371094"/>
          </a:xfrm>
          <a:prstGeom prst="rect">
            <a:avLst/>
          </a:prstGeom>
          <a:noFill/>
          <a:ln/>
        </p:spPr>
        <p:txBody>
          <a:bodyPr wrap="square" lIns="0" tIns="0" rIns="0" bIns="0" rtlCol="0" anchor="t"/>
          <a:lstStyle/>
          <a:p>
            <a:pPr indent="0" marL="0">
              <a:buNone/>
            </a:pPr>
            <a:r>
              <a:rPr lang="id-ID" altLang="en-US" sz="2100" dirty="0">
                <a:solidFill>
                  <a:srgbClr val="1F2328"/>
                </a:solidFill>
              </a:rPr>
              <a:t>KedaiKita: </a:t>
            </a:r>
            <a:r>
              <a:rPr lang="id-ID" altLang="en-US" sz="2100" dirty="0">
                <a:solidFill>
                  <a:srgbClr val="1F2328"/>
                </a:solidFill>
                <a:latin typeface="Consolas" pitchFamily="34" charset="0"/>
                <a:ea typeface="Consolas" pitchFamily="34" charset="-122"/>
                <a:cs typeface="Consolas" pitchFamily="34" charset="-120"/>
              </a:rPr>
              <a:t>Pesanan.bayar()</a:t>
            </a:r>
            <a:r>
              <a:rPr lang="id-ID" altLang="en-US" sz="2100" dirty="0">
                <a:solidFill>
                  <a:srgbClr val="1F2328"/>
                </a:solidFill>
              </a:rPr>
              <a:t> menerima pembayaran jenis apa pun tanpa percabangan.</a:t>
            </a:r>
            <a:endParaRPr lang="id-ID" sz="2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FFFFFF"/>
                </a:solidFill>
              </a:rPr>
              <a:t>Langkah Berikutnya</a:t>
            </a:r>
            <a:endParaRPr lang="id-ID" sz="3200" dirty="0"/>
          </a:p>
        </p:txBody>
      </p:sp>
      <p:sp>
        <p:nvSpPr>
          <p:cNvPr id="5" name="Shape 2"/>
          <p:cNvSpPr/>
          <p:nvPr/>
        </p:nvSpPr>
        <p:spPr>
          <a:xfrm>
            <a:off x="603504" y="1519174"/>
            <a:ext cx="137160" cy="137160"/>
          </a:xfrm>
          <a:prstGeom prst="roundRect">
            <a:avLst>
              <a:gd name="adj" fmla="val 166667"/>
            </a:avLst>
          </a:prstGeom>
          <a:solidFill>
            <a:srgbClr val="FB8F44"/>
          </a:solidFill>
          <a:ln/>
        </p:spPr>
      </p:sp>
      <p:sp>
        <p:nvSpPr>
          <p:cNvPr id="6" name="Text 3"/>
          <p:cNvSpPr txBox="1"/>
          <p:nvPr/>
        </p:nvSpPr>
        <p:spPr>
          <a:xfrm>
            <a:off x="932688" y="1417320"/>
            <a:ext cx="7114032" cy="727456"/>
          </a:xfrm>
          <a:prstGeom prst="rect">
            <a:avLst/>
          </a:prstGeom>
          <a:noFill/>
          <a:ln/>
        </p:spPr>
        <p:txBody>
          <a:bodyPr wrap="square" lIns="0" tIns="0" rIns="0" bIns="0" rtlCol="0" anchor="t"/>
          <a:lstStyle/>
          <a:p>
            <a:pPr indent="0" marL="0">
              <a:buNone/>
            </a:pPr>
            <a:r>
              <a:rPr lang="id-ID" altLang="en-US" sz="2200" dirty="0">
                <a:solidFill>
                  <a:srgbClr val="FFFFFF"/>
                </a:solidFill>
              </a:rPr>
              <a:t>Jalankan contoh di halaman praktik (Python 01⁠—⁠06, Java 01⁠—⁠07) dan studi kasus KedaiKita.</a:t>
            </a:r>
            <a:endParaRPr lang="id-ID" sz="2200" dirty="0"/>
          </a:p>
        </p:txBody>
      </p:sp>
      <p:sp>
        <p:nvSpPr>
          <p:cNvPr id="7" name="Shape 4"/>
          <p:cNvSpPr/>
          <p:nvPr/>
        </p:nvSpPr>
        <p:spPr>
          <a:xfrm>
            <a:off x="603504" y="2383790"/>
            <a:ext cx="137160" cy="137160"/>
          </a:xfrm>
          <a:prstGeom prst="roundRect">
            <a:avLst>
              <a:gd name="adj" fmla="val 166667"/>
            </a:avLst>
          </a:prstGeom>
          <a:solidFill>
            <a:srgbClr val="FB8F44"/>
          </a:solidFill>
          <a:ln/>
        </p:spPr>
      </p:sp>
      <p:sp>
        <p:nvSpPr>
          <p:cNvPr id="8" name="Text 5"/>
          <p:cNvSpPr txBox="1"/>
          <p:nvPr/>
        </p:nvSpPr>
        <p:spPr>
          <a:xfrm>
            <a:off x="932688" y="2281936"/>
            <a:ext cx="7114032" cy="727456"/>
          </a:xfrm>
          <a:prstGeom prst="rect">
            <a:avLst/>
          </a:prstGeom>
          <a:noFill/>
          <a:ln/>
        </p:spPr>
        <p:txBody>
          <a:bodyPr wrap="square" lIns="0" tIns="0" rIns="0" bIns="0" rtlCol="0" anchor="t"/>
          <a:lstStyle/>
          <a:p>
            <a:pPr indent="0" marL="0">
              <a:buNone/>
            </a:pPr>
            <a:r>
              <a:rPr lang="id-ID" altLang="en-US" sz="2200" dirty="0">
                <a:solidFill>
                  <a:srgbClr val="FFFFFF"/>
                </a:solidFill>
              </a:rPr>
              <a:t>Kerjakan latihan, termasuk Latihan 5: bayar dengan </a:t>
            </a:r>
            <a:r>
              <a:rPr lang="id-ID" altLang="en-US" sz="2200" i="1" dirty="0">
                <a:solidFill>
                  <a:srgbClr val="FFFFFF"/>
                </a:solidFill>
              </a:rPr>
              <a:t>voucher</a:t>
            </a:r>
            <a:r>
              <a:rPr lang="id-ID" altLang="en-US" sz="2200" dirty="0">
                <a:solidFill>
                  <a:srgbClr val="FFFFFF"/>
                </a:solidFill>
              </a:rPr>
              <a:t>, lalu cek pemahamanmu dengan kuis 10 soal.</a:t>
            </a:r>
            <a:endParaRPr lang="id-ID" sz="2200" dirty="0"/>
          </a:p>
        </p:txBody>
      </p:sp>
      <p:sp>
        <p:nvSpPr>
          <p:cNvPr id="9" name="Text 6"/>
          <p:cNvSpPr txBox="1"/>
          <p:nvPr/>
        </p:nvSpPr>
        <p:spPr>
          <a:xfrm>
            <a:off x="548640" y="3283712"/>
            <a:ext cx="7498080" cy="365760"/>
          </a:xfrm>
          <a:prstGeom prst="rect">
            <a:avLst/>
          </a:prstGeom>
          <a:noFill/>
          <a:ln/>
        </p:spPr>
        <p:txBody>
          <a:bodyPr wrap="square" lIns="0" tIns="0" rIns="0" bIns="0" rtlCol="0" anchor="t"/>
          <a:lstStyle/>
          <a:p>
            <a:pPr indent="0" marL="0">
              <a:buNone/>
            </a:pPr>
            <a:r>
              <a:rPr lang="id-ID" altLang="en-US" sz="1700" b="1" dirty="0">
                <a:solidFill>
                  <a:srgbClr val="C9D7E8"/>
                </a:solidFill>
              </a:rPr>
              <a:t>Buka bahan pertemuan ini di GitHub:</a:t>
            </a:r>
            <a:endParaRPr lang="id-ID" sz="1700" dirty="0"/>
          </a:p>
        </p:txBody>
      </p:sp>
      <p:sp>
        <p:nvSpPr>
          <p:cNvPr id="10" name="Shape 7"/>
          <p:cNvSpPr/>
          <p:nvPr/>
        </p:nvSpPr>
        <p:spPr>
          <a:xfrm>
            <a:off x="548640" y="3740912"/>
            <a:ext cx="3666744" cy="457200"/>
          </a:xfrm>
          <a:prstGeom prst="roundRect">
            <a:avLst>
              <a:gd name="adj" fmla="val 100000"/>
            </a:avLst>
          </a:prstGeom>
          <a:solidFill>
            <a:srgbClr val="12407F"/>
          </a:solidFill>
          <a:ln w="12700">
            <a:solidFill>
              <a:srgbClr val="2F6FB5"/>
            </a:solidFill>
            <a:prstDash val="solid"/>
          </a:ln>
        </p:spPr>
      </p:sp>
      <p:pic>
        <p:nvPicPr>
          <p:cNvPr id="11" name="Image 1" descr="preencoded.png">    </p:cNvPr>
          <p:cNvPicPr>
            <a:picLocks noChangeAspect="1"/>
          </p:cNvPicPr>
          <p:nvPr/>
        </p:nvPicPr>
        <p:blipFill>
          <a:blip r:embed="rId2"/>
          <a:stretch>
            <a:fillRect/>
          </a:stretch>
        </p:blipFill>
        <p:spPr>
          <a:xfrm>
            <a:off x="694944" y="3841496"/>
            <a:ext cx="256032" cy="256032"/>
          </a:xfrm>
          <a:prstGeom prst="rect">
            <a:avLst/>
          </a:prstGeom>
        </p:spPr>
      </p:pic>
      <p:sp>
        <p:nvSpPr>
          <p:cNvPr id="12" name="Text 8"/>
          <p:cNvSpPr txBox="1"/>
          <p:nvPr/>
        </p:nvSpPr>
        <p:spPr>
          <a:xfrm>
            <a:off x="1051560" y="3740912"/>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3" invalidUrl="" action="" tgtFrame="" tooltip="README.md" history="1" highlightClick="0" endSnd="0">
                  <a:extLst>
                    <a:ext uri="{A12FA001-AC4F-418D-AE19-62706E023703}">
                      <ahyp:hlinkClr xmlns:ahyp="http://schemas.microsoft.com/office/drawing/2018/hyperlinkcolor" val="tx"/>
                    </a:ext>
                  </a:extLst>
                </a:hlinkClick>
              </a:rPr>
              <a:t>Konsep</a:t>
            </a:r>
            <a:endParaRPr lang="id-ID" sz="1600" dirty="0"/>
          </a:p>
        </p:txBody>
      </p:sp>
      <p:sp>
        <p:nvSpPr>
          <p:cNvPr id="13" name="Shape 9"/>
          <p:cNvSpPr/>
          <p:nvPr/>
        </p:nvSpPr>
        <p:spPr>
          <a:xfrm>
            <a:off x="4379976" y="3740912"/>
            <a:ext cx="3666744" cy="457200"/>
          </a:xfrm>
          <a:prstGeom prst="roundRect">
            <a:avLst>
              <a:gd name="adj" fmla="val 100000"/>
            </a:avLst>
          </a:prstGeom>
          <a:solidFill>
            <a:srgbClr val="12407F"/>
          </a:solidFill>
          <a:ln w="12700">
            <a:solidFill>
              <a:srgbClr val="2F6FB5"/>
            </a:solidFill>
            <a:prstDash val="solid"/>
          </a:ln>
        </p:spPr>
      </p:sp>
      <p:pic>
        <p:nvPicPr>
          <p:cNvPr id="14" name="Image 2" descr="preencoded.png">    </p:cNvPr>
          <p:cNvPicPr>
            <a:picLocks noChangeAspect="1"/>
          </p:cNvPicPr>
          <p:nvPr/>
        </p:nvPicPr>
        <p:blipFill>
          <a:blip r:embed="rId4"/>
          <a:stretch>
            <a:fillRect/>
          </a:stretch>
        </p:blipFill>
        <p:spPr>
          <a:xfrm>
            <a:off x="4526280" y="3841496"/>
            <a:ext cx="256032" cy="256032"/>
          </a:xfrm>
          <a:prstGeom prst="rect">
            <a:avLst/>
          </a:prstGeom>
        </p:spPr>
      </p:pic>
      <p:sp>
        <p:nvSpPr>
          <p:cNvPr id="15" name="Text 10"/>
          <p:cNvSpPr txBox="1"/>
          <p:nvPr/>
        </p:nvSpPr>
        <p:spPr>
          <a:xfrm>
            <a:off x="4882896" y="3740912"/>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5" invalidUrl="" action="" tgtFrame="" tooltip="python/README.md" history="1" highlightClick="0" endSnd="0">
                  <a:extLst>
                    <a:ext uri="{A12FA001-AC4F-418D-AE19-62706E023703}">
                      <ahyp:hlinkClr xmlns:ahyp="http://schemas.microsoft.com/office/drawing/2018/hyperlinkcolor" val="tx"/>
                    </a:ext>
                  </a:extLst>
                </a:hlinkClick>
              </a:rPr>
              <a:t>Praktik Python</a:t>
            </a:r>
            <a:endParaRPr lang="id-ID" sz="1600" dirty="0"/>
          </a:p>
        </p:txBody>
      </p:sp>
      <p:sp>
        <p:nvSpPr>
          <p:cNvPr id="16" name="Shape 11"/>
          <p:cNvSpPr/>
          <p:nvPr/>
        </p:nvSpPr>
        <p:spPr>
          <a:xfrm>
            <a:off x="548640" y="4326128"/>
            <a:ext cx="3666744" cy="457200"/>
          </a:xfrm>
          <a:prstGeom prst="roundRect">
            <a:avLst>
              <a:gd name="adj" fmla="val 100000"/>
            </a:avLst>
          </a:prstGeom>
          <a:solidFill>
            <a:srgbClr val="12407F"/>
          </a:solidFill>
          <a:ln w="12700">
            <a:solidFill>
              <a:srgbClr val="2F6FB5"/>
            </a:solidFill>
            <a:prstDash val="solid"/>
          </a:ln>
        </p:spPr>
      </p:sp>
      <p:pic>
        <p:nvPicPr>
          <p:cNvPr id="17" name="Image 3" descr="preencoded.png">    </p:cNvPr>
          <p:cNvPicPr>
            <a:picLocks noChangeAspect="1"/>
          </p:cNvPicPr>
          <p:nvPr/>
        </p:nvPicPr>
        <p:blipFill>
          <a:blip r:embed="rId6"/>
          <a:stretch>
            <a:fillRect/>
          </a:stretch>
        </p:blipFill>
        <p:spPr>
          <a:xfrm>
            <a:off x="694944" y="4426712"/>
            <a:ext cx="256032" cy="256032"/>
          </a:xfrm>
          <a:prstGeom prst="rect">
            <a:avLst/>
          </a:prstGeom>
        </p:spPr>
      </p:pic>
      <p:sp>
        <p:nvSpPr>
          <p:cNvPr id="18" name="Text 12"/>
          <p:cNvSpPr txBox="1"/>
          <p:nvPr/>
        </p:nvSpPr>
        <p:spPr>
          <a:xfrm>
            <a:off x="1051560" y="4326128"/>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7" invalidUrl="" action="" tgtFrame="" tooltip="java/README.md" history="1" highlightClick="0" endSnd="0">
                  <a:extLst>
                    <a:ext uri="{A12FA001-AC4F-418D-AE19-62706E023703}">
                      <ahyp:hlinkClr xmlns:ahyp="http://schemas.microsoft.com/office/drawing/2018/hyperlinkcolor" val="tx"/>
                    </a:ext>
                  </a:extLst>
                </a:hlinkClick>
              </a:rPr>
              <a:t>Praktik Java</a:t>
            </a:r>
            <a:endParaRPr lang="id-ID" sz="1600" dirty="0"/>
          </a:p>
        </p:txBody>
      </p:sp>
      <p:sp>
        <p:nvSpPr>
          <p:cNvPr id="19" name="Shape 13"/>
          <p:cNvSpPr/>
          <p:nvPr/>
        </p:nvSpPr>
        <p:spPr>
          <a:xfrm>
            <a:off x="4379976" y="4326128"/>
            <a:ext cx="3666744" cy="457200"/>
          </a:xfrm>
          <a:prstGeom prst="roundRect">
            <a:avLst>
              <a:gd name="adj" fmla="val 100000"/>
            </a:avLst>
          </a:prstGeom>
          <a:solidFill>
            <a:srgbClr val="12407F"/>
          </a:solidFill>
          <a:ln w="12700">
            <a:solidFill>
              <a:srgbClr val="2F6FB5"/>
            </a:solidFill>
            <a:prstDash val="solid"/>
          </a:ln>
        </p:spPr>
      </p:sp>
      <p:pic>
        <p:nvPicPr>
          <p:cNvPr id="20" name="Image 4" descr="preencoded.png">    </p:cNvPr>
          <p:cNvPicPr>
            <a:picLocks noChangeAspect="1"/>
          </p:cNvPicPr>
          <p:nvPr/>
        </p:nvPicPr>
        <p:blipFill>
          <a:blip r:embed="rId8"/>
          <a:stretch>
            <a:fillRect/>
          </a:stretch>
        </p:blipFill>
        <p:spPr>
          <a:xfrm>
            <a:off x="4526280" y="4426712"/>
            <a:ext cx="256032" cy="256032"/>
          </a:xfrm>
          <a:prstGeom prst="rect">
            <a:avLst/>
          </a:prstGeom>
        </p:spPr>
      </p:pic>
      <p:sp>
        <p:nvSpPr>
          <p:cNvPr id="21" name="Text 14"/>
          <p:cNvSpPr txBox="1"/>
          <p:nvPr/>
        </p:nvSpPr>
        <p:spPr>
          <a:xfrm>
            <a:off x="4882896" y="4326128"/>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9" invalidUrl="" action="" tgtFrame="" tooltip="jembatan-python-java.md" history="1" highlightClick="0" endSnd="0">
                  <a:extLst>
                    <a:ext uri="{A12FA001-AC4F-418D-AE19-62706E023703}">
                      <ahyp:hlinkClr xmlns:ahyp="http://schemas.microsoft.com/office/drawing/2018/hyperlinkcolor" val="tx"/>
                    </a:ext>
                  </a:extLst>
                </a:hlinkClick>
              </a:rPr>
              <a:t>Jembatan Python ↔ Java</a:t>
            </a:r>
            <a:endParaRPr lang="id-ID" sz="1600" dirty="0"/>
          </a:p>
        </p:txBody>
      </p:sp>
      <p:sp>
        <p:nvSpPr>
          <p:cNvPr id="22" name="Shape 15"/>
          <p:cNvSpPr/>
          <p:nvPr/>
        </p:nvSpPr>
        <p:spPr>
          <a:xfrm>
            <a:off x="548640" y="4911344"/>
            <a:ext cx="3666744" cy="457200"/>
          </a:xfrm>
          <a:prstGeom prst="roundRect">
            <a:avLst>
              <a:gd name="adj" fmla="val 100000"/>
            </a:avLst>
          </a:prstGeom>
          <a:solidFill>
            <a:srgbClr val="12407F"/>
          </a:solidFill>
          <a:ln w="12700">
            <a:solidFill>
              <a:srgbClr val="2F6FB5"/>
            </a:solidFill>
            <a:prstDash val="solid"/>
          </a:ln>
        </p:spPr>
      </p:sp>
      <p:pic>
        <p:nvPicPr>
          <p:cNvPr id="23" name="Image 5" descr="preencoded.png">    </p:cNvPr>
          <p:cNvPicPr>
            <a:picLocks noChangeAspect="1"/>
          </p:cNvPicPr>
          <p:nvPr/>
        </p:nvPicPr>
        <p:blipFill>
          <a:blip r:embed="rId10"/>
          <a:stretch>
            <a:fillRect/>
          </a:stretch>
        </p:blipFill>
        <p:spPr>
          <a:xfrm>
            <a:off x="694944" y="5011928"/>
            <a:ext cx="256032" cy="256032"/>
          </a:xfrm>
          <a:prstGeom prst="rect">
            <a:avLst/>
          </a:prstGeom>
        </p:spPr>
      </p:pic>
      <p:sp>
        <p:nvSpPr>
          <p:cNvPr id="24" name="Text 16"/>
          <p:cNvSpPr txBox="1"/>
          <p:nvPr/>
        </p:nvSpPr>
        <p:spPr>
          <a:xfrm>
            <a:off x="1051560" y="4911344"/>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11" invalidUrl="" action="" tgtFrame="" tooltip="latihan.md" history="1" highlightClick="0" endSnd="0">
                  <a:extLst>
                    <a:ext uri="{A12FA001-AC4F-418D-AE19-62706E023703}">
                      <ahyp:hlinkClr xmlns:ahyp="http://schemas.microsoft.com/office/drawing/2018/hyperlinkcolor" val="tx"/>
                    </a:ext>
                  </a:extLst>
                </a:hlinkClick>
              </a:rPr>
              <a:t>Latihan</a:t>
            </a:r>
            <a:endParaRPr lang="id-ID" sz="1600" dirty="0"/>
          </a:p>
        </p:txBody>
      </p:sp>
      <p:sp>
        <p:nvSpPr>
          <p:cNvPr id="25" name="Shape 17"/>
          <p:cNvSpPr/>
          <p:nvPr/>
        </p:nvSpPr>
        <p:spPr>
          <a:xfrm>
            <a:off x="4379976" y="4911344"/>
            <a:ext cx="3666744" cy="457200"/>
          </a:xfrm>
          <a:prstGeom prst="roundRect">
            <a:avLst>
              <a:gd name="adj" fmla="val 100000"/>
            </a:avLst>
          </a:prstGeom>
          <a:solidFill>
            <a:srgbClr val="12407F"/>
          </a:solidFill>
          <a:ln w="12700">
            <a:solidFill>
              <a:srgbClr val="2F6FB5"/>
            </a:solidFill>
            <a:prstDash val="solid"/>
          </a:ln>
        </p:spPr>
      </p:sp>
      <p:pic>
        <p:nvPicPr>
          <p:cNvPr id="26" name="Image 6" descr="preencoded.png">    </p:cNvPr>
          <p:cNvPicPr>
            <a:picLocks noChangeAspect="1"/>
          </p:cNvPicPr>
          <p:nvPr/>
        </p:nvPicPr>
        <p:blipFill>
          <a:blip r:embed="rId12"/>
          <a:stretch>
            <a:fillRect/>
          </a:stretch>
        </p:blipFill>
        <p:spPr>
          <a:xfrm>
            <a:off x="4526280" y="5011928"/>
            <a:ext cx="256032" cy="256032"/>
          </a:xfrm>
          <a:prstGeom prst="rect">
            <a:avLst/>
          </a:prstGeom>
        </p:spPr>
      </p:pic>
      <p:sp>
        <p:nvSpPr>
          <p:cNvPr id="27" name="Text 18"/>
          <p:cNvSpPr txBox="1"/>
          <p:nvPr/>
        </p:nvSpPr>
        <p:spPr>
          <a:xfrm>
            <a:off x="4882896" y="4911344"/>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13" invalidUrl="" action="" tgtFrame="" tooltip="kuis.md" history="1" highlightClick="0" endSnd="0">
                  <a:extLst>
                    <a:ext uri="{A12FA001-AC4F-418D-AE19-62706E023703}">
                      <ahyp:hlinkClr xmlns:ahyp="http://schemas.microsoft.com/office/drawing/2018/hyperlinkcolor" val="tx"/>
                    </a:ext>
                  </a:extLst>
                </a:hlinkClick>
              </a:rPr>
              <a:t>Kuis 10 soal</a:t>
            </a:r>
            <a:endParaRPr lang="id-ID" sz="1600" dirty="0"/>
          </a:p>
        </p:txBody>
      </p:sp>
      <p:sp>
        <p:nvSpPr>
          <p:cNvPr id="28" name="Shape 19"/>
          <p:cNvSpPr/>
          <p:nvPr/>
        </p:nvSpPr>
        <p:spPr>
          <a:xfrm>
            <a:off x="8503920" y="1280160"/>
            <a:ext cx="2880360" cy="2880360"/>
          </a:xfrm>
          <a:prstGeom prst="roundRect">
            <a:avLst>
              <a:gd name="adj" fmla="val 1411"/>
            </a:avLst>
          </a:prstGeom>
          <a:solidFill>
            <a:srgbClr val="FFFFFF"/>
          </a:solidFill>
          <a:ln/>
        </p:spPr>
      </p:sp>
      <p:pic>
        <p:nvPicPr>
          <p:cNvPr id="29" name="Image 7" descr="Kode QR menuju folder pertemuan di GitHub">    </p:cNvPr>
          <p:cNvPicPr>
            <a:picLocks noChangeAspect="1"/>
          </p:cNvPicPr>
          <p:nvPr/>
        </p:nvPicPr>
        <p:blipFill>
          <a:blip r:embed="rId14"/>
          <a:stretch>
            <a:fillRect/>
          </a:stretch>
        </p:blipFill>
        <p:spPr>
          <a:xfrm>
            <a:off x="8641080" y="1417320"/>
            <a:ext cx="2606040" cy="2606040"/>
          </a:xfrm>
          <a:prstGeom prst="rect">
            <a:avLst/>
          </a:prstGeom>
        </p:spPr>
      </p:pic>
      <p:sp>
        <p:nvSpPr>
          <p:cNvPr id="30" name="Text 20"/>
          <p:cNvSpPr txBox="1"/>
          <p:nvPr/>
        </p:nvSpPr>
        <p:spPr>
          <a:xfrm>
            <a:off x="8458200" y="4297680"/>
            <a:ext cx="2971800" cy="640080"/>
          </a:xfrm>
          <a:prstGeom prst="rect">
            <a:avLst/>
          </a:prstGeom>
          <a:noFill/>
          <a:ln/>
        </p:spPr>
        <p:txBody>
          <a:bodyPr wrap="square" lIns="0" tIns="0" rIns="0" bIns="0" rtlCol="0" anchor="t"/>
          <a:lstStyle/>
          <a:p>
            <a:pPr algn="ctr" indent="0" marL="0">
              <a:buNone/>
            </a:pPr>
            <a:r>
              <a:rPr lang="id-ID" altLang="en-US" sz="1400" dirty="0">
                <a:solidFill>
                  <a:srgbClr val="C9D7E8"/>
                </a:solidFill>
              </a:rPr>
              <a:t>Pindai untuk membuka folder pertemuan ini di GitHub</a:t>
            </a:r>
            <a:endParaRPr lang="id-ID" sz="1400" dirty="0"/>
          </a:p>
        </p:txBody>
      </p:sp>
      <p:sp>
        <p:nvSpPr>
          <p:cNvPr id="31" name="Text 21"/>
          <p:cNvSpPr txBox="1"/>
          <p:nvPr/>
        </p:nvSpPr>
        <p:spPr>
          <a:xfrm>
            <a:off x="548640" y="5925312"/>
            <a:ext cx="11094415" cy="320040"/>
          </a:xfrm>
          <a:prstGeom prst="rect">
            <a:avLst/>
          </a:prstGeom>
          <a:noFill/>
          <a:ln/>
        </p:spPr>
        <p:txBody>
          <a:bodyPr wrap="square" lIns="0" tIns="0" rIns="0" bIns="0" rtlCol="0" anchor="ctr"/>
          <a:lstStyle/>
          <a:p>
            <a:pPr indent="0" marL="0">
              <a:buNone/>
            </a:pPr>
            <a:r>
              <a:rPr lang="en-US" altLang="en-US" sz="1300" u="sng" dirty="0">
                <a:solidFill>
                  <a:srgbClr val="54AEFF"/>
                </a:solidFill>
                <a:hlinkClick r:id="rId15" invalidUrl="" action="" tgtFrame="" tooltip="" history="1" highlightClick="0" endSnd="0">
                  <a:extLst>
                    <a:ext uri="{A12FA001-AC4F-418D-AE19-62706E023703}">
                      <ahyp:hlinkClr xmlns:ahyp="http://schemas.microsoft.com/office/drawing/2018/hyperlinkcolor" val="tx"/>
                    </a:ext>
                  </a:extLst>
                </a:hlinkClick>
              </a:rPr>
              <a:t>github.com/antonprafanto/PBO2026/tree/master/Pertemuan-09-Polimorfisme</a:t>
            </a:r>
            <a:endParaRPr 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33</a:t>
            </a:fld>
            <a:endParaRPr lang="en-US"/>
          </a:p>
        </p:txBody>
      </p:sp>
    </p:spTree>
  </p:cSld>
  <p:clrMapOvr>
    <a:masterClrMapping/>
  </p:clrMapOvr>
</p:sld>
</file>

<file path=ppt/theme/theme1.xml><?xml version="1.0" encoding="utf-8"?>
<a:theme xmlns:a="http://schemas.openxmlformats.org/drawingml/2006/main" name="PBO 2026">
  <a:themeElements>
    <a:clrScheme name="PBO 2026">
      <a:dk1>
        <a:srgbClr val="1F2328"/>
      </a:dk1>
      <a:lt1>
        <a:srgbClr val="FFFFFF"/>
      </a:lt1>
      <a:dk2>
        <a:srgbClr val="0A3069"/>
      </a:dk2>
      <a:lt2>
        <a:srgbClr val="F6F8FA"/>
      </a:lt2>
      <a:accent1>
        <a:srgbClr val="0969DA"/>
      </a:accent1>
      <a:accent2>
        <a:srgbClr val="BC4C00"/>
      </a:accent2>
      <a:accent3>
        <a:srgbClr val="1A7F37"/>
      </a:accent3>
      <a:accent4>
        <a:srgbClr val="8250DF"/>
      </a:accent4>
      <a:accent5>
        <a:srgbClr val="CF222E"/>
      </a:accent5>
      <a:accent6>
        <a:srgbClr val="9A6700"/>
      </a:accent6>
      <a:hlink>
        <a:srgbClr val="0969DA"/>
      </a:hlink>
      <a:folHlink>
        <a:srgbClr val="8250DF"/>
      </a:folHlink>
    </a:clrScheme>
    <a:fontScheme name="PBO 2026">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Informatika Universitas Mulawarman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PBO 2026 Pertemuan 09: Polimorfisme</dc:title>
  <dc:subject>Pemrograman Berorientasi Objek 2026</dc:subject>
  <dc:creator>PBO 2026 UNMUL</dc:creator>
  <cp:lastModifiedBy>PBO 2026 UNMUL</cp:lastModifiedBy>
  <cp:revision>1</cp:revision>
  <dcterms:created xsi:type="dcterms:W3CDTF">2026-10-15T02:18:33Z</dcterms:created>
  <dcterms:modified xsi:type="dcterms:W3CDTF">2026-10-15T02:18:33Z</dcterms:modified>
</cp:coreProperties>
</file>