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3c8575e0-6df1-fdb2-d096-f387a946ef28}">
          <p14:sldIdLst>
            <p14:sldId id="256"/>
            <p14:sldId id="257"/>
            <p14:sldId id="258"/>
            <p14:sldId id="259"/>
          </p14:sldIdLst>
        </p14:section>
        <p14:section name="Satu Cetakan, Banyak Kue" id="{b30b527f-323d-a54f-f2da-b03aea58a0ea}">
          <p14:sldIdLst>
            <p14:sldId id="260"/>
            <p14:sldId id="261"/>
            <p14:sldId id="262"/>
          </p14:sldIdLst>
        </p14:section>
        <p14:section name="Kelas dan Objek" id="{d7c79b60-f84c-44d1-2c8e-015c41f516a2}">
          <p14:sldIdLst>
            <p14:sldId id="263"/>
            <p14:sldId id="264"/>
            <p14:sldId id="265"/>
            <p14:sldId id="266"/>
            <p14:sldId id="267"/>
          </p14:sldIdLst>
        </p14:section>
        <p14:section name="Atribut dan Method" id="{323fe3e7-9044-cf24-b27e-2dd08f3cea97}">
          <p14:sldIdLst>
            <p14:sldId id="268"/>
            <p14:sldId id="269"/>
            <p14:sldId id="270"/>
          </p14:sldIdLst>
        </p14:section>
        <p14:section name="Konstruktor serta self dan this" id="{6af41585-df07-8c89-392b-788278bcd2c2}">
          <p14:sldIdLst>
            <p14:sldId id="271"/>
            <p14:sldId id="272"/>
            <p14:sldId id="273"/>
            <p14:sldId id="274"/>
            <p14:sldId id="275"/>
          </p14:sldIdLst>
        </p14:section>
        <p14:section name="Studi Kasus KedaiKita" id="{9203c6ff-963b-f92e-c308-a143e5c8b400}">
          <p14:sldIdLst>
            <p14:sldId id="276"/>
            <p14:sldId id="277"/>
            <p14:sldId id="278"/>
            <p14:sldId id="279"/>
          </p14:sldIdLst>
        </p14:section>
        <p14:section name="Cek Pemahaman" id="{6b9cc8e3-55d9-0bcc-e446-62e7c3a4ab99}">
          <p14:sldIdLst>
            <p14:sldId id="280"/>
            <p14:sldId id="281"/>
            <p14:sldId id="282"/>
            <p14:sldId id="283"/>
            <p14:sldId id="284"/>
          </p14:sldIdLst>
        </p14:section>
        <p14:section name="Penutup" id="{46a18988-f729-2836-dd25-2789288ba3a1}">
          <p14:sldIdLst>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Selamat datang di Pertemuan 02. Hari ini kita berkenalan dengan dua kata yang akan terus terdengar sepanjang semester: kelas dan objek. Kalau dua konsep ini sudah mantap, materi-materi berikutnya akan terasa jauh lebih ringan. Semua materi, kode, latihan, dan kuis pertemuan ini ada di repositori GitHub mata kuliah, di folder Pertemuan-02-Kelas-dan-Objek.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enam kemampuan yang kita kejar hari ini. Di akhir pertemuan, cek lagi satu per satu: sudahkah kamu bisa menjelaskannya dengan kata-katamu sendiri? Urutan belajarnya: konsep di </a:t>
            </a:r>
            <a:r>
              <a:rPr lang="id-ID" dirty="0" i="1"/>
              <a:t>slide</a:t>
            </a:r>
            <a:r>
              <a:rPr lang="id-ID" dirty="0"/>
              <a:t> ini, lalu praktik di halaman Python atau Java, kemudian halaman Jembatan Python ↔ Java, latihan, dan kuis.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Ingat masalah di Pertemuan 01: data satu menu tercerai-berai di tiga </a:t>
            </a:r>
            <a:r>
              <a:rPr lang="id-ID" dirty="0" i="1"/>
              <a:t>list</a:t>
            </a:r>
            <a:r>
              <a:rPr lang="id-ID" dirty="0"/>
              <a:t>. Begitu satu </a:t>
            </a:r>
            <a:r>
              <a:rPr lang="id-ID" dirty="0" i="1"/>
              <a:t>list</a:t>
            </a:r>
            <a:r>
              <a:rPr lang="id-ID" dirty="0"/>
              <a:t> diurutkan, pasangannya rusak.</a:t>
            </a:r>
            <a:endParaRPr lang="id-ID" dirty="0"/>
          </a:p>
          <a:p>
            <a:r>
              <a:rPr lang="id-ID" dirty="0"/>
              <a:t>Pertanyaan untuk kelas: siapa yang masih ingat menu mana yang harganya jadi salah? Hari ini kita belajar membuat wadah yang membuat data satu menu selalu berjalan bersama.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kita hari ini. Kita mulai dari cerita sederhana tentang kue, lalu menerjemahkannya ke istilah PBO satu per satu. Di bagian akhir kita membangun kelas Menu pertama untuk KedaiKita, lengkap dengan kode Python dan Java yang bisa langsung kamu jalankan.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mulai dengan cerita, bukan kode. Analogi ini akan terus kita pakai sampai akhir pertemuan, jadi pegang baik-baik.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kamu membantu Bu Rina berjualan kue putu ayu di depan kampus. Cetakannya cuma satu, tetapi kuenya bisa puluhan. Semua kue bentuknya sama karena berasal dari cetakan yang sama, tetapi setiap kue tetap benda yang berbeda. Kalau satu kue dimakan, kue lain tidak ikut hilang, dan cetakannya sendiri tidak bisa dimakan. Tabel di sebelah kanan menunjukkan padanannya di PBO.</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Gambar ini merangkum analogi tadi. Di kiri ada kelas PutuAyu dengan dua atribut: warna dan parutan kelapa. Dari kelas itu dicetak tiga objek dengan nilai yang berbeda-beda. Perhatikan dua kalimat di bagian bawah. Cetakan tidak bisa dimakan, artinya kelas hanya rancangan. Satu kue dimakan, kue lain tetap ada, artinya setiap objek berdiri sendiri.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Sekarang kita beri nama resmi untuk cetakan dan kue.</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Analogi lain untuk kelas adalah denah rumah. Arsitek menggambar denah: jumlah kamar, letak pintu, dan luas dapur. Denah itu belum bisa ditinggali. Begitu pula kelas: ia hanya mendeskripsikan. Nama kelas ditulis dengan gaya </a:t>
            </a:r>
            <a:r>
              <a:rPr lang="id-ID" dirty="0" i="1"/>
              <a:t>PascalCase</a:t>
            </a:r>
            <a:r>
              <a:rPr lang="id-ID" dirty="0"/>
              <a:t>, yaitu setiap kata diawali huruf kapital tanpa spasi, dan aturan ini berlaku di Python maupun Java.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Kalau kelas adalah denah, objek adalah rumah yang sudah dibangun: nyata, punya alamat, punya warna cat, dan bisa dihuni. Proses membuat objek dari kelas disebut instansiasi, mirip mencetak kue atau membangun rumah dari denah. Ingat: kelas Mahasiswa cukup ditulis sekali, sedangkan objek mahasiswanya bisa ribuan, satu untuk setiap mahasiswa.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Diagram ini menunjukkan satu kelas Mahasiswa yang menghasilkan tiga objek. Ketiganya punya atribut yang sama jenisnya, yaitu nama dan NIM, tetapi nilainya berbeda.</a:t>
            </a:r>
            <a:endParaRPr lang="id-ID" dirty="0"/>
          </a:p>
          <a:p>
            <a:r>
              <a:rPr lang="id-ID" dirty="0"/>
              <a:t>Pertanyaan untuk kelas: sebutkan pasangan kelas dan objek lain di sekitarmu, misalnya kelas Motor dengan objek motor milikmu, atau kelas Ponsel dengan objek ponsel milik dosenmu.</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kode pertama kita. Kelas Kucing ditulis sekali, lalu dibuat dua objek darinya: oyen dan belang. Di Python cukup memanggil </a:t>
            </a:r>
            <a:r>
              <a:rPr lang="en-US" dirty="0">
                <a:latin typeface="Consolas"/>
              </a:rPr>
              <a:t>Kucing()</a:t>
            </a:r>
            <a:r>
              <a:rPr lang="id-ID" dirty="0"/>
              <a:t>, sedangkan di Java memakai kata kunci </a:t>
            </a:r>
            <a:r>
              <a:rPr lang="en-US" dirty="0">
                <a:latin typeface="Consolas"/>
              </a:rPr>
              <a:t>new</a:t>
            </a:r>
            <a:r>
              <a:rPr lang="id-ID" dirty="0"/>
              <a:t>. Java juga mewajibkan atribut dideklarasikan lengkap dengan tipenya di dalam kelas. Atributnya diisi dari luar memakai notasi titik. Cara ini memang bisa, tetapi bukan kebiasaan yang baik; sebentar lagi kita memakai konstruktor. Kode lengkapnya adalah contoh 01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Setiap benda di dunia nyata punya ciri dan kemampuan. Di PBO, keduanya punya nama resmi.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Ambil contoh ponselmu. Merek, warna, dan sisa baterai adalah ciri, atau atribut. Menelepon dan mengisi daya adalah kemampuan, atau </a:t>
            </a:r>
            <a:r>
              <a:rPr lang="id-ID" dirty="0" i="1"/>
              <a:t>method</a:t>
            </a:r>
            <a:r>
              <a:rPr lang="id-ID" dirty="0"/>
              <a:t>. Secara sederhana, </a:t>
            </a:r>
            <a:r>
              <a:rPr lang="id-ID" dirty="0" i="1"/>
              <a:t>method</a:t>
            </a:r>
            <a:r>
              <a:rPr lang="id-ID" dirty="0"/>
              <a:t> adalah fungsi yang menempel pada objek. Kelas menentukan atribut dan </a:t>
            </a:r>
            <a:r>
              <a:rPr lang="id-ID" dirty="0" i="1"/>
              <a:t>method</a:t>
            </a:r>
            <a:r>
              <a:rPr lang="id-ID" dirty="0"/>
              <a:t> apa saja yang ada, lalu setiap objek mengisi atributnya dengan nilainya sendiri.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Saat membaca deskripsi masalah, garis bawahi kata bendanya: itu calon kelas atau atribut. Lalu lingkari kata kerjanya: itu calon </a:t>
            </a:r>
            <a:r>
              <a:rPr lang="id-ID" dirty="0" i="1"/>
              <a:t>method</a:t>
            </a:r>
            <a:r>
              <a:rPr lang="id-ID" dirty="0"/>
              <a:t>.</a:t>
            </a:r>
            <a:endParaRPr lang="id-ID" dirty="0"/>
          </a:p>
          <a:p>
            <a:r>
              <a:rPr lang="id-ID" dirty="0"/>
              <a:t>Pertanyaan untuk kelas: terapkan trik ini pada kalimat 'Sebuah lagu punya judul, penyanyi, dan durasi; lagu bisa diputar dan ditampilkan.' Jawabannya: kelas Lagu, atribut judul, penyanyi, dan durasi, serta </a:t>
            </a:r>
            <a:r>
              <a:rPr lang="id-ID" dirty="0" i="1"/>
              <a:t>method</a:t>
            </a:r>
            <a:r>
              <a:rPr lang="id-ID" dirty="0"/>
              <a:t> </a:t>
            </a:r>
            <a:r>
              <a:rPr lang="en-US" dirty="0">
                <a:latin typeface="Consolas"/>
              </a:rPr>
              <a:t>putar()</a:t>
            </a:r>
            <a:r>
              <a:rPr lang="id-ID" dirty="0"/>
              <a:t> dan </a:t>
            </a:r>
            <a:r>
              <a:rPr lang="en-US" dirty="0">
                <a:latin typeface="Consolas"/>
              </a:rPr>
              <a:t>tampilkan()</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Objek yang baik lahir dengan data yang sudah lengkap. Di bagian ini kita berkenalan dengan konstruktor dan kata ganti untuk diri sendiri.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mendaftar menjadi anggota kafe: kartu anggota baru dibuat setelah nama dan nomor ponselmu diisi. Objek juga sebaiknya begitu. Konstruktor berjalan otomatis saat objek dibuat dan menerima data yang kita kirim sebagai parameter. Tanpa konstruktor, kita bisa lupa mengisi sebagian atribut sehingga objeknya setengah jadi dan menjadi sumber </a:t>
            </a:r>
            <a:r>
              <a:rPr lang="id-ID" dirty="0" i="1"/>
              <a:t>bug</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Bandingkan kedua sisi. Di Python, konstruktor bernama </a:t>
            </a:r>
            <a:r>
              <a:rPr lang="en-US" dirty="0">
                <a:latin typeface="Consolas"/>
              </a:rPr>
              <a:t>__init__</a:t>
            </a:r>
            <a:r>
              <a:rPr lang="id-ID" dirty="0"/>
              <a:t> dan parameter pertamanya selalu </a:t>
            </a:r>
            <a:r>
              <a:rPr lang="en-US" dirty="0">
                <a:latin typeface="Consolas"/>
              </a:rPr>
              <a:t>self</a:t>
            </a:r>
            <a:r>
              <a:rPr lang="id-ID" dirty="0"/>
              <a:t>. Di Java, konstruktor ditulis dengan nama yang sama persis dengan nama kelas dan tanpa tipe kembalian. Saat kita menulis </a:t>
            </a:r>
            <a:r>
              <a:rPr lang="en-US" dirty="0">
                <a:latin typeface="Consolas"/>
              </a:rPr>
              <a:t>Mobil("Avanza", "hitam", 2019)</a:t>
            </a:r>
            <a:r>
              <a:rPr lang="id-ID" dirty="0"/>
              <a:t>, objek baru dibuat lalu konstruktornya berjalan otomatis. Di contoh 02 halaman praktik, konstruktornya mencetak pesan sehingga terlihat bahwa ia terpanggil sendiri, tiga kali untuk tiga mobil.</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Akhiran -mu dalam kalimat dosen otomatis merujuk ke diri masing-masing mahasiswa. Begitu juga </a:t>
            </a:r>
            <a:r>
              <a:rPr lang="en-US" dirty="0">
                <a:latin typeface="Consolas"/>
              </a:rPr>
              <a:t>self</a:t>
            </a:r>
            <a:r>
              <a:rPr lang="id-ID" dirty="0"/>
              <a:t> dan </a:t>
            </a:r>
            <a:r>
              <a:rPr lang="en-US" dirty="0">
                <a:latin typeface="Consolas"/>
              </a:rPr>
              <a:t>this</a:t>
            </a:r>
            <a:r>
              <a:rPr lang="id-ID" dirty="0"/>
              <a:t>: </a:t>
            </a:r>
            <a:r>
              <a:rPr lang="id-ID" dirty="0" i="1"/>
              <a:t>method</a:t>
            </a:r>
            <a:r>
              <a:rPr lang="id-ID" dirty="0"/>
              <a:t> hanya ditulis sekali di kelas, tetapi saat dipanggil oleh objek kopi, </a:t>
            </a:r>
            <a:r>
              <a:rPr lang="en-US" dirty="0">
                <a:latin typeface="Consolas"/>
              </a:rPr>
              <a:t>self</a:t>
            </a:r>
            <a:r>
              <a:rPr lang="id-ID" dirty="0"/>
              <a:t> berarti objek kopi, dan saat dipanggil oleh objek es teh, </a:t>
            </a:r>
            <a:r>
              <a:rPr lang="en-US" dirty="0">
                <a:latin typeface="Consolas"/>
              </a:rPr>
              <a:t>self</a:t>
            </a:r>
            <a:r>
              <a:rPr lang="id-ID" dirty="0"/>
              <a:t> berarti objek es teh. Baca baris </a:t>
            </a:r>
            <a:r>
              <a:rPr lang="en-US" dirty="0">
                <a:latin typeface="Consolas"/>
              </a:rPr>
              <a:t>self.nama = nama</a:t>
            </a:r>
            <a:r>
              <a:rPr lang="id-ID" dirty="0"/>
              <a:t> dari kanan ke kiri: nilai parameter </a:t>
            </a:r>
            <a:r>
              <a:rPr lang="en-US" dirty="0">
                <a:latin typeface="Consolas"/>
              </a:rPr>
              <a:t>nama</a:t>
            </a:r>
            <a:r>
              <a:rPr lang="id-ID" dirty="0"/>
              <a:t> disimpan ke atribut </a:t>
            </a:r>
            <a:r>
              <a:rPr lang="en-US" dirty="0">
                <a:latin typeface="Consolas"/>
              </a:rPr>
              <a:t>nama</a:t>
            </a:r>
            <a:r>
              <a:rPr lang="id-ID" dirty="0"/>
              <a:t> milik objek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Memanggil </a:t>
            </a:r>
            <a:r>
              <a:rPr lang="id-ID" dirty="0" i="1"/>
              <a:t>method</a:t>
            </a:r>
            <a:r>
              <a:rPr lang="id-ID" dirty="0"/>
              <a:t> mirip menekan tombol </a:t>
            </a:r>
            <a:r>
              <a:rPr lang="id-ID" dirty="0" i="1"/>
              <a:t>remote</a:t>
            </a:r>
            <a:r>
              <a:rPr lang="id-ID" dirty="0"/>
              <a:t> TV. Kita tidak membongkar TV untuk menaikkan volume, cukup menekan tombolnya. Para ahli PBO menyebutnya mengirim pesan ke objek. Kebiasaan kecil yang sangat membantu: ucapkan titik sebagai 'milik' dan baca dari kanan ke kiri. Jadi, </a:t>
            </a:r>
            <a:r>
              <a:rPr lang="en-US" dirty="0">
                <a:latin typeface="Consolas"/>
              </a:rPr>
              <a:t>kopi.tampilkan_info()</a:t>
            </a:r>
            <a:r>
              <a:rPr lang="id-ID" dirty="0"/>
              <a:t> dibaca 'jalankan tampilkan_info milik kopi'.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Masih ingat KedaiKita dengan data menu yang kacau di Pertemuan 01? Hari ini kita membuat versi pertamanya yang benar-benar memakai kelas.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Begini cara pemrogram menggambar kelas: kotak tiga bagian. Bagian atas berisi nama kelas, bagian tengah atribut, dan bagian bawah </a:t>
            </a:r>
            <a:r>
              <a:rPr lang="id-ID" dirty="0" i="1"/>
              <a:t>method</a:t>
            </a:r>
            <a:r>
              <a:rPr lang="id-ID" dirty="0"/>
              <a:t>. Atribut nama dan harga diisi lewat konstruktor. </a:t>
            </a:r>
            <a:r>
              <a:rPr lang="id-ID" dirty="0" i="1"/>
              <a:t>Method</a:t>
            </a:r>
            <a:r>
              <a:rPr lang="id-ID" dirty="0"/>
              <a:t> </a:t>
            </a:r>
            <a:r>
              <a:rPr lang="en-US" dirty="0">
                <a:latin typeface="Consolas"/>
              </a:rPr>
              <a:t>tampilkan_info()</a:t>
            </a:r>
            <a:r>
              <a:rPr lang="id-ID" dirty="0"/>
              <a:t> mencetak nama dan harga, sedangkan </a:t>
            </a:r>
            <a:r>
              <a:rPr lang="en-US" dirty="0">
                <a:latin typeface="Consolas"/>
              </a:rPr>
              <a:t>hitung_total(jumlah)</a:t>
            </a:r>
            <a:r>
              <a:rPr lang="id-ID" dirty="0"/>
              <a:t> mengembalikan total harga untuk sejumlah porsi. Notasi lengkapnya kita pelajari di Pertemuan 06.</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kelas Menu dalam dua bahasa. Strukturnya sama persis: dua atribut, satu konstruktor, dan dua </a:t>
            </a:r>
            <a:r>
              <a:rPr lang="id-ID" dirty="0" i="1"/>
              <a:t>method</a:t>
            </a:r>
            <a:r>
              <a:rPr lang="id-ID" dirty="0"/>
              <a:t>. Bedanya hanya cara menulis. Java mendeklarasikan tipe setiap atribut dan nilai kembalian, sedangkan Python tidak. Java juga memakai gaya </a:t>
            </a:r>
            <a:r>
              <a:rPr lang="id-ID" dirty="0" i="1"/>
              <a:t>camelCase</a:t>
            </a:r>
            <a:r>
              <a:rPr lang="id-ID" dirty="0"/>
              <a:t> untuk nama </a:t>
            </a:r>
            <a:r>
              <a:rPr lang="id-ID" dirty="0" i="1"/>
              <a:t>method</a:t>
            </a:r>
            <a:r>
              <a:rPr lang="id-ID" dirty="0"/>
              <a:t>, misalnya </a:t>
            </a:r>
            <a:r>
              <a:rPr lang="en-US" dirty="0">
                <a:latin typeface="Consolas"/>
              </a:rPr>
              <a:t>tampilkanInfo</a:t>
            </a:r>
            <a:r>
              <a:rPr lang="id-ID" dirty="0"/>
              <a:t>, sedangkan Python memakai </a:t>
            </a:r>
            <a:r>
              <a:rPr lang="id-ID" dirty="0" i="1"/>
              <a:t>snake_case</a:t>
            </a:r>
            <a:r>
              <a:rPr lang="id-ID" dirty="0"/>
              <a:t>. Perbedaan lengkapnya ada di halaman Jembatan Python ↔ Java.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Bagian akhir program KedaiKita menaikkan harga es teh menjadi 10.000 rupiah, lalu menampilkan es teh dan kopi. Hasilnya, hanya es teh yang berubah; kopi tetap 18.000. Inilah bukti bahwa setiap objek menyimpan atributnya sendiri, sama seperti memakan satu kue tidak menghabiskan kue lainnya. Variabel seperti </a:t>
            </a:r>
            <a:r>
              <a:rPr lang="en-US" dirty="0">
                <a:latin typeface="Consolas"/>
              </a:rPr>
              <a:t>kopi</a:t>
            </a:r>
            <a:r>
              <a:rPr lang="id-ID" dirty="0"/>
              <a:t> hanyalah nama panggilan yang menunjuk ke objeknya; hal ini kita bahas lebih dalam di Pertemuan 03.</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Tiga anggapan keliru ini paling sering muncul saat pertama kali belajar kelas dan objek. Ajak kelas menebak dulu: mengapa anggapan di kiri salah? Dua miskonsepsi lain, yaitu menganggap nama variabel sama dengan nama objek dan menganggap </a:t>
            </a:r>
            <a:r>
              <a:rPr lang="id-ID" dirty="0" i="1"/>
              <a:t>method</a:t>
            </a:r>
            <a:r>
              <a:rPr lang="id-ID" dirty="0"/>
              <a:t> sama dengan fungsi biasa, dibahas di bagian 11 halaman konsep.</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Beri waktu sekitar 30 detik untuk berpikir, lalu minta mahasiswa mengangkat tangan sesuai pilihannya. Jawaban dan pembahasannya ada di </a:t>
            </a:r>
            <a:r>
              <a:rPr lang="id-ID" dirty="0" i="1"/>
              <a:t>slide</a:t>
            </a:r>
            <a:r>
              <a:rPr lang="id-ID" dirty="0"/>
              <a:t> berikutnya. Kuis lengkap berisi 10 soal ada di </a:t>
            </a:r>
            <a:r>
              <a:rPr lang="id-ID" dirty="0" i="1"/>
              <a:t>file</a:t>
            </a:r>
            <a:r>
              <a:rPr lang="id-ID" dirty="0"/>
              <a:t> kuis.md pada folder pertemuan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B. Kelas adalah cetak biru (denah), sedangkan objek adalah wujud nyata yang dibangun darinya (rumah). Pilihan A terbalik, C tidak menggambarkan hubungan cetak biru dan hasilnya, dan D keliru karena kelas dan objek adalah dua hal berbeda.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trik kata benda dan kata kerja yang baru saja kita pelajari. Ingatkan kelas: kata benda menjadi calon kelas atau atribut, sedangkan kata kerja menjadi calon </a:t>
            </a:r>
            <a:r>
              <a:rPr lang="id-ID" dirty="0" i="1"/>
              <a:t>method</a:t>
            </a:r>
            <a:r>
              <a:rPr lang="id-ID" dirty="0"/>
              <a:t>. Jawabannya ada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D. </a:t>
            </a:r>
            <a:r>
              <a:rPr lang="id-ID" dirty="0" i="1"/>
              <a:t>Method</a:t>
            </a:r>
            <a:r>
              <a:rPr lang="id-ID" dirty="0"/>
              <a:t> adalah perilaku atau aksi, biasanya berupa kata kerja seperti "dinyalakan" dan "diisi bensin". "Pelat nomor" dan "warna" adalah atribut, sedangkan "motor" adalah calon nama kelas.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tujuh hal yang perlu kamu bawa pulang hari ini. Kalau ada yang masih terasa samar, baca lagi bagian yang sesuai di halaman konsep, lalu jalankan contohnya di halaman praktik. Pertemuan berikutnya kita memperdalam atribut dan </a:t>
            </a:r>
            <a:r>
              <a:rPr lang="id-ID" dirty="0" i="1"/>
              <a:t>method</a:t>
            </a:r>
            <a:r>
              <a:rPr lang="id-ID" dirty="0"/>
              <a:t>, termasuk atribut milik kelas dan cara objek memperkenalkan dirinya.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pertemuan ini ada di folder Pertemuan-02-Kelas-dan-Objek di GitHub. Mulailah dari halaman praktik sesuai jalurmu, Python atau Java. Simpan semua percobaanmu di folder PBO-latihan-saya/pertemuan-02, bukan di folder materi, agar tidak tertimpa saat materi diperbarui. Sampai jumpa di Pertemuan 03.</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02 · Kelas dan Objek</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02 · Kelas dan Objek</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02 · Kelas dan Objek</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7-3.png"/><Relationship Id="rId2" Type="http://schemas.openxmlformats.org/officeDocument/2006/relationships/image" Target="../media/image-27-3.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1.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5-3.png"/><Relationship Id="rId3" Type="http://schemas.openxmlformats.org/officeDocument/2006/relationships/image" Target="../media/image-27-3.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1.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5-3.png"/><Relationship Id="rId3" Type="http://schemas.openxmlformats.org/officeDocument/2006/relationships/image" Target="../media/image-27-3.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5-3.png"/><Relationship Id="rId3" Type="http://schemas.openxmlformats.org/officeDocument/2006/relationships/image" Target="../media/image-25-3.png"/><Relationship Id="rId4" Type="http://schemas.openxmlformats.org/officeDocument/2006/relationships/image" Target="../media/image-25-3.png"/><Relationship Id="rId5" Type="http://schemas.openxmlformats.org/officeDocument/2006/relationships/image" Target="../media/image-25-3.png"/><Relationship Id="rId6" Type="http://schemas.openxmlformats.org/officeDocument/2006/relationships/image" Target="../media/image-25-3.png"/><Relationship Id="rId7" Type="http://schemas.openxmlformats.org/officeDocument/2006/relationships/image" Target="../media/image-25-3.png"/><Relationship Id="rId8" Type="http://schemas.openxmlformats.org/officeDocument/2006/relationships/image" Target="../media/image-25-3.png"/><Relationship Id="rId9" Type="http://schemas.openxmlformats.org/officeDocument/2006/relationships/slideLayout" Target="../slideLayouts/slideLayout4.xml"/><Relationship Id="rId1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antonprafanto/PBO2026/blob/master/Pertemuan-02-Kelas-dan-Objek/README.md" TargetMode="External"/><Relationship Id="rId5" Type="http://schemas.openxmlformats.org/officeDocument/2006/relationships/hyperlink" Target="https://github.com/antonprafanto/PBO2026/blob/master/Pertemuan-02-Kelas-dan-Objek/python/README.md" TargetMode="External"/><Relationship Id="rId7" Type="http://schemas.openxmlformats.org/officeDocument/2006/relationships/hyperlink" Target="https://github.com/antonprafanto/PBO2026/blob/master/Pertemuan-02-Kelas-dan-Objek/java/README.md" TargetMode="External"/><Relationship Id="rId9" Type="http://schemas.openxmlformats.org/officeDocument/2006/relationships/hyperlink" Target="https://github.com/antonprafanto/PBO2026/blob/master/Pertemuan-02-Kelas-dan-Objek/jembatan-python-java.md" TargetMode="External"/><Relationship Id="rId11" Type="http://schemas.openxmlformats.org/officeDocument/2006/relationships/hyperlink" Target="https://github.com/antonprafanto/PBO2026/blob/master/Pertemuan-02-Kelas-dan-Objek/latihan.md" TargetMode="External"/><Relationship Id="rId13" Type="http://schemas.openxmlformats.org/officeDocument/2006/relationships/hyperlink" Target="https://github.com/antonprafanto/PBO2026/blob/master/Pertemuan-02-Kelas-dan-Objek/kuis.md" TargetMode="External"/><Relationship Id="rId15" Type="http://schemas.openxmlformats.org/officeDocument/2006/relationships/hyperlink" Target="https://github.com/antonprafanto/PBO2026/tree/master/Pertemuan-02-Kelas-dan-Objek" TargetMode="External"/><Relationship Id="rId1" Type="http://schemas.openxmlformats.org/officeDocument/2006/relationships/image" Target="../media/image-31-1.png"/><Relationship Id="rId2" Type="http://schemas.openxmlformats.org/officeDocument/2006/relationships/image" Target="../media/image-31-2.png"/><Relationship Id="rId4" Type="http://schemas.openxmlformats.org/officeDocument/2006/relationships/image" Target="../media/image-31-3.png"/><Relationship Id="rId6" Type="http://schemas.openxmlformats.org/officeDocument/2006/relationships/image" Target="../media/image-31-3.png"/><Relationship Id="rId8" Type="http://schemas.openxmlformats.org/officeDocument/2006/relationships/image" Target="../media/image-31-5.png"/><Relationship Id="rId10" Type="http://schemas.openxmlformats.org/officeDocument/2006/relationships/image" Target="../media/image-31-6.png"/><Relationship Id="rId12" Type="http://schemas.openxmlformats.org/officeDocument/2006/relationships/image" Target="../media/image-31-7.png"/><Relationship Id="rId14" Type="http://schemas.openxmlformats.org/officeDocument/2006/relationships/image" Target="../media/image-31-8.png"/><Relationship Id="rId16" Type="http://schemas.openxmlformats.org/officeDocument/2006/relationships/slideLayout" Target="../slideLayouts/slideLayout5.xml"/><Relationship Id="rId17"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800" b="1" dirty="0">
                <a:solidFill>
                  <a:srgbClr val="FFFFFF"/>
                </a:solidFill>
              </a:rPr>
              <a:t>Kelas dan Objek</a:t>
            </a:r>
            <a:endParaRPr lang="id-ID" sz="4800" dirty="0"/>
          </a:p>
        </p:txBody>
      </p:sp>
      <p:sp>
        <p:nvSpPr>
          <p:cNvPr id="4" name="Text 2"/>
          <p:cNvSpPr txBox="1"/>
          <p:nvPr/>
        </p:nvSpPr>
        <p:spPr>
          <a:xfrm>
            <a:off x="731520" y="2663952"/>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Cetak biru dan wujud nyatanya: dua fondasi Pemrograman Berorientasi Objek</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02</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948944"/>
          </a:xfrm>
          <a:prstGeom prst="roundRect">
            <a:avLst>
              <a:gd name="adj" fmla="val 11142"/>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674624"/>
          </a:xfrm>
          <a:prstGeom prst="rect">
            <a:avLst/>
          </a:prstGeom>
          <a:noFill/>
          <a:ln/>
        </p:spPr>
        <p:txBody>
          <a:bodyPr wrap="square" lIns="0" tIns="0" rIns="0" bIns="0" rtlCol="0" anchor="t"/>
          <a:lstStyle/>
          <a:p>
            <a:pPr indent="0" marL="0">
              <a:buNone/>
            </a:pPr>
            <a:r>
              <a:rPr lang="id-ID" altLang="en-US" sz="2000" dirty="0">
                <a:solidFill>
                  <a:srgbClr val="1F2328"/>
                </a:solidFill>
              </a:rPr>
              <a:t>Menjelaskan perbedaan </a:t>
            </a:r>
            <a:r>
              <a:rPr lang="id-ID" altLang="en-US" sz="2000" b="1" dirty="0">
                <a:solidFill>
                  <a:srgbClr val="1F2328"/>
                </a:solidFill>
              </a:rPr>
              <a:t>kelas</a:t>
            </a:r>
            <a:r>
              <a:rPr lang="id-ID" altLang="en-US" sz="2000" dirty="0">
                <a:solidFill>
                  <a:srgbClr val="1F2328"/>
                </a:solidFill>
              </a:rPr>
              <a:t> dan </a:t>
            </a:r>
            <a:r>
              <a:rPr lang="id-ID" altLang="en-US" sz="2000" b="1" dirty="0">
                <a:solidFill>
                  <a:srgbClr val="1F2328"/>
                </a:solidFill>
              </a:rPr>
              <a:t>objek</a:t>
            </a:r>
            <a:r>
              <a:rPr lang="id-ID" altLang="en-US" sz="2000" dirty="0">
                <a:solidFill>
                  <a:srgbClr val="1F2328"/>
                </a:solidFill>
              </a:rPr>
              <a:t> dengan analogi sehari-⁠hari.</a:t>
            </a:r>
            <a:endParaRPr lang="id-ID" sz="2000" dirty="0"/>
          </a:p>
        </p:txBody>
      </p:sp>
      <p:sp>
        <p:nvSpPr>
          <p:cNvPr id="10" name="Shape 7"/>
          <p:cNvSpPr/>
          <p:nvPr/>
        </p:nvSpPr>
        <p:spPr>
          <a:xfrm>
            <a:off x="6210148" y="1920240"/>
            <a:ext cx="5432908" cy="948944"/>
          </a:xfrm>
          <a:prstGeom prst="roundRect">
            <a:avLst>
              <a:gd name="adj" fmla="val 11142"/>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674624"/>
          </a:xfrm>
          <a:prstGeom prst="rect">
            <a:avLst/>
          </a:prstGeom>
          <a:noFill/>
          <a:ln/>
        </p:spPr>
        <p:txBody>
          <a:bodyPr wrap="square" lIns="0" tIns="0" rIns="0" bIns="0" rtlCol="0" anchor="t"/>
          <a:lstStyle/>
          <a:p>
            <a:pPr indent="0" marL="0">
              <a:buNone/>
            </a:pPr>
            <a:r>
              <a:rPr lang="id-ID" altLang="en-US" sz="2000" dirty="0">
                <a:solidFill>
                  <a:srgbClr val="1F2328"/>
                </a:solidFill>
              </a:rPr>
              <a:t>Menemukan </a:t>
            </a:r>
            <a:r>
              <a:rPr lang="id-ID" altLang="en-US" sz="2000" b="1" dirty="0">
                <a:solidFill>
                  <a:srgbClr val="1F2328"/>
                </a:solidFill>
              </a:rPr>
              <a:t>atribut</a:t>
            </a:r>
            <a:r>
              <a:rPr lang="id-ID" altLang="en-US" sz="2000" dirty="0">
                <a:solidFill>
                  <a:srgbClr val="1F2328"/>
                </a:solidFill>
              </a:rPr>
              <a:t> (ciri) dan </a:t>
            </a:r>
            <a:r>
              <a:rPr lang="id-ID" altLang="en-US" sz="2000" b="1" i="1" dirty="0">
                <a:solidFill>
                  <a:srgbClr val="1F2328"/>
                </a:solidFill>
              </a:rPr>
              <a:t>method</a:t>
            </a:r>
            <a:r>
              <a:rPr lang="id-ID" altLang="en-US" sz="2000" dirty="0">
                <a:solidFill>
                  <a:srgbClr val="1F2328"/>
                </a:solidFill>
              </a:rPr>
              <a:t> (perilaku) dari sebuah benda nyata.</a:t>
            </a:r>
            <a:endParaRPr lang="id-ID" sz="2000" dirty="0"/>
          </a:p>
        </p:txBody>
      </p:sp>
      <p:sp>
        <p:nvSpPr>
          <p:cNvPr id="14" name="Shape 11"/>
          <p:cNvSpPr/>
          <p:nvPr/>
        </p:nvSpPr>
        <p:spPr>
          <a:xfrm>
            <a:off x="548640" y="3052064"/>
            <a:ext cx="5432908" cy="948944"/>
          </a:xfrm>
          <a:prstGeom prst="roundRect">
            <a:avLst>
              <a:gd name="adj" fmla="val 11142"/>
            </a:avLst>
          </a:prstGeom>
          <a:solidFill>
            <a:srgbClr val="F6F8FA"/>
          </a:solidFill>
          <a:ln w="9525">
            <a:solidFill>
              <a:srgbClr val="D0D7DE"/>
            </a:solidFill>
            <a:prstDash val="solid"/>
          </a:ln>
        </p:spPr>
      </p:sp>
      <p:sp>
        <p:nvSpPr>
          <p:cNvPr id="15" name="Shape 12"/>
          <p:cNvSpPr/>
          <p:nvPr/>
        </p:nvSpPr>
        <p:spPr>
          <a:xfrm>
            <a:off x="777240" y="3216656"/>
            <a:ext cx="457200" cy="457200"/>
          </a:xfrm>
          <a:prstGeom prst="ellipse">
            <a:avLst/>
          </a:prstGeom>
          <a:solidFill>
            <a:srgbClr val="0969DA"/>
          </a:solidFill>
          <a:ln/>
        </p:spPr>
      </p:sp>
      <p:sp>
        <p:nvSpPr>
          <p:cNvPr id="16" name="Text 13"/>
          <p:cNvSpPr txBox="1"/>
          <p:nvPr/>
        </p:nvSpPr>
        <p:spPr>
          <a:xfrm>
            <a:off x="777240" y="321665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216656"/>
            <a:ext cx="4381348" cy="674624"/>
          </a:xfrm>
          <a:prstGeom prst="rect">
            <a:avLst/>
          </a:prstGeom>
          <a:noFill/>
          <a:ln/>
        </p:spPr>
        <p:txBody>
          <a:bodyPr wrap="square" lIns="0" tIns="0" rIns="0" bIns="0" rtlCol="0" anchor="t"/>
          <a:lstStyle/>
          <a:p>
            <a:pPr indent="0" marL="0">
              <a:buNone/>
            </a:pPr>
            <a:r>
              <a:rPr lang="id-ID" altLang="en-US" sz="2000" dirty="0">
                <a:solidFill>
                  <a:srgbClr val="1F2328"/>
                </a:solidFill>
              </a:rPr>
              <a:t>Menjelaskan peran </a:t>
            </a:r>
            <a:r>
              <a:rPr lang="id-ID" altLang="en-US" sz="2000" b="1" dirty="0">
                <a:solidFill>
                  <a:srgbClr val="1F2328"/>
                </a:solidFill>
              </a:rPr>
              <a:t>konstruktor</a:t>
            </a:r>
            <a:r>
              <a:rPr lang="id-ID" altLang="en-US" sz="2000" dirty="0">
                <a:solidFill>
                  <a:srgbClr val="1F2328"/>
                </a:solidFill>
              </a:rPr>
              <a:t> saat sebuah objek dibuat.</a:t>
            </a:r>
            <a:endParaRPr lang="id-ID" sz="2000" dirty="0"/>
          </a:p>
        </p:txBody>
      </p:sp>
      <p:sp>
        <p:nvSpPr>
          <p:cNvPr id="18" name="Shape 15"/>
          <p:cNvSpPr/>
          <p:nvPr/>
        </p:nvSpPr>
        <p:spPr>
          <a:xfrm>
            <a:off x="6210148" y="3052064"/>
            <a:ext cx="5432908" cy="948944"/>
          </a:xfrm>
          <a:prstGeom prst="roundRect">
            <a:avLst>
              <a:gd name="adj" fmla="val 11142"/>
            </a:avLst>
          </a:prstGeom>
          <a:solidFill>
            <a:srgbClr val="F6F8FA"/>
          </a:solidFill>
          <a:ln w="9525">
            <a:solidFill>
              <a:srgbClr val="D0D7DE"/>
            </a:solidFill>
            <a:prstDash val="solid"/>
          </a:ln>
        </p:spPr>
      </p:sp>
      <p:sp>
        <p:nvSpPr>
          <p:cNvPr id="19" name="Shape 16"/>
          <p:cNvSpPr/>
          <p:nvPr/>
        </p:nvSpPr>
        <p:spPr>
          <a:xfrm>
            <a:off x="6438748" y="3216656"/>
            <a:ext cx="457200" cy="457200"/>
          </a:xfrm>
          <a:prstGeom prst="ellipse">
            <a:avLst/>
          </a:prstGeom>
          <a:solidFill>
            <a:srgbClr val="0969DA"/>
          </a:solidFill>
          <a:ln/>
        </p:spPr>
      </p:sp>
      <p:sp>
        <p:nvSpPr>
          <p:cNvPr id="20" name="Text 17"/>
          <p:cNvSpPr txBox="1"/>
          <p:nvPr/>
        </p:nvSpPr>
        <p:spPr>
          <a:xfrm>
            <a:off x="6438748" y="321665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216656"/>
            <a:ext cx="4381348" cy="674624"/>
          </a:xfrm>
          <a:prstGeom prst="rect">
            <a:avLst/>
          </a:prstGeom>
          <a:noFill/>
          <a:ln/>
        </p:spPr>
        <p:txBody>
          <a:bodyPr wrap="square" lIns="0" tIns="0" rIns="0" bIns="0" rtlCol="0" anchor="t"/>
          <a:lstStyle/>
          <a:p>
            <a:pPr indent="0" marL="0">
              <a:buNone/>
            </a:pPr>
            <a:r>
              <a:rPr lang="id-ID" altLang="en-US" sz="2000" dirty="0">
                <a:solidFill>
                  <a:srgbClr val="1F2328"/>
                </a:solidFill>
              </a:rPr>
              <a:t>Menjelaskan arti </a:t>
            </a:r>
            <a:r>
              <a:rPr lang="id-ID" altLang="en-US" sz="2000" dirty="0">
                <a:solidFill>
                  <a:srgbClr val="1F2328"/>
                </a:solidFill>
                <a:latin typeface="Consolas" pitchFamily="34" charset="0"/>
                <a:ea typeface="Consolas" pitchFamily="34" charset="-122"/>
                <a:cs typeface="Consolas" pitchFamily="34" charset="-120"/>
              </a:rPr>
              <a:t>self</a:t>
            </a:r>
            <a:r>
              <a:rPr lang="id-ID" altLang="en-US" sz="2000" dirty="0">
                <a:solidFill>
                  <a:srgbClr val="1F2328"/>
                </a:solidFill>
              </a:rPr>
              <a:t> (Python) dan </a:t>
            </a:r>
            <a:r>
              <a:rPr lang="id-ID" altLang="en-US" sz="2000" dirty="0">
                <a:solidFill>
                  <a:srgbClr val="1F2328"/>
                </a:solidFill>
                <a:latin typeface="Consolas" pitchFamily="34" charset="0"/>
                <a:ea typeface="Consolas" pitchFamily="34" charset="-122"/>
                <a:cs typeface="Consolas" pitchFamily="34" charset="-120"/>
              </a:rPr>
              <a:t>this</a:t>
            </a:r>
            <a:r>
              <a:rPr lang="id-ID" altLang="en-US" sz="2000" dirty="0">
                <a:solidFill>
                  <a:srgbClr val="1F2328"/>
                </a:solidFill>
              </a:rPr>
              <a:t> (Java).</a:t>
            </a:r>
            <a:endParaRPr lang="id-ID" sz="2000" dirty="0"/>
          </a:p>
        </p:txBody>
      </p:sp>
      <p:sp>
        <p:nvSpPr>
          <p:cNvPr id="22" name="Shape 19"/>
          <p:cNvSpPr/>
          <p:nvPr/>
        </p:nvSpPr>
        <p:spPr>
          <a:xfrm>
            <a:off x="548640" y="4183888"/>
            <a:ext cx="5432908" cy="1258824"/>
          </a:xfrm>
          <a:prstGeom prst="roundRect">
            <a:avLst>
              <a:gd name="adj" fmla="val 6332"/>
            </a:avLst>
          </a:prstGeom>
          <a:solidFill>
            <a:srgbClr val="F6F8FA"/>
          </a:solidFill>
          <a:ln w="9525">
            <a:solidFill>
              <a:srgbClr val="D0D7DE"/>
            </a:solidFill>
            <a:prstDash val="solid"/>
          </a:ln>
        </p:spPr>
      </p:sp>
      <p:sp>
        <p:nvSpPr>
          <p:cNvPr id="23" name="Shape 20"/>
          <p:cNvSpPr/>
          <p:nvPr/>
        </p:nvSpPr>
        <p:spPr>
          <a:xfrm>
            <a:off x="777240" y="4348480"/>
            <a:ext cx="457200" cy="457200"/>
          </a:xfrm>
          <a:prstGeom prst="ellipse">
            <a:avLst/>
          </a:prstGeom>
          <a:solidFill>
            <a:srgbClr val="0969DA"/>
          </a:solidFill>
          <a:ln/>
        </p:spPr>
      </p:sp>
      <p:sp>
        <p:nvSpPr>
          <p:cNvPr id="24" name="Text 21"/>
          <p:cNvSpPr txBox="1"/>
          <p:nvPr/>
        </p:nvSpPr>
        <p:spPr>
          <a:xfrm>
            <a:off x="777240" y="434848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4348480"/>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Membuat beberapa objek dari satu kelas dan menjelaskan mengapa datanya tidak bercampur.</a:t>
            </a:r>
            <a:endParaRPr lang="id-ID" sz="2000" dirty="0"/>
          </a:p>
        </p:txBody>
      </p:sp>
      <p:sp>
        <p:nvSpPr>
          <p:cNvPr id="26" name="Shape 23"/>
          <p:cNvSpPr/>
          <p:nvPr/>
        </p:nvSpPr>
        <p:spPr>
          <a:xfrm>
            <a:off x="6210148" y="4183888"/>
            <a:ext cx="5432908" cy="1258824"/>
          </a:xfrm>
          <a:prstGeom prst="roundRect">
            <a:avLst>
              <a:gd name="adj" fmla="val 6332"/>
            </a:avLst>
          </a:prstGeom>
          <a:solidFill>
            <a:srgbClr val="F6F8FA"/>
          </a:solidFill>
          <a:ln w="9525">
            <a:solidFill>
              <a:srgbClr val="D0D7DE"/>
            </a:solidFill>
            <a:prstDash val="solid"/>
          </a:ln>
        </p:spPr>
      </p:sp>
      <p:sp>
        <p:nvSpPr>
          <p:cNvPr id="27" name="Shape 24"/>
          <p:cNvSpPr/>
          <p:nvPr/>
        </p:nvSpPr>
        <p:spPr>
          <a:xfrm>
            <a:off x="6438748" y="4348480"/>
            <a:ext cx="457200" cy="457200"/>
          </a:xfrm>
          <a:prstGeom prst="ellipse">
            <a:avLst/>
          </a:prstGeom>
          <a:solidFill>
            <a:srgbClr val="0969DA"/>
          </a:solidFill>
          <a:ln/>
        </p:spPr>
      </p:sp>
      <p:sp>
        <p:nvSpPr>
          <p:cNvPr id="28" name="Text 25"/>
          <p:cNvSpPr txBox="1"/>
          <p:nvPr/>
        </p:nvSpPr>
        <p:spPr>
          <a:xfrm>
            <a:off x="6438748" y="434848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6</a:t>
            </a:r>
            <a:endParaRPr lang="id-ID" sz="1800" dirty="0"/>
          </a:p>
        </p:txBody>
      </p:sp>
      <p:sp>
        <p:nvSpPr>
          <p:cNvPr id="29" name="Text 26"/>
          <p:cNvSpPr txBox="1"/>
          <p:nvPr/>
        </p:nvSpPr>
        <p:spPr>
          <a:xfrm>
            <a:off x="7078828" y="4348480"/>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Membaca diagram kelas sederhana berbentuk kotak tiga bagian.</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Mengingat Kembali</a:t>
            </a:r>
            <a:endParaRPr lang="id-ID" sz="3200" dirty="0"/>
          </a:p>
        </p:txBody>
      </p:sp>
      <p:sp>
        <p:nvSpPr>
          <p:cNvPr id="5" name="Shape 2"/>
          <p:cNvSpPr/>
          <p:nvPr/>
        </p:nvSpPr>
        <p:spPr>
          <a:xfrm>
            <a:off x="548640" y="1600383"/>
            <a:ext cx="2377440" cy="4346448"/>
          </a:xfrm>
          <a:prstGeom prst="roundRect">
            <a:avLst>
              <a:gd name="adj" fmla="val 2663"/>
            </a:avLst>
          </a:prstGeom>
          <a:solidFill>
            <a:srgbClr val="DDF4FF"/>
          </a:solidFill>
          <a:ln w="9525">
            <a:solidFill>
              <a:srgbClr val="54AEFF"/>
            </a:solidFill>
            <a:prstDash val="solid"/>
          </a:ln>
        </p:spPr>
      </p:sp>
      <p:sp>
        <p:nvSpPr>
          <p:cNvPr id="6" name="Shape 3"/>
          <p:cNvSpPr/>
          <p:nvPr/>
        </p:nvSpPr>
        <p:spPr>
          <a:xfrm>
            <a:off x="1188720" y="2813487"/>
            <a:ext cx="1097280" cy="1097280"/>
          </a:xfrm>
          <a:prstGeom prst="ellipse">
            <a:avLst/>
          </a:prstGeom>
          <a:solidFill>
            <a:srgbClr val="0969DA"/>
          </a:solidFill>
          <a:ln/>
        </p:spPr>
      </p:sp>
      <p:pic>
        <p:nvPicPr>
          <p:cNvPr id="7" name="Image 1" descr="preencoded.png">    </p:cNvPr>
          <p:cNvPicPr>
            <a:picLocks noChangeAspect="1"/>
          </p:cNvPicPr>
          <p:nvPr/>
        </p:nvPicPr>
        <p:blipFill>
          <a:blip r:embed="rId2"/>
          <a:stretch>
            <a:fillRect/>
          </a:stretch>
        </p:blipFill>
        <p:spPr>
          <a:xfrm>
            <a:off x="1430122" y="3054888"/>
            <a:ext cx="614477" cy="614477"/>
          </a:xfrm>
          <a:prstGeom prst="rect">
            <a:avLst/>
          </a:prstGeom>
        </p:spPr>
      </p:pic>
      <p:sp>
        <p:nvSpPr>
          <p:cNvPr id="8" name="Text 4"/>
          <p:cNvSpPr txBox="1"/>
          <p:nvPr/>
        </p:nvSpPr>
        <p:spPr>
          <a:xfrm>
            <a:off x="731520" y="4093647"/>
            <a:ext cx="2011680" cy="640080"/>
          </a:xfrm>
          <a:prstGeom prst="rect">
            <a:avLst/>
          </a:prstGeom>
          <a:noFill/>
          <a:ln/>
        </p:spPr>
        <p:txBody>
          <a:bodyPr wrap="square" lIns="0" tIns="0" rIns="0" bIns="0" rtlCol="0" anchor="t"/>
          <a:lstStyle/>
          <a:p>
            <a:pPr algn="ctr" indent="0" marL="0">
              <a:buNone/>
            </a:pPr>
            <a:r>
              <a:rPr lang="id-ID" altLang="en-US" sz="1600" b="1" dirty="0">
                <a:solidFill>
                  <a:srgbClr val="0A3069"/>
                </a:solidFill>
              </a:rPr>
              <a:t>Dari pertemuan sebelumnya</a:t>
            </a:r>
            <a:endParaRPr lang="id-ID" sz="1600" dirty="0"/>
          </a:p>
        </p:txBody>
      </p:sp>
      <p:sp>
        <p:nvSpPr>
          <p:cNvPr id="9" name="Shape 5"/>
          <p:cNvSpPr/>
          <p:nvPr/>
        </p:nvSpPr>
        <p:spPr>
          <a:xfrm>
            <a:off x="3346704" y="1992051"/>
            <a:ext cx="137160" cy="137160"/>
          </a:xfrm>
          <a:prstGeom prst="roundRect">
            <a:avLst>
              <a:gd name="adj" fmla="val 166667"/>
            </a:avLst>
          </a:prstGeom>
          <a:solidFill>
            <a:srgbClr val="0969DA"/>
          </a:solidFill>
          <a:ln/>
        </p:spPr>
      </p:sp>
      <p:sp>
        <p:nvSpPr>
          <p:cNvPr id="10" name="Text 6"/>
          <p:cNvSpPr txBox="1"/>
          <p:nvPr/>
        </p:nvSpPr>
        <p:spPr>
          <a:xfrm>
            <a:off x="3675888" y="1874703"/>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Program </a:t>
            </a:r>
            <a:r>
              <a:rPr lang="id-ID" altLang="en-US" sz="2400" b="1" dirty="0">
                <a:solidFill>
                  <a:srgbClr val="1F2328"/>
                </a:solidFill>
              </a:rPr>
              <a:t>prosedural</a:t>
            </a:r>
            <a:r>
              <a:rPr lang="id-ID" altLang="en-US" sz="2400" dirty="0">
                <a:solidFill>
                  <a:srgbClr val="1F2328"/>
                </a:solidFill>
              </a:rPr>
              <a:t> memisahkan data (variabel, </a:t>
            </a:r>
            <a:r>
              <a:rPr lang="id-ID" altLang="en-US" sz="2400" i="1" dirty="0">
                <a:solidFill>
                  <a:srgbClr val="1F2328"/>
                </a:solidFill>
              </a:rPr>
              <a:t>list</a:t>
            </a:r>
            <a:r>
              <a:rPr lang="id-ID" altLang="en-US" sz="2400" dirty="0">
                <a:solidFill>
                  <a:srgbClr val="1F2328"/>
                </a:solidFill>
              </a:rPr>
              <a:t>) dari fungsi yang mengolahnya.</a:t>
            </a:r>
            <a:endParaRPr lang="id-ID" sz="2400" dirty="0"/>
          </a:p>
        </p:txBody>
      </p:sp>
      <p:sp>
        <p:nvSpPr>
          <p:cNvPr id="11" name="Shape 7"/>
          <p:cNvSpPr/>
          <p:nvPr/>
        </p:nvSpPr>
        <p:spPr>
          <a:xfrm>
            <a:off x="3346704" y="3010083"/>
            <a:ext cx="137160" cy="137160"/>
          </a:xfrm>
          <a:prstGeom prst="roundRect">
            <a:avLst>
              <a:gd name="adj" fmla="val 166667"/>
            </a:avLst>
          </a:prstGeom>
          <a:solidFill>
            <a:srgbClr val="0969DA"/>
          </a:solidFill>
          <a:ln/>
        </p:spPr>
      </p:sp>
      <p:sp>
        <p:nvSpPr>
          <p:cNvPr id="12" name="Text 8"/>
          <p:cNvSpPr txBox="1"/>
          <p:nvPr/>
        </p:nvSpPr>
        <p:spPr>
          <a:xfrm>
            <a:off x="3675888" y="2892735"/>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Di KedaiKita versi prosedural, nama, harga, dan stok menu disimpan di tiga </a:t>
            </a:r>
            <a:r>
              <a:rPr lang="id-ID" altLang="en-US" sz="2400" i="1" dirty="0">
                <a:solidFill>
                  <a:srgbClr val="1F2328"/>
                </a:solidFill>
              </a:rPr>
              <a:t>list</a:t>
            </a:r>
            <a:r>
              <a:rPr lang="id-ID" altLang="en-US" sz="2400" dirty="0">
                <a:solidFill>
                  <a:srgbClr val="1F2328"/>
                </a:solidFill>
              </a:rPr>
              <a:t> terpisah.</a:t>
            </a:r>
            <a:endParaRPr lang="id-ID" sz="2400" dirty="0"/>
          </a:p>
        </p:txBody>
      </p:sp>
      <p:sp>
        <p:nvSpPr>
          <p:cNvPr id="13" name="Shape 9"/>
          <p:cNvSpPr/>
          <p:nvPr/>
        </p:nvSpPr>
        <p:spPr>
          <a:xfrm>
            <a:off x="3346704" y="4028115"/>
            <a:ext cx="137160" cy="137160"/>
          </a:xfrm>
          <a:prstGeom prst="roundRect">
            <a:avLst>
              <a:gd name="adj" fmla="val 166667"/>
            </a:avLst>
          </a:prstGeom>
          <a:solidFill>
            <a:srgbClr val="0969DA"/>
          </a:solidFill>
          <a:ln/>
        </p:spPr>
      </p:sp>
      <p:sp>
        <p:nvSpPr>
          <p:cNvPr id="14" name="Text 10"/>
          <p:cNvSpPr txBox="1"/>
          <p:nvPr/>
        </p:nvSpPr>
        <p:spPr>
          <a:xfrm>
            <a:off x="3675888" y="3910767"/>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Saat daftar nama diurutkan, harga dan stok tidak ikut pindah sehingga datanya </a:t>
            </a:r>
            <a:r>
              <a:rPr lang="id-ID" altLang="en-US" sz="2400" b="1" dirty="0">
                <a:solidFill>
                  <a:srgbClr val="1F2328"/>
                </a:solidFill>
              </a:rPr>
              <a:t>tertukar</a:t>
            </a:r>
            <a:r>
              <a:rPr lang="id-ID" altLang="en-US" sz="2400" dirty="0">
                <a:solidFill>
                  <a:srgbClr val="1F2328"/>
                </a:solidFill>
              </a:rPr>
              <a:t>.</a:t>
            </a:r>
            <a:endParaRPr lang="id-ID" sz="2400" dirty="0"/>
          </a:p>
        </p:txBody>
      </p:sp>
      <p:sp>
        <p:nvSpPr>
          <p:cNvPr id="15" name="Shape 11"/>
          <p:cNvSpPr/>
          <p:nvPr/>
        </p:nvSpPr>
        <p:spPr>
          <a:xfrm>
            <a:off x="3346704" y="5046147"/>
            <a:ext cx="137160" cy="137160"/>
          </a:xfrm>
          <a:prstGeom prst="roundRect">
            <a:avLst>
              <a:gd name="adj" fmla="val 166667"/>
            </a:avLst>
          </a:prstGeom>
          <a:solidFill>
            <a:srgbClr val="0969DA"/>
          </a:solidFill>
          <a:ln/>
        </p:spPr>
      </p:sp>
      <p:sp>
        <p:nvSpPr>
          <p:cNvPr id="16" name="Text 12"/>
          <p:cNvSpPr txBox="1"/>
          <p:nvPr/>
        </p:nvSpPr>
        <p:spPr>
          <a:xfrm>
            <a:off x="3675888" y="4928799"/>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PBO menyatukan data dan perilaku dalam satu wadah bernama </a:t>
            </a:r>
            <a:r>
              <a:rPr lang="id-ID" altLang="en-US" sz="2400" b="1" dirty="0">
                <a:solidFill>
                  <a:srgbClr val="1F2328"/>
                </a:solidFill>
              </a:rPr>
              <a:t>objek</a:t>
            </a:r>
            <a:r>
              <a:rPr lang="id-ID" altLang="en-US" sz="2400" dirty="0">
                <a:solidFill>
                  <a:srgbClr val="1F2328"/>
                </a:solidFill>
              </a:rPr>
              <a:t>.</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1709420"/>
            <a:ext cx="3515258" cy="1824736"/>
          </a:xfrm>
          <a:prstGeom prst="roundRect">
            <a:avLst>
              <a:gd name="adj" fmla="val 3013"/>
            </a:avLst>
          </a:prstGeom>
          <a:solidFill>
            <a:srgbClr val="F6F8FA"/>
          </a:solidFill>
          <a:ln w="9525">
            <a:solidFill>
              <a:srgbClr val="D0D7DE"/>
            </a:solidFill>
            <a:prstDash val="solid"/>
          </a:ln>
        </p:spPr>
      </p:sp>
      <p:sp>
        <p:nvSpPr>
          <p:cNvPr id="6" name="Shape 3"/>
          <p:cNvSpPr/>
          <p:nvPr/>
        </p:nvSpPr>
        <p:spPr>
          <a:xfrm>
            <a:off x="777240" y="1938020"/>
            <a:ext cx="512064" cy="512064"/>
          </a:xfrm>
          <a:prstGeom prst="ellipse">
            <a:avLst/>
          </a:prstGeom>
          <a:solidFill>
            <a:srgbClr val="0969DA"/>
          </a:solidFill>
          <a:ln/>
        </p:spPr>
      </p:sp>
      <p:sp>
        <p:nvSpPr>
          <p:cNvPr id="7" name="Text 4"/>
          <p:cNvSpPr txBox="1"/>
          <p:nvPr/>
        </p:nvSpPr>
        <p:spPr>
          <a:xfrm>
            <a:off x="777240"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Satu cetakan, banyak kue</a:t>
            </a:r>
            <a:endParaRPr lang="id-ID" sz="2200" dirty="0"/>
          </a:p>
        </p:txBody>
      </p:sp>
      <p:sp>
        <p:nvSpPr>
          <p:cNvPr id="9" name="Shape 6"/>
          <p:cNvSpPr/>
          <p:nvPr/>
        </p:nvSpPr>
        <p:spPr>
          <a:xfrm>
            <a:off x="4338218" y="1709420"/>
            <a:ext cx="3515258" cy="1824736"/>
          </a:xfrm>
          <a:prstGeom prst="roundRect">
            <a:avLst>
              <a:gd name="adj" fmla="val 3013"/>
            </a:avLst>
          </a:prstGeom>
          <a:solidFill>
            <a:srgbClr val="F6F8FA"/>
          </a:solidFill>
          <a:ln w="9525">
            <a:solidFill>
              <a:srgbClr val="D0D7DE"/>
            </a:solidFill>
            <a:prstDash val="solid"/>
          </a:ln>
        </p:spPr>
      </p:sp>
      <p:sp>
        <p:nvSpPr>
          <p:cNvPr id="10" name="Shape 7"/>
          <p:cNvSpPr/>
          <p:nvPr/>
        </p:nvSpPr>
        <p:spPr>
          <a:xfrm>
            <a:off x="4566818" y="1938020"/>
            <a:ext cx="512064" cy="512064"/>
          </a:xfrm>
          <a:prstGeom prst="ellipse">
            <a:avLst/>
          </a:prstGeom>
          <a:solidFill>
            <a:srgbClr val="0969DA"/>
          </a:solidFill>
          <a:ln/>
        </p:spPr>
      </p:sp>
      <p:sp>
        <p:nvSpPr>
          <p:cNvPr id="11" name="Text 8"/>
          <p:cNvSpPr txBox="1"/>
          <p:nvPr/>
        </p:nvSpPr>
        <p:spPr>
          <a:xfrm>
            <a:off x="4566818"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4566818"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Kelas dan objek</a:t>
            </a:r>
            <a:endParaRPr lang="id-ID" sz="2200" dirty="0"/>
          </a:p>
        </p:txBody>
      </p:sp>
      <p:sp>
        <p:nvSpPr>
          <p:cNvPr id="13" name="Shape 10"/>
          <p:cNvSpPr/>
          <p:nvPr/>
        </p:nvSpPr>
        <p:spPr>
          <a:xfrm>
            <a:off x="8127797" y="1709420"/>
            <a:ext cx="3515258" cy="1824736"/>
          </a:xfrm>
          <a:prstGeom prst="roundRect">
            <a:avLst>
              <a:gd name="adj" fmla="val 3013"/>
            </a:avLst>
          </a:prstGeom>
          <a:solidFill>
            <a:srgbClr val="F6F8FA"/>
          </a:solidFill>
          <a:ln w="9525">
            <a:solidFill>
              <a:srgbClr val="D0D7DE"/>
            </a:solidFill>
            <a:prstDash val="solid"/>
          </a:ln>
        </p:spPr>
      </p:sp>
      <p:sp>
        <p:nvSpPr>
          <p:cNvPr id="14" name="Shape 11"/>
          <p:cNvSpPr/>
          <p:nvPr/>
        </p:nvSpPr>
        <p:spPr>
          <a:xfrm>
            <a:off x="8356397" y="1938020"/>
            <a:ext cx="512064" cy="512064"/>
          </a:xfrm>
          <a:prstGeom prst="ellipse">
            <a:avLst/>
          </a:prstGeom>
          <a:solidFill>
            <a:srgbClr val="0969DA"/>
          </a:solidFill>
          <a:ln/>
        </p:spPr>
      </p:sp>
      <p:sp>
        <p:nvSpPr>
          <p:cNvPr id="15" name="Text 12"/>
          <p:cNvSpPr txBox="1"/>
          <p:nvPr/>
        </p:nvSpPr>
        <p:spPr>
          <a:xfrm>
            <a:off x="8356397"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8356397"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Atribut dan </a:t>
            </a:r>
            <a:r>
              <a:rPr lang="id-ID" altLang="en-US" sz="2200" i="1" dirty="0">
                <a:solidFill>
                  <a:srgbClr val="1F2328"/>
                </a:solidFill>
              </a:rPr>
              <a:t>method</a:t>
            </a:r>
            <a:endParaRPr lang="id-ID" sz="2200" dirty="0"/>
          </a:p>
        </p:txBody>
      </p:sp>
      <p:sp>
        <p:nvSpPr>
          <p:cNvPr id="17" name="Shape 14"/>
          <p:cNvSpPr/>
          <p:nvPr/>
        </p:nvSpPr>
        <p:spPr>
          <a:xfrm>
            <a:off x="548640" y="3808476"/>
            <a:ext cx="3515258" cy="1824736"/>
          </a:xfrm>
          <a:prstGeom prst="roundRect">
            <a:avLst>
              <a:gd name="adj" fmla="val 3013"/>
            </a:avLst>
          </a:prstGeom>
          <a:solidFill>
            <a:srgbClr val="F6F8FA"/>
          </a:solidFill>
          <a:ln w="9525">
            <a:solidFill>
              <a:srgbClr val="D0D7DE"/>
            </a:solidFill>
            <a:prstDash val="solid"/>
          </a:ln>
        </p:spPr>
      </p:sp>
      <p:sp>
        <p:nvSpPr>
          <p:cNvPr id="18" name="Shape 15"/>
          <p:cNvSpPr/>
          <p:nvPr/>
        </p:nvSpPr>
        <p:spPr>
          <a:xfrm>
            <a:off x="777240" y="4037076"/>
            <a:ext cx="512064" cy="512064"/>
          </a:xfrm>
          <a:prstGeom prst="ellipse">
            <a:avLst/>
          </a:prstGeom>
          <a:solidFill>
            <a:srgbClr val="0969DA"/>
          </a:solidFill>
          <a:ln/>
        </p:spPr>
      </p:sp>
      <p:sp>
        <p:nvSpPr>
          <p:cNvPr id="19" name="Text 16"/>
          <p:cNvSpPr txBox="1"/>
          <p:nvPr/>
        </p:nvSpPr>
        <p:spPr>
          <a:xfrm>
            <a:off x="777240"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777240"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Konstruktor serta </a:t>
            </a:r>
            <a:r>
              <a:rPr lang="id-ID" altLang="en-US" sz="2200" dirty="0">
                <a:solidFill>
                  <a:srgbClr val="1F2328"/>
                </a:solidFill>
                <a:latin typeface="Consolas" pitchFamily="34" charset="0"/>
                <a:ea typeface="Consolas" pitchFamily="34" charset="-122"/>
                <a:cs typeface="Consolas" pitchFamily="34" charset="-120"/>
              </a:rPr>
              <a:t>self</a:t>
            </a:r>
            <a:r>
              <a:rPr lang="id-ID" altLang="en-US" sz="2200" dirty="0">
                <a:solidFill>
                  <a:srgbClr val="1F2328"/>
                </a:solidFill>
              </a:rPr>
              <a:t>/</a:t>
            </a:r>
            <a:r>
              <a:rPr lang="id-ID" altLang="en-US" sz="2200" dirty="0">
                <a:solidFill>
                  <a:srgbClr val="1F2328"/>
                </a:solidFill>
                <a:latin typeface="Consolas" pitchFamily="34" charset="0"/>
                <a:ea typeface="Consolas" pitchFamily="34" charset="-122"/>
                <a:cs typeface="Consolas" pitchFamily="34" charset="-120"/>
              </a:rPr>
              <a:t>this</a:t>
            </a:r>
            <a:endParaRPr lang="id-ID" sz="2200" dirty="0"/>
          </a:p>
        </p:txBody>
      </p:sp>
      <p:sp>
        <p:nvSpPr>
          <p:cNvPr id="21" name="Shape 18"/>
          <p:cNvSpPr/>
          <p:nvPr/>
        </p:nvSpPr>
        <p:spPr>
          <a:xfrm>
            <a:off x="4338218" y="3808476"/>
            <a:ext cx="3515258" cy="1824736"/>
          </a:xfrm>
          <a:prstGeom prst="roundRect">
            <a:avLst>
              <a:gd name="adj" fmla="val 3013"/>
            </a:avLst>
          </a:prstGeom>
          <a:solidFill>
            <a:srgbClr val="F6F8FA"/>
          </a:solidFill>
          <a:ln w="9525">
            <a:solidFill>
              <a:srgbClr val="D0D7DE"/>
            </a:solidFill>
            <a:prstDash val="solid"/>
          </a:ln>
        </p:spPr>
      </p:sp>
      <p:sp>
        <p:nvSpPr>
          <p:cNvPr id="22" name="Shape 19"/>
          <p:cNvSpPr/>
          <p:nvPr/>
        </p:nvSpPr>
        <p:spPr>
          <a:xfrm>
            <a:off x="4566818" y="4037076"/>
            <a:ext cx="512064" cy="512064"/>
          </a:xfrm>
          <a:prstGeom prst="ellipse">
            <a:avLst/>
          </a:prstGeom>
          <a:solidFill>
            <a:srgbClr val="0969DA"/>
          </a:solidFill>
          <a:ln/>
        </p:spPr>
      </p:sp>
      <p:sp>
        <p:nvSpPr>
          <p:cNvPr id="23" name="Text 20"/>
          <p:cNvSpPr txBox="1"/>
          <p:nvPr/>
        </p:nvSpPr>
        <p:spPr>
          <a:xfrm>
            <a:off x="4566818"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4" name="Text 21"/>
          <p:cNvSpPr txBox="1"/>
          <p:nvPr/>
        </p:nvSpPr>
        <p:spPr>
          <a:xfrm>
            <a:off x="4566818"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Mengirim pesan ke objek</a:t>
            </a:r>
            <a:endParaRPr lang="id-ID" sz="2200" dirty="0"/>
          </a:p>
        </p:txBody>
      </p:sp>
      <p:sp>
        <p:nvSpPr>
          <p:cNvPr id="25" name="Shape 22"/>
          <p:cNvSpPr/>
          <p:nvPr/>
        </p:nvSpPr>
        <p:spPr>
          <a:xfrm>
            <a:off x="8127797" y="3808476"/>
            <a:ext cx="3515258" cy="1824736"/>
          </a:xfrm>
          <a:prstGeom prst="roundRect">
            <a:avLst>
              <a:gd name="adj" fmla="val 3013"/>
            </a:avLst>
          </a:prstGeom>
          <a:solidFill>
            <a:srgbClr val="F6F8FA"/>
          </a:solidFill>
          <a:ln w="9525">
            <a:solidFill>
              <a:srgbClr val="D0D7DE"/>
            </a:solidFill>
            <a:prstDash val="solid"/>
          </a:ln>
        </p:spPr>
      </p:sp>
      <p:sp>
        <p:nvSpPr>
          <p:cNvPr id="26" name="Shape 23"/>
          <p:cNvSpPr/>
          <p:nvPr/>
        </p:nvSpPr>
        <p:spPr>
          <a:xfrm>
            <a:off x="8356397" y="4037076"/>
            <a:ext cx="512064" cy="512064"/>
          </a:xfrm>
          <a:prstGeom prst="ellipse">
            <a:avLst/>
          </a:prstGeom>
          <a:solidFill>
            <a:srgbClr val="0969DA"/>
          </a:solidFill>
          <a:ln/>
        </p:spPr>
      </p:sp>
      <p:sp>
        <p:nvSpPr>
          <p:cNvPr id="27" name="Text 24"/>
          <p:cNvSpPr txBox="1"/>
          <p:nvPr/>
        </p:nvSpPr>
        <p:spPr>
          <a:xfrm>
            <a:off x="8356397"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6</a:t>
            </a:r>
            <a:endParaRPr lang="id-ID" sz="2000" dirty="0"/>
          </a:p>
        </p:txBody>
      </p:sp>
      <p:sp>
        <p:nvSpPr>
          <p:cNvPr id="28" name="Text 25"/>
          <p:cNvSpPr txBox="1"/>
          <p:nvPr/>
        </p:nvSpPr>
        <p:spPr>
          <a:xfrm>
            <a:off x="8356397"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Studi kasus KedaiKita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Satu Cetakan, Banyak Kue</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Analogi yang akan kita pakai sepanjang pertemuan ini.</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9A67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Bu Rina dan Cetakan Putu Ayu</a:t>
            </a:r>
            <a:endParaRPr lang="id-ID" sz="3200" dirty="0"/>
          </a:p>
        </p:txBody>
      </p:sp>
      <p:sp>
        <p:nvSpPr>
          <p:cNvPr id="5" name="Shape 2"/>
          <p:cNvSpPr/>
          <p:nvPr/>
        </p:nvSpPr>
        <p:spPr>
          <a:xfrm>
            <a:off x="548640" y="1498397"/>
            <a:ext cx="5074920" cy="4589272"/>
          </a:xfrm>
          <a:prstGeom prst="roundRect">
            <a:avLst>
              <a:gd name="adj" fmla="val 635"/>
            </a:avLst>
          </a:prstGeom>
          <a:solidFill>
            <a:srgbClr val="FFF8C5"/>
          </a:solidFill>
          <a:ln w="9525">
            <a:solidFill>
              <a:srgbClr val="D4A72C"/>
            </a:solidFill>
            <a:prstDash val="solid"/>
          </a:ln>
        </p:spPr>
      </p:sp>
      <p:sp>
        <p:nvSpPr>
          <p:cNvPr id="6" name="Shape 3"/>
          <p:cNvSpPr/>
          <p:nvPr/>
        </p:nvSpPr>
        <p:spPr>
          <a:xfrm>
            <a:off x="822960" y="1726997"/>
            <a:ext cx="457200" cy="457200"/>
          </a:xfrm>
          <a:prstGeom prst="ellipse">
            <a:avLst/>
          </a:prstGeom>
          <a:solidFill>
            <a:srgbClr val="9A6700"/>
          </a:solidFill>
          <a:ln/>
        </p:spPr>
      </p:sp>
      <p:pic>
        <p:nvPicPr>
          <p:cNvPr id="7" name="Image 1" descr="preencoded.png">    </p:cNvPr>
          <p:cNvPicPr>
            <a:picLocks noChangeAspect="1"/>
          </p:cNvPicPr>
          <p:nvPr/>
        </p:nvPicPr>
        <p:blipFill>
          <a:blip r:embed="rId2"/>
          <a:stretch>
            <a:fillRect/>
          </a:stretch>
        </p:blipFill>
        <p:spPr>
          <a:xfrm>
            <a:off x="923544" y="1827581"/>
            <a:ext cx="256032" cy="256032"/>
          </a:xfrm>
          <a:prstGeom prst="rect">
            <a:avLst/>
          </a:prstGeom>
        </p:spPr>
      </p:pic>
      <p:sp>
        <p:nvSpPr>
          <p:cNvPr id="8" name="Text 4"/>
          <p:cNvSpPr txBox="1"/>
          <p:nvPr/>
        </p:nvSpPr>
        <p:spPr>
          <a:xfrm>
            <a:off x="1417320" y="1772717"/>
            <a:ext cx="2743200" cy="365760"/>
          </a:xfrm>
          <a:prstGeom prst="rect">
            <a:avLst/>
          </a:prstGeom>
          <a:noFill/>
          <a:ln/>
        </p:spPr>
        <p:txBody>
          <a:bodyPr wrap="square" lIns="0" tIns="0" rIns="0" bIns="0" rtlCol="0" anchor="t"/>
          <a:lstStyle/>
          <a:p>
            <a:pPr indent="0" marL="0">
              <a:buNone/>
            </a:pPr>
            <a:r>
              <a:rPr lang="id-ID" altLang="en-US" sz="1600" b="1" dirty="0">
                <a:solidFill>
                  <a:srgbClr val="9A6700"/>
                </a:solidFill>
              </a:rPr>
              <a:t>Analogi</a:t>
            </a:r>
            <a:endParaRPr lang="id-ID" sz="1600" dirty="0"/>
          </a:p>
        </p:txBody>
      </p:sp>
      <p:sp>
        <p:nvSpPr>
          <p:cNvPr id="9" name="Shape 5"/>
          <p:cNvSpPr/>
          <p:nvPr/>
        </p:nvSpPr>
        <p:spPr>
          <a:xfrm>
            <a:off x="923544" y="2453437"/>
            <a:ext cx="137160" cy="137160"/>
          </a:xfrm>
          <a:prstGeom prst="roundRect">
            <a:avLst>
              <a:gd name="adj" fmla="val 166667"/>
            </a:avLst>
          </a:prstGeom>
          <a:solidFill>
            <a:srgbClr val="9A6700"/>
          </a:solidFill>
          <a:ln/>
        </p:spPr>
      </p:sp>
      <p:sp>
        <p:nvSpPr>
          <p:cNvPr id="10" name="Text 6"/>
          <p:cNvSpPr txBox="1"/>
          <p:nvPr/>
        </p:nvSpPr>
        <p:spPr>
          <a:xfrm>
            <a:off x="1252728" y="2367077"/>
            <a:ext cx="3867912" cy="975360"/>
          </a:xfrm>
          <a:prstGeom prst="rect">
            <a:avLst/>
          </a:prstGeom>
          <a:noFill/>
          <a:ln/>
        </p:spPr>
        <p:txBody>
          <a:bodyPr wrap="square" lIns="0" tIns="0" rIns="0" bIns="0" rtlCol="0" anchor="t"/>
          <a:lstStyle/>
          <a:p>
            <a:pPr indent="0" marL="0">
              <a:buNone/>
            </a:pPr>
            <a:r>
              <a:rPr lang="id-ID" altLang="en-US" sz="2000" dirty="0">
                <a:solidFill>
                  <a:srgbClr val="1F2328"/>
                </a:solidFill>
              </a:rPr>
              <a:t>Bu Rina punya </a:t>
            </a:r>
            <a:r>
              <a:rPr lang="id-ID" altLang="en-US" sz="2000" b="1" dirty="0">
                <a:solidFill>
                  <a:srgbClr val="1F2328"/>
                </a:solidFill>
              </a:rPr>
              <a:t>satu cetakan</a:t>
            </a:r>
            <a:r>
              <a:rPr lang="id-ID" altLang="en-US" sz="2000" dirty="0">
                <a:solidFill>
                  <a:srgbClr val="1F2328"/>
                </a:solidFill>
              </a:rPr>
              <a:t> berbentuk bunga. Dari cetakan itu lahir puluhan kue.</a:t>
            </a:r>
            <a:endParaRPr lang="id-ID" sz="2000" dirty="0"/>
          </a:p>
        </p:txBody>
      </p:sp>
      <p:sp>
        <p:nvSpPr>
          <p:cNvPr id="11" name="Shape 7"/>
          <p:cNvSpPr/>
          <p:nvPr/>
        </p:nvSpPr>
        <p:spPr>
          <a:xfrm>
            <a:off x="923544" y="3602533"/>
            <a:ext cx="137160" cy="137160"/>
          </a:xfrm>
          <a:prstGeom prst="roundRect">
            <a:avLst>
              <a:gd name="adj" fmla="val 166667"/>
            </a:avLst>
          </a:prstGeom>
          <a:solidFill>
            <a:srgbClr val="9A6700"/>
          </a:solidFill>
          <a:ln/>
        </p:spPr>
      </p:sp>
      <p:sp>
        <p:nvSpPr>
          <p:cNvPr id="12" name="Text 8"/>
          <p:cNvSpPr txBox="1"/>
          <p:nvPr/>
        </p:nvSpPr>
        <p:spPr>
          <a:xfrm>
            <a:off x="1252728" y="3516173"/>
            <a:ext cx="3867912" cy="1285240"/>
          </a:xfrm>
          <a:prstGeom prst="rect">
            <a:avLst/>
          </a:prstGeom>
          <a:noFill/>
          <a:ln/>
        </p:spPr>
        <p:txBody>
          <a:bodyPr wrap="square" lIns="0" tIns="0" rIns="0" bIns="0" rtlCol="0" anchor="t"/>
          <a:lstStyle/>
          <a:p>
            <a:pPr indent="0" marL="0">
              <a:buNone/>
            </a:pPr>
            <a:r>
              <a:rPr lang="id-ID" altLang="en-US" sz="2000" dirty="0">
                <a:solidFill>
                  <a:srgbClr val="1F2328"/>
                </a:solidFill>
              </a:rPr>
              <a:t>Semua kue </a:t>
            </a:r>
            <a:r>
              <a:rPr lang="id-ID" altLang="en-US" sz="2000" b="1" dirty="0">
                <a:solidFill>
                  <a:srgbClr val="1F2328"/>
                </a:solidFill>
              </a:rPr>
              <a:t>berbentuk sama</a:t>
            </a:r>
            <a:r>
              <a:rPr lang="id-ID" altLang="en-US" sz="2000" dirty="0">
                <a:solidFill>
                  <a:srgbClr val="1F2328"/>
                </a:solidFill>
              </a:rPr>
              <a:t>, tetapi setiap kue adalah </a:t>
            </a:r>
            <a:r>
              <a:rPr lang="id-ID" altLang="en-US" sz="2000" b="1" dirty="0">
                <a:solidFill>
                  <a:srgbClr val="1F2328"/>
                </a:solidFill>
              </a:rPr>
              <a:t>benda berbeda</a:t>
            </a:r>
            <a:r>
              <a:rPr lang="id-ID" altLang="en-US" sz="2000" dirty="0">
                <a:solidFill>
                  <a:srgbClr val="1F2328"/>
                </a:solidFill>
              </a:rPr>
              <a:t> dengan warna dan parutan kelapanya sendiri.</a:t>
            </a:r>
            <a:endParaRPr lang="id-ID" sz="2000" dirty="0"/>
          </a:p>
        </p:txBody>
      </p:sp>
      <p:sp>
        <p:nvSpPr>
          <p:cNvPr id="13" name="Shape 9"/>
          <p:cNvSpPr/>
          <p:nvPr/>
        </p:nvSpPr>
        <p:spPr>
          <a:xfrm>
            <a:off x="923544" y="5061509"/>
            <a:ext cx="137160" cy="137160"/>
          </a:xfrm>
          <a:prstGeom prst="roundRect">
            <a:avLst>
              <a:gd name="adj" fmla="val 166667"/>
            </a:avLst>
          </a:prstGeom>
          <a:solidFill>
            <a:srgbClr val="9A6700"/>
          </a:solidFill>
          <a:ln/>
        </p:spPr>
      </p:sp>
      <p:sp>
        <p:nvSpPr>
          <p:cNvPr id="14" name="Text 10"/>
          <p:cNvSpPr txBox="1"/>
          <p:nvPr/>
        </p:nvSpPr>
        <p:spPr>
          <a:xfrm>
            <a:off x="1252728" y="4975149"/>
            <a:ext cx="3867912" cy="975360"/>
          </a:xfrm>
          <a:prstGeom prst="rect">
            <a:avLst/>
          </a:prstGeom>
          <a:noFill/>
          <a:ln/>
        </p:spPr>
        <p:txBody>
          <a:bodyPr wrap="square" lIns="0" tIns="0" rIns="0" bIns="0" rtlCol="0" anchor="t"/>
          <a:lstStyle/>
          <a:p>
            <a:pPr indent="0" marL="0">
              <a:buNone/>
            </a:pPr>
            <a:r>
              <a:rPr lang="id-ID" altLang="en-US" sz="2000" dirty="0">
                <a:solidFill>
                  <a:srgbClr val="1F2328"/>
                </a:solidFill>
              </a:rPr>
              <a:t>Satu kue dimakan, kue lain </a:t>
            </a:r>
            <a:r>
              <a:rPr lang="id-ID" altLang="en-US" sz="2000" b="1" dirty="0">
                <a:solidFill>
                  <a:srgbClr val="1F2328"/>
                </a:solidFill>
              </a:rPr>
              <a:t>tetap ada</a:t>
            </a:r>
            <a:r>
              <a:rPr lang="id-ID" altLang="en-US" sz="2000" dirty="0">
                <a:solidFill>
                  <a:srgbClr val="1F2328"/>
                </a:solidFill>
              </a:rPr>
              <a:t>. Cetakannya sendiri </a:t>
            </a:r>
            <a:r>
              <a:rPr lang="id-ID" altLang="en-US" sz="2000" b="1" dirty="0">
                <a:solidFill>
                  <a:srgbClr val="1F2328"/>
                </a:solidFill>
              </a:rPr>
              <a:t>tidak bisa dimakan</a:t>
            </a:r>
            <a:r>
              <a:rPr lang="id-ID" altLang="en-US" sz="2000" dirty="0">
                <a:solidFill>
                  <a:srgbClr val="1F2328"/>
                </a:solidFill>
              </a:rPr>
              <a:t>.</a:t>
            </a:r>
            <a:endParaRPr lang="id-ID"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0" y="2251253"/>
          <a:ext cx="5699455" cy="914400"/>
        </p:xfrm>
        <a:graphic>
          <a:graphicData uri="http://schemas.openxmlformats.org/drawingml/2006/table">
            <a:tbl>
              <a:tblPr/>
              <a:tblGrid>
                <a:gridCol w="2820404"/>
                <a:gridCol w="2879051"/>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Dunia kue</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Dunia PBO</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Cetakan kue</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Kelas</a:t>
                      </a:r>
                      <a:r>
                        <a:rPr lang="id-ID" altLang="en-US" sz="2000" dirty="0">
                          <a:solidFill>
                            <a:srgbClr val="1F2328"/>
                          </a:solidFill>
                          <a:latin typeface="Calibri" pitchFamily="34" charset="0"/>
                          <a:ea typeface="Calibri" pitchFamily="34" charset="-122"/>
                          <a:cs typeface="Calibri" pitchFamily="34" charset="-120"/>
                        </a:rPr>
                        <a:t> (</a:t>
                      </a:r>
                      <a:r>
                        <a:rPr lang="id-ID" altLang="en-US" sz="2000" i="1" dirty="0">
                          <a:solidFill>
                            <a:srgbClr val="1F2328"/>
                          </a:solidFill>
                          <a:latin typeface="Calibri" pitchFamily="34" charset="0"/>
                          <a:ea typeface="Calibri" pitchFamily="34" charset="-122"/>
                          <a:cs typeface="Calibri" pitchFamily="34" charset="-120"/>
                        </a:rPr>
                        <a:t>class</a:t>
                      </a:r>
                      <a:r>
                        <a:rPr lang="id-ID" altLang="en-US" sz="2000" dirty="0">
                          <a:solidFill>
                            <a:srgbClr val="1F2328"/>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Kue hasil cetakan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Objek</a:t>
                      </a:r>
                      <a:r>
                        <a:rPr lang="id-ID" altLang="en-US" sz="2000" dirty="0">
                          <a:solidFill>
                            <a:srgbClr val="1F2328"/>
                          </a:solidFill>
                          <a:latin typeface="Calibri" pitchFamily="34" charset="0"/>
                          <a:ea typeface="Calibri" pitchFamily="34" charset="-122"/>
                          <a:cs typeface="Calibri" pitchFamily="34" charset="-120"/>
                        </a:rPr>
                        <a:t> (</a:t>
                      </a:r>
                      <a:r>
                        <a:rPr lang="id-ID" altLang="en-US" sz="2000" i="1" dirty="0">
                          <a:solidFill>
                            <a:srgbClr val="1F2328"/>
                          </a:solidFill>
                          <a:latin typeface="Calibri" pitchFamily="34" charset="0"/>
                          <a:ea typeface="Calibri" pitchFamily="34" charset="-122"/>
                          <a:cs typeface="Calibri" pitchFamily="34" charset="-120"/>
                        </a:rPr>
                        <a:t>object</a:t>
                      </a:r>
                      <a:r>
                        <a:rPr lang="id-ID" altLang="en-US" sz="2000" dirty="0">
                          <a:solidFill>
                            <a:srgbClr val="1F2328"/>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Bentuk yang sama untuk semua kue</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Jenis atribut dan </a:t>
                      </a:r>
                      <a:r>
                        <a:rPr lang="id-ID" altLang="en-US" sz="2000" i="1" dirty="0">
                          <a:solidFill>
                            <a:srgbClr val="1F2328"/>
                          </a:solidFill>
                          <a:latin typeface="Calibri" pitchFamily="34" charset="0"/>
                          <a:ea typeface="Calibri" pitchFamily="34" charset="-122"/>
                          <a:cs typeface="Calibri" pitchFamily="34" charset="-120"/>
                        </a:rPr>
                        <a:t>method</a:t>
                      </a:r>
                      <a:r>
                        <a:rPr lang="id-ID" altLang="en-US" sz="2000" dirty="0">
                          <a:solidFill>
                            <a:srgbClr val="1F2328"/>
                          </a:solidFill>
                          <a:latin typeface="Calibri" pitchFamily="34" charset="0"/>
                          <a:ea typeface="Calibri" pitchFamily="34" charset="-122"/>
                          <a:cs typeface="Calibri" pitchFamily="34" charset="-120"/>
                        </a:rPr>
                        <a:t> yang sama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Warna dan parutan tiap kue</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Nilai atribut milik setiap objek</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Satu Kelas, Banyak Objek</a:t>
            </a:r>
            <a:endParaRPr lang="id-ID" sz="3200" dirty="0"/>
          </a:p>
        </p:txBody>
      </p:sp>
      <p:pic>
        <p:nvPicPr>
          <p:cNvPr id="5" name="Image 1" descr="Kelas hanya rancangan, sedangkan setiap objek berdiri sendiri dengan nilai atributnya.">    </p:cNvPr>
          <p:cNvPicPr>
            <a:picLocks noChangeAspect="1"/>
          </p:cNvPicPr>
          <p:nvPr/>
        </p:nvPicPr>
        <p:blipFill>
          <a:blip r:embed="rId2"/>
          <a:stretch>
            <a:fillRect/>
          </a:stretch>
        </p:blipFill>
        <p:spPr>
          <a:xfrm>
            <a:off x="548640" y="1417320"/>
            <a:ext cx="11094415" cy="4079561"/>
          </a:xfrm>
          <a:prstGeom prst="rect">
            <a:avLst/>
          </a:prstGeom>
        </p:spPr>
      </p:pic>
      <p:sp>
        <p:nvSpPr>
          <p:cNvPr id="6" name="Text 2"/>
          <p:cNvSpPr txBox="1"/>
          <p:nvPr/>
        </p:nvSpPr>
        <p:spPr>
          <a:xfrm>
            <a:off x="1005840" y="5606609"/>
            <a:ext cx="10180015" cy="400558"/>
          </a:xfrm>
          <a:prstGeom prst="rect">
            <a:avLst/>
          </a:prstGeom>
          <a:noFill/>
          <a:ln/>
        </p:spPr>
        <p:txBody>
          <a:bodyPr wrap="square" lIns="0" tIns="0" rIns="0" bIns="0" rtlCol="0" anchor="t"/>
          <a:lstStyle/>
          <a:p>
            <a:pPr algn="ctr" indent="0" marL="0">
              <a:buNone/>
            </a:pPr>
            <a:r>
              <a:rPr lang="id-ID" altLang="en-US" sz="1700" dirty="0">
                <a:solidFill>
                  <a:srgbClr val="57606A"/>
                </a:solidFill>
              </a:rPr>
              <a:t>Kelas hanya rancangan, sedangkan setiap objek berdiri sendiri dengan nilai atributnya.</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Kelas dan Objek</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Dari analogi menuju definisi.</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Kelas: Cetak Biru Sebuah Objek</a:t>
            </a:r>
            <a:endParaRPr lang="id-ID" sz="3200" dirty="0"/>
          </a:p>
        </p:txBody>
      </p:sp>
      <p:sp>
        <p:nvSpPr>
          <p:cNvPr id="5" name="Text 2"/>
          <p:cNvSpPr txBox="1"/>
          <p:nvPr/>
        </p:nvSpPr>
        <p:spPr>
          <a:xfrm>
            <a:off x="548640" y="1593129"/>
            <a:ext cx="11094415" cy="548640"/>
          </a:xfrm>
          <a:prstGeom prst="rect">
            <a:avLst/>
          </a:prstGeom>
          <a:noFill/>
          <a:ln/>
        </p:spPr>
        <p:txBody>
          <a:bodyPr wrap="square" lIns="0" tIns="0" rIns="0" bIns="0" rtlCol="0" anchor="t"/>
          <a:lstStyle/>
          <a:p>
            <a:pPr indent="0" marL="0">
              <a:buNone/>
            </a:pPr>
            <a:r>
              <a:rPr lang="id-ID" altLang="en-US" sz="3000" b="1" dirty="0">
                <a:solidFill>
                  <a:srgbClr val="0969DA"/>
                </a:solidFill>
              </a:rPr>
              <a:t>Kelas (</a:t>
            </a:r>
            <a:r>
              <a:rPr lang="id-ID" altLang="en-US" sz="3000" b="1" i="1" dirty="0">
                <a:solidFill>
                  <a:srgbClr val="0969DA"/>
                </a:solidFill>
              </a:rPr>
              <a:t>class</a:t>
            </a:r>
            <a:r>
              <a:rPr lang="id-ID" altLang="en-US" sz="3000" b="1" dirty="0">
                <a:solidFill>
                  <a:srgbClr val="0969DA"/>
                </a:solidFill>
              </a:rPr>
              <a:t>)</a:t>
            </a:r>
            <a:endParaRPr lang="id-ID" sz="3000" dirty="0"/>
          </a:p>
        </p:txBody>
      </p:sp>
      <p:sp>
        <p:nvSpPr>
          <p:cNvPr id="6" name="Shape 3"/>
          <p:cNvSpPr/>
          <p:nvPr/>
        </p:nvSpPr>
        <p:spPr>
          <a:xfrm>
            <a:off x="548640" y="2306361"/>
            <a:ext cx="11094415" cy="1354328"/>
          </a:xfrm>
          <a:prstGeom prst="roundRect">
            <a:avLst>
              <a:gd name="adj" fmla="val 5470"/>
            </a:avLst>
          </a:prstGeom>
          <a:solidFill>
            <a:srgbClr val="DDF4FF"/>
          </a:solidFill>
          <a:ln w="9525">
            <a:solidFill>
              <a:srgbClr val="54AEFF"/>
            </a:solidFill>
            <a:prstDash val="solid"/>
          </a:ln>
        </p:spPr>
      </p:sp>
      <p:sp>
        <p:nvSpPr>
          <p:cNvPr id="7" name="Shape 4"/>
          <p:cNvSpPr/>
          <p:nvPr/>
        </p:nvSpPr>
        <p:spPr>
          <a:xfrm>
            <a:off x="804672" y="2709205"/>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829905"/>
            <a:ext cx="307238" cy="307238"/>
          </a:xfrm>
          <a:prstGeom prst="rect">
            <a:avLst/>
          </a:prstGeom>
        </p:spPr>
      </p:pic>
      <p:sp>
        <p:nvSpPr>
          <p:cNvPr id="9" name="Text 5"/>
          <p:cNvSpPr txBox="1"/>
          <p:nvPr/>
        </p:nvSpPr>
        <p:spPr>
          <a:xfrm>
            <a:off x="1554480" y="2580681"/>
            <a:ext cx="9859975" cy="988568"/>
          </a:xfrm>
          <a:prstGeom prst="rect">
            <a:avLst/>
          </a:prstGeom>
          <a:noFill/>
          <a:ln/>
        </p:spPr>
        <p:txBody>
          <a:bodyPr wrap="square" lIns="0" tIns="0" rIns="0" bIns="0" rtlCol="0" anchor="t"/>
          <a:lstStyle/>
          <a:p>
            <a:pPr indent="0" marL="0">
              <a:buNone/>
            </a:pPr>
            <a:r>
              <a:rPr lang="id-ID" altLang="en-US" sz="2600" dirty="0">
                <a:solidFill>
                  <a:srgbClr val="1F2328"/>
                </a:solidFill>
              </a:rPr>
              <a:t>Cetak biru (</a:t>
            </a:r>
            <a:r>
              <a:rPr lang="id-ID" altLang="en-US" sz="2600" i="1" dirty="0">
                <a:solidFill>
                  <a:srgbClr val="1F2328"/>
                </a:solidFill>
              </a:rPr>
              <a:t>blueprint</a:t>
            </a:r>
            <a:r>
              <a:rPr lang="id-ID" altLang="en-US" sz="2600" dirty="0">
                <a:solidFill>
                  <a:srgbClr val="1F2328"/>
                </a:solidFill>
              </a:rPr>
              <a:t>) yang mendefinisikan </a:t>
            </a:r>
            <a:r>
              <a:rPr lang="id-ID" altLang="en-US" sz="2600" b="1" dirty="0">
                <a:solidFill>
                  <a:srgbClr val="1F2328"/>
                </a:solidFill>
              </a:rPr>
              <a:t>data apa saja</a:t>
            </a:r>
            <a:r>
              <a:rPr lang="id-ID" altLang="en-US" sz="2600" dirty="0">
                <a:solidFill>
                  <a:srgbClr val="1F2328"/>
                </a:solidFill>
              </a:rPr>
              <a:t> yang dimiliki sebuah objek dan </a:t>
            </a:r>
            <a:r>
              <a:rPr lang="id-ID" altLang="en-US" sz="2600" b="1" dirty="0">
                <a:solidFill>
                  <a:srgbClr val="1F2328"/>
                </a:solidFill>
              </a:rPr>
              <a:t>apa saja yang bisa dilakukan</a:t>
            </a:r>
            <a:r>
              <a:rPr lang="id-ID" altLang="en-US" sz="2600" dirty="0">
                <a:solidFill>
                  <a:srgbClr val="1F2328"/>
                </a:solidFill>
              </a:rPr>
              <a:t> objek tersebut.</a:t>
            </a:r>
            <a:endParaRPr lang="id-ID" sz="2600" dirty="0"/>
          </a:p>
        </p:txBody>
      </p:sp>
      <p:sp>
        <p:nvSpPr>
          <p:cNvPr id="10" name="Shape 6"/>
          <p:cNvSpPr/>
          <p:nvPr/>
        </p:nvSpPr>
        <p:spPr>
          <a:xfrm>
            <a:off x="603504" y="4219743"/>
            <a:ext cx="137160" cy="137160"/>
          </a:xfrm>
          <a:prstGeom prst="roundRect">
            <a:avLst>
              <a:gd name="adj" fmla="val 166667"/>
            </a:avLst>
          </a:prstGeom>
          <a:solidFill>
            <a:srgbClr val="0969DA"/>
          </a:solidFill>
          <a:ln/>
        </p:spPr>
      </p:sp>
      <p:sp>
        <p:nvSpPr>
          <p:cNvPr id="11" name="Text 7"/>
          <p:cNvSpPr txBox="1"/>
          <p:nvPr/>
        </p:nvSpPr>
        <p:spPr>
          <a:xfrm>
            <a:off x="932688" y="4117889"/>
            <a:ext cx="10710367" cy="727456"/>
          </a:xfrm>
          <a:prstGeom prst="rect">
            <a:avLst/>
          </a:prstGeom>
          <a:noFill/>
          <a:ln/>
        </p:spPr>
        <p:txBody>
          <a:bodyPr wrap="square" lIns="0" tIns="0" rIns="0" bIns="0" rtlCol="0" anchor="t"/>
          <a:lstStyle/>
          <a:p>
            <a:pPr indent="0" marL="0">
              <a:buNone/>
            </a:pPr>
            <a:r>
              <a:rPr lang="id-ID" altLang="en-US" sz="2200" dirty="0">
                <a:solidFill>
                  <a:srgbClr val="1F2328"/>
                </a:solidFill>
              </a:rPr>
              <a:t>Nama kelas berupa kata benda dengan gaya </a:t>
            </a:r>
            <a:r>
              <a:rPr lang="id-ID" altLang="en-US" sz="2200" i="1" dirty="0">
                <a:solidFill>
                  <a:srgbClr val="1F2328"/>
                </a:solidFill>
              </a:rPr>
              <a:t>PascalCase</a:t>
            </a:r>
            <a:r>
              <a:rPr lang="id-ID" altLang="en-US" sz="2200" dirty="0">
                <a:solidFill>
                  <a:srgbClr val="1F2328"/>
                </a:solidFill>
              </a:rPr>
              <a:t>: </a:t>
            </a:r>
            <a:r>
              <a:rPr lang="id-ID" altLang="en-US" sz="2200" dirty="0">
                <a:solidFill>
                  <a:srgbClr val="1F2328"/>
                </a:solidFill>
                <a:latin typeface="Consolas" pitchFamily="34" charset="0"/>
                <a:ea typeface="Consolas" pitchFamily="34" charset="-122"/>
                <a:cs typeface="Consolas" pitchFamily="34" charset="-120"/>
              </a:rPr>
              <a:t>Menu</a:t>
            </a:r>
            <a:r>
              <a:rPr lang="id-ID" altLang="en-US" sz="2200" dirty="0">
                <a:solidFill>
                  <a:srgbClr val="1F2328"/>
                </a:solidFill>
              </a:rPr>
              <a:t>, </a:t>
            </a:r>
            <a:r>
              <a:rPr lang="id-ID" altLang="en-US" sz="2200" dirty="0">
                <a:solidFill>
                  <a:srgbClr val="1F2328"/>
                </a:solidFill>
                <a:latin typeface="Consolas" pitchFamily="34" charset="0"/>
                <a:ea typeface="Consolas" pitchFamily="34" charset="-122"/>
                <a:cs typeface="Consolas" pitchFamily="34" charset="-120"/>
              </a:rPr>
              <a:t>Mahasiswa</a:t>
            </a:r>
            <a:r>
              <a:rPr lang="id-ID" altLang="en-US" sz="2200" dirty="0">
                <a:solidFill>
                  <a:srgbClr val="1F2328"/>
                </a:solidFill>
              </a:rPr>
              <a:t>, </a:t>
            </a:r>
            <a:r>
              <a:rPr lang="id-ID" altLang="en-US" sz="2200" dirty="0">
                <a:solidFill>
                  <a:srgbClr val="1F2328"/>
                </a:solidFill>
                <a:latin typeface="Consolas" pitchFamily="34" charset="0"/>
                <a:ea typeface="Consolas" pitchFamily="34" charset="-122"/>
                <a:cs typeface="Consolas" pitchFamily="34" charset="-120"/>
              </a:rPr>
              <a:t>RekeningBank</a:t>
            </a:r>
            <a:r>
              <a:rPr lang="id-ID" altLang="en-US" sz="2200" dirty="0">
                <a:solidFill>
                  <a:srgbClr val="1F2328"/>
                </a:solidFill>
              </a:rPr>
              <a:t>.</a:t>
            </a:r>
            <a:endParaRPr lang="id-ID" sz="2200" dirty="0"/>
          </a:p>
        </p:txBody>
      </p:sp>
      <p:sp>
        <p:nvSpPr>
          <p:cNvPr id="12" name="Shape 8"/>
          <p:cNvSpPr/>
          <p:nvPr/>
        </p:nvSpPr>
        <p:spPr>
          <a:xfrm>
            <a:off x="603504" y="5139223"/>
            <a:ext cx="137160" cy="137160"/>
          </a:xfrm>
          <a:prstGeom prst="roundRect">
            <a:avLst>
              <a:gd name="adj" fmla="val 166667"/>
            </a:avLst>
          </a:prstGeom>
          <a:solidFill>
            <a:srgbClr val="0969DA"/>
          </a:solidFill>
          <a:ln/>
        </p:spPr>
      </p:sp>
      <p:sp>
        <p:nvSpPr>
          <p:cNvPr id="13" name="Text 9"/>
          <p:cNvSpPr txBox="1"/>
          <p:nvPr/>
        </p:nvSpPr>
        <p:spPr>
          <a:xfrm>
            <a:off x="932688" y="5037369"/>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Menulis kelas tidak otomatis menciptakan data apa pun.</a:t>
            </a:r>
            <a:endParaRPr lang="id-ID" sz="2200" dirty="0"/>
          </a:p>
        </p:txBody>
      </p:sp>
      <p:sp>
        <p:nvSpPr>
          <p:cNvPr id="14" name="Shape 10"/>
          <p:cNvSpPr/>
          <p:nvPr/>
        </p:nvSpPr>
        <p:spPr>
          <a:xfrm>
            <a:off x="603504" y="5717835"/>
            <a:ext cx="137160" cy="137160"/>
          </a:xfrm>
          <a:prstGeom prst="roundRect">
            <a:avLst>
              <a:gd name="adj" fmla="val 166667"/>
            </a:avLst>
          </a:prstGeom>
          <a:solidFill>
            <a:srgbClr val="0969DA"/>
          </a:solidFill>
          <a:ln/>
        </p:spPr>
      </p:sp>
      <p:sp>
        <p:nvSpPr>
          <p:cNvPr id="15" name="Text 11"/>
          <p:cNvSpPr txBox="1"/>
          <p:nvPr/>
        </p:nvSpPr>
        <p:spPr>
          <a:xfrm>
            <a:off x="932688" y="5615981"/>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Cukup ditulis </a:t>
            </a:r>
            <a:r>
              <a:rPr lang="id-ID" altLang="en-US" sz="2200" b="1" dirty="0">
                <a:solidFill>
                  <a:srgbClr val="1F2328"/>
                </a:solidFill>
              </a:rPr>
              <a:t>sekali</a:t>
            </a:r>
            <a:r>
              <a:rPr lang="id-ID" altLang="en-US" sz="2200" dirty="0">
                <a:solidFill>
                  <a:srgbClr val="1F2328"/>
                </a:solidFill>
              </a:rPr>
              <a:t>, lalu bisa dipakai untuk membuat objek sebanyak apa pun.</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Objek: Wujud Nyata dari Kelas</a:t>
            </a:r>
            <a:endParaRPr lang="id-ID" sz="3200" dirty="0"/>
          </a:p>
        </p:txBody>
      </p:sp>
      <p:sp>
        <p:nvSpPr>
          <p:cNvPr id="5" name="Text 2"/>
          <p:cNvSpPr txBox="1"/>
          <p:nvPr/>
        </p:nvSpPr>
        <p:spPr>
          <a:xfrm>
            <a:off x="548640" y="1810116"/>
            <a:ext cx="11094415" cy="548640"/>
          </a:xfrm>
          <a:prstGeom prst="rect">
            <a:avLst/>
          </a:prstGeom>
          <a:noFill/>
          <a:ln/>
        </p:spPr>
        <p:txBody>
          <a:bodyPr wrap="square" lIns="0" tIns="0" rIns="0" bIns="0" rtlCol="0" anchor="t"/>
          <a:lstStyle/>
          <a:p>
            <a:pPr indent="0" marL="0">
              <a:buNone/>
            </a:pPr>
            <a:r>
              <a:rPr lang="id-ID" altLang="en-US" sz="3000" b="1" dirty="0">
                <a:solidFill>
                  <a:srgbClr val="0969DA"/>
                </a:solidFill>
              </a:rPr>
              <a:t>Objek (</a:t>
            </a:r>
            <a:r>
              <a:rPr lang="id-ID" altLang="en-US" sz="3000" b="1" i="1" dirty="0">
                <a:solidFill>
                  <a:srgbClr val="0969DA"/>
                </a:solidFill>
              </a:rPr>
              <a:t>object</a:t>
            </a:r>
            <a:r>
              <a:rPr lang="id-ID" altLang="en-US" sz="3000" b="1" dirty="0">
                <a:solidFill>
                  <a:srgbClr val="0969DA"/>
                </a:solidFill>
              </a:rPr>
              <a:t>)</a:t>
            </a:r>
            <a:endParaRPr lang="id-ID" sz="3000" dirty="0"/>
          </a:p>
        </p:txBody>
      </p:sp>
      <p:sp>
        <p:nvSpPr>
          <p:cNvPr id="6" name="Shape 3"/>
          <p:cNvSpPr/>
          <p:nvPr/>
        </p:nvSpPr>
        <p:spPr>
          <a:xfrm>
            <a:off x="548640" y="2523348"/>
            <a:ext cx="11094415" cy="1757172"/>
          </a:xfrm>
          <a:prstGeom prst="roundRect">
            <a:avLst>
              <a:gd name="adj" fmla="val 3250"/>
            </a:avLst>
          </a:prstGeom>
          <a:solidFill>
            <a:srgbClr val="DDF4FF"/>
          </a:solidFill>
          <a:ln w="9525">
            <a:solidFill>
              <a:srgbClr val="54AEFF"/>
            </a:solidFill>
            <a:prstDash val="solid"/>
          </a:ln>
        </p:spPr>
      </p:sp>
      <p:sp>
        <p:nvSpPr>
          <p:cNvPr id="7" name="Shape 4"/>
          <p:cNvSpPr/>
          <p:nvPr/>
        </p:nvSpPr>
        <p:spPr>
          <a:xfrm>
            <a:off x="804672" y="3127614"/>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3248315"/>
            <a:ext cx="307238" cy="307238"/>
          </a:xfrm>
          <a:prstGeom prst="rect">
            <a:avLst/>
          </a:prstGeom>
        </p:spPr>
      </p:pic>
      <p:sp>
        <p:nvSpPr>
          <p:cNvPr id="9" name="Text 5"/>
          <p:cNvSpPr txBox="1"/>
          <p:nvPr/>
        </p:nvSpPr>
        <p:spPr>
          <a:xfrm>
            <a:off x="1554480" y="2797668"/>
            <a:ext cx="9859975" cy="1391412"/>
          </a:xfrm>
          <a:prstGeom prst="rect">
            <a:avLst/>
          </a:prstGeom>
          <a:noFill/>
          <a:ln/>
        </p:spPr>
        <p:txBody>
          <a:bodyPr wrap="square" lIns="0" tIns="0" rIns="0" bIns="0" rtlCol="0" anchor="t"/>
          <a:lstStyle/>
          <a:p>
            <a:pPr indent="0" marL="0">
              <a:buNone/>
            </a:pPr>
            <a:r>
              <a:rPr lang="id-ID" altLang="en-US" sz="2600" dirty="0">
                <a:solidFill>
                  <a:srgbClr val="1F2328"/>
                </a:solidFill>
              </a:rPr>
              <a:t>Wujud nyata yang dibuat dari sebuah kelas. Objek menyimpan </a:t>
            </a:r>
            <a:r>
              <a:rPr lang="id-ID" altLang="en-US" sz="2600" b="1" dirty="0">
                <a:solidFill>
                  <a:srgbClr val="1F2328"/>
                </a:solidFill>
              </a:rPr>
              <a:t>data miliknya sendiri</a:t>
            </a:r>
            <a:r>
              <a:rPr lang="id-ID" altLang="en-US" sz="2600" dirty="0">
                <a:solidFill>
                  <a:srgbClr val="1F2328"/>
                </a:solidFill>
              </a:rPr>
              <a:t> dan bisa melakukan aksi yang didefinisikan kelasnya. Objek disebut juga </a:t>
            </a:r>
            <a:r>
              <a:rPr lang="id-ID" altLang="en-US" sz="2600" b="1" i="1" dirty="0">
                <a:solidFill>
                  <a:srgbClr val="1F2328"/>
                </a:solidFill>
              </a:rPr>
              <a:t>instance</a:t>
            </a:r>
            <a:r>
              <a:rPr lang="id-ID" altLang="en-US" sz="2600" dirty="0">
                <a:solidFill>
                  <a:srgbClr val="1F2328"/>
                </a:solidFill>
              </a:rPr>
              <a:t>.</a:t>
            </a:r>
            <a:endParaRPr lang="id-ID" sz="2600" dirty="0"/>
          </a:p>
        </p:txBody>
      </p:sp>
      <p:sp>
        <p:nvSpPr>
          <p:cNvPr id="10" name="Shape 6"/>
          <p:cNvSpPr/>
          <p:nvPr/>
        </p:nvSpPr>
        <p:spPr>
          <a:xfrm>
            <a:off x="603504" y="4839574"/>
            <a:ext cx="137160" cy="137160"/>
          </a:xfrm>
          <a:prstGeom prst="roundRect">
            <a:avLst>
              <a:gd name="adj" fmla="val 166667"/>
            </a:avLst>
          </a:prstGeom>
          <a:solidFill>
            <a:srgbClr val="0969DA"/>
          </a:solidFill>
          <a:ln/>
        </p:spPr>
      </p:sp>
      <p:sp>
        <p:nvSpPr>
          <p:cNvPr id="11" name="Text 7"/>
          <p:cNvSpPr txBox="1"/>
          <p:nvPr/>
        </p:nvSpPr>
        <p:spPr>
          <a:xfrm>
            <a:off x="932688" y="4737720"/>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Proses membuat objek dari kelas disebut </a:t>
            </a:r>
            <a:r>
              <a:rPr lang="id-ID" altLang="en-US" sz="2200" b="1" dirty="0">
                <a:solidFill>
                  <a:srgbClr val="1F2328"/>
                </a:solidFill>
              </a:rPr>
              <a:t>instansiasi</a:t>
            </a:r>
            <a:r>
              <a:rPr lang="id-ID" altLang="en-US" sz="2200" dirty="0">
                <a:solidFill>
                  <a:srgbClr val="1F2328"/>
                </a:solidFill>
              </a:rPr>
              <a:t> (</a:t>
            </a:r>
            <a:r>
              <a:rPr lang="id-ID" altLang="en-US" sz="2200" i="1" dirty="0">
                <a:solidFill>
                  <a:srgbClr val="1F2328"/>
                </a:solidFill>
              </a:rPr>
              <a:t>instantiation</a:t>
            </a:r>
            <a:r>
              <a:rPr lang="id-ID" altLang="en-US" sz="2200" dirty="0">
                <a:solidFill>
                  <a:srgbClr val="1F2328"/>
                </a:solidFill>
              </a:rPr>
              <a:t>).</a:t>
            </a:r>
            <a:endParaRPr lang="id-ID" sz="2200" dirty="0"/>
          </a:p>
        </p:txBody>
      </p:sp>
      <p:sp>
        <p:nvSpPr>
          <p:cNvPr id="12" name="Shape 8"/>
          <p:cNvSpPr/>
          <p:nvPr/>
        </p:nvSpPr>
        <p:spPr>
          <a:xfrm>
            <a:off x="603504" y="5418186"/>
            <a:ext cx="137160" cy="137160"/>
          </a:xfrm>
          <a:prstGeom prst="roundRect">
            <a:avLst>
              <a:gd name="adj" fmla="val 166667"/>
            </a:avLst>
          </a:prstGeom>
          <a:solidFill>
            <a:srgbClr val="0969DA"/>
          </a:solidFill>
          <a:ln/>
        </p:spPr>
      </p:sp>
      <p:sp>
        <p:nvSpPr>
          <p:cNvPr id="13" name="Text 9"/>
          <p:cNvSpPr txBox="1"/>
          <p:nvPr/>
        </p:nvSpPr>
        <p:spPr>
          <a:xfrm>
            <a:off x="932688" y="5316332"/>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Kelas itu </a:t>
            </a:r>
            <a:r>
              <a:rPr lang="id-ID" altLang="en-US" sz="2200" b="1" dirty="0">
                <a:solidFill>
                  <a:srgbClr val="1F2328"/>
                </a:solidFill>
              </a:rPr>
              <a:t>satu</a:t>
            </a:r>
            <a:r>
              <a:rPr lang="id-ID" altLang="en-US" sz="2200" dirty="0">
                <a:solidFill>
                  <a:srgbClr val="1F2328"/>
                </a:solidFill>
              </a:rPr>
              <a:t>, objeknya bisa </a:t>
            </a:r>
            <a:r>
              <a:rPr lang="id-ID" altLang="en-US" sz="2200" b="1" dirty="0">
                <a:solidFill>
                  <a:srgbClr val="1F2328"/>
                </a:solidFill>
              </a:rPr>
              <a:t>banyak</a:t>
            </a:r>
            <a:r>
              <a:rPr lang="id-ID" altLang="en-US" sz="2200" dirty="0">
                <a:solidFill>
                  <a:srgbClr val="1F2328"/>
                </a:solidFill>
              </a:rPr>
              <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Satu Kelas, Tiga Objek</a:t>
            </a:r>
            <a:endParaRPr lang="id-ID" sz="3200" dirty="0"/>
          </a:p>
        </p:txBody>
      </p:sp>
      <p:pic>
        <p:nvPicPr>
          <p:cNvPr id="5" name="Image 1" descr="Atributnya sama jenisnya (nama dan NIM), tetapi nilainya milik setiap objek.">    </p:cNvPr>
          <p:cNvPicPr>
            <a:picLocks noChangeAspect="1"/>
          </p:cNvPicPr>
          <p:nvPr/>
        </p:nvPicPr>
        <p:blipFill>
          <a:blip r:embed="rId2"/>
          <a:stretch>
            <a:fillRect/>
          </a:stretch>
        </p:blipFill>
        <p:spPr>
          <a:xfrm>
            <a:off x="3621694" y="1417320"/>
            <a:ext cx="4948307" cy="4308602"/>
          </a:xfrm>
          <a:prstGeom prst="rect">
            <a:avLst/>
          </a:prstGeom>
        </p:spPr>
      </p:pic>
      <p:sp>
        <p:nvSpPr>
          <p:cNvPr id="6" name="Text 2"/>
          <p:cNvSpPr txBox="1"/>
          <p:nvPr/>
        </p:nvSpPr>
        <p:spPr>
          <a:xfrm>
            <a:off x="1005840" y="5835650"/>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Atributnya sama jenisnya (nama dan NIM), tetapi nilainya milik setiap objek.</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Kode Pertama: Satu Kelas, Dua Objek</a:t>
            </a:r>
            <a:endParaRPr lang="id-ID" sz="3200" dirty="0"/>
          </a:p>
        </p:txBody>
      </p:sp>
      <p:sp>
        <p:nvSpPr>
          <p:cNvPr id="5" name="Text 2"/>
          <p:cNvSpPr txBox="1"/>
          <p:nvPr/>
        </p:nvSpPr>
        <p:spPr>
          <a:xfrm>
            <a:off x="548640" y="1686519"/>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Kelas </a:t>
            </a:r>
            <a:r>
              <a:rPr lang="id-ID" altLang="en-US" sz="1800" dirty="0">
                <a:solidFill>
                  <a:srgbClr val="0A3069"/>
                </a:solidFill>
                <a:latin typeface="Consolas" pitchFamily="34" charset="0"/>
                <a:ea typeface="Consolas" pitchFamily="34" charset="-122"/>
                <a:cs typeface="Consolas" pitchFamily="34" charset="-120"/>
              </a:rPr>
              <a:t>Kucing</a:t>
            </a:r>
            <a:r>
              <a:rPr lang="id-ID" altLang="en-US" sz="1800" dirty="0">
                <a:solidFill>
                  <a:srgbClr val="57606A"/>
                </a:solidFill>
              </a:rPr>
              <a:t> ditulis sekali, lalu dibuat dua objek darinya: </a:t>
            </a:r>
            <a:r>
              <a:rPr lang="id-ID" altLang="en-US" sz="1800" dirty="0">
                <a:solidFill>
                  <a:srgbClr val="0A3069"/>
                </a:solidFill>
                <a:latin typeface="Consolas" pitchFamily="34" charset="0"/>
                <a:ea typeface="Consolas" pitchFamily="34" charset="-122"/>
                <a:cs typeface="Consolas" pitchFamily="34" charset="-120"/>
              </a:rPr>
              <a:t>oyen</a:t>
            </a:r>
            <a:r>
              <a:rPr lang="id-ID" altLang="en-US" sz="1800" dirty="0">
                <a:solidFill>
                  <a:srgbClr val="57606A"/>
                </a:solidFill>
              </a:rPr>
              <a:t> dan </a:t>
            </a:r>
            <a:r>
              <a:rPr lang="id-ID" altLang="en-US" sz="1800" dirty="0">
                <a:solidFill>
                  <a:srgbClr val="0A3069"/>
                </a:solidFill>
                <a:latin typeface="Consolas" pitchFamily="34" charset="0"/>
                <a:ea typeface="Consolas" pitchFamily="34" charset="-122"/>
                <a:cs typeface="Consolas" pitchFamily="34" charset="-120"/>
              </a:rPr>
              <a:t>belang</a:t>
            </a:r>
            <a:r>
              <a:rPr lang="id-ID" altLang="en-US" sz="1800" dirty="0">
                <a:solidFill>
                  <a:srgbClr val="57606A"/>
                </a:solidFill>
              </a:rPr>
              <a:t>.</a:t>
            </a:r>
            <a:endParaRPr lang="id-ID" sz="1800" dirty="0"/>
          </a:p>
        </p:txBody>
      </p:sp>
      <p:sp>
        <p:nvSpPr>
          <p:cNvPr id="6" name="Shape 3"/>
          <p:cNvSpPr/>
          <p:nvPr/>
        </p:nvSpPr>
        <p:spPr>
          <a:xfrm>
            <a:off x="548640" y="2120859"/>
            <a:ext cx="1051560" cy="329184"/>
          </a:xfrm>
          <a:prstGeom prst="roundRect">
            <a:avLst>
              <a:gd name="adj" fmla="val 138889"/>
            </a:avLst>
          </a:prstGeom>
          <a:solidFill>
            <a:srgbClr val="3572A5"/>
          </a:solidFill>
          <a:ln/>
        </p:spPr>
      </p:sp>
      <p:sp>
        <p:nvSpPr>
          <p:cNvPr id="7" name="Text 4"/>
          <p:cNvSpPr txBox="1"/>
          <p:nvPr/>
        </p:nvSpPr>
        <p:spPr>
          <a:xfrm>
            <a:off x="548640" y="2120859"/>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120859"/>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python/contoh/contoh01_kelas_dan_objek.py</a:t>
            </a:r>
            <a:endParaRPr lang="id-ID" sz="1100" dirty="0"/>
          </a:p>
        </p:txBody>
      </p:sp>
      <p:sp>
        <p:nvSpPr>
          <p:cNvPr id="9" name="Shape 6"/>
          <p:cNvSpPr/>
          <p:nvPr/>
        </p:nvSpPr>
        <p:spPr>
          <a:xfrm>
            <a:off x="548640" y="2541483"/>
            <a:ext cx="5432908" cy="3223260"/>
          </a:xfrm>
          <a:prstGeom prst="roundRect">
            <a:avLst>
              <a:gd name="adj" fmla="val 805"/>
            </a:avLst>
          </a:prstGeom>
          <a:solidFill>
            <a:srgbClr val="F6F8FA"/>
          </a:solidFill>
          <a:ln w="9525">
            <a:solidFill>
              <a:srgbClr val="D0D7DE"/>
            </a:solidFill>
            <a:prstDash val="solid"/>
          </a:ln>
        </p:spPr>
      </p:sp>
      <p:sp>
        <p:nvSpPr>
          <p:cNvPr id="10" name="Text 7"/>
          <p:cNvSpPr txBox="1"/>
          <p:nvPr/>
        </p:nvSpPr>
        <p:spPr>
          <a:xfrm>
            <a:off x="658368" y="2632923"/>
            <a:ext cx="5213452" cy="3040380"/>
          </a:xfrm>
          <a:prstGeom prst="rect">
            <a:avLst/>
          </a:prstGeom>
          <a:noFill/>
          <a:ln/>
        </p:spPr>
        <p:txBody>
          <a:bodyPr wrap="square" lIns="0" tIns="0" rIns="0" bIns="0" rtlCol="0" anchor="t"/>
          <a:lstStyle/>
          <a:p>
            <a:pPr indent="0" marL="0">
              <a:buNone/>
            </a:pPr>
            <a:r>
              <a:rPr lang="en-US" altLang="en-US" sz="1650" dirty="0">
                <a:solidFill>
                  <a:srgbClr val="CF222E"/>
                </a:solidFill>
                <a:latin typeface="Consolas" pitchFamily="34" charset="0"/>
                <a:ea typeface="Consolas" pitchFamily="34" charset="-122"/>
                <a:cs typeface="Consolas" pitchFamily="34" charset="-120"/>
              </a:rPr>
              <a:t>class</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953800"/>
                </a:solidFill>
                <a:latin typeface="Consolas" pitchFamily="34" charset="0"/>
                <a:ea typeface="Consolas" pitchFamily="34" charset="-122"/>
                <a:cs typeface="Consolas" pitchFamily="34" charset="-120"/>
              </a:rPr>
              <a:t>Kucing</a:t>
            </a:r>
            <a:r>
              <a:rPr lang="en-US" altLang="en-US" sz="1650" dirty="0">
                <a:solidFill>
                  <a:srgbClr val="1F2328"/>
                </a:solidFill>
                <a:latin typeface="Consolas" pitchFamily="34" charset="0"/>
                <a:ea typeface="Consolas" pitchFamily="34" charset="-122"/>
                <a:cs typeface="Consolas" pitchFamily="34" charset="-120"/>
              </a:rPr>
              <a:t>:</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0A3069"/>
                </a:solidFill>
                <a:latin typeface="Consolas" pitchFamily="34" charset="0"/>
                <a:ea typeface="Consolas" pitchFamily="34" charset="-122"/>
                <a:cs typeface="Consolas" pitchFamily="34" charset="-120"/>
              </a:rPr>
              <a:t>"""Cetak biru untuk semua kucing."""</a:t>
            </a:r>
            <a:endParaRPr lang="en-US" sz="1650" dirty="0"/>
          </a:p>
          <a:p>
            <a:pPr indent="0" marL="0">
              <a:buNone/>
            </a:pPr>
            <a:r>
              <a:rPr lang="en-US" altLang="en-US" sz="1650" dirty="0">
                <a:solidFill>
                  <a:srgbClr val="000000"/>
                </a:solidFill>
                <a:latin typeface="Consolas" pitchFamily="34" charset="0"/>
                <a:ea typeface="Consolas" pitchFamily="34" charset="-122"/>
                <a:cs typeface="Consolas" pitchFamily="34" charset="-120"/>
              </a:rPr>
              <a:t> </a:t>
            </a:r>
            <a:endParaRPr lang="en-US" sz="1650" dirty="0"/>
          </a:p>
          <a:p>
            <a:pPr indent="0" marL="0">
              <a:buNone/>
            </a:pPr>
            <a:r>
              <a:rPr lang="en-US" altLang="en-US" sz="1650" i="1" dirty="0">
                <a:solidFill>
                  <a:srgbClr val="6E7781"/>
                </a:solidFill>
                <a:latin typeface="Consolas" pitchFamily="34" charset="0"/>
                <a:ea typeface="Consolas" pitchFamily="34" charset="-122"/>
                <a:cs typeface="Consolas" pitchFamily="34" charset="-120"/>
              </a:rPr>
              <a:t># ... di dalam main()</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oyen = Kucing()</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oyen.nama = </a:t>
            </a:r>
            <a:r>
              <a:rPr lang="en-US" altLang="en-US" sz="1650" dirty="0">
                <a:solidFill>
                  <a:srgbClr val="0A3069"/>
                </a:solidFill>
                <a:latin typeface="Consolas" pitchFamily="34" charset="0"/>
                <a:ea typeface="Consolas" pitchFamily="34" charset="-122"/>
                <a:cs typeface="Consolas" pitchFamily="34" charset="-120"/>
              </a:rPr>
              <a:t>"Oyen"</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oyen.warna = </a:t>
            </a:r>
            <a:r>
              <a:rPr lang="en-US" altLang="en-US" sz="1650" dirty="0">
                <a:solidFill>
                  <a:srgbClr val="0A3069"/>
                </a:solidFill>
                <a:latin typeface="Consolas" pitchFamily="34" charset="0"/>
                <a:ea typeface="Consolas" pitchFamily="34" charset="-122"/>
                <a:cs typeface="Consolas" pitchFamily="34" charset="-120"/>
              </a:rPr>
              <a:t>"oranye"</a:t>
            </a:r>
            <a:endParaRPr lang="en-US" sz="1650" dirty="0"/>
          </a:p>
          <a:p>
            <a:pPr indent="0" marL="0">
              <a:buNone/>
            </a:pPr>
            <a:r>
              <a:rPr lang="en-US" altLang="en-US" sz="1650" dirty="0">
                <a:solidFill>
                  <a:srgbClr val="000000"/>
                </a:solidFill>
                <a:latin typeface="Consolas" pitchFamily="34" charset="0"/>
                <a:ea typeface="Consolas" pitchFamily="34" charset="-122"/>
                <a:cs typeface="Consolas" pitchFamily="34" charset="-120"/>
              </a:rPr>
              <a:t> </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belang = Kucing()</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belang.nama = </a:t>
            </a:r>
            <a:r>
              <a:rPr lang="en-US" altLang="en-US" sz="1650" dirty="0">
                <a:solidFill>
                  <a:srgbClr val="0A3069"/>
                </a:solidFill>
                <a:latin typeface="Consolas" pitchFamily="34" charset="0"/>
                <a:ea typeface="Consolas" pitchFamily="34" charset="-122"/>
                <a:cs typeface="Consolas" pitchFamily="34" charset="-120"/>
              </a:rPr>
              <a:t>"Belang"</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belang.warna = </a:t>
            </a:r>
            <a:r>
              <a:rPr lang="en-US" altLang="en-US" sz="1650" dirty="0">
                <a:solidFill>
                  <a:srgbClr val="0A3069"/>
                </a:solidFill>
                <a:latin typeface="Consolas" pitchFamily="34" charset="0"/>
                <a:ea typeface="Consolas" pitchFamily="34" charset="-122"/>
                <a:cs typeface="Consolas" pitchFamily="34" charset="-120"/>
              </a:rPr>
              <a:t>"hitam putih"</a:t>
            </a:r>
            <a:endParaRPr lang="en-US" sz="1650" dirty="0"/>
          </a:p>
        </p:txBody>
      </p:sp>
      <p:sp>
        <p:nvSpPr>
          <p:cNvPr id="11" name="Shape 8"/>
          <p:cNvSpPr/>
          <p:nvPr/>
        </p:nvSpPr>
        <p:spPr>
          <a:xfrm>
            <a:off x="6210148" y="2120859"/>
            <a:ext cx="1051560" cy="329184"/>
          </a:xfrm>
          <a:prstGeom prst="roundRect">
            <a:avLst>
              <a:gd name="adj" fmla="val 138889"/>
            </a:avLst>
          </a:prstGeom>
          <a:solidFill>
            <a:srgbClr val="B07219"/>
          </a:solidFill>
          <a:ln/>
        </p:spPr>
      </p:sp>
      <p:sp>
        <p:nvSpPr>
          <p:cNvPr id="12" name="Text 9"/>
          <p:cNvSpPr txBox="1"/>
          <p:nvPr/>
        </p:nvSpPr>
        <p:spPr>
          <a:xfrm>
            <a:off x="6210148" y="2120859"/>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120859"/>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java/contoh/Contoh01KelasDanObjek.java</a:t>
            </a:r>
            <a:endParaRPr lang="id-ID" sz="1100" dirty="0"/>
          </a:p>
        </p:txBody>
      </p:sp>
      <p:sp>
        <p:nvSpPr>
          <p:cNvPr id="14" name="Shape 11"/>
          <p:cNvSpPr/>
          <p:nvPr/>
        </p:nvSpPr>
        <p:spPr>
          <a:xfrm>
            <a:off x="6210148" y="2541483"/>
            <a:ext cx="5432908" cy="3223260"/>
          </a:xfrm>
          <a:prstGeom prst="roundRect">
            <a:avLst>
              <a:gd name="adj" fmla="val 805"/>
            </a:avLst>
          </a:prstGeom>
          <a:solidFill>
            <a:srgbClr val="F6F8FA"/>
          </a:solidFill>
          <a:ln w="9525">
            <a:solidFill>
              <a:srgbClr val="D0D7DE"/>
            </a:solidFill>
            <a:prstDash val="solid"/>
          </a:ln>
        </p:spPr>
      </p:sp>
      <p:sp>
        <p:nvSpPr>
          <p:cNvPr id="15" name="Text 12"/>
          <p:cNvSpPr txBox="1"/>
          <p:nvPr/>
        </p:nvSpPr>
        <p:spPr>
          <a:xfrm>
            <a:off x="6319876" y="2632923"/>
            <a:ext cx="5213452" cy="3040380"/>
          </a:xfrm>
          <a:prstGeom prst="rect">
            <a:avLst/>
          </a:prstGeom>
          <a:noFill/>
          <a:ln/>
        </p:spPr>
        <p:txBody>
          <a:bodyPr wrap="square" lIns="0" tIns="0" rIns="0" bIns="0" rtlCol="0" anchor="t"/>
          <a:lstStyle/>
          <a:p>
            <a:pPr indent="0" marL="0">
              <a:buNone/>
            </a:pPr>
            <a:r>
              <a:rPr lang="en-US" altLang="en-US" sz="1650" dirty="0">
                <a:solidFill>
                  <a:srgbClr val="CF222E"/>
                </a:solidFill>
                <a:latin typeface="Consolas" pitchFamily="34" charset="0"/>
                <a:ea typeface="Consolas" pitchFamily="34" charset="-122"/>
                <a:cs typeface="Consolas" pitchFamily="34" charset="-120"/>
              </a:rPr>
              <a:t>class</a:t>
            </a:r>
            <a:r>
              <a:rPr lang="en-US" altLang="en-US" sz="1650" dirty="0">
                <a:solidFill>
                  <a:srgbClr val="1F2328"/>
                </a:solidFill>
                <a:latin typeface="Consolas" pitchFamily="34" charset="0"/>
                <a:ea typeface="Consolas" pitchFamily="34" charset="-122"/>
                <a:cs typeface="Consolas" pitchFamily="34" charset="-120"/>
              </a:rPr>
              <a:t> </a:t>
            </a:r>
            <a:r>
              <a:rPr lang="en-US" altLang="en-US" sz="1650" dirty="0">
                <a:solidFill>
                  <a:srgbClr val="953800"/>
                </a:solidFill>
                <a:latin typeface="Consolas" pitchFamily="34" charset="0"/>
                <a:ea typeface="Consolas" pitchFamily="34" charset="-122"/>
                <a:cs typeface="Consolas" pitchFamily="34" charset="-120"/>
              </a:rPr>
              <a:t>Kucing</a:t>
            </a:r>
            <a:r>
              <a:rPr lang="en-US" altLang="en-US" sz="1650" dirty="0">
                <a:solidFill>
                  <a:srgbClr val="1F2328"/>
                </a:solidFill>
                <a:latin typeface="Consolas" pitchFamily="34" charset="0"/>
                <a:ea typeface="Consolas" pitchFamily="34" charset="-122"/>
                <a:cs typeface="Consolas" pitchFamily="34" charset="-120"/>
              </a:rPr>
              <a:t> {</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    String nama;</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    String warna;</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a:t>
            </a:r>
            <a:endParaRPr lang="en-US" sz="1650" dirty="0"/>
          </a:p>
          <a:p>
            <a:pPr indent="0" marL="0">
              <a:buNone/>
            </a:pPr>
            <a:r>
              <a:rPr lang="en-US" altLang="en-US" sz="1650" i="1" dirty="0">
                <a:solidFill>
                  <a:srgbClr val="6E7781"/>
                </a:solidFill>
                <a:latin typeface="Consolas" pitchFamily="34" charset="0"/>
                <a:ea typeface="Consolas" pitchFamily="34" charset="-122"/>
                <a:cs typeface="Consolas" pitchFamily="34" charset="-120"/>
              </a:rPr>
              <a:t>// ... di dalam main</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Kucing oyen = </a:t>
            </a:r>
            <a:r>
              <a:rPr lang="en-US" altLang="en-US" sz="1650" dirty="0">
                <a:solidFill>
                  <a:srgbClr val="CF222E"/>
                </a:solidFill>
                <a:latin typeface="Consolas" pitchFamily="34" charset="0"/>
                <a:ea typeface="Consolas" pitchFamily="34" charset="-122"/>
                <a:cs typeface="Consolas" pitchFamily="34" charset="-120"/>
              </a:rPr>
              <a:t>new</a:t>
            </a:r>
            <a:r>
              <a:rPr lang="en-US" altLang="en-US" sz="1650" dirty="0">
                <a:solidFill>
                  <a:srgbClr val="1F2328"/>
                </a:solidFill>
                <a:latin typeface="Consolas" pitchFamily="34" charset="0"/>
                <a:ea typeface="Consolas" pitchFamily="34" charset="-122"/>
                <a:cs typeface="Consolas" pitchFamily="34" charset="-120"/>
              </a:rPr>
              <a:t> Kucing();</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oyen.nama = </a:t>
            </a:r>
            <a:r>
              <a:rPr lang="en-US" altLang="en-US" sz="1650" dirty="0">
                <a:solidFill>
                  <a:srgbClr val="0A3069"/>
                </a:solidFill>
                <a:latin typeface="Consolas" pitchFamily="34" charset="0"/>
                <a:ea typeface="Consolas" pitchFamily="34" charset="-122"/>
                <a:cs typeface="Consolas" pitchFamily="34" charset="-120"/>
              </a:rPr>
              <a:t>"Oyen"</a:t>
            </a:r>
            <a:r>
              <a:rPr lang="en-US" altLang="en-US" sz="1650" dirty="0">
                <a:solidFill>
                  <a:srgbClr val="1F2328"/>
                </a:solidFill>
                <a:latin typeface="Consolas" pitchFamily="34" charset="0"/>
                <a:ea typeface="Consolas" pitchFamily="34" charset="-122"/>
                <a:cs typeface="Consolas" pitchFamily="34" charset="-120"/>
              </a:rPr>
              <a:t>;</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oyen.warna = </a:t>
            </a:r>
            <a:r>
              <a:rPr lang="en-US" altLang="en-US" sz="1650" dirty="0">
                <a:solidFill>
                  <a:srgbClr val="0A3069"/>
                </a:solidFill>
                <a:latin typeface="Consolas" pitchFamily="34" charset="0"/>
                <a:ea typeface="Consolas" pitchFamily="34" charset="-122"/>
                <a:cs typeface="Consolas" pitchFamily="34" charset="-120"/>
              </a:rPr>
              <a:t>"oranye"</a:t>
            </a:r>
            <a:r>
              <a:rPr lang="en-US" altLang="en-US" sz="1650" dirty="0">
                <a:solidFill>
                  <a:srgbClr val="1F2328"/>
                </a:solidFill>
                <a:latin typeface="Consolas" pitchFamily="34" charset="0"/>
                <a:ea typeface="Consolas" pitchFamily="34" charset="-122"/>
                <a:cs typeface="Consolas" pitchFamily="34" charset="-120"/>
              </a:rPr>
              <a:t>;</a:t>
            </a:r>
            <a:endParaRPr lang="en-US" sz="1650" dirty="0"/>
          </a:p>
          <a:p>
            <a:pPr indent="0" marL="0">
              <a:buNone/>
            </a:pPr>
            <a:r>
              <a:rPr lang="en-US" altLang="en-US" sz="1650" dirty="0">
                <a:solidFill>
                  <a:srgbClr val="000000"/>
                </a:solidFill>
                <a:latin typeface="Consolas" pitchFamily="34" charset="0"/>
                <a:ea typeface="Consolas" pitchFamily="34" charset="-122"/>
                <a:cs typeface="Consolas" pitchFamily="34" charset="-120"/>
              </a:rPr>
              <a:t> </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Kucing belang = </a:t>
            </a:r>
            <a:r>
              <a:rPr lang="en-US" altLang="en-US" sz="1650" dirty="0">
                <a:solidFill>
                  <a:srgbClr val="CF222E"/>
                </a:solidFill>
                <a:latin typeface="Consolas" pitchFamily="34" charset="0"/>
                <a:ea typeface="Consolas" pitchFamily="34" charset="-122"/>
                <a:cs typeface="Consolas" pitchFamily="34" charset="-120"/>
              </a:rPr>
              <a:t>new</a:t>
            </a:r>
            <a:r>
              <a:rPr lang="en-US" altLang="en-US" sz="1650" dirty="0">
                <a:solidFill>
                  <a:srgbClr val="1F2328"/>
                </a:solidFill>
                <a:latin typeface="Consolas" pitchFamily="34" charset="0"/>
                <a:ea typeface="Consolas" pitchFamily="34" charset="-122"/>
                <a:cs typeface="Consolas" pitchFamily="34" charset="-120"/>
              </a:rPr>
              <a:t> Kucing();</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belang.nama = </a:t>
            </a:r>
            <a:r>
              <a:rPr lang="en-US" altLang="en-US" sz="1650" dirty="0">
                <a:solidFill>
                  <a:srgbClr val="0A3069"/>
                </a:solidFill>
                <a:latin typeface="Consolas" pitchFamily="34" charset="0"/>
                <a:ea typeface="Consolas" pitchFamily="34" charset="-122"/>
                <a:cs typeface="Consolas" pitchFamily="34" charset="-120"/>
              </a:rPr>
              <a:t>"Belang"</a:t>
            </a:r>
            <a:r>
              <a:rPr lang="en-US" altLang="en-US" sz="1650" dirty="0">
                <a:solidFill>
                  <a:srgbClr val="1F2328"/>
                </a:solidFill>
                <a:latin typeface="Consolas" pitchFamily="34" charset="0"/>
                <a:ea typeface="Consolas" pitchFamily="34" charset="-122"/>
                <a:cs typeface="Consolas" pitchFamily="34" charset="-120"/>
              </a:rPr>
              <a:t>;</a:t>
            </a:r>
            <a:endParaRPr lang="en-US" sz="1650" dirty="0"/>
          </a:p>
          <a:p>
            <a:pPr indent="0" marL="0">
              <a:buNone/>
            </a:pPr>
            <a:r>
              <a:rPr lang="en-US" altLang="en-US" sz="1650" dirty="0">
                <a:solidFill>
                  <a:srgbClr val="1F2328"/>
                </a:solidFill>
                <a:latin typeface="Consolas" pitchFamily="34" charset="0"/>
                <a:ea typeface="Consolas" pitchFamily="34" charset="-122"/>
                <a:cs typeface="Consolas" pitchFamily="34" charset="-120"/>
              </a:rPr>
              <a:t>belang.warna = </a:t>
            </a:r>
            <a:r>
              <a:rPr lang="en-US" altLang="en-US" sz="1650" dirty="0">
                <a:solidFill>
                  <a:srgbClr val="0A3069"/>
                </a:solidFill>
                <a:latin typeface="Consolas" pitchFamily="34" charset="0"/>
                <a:ea typeface="Consolas" pitchFamily="34" charset="-122"/>
                <a:cs typeface="Consolas" pitchFamily="34" charset="-120"/>
              </a:rPr>
              <a:t>"hitam putih"</a:t>
            </a:r>
            <a:r>
              <a:rPr lang="en-US" altLang="en-US" sz="1650" dirty="0">
                <a:solidFill>
                  <a:srgbClr val="1F2328"/>
                </a:solidFill>
                <a:latin typeface="Consolas" pitchFamily="34" charset="0"/>
                <a:ea typeface="Consolas" pitchFamily="34" charset="-122"/>
                <a:cs typeface="Consolas" pitchFamily="34" charset="-120"/>
              </a:rPr>
              <a:t>;</a:t>
            </a:r>
            <a:endParaRPr lang="en-US" sz="16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Atribut dan </a:t>
            </a:r>
            <a:r>
              <a:rPr lang="id-ID" altLang="en-US" sz="4200" b="1" i="1" dirty="0">
                <a:solidFill>
                  <a:srgbClr val="FFFFFF"/>
                </a:solidFill>
              </a:rPr>
              <a:t>Method</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Ciri yang dimiliki dan kemampuan yang bisa dilakukan.</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Ciri dan Kemampuan Sebuah Ponsel</a:t>
            </a:r>
            <a:endParaRPr lang="id-ID" sz="3200" dirty="0"/>
          </a:p>
        </p:txBody>
      </p:sp>
      <p:sp>
        <p:nvSpPr>
          <p:cNvPr id="5" name="Shape 2"/>
          <p:cNvSpPr/>
          <p:nvPr/>
        </p:nvSpPr>
        <p:spPr>
          <a:xfrm>
            <a:off x="548640" y="1967042"/>
            <a:ext cx="5364328" cy="3473450"/>
          </a:xfrm>
          <a:prstGeom prst="roundRect">
            <a:avLst>
              <a:gd name="adj" fmla="val 970"/>
            </a:avLst>
          </a:prstGeom>
          <a:solidFill>
            <a:srgbClr val="FFFFFF"/>
          </a:solidFill>
          <a:ln w="12700">
            <a:solidFill>
              <a:srgbClr val="54AEFF"/>
            </a:solidFill>
            <a:prstDash val="solid"/>
          </a:ln>
        </p:spPr>
      </p:sp>
      <p:sp>
        <p:nvSpPr>
          <p:cNvPr id="6" name="Shape 3"/>
          <p:cNvSpPr/>
          <p:nvPr/>
        </p:nvSpPr>
        <p:spPr>
          <a:xfrm>
            <a:off x="548640" y="1967042"/>
            <a:ext cx="5364328" cy="658368"/>
          </a:xfrm>
          <a:prstGeom prst="roundRect">
            <a:avLst>
              <a:gd name="adj" fmla="val 27006"/>
            </a:avLst>
          </a:prstGeom>
          <a:solidFill>
            <a:srgbClr val="0969DA"/>
          </a:solidFill>
          <a:ln/>
        </p:spPr>
      </p:sp>
      <p:sp>
        <p:nvSpPr>
          <p:cNvPr id="7" name="Shape 4"/>
          <p:cNvSpPr/>
          <p:nvPr/>
        </p:nvSpPr>
        <p:spPr>
          <a:xfrm>
            <a:off x="548640" y="2296226"/>
            <a:ext cx="5364328" cy="329184"/>
          </a:xfrm>
          <a:prstGeom prst="rect">
            <a:avLst/>
          </a:prstGeom>
          <a:solidFill>
            <a:srgbClr val="0969DA"/>
          </a:solidFill>
          <a:ln/>
        </p:spPr>
      </p:sp>
      <p:sp>
        <p:nvSpPr>
          <p:cNvPr id="8" name="Text 5"/>
          <p:cNvSpPr txBox="1"/>
          <p:nvPr/>
        </p:nvSpPr>
        <p:spPr>
          <a:xfrm>
            <a:off x="822960" y="1967042"/>
            <a:ext cx="4815688" cy="658368"/>
          </a:xfrm>
          <a:prstGeom prst="rect">
            <a:avLst/>
          </a:prstGeom>
          <a:noFill/>
          <a:ln/>
        </p:spPr>
        <p:txBody>
          <a:bodyPr wrap="square" lIns="0" tIns="0" rIns="0" bIns="0" rtlCol="0" anchor="ctr"/>
          <a:lstStyle/>
          <a:p>
            <a:pPr indent="0" marL="0">
              <a:buNone/>
            </a:pPr>
            <a:r>
              <a:rPr lang="id-ID" altLang="en-US" sz="2200" b="1" dirty="0">
                <a:solidFill>
                  <a:srgbClr val="FFFFFF"/>
                </a:solidFill>
              </a:rPr>
              <a:t>Atribut (ciri)</a:t>
            </a:r>
            <a:endParaRPr lang="id-ID" sz="2200" dirty="0"/>
          </a:p>
        </p:txBody>
      </p:sp>
      <p:sp>
        <p:nvSpPr>
          <p:cNvPr id="9" name="Shape 6"/>
          <p:cNvSpPr/>
          <p:nvPr/>
        </p:nvSpPr>
        <p:spPr>
          <a:xfrm>
            <a:off x="877824" y="3009331"/>
            <a:ext cx="137160" cy="137160"/>
          </a:xfrm>
          <a:prstGeom prst="roundRect">
            <a:avLst>
              <a:gd name="adj" fmla="val 166667"/>
            </a:avLst>
          </a:prstGeom>
          <a:solidFill>
            <a:srgbClr val="0969DA"/>
          </a:solidFill>
          <a:ln/>
        </p:spPr>
      </p:sp>
      <p:sp>
        <p:nvSpPr>
          <p:cNvPr id="10" name="Text 7"/>
          <p:cNvSpPr txBox="1"/>
          <p:nvPr/>
        </p:nvSpPr>
        <p:spPr>
          <a:xfrm>
            <a:off x="1207008" y="2899730"/>
            <a:ext cx="4431640" cy="402082"/>
          </a:xfrm>
          <a:prstGeom prst="rect">
            <a:avLst/>
          </a:prstGeom>
          <a:noFill/>
          <a:ln/>
        </p:spPr>
        <p:txBody>
          <a:bodyPr wrap="square" lIns="0" tIns="0" rIns="0" bIns="0" rtlCol="0" anchor="t"/>
          <a:lstStyle/>
          <a:p>
            <a:pPr indent="0" marL="0">
              <a:buNone/>
            </a:pPr>
            <a:r>
              <a:rPr lang="id-ID" altLang="en-US" sz="2300" dirty="0">
                <a:solidFill>
                  <a:srgbClr val="1F2328"/>
                </a:solidFill>
              </a:rPr>
              <a:t>Sesuatu yang </a:t>
            </a:r>
            <a:r>
              <a:rPr lang="id-ID" altLang="en-US" sz="2300" b="1" dirty="0">
                <a:solidFill>
                  <a:srgbClr val="1F2328"/>
                </a:solidFill>
              </a:rPr>
              <a:t>dimiliki</a:t>
            </a:r>
            <a:r>
              <a:rPr lang="id-ID" altLang="en-US" sz="2300" dirty="0">
                <a:solidFill>
                  <a:srgbClr val="1F2328"/>
                </a:solidFill>
              </a:rPr>
              <a:t> objek.</a:t>
            </a:r>
            <a:endParaRPr lang="id-ID" sz="2300" dirty="0"/>
          </a:p>
        </p:txBody>
      </p:sp>
      <p:sp>
        <p:nvSpPr>
          <p:cNvPr id="11" name="Shape 8"/>
          <p:cNvSpPr/>
          <p:nvPr/>
        </p:nvSpPr>
        <p:spPr>
          <a:xfrm>
            <a:off x="877824" y="3585149"/>
            <a:ext cx="137160" cy="137160"/>
          </a:xfrm>
          <a:prstGeom prst="roundRect">
            <a:avLst>
              <a:gd name="adj" fmla="val 166667"/>
            </a:avLst>
          </a:prstGeom>
          <a:solidFill>
            <a:srgbClr val="0969DA"/>
          </a:solidFill>
          <a:ln/>
        </p:spPr>
      </p:sp>
      <p:sp>
        <p:nvSpPr>
          <p:cNvPr id="12" name="Text 9"/>
          <p:cNvSpPr txBox="1"/>
          <p:nvPr/>
        </p:nvSpPr>
        <p:spPr>
          <a:xfrm>
            <a:off x="1207008" y="3475548"/>
            <a:ext cx="4431640" cy="402082"/>
          </a:xfrm>
          <a:prstGeom prst="rect">
            <a:avLst/>
          </a:prstGeom>
          <a:noFill/>
          <a:ln/>
        </p:spPr>
        <p:txBody>
          <a:bodyPr wrap="square" lIns="0" tIns="0" rIns="0" bIns="0" rtlCol="0" anchor="t"/>
          <a:lstStyle/>
          <a:p>
            <a:pPr indent="0" marL="0">
              <a:buNone/>
            </a:pPr>
            <a:r>
              <a:rPr lang="id-ID" altLang="en-US" sz="2300" dirty="0">
                <a:solidFill>
                  <a:srgbClr val="1F2328"/>
                </a:solidFill>
              </a:rPr>
              <a:t>Contoh: merek, warna, sisa baterai.</a:t>
            </a:r>
            <a:endParaRPr lang="id-ID" sz="2300" dirty="0"/>
          </a:p>
        </p:txBody>
      </p:sp>
      <p:sp>
        <p:nvSpPr>
          <p:cNvPr id="13" name="Shape 10"/>
          <p:cNvSpPr/>
          <p:nvPr/>
        </p:nvSpPr>
        <p:spPr>
          <a:xfrm>
            <a:off x="877824" y="4160967"/>
            <a:ext cx="137160" cy="137160"/>
          </a:xfrm>
          <a:prstGeom prst="roundRect">
            <a:avLst>
              <a:gd name="adj" fmla="val 166667"/>
            </a:avLst>
          </a:prstGeom>
          <a:solidFill>
            <a:srgbClr val="0969DA"/>
          </a:solidFill>
          <a:ln/>
        </p:spPr>
      </p:sp>
      <p:sp>
        <p:nvSpPr>
          <p:cNvPr id="14" name="Text 11"/>
          <p:cNvSpPr txBox="1"/>
          <p:nvPr/>
        </p:nvSpPr>
        <p:spPr>
          <a:xfrm>
            <a:off x="1207008" y="4051366"/>
            <a:ext cx="4431640" cy="758444"/>
          </a:xfrm>
          <a:prstGeom prst="rect">
            <a:avLst/>
          </a:prstGeom>
          <a:noFill/>
          <a:ln/>
        </p:spPr>
        <p:txBody>
          <a:bodyPr wrap="square" lIns="0" tIns="0" rIns="0" bIns="0" rtlCol="0" anchor="t"/>
          <a:lstStyle/>
          <a:p>
            <a:pPr indent="0" marL="0">
              <a:buNone/>
            </a:pPr>
            <a:r>
              <a:rPr lang="id-ID" altLang="en-US" sz="2300" dirty="0">
                <a:solidFill>
                  <a:srgbClr val="1F2328"/>
                </a:solidFill>
              </a:rPr>
              <a:t>Di kode: </a:t>
            </a:r>
            <a:r>
              <a:rPr lang="id-ID" altLang="en-US" sz="2300" dirty="0">
                <a:solidFill>
                  <a:srgbClr val="1F2328"/>
                </a:solidFill>
                <a:latin typeface="Consolas" pitchFamily="34" charset="0"/>
                <a:ea typeface="Consolas" pitchFamily="34" charset="-122"/>
                <a:cs typeface="Consolas" pitchFamily="34" charset="-120"/>
              </a:rPr>
              <a:t>merek</a:t>
            </a:r>
            <a:r>
              <a:rPr lang="id-ID" altLang="en-US" sz="2300" dirty="0">
                <a:solidFill>
                  <a:srgbClr val="1F2328"/>
                </a:solidFill>
              </a:rPr>
              <a:t>, </a:t>
            </a:r>
            <a:r>
              <a:rPr lang="id-ID" altLang="en-US" sz="2300" dirty="0">
                <a:solidFill>
                  <a:srgbClr val="1F2328"/>
                </a:solidFill>
                <a:latin typeface="Consolas" pitchFamily="34" charset="0"/>
                <a:ea typeface="Consolas" pitchFamily="34" charset="-122"/>
                <a:cs typeface="Consolas" pitchFamily="34" charset="-120"/>
              </a:rPr>
              <a:t>warna</a:t>
            </a:r>
            <a:r>
              <a:rPr lang="id-ID" altLang="en-US" sz="2300" dirty="0">
                <a:solidFill>
                  <a:srgbClr val="1F2328"/>
                </a:solidFill>
              </a:rPr>
              <a:t>, </a:t>
            </a:r>
            <a:r>
              <a:rPr lang="id-ID" altLang="en-US" sz="2300" dirty="0">
                <a:solidFill>
                  <a:srgbClr val="1F2328"/>
                </a:solidFill>
                <a:latin typeface="Consolas" pitchFamily="34" charset="0"/>
                <a:ea typeface="Consolas" pitchFamily="34" charset="-122"/>
                <a:cs typeface="Consolas" pitchFamily="34" charset="-120"/>
              </a:rPr>
              <a:t>sisa_baterai</a:t>
            </a:r>
            <a:r>
              <a:rPr lang="id-ID" altLang="en-US" sz="2300" dirty="0">
                <a:solidFill>
                  <a:srgbClr val="1F2328"/>
                </a:solidFill>
              </a:rPr>
              <a:t>.</a:t>
            </a:r>
            <a:endParaRPr lang="id-ID" sz="2300" dirty="0"/>
          </a:p>
        </p:txBody>
      </p:sp>
      <p:sp>
        <p:nvSpPr>
          <p:cNvPr id="15" name="Shape 12"/>
          <p:cNvSpPr/>
          <p:nvPr/>
        </p:nvSpPr>
        <p:spPr>
          <a:xfrm>
            <a:off x="6278728" y="1967042"/>
            <a:ext cx="5364328" cy="3473450"/>
          </a:xfrm>
          <a:prstGeom prst="roundRect">
            <a:avLst>
              <a:gd name="adj" fmla="val 970"/>
            </a:avLst>
          </a:prstGeom>
          <a:solidFill>
            <a:srgbClr val="FFFFFF"/>
          </a:solidFill>
          <a:ln w="12700">
            <a:solidFill>
              <a:srgbClr val="4AC26B"/>
            </a:solidFill>
            <a:prstDash val="solid"/>
          </a:ln>
        </p:spPr>
      </p:sp>
      <p:sp>
        <p:nvSpPr>
          <p:cNvPr id="16" name="Shape 13"/>
          <p:cNvSpPr/>
          <p:nvPr/>
        </p:nvSpPr>
        <p:spPr>
          <a:xfrm>
            <a:off x="6278728" y="1967042"/>
            <a:ext cx="5364328" cy="658368"/>
          </a:xfrm>
          <a:prstGeom prst="roundRect">
            <a:avLst>
              <a:gd name="adj" fmla="val 27006"/>
            </a:avLst>
          </a:prstGeom>
          <a:solidFill>
            <a:srgbClr val="1A7F37"/>
          </a:solidFill>
          <a:ln/>
        </p:spPr>
      </p:sp>
      <p:sp>
        <p:nvSpPr>
          <p:cNvPr id="17" name="Shape 14"/>
          <p:cNvSpPr/>
          <p:nvPr/>
        </p:nvSpPr>
        <p:spPr>
          <a:xfrm>
            <a:off x="6278728" y="2296226"/>
            <a:ext cx="5364328" cy="329184"/>
          </a:xfrm>
          <a:prstGeom prst="rect">
            <a:avLst/>
          </a:prstGeom>
          <a:solidFill>
            <a:srgbClr val="1A7F37"/>
          </a:solidFill>
          <a:ln/>
        </p:spPr>
      </p:sp>
      <p:sp>
        <p:nvSpPr>
          <p:cNvPr id="18" name="Text 15"/>
          <p:cNvSpPr txBox="1"/>
          <p:nvPr/>
        </p:nvSpPr>
        <p:spPr>
          <a:xfrm>
            <a:off x="6553048" y="1967042"/>
            <a:ext cx="4815688" cy="658368"/>
          </a:xfrm>
          <a:prstGeom prst="rect">
            <a:avLst/>
          </a:prstGeom>
          <a:noFill/>
          <a:ln/>
        </p:spPr>
        <p:txBody>
          <a:bodyPr wrap="square" lIns="0" tIns="0" rIns="0" bIns="0" rtlCol="0" anchor="ctr"/>
          <a:lstStyle/>
          <a:p>
            <a:pPr indent="0" marL="0">
              <a:buNone/>
            </a:pPr>
            <a:r>
              <a:rPr lang="id-ID" altLang="en-US" sz="2200" b="1" i="1" dirty="0">
                <a:solidFill>
                  <a:srgbClr val="FFFFFF"/>
                </a:solidFill>
              </a:rPr>
              <a:t>Method</a:t>
            </a:r>
            <a:r>
              <a:rPr lang="id-ID" altLang="en-US" sz="2200" b="1" dirty="0">
                <a:solidFill>
                  <a:srgbClr val="FFFFFF"/>
                </a:solidFill>
              </a:rPr>
              <a:t> (kemampuan)</a:t>
            </a:r>
            <a:endParaRPr lang="id-ID" sz="2200" dirty="0"/>
          </a:p>
        </p:txBody>
      </p:sp>
      <p:sp>
        <p:nvSpPr>
          <p:cNvPr id="19" name="Shape 16"/>
          <p:cNvSpPr/>
          <p:nvPr/>
        </p:nvSpPr>
        <p:spPr>
          <a:xfrm>
            <a:off x="6607912" y="3009331"/>
            <a:ext cx="137160" cy="137160"/>
          </a:xfrm>
          <a:prstGeom prst="roundRect">
            <a:avLst>
              <a:gd name="adj" fmla="val 166667"/>
            </a:avLst>
          </a:prstGeom>
          <a:solidFill>
            <a:srgbClr val="1A7F37"/>
          </a:solidFill>
          <a:ln/>
        </p:spPr>
      </p:sp>
      <p:sp>
        <p:nvSpPr>
          <p:cNvPr id="20" name="Text 17"/>
          <p:cNvSpPr txBox="1"/>
          <p:nvPr/>
        </p:nvSpPr>
        <p:spPr>
          <a:xfrm>
            <a:off x="6937096" y="2899730"/>
            <a:ext cx="4431640" cy="402082"/>
          </a:xfrm>
          <a:prstGeom prst="rect">
            <a:avLst/>
          </a:prstGeom>
          <a:noFill/>
          <a:ln/>
        </p:spPr>
        <p:txBody>
          <a:bodyPr wrap="square" lIns="0" tIns="0" rIns="0" bIns="0" rtlCol="0" anchor="t"/>
          <a:lstStyle/>
          <a:p>
            <a:pPr indent="0" marL="0">
              <a:buNone/>
            </a:pPr>
            <a:r>
              <a:rPr lang="id-ID" altLang="en-US" sz="2300" dirty="0">
                <a:solidFill>
                  <a:srgbClr val="1F2328"/>
                </a:solidFill>
              </a:rPr>
              <a:t>Sesuatu yang bisa </a:t>
            </a:r>
            <a:r>
              <a:rPr lang="id-ID" altLang="en-US" sz="2300" b="1" dirty="0">
                <a:solidFill>
                  <a:srgbClr val="1F2328"/>
                </a:solidFill>
              </a:rPr>
              <a:t>dilakukan</a:t>
            </a:r>
            <a:r>
              <a:rPr lang="id-ID" altLang="en-US" sz="2300" dirty="0">
                <a:solidFill>
                  <a:srgbClr val="1F2328"/>
                </a:solidFill>
              </a:rPr>
              <a:t> objek.</a:t>
            </a:r>
            <a:endParaRPr lang="id-ID" sz="2300" dirty="0"/>
          </a:p>
        </p:txBody>
      </p:sp>
      <p:sp>
        <p:nvSpPr>
          <p:cNvPr id="21" name="Shape 18"/>
          <p:cNvSpPr/>
          <p:nvPr/>
        </p:nvSpPr>
        <p:spPr>
          <a:xfrm>
            <a:off x="6607912" y="3585149"/>
            <a:ext cx="137160" cy="137160"/>
          </a:xfrm>
          <a:prstGeom prst="roundRect">
            <a:avLst>
              <a:gd name="adj" fmla="val 166667"/>
            </a:avLst>
          </a:prstGeom>
          <a:solidFill>
            <a:srgbClr val="1A7F37"/>
          </a:solidFill>
          <a:ln/>
        </p:spPr>
      </p:sp>
      <p:sp>
        <p:nvSpPr>
          <p:cNvPr id="22" name="Text 19"/>
          <p:cNvSpPr txBox="1"/>
          <p:nvPr/>
        </p:nvSpPr>
        <p:spPr>
          <a:xfrm>
            <a:off x="6937096" y="3475548"/>
            <a:ext cx="4431640" cy="758444"/>
          </a:xfrm>
          <a:prstGeom prst="rect">
            <a:avLst/>
          </a:prstGeom>
          <a:noFill/>
          <a:ln/>
        </p:spPr>
        <p:txBody>
          <a:bodyPr wrap="square" lIns="0" tIns="0" rIns="0" bIns="0" rtlCol="0" anchor="t"/>
          <a:lstStyle/>
          <a:p>
            <a:pPr indent="0" marL="0">
              <a:buNone/>
            </a:pPr>
            <a:r>
              <a:rPr lang="id-ID" altLang="en-US" sz="2300" dirty="0">
                <a:solidFill>
                  <a:srgbClr val="1F2328"/>
                </a:solidFill>
              </a:rPr>
              <a:t>Contoh: menelepon, mengirim pesan, mengisi daya.</a:t>
            </a:r>
            <a:endParaRPr lang="id-ID" sz="2300" dirty="0"/>
          </a:p>
        </p:txBody>
      </p:sp>
      <p:sp>
        <p:nvSpPr>
          <p:cNvPr id="23" name="Shape 20"/>
          <p:cNvSpPr/>
          <p:nvPr/>
        </p:nvSpPr>
        <p:spPr>
          <a:xfrm>
            <a:off x="6607912" y="4517329"/>
            <a:ext cx="137160" cy="137160"/>
          </a:xfrm>
          <a:prstGeom prst="roundRect">
            <a:avLst>
              <a:gd name="adj" fmla="val 166667"/>
            </a:avLst>
          </a:prstGeom>
          <a:solidFill>
            <a:srgbClr val="1A7F37"/>
          </a:solidFill>
          <a:ln/>
        </p:spPr>
      </p:sp>
      <p:sp>
        <p:nvSpPr>
          <p:cNvPr id="24" name="Text 21"/>
          <p:cNvSpPr txBox="1"/>
          <p:nvPr/>
        </p:nvSpPr>
        <p:spPr>
          <a:xfrm>
            <a:off x="6937096" y="4407728"/>
            <a:ext cx="4431640" cy="758444"/>
          </a:xfrm>
          <a:prstGeom prst="rect">
            <a:avLst/>
          </a:prstGeom>
          <a:noFill/>
          <a:ln/>
        </p:spPr>
        <p:txBody>
          <a:bodyPr wrap="square" lIns="0" tIns="0" rIns="0" bIns="0" rtlCol="0" anchor="t"/>
          <a:lstStyle/>
          <a:p>
            <a:pPr indent="0" marL="0">
              <a:buNone/>
            </a:pPr>
            <a:r>
              <a:rPr lang="id-ID" altLang="en-US" sz="2300" dirty="0">
                <a:solidFill>
                  <a:srgbClr val="1F2328"/>
                </a:solidFill>
              </a:rPr>
              <a:t>Di kode: </a:t>
            </a:r>
            <a:r>
              <a:rPr lang="id-ID" altLang="en-US" sz="2300" dirty="0">
                <a:solidFill>
                  <a:srgbClr val="1F2328"/>
                </a:solidFill>
                <a:latin typeface="Consolas" pitchFamily="34" charset="0"/>
                <a:ea typeface="Consolas" pitchFamily="34" charset="-122"/>
                <a:cs typeface="Consolas" pitchFamily="34" charset="-120"/>
              </a:rPr>
              <a:t>telepon()</a:t>
            </a:r>
            <a:r>
              <a:rPr lang="id-ID" altLang="en-US" sz="2300" dirty="0">
                <a:solidFill>
                  <a:srgbClr val="1F2328"/>
                </a:solidFill>
              </a:rPr>
              <a:t>, </a:t>
            </a:r>
            <a:r>
              <a:rPr lang="id-ID" altLang="en-US" sz="2300" dirty="0">
                <a:solidFill>
                  <a:srgbClr val="1F2328"/>
                </a:solidFill>
                <a:latin typeface="Consolas" pitchFamily="34" charset="0"/>
                <a:ea typeface="Consolas" pitchFamily="34" charset="-122"/>
                <a:cs typeface="Consolas" pitchFamily="34" charset="-120"/>
              </a:rPr>
              <a:t>kirim_pesan()</a:t>
            </a:r>
            <a:r>
              <a:rPr lang="id-ID" altLang="en-US" sz="2300" dirty="0">
                <a:solidFill>
                  <a:srgbClr val="1F2328"/>
                </a:solidFill>
              </a:rPr>
              <a:t>, </a:t>
            </a:r>
            <a:r>
              <a:rPr lang="id-ID" altLang="en-US" sz="2300" dirty="0">
                <a:solidFill>
                  <a:srgbClr val="1F2328"/>
                </a:solidFill>
                <a:latin typeface="Consolas" pitchFamily="34" charset="0"/>
                <a:ea typeface="Consolas" pitchFamily="34" charset="-122"/>
                <a:cs typeface="Consolas" pitchFamily="34" charset="-120"/>
              </a:rPr>
              <a:t>isi_daya()</a:t>
            </a:r>
            <a:r>
              <a:rPr lang="id-ID" altLang="en-US" sz="2300" dirty="0">
                <a:solidFill>
                  <a:srgbClr val="1F2328"/>
                </a:solidFill>
              </a:rPr>
              <a:t>.</a:t>
            </a:r>
            <a:endParaRPr lang="id-ID" sz="2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Trik Menemukan Atribut dan </a:t>
            </a:r>
            <a:r>
              <a:rPr lang="id-ID" altLang="en-US" sz="3200" b="1" i="1" dirty="0">
                <a:solidFill>
                  <a:srgbClr val="0A3069"/>
                </a:solidFill>
              </a:rPr>
              <a:t>Method</a:t>
            </a:r>
            <a:endParaRPr lang="id-ID"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177308"/>
          <a:ext cx="11094415" cy="914400"/>
        </p:xfrm>
        <a:graphic>
          <a:graphicData uri="http://schemas.openxmlformats.org/drawingml/2006/table">
            <a:tbl>
              <a:tblPr/>
              <a:tblGrid>
                <a:gridCol w="4254089"/>
                <a:gridCol w="1287563"/>
                <a:gridCol w="5552763"/>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Dalam kalimat soal</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Calon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Contoh rekening bank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Kata benda utama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Kelas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RekeningBank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Kata benda yang menjelaskan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Atribut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pemilik</a:t>
                      </a:r>
                      <a:r>
                        <a:rPr lang="id-ID" altLang="en-US" sz="2200" dirty="0">
                          <a:solidFill>
                            <a:srgbClr val="1F2328"/>
                          </a:solidFill>
                          <a:latin typeface="Calibri" pitchFamily="34" charset="0"/>
                          <a:ea typeface="Calibri" pitchFamily="34" charset="-122"/>
                          <a:cs typeface="Calibri" pitchFamily="34" charset="-120"/>
                        </a:rPr>
                        <a:t>, </a:t>
                      </a:r>
                      <a:r>
                        <a:rPr lang="id-ID" altLang="en-US" sz="2200" dirty="0">
                          <a:solidFill>
                            <a:srgbClr val="0A3069"/>
                          </a:solidFill>
                          <a:latin typeface="Consolas" pitchFamily="34" charset="0"/>
                          <a:ea typeface="Consolas" pitchFamily="34" charset="-122"/>
                          <a:cs typeface="Consolas" pitchFamily="34" charset="-120"/>
                        </a:rPr>
                        <a:t>saldo</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Kata kerja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i="1" dirty="0">
                          <a:solidFill>
                            <a:srgbClr val="1F2328"/>
                          </a:solidFill>
                          <a:latin typeface="Calibri" pitchFamily="34" charset="0"/>
                          <a:ea typeface="Calibri" pitchFamily="34" charset="-122"/>
                          <a:cs typeface="Calibri" pitchFamily="34" charset="-120"/>
                        </a:rPr>
                        <a:t>Method</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setor()</a:t>
                      </a:r>
                      <a:r>
                        <a:rPr lang="id-ID" altLang="en-US" sz="2200" dirty="0">
                          <a:solidFill>
                            <a:srgbClr val="1F2328"/>
                          </a:solidFill>
                          <a:latin typeface="Calibri" pitchFamily="34" charset="0"/>
                          <a:ea typeface="Calibri" pitchFamily="34" charset="-122"/>
                          <a:cs typeface="Calibri" pitchFamily="34" charset="-120"/>
                        </a:rPr>
                        <a:t>, </a:t>
                      </a:r>
                      <a:r>
                        <a:rPr lang="id-ID" altLang="en-US" sz="2200" dirty="0">
                          <a:solidFill>
                            <a:srgbClr val="0A3069"/>
                          </a:solidFill>
                          <a:latin typeface="Consolas" pitchFamily="34" charset="0"/>
                          <a:ea typeface="Consolas" pitchFamily="34" charset="-122"/>
                          <a:cs typeface="Consolas" pitchFamily="34" charset="-120"/>
                        </a:rPr>
                        <a:t>tarik()</a:t>
                      </a:r>
                      <a:r>
                        <a:rPr lang="id-ID" altLang="en-US" sz="2200" dirty="0">
                          <a:solidFill>
                            <a:srgbClr val="1F2328"/>
                          </a:solidFill>
                          <a:latin typeface="Calibri" pitchFamily="34" charset="0"/>
                          <a:ea typeface="Calibri" pitchFamily="34" charset="-122"/>
                          <a:cs typeface="Calibri" pitchFamily="34" charset="-120"/>
                        </a:rPr>
                        <a:t>, </a:t>
                      </a:r>
                      <a:r>
                        <a:rPr lang="id-ID" altLang="en-US" sz="2200" dirty="0">
                          <a:solidFill>
                            <a:srgbClr val="0A3069"/>
                          </a:solidFill>
                          <a:latin typeface="Consolas" pitchFamily="34" charset="0"/>
                          <a:ea typeface="Consolas" pitchFamily="34" charset="-122"/>
                          <a:cs typeface="Consolas" pitchFamily="34" charset="-120"/>
                        </a:rPr>
                        <a:t>cek_saldo()</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4519188"/>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4591609"/>
            <a:ext cx="184343" cy="184343"/>
          </a:xfrm>
          <a:prstGeom prst="rect">
            <a:avLst/>
          </a:prstGeom>
        </p:spPr>
      </p:pic>
      <p:sp>
        <p:nvSpPr>
          <p:cNvPr id="8" name="Text 3"/>
          <p:cNvSpPr txBox="1"/>
          <p:nvPr/>
        </p:nvSpPr>
        <p:spPr>
          <a:xfrm>
            <a:off x="1005840" y="4500900"/>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Kalimat soal: setiap rekening punya nama pemilik dan saldo; nasabah bisa menyetor, menarik, dan melihat saldo.</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Konstruktor serta </a:t>
            </a:r>
            <a:r>
              <a:rPr lang="id-ID" altLang="en-US" sz="4200" b="1" dirty="0">
                <a:solidFill>
                  <a:srgbClr val="FFFFFF"/>
                </a:solidFill>
                <a:latin typeface="Consolas" pitchFamily="34" charset="0"/>
                <a:ea typeface="Consolas" pitchFamily="34" charset="-122"/>
                <a:cs typeface="Consolas" pitchFamily="34" charset="-120"/>
              </a:rPr>
              <a:t>self</a:t>
            </a:r>
            <a:r>
              <a:rPr lang="id-ID" altLang="en-US" sz="4200" b="1" dirty="0">
                <a:solidFill>
                  <a:srgbClr val="FFFFFF"/>
                </a:solidFill>
              </a:rPr>
              <a:t> dan </a:t>
            </a:r>
            <a:r>
              <a:rPr lang="id-ID" altLang="en-US" sz="4200" b="1" dirty="0">
                <a:solidFill>
                  <a:srgbClr val="FFFFFF"/>
                </a:solidFill>
                <a:latin typeface="Consolas" pitchFamily="34" charset="0"/>
                <a:ea typeface="Consolas" pitchFamily="34" charset="-122"/>
                <a:cs typeface="Consolas" pitchFamily="34" charset="-120"/>
              </a:rPr>
              <a:t>this</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Agar objek lahir dengan data yang lengkap.</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Konstruktor: Mengisi Data saat Objek Lahir</a:t>
            </a:r>
            <a:endParaRPr lang="id-ID" sz="3200" dirty="0"/>
          </a:p>
        </p:txBody>
      </p:sp>
      <p:sp>
        <p:nvSpPr>
          <p:cNvPr id="5" name="Text 2"/>
          <p:cNvSpPr txBox="1"/>
          <p:nvPr/>
        </p:nvSpPr>
        <p:spPr>
          <a:xfrm>
            <a:off x="548640" y="1979310"/>
            <a:ext cx="11094415" cy="548640"/>
          </a:xfrm>
          <a:prstGeom prst="rect">
            <a:avLst/>
          </a:prstGeom>
          <a:noFill/>
          <a:ln/>
        </p:spPr>
        <p:txBody>
          <a:bodyPr wrap="square" lIns="0" tIns="0" rIns="0" bIns="0" rtlCol="0" anchor="t"/>
          <a:lstStyle/>
          <a:p>
            <a:pPr indent="0" marL="0">
              <a:buNone/>
            </a:pPr>
            <a:r>
              <a:rPr lang="id-ID" altLang="en-US" sz="3000" b="1" dirty="0">
                <a:solidFill>
                  <a:srgbClr val="0969DA"/>
                </a:solidFill>
              </a:rPr>
              <a:t>Konstruktor (</a:t>
            </a:r>
            <a:r>
              <a:rPr lang="id-ID" altLang="en-US" sz="3000" b="1" i="1" dirty="0">
                <a:solidFill>
                  <a:srgbClr val="0969DA"/>
                </a:solidFill>
              </a:rPr>
              <a:t>constructor</a:t>
            </a:r>
            <a:r>
              <a:rPr lang="id-ID" altLang="en-US" sz="3000" b="1" dirty="0">
                <a:solidFill>
                  <a:srgbClr val="0969DA"/>
                </a:solidFill>
              </a:rPr>
              <a:t>)</a:t>
            </a:r>
            <a:endParaRPr lang="id-ID" sz="3000" dirty="0"/>
          </a:p>
        </p:txBody>
      </p:sp>
      <p:sp>
        <p:nvSpPr>
          <p:cNvPr id="6" name="Shape 3"/>
          <p:cNvSpPr/>
          <p:nvPr/>
        </p:nvSpPr>
        <p:spPr>
          <a:xfrm>
            <a:off x="548640" y="2692542"/>
            <a:ext cx="11094415" cy="1354328"/>
          </a:xfrm>
          <a:prstGeom prst="roundRect">
            <a:avLst>
              <a:gd name="adj" fmla="val 5470"/>
            </a:avLst>
          </a:prstGeom>
          <a:solidFill>
            <a:srgbClr val="DDF4FF"/>
          </a:solidFill>
          <a:ln w="9525">
            <a:solidFill>
              <a:srgbClr val="54AEFF"/>
            </a:solidFill>
            <a:prstDash val="solid"/>
          </a:ln>
        </p:spPr>
      </p:sp>
      <p:sp>
        <p:nvSpPr>
          <p:cNvPr id="7" name="Shape 4"/>
          <p:cNvSpPr/>
          <p:nvPr/>
        </p:nvSpPr>
        <p:spPr>
          <a:xfrm>
            <a:off x="804672" y="3095386"/>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3216087"/>
            <a:ext cx="307238" cy="307238"/>
          </a:xfrm>
          <a:prstGeom prst="rect">
            <a:avLst/>
          </a:prstGeom>
        </p:spPr>
      </p:pic>
      <p:sp>
        <p:nvSpPr>
          <p:cNvPr id="9" name="Text 5"/>
          <p:cNvSpPr txBox="1"/>
          <p:nvPr/>
        </p:nvSpPr>
        <p:spPr>
          <a:xfrm>
            <a:off x="1554480" y="2966862"/>
            <a:ext cx="9859975" cy="988568"/>
          </a:xfrm>
          <a:prstGeom prst="rect">
            <a:avLst/>
          </a:prstGeom>
          <a:noFill/>
          <a:ln/>
        </p:spPr>
        <p:txBody>
          <a:bodyPr wrap="square" lIns="0" tIns="0" rIns="0" bIns="0" rtlCol="0" anchor="t"/>
          <a:lstStyle/>
          <a:p>
            <a:pPr indent="0" marL="0">
              <a:buNone/>
            </a:pPr>
            <a:r>
              <a:rPr lang="id-ID" altLang="en-US" sz="2600" dirty="0">
                <a:solidFill>
                  <a:srgbClr val="1F2328"/>
                </a:solidFill>
              </a:rPr>
              <a:t>Bagian khusus kelas yang </a:t>
            </a:r>
            <a:r>
              <a:rPr lang="id-ID" altLang="en-US" sz="2600" b="1" dirty="0">
                <a:solidFill>
                  <a:srgbClr val="1F2328"/>
                </a:solidFill>
              </a:rPr>
              <a:t>dijalankan otomatis tepat saat objek dibuat</a:t>
            </a:r>
            <a:r>
              <a:rPr lang="id-ID" altLang="en-US" sz="2600" dirty="0">
                <a:solidFill>
                  <a:srgbClr val="1F2328"/>
                </a:solidFill>
              </a:rPr>
              <a:t>. Tugas utamanya mengisi nilai awal atribut objek tersebut.</a:t>
            </a:r>
            <a:endParaRPr lang="id-ID" sz="2600" dirty="0"/>
          </a:p>
        </p:txBody>
      </p:sp>
      <p:sp>
        <p:nvSpPr>
          <p:cNvPr id="10" name="Shape 6"/>
          <p:cNvSpPr/>
          <p:nvPr/>
        </p:nvSpPr>
        <p:spPr>
          <a:xfrm>
            <a:off x="603504" y="4605924"/>
            <a:ext cx="137160" cy="137160"/>
          </a:xfrm>
          <a:prstGeom prst="roundRect">
            <a:avLst>
              <a:gd name="adj" fmla="val 166667"/>
            </a:avLst>
          </a:prstGeom>
          <a:solidFill>
            <a:srgbClr val="0969DA"/>
          </a:solidFill>
          <a:ln/>
        </p:spPr>
      </p:sp>
      <p:sp>
        <p:nvSpPr>
          <p:cNvPr id="11" name="Text 7"/>
          <p:cNvSpPr txBox="1"/>
          <p:nvPr/>
        </p:nvSpPr>
        <p:spPr>
          <a:xfrm>
            <a:off x="932688" y="4504070"/>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Kita </a:t>
            </a:r>
            <a:r>
              <a:rPr lang="id-ID" altLang="en-US" sz="2200" b="1" dirty="0">
                <a:solidFill>
                  <a:srgbClr val="1F2328"/>
                </a:solidFill>
              </a:rPr>
              <a:t>tidak memanggilnya</a:t>
            </a:r>
            <a:r>
              <a:rPr lang="id-ID" altLang="en-US" sz="2200" dirty="0">
                <a:solidFill>
                  <a:srgbClr val="1F2328"/>
                </a:solidFill>
              </a:rPr>
              <a:t> secara langsung; konstruktor berjalan sendiri.</a:t>
            </a:r>
            <a:endParaRPr lang="id-ID" sz="2200" dirty="0"/>
          </a:p>
        </p:txBody>
      </p:sp>
      <p:sp>
        <p:nvSpPr>
          <p:cNvPr id="12" name="Shape 8"/>
          <p:cNvSpPr/>
          <p:nvPr/>
        </p:nvSpPr>
        <p:spPr>
          <a:xfrm>
            <a:off x="603504" y="5184536"/>
            <a:ext cx="137160" cy="137160"/>
          </a:xfrm>
          <a:prstGeom prst="roundRect">
            <a:avLst>
              <a:gd name="adj" fmla="val 166667"/>
            </a:avLst>
          </a:prstGeom>
          <a:solidFill>
            <a:srgbClr val="0969DA"/>
          </a:solidFill>
          <a:ln/>
        </p:spPr>
      </p:sp>
      <p:sp>
        <p:nvSpPr>
          <p:cNvPr id="13" name="Text 9"/>
          <p:cNvSpPr txBox="1"/>
          <p:nvPr/>
        </p:nvSpPr>
        <p:spPr>
          <a:xfrm>
            <a:off x="932688" y="5082682"/>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Python: </a:t>
            </a:r>
            <a:r>
              <a:rPr lang="id-ID" altLang="en-US" sz="2200" i="1" dirty="0">
                <a:solidFill>
                  <a:srgbClr val="1F2328"/>
                </a:solidFill>
              </a:rPr>
              <a:t>method</a:t>
            </a:r>
            <a:r>
              <a:rPr lang="id-ID" altLang="en-US" sz="2200" dirty="0">
                <a:solidFill>
                  <a:srgbClr val="1F2328"/>
                </a:solidFill>
              </a:rPr>
              <a:t> bernama </a:t>
            </a:r>
            <a:r>
              <a:rPr lang="id-ID" altLang="en-US" sz="2200" dirty="0">
                <a:solidFill>
                  <a:srgbClr val="1F2328"/>
                </a:solidFill>
                <a:latin typeface="Consolas" pitchFamily="34" charset="0"/>
                <a:ea typeface="Consolas" pitchFamily="34" charset="-122"/>
                <a:cs typeface="Consolas" pitchFamily="34" charset="-120"/>
              </a:rPr>
              <a:t>__init__</a:t>
            </a:r>
            <a:r>
              <a:rPr lang="id-ID" altLang="en-US" sz="2200" dirty="0">
                <a:solidFill>
                  <a:srgbClr val="1F2328"/>
                </a:solidFill>
              </a:rPr>
              <a:t>. Java: namanya </a:t>
            </a:r>
            <a:r>
              <a:rPr lang="id-ID" altLang="en-US" sz="2200" b="1" dirty="0">
                <a:solidFill>
                  <a:srgbClr val="1F2328"/>
                </a:solidFill>
              </a:rPr>
              <a:t>sama persis</a:t>
            </a:r>
            <a:r>
              <a:rPr lang="id-ID" altLang="en-US" sz="2200" dirty="0">
                <a:solidFill>
                  <a:srgbClr val="1F2328"/>
                </a:solidFill>
              </a:rPr>
              <a:t> dengan nama kelas.</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Konstruktor di Python dan Java</a:t>
            </a:r>
            <a:endParaRPr lang="id-ID" sz="3200" dirty="0"/>
          </a:p>
        </p:txBody>
      </p:sp>
      <p:sp>
        <p:nvSpPr>
          <p:cNvPr id="5" name="Text 2"/>
          <p:cNvSpPr txBox="1"/>
          <p:nvPr/>
        </p:nvSpPr>
        <p:spPr>
          <a:xfrm>
            <a:off x="548640" y="1831284"/>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Python memakai </a:t>
            </a:r>
            <a:r>
              <a:rPr lang="id-ID" altLang="en-US" sz="1800" dirty="0">
                <a:solidFill>
                  <a:srgbClr val="0A3069"/>
                </a:solidFill>
                <a:latin typeface="Consolas" pitchFamily="34" charset="0"/>
                <a:ea typeface="Consolas" pitchFamily="34" charset="-122"/>
                <a:cs typeface="Consolas" pitchFamily="34" charset="-120"/>
              </a:rPr>
              <a:t>__init__</a:t>
            </a:r>
            <a:r>
              <a:rPr lang="id-ID" altLang="en-US" sz="1800" dirty="0">
                <a:solidFill>
                  <a:srgbClr val="57606A"/>
                </a:solidFill>
              </a:rPr>
              <a:t>, Java memakai nama kelas. Keduanya mengisi atribut lewat </a:t>
            </a:r>
            <a:r>
              <a:rPr lang="id-ID" altLang="en-US" sz="1800" dirty="0">
                <a:solidFill>
                  <a:srgbClr val="0A3069"/>
                </a:solidFill>
                <a:latin typeface="Consolas" pitchFamily="34" charset="0"/>
                <a:ea typeface="Consolas" pitchFamily="34" charset="-122"/>
                <a:cs typeface="Consolas" pitchFamily="34" charset="-120"/>
              </a:rPr>
              <a:t>self</a:t>
            </a:r>
            <a:r>
              <a:rPr lang="id-ID" altLang="en-US" sz="1800" dirty="0">
                <a:solidFill>
                  <a:srgbClr val="57606A"/>
                </a:solidFill>
              </a:rPr>
              <a:t>/</a:t>
            </a:r>
            <a:r>
              <a:rPr lang="id-ID" altLang="en-US" sz="1800" dirty="0">
                <a:solidFill>
                  <a:srgbClr val="0A3069"/>
                </a:solidFill>
                <a:latin typeface="Consolas" pitchFamily="34" charset="0"/>
                <a:ea typeface="Consolas" pitchFamily="34" charset="-122"/>
                <a:cs typeface="Consolas" pitchFamily="34" charset="-120"/>
              </a:rPr>
              <a:t>this</a:t>
            </a:r>
            <a:r>
              <a:rPr lang="id-ID" altLang="en-US" sz="1800" dirty="0">
                <a:solidFill>
                  <a:srgbClr val="57606A"/>
                </a:solidFill>
              </a:rPr>
              <a:t>.</a:t>
            </a:r>
            <a:endParaRPr lang="id-ID" sz="1800" dirty="0"/>
          </a:p>
        </p:txBody>
      </p:sp>
      <p:sp>
        <p:nvSpPr>
          <p:cNvPr id="6" name="Shape 3"/>
          <p:cNvSpPr/>
          <p:nvPr/>
        </p:nvSpPr>
        <p:spPr>
          <a:xfrm>
            <a:off x="548640" y="2265624"/>
            <a:ext cx="1051560" cy="329184"/>
          </a:xfrm>
          <a:prstGeom prst="roundRect">
            <a:avLst>
              <a:gd name="adj" fmla="val 138889"/>
            </a:avLst>
          </a:prstGeom>
          <a:solidFill>
            <a:srgbClr val="3572A5"/>
          </a:solidFill>
          <a:ln/>
        </p:spPr>
      </p:sp>
      <p:sp>
        <p:nvSpPr>
          <p:cNvPr id="7" name="Text 4"/>
          <p:cNvSpPr txBox="1"/>
          <p:nvPr/>
        </p:nvSpPr>
        <p:spPr>
          <a:xfrm>
            <a:off x="548640" y="226562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26562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python/contoh/contoh02_konstruktor.py</a:t>
            </a:r>
            <a:endParaRPr lang="id-ID" sz="1100" dirty="0"/>
          </a:p>
        </p:txBody>
      </p:sp>
      <p:sp>
        <p:nvSpPr>
          <p:cNvPr id="9" name="Shape 6"/>
          <p:cNvSpPr/>
          <p:nvPr/>
        </p:nvSpPr>
        <p:spPr>
          <a:xfrm>
            <a:off x="548640" y="2686248"/>
            <a:ext cx="5432908" cy="2878582"/>
          </a:xfrm>
          <a:prstGeom prst="roundRect">
            <a:avLst>
              <a:gd name="adj" fmla="val 1009"/>
            </a:avLst>
          </a:prstGeom>
          <a:solidFill>
            <a:srgbClr val="F6F8FA"/>
          </a:solidFill>
          <a:ln w="9525">
            <a:solidFill>
              <a:srgbClr val="D0D7DE"/>
            </a:solidFill>
            <a:prstDash val="solid"/>
          </a:ln>
        </p:spPr>
      </p:sp>
      <p:sp>
        <p:nvSpPr>
          <p:cNvPr id="10" name="Text 7"/>
          <p:cNvSpPr txBox="1"/>
          <p:nvPr/>
        </p:nvSpPr>
        <p:spPr>
          <a:xfrm>
            <a:off x="658368" y="2777688"/>
            <a:ext cx="5213452" cy="2695702"/>
          </a:xfrm>
          <a:prstGeom prst="rect">
            <a:avLst/>
          </a:prstGeom>
          <a:noFill/>
          <a:ln/>
        </p:spPr>
        <p:txBody>
          <a:bodyPr wrap="square" lIns="0" tIns="0" rIns="0" bIns="0" rtlCol="0" anchor="t"/>
          <a:lstStyle/>
          <a:p>
            <a:pPr indent="0" marL="0">
              <a:buNone/>
            </a:pPr>
            <a:r>
              <a:rPr lang="en-US" altLang="en-US" sz="1250" dirty="0">
                <a:solidFill>
                  <a:srgbClr val="CF222E"/>
                </a:solidFill>
                <a:latin typeface="Consolas" pitchFamily="34" charset="0"/>
                <a:ea typeface="Consolas" pitchFamily="34" charset="-122"/>
                <a:cs typeface="Consolas" pitchFamily="34" charset="-120"/>
              </a:rPr>
              <a:t>class</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953800"/>
                </a:solidFill>
                <a:latin typeface="Consolas" pitchFamily="34" charset="0"/>
                <a:ea typeface="Consolas" pitchFamily="34" charset="-122"/>
                <a:cs typeface="Consolas" pitchFamily="34" charset="-120"/>
              </a:rPr>
              <a:t>Mobil</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def</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__init__</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 merek, warna, tahun):</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.merek = merek</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.warna = warna</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.tahun = tahun</a:t>
            </a:r>
            <a:endParaRPr lang="en-US" sz="1250" dirty="0"/>
          </a:p>
          <a:p>
            <a:pPr indent="0" marL="0">
              <a:buNone/>
            </a:pPr>
            <a:r>
              <a:rPr lang="en-US" altLang="en-US" sz="1250" dirty="0">
                <a:solidFill>
                  <a:srgbClr val="000000"/>
                </a:solidFill>
                <a:latin typeface="Consolas" pitchFamily="34" charset="0"/>
                <a:ea typeface="Consolas" pitchFamily="34" charset="-122"/>
                <a:cs typeface="Consolas" pitchFamily="34" charset="-120"/>
              </a:rPr>
              <a:t> </a:t>
            </a:r>
            <a:endParaRPr lang="en-US" sz="1250" dirty="0"/>
          </a:p>
          <a:p>
            <a:pPr indent="0" marL="0">
              <a:buNone/>
            </a:pPr>
            <a:r>
              <a:rPr lang="en-US" altLang="en-US" sz="1250" i="1" dirty="0">
                <a:solidFill>
                  <a:srgbClr val="6E7781"/>
                </a:solidFill>
                <a:latin typeface="Consolas" pitchFamily="34" charset="0"/>
                <a:ea typeface="Consolas" pitchFamily="34" charset="-122"/>
                <a:cs typeface="Consolas" pitchFamily="34" charset="-120"/>
              </a:rPr>
              <a:t># ... di dalam main()</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mobil_budi = Mobil(</a:t>
            </a:r>
            <a:r>
              <a:rPr lang="en-US" altLang="en-US" sz="1250" dirty="0">
                <a:solidFill>
                  <a:srgbClr val="0A3069"/>
                </a:solidFill>
                <a:latin typeface="Consolas" pitchFamily="34" charset="0"/>
                <a:ea typeface="Consolas" pitchFamily="34" charset="-122"/>
                <a:cs typeface="Consolas" pitchFamily="34" charset="-120"/>
              </a:rPr>
              <a:t>"Avanza"</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A3069"/>
                </a:solidFill>
                <a:latin typeface="Consolas" pitchFamily="34" charset="0"/>
                <a:ea typeface="Consolas" pitchFamily="34" charset="-122"/>
                <a:cs typeface="Consolas" pitchFamily="34" charset="-120"/>
              </a:rPr>
              <a:t>"hitam"</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2019</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mobil_siti = Mobil(</a:t>
            </a:r>
            <a:r>
              <a:rPr lang="en-US" altLang="en-US" sz="1250" dirty="0">
                <a:solidFill>
                  <a:srgbClr val="0A3069"/>
                </a:solidFill>
                <a:latin typeface="Consolas" pitchFamily="34" charset="0"/>
                <a:ea typeface="Consolas" pitchFamily="34" charset="-122"/>
                <a:cs typeface="Consolas" pitchFamily="34" charset="-120"/>
              </a:rPr>
              <a:t>"Brio"</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A3069"/>
                </a:solidFill>
                <a:latin typeface="Consolas" pitchFamily="34" charset="0"/>
                <a:ea typeface="Consolas" pitchFamily="34" charset="-122"/>
                <a:cs typeface="Consolas" pitchFamily="34" charset="-120"/>
              </a:rPr>
              <a:t>"merah"</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2022</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p:txBody>
      </p:sp>
      <p:sp>
        <p:nvSpPr>
          <p:cNvPr id="11" name="Shape 8"/>
          <p:cNvSpPr/>
          <p:nvPr/>
        </p:nvSpPr>
        <p:spPr>
          <a:xfrm>
            <a:off x="6210148" y="2265624"/>
            <a:ext cx="1051560" cy="329184"/>
          </a:xfrm>
          <a:prstGeom prst="roundRect">
            <a:avLst>
              <a:gd name="adj" fmla="val 138889"/>
            </a:avLst>
          </a:prstGeom>
          <a:solidFill>
            <a:srgbClr val="B07219"/>
          </a:solidFill>
          <a:ln/>
        </p:spPr>
      </p:sp>
      <p:sp>
        <p:nvSpPr>
          <p:cNvPr id="12" name="Text 9"/>
          <p:cNvSpPr txBox="1"/>
          <p:nvPr/>
        </p:nvSpPr>
        <p:spPr>
          <a:xfrm>
            <a:off x="6210148" y="2265624"/>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265624"/>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java/contoh/Contoh02Konstruktor.java</a:t>
            </a:r>
            <a:endParaRPr lang="id-ID" sz="1100" dirty="0"/>
          </a:p>
        </p:txBody>
      </p:sp>
      <p:sp>
        <p:nvSpPr>
          <p:cNvPr id="14" name="Shape 11"/>
          <p:cNvSpPr/>
          <p:nvPr/>
        </p:nvSpPr>
        <p:spPr>
          <a:xfrm>
            <a:off x="6210148" y="2686248"/>
            <a:ext cx="5432908" cy="2878582"/>
          </a:xfrm>
          <a:prstGeom prst="roundRect">
            <a:avLst>
              <a:gd name="adj" fmla="val 1009"/>
            </a:avLst>
          </a:prstGeom>
          <a:solidFill>
            <a:srgbClr val="F6F8FA"/>
          </a:solidFill>
          <a:ln w="9525">
            <a:solidFill>
              <a:srgbClr val="D0D7DE"/>
            </a:solidFill>
            <a:prstDash val="solid"/>
          </a:ln>
        </p:spPr>
      </p:sp>
      <p:sp>
        <p:nvSpPr>
          <p:cNvPr id="15" name="Text 12"/>
          <p:cNvSpPr txBox="1"/>
          <p:nvPr/>
        </p:nvSpPr>
        <p:spPr>
          <a:xfrm>
            <a:off x="6319876" y="2777688"/>
            <a:ext cx="5213452" cy="2695702"/>
          </a:xfrm>
          <a:prstGeom prst="rect">
            <a:avLst/>
          </a:prstGeom>
          <a:noFill/>
          <a:ln/>
        </p:spPr>
        <p:txBody>
          <a:bodyPr wrap="square" lIns="0" tIns="0" rIns="0" bIns="0" rtlCol="0" anchor="t"/>
          <a:lstStyle/>
          <a:p>
            <a:pPr indent="0" marL="0">
              <a:buNone/>
            </a:pPr>
            <a:r>
              <a:rPr lang="en-US" altLang="en-US" sz="1250" dirty="0">
                <a:solidFill>
                  <a:srgbClr val="CF222E"/>
                </a:solidFill>
                <a:latin typeface="Consolas" pitchFamily="34" charset="0"/>
                <a:ea typeface="Consolas" pitchFamily="34" charset="-122"/>
                <a:cs typeface="Consolas" pitchFamily="34" charset="-120"/>
              </a:rPr>
              <a:t>class</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953800"/>
                </a:solidFill>
                <a:latin typeface="Consolas" pitchFamily="34" charset="0"/>
                <a:ea typeface="Consolas" pitchFamily="34" charset="-122"/>
                <a:cs typeface="Consolas" pitchFamily="34" charset="-120"/>
              </a:rPr>
              <a:t>Mobil</a:t>
            </a: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String merek;</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String warna;</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 tahun;</a:t>
            </a:r>
            <a:endParaRPr lang="en-US" sz="1250" dirty="0"/>
          </a:p>
          <a:p>
            <a:pPr indent="0" marL="0">
              <a:buNone/>
            </a:pPr>
            <a:r>
              <a:rPr lang="en-US" altLang="en-US" sz="1250" dirty="0">
                <a:solidFill>
                  <a:srgbClr val="000000"/>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Mobil(String merek, String warna, </a:t>
            </a:r>
            <a:r>
              <a:rPr lang="en-US" altLang="en-US" sz="1250" dirty="0">
                <a:solidFill>
                  <a:srgbClr val="CF222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 tahun)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this</a:t>
            </a:r>
            <a:r>
              <a:rPr lang="en-US" altLang="en-US" sz="1250" dirty="0">
                <a:solidFill>
                  <a:srgbClr val="1F2328"/>
                </a:solidFill>
                <a:latin typeface="Consolas" pitchFamily="34" charset="0"/>
                <a:ea typeface="Consolas" pitchFamily="34" charset="-122"/>
                <a:cs typeface="Consolas" pitchFamily="34" charset="-120"/>
              </a:rPr>
              <a:t>.merek = merek;</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this</a:t>
            </a:r>
            <a:r>
              <a:rPr lang="en-US" altLang="en-US" sz="1250" dirty="0">
                <a:solidFill>
                  <a:srgbClr val="1F2328"/>
                </a:solidFill>
                <a:latin typeface="Consolas" pitchFamily="34" charset="0"/>
                <a:ea typeface="Consolas" pitchFamily="34" charset="-122"/>
                <a:cs typeface="Consolas" pitchFamily="34" charset="-120"/>
              </a:rPr>
              <a:t>.warna = warna;</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this</a:t>
            </a:r>
            <a:r>
              <a:rPr lang="en-US" altLang="en-US" sz="1250" dirty="0">
                <a:solidFill>
                  <a:srgbClr val="1F2328"/>
                </a:solidFill>
                <a:latin typeface="Consolas" pitchFamily="34" charset="0"/>
                <a:ea typeface="Consolas" pitchFamily="34" charset="-122"/>
                <a:cs typeface="Consolas" pitchFamily="34" charset="-120"/>
              </a:rPr>
              <a:t>.tahun = tahun;</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i="1" dirty="0">
                <a:solidFill>
                  <a:srgbClr val="6E7781"/>
                </a:solidFill>
                <a:latin typeface="Consolas" pitchFamily="34" charset="0"/>
                <a:ea typeface="Consolas" pitchFamily="34" charset="-122"/>
                <a:cs typeface="Consolas" pitchFamily="34" charset="-120"/>
              </a:rPr>
              <a:t>// ... di dalam main</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Mobil mobilBudi = </a:t>
            </a:r>
            <a:r>
              <a:rPr lang="en-US" altLang="en-US" sz="1250" dirty="0">
                <a:solidFill>
                  <a:srgbClr val="CF222E"/>
                </a:solidFill>
                <a:latin typeface="Consolas" pitchFamily="34" charset="0"/>
                <a:ea typeface="Consolas" pitchFamily="34" charset="-122"/>
                <a:cs typeface="Consolas" pitchFamily="34" charset="-120"/>
              </a:rPr>
              <a:t>new</a:t>
            </a:r>
            <a:r>
              <a:rPr lang="en-US" altLang="en-US" sz="1250" dirty="0">
                <a:solidFill>
                  <a:srgbClr val="1F2328"/>
                </a:solidFill>
                <a:latin typeface="Consolas" pitchFamily="34" charset="0"/>
                <a:ea typeface="Consolas" pitchFamily="34" charset="-122"/>
                <a:cs typeface="Consolas" pitchFamily="34" charset="-120"/>
              </a:rPr>
              <a:t> Mobil(</a:t>
            </a:r>
            <a:r>
              <a:rPr lang="en-US" altLang="en-US" sz="1250" dirty="0">
                <a:solidFill>
                  <a:srgbClr val="0A3069"/>
                </a:solidFill>
                <a:latin typeface="Consolas" pitchFamily="34" charset="0"/>
                <a:ea typeface="Consolas" pitchFamily="34" charset="-122"/>
                <a:cs typeface="Consolas" pitchFamily="34" charset="-120"/>
              </a:rPr>
              <a:t>"Avanza"</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A3069"/>
                </a:solidFill>
                <a:latin typeface="Consolas" pitchFamily="34" charset="0"/>
                <a:ea typeface="Consolas" pitchFamily="34" charset="-122"/>
                <a:cs typeface="Consolas" pitchFamily="34" charset="-120"/>
              </a:rPr>
              <a:t>"hitam"</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2019</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Mobil mobilSiti = </a:t>
            </a:r>
            <a:r>
              <a:rPr lang="en-US" altLang="en-US" sz="1250" dirty="0">
                <a:solidFill>
                  <a:srgbClr val="CF222E"/>
                </a:solidFill>
                <a:latin typeface="Consolas" pitchFamily="34" charset="0"/>
                <a:ea typeface="Consolas" pitchFamily="34" charset="-122"/>
                <a:cs typeface="Consolas" pitchFamily="34" charset="-120"/>
              </a:rPr>
              <a:t>new</a:t>
            </a:r>
            <a:r>
              <a:rPr lang="en-US" altLang="en-US" sz="1250" dirty="0">
                <a:solidFill>
                  <a:srgbClr val="1F2328"/>
                </a:solidFill>
                <a:latin typeface="Consolas" pitchFamily="34" charset="0"/>
                <a:ea typeface="Consolas" pitchFamily="34" charset="-122"/>
                <a:cs typeface="Consolas" pitchFamily="34" charset="-120"/>
              </a:rPr>
              <a:t> Mobil(</a:t>
            </a:r>
            <a:r>
              <a:rPr lang="en-US" altLang="en-US" sz="1250" dirty="0">
                <a:solidFill>
                  <a:srgbClr val="0A3069"/>
                </a:solidFill>
                <a:latin typeface="Consolas" pitchFamily="34" charset="0"/>
                <a:ea typeface="Consolas" pitchFamily="34" charset="-122"/>
                <a:cs typeface="Consolas" pitchFamily="34" charset="-120"/>
              </a:rPr>
              <a:t>"Brio"</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A3069"/>
                </a:solidFill>
                <a:latin typeface="Consolas" pitchFamily="34" charset="0"/>
                <a:ea typeface="Consolas" pitchFamily="34" charset="-122"/>
                <a:cs typeface="Consolas" pitchFamily="34" charset="-120"/>
              </a:rPr>
              <a:t>"merah"</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2022</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latin typeface="Consolas" pitchFamily="34" charset="0"/>
                <a:ea typeface="Consolas" pitchFamily="34" charset="-122"/>
                <a:cs typeface="Consolas" pitchFamily="34" charset="-120"/>
              </a:rPr>
              <a:t>self</a:t>
            </a:r>
            <a:r>
              <a:rPr lang="id-ID" altLang="en-US" sz="3200" b="1" dirty="0">
                <a:solidFill>
                  <a:srgbClr val="0A3069"/>
                </a:solidFill>
              </a:rPr>
              <a:t> dan </a:t>
            </a:r>
            <a:r>
              <a:rPr lang="id-ID" altLang="en-US" sz="3200" b="1" dirty="0">
                <a:solidFill>
                  <a:srgbClr val="0A3069"/>
                </a:solidFill>
                <a:latin typeface="Consolas" pitchFamily="34" charset="0"/>
                <a:ea typeface="Consolas" pitchFamily="34" charset="-122"/>
                <a:cs typeface="Consolas" pitchFamily="34" charset="-120"/>
              </a:rPr>
              <a:t>this</a:t>
            </a:r>
            <a:r>
              <a:rPr lang="id-ID" altLang="en-US" sz="3200" b="1" dirty="0">
                <a:solidFill>
                  <a:srgbClr val="0A3069"/>
                </a:solidFill>
              </a:rPr>
              <a:t>: Kata Ganti “Diriku Sendiri”</a:t>
            </a:r>
            <a:endParaRPr lang="id-ID" sz="3200" dirty="0"/>
          </a:p>
        </p:txBody>
      </p:sp>
      <p:sp>
        <p:nvSpPr>
          <p:cNvPr id="5" name="Shape 2"/>
          <p:cNvSpPr/>
          <p:nvPr/>
        </p:nvSpPr>
        <p:spPr>
          <a:xfrm>
            <a:off x="603504" y="1552377"/>
            <a:ext cx="137160" cy="137160"/>
          </a:xfrm>
          <a:prstGeom prst="roundRect">
            <a:avLst>
              <a:gd name="adj" fmla="val 166667"/>
            </a:avLst>
          </a:prstGeom>
          <a:solidFill>
            <a:srgbClr val="0969DA"/>
          </a:solidFill>
          <a:ln/>
        </p:spPr>
      </p:sp>
      <p:sp>
        <p:nvSpPr>
          <p:cNvPr id="6" name="Text 3"/>
          <p:cNvSpPr txBox="1"/>
          <p:nvPr/>
        </p:nvSpPr>
        <p:spPr>
          <a:xfrm>
            <a:off x="932688" y="1435029"/>
            <a:ext cx="10710367" cy="789432"/>
          </a:xfrm>
          <a:prstGeom prst="rect">
            <a:avLst/>
          </a:prstGeom>
          <a:noFill/>
          <a:ln/>
        </p:spPr>
        <p:txBody>
          <a:bodyPr wrap="square" lIns="0" tIns="0" rIns="0" bIns="0" rtlCol="0" anchor="t"/>
          <a:lstStyle/>
          <a:p>
            <a:pPr indent="0" marL="0">
              <a:buNone/>
            </a:pPr>
            <a:r>
              <a:rPr lang="id-ID" altLang="en-US" sz="2400" dirty="0">
                <a:solidFill>
                  <a:srgbClr val="1F2328"/>
                </a:solidFill>
              </a:rPr>
              <a:t>Dosen berkata, “Tulis nama</a:t>
            </a:r>
            <a:r>
              <a:rPr lang="id-ID" altLang="en-US" sz="2400" b="1" dirty="0">
                <a:solidFill>
                  <a:srgbClr val="1F2328"/>
                </a:solidFill>
              </a:rPr>
              <a:t>mu</a:t>
            </a:r>
            <a:r>
              <a:rPr lang="id-ID" altLang="en-US" sz="2400" dirty="0">
                <a:solidFill>
                  <a:srgbClr val="1F2328"/>
                </a:solidFill>
              </a:rPr>
              <a:t>.” Satu kalimat, tetapi setiap mahasiswa menulis namanya sendiri.</a:t>
            </a:r>
            <a:endParaRPr lang="id-ID" sz="2400" dirty="0"/>
          </a:p>
        </p:txBody>
      </p:sp>
      <p:sp>
        <p:nvSpPr>
          <p:cNvPr id="7" name="Shape 4"/>
          <p:cNvSpPr/>
          <p:nvPr/>
        </p:nvSpPr>
        <p:spPr>
          <a:xfrm>
            <a:off x="603504" y="2570409"/>
            <a:ext cx="137160" cy="137160"/>
          </a:xfrm>
          <a:prstGeom prst="roundRect">
            <a:avLst>
              <a:gd name="adj" fmla="val 166667"/>
            </a:avLst>
          </a:prstGeom>
          <a:solidFill>
            <a:srgbClr val="0969DA"/>
          </a:solidFill>
          <a:ln/>
        </p:spPr>
      </p:sp>
      <p:sp>
        <p:nvSpPr>
          <p:cNvPr id="8" name="Text 5"/>
          <p:cNvSpPr txBox="1"/>
          <p:nvPr/>
        </p:nvSpPr>
        <p:spPr>
          <a:xfrm>
            <a:off x="932688" y="2453061"/>
            <a:ext cx="10710367" cy="417576"/>
          </a:xfrm>
          <a:prstGeom prst="rect">
            <a:avLst/>
          </a:prstGeom>
          <a:noFill/>
          <a:ln/>
        </p:spPr>
        <p:txBody>
          <a:bodyPr wrap="square" lIns="0" tIns="0" rIns="0" bIns="0" rtlCol="0" anchor="t"/>
          <a:lstStyle/>
          <a:p>
            <a:pPr indent="0" marL="0">
              <a:buNone/>
            </a:pPr>
            <a:r>
              <a:rPr lang="id-ID" altLang="en-US" sz="2400" i="1" dirty="0">
                <a:solidFill>
                  <a:srgbClr val="1F2328"/>
                </a:solidFill>
              </a:rPr>
              <a:t>Method</a:t>
            </a:r>
            <a:r>
              <a:rPr lang="id-ID" altLang="en-US" sz="2400" dirty="0">
                <a:solidFill>
                  <a:srgbClr val="1F2328"/>
                </a:solidFill>
              </a:rPr>
              <a:t> ditulis sekali di kelas, tetapi dijalankan oleh banyak objek yang berbeda.</a:t>
            </a:r>
            <a:endParaRPr lang="id-ID" sz="2400" dirty="0"/>
          </a:p>
        </p:txBody>
      </p:sp>
      <p:sp>
        <p:nvSpPr>
          <p:cNvPr id="9" name="Shape 6"/>
          <p:cNvSpPr/>
          <p:nvPr/>
        </p:nvSpPr>
        <p:spPr>
          <a:xfrm>
            <a:off x="603504" y="3216585"/>
            <a:ext cx="137160" cy="137160"/>
          </a:xfrm>
          <a:prstGeom prst="roundRect">
            <a:avLst>
              <a:gd name="adj" fmla="val 166667"/>
            </a:avLst>
          </a:prstGeom>
          <a:solidFill>
            <a:srgbClr val="0969DA"/>
          </a:solidFill>
          <a:ln/>
        </p:spPr>
      </p:sp>
      <p:sp>
        <p:nvSpPr>
          <p:cNvPr id="10" name="Text 7"/>
          <p:cNvSpPr txBox="1"/>
          <p:nvPr/>
        </p:nvSpPr>
        <p:spPr>
          <a:xfrm>
            <a:off x="932688" y="3099237"/>
            <a:ext cx="10710367" cy="417576"/>
          </a:xfrm>
          <a:prstGeom prst="rect">
            <a:avLst/>
          </a:prstGeom>
          <a:noFill/>
          <a:ln/>
        </p:spPr>
        <p:txBody>
          <a:bodyPr wrap="square" lIns="0" tIns="0" rIns="0" bIns="0" rtlCol="0" anchor="t"/>
          <a:lstStyle/>
          <a:p>
            <a:pPr indent="0" marL="0">
              <a:buNone/>
            </a:pPr>
            <a:r>
              <a:rPr lang="id-ID" altLang="en-US" sz="2400" dirty="0">
                <a:solidFill>
                  <a:srgbClr val="1F2328"/>
                </a:solidFill>
                <a:latin typeface="Consolas" pitchFamily="34" charset="0"/>
                <a:ea typeface="Consolas" pitchFamily="34" charset="-122"/>
                <a:cs typeface="Consolas" pitchFamily="34" charset="-120"/>
              </a:rPr>
              <a:t>self</a:t>
            </a:r>
            <a:r>
              <a:rPr lang="id-ID" altLang="en-US" sz="2400" dirty="0">
                <a:solidFill>
                  <a:srgbClr val="1F2328"/>
                </a:solidFill>
              </a:rPr>
              <a:t> (Python) dan </a:t>
            </a:r>
            <a:r>
              <a:rPr lang="id-ID" altLang="en-US" sz="2400" dirty="0">
                <a:solidFill>
                  <a:srgbClr val="1F2328"/>
                </a:solidFill>
                <a:latin typeface="Consolas" pitchFamily="34" charset="0"/>
                <a:ea typeface="Consolas" pitchFamily="34" charset="-122"/>
                <a:cs typeface="Consolas" pitchFamily="34" charset="-120"/>
              </a:rPr>
              <a:t>this</a:t>
            </a:r>
            <a:r>
              <a:rPr lang="id-ID" altLang="en-US" sz="2400" dirty="0">
                <a:solidFill>
                  <a:srgbClr val="1F2328"/>
                </a:solidFill>
              </a:rPr>
              <a:t> (Java) berarti </a:t>
            </a:r>
            <a:r>
              <a:rPr lang="id-ID" altLang="en-US" sz="2400" b="1" dirty="0">
                <a:solidFill>
                  <a:srgbClr val="1F2328"/>
                </a:solidFill>
              </a:rPr>
              <a:t>objek yang sedang menjalankan </a:t>
            </a:r>
            <a:r>
              <a:rPr lang="id-ID" altLang="en-US" sz="2400" b="1" i="1" dirty="0">
                <a:solidFill>
                  <a:srgbClr val="1F2328"/>
                </a:solidFill>
              </a:rPr>
              <a:t>method</a:t>
            </a:r>
            <a:r>
              <a:rPr lang="id-ID" altLang="en-US" sz="2400" b="1" dirty="0">
                <a:solidFill>
                  <a:srgbClr val="1F2328"/>
                </a:solidFill>
              </a:rPr>
              <a:t> ini</a:t>
            </a:r>
            <a:r>
              <a:rPr lang="id-ID" altLang="en-US" sz="2400" dirty="0">
                <a:solidFill>
                  <a:srgbClr val="1F2328"/>
                </a:solidFill>
              </a:rPr>
              <a:t>.</a:t>
            </a:r>
            <a:endParaRPr lang="id-ID" sz="2400" dirty="0"/>
          </a:p>
        </p:txBody>
      </p:sp>
      <p:sp>
        <p:nvSpPr>
          <p:cNvPr id="11" name="Shape 8"/>
          <p:cNvSpPr/>
          <p:nvPr/>
        </p:nvSpPr>
        <p:spPr>
          <a:xfrm>
            <a:off x="603504" y="3862761"/>
            <a:ext cx="137160" cy="137160"/>
          </a:xfrm>
          <a:prstGeom prst="roundRect">
            <a:avLst>
              <a:gd name="adj" fmla="val 166667"/>
            </a:avLst>
          </a:prstGeom>
          <a:solidFill>
            <a:srgbClr val="0969DA"/>
          </a:solidFill>
          <a:ln/>
        </p:spPr>
      </p:sp>
      <p:sp>
        <p:nvSpPr>
          <p:cNvPr id="12" name="Text 9"/>
          <p:cNvSpPr txBox="1"/>
          <p:nvPr/>
        </p:nvSpPr>
        <p:spPr>
          <a:xfrm>
            <a:off x="932688" y="3745413"/>
            <a:ext cx="10710367" cy="789432"/>
          </a:xfrm>
          <a:prstGeom prst="rect">
            <a:avLst/>
          </a:prstGeom>
          <a:noFill/>
          <a:ln/>
        </p:spPr>
        <p:txBody>
          <a:bodyPr wrap="square" lIns="0" tIns="0" rIns="0" bIns="0" rtlCol="0" anchor="t"/>
          <a:lstStyle/>
          <a:p>
            <a:pPr indent="0" marL="0">
              <a:buNone/>
            </a:pPr>
            <a:r>
              <a:rPr lang="id-ID" altLang="en-US" sz="2400" dirty="0">
                <a:solidFill>
                  <a:srgbClr val="1F2328"/>
                </a:solidFill>
                <a:latin typeface="Consolas" pitchFamily="34" charset="0"/>
                <a:ea typeface="Consolas" pitchFamily="34" charset="-122"/>
                <a:cs typeface="Consolas" pitchFamily="34" charset="-120"/>
              </a:rPr>
              <a:t>self.nama = nama</a:t>
            </a:r>
            <a:r>
              <a:rPr lang="id-ID" altLang="en-US" sz="2400" dirty="0">
                <a:solidFill>
                  <a:srgbClr val="1F2328"/>
                </a:solidFill>
              </a:rPr>
              <a:t> artinya: atribut </a:t>
            </a:r>
            <a:r>
              <a:rPr lang="id-ID" altLang="en-US" sz="2400" dirty="0">
                <a:solidFill>
                  <a:srgbClr val="1F2328"/>
                </a:solidFill>
                <a:latin typeface="Consolas" pitchFamily="34" charset="0"/>
                <a:ea typeface="Consolas" pitchFamily="34" charset="-122"/>
                <a:cs typeface="Consolas" pitchFamily="34" charset="-120"/>
              </a:rPr>
              <a:t>nama</a:t>
            </a:r>
            <a:r>
              <a:rPr lang="id-ID" altLang="en-US" sz="2400" dirty="0">
                <a:solidFill>
                  <a:srgbClr val="1F2328"/>
                </a:solidFill>
              </a:rPr>
              <a:t> milik objek ini diisi nilai parameter </a:t>
            </a:r>
            <a:r>
              <a:rPr lang="id-ID" altLang="en-US" sz="2400" dirty="0">
                <a:solidFill>
                  <a:srgbClr val="1F2328"/>
                </a:solidFill>
                <a:latin typeface="Consolas" pitchFamily="34" charset="0"/>
                <a:ea typeface="Consolas" pitchFamily="34" charset="-122"/>
                <a:cs typeface="Consolas" pitchFamily="34" charset="-120"/>
              </a:rPr>
              <a:t>nama</a:t>
            </a:r>
            <a:r>
              <a:rPr lang="id-ID" altLang="en-US" sz="2400" dirty="0">
                <a:solidFill>
                  <a:srgbClr val="1F2328"/>
                </a:solidFill>
              </a:rPr>
              <a:t>.</a:t>
            </a:r>
            <a:endParaRPr lang="id-ID" sz="2400" dirty="0"/>
          </a:p>
        </p:txBody>
      </p:sp>
      <p:sp>
        <p:nvSpPr>
          <p:cNvPr id="13" name="Shape 10"/>
          <p:cNvSpPr/>
          <p:nvPr/>
        </p:nvSpPr>
        <p:spPr>
          <a:xfrm>
            <a:off x="548640" y="4900605"/>
            <a:ext cx="11094415" cy="1274572"/>
          </a:xfrm>
          <a:prstGeom prst="roundRect">
            <a:avLst>
              <a:gd name="adj" fmla="val 6176"/>
            </a:avLst>
          </a:prstGeom>
          <a:solidFill>
            <a:srgbClr val="F6F8FA"/>
          </a:solidFill>
          <a:ln w="9525">
            <a:solidFill>
              <a:srgbClr val="D0D7DE"/>
            </a:solidFill>
            <a:prstDash val="solid"/>
          </a:ln>
        </p:spPr>
      </p:sp>
      <p:sp>
        <p:nvSpPr>
          <p:cNvPr id="14" name="Shape 11"/>
          <p:cNvSpPr/>
          <p:nvPr/>
        </p:nvSpPr>
        <p:spPr>
          <a:xfrm>
            <a:off x="777240" y="5101773"/>
            <a:ext cx="457200" cy="457200"/>
          </a:xfrm>
          <a:prstGeom prst="ellipse">
            <a:avLst/>
          </a:prstGeom>
          <a:solidFill>
            <a:srgbClr val="57606A"/>
          </a:solidFill>
          <a:ln/>
        </p:spPr>
      </p:sp>
      <p:pic>
        <p:nvPicPr>
          <p:cNvPr id="15" name="Image 1" descr="preencoded.png">    </p:cNvPr>
          <p:cNvPicPr>
            <a:picLocks noChangeAspect="1"/>
          </p:cNvPicPr>
          <p:nvPr/>
        </p:nvPicPr>
        <p:blipFill>
          <a:blip r:embed="rId2"/>
          <a:stretch>
            <a:fillRect/>
          </a:stretch>
        </p:blipFill>
        <p:spPr>
          <a:xfrm>
            <a:off x="877824" y="5202357"/>
            <a:ext cx="256032" cy="256032"/>
          </a:xfrm>
          <a:prstGeom prst="rect">
            <a:avLst/>
          </a:prstGeom>
        </p:spPr>
      </p:pic>
      <p:sp>
        <p:nvSpPr>
          <p:cNvPr id="16" name="Text 12"/>
          <p:cNvSpPr txBox="1"/>
          <p:nvPr/>
        </p:nvSpPr>
        <p:spPr>
          <a:xfrm>
            <a:off x="1417320" y="5046909"/>
            <a:ext cx="2743200" cy="292608"/>
          </a:xfrm>
          <a:prstGeom prst="rect">
            <a:avLst/>
          </a:prstGeom>
          <a:noFill/>
          <a:ln/>
        </p:spPr>
        <p:txBody>
          <a:bodyPr wrap="square" lIns="0" tIns="0" rIns="0" bIns="0" rtlCol="0" anchor="t"/>
          <a:lstStyle/>
          <a:p>
            <a:pPr indent="0" marL="0">
              <a:buNone/>
            </a:pPr>
            <a:r>
              <a:rPr lang="id-ID" altLang="en-US" sz="1500" b="1" dirty="0">
                <a:solidFill>
                  <a:srgbClr val="57606A"/>
                </a:solidFill>
              </a:rPr>
              <a:t>Catatan</a:t>
            </a:r>
            <a:endParaRPr lang="id-ID" sz="1500" dirty="0"/>
          </a:p>
        </p:txBody>
      </p:sp>
      <p:sp>
        <p:nvSpPr>
          <p:cNvPr id="17" name="Text 13"/>
          <p:cNvSpPr txBox="1"/>
          <p:nvPr/>
        </p:nvSpPr>
        <p:spPr>
          <a:xfrm>
            <a:off x="1417320" y="5357805"/>
            <a:ext cx="9951415" cy="725932"/>
          </a:xfrm>
          <a:prstGeom prst="rect">
            <a:avLst/>
          </a:prstGeom>
          <a:noFill/>
          <a:ln/>
        </p:spPr>
        <p:txBody>
          <a:bodyPr wrap="square" lIns="0" tIns="0" rIns="0" bIns="0" rtlCol="0" anchor="t"/>
          <a:lstStyle/>
          <a:p>
            <a:pPr indent="0" marL="0">
              <a:buNone/>
            </a:pPr>
            <a:r>
              <a:rPr lang="id-ID" altLang="en-US" sz="1900" dirty="0">
                <a:solidFill>
                  <a:srgbClr val="1F2328"/>
                </a:solidFill>
              </a:rPr>
              <a:t>Di Python, </a:t>
            </a:r>
            <a:r>
              <a:rPr lang="id-ID" altLang="en-US" sz="1900" dirty="0">
                <a:solidFill>
                  <a:srgbClr val="1F2328"/>
                </a:solidFill>
                <a:latin typeface="Consolas" pitchFamily="34" charset="0"/>
                <a:ea typeface="Consolas" pitchFamily="34" charset="-122"/>
                <a:cs typeface="Consolas" pitchFamily="34" charset="-120"/>
              </a:rPr>
              <a:t>self</a:t>
            </a:r>
            <a:r>
              <a:rPr lang="id-ID" altLang="en-US" sz="1900" dirty="0">
                <a:solidFill>
                  <a:srgbClr val="1F2328"/>
                </a:solidFill>
              </a:rPr>
              <a:t> </a:t>
            </a:r>
            <a:r>
              <a:rPr lang="id-ID" altLang="en-US" sz="1900" b="1" dirty="0">
                <a:solidFill>
                  <a:srgbClr val="1F2328"/>
                </a:solidFill>
              </a:rPr>
              <a:t>wajib</a:t>
            </a:r>
            <a:r>
              <a:rPr lang="id-ID" altLang="en-US" sz="1900" dirty="0">
                <a:solidFill>
                  <a:srgbClr val="1F2328"/>
                </a:solidFill>
              </a:rPr>
              <a:t> ditulis sebagai parameter pertama. Di Java, </a:t>
            </a:r>
            <a:r>
              <a:rPr lang="id-ID" altLang="en-US" sz="1900" dirty="0">
                <a:solidFill>
                  <a:srgbClr val="1F2328"/>
                </a:solidFill>
                <a:latin typeface="Consolas" pitchFamily="34" charset="0"/>
                <a:ea typeface="Consolas" pitchFamily="34" charset="-122"/>
                <a:cs typeface="Consolas" pitchFamily="34" charset="-120"/>
              </a:rPr>
              <a:t>this</a:t>
            </a:r>
            <a:r>
              <a:rPr lang="id-ID" altLang="en-US" sz="1900" dirty="0">
                <a:solidFill>
                  <a:srgbClr val="1F2328"/>
                </a:solidFill>
              </a:rPr>
              <a:t> tersedia otomatis dan boleh tidak ditulis.</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Mengirim Pesan ke Objek: Notasi Titik</a:t>
            </a:r>
            <a:endParaRPr lang="id-ID"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294443"/>
          <a:ext cx="11094415" cy="914400"/>
        </p:xfrm>
        <a:graphic>
          <a:graphicData uri="http://schemas.openxmlformats.org/drawingml/2006/table">
            <a:tbl>
              <a:tblPr/>
              <a:tblGrid>
                <a:gridCol w="4982092"/>
                <a:gridCol w="6112323"/>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Notasi titik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Artinya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523748">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kopi.tampilkan_info()</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“Hai kopi, tampilkan informasimu!”</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kopi.hitung_total(2)</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“Hai kopi, berapa total untuk 2 porsi?”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3748">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kopi.harga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“Berapa harga milik kopi?”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4636323"/>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4708743"/>
            <a:ext cx="184343" cy="184343"/>
          </a:xfrm>
          <a:prstGeom prst="rect">
            <a:avLst/>
          </a:prstGeom>
        </p:spPr>
      </p:pic>
      <p:sp>
        <p:nvSpPr>
          <p:cNvPr id="8" name="Text 3"/>
          <p:cNvSpPr txBox="1"/>
          <p:nvPr/>
        </p:nvSpPr>
        <p:spPr>
          <a:xfrm>
            <a:off x="1005840" y="4618035"/>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Bentuknya sama di Python dan Java. Baca titik sebagai “milik”: </a:t>
            </a:r>
            <a:r>
              <a:rPr lang="id-ID" altLang="en-US" sz="1800" dirty="0">
                <a:solidFill>
                  <a:srgbClr val="57606A"/>
                </a:solidFill>
                <a:latin typeface="Consolas" pitchFamily="34" charset="0"/>
                <a:ea typeface="Consolas" pitchFamily="34" charset="-122"/>
                <a:cs typeface="Consolas" pitchFamily="34" charset="-120"/>
              </a:rPr>
              <a:t>kopi.harga</a:t>
            </a:r>
            <a:r>
              <a:rPr lang="id-ID" altLang="en-US" sz="1800" dirty="0">
                <a:solidFill>
                  <a:srgbClr val="57606A"/>
                </a:solidFill>
              </a:rPr>
              <a:t> berarti harga milik kopi.</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1216152" y="2633472"/>
            <a:ext cx="722376" cy="722376"/>
          </a:xfrm>
          <a:prstGeom prst="rect">
            <a:avLst/>
          </a:prstGeom>
        </p:spPr>
      </p:pic>
      <p:sp>
        <p:nvSpPr>
          <p:cNvPr id="4" name="Text 1"/>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FB8F44"/>
                </a:solidFill>
              </a:rPr>
              <a:t>STUDI KASUS</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Studi Kasus KedaiKita</a:t>
            </a:r>
            <a:endParaRPr lang="id-ID" sz="4200" dirty="0"/>
          </a:p>
        </p:txBody>
      </p:sp>
      <p:sp>
        <p:nvSpPr>
          <p:cNvPr id="6" name="Text 3"/>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Kelas </a:t>
            </a:r>
            <a:r>
              <a:rPr lang="id-ID" altLang="en-US" sz="2200" dirty="0">
                <a:solidFill>
                  <a:srgbClr val="DDF4FF"/>
                </a:solidFill>
                <a:latin typeface="Consolas" pitchFamily="34" charset="0"/>
                <a:ea typeface="Consolas" pitchFamily="34" charset="-122"/>
                <a:cs typeface="Consolas" pitchFamily="34" charset="-120"/>
              </a:rPr>
              <a:t>Menu</a:t>
            </a:r>
            <a:r>
              <a:rPr lang="id-ID" altLang="en-US" sz="2200" dirty="0">
                <a:solidFill>
                  <a:srgbClr val="C9D7E8"/>
                </a:solidFill>
              </a:rPr>
              <a:t> pertama untuk kafe kecil di Jl. Pramuka, Samarinda.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Rancangan Kelas </a:t>
            </a:r>
            <a:r>
              <a:rPr lang="id-ID" altLang="en-US" sz="3200" b="1" dirty="0">
                <a:solidFill>
                  <a:srgbClr val="0A3069"/>
                </a:solidFill>
                <a:latin typeface="Consolas" pitchFamily="34" charset="0"/>
                <a:ea typeface="Consolas" pitchFamily="34" charset="-122"/>
                <a:cs typeface="Consolas" pitchFamily="34" charset="-120"/>
              </a:rPr>
              <a:t>Menu</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pic>
        <p:nvPicPr>
          <p:cNvPr id="7" name="Image 1" descr="Kotak tiga bagian: nama kelas, atribut, dan method.">    </p:cNvPr>
          <p:cNvPicPr>
            <a:picLocks noChangeAspect="1"/>
          </p:cNvPicPr>
          <p:nvPr/>
        </p:nvPicPr>
        <p:blipFill>
          <a:blip r:embed="rId2"/>
          <a:stretch>
            <a:fillRect/>
          </a:stretch>
        </p:blipFill>
        <p:spPr>
          <a:xfrm>
            <a:off x="4312768" y="1758061"/>
            <a:ext cx="3566160" cy="3627120"/>
          </a:xfrm>
          <a:prstGeom prst="rect">
            <a:avLst/>
          </a:prstGeom>
        </p:spPr>
      </p:pic>
      <p:sp>
        <p:nvSpPr>
          <p:cNvPr id="8" name="Text 4"/>
          <p:cNvSpPr txBox="1"/>
          <p:nvPr/>
        </p:nvSpPr>
        <p:spPr>
          <a:xfrm>
            <a:off x="1005840" y="5494909"/>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Kotak tiga bagian: nama kelas, atribut, dan </a:t>
            </a:r>
            <a:r>
              <a:rPr lang="id-ID" altLang="en-US" sz="1700" i="1" dirty="0">
                <a:solidFill>
                  <a:srgbClr val="57606A"/>
                </a:solidFill>
              </a:rPr>
              <a:t>method</a:t>
            </a:r>
            <a:r>
              <a:rPr lang="id-ID" altLang="en-US" sz="1700" dirty="0">
                <a:solidFill>
                  <a:srgbClr val="57606A"/>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Kelas </a:t>
            </a:r>
            <a:r>
              <a:rPr lang="id-ID" altLang="en-US" sz="3200" b="1" dirty="0">
                <a:solidFill>
                  <a:srgbClr val="0A3069"/>
                </a:solidFill>
                <a:latin typeface="Consolas" pitchFamily="34" charset="0"/>
                <a:ea typeface="Consolas" pitchFamily="34" charset="-122"/>
                <a:cs typeface="Consolas" pitchFamily="34" charset="-120"/>
              </a:rPr>
              <a:t>Menu</a:t>
            </a:r>
            <a:r>
              <a:rPr lang="id-ID" altLang="en-US" sz="3200" b="1" dirty="0">
                <a:solidFill>
                  <a:srgbClr val="0A3069"/>
                </a:solidFill>
              </a:rPr>
              <a:t> di Python dan Java</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Shape 4"/>
          <p:cNvSpPr/>
          <p:nvPr/>
        </p:nvSpPr>
        <p:spPr>
          <a:xfrm>
            <a:off x="548640" y="2040225"/>
            <a:ext cx="1051560" cy="329184"/>
          </a:xfrm>
          <a:prstGeom prst="roundRect">
            <a:avLst>
              <a:gd name="adj" fmla="val 138889"/>
            </a:avLst>
          </a:prstGeom>
          <a:solidFill>
            <a:srgbClr val="3572A5"/>
          </a:solidFill>
          <a:ln/>
        </p:spPr>
      </p:sp>
      <p:sp>
        <p:nvSpPr>
          <p:cNvPr id="8" name="Text 5"/>
          <p:cNvSpPr txBox="1"/>
          <p:nvPr/>
        </p:nvSpPr>
        <p:spPr>
          <a:xfrm>
            <a:off x="548640" y="2040225"/>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9" name="Text 6"/>
          <p:cNvSpPr txBox="1"/>
          <p:nvPr/>
        </p:nvSpPr>
        <p:spPr>
          <a:xfrm>
            <a:off x="1737360" y="2040225"/>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python/studi-kasus/kedaikita.py</a:t>
            </a:r>
            <a:endParaRPr lang="id-ID" sz="1100" dirty="0"/>
          </a:p>
        </p:txBody>
      </p:sp>
      <p:sp>
        <p:nvSpPr>
          <p:cNvPr id="10" name="Shape 7"/>
          <p:cNvSpPr/>
          <p:nvPr/>
        </p:nvSpPr>
        <p:spPr>
          <a:xfrm>
            <a:off x="548640" y="2460849"/>
            <a:ext cx="5432908" cy="2878582"/>
          </a:xfrm>
          <a:prstGeom prst="roundRect">
            <a:avLst>
              <a:gd name="adj" fmla="val 1009"/>
            </a:avLst>
          </a:prstGeom>
          <a:solidFill>
            <a:srgbClr val="F6F8FA"/>
          </a:solidFill>
          <a:ln w="9525">
            <a:solidFill>
              <a:srgbClr val="D0D7DE"/>
            </a:solidFill>
            <a:prstDash val="solid"/>
          </a:ln>
        </p:spPr>
      </p:sp>
      <p:sp>
        <p:nvSpPr>
          <p:cNvPr id="11" name="Text 8"/>
          <p:cNvSpPr txBox="1"/>
          <p:nvPr/>
        </p:nvSpPr>
        <p:spPr>
          <a:xfrm>
            <a:off x="658368" y="2552289"/>
            <a:ext cx="5213452" cy="2695702"/>
          </a:xfrm>
          <a:prstGeom prst="rect">
            <a:avLst/>
          </a:prstGeom>
          <a:noFill/>
          <a:ln/>
        </p:spPr>
        <p:txBody>
          <a:bodyPr wrap="square" lIns="0" tIns="0" rIns="0" bIns="0" rtlCol="0" anchor="t"/>
          <a:lstStyle/>
          <a:p>
            <a:pPr indent="0" marL="0">
              <a:buNone/>
            </a:pPr>
            <a:r>
              <a:rPr lang="en-US" altLang="en-US" sz="1250" dirty="0">
                <a:solidFill>
                  <a:srgbClr val="CF222E"/>
                </a:solidFill>
                <a:latin typeface="Consolas" pitchFamily="34" charset="0"/>
                <a:ea typeface="Consolas" pitchFamily="34" charset="-122"/>
                <a:cs typeface="Consolas" pitchFamily="34" charset="-120"/>
              </a:rPr>
              <a:t>class</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953800"/>
                </a:solidFill>
                <a:latin typeface="Consolas" pitchFamily="34" charset="0"/>
                <a:ea typeface="Consolas" pitchFamily="34" charset="-122"/>
                <a:cs typeface="Consolas" pitchFamily="34" charset="-120"/>
              </a:rPr>
              <a:t>Menu</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A3069"/>
                </a:solidFill>
                <a:latin typeface="Consolas" pitchFamily="34" charset="0"/>
                <a:ea typeface="Consolas" pitchFamily="34" charset="-122"/>
                <a:cs typeface="Consolas" pitchFamily="34" charset="-120"/>
              </a:rPr>
              <a:t>"""Cetak biru untuk setiap menu di KedaiKita."""</a:t>
            </a:r>
            <a:endParaRPr lang="en-US" sz="1250" dirty="0"/>
          </a:p>
          <a:p>
            <a:pPr indent="0" marL="0">
              <a:buNone/>
            </a:pPr>
            <a:r>
              <a:rPr lang="en-US" altLang="en-US" sz="1250" dirty="0">
                <a:solidFill>
                  <a:srgbClr val="000000"/>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def</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__init__</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 nama, harga):</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.nama = nama</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.harga = harga</a:t>
            </a:r>
            <a:endParaRPr lang="en-US" sz="1250" dirty="0"/>
          </a:p>
          <a:p>
            <a:pPr indent="0" marL="0">
              <a:buNone/>
            </a:pPr>
            <a:r>
              <a:rPr lang="en-US" altLang="en-US" sz="1250" dirty="0">
                <a:solidFill>
                  <a:srgbClr val="000000"/>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def</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tampilkan_info</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print</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A3069"/>
                </a:solidFill>
                <a:latin typeface="Consolas" pitchFamily="34" charset="0"/>
                <a:ea typeface="Consolas" pitchFamily="34" charset="-122"/>
                <a:cs typeface="Consolas" pitchFamily="34" charset="-120"/>
              </a:rPr>
              <a:t>f"{</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.nama</a:t>
            </a:r>
            <a:r>
              <a:rPr lang="en-US" altLang="en-US" sz="1250" dirty="0">
                <a:solidFill>
                  <a:srgbClr val="0A3069"/>
                </a:solidFill>
                <a:latin typeface="Consolas" pitchFamily="34" charset="0"/>
                <a:ea typeface="Consolas" pitchFamily="34" charset="-122"/>
                <a:cs typeface="Consolas" pitchFamily="34" charset="-120"/>
              </a:rPr>
              <a:t>} - Rp{</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.harga</a:t>
            </a:r>
            <a:r>
              <a:rPr lang="en-US" altLang="en-US" sz="1250" dirty="0">
                <a:solidFill>
                  <a:srgbClr val="0A3069"/>
                </a:solidFill>
                <a:latin typeface="Consolas" pitchFamily="34" charset="0"/>
                <a:ea typeface="Consolas" pitchFamily="34" charset="-122"/>
                <a:cs typeface="Consolas" pitchFamily="34" charset="-120"/>
              </a:rPr>
              <a:t>}"</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000000"/>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def</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hitung_total</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 jumlah):</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return</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.harga * jumlah</a:t>
            </a:r>
            <a:endParaRPr lang="en-US" sz="1250" dirty="0"/>
          </a:p>
        </p:txBody>
      </p:sp>
      <p:sp>
        <p:nvSpPr>
          <p:cNvPr id="12" name="Shape 9"/>
          <p:cNvSpPr/>
          <p:nvPr/>
        </p:nvSpPr>
        <p:spPr>
          <a:xfrm>
            <a:off x="6210148" y="2040225"/>
            <a:ext cx="1051560" cy="329184"/>
          </a:xfrm>
          <a:prstGeom prst="roundRect">
            <a:avLst>
              <a:gd name="adj" fmla="val 138889"/>
            </a:avLst>
          </a:prstGeom>
          <a:solidFill>
            <a:srgbClr val="B07219"/>
          </a:solidFill>
          <a:ln/>
        </p:spPr>
      </p:sp>
      <p:sp>
        <p:nvSpPr>
          <p:cNvPr id="13" name="Text 10"/>
          <p:cNvSpPr txBox="1"/>
          <p:nvPr/>
        </p:nvSpPr>
        <p:spPr>
          <a:xfrm>
            <a:off x="6210148" y="2040225"/>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4" name="Text 11"/>
          <p:cNvSpPr txBox="1"/>
          <p:nvPr/>
        </p:nvSpPr>
        <p:spPr>
          <a:xfrm>
            <a:off x="7398868" y="2040225"/>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java/studi-kasus/KedaiKita.java</a:t>
            </a:r>
            <a:endParaRPr lang="id-ID" sz="1100" dirty="0"/>
          </a:p>
        </p:txBody>
      </p:sp>
      <p:sp>
        <p:nvSpPr>
          <p:cNvPr id="15" name="Shape 12"/>
          <p:cNvSpPr/>
          <p:nvPr/>
        </p:nvSpPr>
        <p:spPr>
          <a:xfrm>
            <a:off x="6210148" y="2460849"/>
            <a:ext cx="5432908" cy="2878582"/>
          </a:xfrm>
          <a:prstGeom prst="roundRect">
            <a:avLst>
              <a:gd name="adj" fmla="val 1009"/>
            </a:avLst>
          </a:prstGeom>
          <a:solidFill>
            <a:srgbClr val="F6F8FA"/>
          </a:solidFill>
          <a:ln w="9525">
            <a:solidFill>
              <a:srgbClr val="D0D7DE"/>
            </a:solidFill>
            <a:prstDash val="solid"/>
          </a:ln>
        </p:spPr>
      </p:sp>
      <p:sp>
        <p:nvSpPr>
          <p:cNvPr id="16" name="Text 13"/>
          <p:cNvSpPr txBox="1"/>
          <p:nvPr/>
        </p:nvSpPr>
        <p:spPr>
          <a:xfrm>
            <a:off x="6319876" y="2552289"/>
            <a:ext cx="5213452" cy="2695702"/>
          </a:xfrm>
          <a:prstGeom prst="rect">
            <a:avLst/>
          </a:prstGeom>
          <a:noFill/>
          <a:ln/>
        </p:spPr>
        <p:txBody>
          <a:bodyPr wrap="square" lIns="0" tIns="0" rIns="0" bIns="0" rtlCol="0" anchor="t"/>
          <a:lstStyle/>
          <a:p>
            <a:pPr indent="0" marL="0">
              <a:buNone/>
            </a:pPr>
            <a:r>
              <a:rPr lang="en-US" altLang="en-US" sz="1250" dirty="0">
                <a:solidFill>
                  <a:srgbClr val="CF222E"/>
                </a:solidFill>
                <a:latin typeface="Consolas" pitchFamily="34" charset="0"/>
                <a:ea typeface="Consolas" pitchFamily="34" charset="-122"/>
                <a:cs typeface="Consolas" pitchFamily="34" charset="-120"/>
              </a:rPr>
              <a:t>class</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953800"/>
                </a:solidFill>
                <a:latin typeface="Consolas" pitchFamily="34" charset="0"/>
                <a:ea typeface="Consolas" pitchFamily="34" charset="-122"/>
                <a:cs typeface="Consolas" pitchFamily="34" charset="-120"/>
              </a:rPr>
              <a:t>Menu</a:t>
            </a: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String nama;</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 harga;</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Menu(String nama, </a:t>
            </a:r>
            <a:r>
              <a:rPr lang="en-US" altLang="en-US" sz="1250" dirty="0">
                <a:solidFill>
                  <a:srgbClr val="CF222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 harga)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this</a:t>
            </a:r>
            <a:r>
              <a:rPr lang="en-US" altLang="en-US" sz="1250" dirty="0">
                <a:solidFill>
                  <a:srgbClr val="1F2328"/>
                </a:solidFill>
                <a:latin typeface="Consolas" pitchFamily="34" charset="0"/>
                <a:ea typeface="Consolas" pitchFamily="34" charset="-122"/>
                <a:cs typeface="Consolas" pitchFamily="34" charset="-120"/>
              </a:rPr>
              <a:t>.nama = nama;</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this</a:t>
            </a:r>
            <a:r>
              <a:rPr lang="en-US" altLang="en-US" sz="1250" dirty="0">
                <a:solidFill>
                  <a:srgbClr val="1F2328"/>
                </a:solidFill>
                <a:latin typeface="Consolas" pitchFamily="34" charset="0"/>
                <a:ea typeface="Consolas" pitchFamily="34" charset="-122"/>
                <a:cs typeface="Consolas" pitchFamily="34" charset="-120"/>
              </a:rPr>
              <a:t>.harga = harga;</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void</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tampilkanInfo</a:t>
            </a: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System.out.println(nama + </a:t>
            </a:r>
            <a:r>
              <a:rPr lang="en-US" altLang="en-US" sz="1250" dirty="0">
                <a:solidFill>
                  <a:srgbClr val="0A3069"/>
                </a:solidFill>
                <a:latin typeface="Consolas" pitchFamily="34" charset="0"/>
                <a:ea typeface="Consolas" pitchFamily="34" charset="-122"/>
                <a:cs typeface="Consolas" pitchFamily="34" charset="-120"/>
              </a:rPr>
              <a:t>" - Rp"</a:t>
            </a:r>
            <a:r>
              <a:rPr lang="en-US" altLang="en-US" sz="1250" dirty="0">
                <a:solidFill>
                  <a:srgbClr val="1F2328"/>
                </a:solidFill>
                <a:latin typeface="Consolas" pitchFamily="34" charset="0"/>
                <a:ea typeface="Consolas" pitchFamily="34" charset="-122"/>
                <a:cs typeface="Consolas" pitchFamily="34" charset="-120"/>
              </a:rPr>
              <a:t> + harga);</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hitungTotal</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CF222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 jumlah)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return</a:t>
            </a:r>
            <a:r>
              <a:rPr lang="en-US" altLang="en-US" sz="1250" dirty="0">
                <a:solidFill>
                  <a:srgbClr val="1F2328"/>
                </a:solidFill>
                <a:latin typeface="Consolas" pitchFamily="34" charset="0"/>
                <a:ea typeface="Consolas" pitchFamily="34" charset="-122"/>
                <a:cs typeface="Consolas" pitchFamily="34" charset="-120"/>
              </a:rPr>
              <a:t> harga * jumlah;</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a:t>
            </a:r>
            <a:endParaRPr lang="en-US" sz="12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Bukti: Setiap Objek Mandiri</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2070461"/>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Harga es teh dinaikkan. Apakah objek kopi ikut berubah?</a:t>
            </a:r>
            <a:endParaRPr lang="id-ID" sz="1800" dirty="0"/>
          </a:p>
        </p:txBody>
      </p:sp>
      <p:sp>
        <p:nvSpPr>
          <p:cNvPr id="8" name="Shape 5"/>
          <p:cNvSpPr/>
          <p:nvPr/>
        </p:nvSpPr>
        <p:spPr>
          <a:xfrm>
            <a:off x="548640" y="2504801"/>
            <a:ext cx="1051560" cy="329184"/>
          </a:xfrm>
          <a:prstGeom prst="roundRect">
            <a:avLst>
              <a:gd name="adj" fmla="val 138889"/>
            </a:avLst>
          </a:prstGeom>
          <a:solidFill>
            <a:srgbClr val="3572A5"/>
          </a:solidFill>
          <a:ln/>
        </p:spPr>
      </p:sp>
      <p:sp>
        <p:nvSpPr>
          <p:cNvPr id="9" name="Text 6"/>
          <p:cNvSpPr txBox="1"/>
          <p:nvPr/>
        </p:nvSpPr>
        <p:spPr>
          <a:xfrm>
            <a:off x="548640" y="250480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504801"/>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python/studi-kasus/kedaikita.py</a:t>
            </a:r>
            <a:endParaRPr lang="id-ID" sz="1100" dirty="0"/>
          </a:p>
        </p:txBody>
      </p:sp>
      <p:sp>
        <p:nvSpPr>
          <p:cNvPr id="11" name="Shape 8"/>
          <p:cNvSpPr/>
          <p:nvPr/>
        </p:nvSpPr>
        <p:spPr>
          <a:xfrm>
            <a:off x="548640" y="2925425"/>
            <a:ext cx="5432908" cy="1095248"/>
          </a:xfrm>
          <a:prstGeom prst="roundRect">
            <a:avLst>
              <a:gd name="adj" fmla="val 6970"/>
            </a:avLst>
          </a:prstGeom>
          <a:solidFill>
            <a:srgbClr val="F6F8FA"/>
          </a:solidFill>
          <a:ln w="9525">
            <a:solidFill>
              <a:srgbClr val="D0D7DE"/>
            </a:solidFill>
            <a:prstDash val="solid"/>
          </a:ln>
        </p:spPr>
      </p:sp>
      <p:sp>
        <p:nvSpPr>
          <p:cNvPr id="12" name="Text 9"/>
          <p:cNvSpPr txBox="1"/>
          <p:nvPr/>
        </p:nvSpPr>
        <p:spPr>
          <a:xfrm>
            <a:off x="658368" y="3016865"/>
            <a:ext cx="5213452" cy="912368"/>
          </a:xfrm>
          <a:prstGeom prst="rect">
            <a:avLst/>
          </a:prstGeom>
          <a:noFill/>
          <a:ln/>
        </p:spPr>
        <p:txBody>
          <a:bodyPr wrap="square" lIns="0" tIns="0" rIns="0" bIns="0" rtlCol="0" anchor="t"/>
          <a:lstStyle/>
          <a:p>
            <a:pPr indent="0" marL="0">
              <a:buNone/>
            </a:pPr>
            <a:r>
              <a:rPr lang="en-US" altLang="en-US" sz="1400" dirty="0">
                <a:solidFill>
                  <a:srgbClr val="0550AE"/>
                </a:solidFill>
                <a:latin typeface="Consolas" pitchFamily="34" charset="0"/>
                <a:ea typeface="Consolas" pitchFamily="34" charset="-122"/>
                <a:cs typeface="Consolas" pitchFamily="34" charset="-120"/>
              </a:rPr>
              <a:t>print</a:t>
            </a:r>
            <a:r>
              <a:rPr lang="en-US" altLang="en-US" sz="1400" dirty="0">
                <a:solidFill>
                  <a:srgbClr val="1F2328"/>
                </a:solidFill>
                <a:latin typeface="Consolas" pitchFamily="34" charset="0"/>
                <a:ea typeface="Consolas" pitchFamily="34" charset="-122"/>
                <a:cs typeface="Consolas" pitchFamily="34" charset="-120"/>
              </a:rPr>
              <a:t>(</a:t>
            </a:r>
            <a:r>
              <a:rPr lang="en-US" altLang="en-US" sz="1400" dirty="0">
                <a:solidFill>
                  <a:srgbClr val="0A3069"/>
                </a:solidFill>
                <a:latin typeface="Consolas" pitchFamily="34" charset="0"/>
                <a:ea typeface="Consolas" pitchFamily="34" charset="-122"/>
                <a:cs typeface="Consolas" pitchFamily="34" charset="-120"/>
              </a:rPr>
              <a:t>"=== HARGA ES TEH NAIK ==="</a:t>
            </a:r>
            <a:r>
              <a:rPr lang="en-US" altLang="en-US" sz="1400" dirty="0">
                <a:solidFill>
                  <a:srgbClr val="1F2328"/>
                </a:solidFill>
                <a:latin typeface="Consolas" pitchFamily="34" charset="0"/>
                <a:ea typeface="Consolas" pitchFamily="34" charset="-122"/>
                <a:cs typeface="Consolas" pitchFamily="34" charset="-120"/>
              </a:rPr>
              <a:t>)</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es_teh.harga = </a:t>
            </a:r>
            <a:r>
              <a:rPr lang="en-US" altLang="en-US" sz="1400" dirty="0">
                <a:solidFill>
                  <a:srgbClr val="0550AE"/>
                </a:solidFill>
                <a:latin typeface="Consolas" pitchFamily="34" charset="0"/>
                <a:ea typeface="Consolas" pitchFamily="34" charset="-122"/>
                <a:cs typeface="Consolas" pitchFamily="34" charset="-120"/>
              </a:rPr>
              <a:t>10000</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es_teh.tampilkan_info()</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kopi.tampilkan_info()</a:t>
            </a:r>
            <a:endParaRPr lang="en-US" sz="1400" dirty="0"/>
          </a:p>
        </p:txBody>
      </p:sp>
      <p:sp>
        <p:nvSpPr>
          <p:cNvPr id="13" name="Shape 10"/>
          <p:cNvSpPr/>
          <p:nvPr/>
        </p:nvSpPr>
        <p:spPr>
          <a:xfrm>
            <a:off x="6210148" y="2504801"/>
            <a:ext cx="1051560" cy="329184"/>
          </a:xfrm>
          <a:prstGeom prst="roundRect">
            <a:avLst>
              <a:gd name="adj" fmla="val 138889"/>
            </a:avLst>
          </a:prstGeom>
          <a:solidFill>
            <a:srgbClr val="B07219"/>
          </a:solidFill>
          <a:ln/>
        </p:spPr>
      </p:sp>
      <p:sp>
        <p:nvSpPr>
          <p:cNvPr id="14" name="Text 11"/>
          <p:cNvSpPr txBox="1"/>
          <p:nvPr/>
        </p:nvSpPr>
        <p:spPr>
          <a:xfrm>
            <a:off x="6210148" y="250480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504801"/>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java/studi-kasus/KedaiKita.java</a:t>
            </a:r>
            <a:endParaRPr lang="id-ID" sz="1100" dirty="0"/>
          </a:p>
        </p:txBody>
      </p:sp>
      <p:sp>
        <p:nvSpPr>
          <p:cNvPr id="16" name="Shape 13"/>
          <p:cNvSpPr/>
          <p:nvPr/>
        </p:nvSpPr>
        <p:spPr>
          <a:xfrm>
            <a:off x="6210148" y="2925425"/>
            <a:ext cx="5432908" cy="1095248"/>
          </a:xfrm>
          <a:prstGeom prst="roundRect">
            <a:avLst>
              <a:gd name="adj" fmla="val 6970"/>
            </a:avLst>
          </a:prstGeom>
          <a:solidFill>
            <a:srgbClr val="F6F8FA"/>
          </a:solidFill>
          <a:ln w="9525">
            <a:solidFill>
              <a:srgbClr val="D0D7DE"/>
            </a:solidFill>
            <a:prstDash val="solid"/>
          </a:ln>
        </p:spPr>
      </p:sp>
      <p:sp>
        <p:nvSpPr>
          <p:cNvPr id="17" name="Text 14"/>
          <p:cNvSpPr txBox="1"/>
          <p:nvPr/>
        </p:nvSpPr>
        <p:spPr>
          <a:xfrm>
            <a:off x="6319876" y="3016865"/>
            <a:ext cx="5213452" cy="912368"/>
          </a:xfrm>
          <a:prstGeom prst="rect">
            <a:avLst/>
          </a:prstGeom>
          <a:noFill/>
          <a:ln/>
        </p:spPr>
        <p:txBody>
          <a:bodyPr wrap="square" lIns="0" tIns="0" rIns="0" bIns="0" rtlCol="0" anchor="t"/>
          <a:lstStyle/>
          <a:p>
            <a:pPr indent="0" marL="0">
              <a:buNone/>
            </a:pPr>
            <a:r>
              <a:rPr lang="en-US" altLang="en-US" sz="1400" dirty="0">
                <a:solidFill>
                  <a:srgbClr val="1F2328"/>
                </a:solidFill>
                <a:latin typeface="Consolas" pitchFamily="34" charset="0"/>
                <a:ea typeface="Consolas" pitchFamily="34" charset="-122"/>
                <a:cs typeface="Consolas" pitchFamily="34" charset="-120"/>
              </a:rPr>
              <a:t>System.out.println(</a:t>
            </a:r>
            <a:r>
              <a:rPr lang="en-US" altLang="en-US" sz="1400" dirty="0">
                <a:solidFill>
                  <a:srgbClr val="0A3069"/>
                </a:solidFill>
                <a:latin typeface="Consolas" pitchFamily="34" charset="0"/>
                <a:ea typeface="Consolas" pitchFamily="34" charset="-122"/>
                <a:cs typeface="Consolas" pitchFamily="34" charset="-120"/>
              </a:rPr>
              <a:t>"=== HARGA ES TEH NAIK ==="</a:t>
            </a:r>
            <a:r>
              <a:rPr lang="en-US" altLang="en-US" sz="1400" dirty="0">
                <a:solidFill>
                  <a:srgbClr val="1F2328"/>
                </a:solidFill>
                <a:latin typeface="Consolas" pitchFamily="34" charset="0"/>
                <a:ea typeface="Consolas" pitchFamily="34" charset="-122"/>
                <a:cs typeface="Consolas" pitchFamily="34" charset="-120"/>
              </a:rPr>
              <a:t>);</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esTeh.harga = </a:t>
            </a:r>
            <a:r>
              <a:rPr lang="en-US" altLang="en-US" sz="1400" dirty="0">
                <a:solidFill>
                  <a:srgbClr val="0550AE"/>
                </a:solidFill>
                <a:latin typeface="Consolas" pitchFamily="34" charset="0"/>
                <a:ea typeface="Consolas" pitchFamily="34" charset="-122"/>
                <a:cs typeface="Consolas" pitchFamily="34" charset="-120"/>
              </a:rPr>
              <a:t>10000</a:t>
            </a:r>
            <a:r>
              <a:rPr lang="en-US" altLang="en-US" sz="1400" dirty="0">
                <a:solidFill>
                  <a:srgbClr val="1F2328"/>
                </a:solidFill>
                <a:latin typeface="Consolas" pitchFamily="34" charset="0"/>
                <a:ea typeface="Consolas" pitchFamily="34" charset="-122"/>
                <a:cs typeface="Consolas" pitchFamily="34" charset="-120"/>
              </a:rPr>
              <a:t>;</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esTeh.tampilkanInfo();</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kopi.tampilkanInfo();</a:t>
            </a:r>
            <a:endParaRPr lang="en-US" sz="1400" dirty="0"/>
          </a:p>
        </p:txBody>
      </p:sp>
      <p:sp>
        <p:nvSpPr>
          <p:cNvPr id="18" name="Shape 15"/>
          <p:cNvSpPr/>
          <p:nvPr/>
        </p:nvSpPr>
        <p:spPr>
          <a:xfrm>
            <a:off x="548640" y="4249273"/>
            <a:ext cx="11094415" cy="985266"/>
          </a:xfrm>
          <a:prstGeom prst="roundRect">
            <a:avLst>
              <a:gd name="adj" fmla="val 8613"/>
            </a:avLst>
          </a:prstGeom>
          <a:solidFill>
            <a:srgbClr val="0D1117"/>
          </a:solidFill>
          <a:ln/>
        </p:spPr>
      </p:sp>
      <p:sp>
        <p:nvSpPr>
          <p:cNvPr id="19" name="Shape 16"/>
          <p:cNvSpPr/>
          <p:nvPr/>
        </p:nvSpPr>
        <p:spPr>
          <a:xfrm>
            <a:off x="713232" y="4377289"/>
            <a:ext cx="960120" cy="292608"/>
          </a:xfrm>
          <a:prstGeom prst="roundRect">
            <a:avLst>
              <a:gd name="adj" fmla="val 156250"/>
            </a:avLst>
          </a:prstGeom>
          <a:solidFill>
            <a:srgbClr val="30363D"/>
          </a:solidFill>
          <a:ln/>
        </p:spPr>
      </p:sp>
      <p:sp>
        <p:nvSpPr>
          <p:cNvPr id="20" name="Text 17"/>
          <p:cNvSpPr txBox="1"/>
          <p:nvPr/>
        </p:nvSpPr>
        <p:spPr>
          <a:xfrm>
            <a:off x="713232" y="4377289"/>
            <a:ext cx="960120" cy="292608"/>
          </a:xfrm>
          <a:prstGeom prst="rect">
            <a:avLst/>
          </a:prstGeom>
          <a:noFill/>
          <a:ln/>
        </p:spPr>
        <p:txBody>
          <a:bodyPr wrap="square" lIns="0" tIns="0" rIns="0" bIns="0" rtlCol="0" anchor="ctr"/>
          <a:lstStyle/>
          <a:p>
            <a:pPr algn="ctr" indent="0" marL="0">
              <a:buNone/>
            </a:pPr>
            <a:r>
              <a:rPr lang="id-ID" altLang="en-US" sz="1200" b="1" i="1" dirty="0">
                <a:solidFill>
                  <a:srgbClr val="E6EDF3"/>
                </a:solidFill>
              </a:rPr>
              <a:t>Output</a:t>
            </a:r>
            <a:endParaRPr lang="id-ID" sz="1200" dirty="0"/>
          </a:p>
        </p:txBody>
      </p:sp>
      <p:sp>
        <p:nvSpPr>
          <p:cNvPr id="21" name="Text 18"/>
          <p:cNvSpPr txBox="1"/>
          <p:nvPr/>
        </p:nvSpPr>
        <p:spPr>
          <a:xfrm>
            <a:off x="1828800" y="4377289"/>
            <a:ext cx="9631375" cy="765810"/>
          </a:xfrm>
          <a:prstGeom prst="rect">
            <a:avLst/>
          </a:prstGeom>
          <a:noFill/>
          <a:ln/>
        </p:spPr>
        <p:txBody>
          <a:bodyPr wrap="square" lIns="0" tIns="0" rIns="0" bIns="0" rtlCol="0" anchor="t"/>
          <a:lstStyle/>
          <a:p>
            <a:pPr indent="0" marL="0">
              <a:buNone/>
            </a:pPr>
            <a:r>
              <a:rPr lang="en-US" altLang="en-US" sz="1500" dirty="0">
                <a:solidFill>
                  <a:srgbClr val="E6EDF3"/>
                </a:solidFill>
                <a:latin typeface="Consolas" pitchFamily="34" charset="0"/>
                <a:ea typeface="Consolas" pitchFamily="34" charset="-122"/>
                <a:cs typeface="Consolas" pitchFamily="34" charset="-120"/>
              </a:rPr>
              <a:t>=== HARGA ES TEH NAIK ===</a:t>
            </a:r>
            <a:endParaRPr lang="en-US" sz="1500" dirty="0"/>
          </a:p>
          <a:p>
            <a:pPr indent="0" marL="0">
              <a:buNone/>
            </a:pPr>
            <a:r>
              <a:rPr lang="en-US" altLang="en-US" sz="1500" dirty="0">
                <a:solidFill>
                  <a:srgbClr val="E6EDF3"/>
                </a:solidFill>
                <a:latin typeface="Consolas" pitchFamily="34" charset="0"/>
                <a:ea typeface="Consolas" pitchFamily="34" charset="-122"/>
                <a:cs typeface="Consolas" pitchFamily="34" charset="-120"/>
              </a:rPr>
              <a:t>Es Teh Manis - Rp10000</a:t>
            </a:r>
            <a:endParaRPr lang="en-US" sz="1500" dirty="0"/>
          </a:p>
          <a:p>
            <a:pPr indent="0" marL="0">
              <a:buNone/>
            </a:pPr>
            <a:r>
              <a:rPr lang="en-US" altLang="en-US" sz="1500" dirty="0">
                <a:solidFill>
                  <a:srgbClr val="E6EDF3"/>
                </a:solidFill>
                <a:latin typeface="Consolas" pitchFamily="34" charset="0"/>
                <a:ea typeface="Consolas" pitchFamily="34" charset="-122"/>
                <a:cs typeface="Consolas" pitchFamily="34" charset="-120"/>
              </a:rPr>
              <a:t>Kopi Susu Gula Aren - Rp18000</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F222E"/>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Miskonsepsi yang Sering Terjadi</a:t>
            </a:r>
            <a:endParaRPr lang="id-ID" sz="3200" dirty="0"/>
          </a:p>
        </p:txBody>
      </p:sp>
      <p:sp>
        <p:nvSpPr>
          <p:cNvPr id="5" name="Shape 2"/>
          <p:cNvSpPr/>
          <p:nvPr/>
        </p:nvSpPr>
        <p:spPr>
          <a:xfrm>
            <a:off x="548640" y="1439509"/>
            <a:ext cx="329184" cy="329184"/>
          </a:xfrm>
          <a:prstGeom prst="ellipse">
            <a:avLst/>
          </a:prstGeom>
          <a:solidFill>
            <a:srgbClr val="CF222E"/>
          </a:solidFill>
          <a:ln/>
        </p:spPr>
      </p:sp>
      <p:pic>
        <p:nvPicPr>
          <p:cNvPr id="6" name="Image 1" descr="preencoded.png">    </p:cNvPr>
          <p:cNvPicPr>
            <a:picLocks noChangeAspect="1"/>
          </p:cNvPicPr>
          <p:nvPr/>
        </p:nvPicPr>
        <p:blipFill>
          <a:blip r:embed="rId2"/>
          <a:stretch>
            <a:fillRect/>
          </a:stretch>
        </p:blipFill>
        <p:spPr>
          <a:xfrm>
            <a:off x="621060" y="1511930"/>
            <a:ext cx="184343" cy="184343"/>
          </a:xfrm>
          <a:prstGeom prst="rect">
            <a:avLst/>
          </a:prstGeom>
        </p:spPr>
      </p:pic>
      <p:sp>
        <p:nvSpPr>
          <p:cNvPr id="7" name="Text 3"/>
          <p:cNvSpPr txBox="1"/>
          <p:nvPr/>
        </p:nvSpPr>
        <p:spPr>
          <a:xfrm>
            <a:off x="987552" y="1439509"/>
            <a:ext cx="3886200" cy="329184"/>
          </a:xfrm>
          <a:prstGeom prst="rect">
            <a:avLst/>
          </a:prstGeom>
          <a:noFill/>
          <a:ln/>
        </p:spPr>
        <p:txBody>
          <a:bodyPr wrap="square" lIns="0" tIns="0" rIns="0" bIns="0" rtlCol="0" anchor="ctr"/>
          <a:lstStyle/>
          <a:p>
            <a:pPr indent="0" marL="0">
              <a:buNone/>
            </a:pPr>
            <a:r>
              <a:rPr lang="id-ID" altLang="en-US" sz="1600" b="1" dirty="0">
                <a:solidFill>
                  <a:srgbClr val="CF222E"/>
                </a:solidFill>
              </a:rPr>
              <a:t>Anggapan keliru</a:t>
            </a:r>
            <a:endParaRPr lang="id-ID" sz="1600" dirty="0"/>
          </a:p>
        </p:txBody>
      </p:sp>
      <p:sp>
        <p:nvSpPr>
          <p:cNvPr id="8" name="Shape 4"/>
          <p:cNvSpPr/>
          <p:nvPr/>
        </p:nvSpPr>
        <p:spPr>
          <a:xfrm>
            <a:off x="5166360" y="1439509"/>
            <a:ext cx="329184" cy="329184"/>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5238780" y="1511930"/>
            <a:ext cx="184343" cy="184343"/>
          </a:xfrm>
          <a:prstGeom prst="rect">
            <a:avLst/>
          </a:prstGeom>
        </p:spPr>
      </p:pic>
      <p:sp>
        <p:nvSpPr>
          <p:cNvPr id="10" name="Text 5"/>
          <p:cNvSpPr txBox="1"/>
          <p:nvPr/>
        </p:nvSpPr>
        <p:spPr>
          <a:xfrm>
            <a:off x="5605272" y="1439509"/>
            <a:ext cx="6019495" cy="329184"/>
          </a:xfrm>
          <a:prstGeom prst="rect">
            <a:avLst/>
          </a:prstGeom>
          <a:noFill/>
          <a:ln/>
        </p:spPr>
        <p:txBody>
          <a:bodyPr wrap="square" lIns="0" tIns="0" rIns="0" bIns="0" rtlCol="0" anchor="ctr"/>
          <a:lstStyle/>
          <a:p>
            <a:pPr indent="0" marL="0">
              <a:buNone/>
            </a:pPr>
            <a:r>
              <a:rPr lang="id-ID" altLang="en-US" sz="1600" b="1" dirty="0">
                <a:solidFill>
                  <a:srgbClr val="1A7F37"/>
                </a:solidFill>
              </a:rPr>
              <a:t>Yang benar</a:t>
            </a:r>
            <a:endParaRPr lang="id-ID" sz="1600" dirty="0"/>
          </a:p>
        </p:txBody>
      </p:sp>
      <p:sp>
        <p:nvSpPr>
          <p:cNvPr id="11" name="Shape 6"/>
          <p:cNvSpPr/>
          <p:nvPr/>
        </p:nvSpPr>
        <p:spPr>
          <a:xfrm>
            <a:off x="548640" y="1942429"/>
            <a:ext cx="4343400" cy="1388364"/>
          </a:xfrm>
          <a:prstGeom prst="roundRect">
            <a:avLst>
              <a:gd name="adj" fmla="val 5205"/>
            </a:avLst>
          </a:prstGeom>
          <a:solidFill>
            <a:srgbClr val="FFEBE9"/>
          </a:solidFill>
          <a:ln w="9525">
            <a:solidFill>
              <a:srgbClr val="FF8182"/>
            </a:solidFill>
            <a:prstDash val="solid"/>
          </a:ln>
        </p:spPr>
      </p:sp>
      <p:sp>
        <p:nvSpPr>
          <p:cNvPr id="12" name="Text 7"/>
          <p:cNvSpPr txBox="1"/>
          <p:nvPr/>
        </p:nvSpPr>
        <p:spPr>
          <a:xfrm>
            <a:off x="777240" y="2125309"/>
            <a:ext cx="3886200" cy="1114044"/>
          </a:xfrm>
          <a:prstGeom prst="rect">
            <a:avLst/>
          </a:prstGeom>
          <a:noFill/>
          <a:ln/>
        </p:spPr>
        <p:txBody>
          <a:bodyPr wrap="square" lIns="0" tIns="0" rIns="0" bIns="0" rtlCol="0" anchor="t"/>
          <a:lstStyle/>
          <a:p>
            <a:pPr indent="0" marL="0">
              <a:buNone/>
            </a:pPr>
            <a:r>
              <a:rPr lang="id-ID" altLang="en-US" sz="2200" dirty="0">
                <a:solidFill>
                  <a:srgbClr val="1F2328"/>
                </a:solidFill>
              </a:rPr>
              <a:t>“Kelas dan objek itu sama saja.”</a:t>
            </a:r>
            <a:endParaRPr lang="id-ID" sz="2200" dirty="0"/>
          </a:p>
        </p:txBody>
      </p:sp>
      <p:sp>
        <p:nvSpPr>
          <p:cNvPr id="13" name="Shape 8"/>
          <p:cNvSpPr/>
          <p:nvPr/>
        </p:nvSpPr>
        <p:spPr>
          <a:xfrm>
            <a:off x="5166360" y="1942429"/>
            <a:ext cx="6476695" cy="1388364"/>
          </a:xfrm>
          <a:prstGeom prst="roundRect">
            <a:avLst>
              <a:gd name="adj" fmla="val 5205"/>
            </a:avLst>
          </a:prstGeom>
          <a:solidFill>
            <a:srgbClr val="DAFBE1"/>
          </a:solidFill>
          <a:ln w="9525">
            <a:solidFill>
              <a:srgbClr val="4AC26B"/>
            </a:solidFill>
            <a:prstDash val="solid"/>
          </a:ln>
        </p:spPr>
      </p:sp>
      <p:sp>
        <p:nvSpPr>
          <p:cNvPr id="14" name="Text 9"/>
          <p:cNvSpPr txBox="1"/>
          <p:nvPr/>
        </p:nvSpPr>
        <p:spPr>
          <a:xfrm>
            <a:off x="5394960" y="2125309"/>
            <a:ext cx="6019495" cy="1114044"/>
          </a:xfrm>
          <a:prstGeom prst="rect">
            <a:avLst/>
          </a:prstGeom>
          <a:noFill/>
          <a:ln/>
        </p:spPr>
        <p:txBody>
          <a:bodyPr wrap="square" lIns="0" tIns="0" rIns="0" bIns="0" rtlCol="0" anchor="t"/>
          <a:lstStyle/>
          <a:p>
            <a:pPr indent="0" marL="0">
              <a:buNone/>
            </a:pPr>
            <a:r>
              <a:rPr lang="id-ID" altLang="en-US" sz="2200" dirty="0">
                <a:solidFill>
                  <a:srgbClr val="1F2328"/>
                </a:solidFill>
              </a:rPr>
              <a:t>Kelas adalah cetak biru, sedangkan objek adalah hasil cetakannya. Data milik Ayu disimpan di objeknya, bukan di kelas </a:t>
            </a:r>
            <a:r>
              <a:rPr lang="id-ID" altLang="en-US" sz="2200" dirty="0">
                <a:solidFill>
                  <a:srgbClr val="1F2328"/>
                </a:solidFill>
                <a:latin typeface="Consolas" pitchFamily="34" charset="0"/>
                <a:ea typeface="Consolas" pitchFamily="34" charset="-122"/>
                <a:cs typeface="Consolas" pitchFamily="34" charset="-120"/>
              </a:rPr>
              <a:t>Mahasiswa</a:t>
            </a:r>
            <a:r>
              <a:rPr lang="id-ID" altLang="en-US" sz="2200" dirty="0">
                <a:solidFill>
                  <a:srgbClr val="1F2328"/>
                </a:solidFill>
              </a:rPr>
              <a:t>.</a:t>
            </a:r>
            <a:endParaRPr lang="id-ID" sz="2200" dirty="0"/>
          </a:p>
        </p:txBody>
      </p:sp>
      <p:sp>
        <p:nvSpPr>
          <p:cNvPr id="15" name="Shape 10"/>
          <p:cNvSpPr/>
          <p:nvPr/>
        </p:nvSpPr>
        <p:spPr>
          <a:xfrm>
            <a:off x="548640" y="3531961"/>
            <a:ext cx="4343400" cy="1388364"/>
          </a:xfrm>
          <a:prstGeom prst="roundRect">
            <a:avLst>
              <a:gd name="adj" fmla="val 5205"/>
            </a:avLst>
          </a:prstGeom>
          <a:solidFill>
            <a:srgbClr val="FFEBE9"/>
          </a:solidFill>
          <a:ln w="9525">
            <a:solidFill>
              <a:srgbClr val="FF8182"/>
            </a:solidFill>
            <a:prstDash val="solid"/>
          </a:ln>
        </p:spPr>
      </p:sp>
      <p:sp>
        <p:nvSpPr>
          <p:cNvPr id="16" name="Text 11"/>
          <p:cNvSpPr txBox="1"/>
          <p:nvPr/>
        </p:nvSpPr>
        <p:spPr>
          <a:xfrm>
            <a:off x="777240" y="3714841"/>
            <a:ext cx="3886200" cy="1114044"/>
          </a:xfrm>
          <a:prstGeom prst="rect">
            <a:avLst/>
          </a:prstGeom>
          <a:noFill/>
          <a:ln/>
        </p:spPr>
        <p:txBody>
          <a:bodyPr wrap="square" lIns="0" tIns="0" rIns="0" bIns="0" rtlCol="0" anchor="t"/>
          <a:lstStyle/>
          <a:p>
            <a:pPr indent="0" marL="0">
              <a:buNone/>
            </a:pPr>
            <a:r>
              <a:rPr lang="id-ID" altLang="en-US" sz="2200" dirty="0">
                <a:solidFill>
                  <a:srgbClr val="1F2328"/>
                </a:solidFill>
              </a:rPr>
              <a:t>“Kalau atribut satu objek diubah, objek lain dari kelas yang sama ikut berubah.”</a:t>
            </a:r>
            <a:endParaRPr lang="id-ID" sz="2200" dirty="0"/>
          </a:p>
        </p:txBody>
      </p:sp>
      <p:sp>
        <p:nvSpPr>
          <p:cNvPr id="17" name="Shape 12"/>
          <p:cNvSpPr/>
          <p:nvPr/>
        </p:nvSpPr>
        <p:spPr>
          <a:xfrm>
            <a:off x="5166360" y="3531961"/>
            <a:ext cx="6476695" cy="1388364"/>
          </a:xfrm>
          <a:prstGeom prst="roundRect">
            <a:avLst>
              <a:gd name="adj" fmla="val 5205"/>
            </a:avLst>
          </a:prstGeom>
          <a:solidFill>
            <a:srgbClr val="DAFBE1"/>
          </a:solidFill>
          <a:ln w="9525">
            <a:solidFill>
              <a:srgbClr val="4AC26B"/>
            </a:solidFill>
            <a:prstDash val="solid"/>
          </a:ln>
        </p:spPr>
      </p:sp>
      <p:sp>
        <p:nvSpPr>
          <p:cNvPr id="18" name="Text 13"/>
          <p:cNvSpPr txBox="1"/>
          <p:nvPr/>
        </p:nvSpPr>
        <p:spPr>
          <a:xfrm>
            <a:off x="5394960" y="3714841"/>
            <a:ext cx="6019495" cy="1114044"/>
          </a:xfrm>
          <a:prstGeom prst="rect">
            <a:avLst/>
          </a:prstGeom>
          <a:noFill/>
          <a:ln/>
        </p:spPr>
        <p:txBody>
          <a:bodyPr wrap="square" lIns="0" tIns="0" rIns="0" bIns="0" rtlCol="0" anchor="t"/>
          <a:lstStyle/>
          <a:p>
            <a:pPr indent="0" marL="0">
              <a:buNone/>
            </a:pPr>
            <a:r>
              <a:rPr lang="id-ID" altLang="en-US" sz="2200" dirty="0">
                <a:solidFill>
                  <a:srgbClr val="1F2328"/>
                </a:solidFill>
              </a:rPr>
              <a:t>Setiap objek menyimpan atributnya sendiri. Mengubah harga es teh tidak mengubah harga kopi.</a:t>
            </a:r>
            <a:endParaRPr lang="id-ID" sz="2200" dirty="0"/>
          </a:p>
        </p:txBody>
      </p:sp>
      <p:sp>
        <p:nvSpPr>
          <p:cNvPr id="19" name="Shape 14"/>
          <p:cNvSpPr/>
          <p:nvPr/>
        </p:nvSpPr>
        <p:spPr>
          <a:xfrm>
            <a:off x="548640" y="5121493"/>
            <a:ext cx="4343400" cy="1047496"/>
          </a:xfrm>
          <a:prstGeom prst="roundRect">
            <a:avLst>
              <a:gd name="adj" fmla="val 9144"/>
            </a:avLst>
          </a:prstGeom>
          <a:solidFill>
            <a:srgbClr val="FFEBE9"/>
          </a:solidFill>
          <a:ln w="9525">
            <a:solidFill>
              <a:srgbClr val="FF8182"/>
            </a:solidFill>
            <a:prstDash val="solid"/>
          </a:ln>
        </p:spPr>
      </p:sp>
      <p:sp>
        <p:nvSpPr>
          <p:cNvPr id="20" name="Text 15"/>
          <p:cNvSpPr txBox="1"/>
          <p:nvPr/>
        </p:nvSpPr>
        <p:spPr>
          <a:xfrm>
            <a:off x="777240" y="5304373"/>
            <a:ext cx="3886200" cy="773176"/>
          </a:xfrm>
          <a:prstGeom prst="rect">
            <a:avLst/>
          </a:prstGeom>
          <a:noFill/>
          <a:ln/>
        </p:spPr>
        <p:txBody>
          <a:bodyPr wrap="square" lIns="0" tIns="0" rIns="0" bIns="0" rtlCol="0" anchor="t"/>
          <a:lstStyle/>
          <a:p>
            <a:pPr indent="0" marL="0">
              <a:buNone/>
            </a:pPr>
            <a:r>
              <a:rPr lang="id-ID" altLang="en-US" sz="2200" dirty="0">
                <a:solidFill>
                  <a:srgbClr val="1F2328"/>
                </a:solidFill>
              </a:rPr>
              <a:t>“Konstruktor harus dipanggil manual setelah objek dibuat.”</a:t>
            </a:r>
            <a:endParaRPr lang="id-ID" sz="2200" dirty="0"/>
          </a:p>
        </p:txBody>
      </p:sp>
      <p:sp>
        <p:nvSpPr>
          <p:cNvPr id="21" name="Shape 16"/>
          <p:cNvSpPr/>
          <p:nvPr/>
        </p:nvSpPr>
        <p:spPr>
          <a:xfrm>
            <a:off x="5166360" y="5121493"/>
            <a:ext cx="6476695" cy="1047496"/>
          </a:xfrm>
          <a:prstGeom prst="roundRect">
            <a:avLst>
              <a:gd name="adj" fmla="val 9144"/>
            </a:avLst>
          </a:prstGeom>
          <a:solidFill>
            <a:srgbClr val="DAFBE1"/>
          </a:solidFill>
          <a:ln w="9525">
            <a:solidFill>
              <a:srgbClr val="4AC26B"/>
            </a:solidFill>
            <a:prstDash val="solid"/>
          </a:ln>
        </p:spPr>
      </p:sp>
      <p:sp>
        <p:nvSpPr>
          <p:cNvPr id="22" name="Text 17"/>
          <p:cNvSpPr txBox="1"/>
          <p:nvPr/>
        </p:nvSpPr>
        <p:spPr>
          <a:xfrm>
            <a:off x="5394960" y="5304373"/>
            <a:ext cx="6019495" cy="773176"/>
          </a:xfrm>
          <a:prstGeom prst="rect">
            <a:avLst/>
          </a:prstGeom>
          <a:noFill/>
          <a:ln/>
        </p:spPr>
        <p:txBody>
          <a:bodyPr wrap="square" lIns="0" tIns="0" rIns="0" bIns="0" rtlCol="0" anchor="t"/>
          <a:lstStyle/>
          <a:p>
            <a:pPr indent="0" marL="0">
              <a:buNone/>
            </a:pPr>
            <a:r>
              <a:rPr lang="id-ID" altLang="en-US" sz="2200" dirty="0">
                <a:solidFill>
                  <a:srgbClr val="1F2328"/>
                </a:solidFill>
              </a:rPr>
              <a:t>Konstruktor berjalan otomatis tepat saat objek dibuat. Kita cukup memberikan datanya.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886712"/>
            <a:ext cx="11094415" cy="891032"/>
          </a:xfrm>
          <a:prstGeom prst="roundRect">
            <a:avLst>
              <a:gd name="adj" fmla="val 12638"/>
            </a:avLst>
          </a:prstGeom>
          <a:solidFill>
            <a:srgbClr val="FBEFFF"/>
          </a:solidFill>
          <a:ln w="9525">
            <a:solidFill>
              <a:srgbClr val="C297FF"/>
            </a:solidFill>
            <a:prstDash val="solid"/>
          </a:ln>
        </p:spPr>
      </p:sp>
      <p:sp>
        <p:nvSpPr>
          <p:cNvPr id="6" name="Shape 3"/>
          <p:cNvSpPr/>
          <p:nvPr/>
        </p:nvSpPr>
        <p:spPr>
          <a:xfrm>
            <a:off x="777240" y="2103628"/>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204212"/>
            <a:ext cx="256032" cy="256032"/>
          </a:xfrm>
          <a:prstGeom prst="rect">
            <a:avLst/>
          </a:prstGeom>
        </p:spPr>
      </p:pic>
      <p:sp>
        <p:nvSpPr>
          <p:cNvPr id="8" name="Text 4"/>
          <p:cNvSpPr txBox="1"/>
          <p:nvPr/>
        </p:nvSpPr>
        <p:spPr>
          <a:xfrm>
            <a:off x="1417320" y="2115312"/>
            <a:ext cx="9951415" cy="616712"/>
          </a:xfrm>
          <a:prstGeom prst="rect">
            <a:avLst/>
          </a:prstGeom>
          <a:noFill/>
          <a:ln/>
        </p:spPr>
        <p:txBody>
          <a:bodyPr wrap="square" lIns="0" tIns="0" rIns="0" bIns="0" rtlCol="0" anchor="t"/>
          <a:lstStyle/>
          <a:p>
            <a:pPr indent="0" marL="0">
              <a:buNone/>
            </a:pPr>
            <a:r>
              <a:rPr lang="id-ID" altLang="en-US" sz="2800" dirty="0">
                <a:solidFill>
                  <a:srgbClr val="1F2328"/>
                </a:solidFill>
              </a:rPr>
              <a:t>Analogi mana yang paling tepat untuk hubungan </a:t>
            </a:r>
            <a:r>
              <a:rPr lang="id-ID" altLang="en-US" sz="2800" b="1" dirty="0">
                <a:solidFill>
                  <a:srgbClr val="1F2328"/>
                </a:solidFill>
              </a:rPr>
              <a:t>kelas</a:t>
            </a:r>
            <a:r>
              <a:rPr lang="id-ID" altLang="en-US" sz="2800" dirty="0">
                <a:solidFill>
                  <a:srgbClr val="1F2328"/>
                </a:solidFill>
              </a:rPr>
              <a:t> dan </a:t>
            </a:r>
            <a:r>
              <a:rPr lang="id-ID" altLang="en-US" sz="2800" b="1" dirty="0">
                <a:solidFill>
                  <a:srgbClr val="1F2328"/>
                </a:solidFill>
              </a:rPr>
              <a:t>objek</a:t>
            </a:r>
            <a:r>
              <a:rPr lang="id-ID" altLang="en-US" sz="2800" dirty="0">
                <a:solidFill>
                  <a:srgbClr val="1F2328"/>
                </a:solidFill>
              </a:rPr>
              <a:t>?</a:t>
            </a:r>
            <a:endParaRPr lang="id-ID" sz="2800" dirty="0"/>
          </a:p>
        </p:txBody>
      </p:sp>
      <p:sp>
        <p:nvSpPr>
          <p:cNvPr id="9" name="Shape 5"/>
          <p:cNvSpPr/>
          <p:nvPr/>
        </p:nvSpPr>
        <p:spPr>
          <a:xfrm>
            <a:off x="548640" y="2960624"/>
            <a:ext cx="5455768" cy="1389888"/>
          </a:xfrm>
          <a:prstGeom prst="roundRect">
            <a:avLst>
              <a:gd name="adj" fmla="val 5194"/>
            </a:avLst>
          </a:prstGeom>
          <a:solidFill>
            <a:srgbClr val="FFFFFF"/>
          </a:solidFill>
          <a:ln w="9525">
            <a:solidFill>
              <a:srgbClr val="D0D7DE"/>
            </a:solidFill>
            <a:prstDash val="solid"/>
          </a:ln>
        </p:spPr>
      </p:sp>
      <p:sp>
        <p:nvSpPr>
          <p:cNvPr id="10" name="Shape 6"/>
          <p:cNvSpPr/>
          <p:nvPr/>
        </p:nvSpPr>
        <p:spPr>
          <a:xfrm>
            <a:off x="749808" y="3426968"/>
            <a:ext cx="457200" cy="457200"/>
          </a:xfrm>
          <a:prstGeom prst="ellipse">
            <a:avLst/>
          </a:prstGeom>
          <a:solidFill>
            <a:srgbClr val="8250DF"/>
          </a:solidFill>
          <a:ln/>
        </p:spPr>
      </p:sp>
      <p:sp>
        <p:nvSpPr>
          <p:cNvPr id="11" name="Text 7"/>
          <p:cNvSpPr txBox="1"/>
          <p:nvPr/>
        </p:nvSpPr>
        <p:spPr>
          <a:xfrm>
            <a:off x="749808" y="342696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070352"/>
            <a:ext cx="4541368" cy="1170432"/>
          </a:xfrm>
          <a:prstGeom prst="rect">
            <a:avLst/>
          </a:prstGeom>
          <a:noFill/>
          <a:ln/>
        </p:spPr>
        <p:txBody>
          <a:bodyPr wrap="square" lIns="0" tIns="0" rIns="0" bIns="0" rtlCol="0" anchor="ctr"/>
          <a:lstStyle/>
          <a:p>
            <a:pPr indent="0" marL="0">
              <a:buNone/>
            </a:pPr>
            <a:r>
              <a:rPr lang="id-ID" altLang="en-US" sz="2400" dirty="0">
                <a:solidFill>
                  <a:srgbClr val="1F2328"/>
                </a:solidFill>
              </a:rPr>
              <a:t>Kelas adalah rumah, objek adalah denahnya.</a:t>
            </a:r>
            <a:endParaRPr lang="id-ID" sz="2400" dirty="0"/>
          </a:p>
        </p:txBody>
      </p:sp>
      <p:sp>
        <p:nvSpPr>
          <p:cNvPr id="13" name="Shape 9"/>
          <p:cNvSpPr/>
          <p:nvPr/>
        </p:nvSpPr>
        <p:spPr>
          <a:xfrm>
            <a:off x="6187288" y="2960624"/>
            <a:ext cx="5455768" cy="1389888"/>
          </a:xfrm>
          <a:prstGeom prst="roundRect">
            <a:avLst>
              <a:gd name="adj" fmla="val 5194"/>
            </a:avLst>
          </a:prstGeom>
          <a:solidFill>
            <a:srgbClr val="FFFFFF"/>
          </a:solidFill>
          <a:ln w="9525">
            <a:solidFill>
              <a:srgbClr val="D0D7DE"/>
            </a:solidFill>
            <a:prstDash val="solid"/>
          </a:ln>
        </p:spPr>
      </p:sp>
      <p:sp>
        <p:nvSpPr>
          <p:cNvPr id="14" name="Shape 10"/>
          <p:cNvSpPr/>
          <p:nvPr/>
        </p:nvSpPr>
        <p:spPr>
          <a:xfrm>
            <a:off x="6388456" y="3426968"/>
            <a:ext cx="457200" cy="457200"/>
          </a:xfrm>
          <a:prstGeom prst="ellipse">
            <a:avLst/>
          </a:prstGeom>
          <a:solidFill>
            <a:srgbClr val="8250DF"/>
          </a:solidFill>
          <a:ln/>
        </p:spPr>
      </p:sp>
      <p:sp>
        <p:nvSpPr>
          <p:cNvPr id="15" name="Text 11"/>
          <p:cNvSpPr txBox="1"/>
          <p:nvPr/>
        </p:nvSpPr>
        <p:spPr>
          <a:xfrm>
            <a:off x="6388456" y="342696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070352"/>
            <a:ext cx="4541368" cy="1170432"/>
          </a:xfrm>
          <a:prstGeom prst="rect">
            <a:avLst/>
          </a:prstGeom>
          <a:noFill/>
          <a:ln/>
        </p:spPr>
        <p:txBody>
          <a:bodyPr wrap="square" lIns="0" tIns="0" rIns="0" bIns="0" rtlCol="0" anchor="ctr"/>
          <a:lstStyle/>
          <a:p>
            <a:pPr indent="0" marL="0">
              <a:buNone/>
            </a:pPr>
            <a:r>
              <a:rPr lang="id-ID" altLang="en-US" sz="2400" dirty="0">
                <a:solidFill>
                  <a:srgbClr val="1F2328"/>
                </a:solidFill>
              </a:rPr>
              <a:t>Kelas adalah denah rumah, objek adalah rumah yang dibangun dari denah itu.</a:t>
            </a:r>
            <a:endParaRPr lang="id-ID" sz="2400" dirty="0"/>
          </a:p>
        </p:txBody>
      </p:sp>
      <p:sp>
        <p:nvSpPr>
          <p:cNvPr id="17" name="Shape 13"/>
          <p:cNvSpPr/>
          <p:nvPr/>
        </p:nvSpPr>
        <p:spPr>
          <a:xfrm>
            <a:off x="548640" y="4533392"/>
            <a:ext cx="5455768" cy="1018032"/>
          </a:xfrm>
          <a:prstGeom prst="roundRect">
            <a:avLst>
              <a:gd name="adj" fmla="val 9681"/>
            </a:avLst>
          </a:prstGeom>
          <a:solidFill>
            <a:srgbClr val="FFFFFF"/>
          </a:solidFill>
          <a:ln w="9525">
            <a:solidFill>
              <a:srgbClr val="D0D7DE"/>
            </a:solidFill>
            <a:prstDash val="solid"/>
          </a:ln>
        </p:spPr>
      </p:sp>
      <p:sp>
        <p:nvSpPr>
          <p:cNvPr id="18" name="Shape 14"/>
          <p:cNvSpPr/>
          <p:nvPr/>
        </p:nvSpPr>
        <p:spPr>
          <a:xfrm>
            <a:off x="749808" y="4813808"/>
            <a:ext cx="457200" cy="457200"/>
          </a:xfrm>
          <a:prstGeom prst="ellipse">
            <a:avLst/>
          </a:prstGeom>
          <a:solidFill>
            <a:srgbClr val="8250DF"/>
          </a:solidFill>
          <a:ln/>
        </p:spPr>
      </p:sp>
      <p:sp>
        <p:nvSpPr>
          <p:cNvPr id="19" name="Text 15"/>
          <p:cNvSpPr txBox="1"/>
          <p:nvPr/>
        </p:nvSpPr>
        <p:spPr>
          <a:xfrm>
            <a:off x="749808" y="481380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643120"/>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Kelas adalah tukang bangunan, objek adalah semennya.</a:t>
            </a:r>
            <a:endParaRPr lang="id-ID" sz="2400" dirty="0"/>
          </a:p>
        </p:txBody>
      </p:sp>
      <p:sp>
        <p:nvSpPr>
          <p:cNvPr id="21" name="Shape 17"/>
          <p:cNvSpPr/>
          <p:nvPr/>
        </p:nvSpPr>
        <p:spPr>
          <a:xfrm>
            <a:off x="6187288" y="4533392"/>
            <a:ext cx="5455768" cy="1018032"/>
          </a:xfrm>
          <a:prstGeom prst="roundRect">
            <a:avLst>
              <a:gd name="adj" fmla="val 9681"/>
            </a:avLst>
          </a:prstGeom>
          <a:solidFill>
            <a:srgbClr val="FFFFFF"/>
          </a:solidFill>
          <a:ln w="9525">
            <a:solidFill>
              <a:srgbClr val="D0D7DE"/>
            </a:solidFill>
            <a:prstDash val="solid"/>
          </a:ln>
        </p:spPr>
      </p:sp>
      <p:sp>
        <p:nvSpPr>
          <p:cNvPr id="22" name="Shape 18"/>
          <p:cNvSpPr/>
          <p:nvPr/>
        </p:nvSpPr>
        <p:spPr>
          <a:xfrm>
            <a:off x="6388456" y="4813808"/>
            <a:ext cx="457200" cy="457200"/>
          </a:xfrm>
          <a:prstGeom prst="ellipse">
            <a:avLst/>
          </a:prstGeom>
          <a:solidFill>
            <a:srgbClr val="8250DF"/>
          </a:solidFill>
          <a:ln/>
        </p:spPr>
      </p:sp>
      <p:sp>
        <p:nvSpPr>
          <p:cNvPr id="23" name="Text 19"/>
          <p:cNvSpPr txBox="1"/>
          <p:nvPr/>
        </p:nvSpPr>
        <p:spPr>
          <a:xfrm>
            <a:off x="6388456" y="481380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643120"/>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Kelas dan objek sama-⁠sama denah, hanya namanya yang berbeda.</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545123"/>
            <a:ext cx="11094415" cy="553212"/>
          </a:xfrm>
          <a:prstGeom prst="roundRect">
            <a:avLst>
              <a:gd name="adj" fmla="val 32785"/>
            </a:avLst>
          </a:prstGeom>
          <a:solidFill>
            <a:srgbClr val="F6F8FA"/>
          </a:solidFill>
          <a:ln w="9525">
            <a:solidFill>
              <a:srgbClr val="D0D7DE"/>
            </a:solidFill>
            <a:prstDash val="solid"/>
          </a:ln>
        </p:spPr>
      </p:sp>
      <p:sp>
        <p:nvSpPr>
          <p:cNvPr id="6" name="Text 3"/>
          <p:cNvSpPr txBox="1"/>
          <p:nvPr/>
        </p:nvSpPr>
        <p:spPr>
          <a:xfrm>
            <a:off x="822960" y="1682283"/>
            <a:ext cx="10545775" cy="278892"/>
          </a:xfrm>
          <a:prstGeom prst="rect">
            <a:avLst/>
          </a:prstGeom>
          <a:noFill/>
          <a:ln/>
        </p:spPr>
        <p:txBody>
          <a:bodyPr wrap="square" lIns="0" tIns="0" rIns="0" bIns="0" rtlCol="0" anchor="t"/>
          <a:lstStyle/>
          <a:p>
            <a:pPr indent="0" marL="0">
              <a:buNone/>
            </a:pPr>
            <a:r>
              <a:rPr lang="id-ID" altLang="en-US" sz="1800" dirty="0">
                <a:solidFill>
                  <a:srgbClr val="57606A"/>
                </a:solidFill>
              </a:rPr>
              <a:t>Analogi mana yang paling tepat untuk hubungan </a:t>
            </a:r>
            <a:r>
              <a:rPr lang="id-ID" altLang="en-US" sz="1800" b="1" dirty="0">
                <a:solidFill>
                  <a:srgbClr val="57606A"/>
                </a:solidFill>
              </a:rPr>
              <a:t>kelas</a:t>
            </a:r>
            <a:r>
              <a:rPr lang="id-ID" altLang="en-US" sz="1800" dirty="0">
                <a:solidFill>
                  <a:srgbClr val="57606A"/>
                </a:solidFill>
              </a:rPr>
              <a:t> dan </a:t>
            </a:r>
            <a:r>
              <a:rPr lang="id-ID" altLang="en-US" sz="1800" b="1" dirty="0">
                <a:solidFill>
                  <a:srgbClr val="57606A"/>
                </a:solidFill>
              </a:rPr>
              <a:t>objek</a:t>
            </a:r>
            <a:r>
              <a:rPr lang="id-ID" altLang="en-US" sz="1800" dirty="0">
                <a:solidFill>
                  <a:srgbClr val="57606A"/>
                </a:solidFill>
              </a:rPr>
              <a:t>?</a:t>
            </a:r>
            <a:endParaRPr lang="id-ID" sz="1800" dirty="0"/>
          </a:p>
        </p:txBody>
      </p:sp>
      <p:sp>
        <p:nvSpPr>
          <p:cNvPr id="7" name="Shape 4"/>
          <p:cNvSpPr/>
          <p:nvPr/>
        </p:nvSpPr>
        <p:spPr>
          <a:xfrm>
            <a:off x="548640" y="2281215"/>
            <a:ext cx="5455768" cy="894080"/>
          </a:xfrm>
          <a:prstGeom prst="roundRect">
            <a:avLst>
              <a:gd name="adj" fmla="val 12552"/>
            </a:avLst>
          </a:prstGeom>
          <a:solidFill>
            <a:srgbClr val="FFFFFF"/>
          </a:solidFill>
          <a:ln w="9525">
            <a:solidFill>
              <a:srgbClr val="D0D7DE"/>
            </a:solidFill>
            <a:prstDash val="solid"/>
          </a:ln>
        </p:spPr>
      </p:sp>
      <p:sp>
        <p:nvSpPr>
          <p:cNvPr id="8" name="Shape 5"/>
          <p:cNvSpPr/>
          <p:nvPr/>
        </p:nvSpPr>
        <p:spPr>
          <a:xfrm>
            <a:off x="749808" y="2499655"/>
            <a:ext cx="457200" cy="457200"/>
          </a:xfrm>
          <a:prstGeom prst="ellipse">
            <a:avLst/>
          </a:prstGeom>
          <a:solidFill>
            <a:srgbClr val="8C959F"/>
          </a:solidFill>
          <a:ln/>
        </p:spPr>
      </p:sp>
      <p:sp>
        <p:nvSpPr>
          <p:cNvPr id="9" name="Text 6"/>
          <p:cNvSpPr txBox="1"/>
          <p:nvPr/>
        </p:nvSpPr>
        <p:spPr>
          <a:xfrm>
            <a:off x="749808" y="2499655"/>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0" name="Text 7"/>
          <p:cNvSpPr txBox="1"/>
          <p:nvPr/>
        </p:nvSpPr>
        <p:spPr>
          <a:xfrm>
            <a:off x="1353312" y="2390943"/>
            <a:ext cx="4541368" cy="674624"/>
          </a:xfrm>
          <a:prstGeom prst="rect">
            <a:avLst/>
          </a:prstGeom>
          <a:noFill/>
          <a:ln/>
        </p:spPr>
        <p:txBody>
          <a:bodyPr wrap="square" lIns="0" tIns="0" rIns="0" bIns="0" rtlCol="0" anchor="ctr"/>
          <a:lstStyle/>
          <a:p>
            <a:pPr indent="0" marL="0">
              <a:buNone/>
            </a:pPr>
            <a:r>
              <a:rPr lang="id-ID" altLang="en-US" sz="2000" dirty="0">
                <a:solidFill>
                  <a:srgbClr val="57606A"/>
                </a:solidFill>
              </a:rPr>
              <a:t>Kelas adalah rumah, objek adalah denahnya.</a:t>
            </a:r>
            <a:endParaRPr lang="id-ID" sz="2000" dirty="0"/>
          </a:p>
        </p:txBody>
      </p:sp>
      <p:sp>
        <p:nvSpPr>
          <p:cNvPr id="11" name="Shape 8"/>
          <p:cNvSpPr/>
          <p:nvPr/>
        </p:nvSpPr>
        <p:spPr>
          <a:xfrm>
            <a:off x="6187288" y="2281215"/>
            <a:ext cx="5455768" cy="894080"/>
          </a:xfrm>
          <a:prstGeom prst="roundRect">
            <a:avLst>
              <a:gd name="adj" fmla="val 12552"/>
            </a:avLst>
          </a:prstGeom>
          <a:solidFill>
            <a:srgbClr val="DAFBE1"/>
          </a:solidFill>
          <a:ln w="22225">
            <a:solidFill>
              <a:srgbClr val="1A7F37"/>
            </a:solidFill>
            <a:prstDash val="solid"/>
          </a:ln>
        </p:spPr>
      </p:sp>
      <p:sp>
        <p:nvSpPr>
          <p:cNvPr id="12" name="Shape 9"/>
          <p:cNvSpPr/>
          <p:nvPr/>
        </p:nvSpPr>
        <p:spPr>
          <a:xfrm>
            <a:off x="6388456" y="2499655"/>
            <a:ext cx="457200" cy="457200"/>
          </a:xfrm>
          <a:prstGeom prst="ellipse">
            <a:avLst/>
          </a:prstGeom>
          <a:solidFill>
            <a:srgbClr val="1A7F37"/>
          </a:solidFill>
          <a:ln/>
        </p:spPr>
      </p:sp>
      <p:pic>
        <p:nvPicPr>
          <p:cNvPr id="13" name="Image 1" descr="preencoded.png">    </p:cNvPr>
          <p:cNvPicPr>
            <a:picLocks noChangeAspect="1"/>
          </p:cNvPicPr>
          <p:nvPr/>
        </p:nvPicPr>
        <p:blipFill>
          <a:blip r:embed="rId2"/>
          <a:stretch>
            <a:fillRect/>
          </a:stretch>
        </p:blipFill>
        <p:spPr>
          <a:xfrm>
            <a:off x="6489040" y="2600239"/>
            <a:ext cx="256032" cy="256032"/>
          </a:xfrm>
          <a:prstGeom prst="rect">
            <a:avLst/>
          </a:prstGeom>
        </p:spPr>
      </p:pic>
      <p:sp>
        <p:nvSpPr>
          <p:cNvPr id="14" name="Text 10"/>
          <p:cNvSpPr txBox="1"/>
          <p:nvPr/>
        </p:nvSpPr>
        <p:spPr>
          <a:xfrm>
            <a:off x="6991960" y="2390943"/>
            <a:ext cx="4541368" cy="674624"/>
          </a:xfrm>
          <a:prstGeom prst="rect">
            <a:avLst/>
          </a:prstGeom>
          <a:noFill/>
          <a:ln/>
        </p:spPr>
        <p:txBody>
          <a:bodyPr wrap="square" lIns="0" tIns="0" rIns="0" bIns="0" rtlCol="0" anchor="ctr"/>
          <a:lstStyle/>
          <a:p>
            <a:pPr indent="0" marL="0">
              <a:buNone/>
            </a:pPr>
            <a:r>
              <a:rPr lang="id-ID" altLang="en-US" sz="2000" dirty="0">
                <a:solidFill>
                  <a:srgbClr val="1F2328"/>
                </a:solidFill>
              </a:rPr>
              <a:t>Kelas adalah denah rumah, objek adalah rumah yang dibangun dari denah itu.</a:t>
            </a:r>
            <a:endParaRPr lang="id-ID" sz="2000" dirty="0"/>
          </a:p>
        </p:txBody>
      </p:sp>
      <p:sp>
        <p:nvSpPr>
          <p:cNvPr id="15" name="Shape 11"/>
          <p:cNvSpPr/>
          <p:nvPr/>
        </p:nvSpPr>
        <p:spPr>
          <a:xfrm>
            <a:off x="548640" y="3358175"/>
            <a:ext cx="5455768" cy="894080"/>
          </a:xfrm>
          <a:prstGeom prst="roundRect">
            <a:avLst>
              <a:gd name="adj" fmla="val 12552"/>
            </a:avLst>
          </a:prstGeom>
          <a:solidFill>
            <a:srgbClr val="FFFFFF"/>
          </a:solidFill>
          <a:ln w="9525">
            <a:solidFill>
              <a:srgbClr val="D0D7DE"/>
            </a:solidFill>
            <a:prstDash val="solid"/>
          </a:ln>
        </p:spPr>
      </p:sp>
      <p:sp>
        <p:nvSpPr>
          <p:cNvPr id="16" name="Shape 12"/>
          <p:cNvSpPr/>
          <p:nvPr/>
        </p:nvSpPr>
        <p:spPr>
          <a:xfrm>
            <a:off x="749808" y="3576615"/>
            <a:ext cx="457200" cy="457200"/>
          </a:xfrm>
          <a:prstGeom prst="ellipse">
            <a:avLst/>
          </a:prstGeom>
          <a:solidFill>
            <a:srgbClr val="8C959F"/>
          </a:solidFill>
          <a:ln/>
        </p:spPr>
      </p:sp>
      <p:sp>
        <p:nvSpPr>
          <p:cNvPr id="17" name="Text 13"/>
          <p:cNvSpPr txBox="1"/>
          <p:nvPr/>
        </p:nvSpPr>
        <p:spPr>
          <a:xfrm>
            <a:off x="749808" y="3576615"/>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18" name="Text 14"/>
          <p:cNvSpPr txBox="1"/>
          <p:nvPr/>
        </p:nvSpPr>
        <p:spPr>
          <a:xfrm>
            <a:off x="1353312" y="3467903"/>
            <a:ext cx="4541368" cy="674624"/>
          </a:xfrm>
          <a:prstGeom prst="rect">
            <a:avLst/>
          </a:prstGeom>
          <a:noFill/>
          <a:ln/>
        </p:spPr>
        <p:txBody>
          <a:bodyPr wrap="square" lIns="0" tIns="0" rIns="0" bIns="0" rtlCol="0" anchor="ctr"/>
          <a:lstStyle/>
          <a:p>
            <a:pPr indent="0" marL="0">
              <a:buNone/>
            </a:pPr>
            <a:r>
              <a:rPr lang="id-ID" altLang="en-US" sz="2000" dirty="0">
                <a:solidFill>
                  <a:srgbClr val="57606A"/>
                </a:solidFill>
              </a:rPr>
              <a:t>Kelas adalah tukang bangunan, objek adalah semennya.</a:t>
            </a:r>
            <a:endParaRPr lang="id-ID" sz="2000" dirty="0"/>
          </a:p>
        </p:txBody>
      </p:sp>
      <p:sp>
        <p:nvSpPr>
          <p:cNvPr id="19" name="Shape 15"/>
          <p:cNvSpPr/>
          <p:nvPr/>
        </p:nvSpPr>
        <p:spPr>
          <a:xfrm>
            <a:off x="6187288" y="3358175"/>
            <a:ext cx="5455768" cy="894080"/>
          </a:xfrm>
          <a:prstGeom prst="roundRect">
            <a:avLst>
              <a:gd name="adj" fmla="val 12552"/>
            </a:avLst>
          </a:prstGeom>
          <a:solidFill>
            <a:srgbClr val="FFFFFF"/>
          </a:solidFill>
          <a:ln w="9525">
            <a:solidFill>
              <a:srgbClr val="D0D7DE"/>
            </a:solidFill>
            <a:prstDash val="solid"/>
          </a:ln>
        </p:spPr>
      </p:sp>
      <p:sp>
        <p:nvSpPr>
          <p:cNvPr id="20" name="Shape 16"/>
          <p:cNvSpPr/>
          <p:nvPr/>
        </p:nvSpPr>
        <p:spPr>
          <a:xfrm>
            <a:off x="6388456" y="3576615"/>
            <a:ext cx="457200" cy="457200"/>
          </a:xfrm>
          <a:prstGeom prst="ellipse">
            <a:avLst/>
          </a:prstGeom>
          <a:solidFill>
            <a:srgbClr val="8C959F"/>
          </a:solidFill>
          <a:ln/>
        </p:spPr>
      </p:sp>
      <p:sp>
        <p:nvSpPr>
          <p:cNvPr id="21" name="Text 17"/>
          <p:cNvSpPr txBox="1"/>
          <p:nvPr/>
        </p:nvSpPr>
        <p:spPr>
          <a:xfrm>
            <a:off x="6388456" y="3576615"/>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2" name="Text 18"/>
          <p:cNvSpPr txBox="1"/>
          <p:nvPr/>
        </p:nvSpPr>
        <p:spPr>
          <a:xfrm>
            <a:off x="6991960" y="3467903"/>
            <a:ext cx="4541368" cy="674624"/>
          </a:xfrm>
          <a:prstGeom prst="rect">
            <a:avLst/>
          </a:prstGeom>
          <a:noFill/>
          <a:ln/>
        </p:spPr>
        <p:txBody>
          <a:bodyPr wrap="square" lIns="0" tIns="0" rIns="0" bIns="0" rtlCol="0" anchor="ctr"/>
          <a:lstStyle/>
          <a:p>
            <a:pPr indent="0" marL="0">
              <a:buNone/>
            </a:pPr>
            <a:r>
              <a:rPr lang="id-ID" altLang="en-US" sz="2000" dirty="0">
                <a:solidFill>
                  <a:srgbClr val="57606A"/>
                </a:solidFill>
              </a:rPr>
              <a:t>Kelas dan objek sama-⁠sama denah, hanya namanya yang berbeda.</a:t>
            </a:r>
            <a:endParaRPr lang="id-ID" sz="2000" dirty="0"/>
          </a:p>
        </p:txBody>
      </p:sp>
      <p:sp>
        <p:nvSpPr>
          <p:cNvPr id="23" name="Shape 19"/>
          <p:cNvSpPr/>
          <p:nvPr/>
        </p:nvSpPr>
        <p:spPr>
          <a:xfrm>
            <a:off x="548640" y="4453423"/>
            <a:ext cx="11094415" cy="1569720"/>
          </a:xfrm>
          <a:prstGeom prst="roundRect">
            <a:avLst>
              <a:gd name="adj" fmla="val 4072"/>
            </a:avLst>
          </a:prstGeom>
          <a:solidFill>
            <a:srgbClr val="FFF8C5"/>
          </a:solidFill>
          <a:ln w="9525">
            <a:solidFill>
              <a:srgbClr val="D4A72C"/>
            </a:solidFill>
            <a:prstDash val="solid"/>
          </a:ln>
        </p:spPr>
      </p:sp>
      <p:sp>
        <p:nvSpPr>
          <p:cNvPr id="24" name="Shape 20"/>
          <p:cNvSpPr/>
          <p:nvPr/>
        </p:nvSpPr>
        <p:spPr>
          <a:xfrm>
            <a:off x="777240" y="4636303"/>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736887"/>
            <a:ext cx="256032" cy="256032"/>
          </a:xfrm>
          <a:prstGeom prst="rect">
            <a:avLst/>
          </a:prstGeom>
        </p:spPr>
      </p:pic>
      <p:sp>
        <p:nvSpPr>
          <p:cNvPr id="26" name="Text 21"/>
          <p:cNvSpPr txBox="1"/>
          <p:nvPr/>
        </p:nvSpPr>
        <p:spPr>
          <a:xfrm>
            <a:off x="1417320" y="4590583"/>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B</a:t>
            </a:r>
            <a:endParaRPr lang="id-ID" sz="1600" dirty="0"/>
          </a:p>
        </p:txBody>
      </p:sp>
      <p:sp>
        <p:nvSpPr>
          <p:cNvPr id="27" name="Text 22"/>
          <p:cNvSpPr txBox="1"/>
          <p:nvPr/>
        </p:nvSpPr>
        <p:spPr>
          <a:xfrm>
            <a:off x="1417320" y="4928911"/>
            <a:ext cx="9951415" cy="1021080"/>
          </a:xfrm>
          <a:prstGeom prst="rect">
            <a:avLst/>
          </a:prstGeom>
          <a:noFill/>
          <a:ln/>
        </p:spPr>
        <p:txBody>
          <a:bodyPr wrap="square" lIns="0" tIns="0" rIns="0" bIns="0" rtlCol="0" anchor="t"/>
          <a:lstStyle/>
          <a:p>
            <a:pPr indent="0" marL="0">
              <a:buNone/>
            </a:pPr>
            <a:r>
              <a:rPr lang="id-ID" altLang="en-US" sz="2000" dirty="0">
                <a:solidFill>
                  <a:srgbClr val="1F2328"/>
                </a:solidFill>
              </a:rPr>
              <a:t>Kelas adalah cetak biru (denah), sedangkan objek adalah wujud nyata yang dibangun darinya (rumah). Pilihan A terbalik, C tidak menggambarkan hubungan cetak biru dan hasilnya, dan D keliru karena kelas dan objek adalah dua hal berbeda.</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869985"/>
            <a:ext cx="11094415" cy="1758696"/>
          </a:xfrm>
          <a:prstGeom prst="roundRect">
            <a:avLst>
              <a:gd name="adj" fmla="val 3244"/>
            </a:avLst>
          </a:prstGeom>
          <a:solidFill>
            <a:srgbClr val="FBEFFF"/>
          </a:solidFill>
          <a:ln w="9525">
            <a:solidFill>
              <a:srgbClr val="C297FF"/>
            </a:solidFill>
            <a:prstDash val="solid"/>
          </a:ln>
        </p:spPr>
      </p:sp>
      <p:sp>
        <p:nvSpPr>
          <p:cNvPr id="6" name="Shape 3"/>
          <p:cNvSpPr/>
          <p:nvPr/>
        </p:nvSpPr>
        <p:spPr>
          <a:xfrm>
            <a:off x="777240" y="2520733"/>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621317"/>
            <a:ext cx="256032" cy="256032"/>
          </a:xfrm>
          <a:prstGeom prst="rect">
            <a:avLst/>
          </a:prstGeom>
        </p:spPr>
      </p:pic>
      <p:sp>
        <p:nvSpPr>
          <p:cNvPr id="8" name="Text 4"/>
          <p:cNvSpPr txBox="1"/>
          <p:nvPr/>
        </p:nvSpPr>
        <p:spPr>
          <a:xfrm>
            <a:off x="1417320" y="2098585"/>
            <a:ext cx="9951415" cy="1484376"/>
          </a:xfrm>
          <a:prstGeom prst="rect">
            <a:avLst/>
          </a:prstGeom>
          <a:noFill/>
          <a:ln/>
        </p:spPr>
        <p:txBody>
          <a:bodyPr wrap="square" lIns="0" tIns="0" rIns="0" bIns="0" rtlCol="0" anchor="t"/>
          <a:lstStyle/>
          <a:p>
            <a:pPr indent="0" marL="0">
              <a:buNone/>
            </a:pPr>
            <a:r>
              <a:rPr lang="id-ID" altLang="en-US" sz="2800" dirty="0">
                <a:solidFill>
                  <a:srgbClr val="1F2328"/>
                </a:solidFill>
              </a:rPr>
              <a:t>Deskripsi: setiap motor punya pelat nomor dan warna; motor bisa dinyalakan dan diisi bensin. Mana yang paling tepat dijadikan </a:t>
            </a:r>
            <a:r>
              <a:rPr lang="id-ID" altLang="en-US" sz="2800" i="1" dirty="0">
                <a:solidFill>
                  <a:srgbClr val="1F2328"/>
                </a:solidFill>
              </a:rPr>
              <a:t>method</a:t>
            </a:r>
            <a:r>
              <a:rPr lang="id-ID" altLang="en-US" sz="2800" dirty="0">
                <a:solidFill>
                  <a:srgbClr val="1F2328"/>
                </a:solidFill>
              </a:rPr>
              <a:t>?</a:t>
            </a:r>
            <a:endParaRPr lang="id-ID" sz="2800" dirty="0"/>
          </a:p>
        </p:txBody>
      </p:sp>
      <p:sp>
        <p:nvSpPr>
          <p:cNvPr id="9" name="Shape 5"/>
          <p:cNvSpPr/>
          <p:nvPr/>
        </p:nvSpPr>
        <p:spPr>
          <a:xfrm>
            <a:off x="548640" y="3811561"/>
            <a:ext cx="5455768" cy="790042"/>
          </a:xfrm>
          <a:prstGeom prst="roundRect">
            <a:avLst>
              <a:gd name="adj" fmla="val 16075"/>
            </a:avLst>
          </a:prstGeom>
          <a:solidFill>
            <a:srgbClr val="FFFFFF"/>
          </a:solidFill>
          <a:ln w="9525">
            <a:solidFill>
              <a:srgbClr val="D0D7DE"/>
            </a:solidFill>
            <a:prstDash val="solid"/>
          </a:ln>
        </p:spPr>
      </p:sp>
      <p:sp>
        <p:nvSpPr>
          <p:cNvPr id="10" name="Shape 6"/>
          <p:cNvSpPr/>
          <p:nvPr/>
        </p:nvSpPr>
        <p:spPr>
          <a:xfrm>
            <a:off x="749808" y="3977981"/>
            <a:ext cx="457200" cy="457200"/>
          </a:xfrm>
          <a:prstGeom prst="ellipse">
            <a:avLst/>
          </a:prstGeom>
          <a:solidFill>
            <a:srgbClr val="8250DF"/>
          </a:solidFill>
          <a:ln/>
        </p:spPr>
      </p:sp>
      <p:sp>
        <p:nvSpPr>
          <p:cNvPr id="11" name="Text 7"/>
          <p:cNvSpPr txBox="1"/>
          <p:nvPr/>
        </p:nvSpPr>
        <p:spPr>
          <a:xfrm>
            <a:off x="749808" y="397798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921289"/>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pelat nomor</a:t>
            </a:r>
            <a:endParaRPr lang="id-ID" sz="2400" dirty="0"/>
          </a:p>
        </p:txBody>
      </p:sp>
      <p:sp>
        <p:nvSpPr>
          <p:cNvPr id="13" name="Shape 9"/>
          <p:cNvSpPr/>
          <p:nvPr/>
        </p:nvSpPr>
        <p:spPr>
          <a:xfrm>
            <a:off x="6187288" y="3811561"/>
            <a:ext cx="5455768" cy="790042"/>
          </a:xfrm>
          <a:prstGeom prst="roundRect">
            <a:avLst>
              <a:gd name="adj" fmla="val 16075"/>
            </a:avLst>
          </a:prstGeom>
          <a:solidFill>
            <a:srgbClr val="FFFFFF"/>
          </a:solidFill>
          <a:ln w="9525">
            <a:solidFill>
              <a:srgbClr val="D0D7DE"/>
            </a:solidFill>
            <a:prstDash val="solid"/>
          </a:ln>
        </p:spPr>
      </p:sp>
      <p:sp>
        <p:nvSpPr>
          <p:cNvPr id="14" name="Shape 10"/>
          <p:cNvSpPr/>
          <p:nvPr/>
        </p:nvSpPr>
        <p:spPr>
          <a:xfrm>
            <a:off x="6388456" y="3977981"/>
            <a:ext cx="457200" cy="457200"/>
          </a:xfrm>
          <a:prstGeom prst="ellipse">
            <a:avLst/>
          </a:prstGeom>
          <a:solidFill>
            <a:srgbClr val="8250DF"/>
          </a:solidFill>
          <a:ln/>
        </p:spPr>
      </p:sp>
      <p:sp>
        <p:nvSpPr>
          <p:cNvPr id="15" name="Text 11"/>
          <p:cNvSpPr txBox="1"/>
          <p:nvPr/>
        </p:nvSpPr>
        <p:spPr>
          <a:xfrm>
            <a:off x="6388456" y="397798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921289"/>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warna</a:t>
            </a:r>
            <a:endParaRPr lang="id-ID" sz="2400" dirty="0"/>
          </a:p>
        </p:txBody>
      </p:sp>
      <p:sp>
        <p:nvSpPr>
          <p:cNvPr id="17" name="Shape 13"/>
          <p:cNvSpPr/>
          <p:nvPr/>
        </p:nvSpPr>
        <p:spPr>
          <a:xfrm>
            <a:off x="548640" y="4784482"/>
            <a:ext cx="5455768" cy="790042"/>
          </a:xfrm>
          <a:prstGeom prst="roundRect">
            <a:avLst>
              <a:gd name="adj" fmla="val 16075"/>
            </a:avLst>
          </a:prstGeom>
          <a:solidFill>
            <a:srgbClr val="FFFFFF"/>
          </a:solidFill>
          <a:ln w="9525">
            <a:solidFill>
              <a:srgbClr val="D0D7DE"/>
            </a:solidFill>
            <a:prstDash val="solid"/>
          </a:ln>
        </p:spPr>
      </p:sp>
      <p:sp>
        <p:nvSpPr>
          <p:cNvPr id="18" name="Shape 14"/>
          <p:cNvSpPr/>
          <p:nvPr/>
        </p:nvSpPr>
        <p:spPr>
          <a:xfrm>
            <a:off x="749808" y="4950903"/>
            <a:ext cx="457200" cy="457200"/>
          </a:xfrm>
          <a:prstGeom prst="ellipse">
            <a:avLst/>
          </a:prstGeom>
          <a:solidFill>
            <a:srgbClr val="8250DF"/>
          </a:solidFill>
          <a:ln/>
        </p:spPr>
      </p:sp>
      <p:sp>
        <p:nvSpPr>
          <p:cNvPr id="19" name="Text 15"/>
          <p:cNvSpPr txBox="1"/>
          <p:nvPr/>
        </p:nvSpPr>
        <p:spPr>
          <a:xfrm>
            <a:off x="749808" y="495090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894210"/>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motor</a:t>
            </a:r>
            <a:endParaRPr lang="id-ID" sz="2400" dirty="0"/>
          </a:p>
        </p:txBody>
      </p:sp>
      <p:sp>
        <p:nvSpPr>
          <p:cNvPr id="21" name="Shape 17"/>
          <p:cNvSpPr/>
          <p:nvPr/>
        </p:nvSpPr>
        <p:spPr>
          <a:xfrm>
            <a:off x="6187288" y="4784482"/>
            <a:ext cx="5455768" cy="790042"/>
          </a:xfrm>
          <a:prstGeom prst="roundRect">
            <a:avLst>
              <a:gd name="adj" fmla="val 16075"/>
            </a:avLst>
          </a:prstGeom>
          <a:solidFill>
            <a:srgbClr val="FFFFFF"/>
          </a:solidFill>
          <a:ln w="9525">
            <a:solidFill>
              <a:srgbClr val="D0D7DE"/>
            </a:solidFill>
            <a:prstDash val="solid"/>
          </a:ln>
        </p:spPr>
      </p:sp>
      <p:sp>
        <p:nvSpPr>
          <p:cNvPr id="22" name="Shape 18"/>
          <p:cNvSpPr/>
          <p:nvPr/>
        </p:nvSpPr>
        <p:spPr>
          <a:xfrm>
            <a:off x="6388456" y="4950903"/>
            <a:ext cx="457200" cy="457200"/>
          </a:xfrm>
          <a:prstGeom prst="ellipse">
            <a:avLst/>
          </a:prstGeom>
          <a:solidFill>
            <a:srgbClr val="8250DF"/>
          </a:solidFill>
          <a:ln/>
        </p:spPr>
      </p:sp>
      <p:sp>
        <p:nvSpPr>
          <p:cNvPr id="23" name="Text 19"/>
          <p:cNvSpPr txBox="1"/>
          <p:nvPr/>
        </p:nvSpPr>
        <p:spPr>
          <a:xfrm>
            <a:off x="6388456" y="495090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894210"/>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diisi bensin</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625986"/>
            <a:ext cx="11094415" cy="832104"/>
          </a:xfrm>
          <a:prstGeom prst="roundRect">
            <a:avLst>
              <a:gd name="adj" fmla="val 14491"/>
            </a:avLst>
          </a:prstGeom>
          <a:solidFill>
            <a:srgbClr val="F6F8FA"/>
          </a:solidFill>
          <a:ln w="9525">
            <a:solidFill>
              <a:srgbClr val="D0D7DE"/>
            </a:solidFill>
            <a:prstDash val="solid"/>
          </a:ln>
        </p:spPr>
      </p:sp>
      <p:sp>
        <p:nvSpPr>
          <p:cNvPr id="6" name="Text 3"/>
          <p:cNvSpPr txBox="1"/>
          <p:nvPr/>
        </p:nvSpPr>
        <p:spPr>
          <a:xfrm>
            <a:off x="822960" y="1763146"/>
            <a:ext cx="10545775" cy="557784"/>
          </a:xfrm>
          <a:prstGeom prst="rect">
            <a:avLst/>
          </a:prstGeom>
          <a:noFill/>
          <a:ln/>
        </p:spPr>
        <p:txBody>
          <a:bodyPr wrap="square" lIns="0" tIns="0" rIns="0" bIns="0" rtlCol="0" anchor="t"/>
          <a:lstStyle/>
          <a:p>
            <a:pPr indent="0" marL="0">
              <a:buNone/>
            </a:pPr>
            <a:r>
              <a:rPr lang="id-ID" altLang="en-US" sz="1800" dirty="0">
                <a:solidFill>
                  <a:srgbClr val="57606A"/>
                </a:solidFill>
              </a:rPr>
              <a:t>Deskripsi: setiap motor punya pelat nomor dan warna; motor bisa dinyalakan dan diisi bensin. Mana yang paling tepat dijadikan </a:t>
            </a:r>
            <a:r>
              <a:rPr lang="id-ID" altLang="en-US" sz="1800" i="1" dirty="0">
                <a:solidFill>
                  <a:srgbClr val="57606A"/>
                </a:solidFill>
              </a:rPr>
              <a:t>method</a:t>
            </a:r>
            <a:r>
              <a:rPr lang="id-ID" altLang="en-US" sz="1800" dirty="0">
                <a:solidFill>
                  <a:srgbClr val="57606A"/>
                </a:solidFill>
              </a:rPr>
              <a:t>?</a:t>
            </a:r>
            <a:endParaRPr lang="id-ID" sz="1800" dirty="0"/>
          </a:p>
        </p:txBody>
      </p:sp>
      <p:sp>
        <p:nvSpPr>
          <p:cNvPr id="7" name="Shape 4"/>
          <p:cNvSpPr/>
          <p:nvPr/>
        </p:nvSpPr>
        <p:spPr>
          <a:xfrm>
            <a:off x="548640" y="2640970"/>
            <a:ext cx="5455768" cy="658368"/>
          </a:xfrm>
          <a:prstGeom prst="roundRect">
            <a:avLst>
              <a:gd name="adj" fmla="val 23148"/>
            </a:avLst>
          </a:prstGeom>
          <a:solidFill>
            <a:srgbClr val="FFFFFF"/>
          </a:solidFill>
          <a:ln w="9525">
            <a:solidFill>
              <a:srgbClr val="D0D7DE"/>
            </a:solidFill>
            <a:prstDash val="solid"/>
          </a:ln>
        </p:spPr>
      </p:sp>
      <p:sp>
        <p:nvSpPr>
          <p:cNvPr id="8" name="Shape 5"/>
          <p:cNvSpPr/>
          <p:nvPr/>
        </p:nvSpPr>
        <p:spPr>
          <a:xfrm>
            <a:off x="749808" y="2741554"/>
            <a:ext cx="457200" cy="457200"/>
          </a:xfrm>
          <a:prstGeom prst="ellipse">
            <a:avLst/>
          </a:prstGeom>
          <a:solidFill>
            <a:srgbClr val="8C959F"/>
          </a:solidFill>
          <a:ln/>
        </p:spPr>
      </p:sp>
      <p:sp>
        <p:nvSpPr>
          <p:cNvPr id="9" name="Text 6"/>
          <p:cNvSpPr txBox="1"/>
          <p:nvPr/>
        </p:nvSpPr>
        <p:spPr>
          <a:xfrm>
            <a:off x="749808" y="27415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0" name="Text 7"/>
          <p:cNvSpPr txBox="1"/>
          <p:nvPr/>
        </p:nvSpPr>
        <p:spPr>
          <a:xfrm>
            <a:off x="1353312" y="2750698"/>
            <a:ext cx="4541368" cy="438912"/>
          </a:xfrm>
          <a:prstGeom prst="rect">
            <a:avLst/>
          </a:prstGeom>
          <a:noFill/>
          <a:ln/>
        </p:spPr>
        <p:txBody>
          <a:bodyPr wrap="square" lIns="0" tIns="0" rIns="0" bIns="0" rtlCol="0" anchor="ctr"/>
          <a:lstStyle/>
          <a:p>
            <a:pPr indent="0" marL="0">
              <a:buNone/>
            </a:pPr>
            <a:r>
              <a:rPr lang="id-ID" altLang="en-US" sz="2000" dirty="0">
                <a:solidFill>
                  <a:srgbClr val="57606A"/>
                </a:solidFill>
              </a:rPr>
              <a:t>pelat nomor</a:t>
            </a:r>
            <a:endParaRPr lang="id-ID" sz="2000" dirty="0"/>
          </a:p>
        </p:txBody>
      </p:sp>
      <p:sp>
        <p:nvSpPr>
          <p:cNvPr id="11" name="Shape 8"/>
          <p:cNvSpPr/>
          <p:nvPr/>
        </p:nvSpPr>
        <p:spPr>
          <a:xfrm>
            <a:off x="6187288" y="2640970"/>
            <a:ext cx="5455768" cy="658368"/>
          </a:xfrm>
          <a:prstGeom prst="roundRect">
            <a:avLst>
              <a:gd name="adj" fmla="val 23148"/>
            </a:avLst>
          </a:prstGeom>
          <a:solidFill>
            <a:srgbClr val="FFFFFF"/>
          </a:solidFill>
          <a:ln w="9525">
            <a:solidFill>
              <a:srgbClr val="D0D7DE"/>
            </a:solidFill>
            <a:prstDash val="solid"/>
          </a:ln>
        </p:spPr>
      </p:sp>
      <p:sp>
        <p:nvSpPr>
          <p:cNvPr id="12" name="Shape 9"/>
          <p:cNvSpPr/>
          <p:nvPr/>
        </p:nvSpPr>
        <p:spPr>
          <a:xfrm>
            <a:off x="6388456" y="2741554"/>
            <a:ext cx="457200" cy="457200"/>
          </a:xfrm>
          <a:prstGeom prst="ellipse">
            <a:avLst/>
          </a:prstGeom>
          <a:solidFill>
            <a:srgbClr val="8C959F"/>
          </a:solidFill>
          <a:ln/>
        </p:spPr>
      </p:sp>
      <p:sp>
        <p:nvSpPr>
          <p:cNvPr id="13" name="Text 10"/>
          <p:cNvSpPr txBox="1"/>
          <p:nvPr/>
        </p:nvSpPr>
        <p:spPr>
          <a:xfrm>
            <a:off x="6388456" y="27415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4" name="Text 11"/>
          <p:cNvSpPr txBox="1"/>
          <p:nvPr/>
        </p:nvSpPr>
        <p:spPr>
          <a:xfrm>
            <a:off x="6991960" y="2750698"/>
            <a:ext cx="4541368" cy="438912"/>
          </a:xfrm>
          <a:prstGeom prst="rect">
            <a:avLst/>
          </a:prstGeom>
          <a:noFill/>
          <a:ln/>
        </p:spPr>
        <p:txBody>
          <a:bodyPr wrap="square" lIns="0" tIns="0" rIns="0" bIns="0" rtlCol="0" anchor="ctr"/>
          <a:lstStyle/>
          <a:p>
            <a:pPr indent="0" marL="0">
              <a:buNone/>
            </a:pPr>
            <a:r>
              <a:rPr lang="id-ID" altLang="en-US" sz="2000" dirty="0">
                <a:solidFill>
                  <a:srgbClr val="57606A"/>
                </a:solidFill>
              </a:rPr>
              <a:t>warna</a:t>
            </a:r>
            <a:endParaRPr lang="id-ID" sz="2000" dirty="0"/>
          </a:p>
        </p:txBody>
      </p:sp>
      <p:sp>
        <p:nvSpPr>
          <p:cNvPr id="15" name="Shape 12"/>
          <p:cNvSpPr/>
          <p:nvPr/>
        </p:nvSpPr>
        <p:spPr>
          <a:xfrm>
            <a:off x="548640" y="3482218"/>
            <a:ext cx="5455768" cy="658368"/>
          </a:xfrm>
          <a:prstGeom prst="roundRect">
            <a:avLst>
              <a:gd name="adj" fmla="val 23148"/>
            </a:avLst>
          </a:prstGeom>
          <a:solidFill>
            <a:srgbClr val="FFFFFF"/>
          </a:solidFill>
          <a:ln w="9525">
            <a:solidFill>
              <a:srgbClr val="D0D7DE"/>
            </a:solidFill>
            <a:prstDash val="solid"/>
          </a:ln>
        </p:spPr>
      </p:sp>
      <p:sp>
        <p:nvSpPr>
          <p:cNvPr id="16" name="Shape 13"/>
          <p:cNvSpPr/>
          <p:nvPr/>
        </p:nvSpPr>
        <p:spPr>
          <a:xfrm>
            <a:off x="749808" y="3582802"/>
            <a:ext cx="457200" cy="457200"/>
          </a:xfrm>
          <a:prstGeom prst="ellipse">
            <a:avLst/>
          </a:prstGeom>
          <a:solidFill>
            <a:srgbClr val="8C959F"/>
          </a:solidFill>
          <a:ln/>
        </p:spPr>
      </p:sp>
      <p:sp>
        <p:nvSpPr>
          <p:cNvPr id="17" name="Text 14"/>
          <p:cNvSpPr txBox="1"/>
          <p:nvPr/>
        </p:nvSpPr>
        <p:spPr>
          <a:xfrm>
            <a:off x="749808" y="358280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18" name="Text 15"/>
          <p:cNvSpPr txBox="1"/>
          <p:nvPr/>
        </p:nvSpPr>
        <p:spPr>
          <a:xfrm>
            <a:off x="1353312" y="3591946"/>
            <a:ext cx="4541368" cy="438912"/>
          </a:xfrm>
          <a:prstGeom prst="rect">
            <a:avLst/>
          </a:prstGeom>
          <a:noFill/>
          <a:ln/>
        </p:spPr>
        <p:txBody>
          <a:bodyPr wrap="square" lIns="0" tIns="0" rIns="0" bIns="0" rtlCol="0" anchor="ctr"/>
          <a:lstStyle/>
          <a:p>
            <a:pPr indent="0" marL="0">
              <a:buNone/>
            </a:pPr>
            <a:r>
              <a:rPr lang="id-ID" altLang="en-US" sz="2000" dirty="0">
                <a:solidFill>
                  <a:srgbClr val="57606A"/>
                </a:solidFill>
              </a:rPr>
              <a:t>motor</a:t>
            </a:r>
            <a:endParaRPr lang="id-ID" sz="2000" dirty="0"/>
          </a:p>
        </p:txBody>
      </p:sp>
      <p:sp>
        <p:nvSpPr>
          <p:cNvPr id="19" name="Shape 16"/>
          <p:cNvSpPr/>
          <p:nvPr/>
        </p:nvSpPr>
        <p:spPr>
          <a:xfrm>
            <a:off x="6187288" y="3482218"/>
            <a:ext cx="5455768" cy="658368"/>
          </a:xfrm>
          <a:prstGeom prst="roundRect">
            <a:avLst>
              <a:gd name="adj" fmla="val 23148"/>
            </a:avLst>
          </a:prstGeom>
          <a:solidFill>
            <a:srgbClr val="DAFBE1"/>
          </a:solidFill>
          <a:ln w="22225">
            <a:solidFill>
              <a:srgbClr val="1A7F37"/>
            </a:solidFill>
            <a:prstDash val="solid"/>
          </a:ln>
        </p:spPr>
      </p:sp>
      <p:sp>
        <p:nvSpPr>
          <p:cNvPr id="20" name="Shape 17"/>
          <p:cNvSpPr/>
          <p:nvPr/>
        </p:nvSpPr>
        <p:spPr>
          <a:xfrm>
            <a:off x="6388456" y="3582802"/>
            <a:ext cx="457200" cy="457200"/>
          </a:xfrm>
          <a:prstGeom prst="ellipse">
            <a:avLst/>
          </a:prstGeom>
          <a:solidFill>
            <a:srgbClr val="1A7F37"/>
          </a:solidFill>
          <a:ln/>
        </p:spPr>
      </p:sp>
      <p:pic>
        <p:nvPicPr>
          <p:cNvPr id="21" name="Image 1" descr="preencoded.png">    </p:cNvPr>
          <p:cNvPicPr>
            <a:picLocks noChangeAspect="1"/>
          </p:cNvPicPr>
          <p:nvPr/>
        </p:nvPicPr>
        <p:blipFill>
          <a:blip r:embed="rId2"/>
          <a:stretch>
            <a:fillRect/>
          </a:stretch>
        </p:blipFill>
        <p:spPr>
          <a:xfrm>
            <a:off x="6489040" y="3683386"/>
            <a:ext cx="256032" cy="256032"/>
          </a:xfrm>
          <a:prstGeom prst="rect">
            <a:avLst/>
          </a:prstGeom>
        </p:spPr>
      </p:pic>
      <p:sp>
        <p:nvSpPr>
          <p:cNvPr id="22" name="Text 18"/>
          <p:cNvSpPr txBox="1"/>
          <p:nvPr/>
        </p:nvSpPr>
        <p:spPr>
          <a:xfrm>
            <a:off x="6991960" y="3591946"/>
            <a:ext cx="4541368" cy="438912"/>
          </a:xfrm>
          <a:prstGeom prst="rect">
            <a:avLst/>
          </a:prstGeom>
          <a:noFill/>
          <a:ln/>
        </p:spPr>
        <p:txBody>
          <a:bodyPr wrap="square" lIns="0" tIns="0" rIns="0" bIns="0" rtlCol="0" anchor="ctr"/>
          <a:lstStyle/>
          <a:p>
            <a:pPr indent="0" marL="0">
              <a:buNone/>
            </a:pPr>
            <a:r>
              <a:rPr lang="id-ID" altLang="en-US" sz="2000" dirty="0">
                <a:solidFill>
                  <a:srgbClr val="1F2328"/>
                </a:solidFill>
              </a:rPr>
              <a:t>diisi bensin</a:t>
            </a:r>
            <a:endParaRPr lang="id-ID" sz="2000" dirty="0"/>
          </a:p>
        </p:txBody>
      </p:sp>
      <p:sp>
        <p:nvSpPr>
          <p:cNvPr id="23" name="Shape 19"/>
          <p:cNvSpPr/>
          <p:nvPr/>
        </p:nvSpPr>
        <p:spPr>
          <a:xfrm>
            <a:off x="548640" y="4341754"/>
            <a:ext cx="11094415" cy="1569720"/>
          </a:xfrm>
          <a:prstGeom prst="roundRect">
            <a:avLst>
              <a:gd name="adj" fmla="val 4072"/>
            </a:avLst>
          </a:prstGeom>
          <a:solidFill>
            <a:srgbClr val="FFF8C5"/>
          </a:solidFill>
          <a:ln w="9525">
            <a:solidFill>
              <a:srgbClr val="D4A72C"/>
            </a:solidFill>
            <a:prstDash val="solid"/>
          </a:ln>
        </p:spPr>
      </p:sp>
      <p:sp>
        <p:nvSpPr>
          <p:cNvPr id="24" name="Shape 20"/>
          <p:cNvSpPr/>
          <p:nvPr/>
        </p:nvSpPr>
        <p:spPr>
          <a:xfrm>
            <a:off x="777240" y="4524634"/>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625218"/>
            <a:ext cx="256032" cy="256032"/>
          </a:xfrm>
          <a:prstGeom prst="rect">
            <a:avLst/>
          </a:prstGeom>
        </p:spPr>
      </p:pic>
      <p:sp>
        <p:nvSpPr>
          <p:cNvPr id="26" name="Text 21"/>
          <p:cNvSpPr txBox="1"/>
          <p:nvPr/>
        </p:nvSpPr>
        <p:spPr>
          <a:xfrm>
            <a:off x="1417320" y="4478914"/>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D</a:t>
            </a:r>
            <a:endParaRPr lang="id-ID" sz="1600" dirty="0"/>
          </a:p>
        </p:txBody>
      </p:sp>
      <p:sp>
        <p:nvSpPr>
          <p:cNvPr id="27" name="Text 22"/>
          <p:cNvSpPr txBox="1"/>
          <p:nvPr/>
        </p:nvSpPr>
        <p:spPr>
          <a:xfrm>
            <a:off x="1417320" y="4817242"/>
            <a:ext cx="9951415" cy="1021080"/>
          </a:xfrm>
          <a:prstGeom prst="rect">
            <a:avLst/>
          </a:prstGeom>
          <a:noFill/>
          <a:ln/>
        </p:spPr>
        <p:txBody>
          <a:bodyPr wrap="square" lIns="0" tIns="0" rIns="0" bIns="0" rtlCol="0" anchor="t"/>
          <a:lstStyle/>
          <a:p>
            <a:pPr indent="0" marL="0">
              <a:buNone/>
            </a:pPr>
            <a:r>
              <a:rPr lang="id-ID" altLang="en-US" sz="2000" i="1" dirty="0">
                <a:solidFill>
                  <a:srgbClr val="1F2328"/>
                </a:solidFill>
              </a:rPr>
              <a:t>Method</a:t>
            </a:r>
            <a:r>
              <a:rPr lang="id-ID" altLang="en-US" sz="2000" dirty="0">
                <a:solidFill>
                  <a:srgbClr val="1F2328"/>
                </a:solidFill>
              </a:rPr>
              <a:t> adalah perilaku atau aksi, biasanya berupa kata kerja seperti “dinyalakan” dan “diisi bensin”. “Pelat nomor” dan “warna” adalah atribut, sedangkan “motor” adalah calon nama kelas.</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8026"/>
            <a:ext cx="310896" cy="310896"/>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7037" y="1546423"/>
            <a:ext cx="174102" cy="174102"/>
          </a:xfrm>
          <a:prstGeom prst="rect">
            <a:avLst/>
          </a:prstGeom>
        </p:spPr>
      </p:pic>
      <p:sp>
        <p:nvSpPr>
          <p:cNvPr id="7" name="Text 3"/>
          <p:cNvSpPr txBox="1"/>
          <p:nvPr/>
        </p:nvSpPr>
        <p:spPr>
          <a:xfrm>
            <a:off x="1051560" y="1463040"/>
            <a:ext cx="10591495" cy="727456"/>
          </a:xfrm>
          <a:prstGeom prst="rect">
            <a:avLst/>
          </a:prstGeom>
          <a:noFill/>
          <a:ln/>
        </p:spPr>
        <p:txBody>
          <a:bodyPr wrap="square" lIns="0" tIns="0" rIns="0" bIns="0" rtlCol="0" anchor="t"/>
          <a:lstStyle/>
          <a:p>
            <a:pPr indent="0" marL="0">
              <a:buNone/>
            </a:pPr>
            <a:r>
              <a:rPr lang="id-ID" altLang="en-US" sz="2200" b="1" dirty="0">
                <a:solidFill>
                  <a:srgbClr val="1F2328"/>
                </a:solidFill>
              </a:rPr>
              <a:t>Kelas</a:t>
            </a:r>
            <a:r>
              <a:rPr lang="id-ID" altLang="en-US" sz="2200" dirty="0">
                <a:solidFill>
                  <a:srgbClr val="1F2328"/>
                </a:solidFill>
              </a:rPr>
              <a:t> adalah cetak biru; </a:t>
            </a:r>
            <a:r>
              <a:rPr lang="id-ID" altLang="en-US" sz="2200" b="1" dirty="0">
                <a:solidFill>
                  <a:srgbClr val="1F2328"/>
                </a:solidFill>
              </a:rPr>
              <a:t>objek</a:t>
            </a:r>
            <a:r>
              <a:rPr lang="id-ID" altLang="en-US" sz="2200" dirty="0">
                <a:solidFill>
                  <a:srgbClr val="1F2328"/>
                </a:solidFill>
              </a:rPr>
              <a:t> adalah wujud nyatanya. Satu kelas bisa menghasilkan banyak objek.</a:t>
            </a:r>
            <a:endParaRPr lang="id-ID" sz="2200" dirty="0"/>
          </a:p>
        </p:txBody>
      </p:sp>
      <p:sp>
        <p:nvSpPr>
          <p:cNvPr id="8" name="Shape 4"/>
          <p:cNvSpPr/>
          <p:nvPr/>
        </p:nvSpPr>
        <p:spPr>
          <a:xfrm>
            <a:off x="548640" y="2360930"/>
            <a:ext cx="310896" cy="310896"/>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7037" y="2429327"/>
            <a:ext cx="174102" cy="174102"/>
          </a:xfrm>
          <a:prstGeom prst="rect">
            <a:avLst/>
          </a:prstGeom>
        </p:spPr>
      </p:pic>
      <p:sp>
        <p:nvSpPr>
          <p:cNvPr id="10" name="Text 5"/>
          <p:cNvSpPr txBox="1"/>
          <p:nvPr/>
        </p:nvSpPr>
        <p:spPr>
          <a:xfrm>
            <a:off x="1051560" y="2345944"/>
            <a:ext cx="10591495" cy="386588"/>
          </a:xfrm>
          <a:prstGeom prst="rect">
            <a:avLst/>
          </a:prstGeom>
          <a:noFill/>
          <a:ln/>
        </p:spPr>
        <p:txBody>
          <a:bodyPr wrap="square" lIns="0" tIns="0" rIns="0" bIns="0" rtlCol="0" anchor="t"/>
          <a:lstStyle/>
          <a:p>
            <a:pPr indent="0" marL="0">
              <a:buNone/>
            </a:pPr>
            <a:r>
              <a:rPr lang="id-ID" altLang="en-US" sz="2200" b="1" dirty="0">
                <a:solidFill>
                  <a:srgbClr val="1F2328"/>
                </a:solidFill>
              </a:rPr>
              <a:t>Atribut</a:t>
            </a:r>
            <a:r>
              <a:rPr lang="id-ID" altLang="en-US" sz="2200" dirty="0">
                <a:solidFill>
                  <a:srgbClr val="1F2328"/>
                </a:solidFill>
              </a:rPr>
              <a:t> menyimpan ciri objek, sedangkan </a:t>
            </a:r>
            <a:r>
              <a:rPr lang="id-ID" altLang="en-US" sz="2200" b="1" i="1" dirty="0">
                <a:solidFill>
                  <a:srgbClr val="1F2328"/>
                </a:solidFill>
              </a:rPr>
              <a:t>method</a:t>
            </a:r>
            <a:r>
              <a:rPr lang="id-ID" altLang="en-US" sz="2200" dirty="0">
                <a:solidFill>
                  <a:srgbClr val="1F2328"/>
                </a:solidFill>
              </a:rPr>
              <a:t> adalah perilakunya.</a:t>
            </a:r>
            <a:endParaRPr lang="id-ID" sz="2200" dirty="0"/>
          </a:p>
        </p:txBody>
      </p:sp>
      <p:sp>
        <p:nvSpPr>
          <p:cNvPr id="11" name="Shape 6"/>
          <p:cNvSpPr/>
          <p:nvPr/>
        </p:nvSpPr>
        <p:spPr>
          <a:xfrm>
            <a:off x="548640" y="2902966"/>
            <a:ext cx="310896" cy="310896"/>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7037" y="2971363"/>
            <a:ext cx="174102" cy="174102"/>
          </a:xfrm>
          <a:prstGeom prst="rect">
            <a:avLst/>
          </a:prstGeom>
        </p:spPr>
      </p:pic>
      <p:sp>
        <p:nvSpPr>
          <p:cNvPr id="13" name="Text 7"/>
          <p:cNvSpPr txBox="1"/>
          <p:nvPr/>
        </p:nvSpPr>
        <p:spPr>
          <a:xfrm>
            <a:off x="1051560" y="2887980"/>
            <a:ext cx="10591495" cy="386588"/>
          </a:xfrm>
          <a:prstGeom prst="rect">
            <a:avLst/>
          </a:prstGeom>
          <a:noFill/>
          <a:ln/>
        </p:spPr>
        <p:txBody>
          <a:bodyPr wrap="square" lIns="0" tIns="0" rIns="0" bIns="0" rtlCol="0" anchor="t"/>
          <a:lstStyle/>
          <a:p>
            <a:pPr indent="0" marL="0">
              <a:buNone/>
            </a:pPr>
            <a:r>
              <a:rPr lang="id-ID" altLang="en-US" sz="2200" dirty="0">
                <a:solidFill>
                  <a:srgbClr val="1F2328"/>
                </a:solidFill>
              </a:rPr>
              <a:t>Trik analisis: kata benda menjadi kelas atau atribut, kata kerja menjadi </a:t>
            </a:r>
            <a:r>
              <a:rPr lang="id-ID" altLang="en-US" sz="2200" i="1" dirty="0">
                <a:solidFill>
                  <a:srgbClr val="1F2328"/>
                </a:solidFill>
              </a:rPr>
              <a:t>method</a:t>
            </a:r>
            <a:r>
              <a:rPr lang="id-ID" altLang="en-US" sz="2200" dirty="0">
                <a:solidFill>
                  <a:srgbClr val="1F2328"/>
                </a:solidFill>
              </a:rPr>
              <a:t>.</a:t>
            </a:r>
            <a:endParaRPr lang="id-ID" sz="2200" dirty="0"/>
          </a:p>
        </p:txBody>
      </p:sp>
      <p:sp>
        <p:nvSpPr>
          <p:cNvPr id="14" name="Shape 8"/>
          <p:cNvSpPr/>
          <p:nvPr/>
        </p:nvSpPr>
        <p:spPr>
          <a:xfrm>
            <a:off x="548640" y="3445002"/>
            <a:ext cx="310896" cy="310896"/>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7037" y="3513399"/>
            <a:ext cx="174102" cy="174102"/>
          </a:xfrm>
          <a:prstGeom prst="rect">
            <a:avLst/>
          </a:prstGeom>
        </p:spPr>
      </p:pic>
      <p:sp>
        <p:nvSpPr>
          <p:cNvPr id="16" name="Text 9"/>
          <p:cNvSpPr txBox="1"/>
          <p:nvPr/>
        </p:nvSpPr>
        <p:spPr>
          <a:xfrm>
            <a:off x="1051560" y="3430016"/>
            <a:ext cx="10591495" cy="386588"/>
          </a:xfrm>
          <a:prstGeom prst="rect">
            <a:avLst/>
          </a:prstGeom>
          <a:noFill/>
          <a:ln/>
        </p:spPr>
        <p:txBody>
          <a:bodyPr wrap="square" lIns="0" tIns="0" rIns="0" bIns="0" rtlCol="0" anchor="t"/>
          <a:lstStyle/>
          <a:p>
            <a:pPr indent="0" marL="0">
              <a:buNone/>
            </a:pPr>
            <a:r>
              <a:rPr lang="id-ID" altLang="en-US" sz="2200" b="1" dirty="0">
                <a:solidFill>
                  <a:srgbClr val="1F2328"/>
                </a:solidFill>
              </a:rPr>
              <a:t>Konstruktor</a:t>
            </a:r>
            <a:r>
              <a:rPr lang="id-ID" altLang="en-US" sz="2200" dirty="0">
                <a:solidFill>
                  <a:srgbClr val="1F2328"/>
                </a:solidFill>
              </a:rPr>
              <a:t> berjalan otomatis saat objek dibuat dan mengisi nilai awal atribut.</a:t>
            </a:r>
            <a:endParaRPr lang="id-ID" sz="2200" dirty="0"/>
          </a:p>
        </p:txBody>
      </p:sp>
      <p:sp>
        <p:nvSpPr>
          <p:cNvPr id="17" name="Shape 10"/>
          <p:cNvSpPr/>
          <p:nvPr/>
        </p:nvSpPr>
        <p:spPr>
          <a:xfrm>
            <a:off x="548640" y="3987038"/>
            <a:ext cx="310896" cy="310896"/>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7037" y="4055435"/>
            <a:ext cx="174102" cy="174102"/>
          </a:xfrm>
          <a:prstGeom prst="rect">
            <a:avLst/>
          </a:prstGeom>
        </p:spPr>
      </p:pic>
      <p:sp>
        <p:nvSpPr>
          <p:cNvPr id="19" name="Text 11"/>
          <p:cNvSpPr txBox="1"/>
          <p:nvPr/>
        </p:nvSpPr>
        <p:spPr>
          <a:xfrm>
            <a:off x="1051560" y="3972052"/>
            <a:ext cx="10591495" cy="386588"/>
          </a:xfrm>
          <a:prstGeom prst="rect">
            <a:avLst/>
          </a:prstGeom>
          <a:noFill/>
          <a:ln/>
        </p:spPr>
        <p:txBody>
          <a:bodyPr wrap="square" lIns="0" tIns="0" rIns="0" bIns="0" rtlCol="0" anchor="t"/>
          <a:lstStyle/>
          <a:p>
            <a:pPr indent="0" marL="0">
              <a:buNone/>
            </a:pPr>
            <a:r>
              <a:rPr lang="id-ID" altLang="en-US" sz="2200" dirty="0">
                <a:solidFill>
                  <a:srgbClr val="1F2328"/>
                </a:solidFill>
                <a:latin typeface="Consolas" pitchFamily="34" charset="0"/>
                <a:ea typeface="Consolas" pitchFamily="34" charset="-122"/>
                <a:cs typeface="Consolas" pitchFamily="34" charset="-120"/>
              </a:rPr>
              <a:t>self</a:t>
            </a:r>
            <a:r>
              <a:rPr lang="id-ID" altLang="en-US" sz="2200" dirty="0">
                <a:solidFill>
                  <a:srgbClr val="1F2328"/>
                </a:solidFill>
              </a:rPr>
              <a:t> (Python) dan </a:t>
            </a:r>
            <a:r>
              <a:rPr lang="id-ID" altLang="en-US" sz="2200" dirty="0">
                <a:solidFill>
                  <a:srgbClr val="1F2328"/>
                </a:solidFill>
                <a:latin typeface="Consolas" pitchFamily="34" charset="0"/>
                <a:ea typeface="Consolas" pitchFamily="34" charset="-122"/>
                <a:cs typeface="Consolas" pitchFamily="34" charset="-120"/>
              </a:rPr>
              <a:t>this</a:t>
            </a:r>
            <a:r>
              <a:rPr lang="id-ID" altLang="en-US" sz="2200" dirty="0">
                <a:solidFill>
                  <a:srgbClr val="1F2328"/>
                </a:solidFill>
              </a:rPr>
              <a:t> (Java) berarti objek yang sedang menjalankan </a:t>
            </a:r>
            <a:r>
              <a:rPr lang="id-ID" altLang="en-US" sz="2200" i="1" dirty="0">
                <a:solidFill>
                  <a:srgbClr val="1F2328"/>
                </a:solidFill>
              </a:rPr>
              <a:t>method</a:t>
            </a:r>
            <a:r>
              <a:rPr lang="id-ID" altLang="en-US" sz="2200" dirty="0">
                <a:solidFill>
                  <a:srgbClr val="1F2328"/>
                </a:solidFill>
              </a:rPr>
              <a:t> itu.</a:t>
            </a:r>
            <a:endParaRPr lang="id-ID" sz="2200" dirty="0"/>
          </a:p>
        </p:txBody>
      </p:sp>
      <p:sp>
        <p:nvSpPr>
          <p:cNvPr id="20" name="Shape 12"/>
          <p:cNvSpPr/>
          <p:nvPr/>
        </p:nvSpPr>
        <p:spPr>
          <a:xfrm>
            <a:off x="548640" y="4529074"/>
            <a:ext cx="310896" cy="310896"/>
          </a:xfrm>
          <a:prstGeom prst="ellipse">
            <a:avLst/>
          </a:prstGeom>
          <a:solidFill>
            <a:srgbClr val="1A7F37"/>
          </a:solidFill>
          <a:ln/>
        </p:spPr>
      </p:sp>
      <p:pic>
        <p:nvPicPr>
          <p:cNvPr id="21" name="Image 6" descr="preencoded.png">    </p:cNvPr>
          <p:cNvPicPr>
            <a:picLocks noChangeAspect="1"/>
          </p:cNvPicPr>
          <p:nvPr/>
        </p:nvPicPr>
        <p:blipFill>
          <a:blip r:embed="rId7"/>
          <a:stretch>
            <a:fillRect/>
          </a:stretch>
        </p:blipFill>
        <p:spPr>
          <a:xfrm>
            <a:off x="617037" y="4597471"/>
            <a:ext cx="174102" cy="174102"/>
          </a:xfrm>
          <a:prstGeom prst="rect">
            <a:avLst/>
          </a:prstGeom>
        </p:spPr>
      </p:pic>
      <p:sp>
        <p:nvSpPr>
          <p:cNvPr id="22" name="Text 13"/>
          <p:cNvSpPr txBox="1"/>
          <p:nvPr/>
        </p:nvSpPr>
        <p:spPr>
          <a:xfrm>
            <a:off x="1051560" y="4514088"/>
            <a:ext cx="10591495" cy="386588"/>
          </a:xfrm>
          <a:prstGeom prst="rect">
            <a:avLst/>
          </a:prstGeom>
          <a:noFill/>
          <a:ln/>
        </p:spPr>
        <p:txBody>
          <a:bodyPr wrap="square" lIns="0" tIns="0" rIns="0" bIns="0" rtlCol="0" anchor="t"/>
          <a:lstStyle/>
          <a:p>
            <a:pPr indent="0" marL="0">
              <a:buNone/>
            </a:pPr>
            <a:r>
              <a:rPr lang="id-ID" altLang="en-US" sz="2200" dirty="0">
                <a:solidFill>
                  <a:srgbClr val="1F2328"/>
                </a:solidFill>
              </a:rPr>
              <a:t>Objek disuruh bekerja lewat </a:t>
            </a:r>
            <a:r>
              <a:rPr lang="id-ID" altLang="en-US" sz="2200" b="1" dirty="0">
                <a:solidFill>
                  <a:srgbClr val="1F2328"/>
                </a:solidFill>
              </a:rPr>
              <a:t>notasi titik</a:t>
            </a:r>
            <a:r>
              <a:rPr lang="id-ID" altLang="en-US" sz="2200" dirty="0">
                <a:solidFill>
                  <a:srgbClr val="1F2328"/>
                </a:solidFill>
              </a:rPr>
              <a:t>: </a:t>
            </a:r>
            <a:r>
              <a:rPr lang="id-ID" altLang="en-US" sz="2200" dirty="0">
                <a:solidFill>
                  <a:srgbClr val="1F2328"/>
                </a:solidFill>
                <a:latin typeface="Consolas" pitchFamily="34" charset="0"/>
                <a:ea typeface="Consolas" pitchFamily="34" charset="-122"/>
                <a:cs typeface="Consolas" pitchFamily="34" charset="-120"/>
              </a:rPr>
              <a:t>objek.method()</a:t>
            </a:r>
            <a:r>
              <a:rPr lang="id-ID" altLang="en-US" sz="2200" dirty="0">
                <a:solidFill>
                  <a:srgbClr val="1F2328"/>
                </a:solidFill>
              </a:rPr>
              <a:t> dan </a:t>
            </a:r>
            <a:r>
              <a:rPr lang="id-ID" altLang="en-US" sz="2200" dirty="0">
                <a:solidFill>
                  <a:srgbClr val="1F2328"/>
                </a:solidFill>
                <a:latin typeface="Consolas" pitchFamily="34" charset="0"/>
                <a:ea typeface="Consolas" pitchFamily="34" charset="-122"/>
                <a:cs typeface="Consolas" pitchFamily="34" charset="-120"/>
              </a:rPr>
              <a:t>objek.atribut</a:t>
            </a:r>
            <a:r>
              <a:rPr lang="id-ID" altLang="en-US" sz="2200" dirty="0">
                <a:solidFill>
                  <a:srgbClr val="1F2328"/>
                </a:solidFill>
              </a:rPr>
              <a:t>.</a:t>
            </a:r>
            <a:endParaRPr lang="id-ID" sz="2200" dirty="0"/>
          </a:p>
        </p:txBody>
      </p:sp>
      <p:sp>
        <p:nvSpPr>
          <p:cNvPr id="23" name="Shape 14"/>
          <p:cNvSpPr/>
          <p:nvPr/>
        </p:nvSpPr>
        <p:spPr>
          <a:xfrm>
            <a:off x="548640" y="5071110"/>
            <a:ext cx="310896" cy="310896"/>
          </a:xfrm>
          <a:prstGeom prst="ellipse">
            <a:avLst/>
          </a:prstGeom>
          <a:solidFill>
            <a:srgbClr val="1A7F37"/>
          </a:solidFill>
          <a:ln/>
        </p:spPr>
      </p:sp>
      <p:pic>
        <p:nvPicPr>
          <p:cNvPr id="24" name="Image 7" descr="preencoded.png">    </p:cNvPr>
          <p:cNvPicPr>
            <a:picLocks noChangeAspect="1"/>
          </p:cNvPicPr>
          <p:nvPr/>
        </p:nvPicPr>
        <p:blipFill>
          <a:blip r:embed="rId8"/>
          <a:stretch>
            <a:fillRect/>
          </a:stretch>
        </p:blipFill>
        <p:spPr>
          <a:xfrm>
            <a:off x="617037" y="5139507"/>
            <a:ext cx="174102" cy="174102"/>
          </a:xfrm>
          <a:prstGeom prst="rect">
            <a:avLst/>
          </a:prstGeom>
        </p:spPr>
      </p:pic>
      <p:sp>
        <p:nvSpPr>
          <p:cNvPr id="25" name="Text 15"/>
          <p:cNvSpPr txBox="1"/>
          <p:nvPr/>
        </p:nvSpPr>
        <p:spPr>
          <a:xfrm>
            <a:off x="1051560" y="5056124"/>
            <a:ext cx="10591495" cy="727456"/>
          </a:xfrm>
          <a:prstGeom prst="rect">
            <a:avLst/>
          </a:prstGeom>
          <a:noFill/>
          <a:ln/>
        </p:spPr>
        <p:txBody>
          <a:bodyPr wrap="square" lIns="0" tIns="0" rIns="0" bIns="0" rtlCol="0" anchor="t"/>
          <a:lstStyle/>
          <a:p>
            <a:pPr indent="0" marL="0">
              <a:buNone/>
            </a:pPr>
            <a:r>
              <a:rPr lang="id-ID" altLang="en-US" sz="2200" dirty="0">
                <a:solidFill>
                  <a:srgbClr val="1F2328"/>
                </a:solidFill>
              </a:rPr>
              <a:t>Setiap objek menyimpan datanya sendiri, jadi perubahan satu objek tidak memengaruhi objek lain.</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519174"/>
            <a:ext cx="137160" cy="137160"/>
          </a:xfrm>
          <a:prstGeom prst="roundRect">
            <a:avLst>
              <a:gd name="adj" fmla="val 166667"/>
            </a:avLst>
          </a:prstGeom>
          <a:solidFill>
            <a:srgbClr val="FB8F44"/>
          </a:solidFill>
          <a:ln/>
        </p:spPr>
      </p:sp>
      <p:sp>
        <p:nvSpPr>
          <p:cNvPr id="6" name="Text 3"/>
          <p:cNvSpPr txBox="1"/>
          <p:nvPr/>
        </p:nvSpPr>
        <p:spPr>
          <a:xfrm>
            <a:off x="932688" y="1417320"/>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Jalankan contoh 01⁠—⁠07 dan studi kasus KedaiKita di jalur pilihanmu.</a:t>
            </a:r>
            <a:endParaRPr lang="id-ID" sz="2200" dirty="0"/>
          </a:p>
        </p:txBody>
      </p:sp>
      <p:sp>
        <p:nvSpPr>
          <p:cNvPr id="7" name="Shape 4"/>
          <p:cNvSpPr/>
          <p:nvPr/>
        </p:nvSpPr>
        <p:spPr>
          <a:xfrm>
            <a:off x="603504" y="2383790"/>
            <a:ext cx="137160" cy="137160"/>
          </a:xfrm>
          <a:prstGeom prst="roundRect">
            <a:avLst>
              <a:gd name="adj" fmla="val 166667"/>
            </a:avLst>
          </a:prstGeom>
          <a:solidFill>
            <a:srgbClr val="FB8F44"/>
          </a:solidFill>
          <a:ln/>
        </p:spPr>
      </p:sp>
      <p:sp>
        <p:nvSpPr>
          <p:cNvPr id="8" name="Text 5"/>
          <p:cNvSpPr txBox="1"/>
          <p:nvPr/>
        </p:nvSpPr>
        <p:spPr>
          <a:xfrm>
            <a:off x="932688" y="2281936"/>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Kerjakan latihan, lalu cek pemahamanmu dengan kuis 10 soal.</a:t>
            </a:r>
            <a:endParaRPr lang="id-ID" sz="2200" dirty="0"/>
          </a:p>
        </p:txBody>
      </p:sp>
      <p:sp>
        <p:nvSpPr>
          <p:cNvPr id="9" name="Text 6"/>
          <p:cNvSpPr txBox="1"/>
          <p:nvPr/>
        </p:nvSpPr>
        <p:spPr>
          <a:xfrm>
            <a:off x="548640" y="3283712"/>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0" name="Shape 7"/>
          <p:cNvSpPr/>
          <p:nvPr/>
        </p:nvSpPr>
        <p:spPr>
          <a:xfrm>
            <a:off x="548640" y="3740912"/>
            <a:ext cx="3666744" cy="457200"/>
          </a:xfrm>
          <a:prstGeom prst="roundRect">
            <a:avLst>
              <a:gd name="adj" fmla="val 100000"/>
            </a:avLst>
          </a:prstGeom>
          <a:solidFill>
            <a:srgbClr val="12407F"/>
          </a:solidFill>
          <a:ln w="12700">
            <a:solidFill>
              <a:srgbClr val="2F6FB5"/>
            </a:solidFill>
            <a:prstDash val="solid"/>
          </a:ln>
        </p:spPr>
      </p:sp>
      <p:pic>
        <p:nvPicPr>
          <p:cNvPr id="11" name="Image 1" descr="preencoded.png">    </p:cNvPr>
          <p:cNvPicPr>
            <a:picLocks noChangeAspect="1"/>
          </p:cNvPicPr>
          <p:nvPr/>
        </p:nvPicPr>
        <p:blipFill>
          <a:blip r:embed="rId2"/>
          <a:stretch>
            <a:fillRect/>
          </a:stretch>
        </p:blipFill>
        <p:spPr>
          <a:xfrm>
            <a:off x="694944" y="3841496"/>
            <a:ext cx="256032" cy="256032"/>
          </a:xfrm>
          <a:prstGeom prst="rect">
            <a:avLst/>
          </a:prstGeom>
        </p:spPr>
      </p:pic>
      <p:sp>
        <p:nvSpPr>
          <p:cNvPr id="12" name="Text 8"/>
          <p:cNvSpPr txBox="1"/>
          <p:nvPr/>
        </p:nvSpPr>
        <p:spPr>
          <a:xfrm>
            <a:off x="1051560"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Konsep</a:t>
            </a:r>
            <a:endParaRPr lang="id-ID" sz="1600" dirty="0"/>
          </a:p>
        </p:txBody>
      </p:sp>
      <p:sp>
        <p:nvSpPr>
          <p:cNvPr id="13" name="Shape 9"/>
          <p:cNvSpPr/>
          <p:nvPr/>
        </p:nvSpPr>
        <p:spPr>
          <a:xfrm>
            <a:off x="4379976" y="3740912"/>
            <a:ext cx="3666744" cy="457200"/>
          </a:xfrm>
          <a:prstGeom prst="roundRect">
            <a:avLst>
              <a:gd name="adj" fmla="val 100000"/>
            </a:avLst>
          </a:prstGeom>
          <a:solidFill>
            <a:srgbClr val="12407F"/>
          </a:solidFill>
          <a:ln w="12700">
            <a:solidFill>
              <a:srgbClr val="2F6FB5"/>
            </a:solidFill>
            <a:prstDash val="solid"/>
          </a:ln>
        </p:spPr>
      </p:sp>
      <p:pic>
        <p:nvPicPr>
          <p:cNvPr id="14" name="Image 2" descr="preencoded.png">    </p:cNvPr>
          <p:cNvPicPr>
            <a:picLocks noChangeAspect="1"/>
          </p:cNvPicPr>
          <p:nvPr/>
        </p:nvPicPr>
        <p:blipFill>
          <a:blip r:embed="rId4"/>
          <a:stretch>
            <a:fillRect/>
          </a:stretch>
        </p:blipFill>
        <p:spPr>
          <a:xfrm>
            <a:off x="4526280" y="3841496"/>
            <a:ext cx="256032" cy="256032"/>
          </a:xfrm>
          <a:prstGeom prst="rect">
            <a:avLst/>
          </a:prstGeom>
        </p:spPr>
      </p:pic>
      <p:sp>
        <p:nvSpPr>
          <p:cNvPr id="15" name="Text 10"/>
          <p:cNvSpPr txBox="1"/>
          <p:nvPr/>
        </p:nvSpPr>
        <p:spPr>
          <a:xfrm>
            <a:off x="4882896"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600" dirty="0"/>
          </a:p>
        </p:txBody>
      </p:sp>
      <p:sp>
        <p:nvSpPr>
          <p:cNvPr id="16" name="Shape 11"/>
          <p:cNvSpPr/>
          <p:nvPr/>
        </p:nvSpPr>
        <p:spPr>
          <a:xfrm>
            <a:off x="548640" y="4326128"/>
            <a:ext cx="3666744" cy="457200"/>
          </a:xfrm>
          <a:prstGeom prst="roundRect">
            <a:avLst>
              <a:gd name="adj" fmla="val 100000"/>
            </a:avLst>
          </a:prstGeom>
          <a:solidFill>
            <a:srgbClr val="12407F"/>
          </a:solidFill>
          <a:ln w="12700">
            <a:solidFill>
              <a:srgbClr val="2F6FB5"/>
            </a:solidFill>
            <a:prstDash val="solid"/>
          </a:ln>
        </p:spPr>
      </p:sp>
      <p:pic>
        <p:nvPicPr>
          <p:cNvPr id="17" name="Image 3" descr="preencoded.png">    </p:cNvPr>
          <p:cNvPicPr>
            <a:picLocks noChangeAspect="1"/>
          </p:cNvPicPr>
          <p:nvPr/>
        </p:nvPicPr>
        <p:blipFill>
          <a:blip r:embed="rId6"/>
          <a:stretch>
            <a:fillRect/>
          </a:stretch>
        </p:blipFill>
        <p:spPr>
          <a:xfrm>
            <a:off x="694944" y="4426712"/>
            <a:ext cx="256032" cy="256032"/>
          </a:xfrm>
          <a:prstGeom prst="rect">
            <a:avLst/>
          </a:prstGeom>
        </p:spPr>
      </p:pic>
      <p:sp>
        <p:nvSpPr>
          <p:cNvPr id="18" name="Text 12"/>
          <p:cNvSpPr txBox="1"/>
          <p:nvPr/>
        </p:nvSpPr>
        <p:spPr>
          <a:xfrm>
            <a:off x="1051560"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600" dirty="0"/>
          </a:p>
        </p:txBody>
      </p:sp>
      <p:sp>
        <p:nvSpPr>
          <p:cNvPr id="19" name="Shape 13"/>
          <p:cNvSpPr/>
          <p:nvPr/>
        </p:nvSpPr>
        <p:spPr>
          <a:xfrm>
            <a:off x="4379976" y="4326128"/>
            <a:ext cx="3666744" cy="457200"/>
          </a:xfrm>
          <a:prstGeom prst="roundRect">
            <a:avLst>
              <a:gd name="adj" fmla="val 100000"/>
            </a:avLst>
          </a:prstGeom>
          <a:solidFill>
            <a:srgbClr val="12407F"/>
          </a:solidFill>
          <a:ln w="12700">
            <a:solidFill>
              <a:srgbClr val="2F6FB5"/>
            </a:solidFill>
            <a:prstDash val="solid"/>
          </a:ln>
        </p:spPr>
      </p:sp>
      <p:pic>
        <p:nvPicPr>
          <p:cNvPr id="20" name="Image 4" descr="preencoded.png">    </p:cNvPr>
          <p:cNvPicPr>
            <a:picLocks noChangeAspect="1"/>
          </p:cNvPicPr>
          <p:nvPr/>
        </p:nvPicPr>
        <p:blipFill>
          <a:blip r:embed="rId8"/>
          <a:stretch>
            <a:fillRect/>
          </a:stretch>
        </p:blipFill>
        <p:spPr>
          <a:xfrm>
            <a:off x="4526280" y="4426712"/>
            <a:ext cx="256032" cy="256032"/>
          </a:xfrm>
          <a:prstGeom prst="rect">
            <a:avLst/>
          </a:prstGeom>
        </p:spPr>
      </p:pic>
      <p:sp>
        <p:nvSpPr>
          <p:cNvPr id="21" name="Text 14"/>
          <p:cNvSpPr txBox="1"/>
          <p:nvPr/>
        </p:nvSpPr>
        <p:spPr>
          <a:xfrm>
            <a:off x="4882896"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9" invalidUrl="" action="" tgtFrame="" tooltip="jembatan-python-java.md" history="1" highlightClick="0" endSnd="0">
                  <a:extLst>
                    <a:ext uri="{A12FA001-AC4F-418D-AE19-62706E023703}">
                      <ahyp:hlinkClr xmlns:ahyp="http://schemas.microsoft.com/office/drawing/2018/hyperlinkcolor" val="tx"/>
                    </a:ext>
                  </a:extLst>
                </a:hlinkClick>
              </a:rPr>
              <a:t>Jembatan Python ↔ Java</a:t>
            </a:r>
            <a:endParaRPr lang="id-ID" sz="1600" dirty="0"/>
          </a:p>
        </p:txBody>
      </p:sp>
      <p:sp>
        <p:nvSpPr>
          <p:cNvPr id="22" name="Shape 15"/>
          <p:cNvSpPr/>
          <p:nvPr/>
        </p:nvSpPr>
        <p:spPr>
          <a:xfrm>
            <a:off x="548640" y="4911344"/>
            <a:ext cx="3666744" cy="457200"/>
          </a:xfrm>
          <a:prstGeom prst="roundRect">
            <a:avLst>
              <a:gd name="adj" fmla="val 100000"/>
            </a:avLst>
          </a:prstGeom>
          <a:solidFill>
            <a:srgbClr val="12407F"/>
          </a:solidFill>
          <a:ln w="12700">
            <a:solidFill>
              <a:srgbClr val="2F6FB5"/>
            </a:solidFill>
            <a:prstDash val="solid"/>
          </a:ln>
        </p:spPr>
      </p:sp>
      <p:pic>
        <p:nvPicPr>
          <p:cNvPr id="23" name="Image 5" descr="preencoded.png">    </p:cNvPr>
          <p:cNvPicPr>
            <a:picLocks noChangeAspect="1"/>
          </p:cNvPicPr>
          <p:nvPr/>
        </p:nvPicPr>
        <p:blipFill>
          <a:blip r:embed="rId10"/>
          <a:stretch>
            <a:fillRect/>
          </a:stretch>
        </p:blipFill>
        <p:spPr>
          <a:xfrm>
            <a:off x="694944" y="5011928"/>
            <a:ext cx="256032" cy="256032"/>
          </a:xfrm>
          <a:prstGeom prst="rect">
            <a:avLst/>
          </a:prstGeom>
        </p:spPr>
      </p:pic>
      <p:sp>
        <p:nvSpPr>
          <p:cNvPr id="24" name="Text 16"/>
          <p:cNvSpPr txBox="1"/>
          <p:nvPr/>
        </p:nvSpPr>
        <p:spPr>
          <a:xfrm>
            <a:off x="1051560"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1" invalidUrl="" action="" tgtFrame="" tooltip="latihan.md" history="1" highlightClick="0" endSnd="0">
                  <a:extLst>
                    <a:ext uri="{A12FA001-AC4F-418D-AE19-62706E023703}">
                      <ahyp:hlinkClr xmlns:ahyp="http://schemas.microsoft.com/office/drawing/2018/hyperlinkcolor" val="tx"/>
                    </a:ext>
                  </a:extLst>
                </a:hlinkClick>
              </a:rPr>
              <a:t>Latihan</a:t>
            </a:r>
            <a:endParaRPr lang="id-ID" sz="1600" dirty="0"/>
          </a:p>
        </p:txBody>
      </p:sp>
      <p:sp>
        <p:nvSpPr>
          <p:cNvPr id="25" name="Shape 17"/>
          <p:cNvSpPr/>
          <p:nvPr/>
        </p:nvSpPr>
        <p:spPr>
          <a:xfrm>
            <a:off x="4379976" y="4911344"/>
            <a:ext cx="3666744" cy="457200"/>
          </a:xfrm>
          <a:prstGeom prst="roundRect">
            <a:avLst>
              <a:gd name="adj" fmla="val 100000"/>
            </a:avLst>
          </a:prstGeom>
          <a:solidFill>
            <a:srgbClr val="12407F"/>
          </a:solidFill>
          <a:ln w="12700">
            <a:solidFill>
              <a:srgbClr val="2F6FB5"/>
            </a:solidFill>
            <a:prstDash val="solid"/>
          </a:ln>
        </p:spPr>
      </p:sp>
      <p:pic>
        <p:nvPicPr>
          <p:cNvPr id="26" name="Image 6" descr="preencoded.png">    </p:cNvPr>
          <p:cNvPicPr>
            <a:picLocks noChangeAspect="1"/>
          </p:cNvPicPr>
          <p:nvPr/>
        </p:nvPicPr>
        <p:blipFill>
          <a:blip r:embed="rId12"/>
          <a:stretch>
            <a:fillRect/>
          </a:stretch>
        </p:blipFill>
        <p:spPr>
          <a:xfrm>
            <a:off x="4526280" y="5011928"/>
            <a:ext cx="256032" cy="256032"/>
          </a:xfrm>
          <a:prstGeom prst="rect">
            <a:avLst/>
          </a:prstGeom>
        </p:spPr>
      </p:pic>
      <p:sp>
        <p:nvSpPr>
          <p:cNvPr id="27" name="Text 18"/>
          <p:cNvSpPr txBox="1"/>
          <p:nvPr/>
        </p:nvSpPr>
        <p:spPr>
          <a:xfrm>
            <a:off x="4882896"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3" invalidUrl="" action="" tgtFrame="" tooltip="kuis.md" history="1" highlightClick="0" endSnd="0">
                  <a:extLst>
                    <a:ext uri="{A12FA001-AC4F-418D-AE19-62706E023703}">
                      <ahyp:hlinkClr xmlns:ahyp="http://schemas.microsoft.com/office/drawing/2018/hyperlinkcolor" val="tx"/>
                    </a:ext>
                  </a:extLst>
                </a:hlinkClick>
              </a:rPr>
              <a:t>Kuis 10 soal</a:t>
            </a:r>
            <a:endParaRPr lang="id-ID" sz="1600" dirty="0"/>
          </a:p>
        </p:txBody>
      </p:sp>
      <p:sp>
        <p:nvSpPr>
          <p:cNvPr id="28" name="Shape 19"/>
          <p:cNvSpPr/>
          <p:nvPr/>
        </p:nvSpPr>
        <p:spPr>
          <a:xfrm>
            <a:off x="8503920" y="1280160"/>
            <a:ext cx="2880360" cy="2880360"/>
          </a:xfrm>
          <a:prstGeom prst="roundRect">
            <a:avLst>
              <a:gd name="adj" fmla="val 1411"/>
            </a:avLst>
          </a:prstGeom>
          <a:solidFill>
            <a:srgbClr val="FFFFFF"/>
          </a:solidFill>
          <a:ln/>
        </p:spPr>
      </p:sp>
      <p:pic>
        <p:nvPicPr>
          <p:cNvPr id="29" name="Image 7" descr="Kode QR menuju folder pertemuan di GitHub">    </p:cNvPr>
          <p:cNvPicPr>
            <a:picLocks noChangeAspect="1"/>
          </p:cNvPicPr>
          <p:nvPr/>
        </p:nvPicPr>
        <p:blipFill>
          <a:blip r:embed="rId14"/>
          <a:stretch>
            <a:fillRect/>
          </a:stretch>
        </p:blipFill>
        <p:spPr>
          <a:xfrm>
            <a:off x="8641080" y="1417320"/>
            <a:ext cx="2606040" cy="2606040"/>
          </a:xfrm>
          <a:prstGeom prst="rect">
            <a:avLst/>
          </a:prstGeom>
        </p:spPr>
      </p:pic>
      <p:sp>
        <p:nvSpPr>
          <p:cNvPr id="30" name="Text 20"/>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1" name="Text 21"/>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5"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github.com/antonprafanto/PBO2026/tree/master/Pertemuan-02-Kelas-dan-Objek</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02: Kelas dan Objek</dc:title>
  <dc:subject>Pemrograman Berorientasi Objek 2026</dc:subject>
  <dc:creator>PBO 2026 UNMUL</dc:creator>
  <cp:lastModifiedBy>PBO 2026 UNMUL</cp:lastModifiedBy>
  <cp:revision>1</cp:revision>
  <dcterms:created xsi:type="dcterms:W3CDTF">2026-10-15T02:18:32Z</dcterms:created>
  <dcterms:modified xsi:type="dcterms:W3CDTF">2026-10-15T02:18:32Z</dcterms:modified>
</cp:coreProperties>
</file>