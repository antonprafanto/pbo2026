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6b766ed3-2291-b5d6-28d7-200797c369e6}">
          <p14:sldIdLst>
            <p14:sldId id="256"/>
            <p14:sldId id="257"/>
            <p14:sldId id="258"/>
            <p14:sldId id="259"/>
          </p14:sldIdLst>
        </p14:section>
        <p14:section name="Abstraksi: Menonjolkan yang Penting" id="{93f7e4a1-0618-7ceb-76bf-972164ab9d75}">
          <p14:sldIdLst>
            <p14:sldId id="260"/>
            <p14:sldId id="261"/>
            <p14:sldId id="262"/>
            <p14:sldId id="263"/>
          </p14:sldIdLst>
        </p14:section>
        <p14:section name="Kelas Abstrak dan Template Method" id="{3060e97f-7ec4-a17b-94cb-86c3c62c5f53}">
          <p14:sldIdLst>
            <p14:sldId id="264"/>
            <p14:sldId id="265"/>
            <p14:sldId id="266"/>
            <p14:sldId id="267"/>
            <p14:sldId id="268"/>
          </p14:sldIdLst>
        </p14:section>
        <p14:section name="Interface: Kontrak Kemampuan" id="{5df4eea9-23c8-9ca2-a7b4-0bb998b13318}">
          <p14:sldIdLst>
            <p14:sldId id="269"/>
            <p14:sldId id="270"/>
            <p14:sldId id="271"/>
            <p14:sldId id="272"/>
            <p14:sldId id="273"/>
          </p14:sldIdLst>
        </p14:section>
        <p14:section name="Kelas Abstrak atau Interface?" id="{37d036b6-1b8c-4969-a815-1437d3ae4697}">
          <p14:sldIdLst>
            <p14:sldId id="274"/>
            <p14:sldId id="275"/>
            <p14:sldId id="276"/>
          </p14:sldIdLst>
        </p14:section>
        <p14:section name="Studi Kasus KedaiKita" id="{c5bae8f4-5eef-e28c-7793-9cbe5bc62b0e}">
          <p14:sldIdLst>
            <p14:sldId id="277"/>
            <p14:sldId id="278"/>
            <p14:sldId id="279"/>
            <p14:sldId id="280"/>
          </p14:sldIdLst>
        </p14:section>
        <p14:section name="Cek Pemahaman" id="{a06f549b-dac6-9982-85e6-dc7650a496a9}">
          <p14:sldIdLst>
            <p14:sldId id="281"/>
            <p14:sldId id="282"/>
            <p14:sldId id="283"/>
            <p14:sldId id="284"/>
            <p14:sldId id="285"/>
          </p14:sldIdLst>
        </p14:section>
        <p14:section name="Penutup" id="{edf639fa-0a2a-4052-c5dd-f0cde7887fd9}">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10. Hari ini kita belajar abstraksi, pilar keempat PBO. Kita akan membuat kelas abstrak, yaitu cetak biru yang sengaja belum lengkap, dan </a:t>
            </a:r>
            <a:r>
              <a:rPr lang="id-ID" dirty="0" i="1"/>
              <a:t>interface</a:t>
            </a:r>
            <a:r>
              <a:rPr lang="id-ID" dirty="0"/>
              <a:t>, yaitu kontrak kemampuan. Keduanya membuat program lebih aman: kesalahan desain ketahuan lebih awal, dan kelas-kelas yang tidak bersaudara pun bisa diperlakukan dengan cara yang sama. Semua bahan ada di folder Pertemuan-10-Abstract-Class-dan-Interface di GitHub.</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enam kemampuan yang kita kejar hari ini. Dua istilah kunci yang akan sering muncul adalah kelas abstrak dan </a:t>
            </a:r>
            <a:r>
              <a:rPr lang="id-ID" dirty="0" i="1"/>
              <a:t>interface</a:t>
            </a:r>
            <a:r>
              <a:rPr lang="id-ID" dirty="0"/>
              <a:t>. Di akhir pertemuan, kamu seharusnya bisa menjawab pertanyaan sederhana tetapi penting: untuk sebuah kasus, mana yang lebih cocok, dan mengapa? Seperti biasa, setelah konsep di </a:t>
            </a:r>
            <a:r>
              <a:rPr lang="id-ID" dirty="0" i="1"/>
              <a:t>slide</a:t>
            </a:r>
            <a:r>
              <a:rPr lang="id-ID" dirty="0"/>
              <a:t> ini, lanjutkan ke halaman praktik Python atau Java, halaman Jembatan Python ↔ Java, latihan, lalu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Pertemuan 09, </a:t>
            </a:r>
            <a:r>
              <a:rPr lang="en-US" dirty="0">
                <a:latin typeface="Consolas"/>
              </a:rPr>
              <a:t>Pesanan.bayar()</a:t>
            </a:r>
            <a:r>
              <a:rPr lang="id-ID" dirty="0"/>
              <a:t> bisa menerima tunai, QRIS, maupun kartu tanpa satu pun percabangan, berkat polimorfisme. Namun, ada satu hal janggal yang sengaja kita biarkan: kelas </a:t>
            </a:r>
            <a:r>
              <a:rPr lang="en-US" dirty="0">
                <a:latin typeface="Consolas"/>
              </a:rPr>
              <a:t>Pembayaran</a:t>
            </a:r>
            <a:r>
              <a:rPr lang="id-ID" dirty="0"/>
              <a:t> sendiri bisa dibuat objeknya, dan nama metodenya "Pembayaran umum".</a:t>
            </a:r>
            <a:endParaRPr lang="id-ID" dirty="0"/>
          </a:p>
          <a:p>
            <a:r>
              <a:rPr lang="id-ID" dirty="0"/>
              <a:t>Pertanyaan untuk kelas: pernahkah kamu membayar di kasir dengan pembayaran umum? Hari ini kita memperbaiki kejanggalan itu, lalu belajar membuat kontrak yang bisa dipatuhi kelas-kelas yang tidak bersaudara.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kejanggalan di KedaiKita, lalu mengenal ide besarnya, yaitu abstraksi. Setelah itu kita belajar dua alatnya: kelas abstrak beserta pola </a:t>
            </a:r>
            <a:r>
              <a:rPr lang="id-ID" dirty="0" i="1"/>
              <a:t>template method</a:t>
            </a:r>
            <a:r>
              <a:rPr lang="id-ID" dirty="0"/>
              <a:t>, lalu </a:t>
            </a:r>
            <a:r>
              <a:rPr lang="id-ID" dirty="0" i="1"/>
              <a:t>interface</a:t>
            </a:r>
            <a:r>
              <a:rPr lang="id-ID" dirty="0"/>
              <a:t>. Kita tutup dengan panduan memilih di antara keduanya, cara menggambarnya di diagram kelas, dan dua perbaikan besar di KedaiKita.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Sebelum belajar sintaks baru, kita rasakan dulu masalahnya di KedaiKita. Setelah itu kita kenali ide besarnya lewat benda sehari-hari: mobil dan stopkontak.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kamu kasir KedaiKita. Seorang pelanggan berkata, "Saya bayar pakai pembayaran umum, ya." Kamu pasti bingung, karena di dunia nyata tidak ada pembayaran yang umum saja; yang ada selalu jenis tertentu. Kejanggalan ini menimbulkan dua masalah. Pertama, objek </a:t>
            </a:r>
            <a:r>
              <a:rPr lang="en-US" dirty="0">
                <a:latin typeface="Consolas"/>
              </a:rPr>
              <a:t>Pembayaran</a:t>
            </a:r>
            <a:r>
              <a:rPr lang="id-ID" dirty="0"/>
              <a:t> umum bisa dibuat. Kedua, dan ini yang paling berbahaya, kelas anak baru yang lupa meng-</a:t>
            </a:r>
            <a:r>
              <a:rPr lang="id-ID" dirty="0" i="1"/>
              <a:t>override</a:t>
            </a:r>
            <a:r>
              <a:rPr lang="id-ID" dirty="0"/>
              <a:t> </a:t>
            </a:r>
            <a:r>
              <a:rPr lang="en-US" dirty="0">
                <a:latin typeface="Consolas"/>
              </a:rPr>
              <a:t>proses()</a:t>
            </a:r>
            <a:r>
              <a:rPr lang="id-ID" dirty="0"/>
              <a:t> diam-diam memakai </a:t>
            </a:r>
            <a:r>
              <a:rPr lang="en-US" dirty="0">
                <a:latin typeface="Consolas"/>
              </a:rPr>
              <a:t>proses()</a:t>
            </a:r>
            <a:r>
              <a:rPr lang="id-ID" dirty="0"/>
              <a:t> milik induk yang selalu berhasil. Kita butuh cara untuk berkata kepada bahasa pemrograman: kelas ini hanya kerangka, jangan izinkan siapa pun membuat objeknya, dan setiap kelas anak wajib menulis </a:t>
            </a:r>
            <a:r>
              <a:rPr lang="en-US" dirty="0">
                <a:latin typeface="Consolas"/>
              </a:rPr>
              <a:t>nama_metode()</a:t>
            </a:r>
            <a:r>
              <a:rPr lang="id-ID" dirty="0"/>
              <a:t> serta </a:t>
            </a:r>
            <a:r>
              <a:rPr lang="en-US" dirty="0">
                <a:latin typeface="Consolas"/>
              </a:rPr>
              <a:t>proses()</a:t>
            </a:r>
            <a:r>
              <a:rPr lang="id-ID" dirty="0"/>
              <a:t> versinya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 menyetir mobil, kamu memakai setir, pedal gas, pedal rem, dan tuas persneling, tanpa perlu tahu bagaimana bensin disemprotkan ke mesin. Detail rumit itu disembunyikan. Stopkontak bekerja dengan ide yang sama. </a:t>
            </a:r>
            <a:r>
              <a:rPr lang="id-ID" dirty="0" i="1"/>
              <a:t>Rice cooker</a:t>
            </a:r>
            <a:r>
              <a:rPr lang="id-ID" dirty="0"/>
              <a:t>, </a:t>
            </a:r>
            <a:r>
              <a:rPr lang="id-ID" dirty="0" i="1"/>
              <a:t>charger</a:t>
            </a:r>
            <a:r>
              <a:rPr lang="id-ID" dirty="0"/>
              <a:t> ponsel, dan kipas angin bisa dicolokkan ke stopkontak yang sama, karena stopkontak tidak peduli alat apa yang dicolokkan; yang penting colokannya sesuai standar. Dalam PBO, stopkontak adalah kontrak, yaitu kelas abstrak atau </a:t>
            </a:r>
            <a:r>
              <a:rPr lang="id-ID" dirty="0" i="1"/>
              <a:t>interface</a:t>
            </a:r>
            <a:r>
              <a:rPr lang="id-ID" dirty="0"/>
              <a:t>. Setiap alat adalah kelas konkret yang memenuhi kontrak itu dengan caranya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Abstraksi ada di mana-mana. Mesin ATM menonjolkan tombol tarik tunai dan cek saldo, sedangkan proses ke server bank disembunyikan. Kasir KedaiKita cukup berkata "proses pembayaran ini" tanpa peduli jenisnya. Dalam PBO, ada dua alat utama untuk menerapkan abstraksi, yaitu kelas abstrak dan </a:t>
            </a:r>
            <a:r>
              <a:rPr lang="id-ID" dirty="0" i="1"/>
              <a:t>interface</a:t>
            </a:r>
            <a:r>
              <a:rPr lang="id-ID" dirty="0"/>
              <a:t>, yang menjadi pokok bahasan hari ini. Abstraksi mirip enkapsulasi dari Pertemuan 04, tetapi fokusnya berbeda. Enkapsulasi melindungi data di dalam objek agar tidak dirusak dari luar, sedangkan abstraksi memilih wajah apa yang ditunjukkan objek kepada pemakainya. Keduanya sering bekerja bersama.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bagian ini kita belajar membuat kelas yang tidak bisa dibuat objeknya, </a:t>
            </a:r>
            <a:r>
              <a:rPr lang="id-ID" dirty="0" i="1"/>
              <a:t>method</a:t>
            </a:r>
            <a:r>
              <a:rPr lang="id-ID" dirty="0"/>
              <a:t> yang wajib diisi kelas anak, dan pola </a:t>
            </a:r>
            <a:r>
              <a:rPr lang="id-ID" dirty="0" i="1"/>
              <a:t>template method</a:t>
            </a:r>
            <a:r>
              <a:rPr lang="id-ID" dirty="0"/>
              <a:t> yang memadukan keduanya.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Pergilah ke diler dan katakan, "Saya mau beli satu kendaraan." Penjualnya pasti bertanya, motor atau mobil? Kendaraan adalah konsep umum; benda nyatanya selalu jenis tertentu. </a:t>
            </a:r>
            <a:r>
              <a:rPr lang="id-ID" dirty="0" i="1"/>
              <a:t>Method</a:t>
            </a:r>
            <a:r>
              <a:rPr lang="id-ID" dirty="0"/>
              <a:t> abstrak bekerja seperti kolom bertanda bintang merah di formulir beasiswa: wajib diisi. Ingat, kelas abstrak bukan kelas kosong. Kelas </a:t>
            </a:r>
            <a:r>
              <a:rPr lang="en-US" dirty="0">
                <a:latin typeface="Consolas"/>
              </a:rPr>
              <a:t>Kendaraan</a:t>
            </a:r>
            <a:r>
              <a:rPr lang="id-ID" dirty="0"/>
              <a:t> di contoh 03 punya atribut plat dan bensin, konstruktor, serta </a:t>
            </a:r>
            <a:r>
              <a:rPr lang="id-ID" dirty="0" i="1"/>
              <a:t>method</a:t>
            </a:r>
            <a:r>
              <a:rPr lang="id-ID" dirty="0"/>
              <a:t> konkret </a:t>
            </a:r>
            <a:r>
              <a:rPr lang="en-US" dirty="0">
                <a:latin typeface="Consolas"/>
              </a:rPr>
              <a:t>isi_bensin()</a:t>
            </a:r>
            <a:r>
              <a:rPr lang="id-ID" dirty="0"/>
              <a:t>. Konstruktornya dipanggil saat objek kelas anak dibuat. Variabel, parameter, atau </a:t>
            </a:r>
            <a:r>
              <a:rPr lang="id-ID" dirty="0" i="1"/>
              <a:t>list</a:t>
            </a:r>
            <a:r>
              <a:rPr lang="id-ID" dirty="0"/>
              <a:t> bertipe kelas abstrak juga boleh, dan isinya selalu objek kelas konkret, persis seperti parameter </a:t>
            </a:r>
            <a:r>
              <a:rPr lang="en-US" dirty="0">
                <a:latin typeface="Consolas"/>
              </a:rPr>
              <a:t>pembayaran</a:t>
            </a:r>
            <a:r>
              <a:rPr lang="id-ID" dirty="0"/>
              <a:t> di </a:t>
            </a:r>
            <a:r>
              <a:rPr lang="en-US" dirty="0">
                <a:latin typeface="Consolas"/>
              </a:rPr>
              <a:t>Pesanan.bayar()</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Python tidak punya kata kunci </a:t>
            </a:r>
            <a:r>
              <a:rPr lang="en-US" dirty="0">
                <a:latin typeface="Consolas"/>
              </a:rPr>
              <a:t>abstract</a:t>
            </a:r>
            <a:r>
              <a:rPr lang="id-ID" dirty="0"/>
              <a:t>. Pustaka standarnya menyediakan modul </a:t>
            </a:r>
            <a:r>
              <a:rPr lang="en-US" dirty="0">
                <a:latin typeface="Consolas"/>
              </a:rPr>
              <a:t>abc</a:t>
            </a:r>
            <a:r>
              <a:rPr lang="id-ID" dirty="0"/>
              <a:t> dengan dua bahan: kelas </a:t>
            </a:r>
            <a:r>
              <a:rPr lang="en-US" dirty="0">
                <a:latin typeface="Consolas"/>
              </a:rPr>
              <a:t>ABC</a:t>
            </a:r>
            <a:r>
              <a:rPr lang="id-ID" dirty="0"/>
              <a:t> yang diwarisi kelas abstrak, dan dekorator </a:t>
            </a:r>
            <a:r>
              <a:rPr lang="en-US" dirty="0">
                <a:latin typeface="Consolas"/>
              </a:rPr>
              <a:t>@abstractmethod</a:t>
            </a:r>
            <a:r>
              <a:rPr lang="id-ID" dirty="0"/>
              <a:t> di atas setiap </a:t>
            </a:r>
            <a:r>
              <a:rPr lang="id-ID" dirty="0" i="1"/>
              <a:t>method</a:t>
            </a:r>
            <a:r>
              <a:rPr lang="id-ID" dirty="0"/>
              <a:t> abstrak. Isinya cukup </a:t>
            </a:r>
            <a:r>
              <a:rPr lang="id-ID" dirty="0" i="1"/>
              <a:t>docstring</a:t>
            </a:r>
            <a:r>
              <a:rPr lang="id-ID" dirty="0"/>
              <a:t>. Java memakai kata kunci </a:t>
            </a:r>
            <a:r>
              <a:rPr lang="en-US" dirty="0">
                <a:latin typeface="Consolas"/>
              </a:rPr>
              <a:t>abstract</a:t>
            </a:r>
            <a:r>
              <a:rPr lang="id-ID" dirty="0"/>
              <a:t> di depan </a:t>
            </a:r>
            <a:r>
              <a:rPr lang="en-US" dirty="0">
                <a:latin typeface="Consolas"/>
              </a:rPr>
              <a:t>class</a:t>
            </a:r>
            <a:r>
              <a:rPr lang="id-ID" dirty="0"/>
              <a:t> dan di depan </a:t>
            </a:r>
            <a:r>
              <a:rPr lang="id-ID" dirty="0" i="1"/>
              <a:t>method</a:t>
            </a:r>
            <a:r>
              <a:rPr lang="id-ID" dirty="0"/>
              <a:t>; </a:t>
            </a:r>
            <a:r>
              <a:rPr lang="id-ID" dirty="0" i="1"/>
              <a:t>method</a:t>
            </a:r>
            <a:r>
              <a:rPr lang="id-ID" dirty="0"/>
              <a:t> abstrak tidak punya kurung kurawal dan diakhiri titik koma. </a:t>
            </a:r>
            <a:r>
              <a:rPr lang="en-US" dirty="0">
                <a:latin typeface="Consolas"/>
              </a:rPr>
              <a:t>Bentuk</a:t>
            </a:r>
            <a:r>
              <a:rPr lang="id-ID" dirty="0"/>
              <a:t> juga punya </a:t>
            </a:r>
            <a:r>
              <a:rPr lang="id-ID" dirty="0" i="1"/>
              <a:t>method</a:t>
            </a:r>
            <a:r>
              <a:rPr lang="id-ID" dirty="0"/>
              <a:t> abstrak </a:t>
            </a:r>
            <a:r>
              <a:rPr lang="en-US" dirty="0">
                <a:latin typeface="Consolas"/>
              </a:rPr>
              <a:t>keliling()</a:t>
            </a:r>
            <a:r>
              <a:rPr lang="id-ID" dirty="0"/>
              <a:t>. </a:t>
            </a:r>
            <a:r>
              <a:rPr lang="en-US" dirty="0">
                <a:latin typeface="Consolas"/>
              </a:rPr>
              <a:t>PersegiPanjang</a:t>
            </a:r>
            <a:r>
              <a:rPr lang="id-ID" dirty="0"/>
              <a:t> mengisi keduanya sehingga menjadi kelas konkret. Jika kita menulis </a:t>
            </a:r>
            <a:r>
              <a:rPr lang="en-US" dirty="0">
                <a:latin typeface="Consolas"/>
              </a:rPr>
              <a:t>Bentuk()</a:t>
            </a:r>
            <a:r>
              <a:rPr lang="id-ID" dirty="0"/>
              <a:t> di Python, program berhenti dengan </a:t>
            </a:r>
            <a:r>
              <a:rPr lang="en-US" dirty="0">
                <a:latin typeface="Consolas"/>
              </a:rPr>
              <a:t>TypeError</a:t>
            </a:r>
            <a:r>
              <a:rPr lang="id-ID" dirty="0"/>
              <a:t> saat baris itu dijalankan. Di Java, </a:t>
            </a:r>
            <a:r>
              <a:rPr lang="en-US" dirty="0">
                <a:latin typeface="Consolas"/>
              </a:rPr>
              <a:t>new Bentuk()</a:t>
            </a:r>
            <a:r>
              <a:rPr lang="id-ID" dirty="0"/>
              <a:t> ditolak saat kompilasi dengan pesan </a:t>
            </a:r>
            <a:r>
              <a:rPr lang="id-ID" dirty="0" i="1"/>
              <a:t>is abstract; cannot be instantiated</a:t>
            </a:r>
            <a:r>
              <a:rPr lang="id-ID" dirty="0"/>
              <a:t>. Kode lengkapnya adalah contoh 02.</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Diagram ini menjawab masalah kedua di awal pertemuan. Kelas anak dari kelas abstrak harus mengisi semua </a:t>
            </a:r>
            <a:r>
              <a:rPr lang="id-ID" dirty="0" i="1"/>
              <a:t>method</a:t>
            </a:r>
            <a:r>
              <a:rPr lang="id-ID" dirty="0"/>
              <a:t> abstrak agar menjadi kelas konkret. Kelas anak yang baru mengisi sebagian masih dianggap abstrak; di Java, kelas seperti itu wajib ditandai </a:t>
            </a:r>
            <a:r>
              <a:rPr lang="en-US" dirty="0">
                <a:latin typeface="Consolas"/>
              </a:rPr>
              <a:t>abstract</a:t>
            </a:r>
            <a:r>
              <a:rPr lang="id-ID" dirty="0"/>
              <a:t> juga. Kedua bahasa sama-sama menolak, tetapi waktunya berbeda. Python baru memeriksa saat objek dibuat, jadi baris-baris sebelumnya sempat dijalankan. Java memeriksa saat kompilasi, sehingga tidak ada satu baris pun yang dijalankan. Satu catatan kecil: Python hanya menolak jika kelas itu masih punya </a:t>
            </a:r>
            <a:r>
              <a:rPr lang="id-ID" dirty="0" i="1"/>
              <a:t>method</a:t>
            </a:r>
            <a:r>
              <a:rPr lang="id-ID" dirty="0"/>
              <a:t> abstrak. Kelas yang mewarisi </a:t>
            </a:r>
            <a:r>
              <a:rPr lang="en-US" dirty="0">
                <a:latin typeface="Consolas"/>
              </a:rPr>
              <a:t>ABC</a:t>
            </a:r>
            <a:r>
              <a:rPr lang="id-ID" dirty="0"/>
              <a:t> tanpa </a:t>
            </a:r>
            <a:r>
              <a:rPr lang="id-ID" dirty="0" i="1"/>
              <a:t>method</a:t>
            </a:r>
            <a:r>
              <a:rPr lang="id-ID" dirty="0"/>
              <a:t> abstrak tetap bisa dibuat objeknya, sedangkan kelas </a:t>
            </a:r>
            <a:r>
              <a:rPr lang="en-US" dirty="0">
                <a:latin typeface="Consolas"/>
              </a:rPr>
              <a:t>abstract</a:t>
            </a:r>
            <a:r>
              <a:rPr lang="id-ID" dirty="0"/>
              <a:t> di Java selalu ditolak.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format laporan resmi di kampus: selalu garis kop, judul, isi, lalu penutup. Laporan kehadiran dan laporan perpustakaan hanya berbeda di judul dan isinya. </a:t>
            </a:r>
            <a:r>
              <a:rPr lang="id-ID" dirty="0" i="1"/>
              <a:t>Template method</a:t>
            </a:r>
            <a:r>
              <a:rPr lang="id-ID" dirty="0"/>
              <a:t> adalah </a:t>
            </a:r>
            <a:r>
              <a:rPr lang="id-ID" dirty="0" i="1"/>
              <a:t>method</a:t>
            </a:r>
            <a:r>
              <a:rPr lang="id-ID" dirty="0"/>
              <a:t> konkret di kelas abstrak </a:t>
            </a:r>
            <a:r>
              <a:rPr lang="en-US" dirty="0">
                <a:latin typeface="Consolas"/>
              </a:rPr>
              <a:t>Laporan</a:t>
            </a:r>
            <a:r>
              <a:rPr lang="id-ID" dirty="0"/>
              <a:t> yang menetapkan urutan langkah, lalu menyerahkan langkah yang berbeda ke </a:t>
            </a:r>
            <a:r>
              <a:rPr lang="id-ID" dirty="0" i="1"/>
              <a:t>method</a:t>
            </a:r>
            <a:r>
              <a:rPr lang="id-ID" dirty="0"/>
              <a:t> abstrak. Ada tiga jenis langkah: langkah tetap seperti mencetak garis, langkah wajib seperti </a:t>
            </a:r>
            <a:r>
              <a:rPr lang="en-US" dirty="0">
                <a:latin typeface="Consolas"/>
              </a:rPr>
              <a:t>judul()</a:t>
            </a:r>
            <a:r>
              <a:rPr lang="id-ID" dirty="0"/>
              <a:t> dan </a:t>
            </a:r>
            <a:r>
              <a:rPr lang="en-US" dirty="0">
                <a:latin typeface="Consolas"/>
              </a:rPr>
              <a:t>isi()</a:t>
            </a:r>
            <a:r>
              <a:rPr lang="id-ID" dirty="0"/>
              <a:t>, serta langkah opsional atau </a:t>
            </a:r>
            <a:r>
              <a:rPr lang="id-ID" dirty="0" i="1"/>
              <a:t>hook</a:t>
            </a:r>
            <a:r>
              <a:rPr lang="id-ID" dirty="0"/>
              <a:t> seperti </a:t>
            </a:r>
            <a:r>
              <a:rPr lang="en-US" dirty="0">
                <a:latin typeface="Consolas"/>
              </a:rPr>
              <a:t>penutup()</a:t>
            </a:r>
            <a:r>
              <a:rPr lang="id-ID" dirty="0"/>
              <a:t>. Di Java, </a:t>
            </a:r>
            <a:r>
              <a:rPr lang="en-US" dirty="0">
                <a:latin typeface="Consolas"/>
              </a:rPr>
              <a:t>tampilkan()</a:t>
            </a:r>
            <a:r>
              <a:rPr lang="id-ID" dirty="0"/>
              <a:t> diberi </a:t>
            </a:r>
            <a:r>
              <a:rPr lang="en-US" dirty="0">
                <a:latin typeface="Consolas"/>
              </a:rPr>
              <a:t>final</a:t>
            </a:r>
            <a:r>
              <a:rPr lang="id-ID" dirty="0"/>
              <a:t> agar kerangkanya tidak bisa di-</a:t>
            </a:r>
            <a:r>
              <a:rPr lang="id-ID" dirty="0" i="1"/>
              <a:t>override</a:t>
            </a:r>
            <a:r>
              <a:rPr lang="id-ID" dirty="0"/>
              <a:t>; Python hanya mengandalkan kesepakatan. Ingat polimorfisme dari dalam kelas di Pertemuan 09? Pola itulah yang kini diresmikan. </a:t>
            </a:r>
            <a:r>
              <a:rPr lang="id-ID" dirty="0" i="1"/>
              <a:t>Template method</a:t>
            </a:r>
            <a:r>
              <a:rPr lang="id-ID" dirty="0"/>
              <a:t> termasuk </a:t>
            </a:r>
            <a:r>
              <a:rPr lang="id-ID" dirty="0" i="1"/>
              <a:t>design pattern</a:t>
            </a:r>
            <a:r>
              <a:rPr lang="id-ID" dirty="0"/>
              <a:t> yang dikenalkan lebih banyak di Pertemuan 14.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masalah yang berbeda. </a:t>
            </a:r>
            <a:r>
              <a:rPr lang="en-US" dirty="0">
                <a:latin typeface="Consolas"/>
              </a:rPr>
              <a:t>Kedai</a:t>
            </a:r>
            <a:r>
              <a:rPr lang="id-ID" dirty="0"/>
              <a:t> mencetak daftar menu dan </a:t>
            </a:r>
            <a:r>
              <a:rPr lang="en-US" dirty="0">
                <a:latin typeface="Consolas"/>
              </a:rPr>
              <a:t>Pesanan</a:t>
            </a:r>
            <a:r>
              <a:rPr lang="id-ID" dirty="0"/>
              <a:t> mencetak struk. Keduanya sama-sama bisa dicetak, tetapi jelas tidak bersaudara. Kelas induk bersama tidak cocok karena hubungan "adalah" tidak berlaku di sini.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Pikirkan SIM C. Untuk mendapatkannya, kamu tidak ditanya anak siapa atau dari keluarga mana. Kamu hanya perlu membuktikan bahwa kamu bisa mengendarai motor. Siapa pun yang punya SIM C, mahasiswa, dosen, atau pedagang, boleh mengendarai motor di jalan raya. </a:t>
            </a:r>
            <a:r>
              <a:rPr lang="id-ID" dirty="0" i="1"/>
              <a:t>Interface</a:t>
            </a:r>
            <a:r>
              <a:rPr lang="id-ID" dirty="0"/>
              <a:t> bekerja seperti itu. Nama </a:t>
            </a:r>
            <a:r>
              <a:rPr lang="id-ID" dirty="0" i="1"/>
              <a:t>interface</a:t>
            </a:r>
            <a:r>
              <a:rPr lang="id-ID" dirty="0"/>
              <a:t> biasanya menggambarkan kemampuan, misalnya </a:t>
            </a:r>
            <a:r>
              <a:rPr lang="en-US" dirty="0">
                <a:latin typeface="Consolas"/>
              </a:rPr>
              <a:t>BisaTerbang</a:t>
            </a:r>
            <a:r>
              <a:rPr lang="id-ID" dirty="0"/>
              <a:t>, </a:t>
            </a:r>
            <a:r>
              <a:rPr lang="en-US" dirty="0">
                <a:latin typeface="Consolas"/>
              </a:rPr>
              <a:t>BisaDinyalakan</a:t>
            </a:r>
            <a:r>
              <a:rPr lang="id-ID" dirty="0"/>
              <a:t>, dan </a:t>
            </a:r>
            <a:r>
              <a:rPr lang="en-US" dirty="0">
                <a:latin typeface="Consolas"/>
              </a:rPr>
              <a:t>DapatDicetak</a:t>
            </a:r>
            <a:r>
              <a:rPr lang="id-ID" dirty="0"/>
              <a:t>. Kelas yang memenuhi </a:t>
            </a:r>
            <a:r>
              <a:rPr lang="id-ID" dirty="0" i="1"/>
              <a:t>interface</a:t>
            </a:r>
            <a:r>
              <a:rPr lang="id-ID" dirty="0"/>
              <a:t> dikatakan mengimplementasikan </a:t>
            </a:r>
            <a:r>
              <a:rPr lang="id-ID" dirty="0" i="1"/>
              <a:t>interface</a:t>
            </a:r>
            <a:r>
              <a:rPr lang="id-ID" dirty="0"/>
              <a:t> itu. Python tidak punya kata kunci khusus, jadi cara yang lazim adalah kelas </a:t>
            </a:r>
            <a:r>
              <a:rPr lang="en-US" dirty="0">
                <a:latin typeface="Consolas"/>
              </a:rPr>
              <a:t>ABC</a:t>
            </a:r>
            <a:r>
              <a:rPr lang="id-ID" dirty="0"/>
              <a:t> yang semua </a:t>
            </a:r>
            <a:r>
              <a:rPr lang="id-ID" dirty="0" i="1"/>
              <a:t>method</a:t>
            </a:r>
            <a:r>
              <a:rPr lang="id-ID" dirty="0"/>
              <a:t>-nya abstrak.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a:rPr>
              <a:t>Lampu</a:t>
            </a:r>
            <a:r>
              <a:rPr lang="id-ID" dirty="0"/>
              <a:t>, </a:t>
            </a:r>
            <a:r>
              <a:rPr lang="en-US" dirty="0">
                <a:latin typeface="Consolas"/>
              </a:rPr>
              <a:t>KomporGas</a:t>
            </a:r>
            <a:r>
              <a:rPr lang="id-ID" dirty="0"/>
              <a:t>, dan </a:t>
            </a:r>
            <a:r>
              <a:rPr lang="en-US" dirty="0">
                <a:latin typeface="Consolas"/>
              </a:rPr>
              <a:t>Televisi</a:t>
            </a:r>
            <a:r>
              <a:rPr lang="id-ID" dirty="0"/>
              <a:t> tidak punya kelas induk bersama; kompor gas bahkan bukan alat listrik. Namun, ketiganya memenuhi kontrak </a:t>
            </a:r>
            <a:r>
              <a:rPr lang="en-US" dirty="0">
                <a:latin typeface="Consolas"/>
              </a:rPr>
              <a:t>BisaDinyalakan</a:t>
            </a:r>
            <a:r>
              <a:rPr lang="id-ID" dirty="0"/>
              <a:t>: </a:t>
            </a:r>
            <a:r>
              <a:rPr lang="en-US" dirty="0">
                <a:latin typeface="Consolas"/>
              </a:rPr>
              <a:t>nyalakan()</a:t>
            </a:r>
            <a:r>
              <a:rPr lang="id-ID" dirty="0"/>
              <a:t>, </a:t>
            </a:r>
            <a:r>
              <a:rPr lang="en-US" dirty="0">
                <a:latin typeface="Consolas"/>
              </a:rPr>
              <a:t>matikan()</a:t>
            </a:r>
            <a:r>
              <a:rPr lang="id-ID" dirty="0"/>
              <a:t>, dan </a:t>
            </a:r>
            <a:r>
              <a:rPr lang="en-US" dirty="0">
                <a:latin typeface="Consolas"/>
              </a:rPr>
              <a:t>sedang_menyala()</a:t>
            </a:r>
            <a:r>
              <a:rPr lang="id-ID" dirty="0"/>
              <a:t>. Di Java, </a:t>
            </a:r>
            <a:r>
              <a:rPr lang="id-ID" dirty="0" i="1"/>
              <a:t>method</a:t>
            </a:r>
            <a:r>
              <a:rPr lang="id-ID" dirty="0"/>
              <a:t> di dalam </a:t>
            </a:r>
            <a:r>
              <a:rPr lang="id-ID" dirty="0" i="1"/>
              <a:t>interface</a:t>
            </a:r>
            <a:r>
              <a:rPr lang="id-ID" dirty="0"/>
              <a:t> otomatis </a:t>
            </a:r>
            <a:r>
              <a:rPr lang="en-US" dirty="0">
                <a:latin typeface="Consolas"/>
              </a:rPr>
              <a:t>public</a:t>
            </a:r>
            <a:r>
              <a:rPr lang="id-ID" dirty="0"/>
              <a:t> dan </a:t>
            </a:r>
            <a:r>
              <a:rPr lang="en-US" dirty="0">
                <a:latin typeface="Consolas"/>
              </a:rPr>
              <a:t>abstract</a:t>
            </a:r>
            <a:r>
              <a:rPr lang="id-ID" dirty="0"/>
              <a:t>, sehingga </a:t>
            </a:r>
            <a:r>
              <a:rPr lang="id-ID" dirty="0" i="1"/>
              <a:t>method</a:t>
            </a:r>
            <a:r>
              <a:rPr lang="id-ID" dirty="0"/>
              <a:t> yang mengisinya wajib </a:t>
            </a:r>
            <a:r>
              <a:rPr lang="en-US" dirty="0">
                <a:latin typeface="Consolas"/>
              </a:rPr>
              <a:t>public</a:t>
            </a:r>
            <a:r>
              <a:rPr lang="id-ID" dirty="0"/>
              <a:t>. Hasilnya, fungsi </a:t>
            </a:r>
            <a:r>
              <a:rPr lang="en-US" dirty="0">
                <a:latin typeface="Consolas"/>
              </a:rPr>
              <a:t>matikan_semua()</a:t>
            </a:r>
            <a:r>
              <a:rPr lang="id-ID" dirty="0"/>
              <a:t> bisa menerima daftar campuran ketiganya dan mematikan semuanya sebelum kamu berangkat kuliah, karena ia hanya memanggil </a:t>
            </a:r>
            <a:r>
              <a:rPr lang="id-ID" dirty="0" i="1"/>
              <a:t>method</a:t>
            </a:r>
            <a:r>
              <a:rPr lang="id-ID" dirty="0"/>
              <a:t> yang dijanjikan kontrak. Jika </a:t>
            </a:r>
            <a:r>
              <a:rPr lang="en-US" dirty="0">
                <a:latin typeface="Consolas"/>
              </a:rPr>
              <a:t>KipasAngin</a:t>
            </a:r>
            <a:r>
              <a:rPr lang="id-ID" dirty="0"/>
              <a:t> lupa menulis satu </a:t>
            </a:r>
            <a:r>
              <a:rPr lang="id-ID" dirty="0" i="1"/>
              <a:t>method</a:t>
            </a:r>
            <a:r>
              <a:rPr lang="id-ID" dirty="0"/>
              <a:t>, Python menolak saat objeknya dibuat, sedangkan Java menolak saat kompilasi walaupun objeknya belum pernah dibuat. Kode lengkapnya adalah contoh 05.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Seekor bebek adalah hewan, dan bebek juga bisa terbang serta bisa berenang. Ikan adalah hewan yang bisa berenang, tetapi tidak bisa terbang. Pesawat bisa terbang, tetapi jelas bukan hewan. Garis lurus bersegitiga menunjukkan pewarisan, sedangkan garis putus-putus bersegitiga menunjukkan realisasi, yaitu kelas yang memenuhi </a:t>
            </a:r>
            <a:r>
              <a:rPr lang="id-ID" dirty="0" i="1"/>
              <a:t>interface</a:t>
            </a:r>
            <a:r>
              <a:rPr lang="id-ID" dirty="0"/>
              <a:t>. Ingat Pertemuan 07: Java hanya mengizinkan satu kelas induk. </a:t>
            </a:r>
            <a:r>
              <a:rPr lang="id-ID" dirty="0" i="1"/>
              <a:t>Interface</a:t>
            </a:r>
            <a:r>
              <a:rPr lang="id-ID" dirty="0"/>
              <a:t> adalah jalan keluarnya, karena satu kelas boleh </a:t>
            </a:r>
            <a:r>
              <a:rPr lang="en-US" dirty="0">
                <a:latin typeface="Consolas"/>
              </a:rPr>
              <a:t>extends</a:t>
            </a:r>
            <a:r>
              <a:rPr lang="id-ID" dirty="0"/>
              <a:t> satu kelas tetapi boleh </a:t>
            </a:r>
            <a:r>
              <a:rPr lang="en-US" dirty="0">
                <a:latin typeface="Consolas"/>
              </a:rPr>
              <a:t>implements</a:t>
            </a:r>
            <a:r>
              <a:rPr lang="id-ID" dirty="0"/>
              <a:t> banyak </a:t>
            </a:r>
            <a:r>
              <a:rPr lang="id-ID" dirty="0" i="1"/>
              <a:t>interface</a:t>
            </a:r>
            <a:r>
              <a:rPr lang="id-ID" dirty="0"/>
              <a:t>. Python memang mengizinkan banyak kelas induk, tetapi memisahkan jenis dari kemampuan tetap membuat desain lebih jelas.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Beberapa fitur hanya dimiliki salah satu bahasa. Ide dasarnya sama, detailnya ada di halaman praktik. Jalur Java punya contoh 08 tentang </a:t>
            </a:r>
            <a:r>
              <a:rPr lang="id-ID" dirty="0" i="1"/>
              <a:t>default method</a:t>
            </a:r>
            <a:r>
              <a:rPr lang="id-ID" dirty="0"/>
              <a:t>: </a:t>
            </a:r>
            <a:r>
              <a:rPr lang="id-ID" dirty="0" i="1"/>
              <a:t>interface</a:t>
            </a:r>
            <a:r>
              <a:rPr lang="id-ID" dirty="0"/>
              <a:t> </a:t>
            </a:r>
            <a:r>
              <a:rPr lang="en-US" dirty="0">
                <a:latin typeface="Consolas"/>
              </a:rPr>
              <a:t>BisaDinilai</a:t>
            </a:r>
            <a:r>
              <a:rPr lang="id-ID" dirty="0"/>
              <a:t> punya </a:t>
            </a:r>
            <a:r>
              <a:rPr lang="id-ID" dirty="0" i="1"/>
              <a:t>method</a:t>
            </a:r>
            <a:r>
              <a:rPr lang="id-ID" dirty="0"/>
              <a:t> berisi </a:t>
            </a:r>
            <a:r>
              <a:rPr lang="en-US" dirty="0">
                <a:latin typeface="Consolas"/>
              </a:rPr>
              <a:t>ringkasan()</a:t>
            </a:r>
            <a:r>
              <a:rPr lang="id-ID" dirty="0"/>
              <a:t> yang dipakai warung makan apa adanya, sedangkan pengemudi ojek menggantinya dengan versinya sendiri. </a:t>
            </a:r>
            <a:r>
              <a:rPr lang="id-ID" dirty="0" i="1"/>
              <a:t>Default method</a:t>
            </a:r>
            <a:r>
              <a:rPr lang="id-ID" dirty="0"/>
              <a:t> ditambahkan sejak Java 8 agar </a:t>
            </a:r>
            <a:r>
              <a:rPr lang="id-ID" dirty="0" i="1"/>
              <a:t>interface</a:t>
            </a:r>
            <a:r>
              <a:rPr lang="id-ID" dirty="0"/>
              <a:t> yang sudah dipakai banyak kelas bisa diberi </a:t>
            </a:r>
            <a:r>
              <a:rPr lang="id-ID" dirty="0" i="1"/>
              <a:t>method</a:t>
            </a:r>
            <a:r>
              <a:rPr lang="id-ID" dirty="0"/>
              <a:t> baru tanpa merusak kelas-kelas itu. Jalur Python punya contoh 07 tentang </a:t>
            </a:r>
            <a:r>
              <a:rPr lang="en-US" dirty="0">
                <a:latin typeface="Consolas"/>
              </a:rPr>
              <a:t>typing.Protocol</a:t>
            </a:r>
            <a:r>
              <a:rPr lang="id-ID" dirty="0"/>
              <a:t>: kelas </a:t>
            </a:r>
            <a:r>
              <a:rPr lang="en-US" dirty="0">
                <a:latin typeface="Consolas"/>
              </a:rPr>
              <a:t>Kucing</a:t>
            </a:r>
            <a:r>
              <a:rPr lang="id-ID" dirty="0"/>
              <a:t> cocok dengan kontrak </a:t>
            </a:r>
            <a:r>
              <a:rPr lang="en-US" dirty="0">
                <a:latin typeface="Consolas"/>
              </a:rPr>
              <a:t>BisaBersuara</a:t>
            </a:r>
            <a:r>
              <a:rPr lang="id-ID" dirty="0"/>
              <a:t> tanpa mewarisinya. Ini </a:t>
            </a:r>
            <a:r>
              <a:rPr lang="id-ID" dirty="0" i="1"/>
              <a:t>duck typing</a:t>
            </a:r>
            <a:r>
              <a:rPr lang="id-ID" dirty="0"/>
              <a:t> dari Pertemuan 09 yang kini diresmikan.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Keduanya sama-sama tidak bisa dibuat objeknya dan sama-sama bisa memaksa kelas lain mengisi </a:t>
            </a:r>
            <a:r>
              <a:rPr lang="id-ID" dirty="0" i="1"/>
              <a:t>method</a:t>
            </a:r>
            <a:r>
              <a:rPr lang="id-ID" dirty="0"/>
              <a:t>. Lalu, kapan memakai yang mana? Setelah itu, kita lihat cara menggambar keduanya di diagram 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Pertanyaan kuncinya sederhana. Jika kelas-kelasnya bersaudara dan ada data atau kode yang dipakai bersama, pakai kelas abstrak. Jika kelas-kelasnya hanya sama-sama bisa melakukan sesuatu, pakai </a:t>
            </a:r>
            <a:r>
              <a:rPr lang="id-ID" dirty="0" i="1"/>
              <a:t>interface</a:t>
            </a:r>
            <a:r>
              <a:rPr lang="id-ID" dirty="0"/>
              <a:t>.</a:t>
            </a:r>
            <a:endParaRPr lang="id-ID" dirty="0"/>
          </a:p>
          <a:p>
            <a:r>
              <a:rPr lang="id-ID" dirty="0"/>
              <a:t>Pertanyaan untuk kelas: </a:t>
            </a:r>
            <a:r>
              <a:rPr lang="en-US" dirty="0">
                <a:latin typeface="Consolas"/>
              </a:rPr>
              <a:t>Mahasiswa</a:t>
            </a:r>
            <a:r>
              <a:rPr lang="id-ID" dirty="0"/>
              <a:t>, </a:t>
            </a:r>
            <a:r>
              <a:rPr lang="en-US" dirty="0">
                <a:latin typeface="Consolas"/>
              </a:rPr>
              <a:t>Dosen</a:t>
            </a:r>
            <a:r>
              <a:rPr lang="id-ID" dirty="0"/>
              <a:t>, dan </a:t>
            </a:r>
            <a:r>
              <a:rPr lang="en-US" dirty="0">
                <a:latin typeface="Consolas"/>
              </a:rPr>
              <a:t>Tendik</a:t>
            </a:r>
            <a:r>
              <a:rPr lang="id-ID" dirty="0"/>
              <a:t> sama-sama punya nama, nomor induk, dan </a:t>
            </a:r>
            <a:r>
              <a:rPr lang="id-ID" dirty="0" i="1"/>
              <a:t>email</a:t>
            </a:r>
            <a:r>
              <a:rPr lang="id-ID" dirty="0"/>
              <a:t> kampus. Pilih yang mana? Jawabannya kelas abstrak, misalnya </a:t>
            </a:r>
            <a:r>
              <a:rPr lang="en-US" dirty="0">
                <a:latin typeface="Consolas"/>
              </a:rPr>
              <a:t>SivitasAkademika</a:t>
            </a:r>
            <a:r>
              <a:rPr lang="id-ID" dirty="0"/>
              <a:t>, karena mereka bersaudara dan berbagi data. Bagaimana dengan </a:t>
            </a:r>
            <a:r>
              <a:rPr lang="en-US" dirty="0">
                <a:latin typeface="Consolas"/>
              </a:rPr>
              <a:t>Kucing</a:t>
            </a:r>
            <a:r>
              <a:rPr lang="id-ID" dirty="0"/>
              <a:t> dan </a:t>
            </a:r>
            <a:r>
              <a:rPr lang="en-US" dirty="0">
                <a:latin typeface="Consolas"/>
              </a:rPr>
              <a:t>RobotMainan</a:t>
            </a:r>
            <a:r>
              <a:rPr lang="id-ID" dirty="0"/>
              <a:t> yang sama-sama bisa bersuara? </a:t>
            </a:r>
            <a:r>
              <a:rPr lang="id-ID" dirty="0" i="1"/>
              <a:t>Interface</a:t>
            </a:r>
            <a:r>
              <a:rPr lang="id-ID" dirty="0"/>
              <a:t>, misalnya </a:t>
            </a:r>
            <a:r>
              <a:rPr lang="en-US" dirty="0">
                <a:latin typeface="Consolas"/>
              </a:rPr>
              <a:t>BisaBersuara</a:t>
            </a:r>
            <a:r>
              <a:rPr lang="id-ID" dirty="0"/>
              <a:t>, karena kucing adalah hewan dan robot mainan adalah benda.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Pertemuan 06 kita sempat mengintip stereotip </a:t>
            </a:r>
            <a:r>
              <a:rPr lang="en-US" dirty="0">
                <a:latin typeface="Consolas"/>
              </a:rPr>
              <a:t>&lt;&lt;interface&gt;&gt;</a:t>
            </a:r>
            <a:r>
              <a:rPr lang="id-ID" dirty="0"/>
              <a:t> dan relasi realisasi. Kini semuanya kita pakai sungguhan. Relasi dari kelas ke </a:t>
            </a:r>
            <a:r>
              <a:rPr lang="id-ID" dirty="0" i="1"/>
              <a:t>interface</a:t>
            </a:r>
            <a:r>
              <a:rPr lang="id-ID" dirty="0"/>
              <a:t> disebut realisasi: kelas itu mewujudkan janji yang tertulis di </a:t>
            </a:r>
            <a:r>
              <a:rPr lang="id-ID" dirty="0" i="1"/>
              <a:t>interface</a:t>
            </a:r>
            <a:r>
              <a:rPr lang="id-ID" dirty="0"/>
              <a:t>. Cara mengingatnya: pewarisan bergaris lurus berarti Bebek adalah Hewan, sedangkan realisasi bergaris putus-putus berarti Bebek bisa terbang. Saat menggambar di kertas atau di alat UML lain, biasakan menulis nama kelas abstrak dan </a:t>
            </a:r>
            <a:r>
              <a:rPr lang="id-ID" dirty="0" i="1"/>
              <a:t>method</a:t>
            </a:r>
            <a:r>
              <a:rPr lang="id-ID" dirty="0"/>
              <a:t> abstrak dengan huruf miring.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Hari ini KedaiKita mendapat dua perbaikan besar. Pertama, kejanggalan pembayaran umum dihapus. Kedua, kedai dan pesanan bisa dicetak oleh satu fungsi yang 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Perbaikan pertama: </a:t>
            </a:r>
            <a:r>
              <a:rPr lang="en-US" dirty="0">
                <a:latin typeface="Consolas"/>
              </a:rPr>
              <a:t>Pembayaran</a:t>
            </a:r>
            <a:r>
              <a:rPr lang="id-ID" dirty="0"/>
              <a:t> menjadi kelas abstrak. </a:t>
            </a:r>
            <a:r>
              <a:rPr lang="en-US" dirty="0">
                <a:latin typeface="Consolas"/>
              </a:rPr>
              <a:t>nama_metode()</a:t>
            </a:r>
            <a:r>
              <a:rPr lang="id-ID" dirty="0"/>
              <a:t> dan </a:t>
            </a:r>
            <a:r>
              <a:rPr lang="en-US" dirty="0">
                <a:latin typeface="Consolas"/>
              </a:rPr>
              <a:t>proses()</a:t>
            </a:r>
            <a:r>
              <a:rPr lang="id-ID" dirty="0"/>
              <a:t> menjadi </a:t>
            </a:r>
            <a:r>
              <a:rPr lang="id-ID" dirty="0" i="1"/>
              <a:t>method</a:t>
            </a:r>
            <a:r>
              <a:rPr lang="id-ID" dirty="0"/>
              <a:t> abstrak, ditandai bintang di diagram, sehingga isi pura-pura "Pembayaran umum" dihapus. </a:t>
            </a:r>
            <a:r>
              <a:rPr lang="en-US" dirty="0">
                <a:latin typeface="Consolas"/>
              </a:rPr>
              <a:t>hitung_biaya_layanan()</a:t>
            </a:r>
            <a:r>
              <a:rPr lang="id-ID" dirty="0"/>
              <a:t> tetap </a:t>
            </a:r>
            <a:r>
              <a:rPr lang="id-ID" dirty="0" i="1"/>
              <a:t>method</a:t>
            </a:r>
            <a:r>
              <a:rPr lang="id-ID" dirty="0"/>
              <a:t> konkret bernilai bawaan 0, yaitu sebuah </a:t>
            </a:r>
            <a:r>
              <a:rPr lang="id-ID" dirty="0" i="1"/>
              <a:t>hook</a:t>
            </a:r>
            <a:r>
              <a:rPr lang="id-ID" dirty="0"/>
              <a:t>. </a:t>
            </a:r>
            <a:r>
              <a:rPr lang="id-ID" dirty="0" i="1"/>
              <a:t>Method</a:t>
            </a:r>
            <a:r>
              <a:rPr lang="id-ID" dirty="0"/>
              <a:t> konkret baru </a:t>
            </a:r>
            <a:r>
              <a:rPr lang="en-US" dirty="0">
                <a:latin typeface="Consolas"/>
              </a:rPr>
              <a:t>deskripsi(total)</a:t>
            </a:r>
            <a:r>
              <a:rPr lang="id-ID" dirty="0"/>
              <a:t> memanggil </a:t>
            </a:r>
            <a:r>
              <a:rPr lang="en-US" dirty="0">
                <a:latin typeface="Consolas"/>
              </a:rPr>
              <a:t>nama_metode()</a:t>
            </a:r>
            <a:r>
              <a:rPr lang="id-ID" dirty="0"/>
              <a:t> dan </a:t>
            </a:r>
            <a:r>
              <a:rPr lang="en-US" dirty="0">
                <a:latin typeface="Consolas"/>
              </a:rPr>
              <a:t>hitung_biaya_layanan()</a:t>
            </a:r>
            <a:r>
              <a:rPr lang="id-ID" dirty="0"/>
              <a:t>; ini </a:t>
            </a:r>
            <a:r>
              <a:rPr lang="id-ID" dirty="0" i="1"/>
              <a:t>template method</a:t>
            </a:r>
            <a:r>
              <a:rPr lang="id-ID" dirty="0"/>
              <a:t> kecil. Perbaikan kedua: </a:t>
            </a:r>
            <a:r>
              <a:rPr lang="id-ID" dirty="0" i="1"/>
              <a:t>interface</a:t>
            </a:r>
            <a:r>
              <a:rPr lang="id-ID" dirty="0"/>
              <a:t> baru </a:t>
            </a:r>
            <a:r>
              <a:rPr lang="en-US" dirty="0">
                <a:latin typeface="Consolas"/>
              </a:rPr>
              <a:t>DapatDicetak</a:t>
            </a:r>
            <a:r>
              <a:rPr lang="id-ID" dirty="0"/>
              <a:t> dengan satu </a:t>
            </a:r>
            <a:r>
              <a:rPr lang="id-ID" dirty="0" i="1"/>
              <a:t>method</a:t>
            </a:r>
            <a:r>
              <a:rPr lang="id-ID" dirty="0"/>
              <a:t>, </a:t>
            </a:r>
            <a:r>
              <a:rPr lang="en-US" dirty="0">
                <a:latin typeface="Consolas"/>
              </a:rPr>
              <a:t>cetak()</a:t>
            </a:r>
            <a:r>
              <a:rPr lang="id-ID" dirty="0"/>
              <a:t>. </a:t>
            </a:r>
            <a:r>
              <a:rPr lang="en-US" dirty="0">
                <a:latin typeface="Consolas"/>
              </a:rPr>
              <a:t>Kedai</a:t>
            </a:r>
            <a:r>
              <a:rPr lang="id-ID" dirty="0"/>
              <a:t> dan </a:t>
            </a:r>
            <a:r>
              <a:rPr lang="en-US" dirty="0">
                <a:latin typeface="Consolas"/>
              </a:rPr>
              <a:t>Pesanan</a:t>
            </a:r>
            <a:r>
              <a:rPr lang="id-ID" dirty="0"/>
              <a:t> sama-sama memenuhinya, ditunjukkan garis putus-putus bersegitiga. Garis putus-putus berpanah dari </a:t>
            </a:r>
            <a:r>
              <a:rPr lang="en-US" dirty="0">
                <a:latin typeface="Consolas"/>
              </a:rPr>
              <a:t>Pesanan</a:t>
            </a:r>
            <a:r>
              <a:rPr lang="id-ID" dirty="0"/>
              <a:t> ke </a:t>
            </a:r>
            <a:r>
              <a:rPr lang="en-US" dirty="0">
                <a:latin typeface="Consolas"/>
              </a:rPr>
              <a:t>Pembayaran</a:t>
            </a:r>
            <a:r>
              <a:rPr lang="id-ID" dirty="0"/>
              <a:t> menunjukkan bahwa pesanan memakai pembayaran.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Bandingkan dengan Pertemuan 09. Masalah lupa menulis </a:t>
            </a:r>
            <a:r>
              <a:rPr lang="en-US" dirty="0">
                <a:latin typeface="Consolas"/>
              </a:rPr>
              <a:t>proses()</a:t>
            </a:r>
            <a:r>
              <a:rPr lang="id-ID" dirty="0"/>
              <a:t> lalu pesanan tercatat LUNAS kini tidak mungkin terjadi. Coba sendiri di salinan studi kasus: buat kelas </a:t>
            </a:r>
            <a:r>
              <a:rPr lang="en-US" dirty="0">
                <a:latin typeface="Consolas"/>
              </a:rPr>
              <a:t>PembayaranEWallet</a:t>
            </a:r>
            <a:r>
              <a:rPr lang="id-ID" dirty="0"/>
              <a:t> yang hanya menulis nama metode. Python langsung menolak membuat objeknya dengan </a:t>
            </a:r>
            <a:r>
              <a:rPr lang="en-US" dirty="0">
                <a:latin typeface="Consolas"/>
              </a:rPr>
              <a:t>TypeError</a:t>
            </a:r>
            <a:r>
              <a:rPr lang="id-ID" dirty="0"/>
              <a:t>, sedangkan Java menolak saat kompilasi dengan pesan </a:t>
            </a:r>
            <a:r>
              <a:rPr lang="id-ID" dirty="0" i="1"/>
              <a:t>is not abstract and does not override abstract method</a:t>
            </a:r>
            <a:r>
              <a:rPr lang="id-ID" dirty="0"/>
              <a:t>. Di Pertemuan 09, kelas yang sama akan diterima begitu saja. Bagian "MENGENAL METODE PEMBAYARAN" di program utama memanggil </a:t>
            </a:r>
            <a:r>
              <a:rPr lang="en-US" dirty="0">
                <a:latin typeface="Consolas"/>
              </a:rPr>
              <a:t>deskripsi(100000)</a:t>
            </a:r>
            <a:r>
              <a:rPr lang="id-ID" dirty="0"/>
              <a:t> untuk tiga jenis pembayaran. Hasilnya berbeda: tunai dan QRIS dengan biaya layanan Rp0, sedangkan Kartu Kredit BNI dengan biaya layanan Rp2.000.</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Perubahan di kelas </a:t>
            </a:r>
            <a:r>
              <a:rPr lang="en-US" dirty="0">
                <a:latin typeface="Consolas"/>
              </a:rPr>
              <a:t>Kedai</a:t>
            </a:r>
            <a:r>
              <a:rPr lang="id-ID" dirty="0"/>
              <a:t> dan </a:t>
            </a:r>
            <a:r>
              <a:rPr lang="en-US" dirty="0">
                <a:latin typeface="Consolas"/>
              </a:rPr>
              <a:t>Pesanan</a:t>
            </a:r>
            <a:r>
              <a:rPr lang="id-ID" dirty="0"/>
              <a:t> sangat kecil: keduanya menyatakan diri memenuhi </a:t>
            </a:r>
            <a:r>
              <a:rPr lang="en-US" dirty="0">
                <a:latin typeface="Consolas"/>
              </a:rPr>
              <a:t>DapatDicetak</a:t>
            </a:r>
            <a:r>
              <a:rPr lang="id-ID" dirty="0"/>
              <a:t>, dan </a:t>
            </a:r>
            <a:r>
              <a:rPr lang="id-ID" dirty="0" i="1"/>
              <a:t>method</a:t>
            </a:r>
            <a:r>
              <a:rPr lang="id-ID" dirty="0"/>
              <a:t> lamanya berganti nama menjadi </a:t>
            </a:r>
            <a:r>
              <a:rPr lang="en-US" dirty="0">
                <a:latin typeface="Consolas"/>
              </a:rPr>
              <a:t>cetak()</a:t>
            </a:r>
            <a:r>
              <a:rPr lang="id-ID" dirty="0"/>
              <a:t>. Isinya tetap sama. Mengapa harus berganti nama? Kontrak itu seperti kolom wajib di formulir: namanya sudah ditentukan. Jika </a:t>
            </a:r>
            <a:r>
              <a:rPr lang="en-US" dirty="0">
                <a:latin typeface="Consolas"/>
              </a:rPr>
              <a:t>Pesanan</a:t>
            </a:r>
            <a:r>
              <a:rPr lang="id-ID" dirty="0"/>
              <a:t> menyatakan diri </a:t>
            </a:r>
            <a:r>
              <a:rPr lang="en-US" dirty="0">
                <a:latin typeface="Consolas"/>
              </a:rPr>
              <a:t>DapatDicetak</a:t>
            </a:r>
            <a:r>
              <a:rPr lang="id-ID" dirty="0"/>
              <a:t> tetapi masih punya </a:t>
            </a:r>
            <a:r>
              <a:rPr lang="en-US" dirty="0">
                <a:latin typeface="Consolas"/>
              </a:rPr>
              <a:t>cetak_struk()</a:t>
            </a:r>
            <a:r>
              <a:rPr lang="id-ID" dirty="0"/>
              <a:t> saja, Python menolak membuat objeknya dan Java menolak mengompilasi kelasnya. Karena semuanya memakai nama yang sama, fungsi baru </a:t>
            </a:r>
            <a:r>
              <a:rPr lang="en-US" dirty="0">
                <a:latin typeface="Consolas"/>
              </a:rPr>
              <a:t>cetak_semua()</a:t>
            </a:r>
            <a:r>
              <a:rPr lang="id-ID" dirty="0"/>
              <a:t> bisa memanggil </a:t>
            </a:r>
            <a:r>
              <a:rPr lang="en-US" dirty="0">
                <a:latin typeface="Consolas"/>
              </a:rPr>
              <a:t>dokumen.cetak()</a:t>
            </a:r>
            <a:r>
              <a:rPr lang="id-ID" dirty="0"/>
              <a:t> untuk daftar berisi kedai, struk Budi, dan struk Siti dalam satu perulangan. Inilah polimorfisme lewat </a:t>
            </a:r>
            <a:r>
              <a:rPr lang="id-ID" dirty="0" i="1"/>
              <a:t>interface</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saat pertama kali belajar kelas abstrak dan </a:t>
            </a:r>
            <a:r>
              <a:rPr lang="id-ID" dirty="0" i="1"/>
              <a:t>interface</a:t>
            </a:r>
            <a:r>
              <a:rPr lang="id-ID" dirty="0"/>
              <a:t>. Minta kelas menebak dulu mengapa anggapan di kiri salah. Tiga miskonsepsi lain ada di bagian 12 halaman konsep, termasuk anggapan bahwa abstrak berarti kodenya belum selesai ditulis. Padahal, kelas abstrak adalah keputusan desain yang disengaja: tugasnya memang menjadi induk, bukan dibuat objeknya.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istilah </a:t>
            </a:r>
            <a:r>
              <a:rPr lang="id-ID" dirty="0" i="1"/>
              <a:t>template method</a:t>
            </a:r>
            <a:r>
              <a:rPr lang="id-ID" dirty="0"/>
              <a:t>. Perhatikan pengecohnya, </a:t>
            </a:r>
            <a:r>
              <a:rPr lang="id-ID" dirty="0" i="1"/>
              <a:t>default method</a:t>
            </a:r>
            <a:r>
              <a:rPr lang="id-ID" dirty="0"/>
              <a:t>, yang juga berisi kode tetapi tempatnya di </a:t>
            </a:r>
            <a:r>
              <a:rPr lang="id-ID" dirty="0" i="1"/>
              <a:t>interface</a:t>
            </a:r>
            <a:r>
              <a:rPr lang="id-ID" dirty="0"/>
              <a:t> Java. Beri waktu sekitar 30 detik, lalu minta mahasiswa mengangkat tangan sesuai pilihannya.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a:t>
            </a:r>
            <a:r>
              <a:rPr lang="id-ID" dirty="0" i="1"/>
              <a:t>Template method</a:t>
            </a:r>
            <a:r>
              <a:rPr lang="id-ID" dirty="0"/>
              <a:t>, misalnya </a:t>
            </a:r>
            <a:r>
              <a:rPr lang="en-US" dirty="0">
                <a:latin typeface="Consolas"/>
              </a:rPr>
              <a:t>tampilkan()</a:t>
            </a:r>
            <a:r>
              <a:rPr lang="id-ID" dirty="0"/>
              <a:t> pada </a:t>
            </a:r>
            <a:r>
              <a:rPr lang="en-US" dirty="0">
                <a:latin typeface="Consolas"/>
              </a:rPr>
              <a:t>Laporan</a:t>
            </a:r>
            <a:r>
              <a:rPr lang="id-ID" dirty="0"/>
              <a:t> atau </a:t>
            </a:r>
            <a:r>
              <a:rPr lang="en-US" dirty="0">
                <a:latin typeface="Consolas"/>
              </a:rPr>
              <a:t>deskripsi()</a:t>
            </a:r>
            <a:r>
              <a:rPr lang="id-ID" dirty="0"/>
              <a:t> pada </a:t>
            </a:r>
            <a:r>
              <a:rPr lang="en-US" dirty="0">
                <a:latin typeface="Consolas"/>
              </a:rPr>
              <a:t>Pembayaran</a:t>
            </a:r>
            <a:r>
              <a:rPr lang="id-ID" dirty="0"/>
              <a:t>, menetapkan kerangka yang sama bagi semua kelas anak. </a:t>
            </a:r>
            <a:r>
              <a:rPr lang="id-ID" dirty="0" i="1"/>
              <a:t>Default method</a:t>
            </a:r>
            <a:r>
              <a:rPr lang="id-ID" dirty="0"/>
              <a:t> (B) adalah </a:t>
            </a:r>
            <a:r>
              <a:rPr lang="id-ID" dirty="0" i="1"/>
              <a:t>method</a:t>
            </a:r>
            <a:r>
              <a:rPr lang="id-ID" dirty="0"/>
              <a:t> berisi di </a:t>
            </a:r>
            <a:r>
              <a:rPr lang="id-ID" dirty="0" i="1"/>
              <a:t>interface</a:t>
            </a:r>
            <a:r>
              <a:rPr lang="id-ID" dirty="0"/>
              <a:t> Java; ia bisa memanggil </a:t>
            </a:r>
            <a:r>
              <a:rPr lang="id-ID" dirty="0" i="1"/>
              <a:t>method</a:t>
            </a:r>
            <a:r>
              <a:rPr lang="id-ID" dirty="0"/>
              <a:t> abstrak, tetapi bukan nama pola ini. Konstruktor (A) dan </a:t>
            </a:r>
            <a:r>
              <a:rPr lang="id-ID" dirty="0" i="1"/>
              <a:t>getter</a:t>
            </a:r>
            <a:r>
              <a:rPr lang="id-ID" dirty="0"/>
              <a:t> (D) tidak berhubungan dengan urutan langkah.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pertanyaan kunci hari ini: adalah atau bisa? Ajak kelas memeriksa setiap pilihan dengan pertanyaan itu. Pilihan C dan D sengaja diambil dari materi pertemuan sebelumnya, yaitu kelas dan objek serta enkapsulasi.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a:t>
            </a:r>
            <a:r>
              <a:rPr lang="id-ID" dirty="0" i="1"/>
              <a:t>Interface</a:t>
            </a:r>
            <a:r>
              <a:rPr lang="id-ID" dirty="0"/>
              <a:t> cocok untuk hubungan "bisa" (</a:t>
            </a:r>
            <a:r>
              <a:rPr lang="id-ID" dirty="0" i="1"/>
              <a:t>can-do</a:t>
            </a:r>
            <a:r>
              <a:rPr lang="id-ID" dirty="0"/>
              <a:t>) antara kelas-kelas yang tidak bersaudara, persis seperti </a:t>
            </a:r>
            <a:r>
              <a:rPr lang="en-US" dirty="0">
                <a:latin typeface="Consolas"/>
              </a:rPr>
              <a:t>DapatDicetak</a:t>
            </a:r>
            <a:r>
              <a:rPr lang="id-ID" dirty="0"/>
              <a:t> di KedaiKita. Pilihan A adalah hubungan "adalah" dengan data bersama sehingga lebih cocok memakai kelas induk atau kelas abstrak. Pilihan C adalah konsep kelas dan objek biasa. Pilihan D adalah enkapsulasi.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Satu lagi yang jangan dilupakan: di diagram kelas UML, kelas dan </a:t>
            </a:r>
            <a:r>
              <a:rPr lang="id-ID" dirty="0" i="1"/>
              <a:t>method</a:t>
            </a:r>
            <a:r>
              <a:rPr lang="id-ID" dirty="0"/>
              <a:t> abstrak ditulis miring, </a:t>
            </a:r>
            <a:r>
              <a:rPr lang="id-ID" dirty="0" i="1"/>
              <a:t>interface</a:t>
            </a:r>
            <a:r>
              <a:rPr lang="id-ID" dirty="0"/>
              <a:t> diberi label </a:t>
            </a:r>
            <a:r>
              <a:rPr lang="en-US" dirty="0">
                <a:latin typeface="Consolas"/>
              </a:rPr>
              <a:t>&lt;&lt;interface&gt;&gt;</a:t>
            </a:r>
            <a:r>
              <a:rPr lang="id-ID" dirty="0"/>
              <a:t>, dan realisasi digambar dengan garis putus-putus bersegitiga kosong. Jika ada yang masih samar, baca lagi bagian yang sesuai di halaman konsep, lalu jalankan contohnya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Pertemuan-10-Abstract-Class-dan-Interface di GitHub. Mulailah dari halaman praktik sesuai jalurmu. Contoh 07 tentang </a:t>
            </a:r>
            <a:r>
              <a:rPr lang="en-US" dirty="0">
                <a:latin typeface="Consolas"/>
              </a:rPr>
              <a:t>typing.Protocol</a:t>
            </a:r>
            <a:r>
              <a:rPr lang="id-ID" dirty="0"/>
              <a:t> hanya ada di jalur Python, sedangkan contoh 08 tentang </a:t>
            </a:r>
            <a:r>
              <a:rPr lang="id-ID" dirty="0" i="1"/>
              <a:t>default method</a:t>
            </a:r>
            <a:r>
              <a:rPr lang="id-ID" dirty="0"/>
              <a:t> hanya ada di jalur Java. Simpan semua percobaanmu di folder PBO-latihan-saya/pertemuan-10, bukan di folder materi. Sampai jumpa di Pertemuan 11.</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10 · </a:t>
            </a:r>
            <a:r>
              <a:rPr lang="en-US" sz="1100" dirty="0" i="1">
                <a:solidFill>
                  <a:srgbClr val="9FB3C8"/>
                </a:solidFill>
              </a:rPr>
              <a:t>Abstract Class</a:t>
            </a:r>
            <a:r>
              <a:rPr lang="en-US" sz="1100" dirty="0">
                <a:solidFill>
                  <a:srgbClr val="9FB3C8"/>
                </a:solidFill>
              </a:rPr>
              <a:t> dan </a:t>
            </a:r>
            <a:r>
              <a:rPr lang="en-US" sz="1100" dirty="0" i="1">
                <a:solidFill>
                  <a:srgbClr val="9FB3C8"/>
                </a:solidFill>
              </a:rPr>
              <a:t>Interface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10 · </a:t>
            </a:r>
            <a:r>
              <a:rPr lang="en-US" sz="1100" dirty="0" i="1">
                <a:solidFill>
                  <a:srgbClr val="57606A"/>
                </a:solidFill>
              </a:rPr>
              <a:t>Abstract Class</a:t>
            </a:r>
            <a:r>
              <a:rPr lang="en-US" sz="1100" dirty="0">
                <a:solidFill>
                  <a:srgbClr val="57606A"/>
                </a:solidFill>
              </a:rPr>
              <a:t> dan </a:t>
            </a:r>
            <a:r>
              <a:rPr lang="en-US" sz="1100" dirty="0" i="1">
                <a:solidFill>
                  <a:srgbClr val="57606A"/>
                </a:solidFill>
              </a:rPr>
              <a:t>Interface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10 · </a:t>
            </a:r>
            <a:r>
              <a:rPr lang="en-US" sz="1100" dirty="0" i="1">
                <a:solidFill>
                  <a:srgbClr val="9FB3C8"/>
                </a:solidFill>
              </a:rPr>
              <a:t>Abstract Class</a:t>
            </a:r>
            <a:r>
              <a:rPr lang="en-US" sz="1100" dirty="0">
                <a:solidFill>
                  <a:srgbClr val="9FB3C8"/>
                </a:solidFill>
              </a:rPr>
              <a:t> dan </a:t>
            </a:r>
            <a:r>
              <a:rPr lang="en-US" sz="1100" dirty="0" i="1">
                <a:solidFill>
                  <a:srgbClr val="9FB3C8"/>
                </a:solidFill>
              </a:rPr>
              <a:t>Interface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26-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10-Abstract-Class-dan-Interface/README.md" TargetMode="External"/><Relationship Id="rId5" Type="http://schemas.openxmlformats.org/officeDocument/2006/relationships/hyperlink" Target="https://github.com/antonprafanto/PBO2026/blob/master/Pertemuan-10-Abstract-Class-dan-Interface/python/README.md" TargetMode="External"/><Relationship Id="rId7" Type="http://schemas.openxmlformats.org/officeDocument/2006/relationships/hyperlink" Target="https://github.com/antonprafanto/PBO2026/blob/master/Pertemuan-10-Abstract-Class-dan-Interface/java/README.md" TargetMode="External"/><Relationship Id="rId9" Type="http://schemas.openxmlformats.org/officeDocument/2006/relationships/hyperlink" Target="https://github.com/antonprafanto/PBO2026/blob/master/Pertemuan-10-Abstract-Class-dan-Interface/jembatan-python-java.md" TargetMode="External"/><Relationship Id="rId11" Type="http://schemas.openxmlformats.org/officeDocument/2006/relationships/hyperlink" Target="https://github.com/antonprafanto/PBO2026/blob/master/Pertemuan-10-Abstract-Class-dan-Interface/latihan.md" TargetMode="External"/><Relationship Id="rId13" Type="http://schemas.openxmlformats.org/officeDocument/2006/relationships/hyperlink" Target="https://github.com/antonprafanto/PBO2026/blob/master/Pertemuan-10-Abstract-Class-dan-Interface/kuis.md" TargetMode="External"/><Relationship Id="rId15" Type="http://schemas.openxmlformats.org/officeDocument/2006/relationships/hyperlink" Target="https://github.com/antonprafanto/PBO2026/tree/master/Pertemuan-10-Abstract-Class-dan-Interface"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i="1" dirty="0">
                <a:solidFill>
                  <a:srgbClr val="FFFFFF"/>
                </a:solidFill>
              </a:rPr>
              <a:t>Abstract Class</a:t>
            </a:r>
            <a:r>
              <a:rPr lang="id-ID" altLang="en-US" sz="4800" b="1" dirty="0">
                <a:solidFill>
                  <a:srgbClr val="FFFFFF"/>
                </a:solidFill>
              </a:rPr>
              <a:t> dan </a:t>
            </a:r>
            <a:r>
              <a:rPr lang="id-ID" altLang="en-US" sz="4800" b="1" i="1" dirty="0">
                <a:solidFill>
                  <a:srgbClr val="FFFFFF"/>
                </a:solidFill>
              </a:rPr>
              <a:t>Interface</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Kerangka yang sengaja belum lengkap dan kontrak kemampuan: abstraksi, pilar keempat PBO</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10</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12342"/>
          </a:xfrm>
          <a:prstGeom prst="roundRect">
            <a:avLst>
              <a:gd name="adj" fmla="val 6827"/>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arti </a:t>
            </a:r>
            <a:r>
              <a:rPr lang="id-ID" altLang="en-US" sz="1900" b="1" dirty="0">
                <a:solidFill>
                  <a:srgbClr val="1F2328"/>
                </a:solidFill>
              </a:rPr>
              <a:t>abstraksi</a:t>
            </a:r>
            <a:r>
              <a:rPr lang="id-ID" altLang="en-US" sz="1900" dirty="0">
                <a:solidFill>
                  <a:srgbClr val="1F2328"/>
                </a:solidFill>
              </a:rPr>
              <a:t> dengan analogi sehari-⁠hari.</a:t>
            </a:r>
            <a:endParaRPr lang="id-ID" sz="1900" dirty="0"/>
          </a:p>
        </p:txBody>
      </p:sp>
      <p:sp>
        <p:nvSpPr>
          <p:cNvPr id="10" name="Shape 7"/>
          <p:cNvSpPr/>
          <p:nvPr/>
        </p:nvSpPr>
        <p:spPr>
          <a:xfrm>
            <a:off x="6210148" y="1920240"/>
            <a:ext cx="5432908" cy="1212342"/>
          </a:xfrm>
          <a:prstGeom prst="roundRect">
            <a:avLst>
              <a:gd name="adj" fmla="val 6827"/>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ciri </a:t>
            </a:r>
            <a:r>
              <a:rPr lang="id-ID" altLang="en-US" sz="1900" b="1" dirty="0">
                <a:solidFill>
                  <a:srgbClr val="1F2328"/>
                </a:solidFill>
              </a:rPr>
              <a:t>kelas abstrak</a:t>
            </a:r>
            <a:r>
              <a:rPr lang="id-ID" altLang="en-US" sz="1900" dirty="0">
                <a:solidFill>
                  <a:srgbClr val="1F2328"/>
                </a:solidFill>
              </a:rPr>
              <a:t> dan </a:t>
            </a:r>
            <a:r>
              <a:rPr lang="id-ID" altLang="en-US" sz="1900" i="1" dirty="0">
                <a:solidFill>
                  <a:srgbClr val="1F2328"/>
                </a:solidFill>
              </a:rPr>
              <a:t>method</a:t>
            </a:r>
            <a:r>
              <a:rPr lang="id-ID" altLang="en-US" sz="1900" dirty="0">
                <a:solidFill>
                  <a:srgbClr val="1F2328"/>
                </a:solidFill>
              </a:rPr>
              <a:t> abstrak, termasuk kapan pelanggarannya ketahuan di Python dan di Java.</a:t>
            </a:r>
            <a:endParaRPr lang="id-ID" sz="1900" dirty="0"/>
          </a:p>
        </p:txBody>
      </p:sp>
      <p:sp>
        <p:nvSpPr>
          <p:cNvPr id="14" name="Shape 11"/>
          <p:cNvSpPr/>
          <p:nvPr/>
        </p:nvSpPr>
        <p:spPr>
          <a:xfrm>
            <a:off x="548640" y="3315462"/>
            <a:ext cx="5432908" cy="1212342"/>
          </a:xfrm>
          <a:prstGeom prst="roundRect">
            <a:avLst>
              <a:gd name="adj" fmla="val 6827"/>
            </a:avLst>
          </a:prstGeom>
          <a:solidFill>
            <a:srgbClr val="F6F8FA"/>
          </a:solidFill>
          <a:ln w="9525">
            <a:solidFill>
              <a:srgbClr val="D0D7DE"/>
            </a:solidFill>
            <a:prstDash val="solid"/>
          </a:ln>
        </p:spPr>
      </p:sp>
      <p:sp>
        <p:nvSpPr>
          <p:cNvPr id="15" name="Shape 12"/>
          <p:cNvSpPr/>
          <p:nvPr/>
        </p:nvSpPr>
        <p:spPr>
          <a:xfrm>
            <a:off x="777240" y="3480054"/>
            <a:ext cx="457200" cy="457200"/>
          </a:xfrm>
          <a:prstGeom prst="ellipse">
            <a:avLst/>
          </a:prstGeom>
          <a:solidFill>
            <a:srgbClr val="0969DA"/>
          </a:solidFill>
          <a:ln/>
        </p:spPr>
      </p:sp>
      <p:sp>
        <p:nvSpPr>
          <p:cNvPr id="16" name="Text 13"/>
          <p:cNvSpPr txBox="1"/>
          <p:nvPr/>
        </p:nvSpPr>
        <p:spPr>
          <a:xfrm>
            <a:off x="777240"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pola </a:t>
            </a:r>
            <a:r>
              <a:rPr lang="id-ID" altLang="en-US" sz="1900" b="1" i="1" dirty="0">
                <a:solidFill>
                  <a:srgbClr val="1F2328"/>
                </a:solidFill>
              </a:rPr>
              <a:t>template method</a:t>
            </a:r>
            <a:r>
              <a:rPr lang="id-ID" altLang="en-US" sz="1900" dirty="0">
                <a:solidFill>
                  <a:srgbClr val="1F2328"/>
                </a:solidFill>
              </a:rPr>
              <a:t>: </a:t>
            </a:r>
            <a:r>
              <a:rPr lang="id-ID" altLang="en-US" sz="1900" i="1" dirty="0">
                <a:solidFill>
                  <a:srgbClr val="1F2328"/>
                </a:solidFill>
              </a:rPr>
              <a:t>method</a:t>
            </a:r>
            <a:r>
              <a:rPr lang="id-ID" altLang="en-US" sz="1900" dirty="0">
                <a:solidFill>
                  <a:srgbClr val="1F2328"/>
                </a:solidFill>
              </a:rPr>
              <a:t> konkret yang memanggil </a:t>
            </a:r>
            <a:r>
              <a:rPr lang="id-ID" altLang="en-US" sz="1900" i="1" dirty="0">
                <a:solidFill>
                  <a:srgbClr val="1F2328"/>
                </a:solidFill>
              </a:rPr>
              <a:t>method</a:t>
            </a:r>
            <a:r>
              <a:rPr lang="id-ID" altLang="en-US" sz="1900" dirty="0">
                <a:solidFill>
                  <a:srgbClr val="1F2328"/>
                </a:solidFill>
              </a:rPr>
              <a:t> abstrak.</a:t>
            </a:r>
            <a:endParaRPr lang="id-ID" sz="1900" dirty="0"/>
          </a:p>
        </p:txBody>
      </p:sp>
      <p:sp>
        <p:nvSpPr>
          <p:cNvPr id="18" name="Shape 15"/>
          <p:cNvSpPr/>
          <p:nvPr/>
        </p:nvSpPr>
        <p:spPr>
          <a:xfrm>
            <a:off x="6210148" y="3315462"/>
            <a:ext cx="5432908" cy="1212342"/>
          </a:xfrm>
          <a:prstGeom prst="roundRect">
            <a:avLst>
              <a:gd name="adj" fmla="val 6827"/>
            </a:avLst>
          </a:prstGeom>
          <a:solidFill>
            <a:srgbClr val="F6F8FA"/>
          </a:solidFill>
          <a:ln w="9525">
            <a:solidFill>
              <a:srgbClr val="D0D7DE"/>
            </a:solidFill>
            <a:prstDash val="solid"/>
          </a:ln>
        </p:spPr>
      </p:sp>
      <p:sp>
        <p:nvSpPr>
          <p:cNvPr id="19" name="Shape 16"/>
          <p:cNvSpPr/>
          <p:nvPr/>
        </p:nvSpPr>
        <p:spPr>
          <a:xfrm>
            <a:off x="6438748" y="3480054"/>
            <a:ext cx="457200" cy="457200"/>
          </a:xfrm>
          <a:prstGeom prst="ellipse">
            <a:avLst/>
          </a:prstGeom>
          <a:solidFill>
            <a:srgbClr val="0969DA"/>
          </a:solidFill>
          <a:ln/>
        </p:spPr>
      </p:sp>
      <p:sp>
        <p:nvSpPr>
          <p:cNvPr id="20" name="Text 17"/>
          <p:cNvSpPr txBox="1"/>
          <p:nvPr/>
        </p:nvSpPr>
        <p:spPr>
          <a:xfrm>
            <a:off x="6438748"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a:t>
            </a:r>
            <a:r>
              <a:rPr lang="id-ID" altLang="en-US" sz="1900" b="1" i="1" dirty="0">
                <a:solidFill>
                  <a:srgbClr val="1F2328"/>
                </a:solidFill>
              </a:rPr>
              <a:t>interface</a:t>
            </a:r>
            <a:r>
              <a:rPr lang="id-ID" altLang="en-US" sz="1900" dirty="0">
                <a:solidFill>
                  <a:srgbClr val="1F2328"/>
                </a:solidFill>
              </a:rPr>
              <a:t> sebagai kontrak kemampuan dan mengapa satu kelas boleh memenuhi banyak </a:t>
            </a:r>
            <a:r>
              <a:rPr lang="id-ID" altLang="en-US" sz="1900" i="1" dirty="0">
                <a:solidFill>
                  <a:srgbClr val="1F2328"/>
                </a:solidFill>
              </a:rPr>
              <a:t>interface</a:t>
            </a:r>
            <a:r>
              <a:rPr lang="id-ID" altLang="en-US" sz="1900" dirty="0">
                <a:solidFill>
                  <a:srgbClr val="1F2328"/>
                </a:solidFill>
              </a:rPr>
              <a:t>.</a:t>
            </a:r>
            <a:endParaRPr lang="id-ID" sz="1900" dirty="0"/>
          </a:p>
        </p:txBody>
      </p:sp>
      <p:sp>
        <p:nvSpPr>
          <p:cNvPr id="22" name="Shape 19"/>
          <p:cNvSpPr/>
          <p:nvPr/>
        </p:nvSpPr>
        <p:spPr>
          <a:xfrm>
            <a:off x="548640" y="4710684"/>
            <a:ext cx="5432908" cy="1212342"/>
          </a:xfrm>
          <a:prstGeom prst="roundRect">
            <a:avLst>
              <a:gd name="adj" fmla="val 6827"/>
            </a:avLst>
          </a:prstGeom>
          <a:solidFill>
            <a:srgbClr val="F6F8FA"/>
          </a:solidFill>
          <a:ln w="9525">
            <a:solidFill>
              <a:srgbClr val="D0D7DE"/>
            </a:solidFill>
            <a:prstDash val="solid"/>
          </a:ln>
        </p:spPr>
      </p:sp>
      <p:sp>
        <p:nvSpPr>
          <p:cNvPr id="23" name="Shape 20"/>
          <p:cNvSpPr/>
          <p:nvPr/>
        </p:nvSpPr>
        <p:spPr>
          <a:xfrm>
            <a:off x="777240" y="4875276"/>
            <a:ext cx="457200" cy="457200"/>
          </a:xfrm>
          <a:prstGeom prst="ellipse">
            <a:avLst/>
          </a:prstGeom>
          <a:solidFill>
            <a:srgbClr val="0969DA"/>
          </a:solidFill>
          <a:ln/>
        </p:spPr>
      </p:sp>
      <p:sp>
        <p:nvSpPr>
          <p:cNvPr id="24" name="Text 21"/>
          <p:cNvSpPr txBox="1"/>
          <p:nvPr/>
        </p:nvSpPr>
        <p:spPr>
          <a:xfrm>
            <a:off x="777240"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Memilih antara kelas abstrak dan </a:t>
            </a:r>
            <a:r>
              <a:rPr lang="id-ID" altLang="en-US" sz="1900" i="1" dirty="0">
                <a:solidFill>
                  <a:srgbClr val="1F2328"/>
                </a:solidFill>
              </a:rPr>
              <a:t>interface</a:t>
            </a:r>
            <a:r>
              <a:rPr lang="id-ID" altLang="en-US" sz="1900" dirty="0">
                <a:solidFill>
                  <a:srgbClr val="1F2328"/>
                </a:solidFill>
              </a:rPr>
              <a:t> untuk sebuah kasus, lengkap dengan alasannya.</a:t>
            </a:r>
            <a:endParaRPr lang="id-ID" sz="1900" dirty="0"/>
          </a:p>
        </p:txBody>
      </p:sp>
      <p:sp>
        <p:nvSpPr>
          <p:cNvPr id="26" name="Shape 23"/>
          <p:cNvSpPr/>
          <p:nvPr/>
        </p:nvSpPr>
        <p:spPr>
          <a:xfrm>
            <a:off x="6210148" y="4710684"/>
            <a:ext cx="5432908" cy="1212342"/>
          </a:xfrm>
          <a:prstGeom prst="roundRect">
            <a:avLst>
              <a:gd name="adj" fmla="val 6827"/>
            </a:avLst>
          </a:prstGeom>
          <a:solidFill>
            <a:srgbClr val="F6F8FA"/>
          </a:solidFill>
          <a:ln w="9525">
            <a:solidFill>
              <a:srgbClr val="D0D7DE"/>
            </a:solidFill>
            <a:prstDash val="solid"/>
          </a:ln>
        </p:spPr>
      </p:sp>
      <p:sp>
        <p:nvSpPr>
          <p:cNvPr id="27" name="Shape 24"/>
          <p:cNvSpPr/>
          <p:nvPr/>
        </p:nvSpPr>
        <p:spPr>
          <a:xfrm>
            <a:off x="6438748" y="4875276"/>
            <a:ext cx="457200" cy="457200"/>
          </a:xfrm>
          <a:prstGeom prst="ellipse">
            <a:avLst/>
          </a:prstGeom>
          <a:solidFill>
            <a:srgbClr val="0969DA"/>
          </a:solidFill>
          <a:ln/>
        </p:spPr>
      </p:sp>
      <p:sp>
        <p:nvSpPr>
          <p:cNvPr id="28" name="Text 25"/>
          <p:cNvSpPr txBox="1"/>
          <p:nvPr/>
        </p:nvSpPr>
        <p:spPr>
          <a:xfrm>
            <a:off x="6438748"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Membaca dan menggambar kelas abstrak, </a:t>
            </a:r>
            <a:r>
              <a:rPr lang="id-ID" altLang="en-US" sz="1900" i="1" dirty="0">
                <a:solidFill>
                  <a:srgbClr val="1F2328"/>
                </a:solidFill>
              </a:rPr>
              <a:t>interface</a:t>
            </a:r>
            <a:r>
              <a:rPr lang="id-ID" altLang="en-US" sz="1900" dirty="0">
                <a:solidFill>
                  <a:srgbClr val="1F2328"/>
                </a:solidFill>
              </a:rPr>
              <a:t>, dan relasi realisasi pada diagram kelas UML.</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Polimorfisme</a:t>
            </a:r>
            <a:r>
              <a:rPr lang="id-ID" altLang="en-US" sz="2400" dirty="0">
                <a:solidFill>
                  <a:srgbClr val="1F2328"/>
                </a:solidFill>
              </a:rPr>
              <a:t>: satu panggilan </a:t>
            </a:r>
            <a:r>
              <a:rPr lang="id-ID" altLang="en-US" sz="2400" i="1" dirty="0">
                <a:solidFill>
                  <a:srgbClr val="1F2328"/>
                </a:solidFill>
              </a:rPr>
              <a:t>method</a:t>
            </a:r>
            <a:r>
              <a:rPr lang="id-ID" altLang="en-US" sz="2400" dirty="0">
                <a:solidFill>
                  <a:srgbClr val="1F2328"/>
                </a:solidFill>
              </a:rPr>
              <a:t>, perilaku berbeda tergantung objek sebenarnya. Kuncinya </a:t>
            </a:r>
            <a:r>
              <a:rPr lang="id-ID" altLang="en-US" sz="2400" i="1" dirty="0">
                <a:solidFill>
                  <a:srgbClr val="1F2328"/>
                </a:solidFill>
              </a:rPr>
              <a:t>override</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Parameter bertipe </a:t>
            </a:r>
            <a:r>
              <a:rPr lang="id-ID" altLang="en-US" sz="2400" b="1" dirty="0">
                <a:solidFill>
                  <a:srgbClr val="1F2328"/>
                </a:solidFill>
              </a:rPr>
              <a:t>kelas induk</a:t>
            </a:r>
            <a:r>
              <a:rPr lang="id-ID" altLang="en-US" sz="2400" dirty="0">
                <a:solidFill>
                  <a:srgbClr val="1F2328"/>
                </a:solidFill>
              </a:rPr>
              <a:t> boleh menunjuk objek </a:t>
            </a:r>
            <a:r>
              <a:rPr lang="id-ID" altLang="en-US" sz="2400" b="1" dirty="0">
                <a:solidFill>
                  <a:srgbClr val="1F2328"/>
                </a:solidFill>
              </a:rPr>
              <a:t>kelas anak</a:t>
            </a:r>
            <a:r>
              <a:rPr lang="id-ID" altLang="en-US" sz="2400" dirty="0">
                <a:solidFill>
                  <a:srgbClr val="1F2328"/>
                </a:solidFill>
              </a:rPr>
              <a:t>, misalnya </a:t>
            </a:r>
            <a:r>
              <a:rPr lang="id-ID" altLang="en-US" sz="2400" dirty="0">
                <a:solidFill>
                  <a:srgbClr val="1F2328"/>
                </a:solidFill>
                <a:latin typeface="Consolas" pitchFamily="34" charset="0"/>
                <a:ea typeface="Consolas" pitchFamily="34" charset="-122"/>
                <a:cs typeface="Consolas" pitchFamily="34" charset="-120"/>
              </a:rPr>
              <a:t>Pesanan.bayar(pembayaran)</a:t>
            </a:r>
            <a:r>
              <a:rPr lang="id-ID" altLang="en-US" sz="2400" dirty="0">
                <a:solidFill>
                  <a:srgbClr val="1F2328"/>
                </a:solidFill>
              </a:rPr>
              <a:t>.</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Python mengenal </a:t>
            </a:r>
            <a:r>
              <a:rPr lang="id-ID" altLang="en-US" sz="2400" i="1" dirty="0">
                <a:solidFill>
                  <a:srgbClr val="1F2328"/>
                </a:solidFill>
              </a:rPr>
              <a:t>duck typing</a:t>
            </a:r>
            <a:r>
              <a:rPr lang="id-ID" altLang="en-US" sz="2400" dirty="0">
                <a:solidFill>
                  <a:srgbClr val="1F2328"/>
                </a:solidFill>
              </a:rPr>
              <a:t>, sedangkan Java mewajibkan </a:t>
            </a:r>
            <a:r>
              <a:rPr lang="id-ID" altLang="en-US" sz="2400" b="1" dirty="0">
                <a:solidFill>
                  <a:srgbClr val="1F2328"/>
                </a:solidFill>
              </a:rPr>
              <a:t>tipe bersama</a:t>
            </a:r>
            <a:r>
              <a:rPr lang="id-ID" altLang="en-US" sz="2400" dirty="0">
                <a:solidFill>
                  <a:srgbClr val="1F2328"/>
                </a:solidFill>
              </a:rPr>
              <a:t>.</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Yang janggal: objek </a:t>
            </a:r>
            <a:r>
              <a:rPr lang="id-ID" altLang="en-US" sz="2400" dirty="0">
                <a:solidFill>
                  <a:srgbClr val="1F2328"/>
                </a:solidFill>
                <a:latin typeface="Consolas" pitchFamily="34" charset="0"/>
                <a:ea typeface="Consolas" pitchFamily="34" charset="-122"/>
                <a:cs typeface="Consolas" pitchFamily="34" charset="-120"/>
              </a:rPr>
              <a:t>Pembayaran</a:t>
            </a:r>
            <a:r>
              <a:rPr lang="id-ID" altLang="en-US" sz="2400" dirty="0">
                <a:solidFill>
                  <a:srgbClr val="1F2328"/>
                </a:solidFill>
              </a:rPr>
              <a:t> sendiri bisa dibuat, dan nama metodenya “Pembayaran umum”.</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Masalah “pembayaran umum” dan abstraksi</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Kelas abstrak dan </a:t>
            </a:r>
            <a:r>
              <a:rPr lang="id-ID" altLang="en-US" sz="2200" i="1" dirty="0">
                <a:solidFill>
                  <a:srgbClr val="1F2328"/>
                </a:solidFill>
              </a:rPr>
              <a:t>method</a:t>
            </a:r>
            <a:r>
              <a:rPr lang="id-ID" altLang="en-US" sz="2200" dirty="0">
                <a:solidFill>
                  <a:srgbClr val="1F2328"/>
                </a:solidFill>
              </a:rPr>
              <a:t> abstrak</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Template method</a:t>
            </a:r>
            <a:r>
              <a:rPr lang="id-ID" altLang="en-US" sz="2200" dirty="0">
                <a:solidFill>
                  <a:srgbClr val="1F2328"/>
                </a:solidFill>
              </a:rPr>
              <a:t>: kerangka tetap</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Interface</a:t>
            </a:r>
            <a:r>
              <a:rPr lang="id-ID" altLang="en-US" sz="2200" dirty="0">
                <a:solidFill>
                  <a:srgbClr val="1F2328"/>
                </a:solidFill>
              </a:rPr>
              <a:t>: kontrak kemampuan</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Kelas abstrak atau </a:t>
            </a:r>
            <a:r>
              <a:rPr lang="id-ID" altLang="en-US" sz="2200" i="1" dirty="0">
                <a:solidFill>
                  <a:srgbClr val="1F2328"/>
                </a:solidFill>
              </a:rPr>
              <a:t>interface</a:t>
            </a:r>
            <a:r>
              <a:rPr lang="id-ID" altLang="en-US" sz="2200" dirty="0">
                <a:solidFill>
                  <a:srgbClr val="1F2328"/>
                </a:solidFill>
              </a:rPr>
              <a:t>? Plus UML</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Abstraksi: Menonjolkan yang Penting</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Dari kasir yang kebingungan menuju ide besar pilar keempat PBO.</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Masalah: “Pembayaran Umum” yang Janggal</a:t>
            </a:r>
            <a:endParaRPr lang="id-ID" sz="3200" dirty="0"/>
          </a:p>
        </p:txBody>
      </p:sp>
      <p:sp>
        <p:nvSpPr>
          <p:cNvPr id="5" name="Shape 2"/>
          <p:cNvSpPr/>
          <p:nvPr/>
        </p:nvSpPr>
        <p:spPr>
          <a:xfrm>
            <a:off x="603504" y="1646271"/>
            <a:ext cx="137160" cy="137160"/>
          </a:xfrm>
          <a:prstGeom prst="roundRect">
            <a:avLst>
              <a:gd name="adj" fmla="val 166667"/>
            </a:avLst>
          </a:prstGeom>
          <a:solidFill>
            <a:srgbClr val="0969DA"/>
          </a:solidFill>
          <a:ln/>
        </p:spPr>
      </p:sp>
      <p:sp>
        <p:nvSpPr>
          <p:cNvPr id="6" name="Text 3"/>
          <p:cNvSpPr txBox="1"/>
          <p:nvPr/>
        </p:nvSpPr>
        <p:spPr>
          <a:xfrm>
            <a:off x="932688" y="1552164"/>
            <a:ext cx="10710367" cy="696468"/>
          </a:xfrm>
          <a:prstGeom prst="rect">
            <a:avLst/>
          </a:prstGeom>
          <a:noFill/>
          <a:ln/>
        </p:spPr>
        <p:txBody>
          <a:bodyPr wrap="square" lIns="0" tIns="0" rIns="0" bIns="0" rtlCol="0" anchor="t"/>
          <a:lstStyle/>
          <a:p>
            <a:pPr indent="0" marL="0">
              <a:buNone/>
            </a:pPr>
            <a:r>
              <a:rPr lang="id-ID" altLang="en-US" sz="2100" dirty="0">
                <a:solidFill>
                  <a:srgbClr val="1F2328"/>
                </a:solidFill>
              </a:rPr>
              <a:t>Pelanggan berkata, “Saya bayar pakai pembayaran umum.” Kasir bingung: yang ada selalu jenis tertentu.</a:t>
            </a:r>
            <a:endParaRPr lang="id-ID" sz="2100" dirty="0"/>
          </a:p>
        </p:txBody>
      </p:sp>
      <p:sp>
        <p:nvSpPr>
          <p:cNvPr id="7" name="Shape 4"/>
          <p:cNvSpPr/>
          <p:nvPr/>
        </p:nvSpPr>
        <p:spPr>
          <a:xfrm>
            <a:off x="603504" y="2571339"/>
            <a:ext cx="137160" cy="137160"/>
          </a:xfrm>
          <a:prstGeom prst="roundRect">
            <a:avLst>
              <a:gd name="adj" fmla="val 166667"/>
            </a:avLst>
          </a:prstGeom>
          <a:solidFill>
            <a:srgbClr val="0969DA"/>
          </a:solidFill>
          <a:ln/>
        </p:spPr>
      </p:sp>
      <p:sp>
        <p:nvSpPr>
          <p:cNvPr id="8" name="Text 5"/>
          <p:cNvSpPr txBox="1"/>
          <p:nvPr/>
        </p:nvSpPr>
        <p:spPr>
          <a:xfrm>
            <a:off x="932688" y="2477232"/>
            <a:ext cx="10710367" cy="371094"/>
          </a:xfrm>
          <a:prstGeom prst="rect">
            <a:avLst/>
          </a:prstGeom>
          <a:noFill/>
          <a:ln/>
        </p:spPr>
        <p:txBody>
          <a:bodyPr wrap="square" lIns="0" tIns="0" rIns="0" bIns="0" rtlCol="0" anchor="t"/>
          <a:lstStyle/>
          <a:p>
            <a:pPr indent="0" marL="0">
              <a:buNone/>
            </a:pPr>
            <a:r>
              <a:rPr lang="id-ID" altLang="en-US" sz="2100" b="1" dirty="0">
                <a:solidFill>
                  <a:srgbClr val="1F2328"/>
                </a:solidFill>
              </a:rPr>
              <a:t>Masalah 1:</a:t>
            </a:r>
            <a:r>
              <a:rPr lang="id-ID" altLang="en-US" sz="2100" dirty="0">
                <a:solidFill>
                  <a:srgbClr val="1F2328"/>
                </a:solidFill>
              </a:rPr>
              <a:t> objek </a:t>
            </a:r>
            <a:r>
              <a:rPr lang="id-ID" altLang="en-US" sz="2100" dirty="0">
                <a:solidFill>
                  <a:srgbClr val="1F2328"/>
                </a:solidFill>
                <a:latin typeface="Consolas" pitchFamily="34" charset="0"/>
                <a:ea typeface="Consolas" pitchFamily="34" charset="-122"/>
                <a:cs typeface="Consolas" pitchFamily="34" charset="-120"/>
              </a:rPr>
              <a:t>Pembayaran</a:t>
            </a:r>
            <a:r>
              <a:rPr lang="id-ID" altLang="en-US" sz="2100" dirty="0">
                <a:solidFill>
                  <a:srgbClr val="1F2328"/>
                </a:solidFill>
              </a:rPr>
              <a:t> “umum” bisa dibuat, padahal wujudnya tidak jelas.</a:t>
            </a:r>
            <a:endParaRPr lang="id-ID" sz="2100" dirty="0"/>
          </a:p>
        </p:txBody>
      </p:sp>
      <p:sp>
        <p:nvSpPr>
          <p:cNvPr id="9" name="Shape 6"/>
          <p:cNvSpPr/>
          <p:nvPr/>
        </p:nvSpPr>
        <p:spPr>
          <a:xfrm>
            <a:off x="603504" y="3171033"/>
            <a:ext cx="137160" cy="137160"/>
          </a:xfrm>
          <a:prstGeom prst="roundRect">
            <a:avLst>
              <a:gd name="adj" fmla="val 166667"/>
            </a:avLst>
          </a:prstGeom>
          <a:solidFill>
            <a:srgbClr val="0969DA"/>
          </a:solidFill>
          <a:ln/>
        </p:spPr>
      </p:sp>
      <p:sp>
        <p:nvSpPr>
          <p:cNvPr id="10" name="Text 7"/>
          <p:cNvSpPr txBox="1"/>
          <p:nvPr/>
        </p:nvSpPr>
        <p:spPr>
          <a:xfrm>
            <a:off x="932688" y="3076926"/>
            <a:ext cx="10710367" cy="371094"/>
          </a:xfrm>
          <a:prstGeom prst="rect">
            <a:avLst/>
          </a:prstGeom>
          <a:noFill/>
          <a:ln/>
        </p:spPr>
        <p:txBody>
          <a:bodyPr wrap="square" lIns="0" tIns="0" rIns="0" bIns="0" rtlCol="0" anchor="t"/>
          <a:lstStyle/>
          <a:p>
            <a:pPr indent="0" marL="0">
              <a:buNone/>
            </a:pPr>
            <a:r>
              <a:rPr lang="id-ID" altLang="en-US" sz="2100" b="1" dirty="0">
                <a:solidFill>
                  <a:srgbClr val="1F2328"/>
                </a:solidFill>
              </a:rPr>
              <a:t>Masalah 2:</a:t>
            </a:r>
            <a:r>
              <a:rPr lang="id-ID" altLang="en-US" sz="2100" dirty="0">
                <a:solidFill>
                  <a:srgbClr val="1F2328"/>
                </a:solidFill>
              </a:rPr>
              <a:t> kelas anak baru, misalnya </a:t>
            </a:r>
            <a:r>
              <a:rPr lang="id-ID" altLang="en-US" sz="2100" dirty="0">
                <a:solidFill>
                  <a:srgbClr val="1F2328"/>
                </a:solidFill>
                <a:latin typeface="Consolas" pitchFamily="34" charset="0"/>
                <a:ea typeface="Consolas" pitchFamily="34" charset="-122"/>
                <a:cs typeface="Consolas" pitchFamily="34" charset="-120"/>
              </a:rPr>
              <a:t>PembayaranEWallet</a:t>
            </a:r>
            <a:r>
              <a:rPr lang="id-ID" altLang="en-US" sz="2100" dirty="0">
                <a:solidFill>
                  <a:srgbClr val="1F2328"/>
                </a:solidFill>
              </a:rPr>
              <a:t>, </a:t>
            </a:r>
            <a:r>
              <a:rPr lang="id-ID" altLang="en-US" sz="2100" b="1" dirty="0">
                <a:solidFill>
                  <a:srgbClr val="1F2328"/>
                </a:solidFill>
              </a:rPr>
              <a:t>lupa</a:t>
            </a:r>
            <a:r>
              <a:rPr lang="id-ID" altLang="en-US" sz="2100" dirty="0">
                <a:solidFill>
                  <a:srgbClr val="1F2328"/>
                </a:solidFill>
              </a:rPr>
              <a:t> meng-⁠</a:t>
            </a:r>
            <a:r>
              <a:rPr lang="id-ID" altLang="en-US" sz="2100" i="1" dirty="0">
                <a:solidFill>
                  <a:srgbClr val="1F2328"/>
                </a:solidFill>
              </a:rPr>
              <a:t>override</a:t>
            </a:r>
            <a:r>
              <a:rPr lang="id-ID" altLang="en-US" sz="2100" dirty="0">
                <a:solidFill>
                  <a:srgbClr val="1F2328"/>
                </a:solidFill>
              </a:rPr>
              <a:t> </a:t>
            </a:r>
            <a:r>
              <a:rPr lang="id-ID" altLang="en-US" sz="2100" dirty="0">
                <a:solidFill>
                  <a:srgbClr val="1F2328"/>
                </a:solidFill>
                <a:latin typeface="Consolas" pitchFamily="34" charset="0"/>
                <a:ea typeface="Consolas" pitchFamily="34" charset="-122"/>
                <a:cs typeface="Consolas" pitchFamily="34" charset="-120"/>
              </a:rPr>
              <a:t>proses()</a:t>
            </a:r>
            <a:r>
              <a:rPr lang="id-ID" altLang="en-US" sz="2100" dirty="0">
                <a:solidFill>
                  <a:srgbClr val="1F2328"/>
                </a:solidFill>
              </a:rPr>
              <a:t>.</a:t>
            </a:r>
            <a:endParaRPr lang="id-ID" sz="2100" dirty="0"/>
          </a:p>
        </p:txBody>
      </p:sp>
      <p:sp>
        <p:nvSpPr>
          <p:cNvPr id="11" name="Shape 8"/>
          <p:cNvSpPr/>
          <p:nvPr/>
        </p:nvSpPr>
        <p:spPr>
          <a:xfrm>
            <a:off x="603504" y="3770727"/>
            <a:ext cx="137160" cy="137160"/>
          </a:xfrm>
          <a:prstGeom prst="roundRect">
            <a:avLst>
              <a:gd name="adj" fmla="val 166667"/>
            </a:avLst>
          </a:prstGeom>
          <a:solidFill>
            <a:srgbClr val="0969DA"/>
          </a:solidFill>
          <a:ln/>
        </p:spPr>
      </p:sp>
      <p:sp>
        <p:nvSpPr>
          <p:cNvPr id="12" name="Text 9"/>
          <p:cNvSpPr txBox="1"/>
          <p:nvPr/>
        </p:nvSpPr>
        <p:spPr>
          <a:xfrm>
            <a:off x="932688" y="3676620"/>
            <a:ext cx="10710367" cy="696468"/>
          </a:xfrm>
          <a:prstGeom prst="rect">
            <a:avLst/>
          </a:prstGeom>
          <a:noFill/>
          <a:ln/>
        </p:spPr>
        <p:txBody>
          <a:bodyPr wrap="square" lIns="0" tIns="0" rIns="0" bIns="0" rtlCol="0" anchor="t"/>
          <a:lstStyle/>
          <a:p>
            <a:pPr indent="0" marL="0">
              <a:buNone/>
            </a:pPr>
            <a:r>
              <a:rPr lang="id-ID" altLang="en-US" sz="2100" dirty="0">
                <a:solidFill>
                  <a:srgbClr val="1F2328"/>
                </a:solidFill>
              </a:rPr>
              <a:t>Akibatnya, </a:t>
            </a:r>
            <a:r>
              <a:rPr lang="id-ID" altLang="en-US" sz="2100" dirty="0">
                <a:solidFill>
                  <a:srgbClr val="1F2328"/>
                </a:solidFill>
                <a:latin typeface="Consolas" pitchFamily="34" charset="0"/>
                <a:ea typeface="Consolas" pitchFamily="34" charset="-122"/>
                <a:cs typeface="Consolas" pitchFamily="34" charset="-120"/>
              </a:rPr>
              <a:t>proses()</a:t>
            </a:r>
            <a:r>
              <a:rPr lang="id-ID" altLang="en-US" sz="2100" dirty="0">
                <a:solidFill>
                  <a:srgbClr val="1F2328"/>
                </a:solidFill>
              </a:rPr>
              <a:t> milik induk yang selalu berhasil dipakai: pesanan tercatat </a:t>
            </a:r>
            <a:r>
              <a:rPr lang="id-ID" altLang="en-US" sz="2100" b="1" dirty="0">
                <a:solidFill>
                  <a:srgbClr val="1F2328"/>
                </a:solidFill>
              </a:rPr>
              <a:t>LUNAS</a:t>
            </a:r>
            <a:r>
              <a:rPr lang="id-ID" altLang="en-US" sz="2100" dirty="0">
                <a:solidFill>
                  <a:srgbClr val="1F2328"/>
                </a:solidFill>
              </a:rPr>
              <a:t> tanpa uang masuk!</a:t>
            </a:r>
            <a:endParaRPr lang="id-ID" sz="2100" dirty="0"/>
          </a:p>
        </p:txBody>
      </p:sp>
      <p:sp>
        <p:nvSpPr>
          <p:cNvPr id="13" name="Shape 10"/>
          <p:cNvSpPr/>
          <p:nvPr/>
        </p:nvSpPr>
        <p:spPr>
          <a:xfrm>
            <a:off x="548640" y="4738848"/>
            <a:ext cx="11094415" cy="1274572"/>
          </a:xfrm>
          <a:prstGeom prst="roundRect">
            <a:avLst>
              <a:gd name="adj" fmla="val 6176"/>
            </a:avLst>
          </a:prstGeom>
          <a:solidFill>
            <a:srgbClr val="FFF8C5"/>
          </a:solidFill>
          <a:ln w="9525">
            <a:solidFill>
              <a:srgbClr val="D4A72C"/>
            </a:solidFill>
            <a:prstDash val="solid"/>
          </a:ln>
        </p:spPr>
      </p:sp>
      <p:sp>
        <p:nvSpPr>
          <p:cNvPr id="14" name="Shape 11"/>
          <p:cNvSpPr/>
          <p:nvPr/>
        </p:nvSpPr>
        <p:spPr>
          <a:xfrm>
            <a:off x="777240" y="4940016"/>
            <a:ext cx="457200" cy="457200"/>
          </a:xfrm>
          <a:prstGeom prst="ellipse">
            <a:avLst/>
          </a:prstGeom>
          <a:solidFill>
            <a:srgbClr val="9A6700"/>
          </a:solidFill>
          <a:ln/>
        </p:spPr>
      </p:sp>
      <p:pic>
        <p:nvPicPr>
          <p:cNvPr id="15" name="Image 1" descr="preencoded.png">    </p:cNvPr>
          <p:cNvPicPr>
            <a:picLocks noChangeAspect="1"/>
          </p:cNvPicPr>
          <p:nvPr/>
        </p:nvPicPr>
        <p:blipFill>
          <a:blip r:embed="rId2"/>
          <a:stretch>
            <a:fillRect/>
          </a:stretch>
        </p:blipFill>
        <p:spPr>
          <a:xfrm>
            <a:off x="877824" y="5040600"/>
            <a:ext cx="256032" cy="256032"/>
          </a:xfrm>
          <a:prstGeom prst="rect">
            <a:avLst/>
          </a:prstGeom>
        </p:spPr>
      </p:pic>
      <p:sp>
        <p:nvSpPr>
          <p:cNvPr id="16" name="Text 12"/>
          <p:cNvSpPr txBox="1"/>
          <p:nvPr/>
        </p:nvSpPr>
        <p:spPr>
          <a:xfrm>
            <a:off x="1417320" y="4885152"/>
            <a:ext cx="2743200" cy="292608"/>
          </a:xfrm>
          <a:prstGeom prst="rect">
            <a:avLst/>
          </a:prstGeom>
          <a:noFill/>
          <a:ln/>
        </p:spPr>
        <p:txBody>
          <a:bodyPr wrap="square" lIns="0" tIns="0" rIns="0" bIns="0" rtlCol="0" anchor="t"/>
          <a:lstStyle/>
          <a:p>
            <a:pPr indent="0" marL="0">
              <a:buNone/>
            </a:pPr>
            <a:r>
              <a:rPr lang="id-ID" altLang="en-US" sz="1500" b="1" dirty="0">
                <a:solidFill>
                  <a:srgbClr val="9A6700"/>
                </a:solidFill>
              </a:rPr>
              <a:t>Perhatikan</a:t>
            </a:r>
            <a:endParaRPr lang="id-ID" sz="1500" dirty="0"/>
          </a:p>
        </p:txBody>
      </p:sp>
      <p:sp>
        <p:nvSpPr>
          <p:cNvPr id="17" name="Text 13"/>
          <p:cNvSpPr txBox="1"/>
          <p:nvPr/>
        </p:nvSpPr>
        <p:spPr>
          <a:xfrm>
            <a:off x="1417320" y="5196048"/>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rPr>
              <a:t>Masalah kedua paling berbahaya karena program tidak protes sama sekali. Kita baru sadar setelah uang di laci kasir tidak cocok dengan laporan.</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Stopkontak: Satu Standar untuk Banyak Alat</a:t>
            </a:r>
            <a:endParaRPr lang="id-ID" sz="3200" dirty="0"/>
          </a:p>
        </p:txBody>
      </p:sp>
      <p:pic>
        <p:nvPicPr>
          <p:cNvPr id="5" name="Image 1" descr="Stopkontak hanya peduli bentuk colokan, bukan alatnya. Pemakai cukup mengenal kontraknya, tanpa perlu tahu detail di dalam setiap alat.">    </p:cNvPr>
          <p:cNvPicPr>
            <a:picLocks noChangeAspect="1"/>
          </p:cNvPicPr>
          <p:nvPr/>
        </p:nvPicPr>
        <p:blipFill>
          <a:blip r:embed="rId2"/>
          <a:stretch>
            <a:fillRect/>
          </a:stretch>
        </p:blipFill>
        <p:spPr>
          <a:xfrm>
            <a:off x="548640" y="1417320"/>
            <a:ext cx="11094415" cy="3830807"/>
          </a:xfrm>
          <a:prstGeom prst="rect">
            <a:avLst/>
          </a:prstGeom>
        </p:spPr>
      </p:pic>
      <p:sp>
        <p:nvSpPr>
          <p:cNvPr id="6" name="Text 2"/>
          <p:cNvSpPr txBox="1"/>
          <p:nvPr/>
        </p:nvSpPr>
        <p:spPr>
          <a:xfrm>
            <a:off x="1005840" y="5357855"/>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Stopkontak hanya peduli bentuk colokan, bukan alatnya. Pemakai cukup mengenal kontraknya, tanpa perlu tahu detail di dalam setiap alat.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Abstraksi: Apa, Bukan Bagaimana</a:t>
            </a:r>
            <a:endParaRPr lang="id-ID" sz="3200" dirty="0"/>
          </a:p>
        </p:txBody>
      </p:sp>
      <p:sp>
        <p:nvSpPr>
          <p:cNvPr id="5" name="Text 2"/>
          <p:cNvSpPr txBox="1"/>
          <p:nvPr/>
        </p:nvSpPr>
        <p:spPr>
          <a:xfrm>
            <a:off x="548640" y="1462979"/>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Abstraksi (</a:t>
            </a:r>
            <a:r>
              <a:rPr lang="id-ID" altLang="en-US" sz="3000" b="1" i="1" dirty="0">
                <a:solidFill>
                  <a:srgbClr val="0969DA"/>
                </a:solidFill>
              </a:rPr>
              <a:t>abstraction</a:t>
            </a:r>
            <a:r>
              <a:rPr lang="id-ID" altLang="en-US" sz="3000" b="1" dirty="0">
                <a:solidFill>
                  <a:srgbClr val="0969DA"/>
                </a:solidFill>
              </a:rPr>
              <a:t>)</a:t>
            </a:r>
            <a:endParaRPr lang="id-ID" sz="3000" dirty="0"/>
          </a:p>
        </p:txBody>
      </p:sp>
      <p:sp>
        <p:nvSpPr>
          <p:cNvPr id="6" name="Shape 3"/>
          <p:cNvSpPr/>
          <p:nvPr/>
        </p:nvSpPr>
        <p:spPr>
          <a:xfrm>
            <a:off x="548640" y="2176211"/>
            <a:ext cx="11094415" cy="1664208"/>
          </a:xfrm>
          <a:prstGeom prst="roundRect">
            <a:avLst>
              <a:gd name="adj" fmla="val 3623"/>
            </a:avLst>
          </a:prstGeom>
          <a:solidFill>
            <a:srgbClr val="DDF4FF"/>
          </a:solidFill>
          <a:ln w="9525">
            <a:solidFill>
              <a:srgbClr val="54AEFF"/>
            </a:solidFill>
            <a:prstDash val="solid"/>
          </a:ln>
        </p:spPr>
      </p:sp>
      <p:sp>
        <p:nvSpPr>
          <p:cNvPr id="7" name="Shape 4"/>
          <p:cNvSpPr/>
          <p:nvPr/>
        </p:nvSpPr>
        <p:spPr>
          <a:xfrm>
            <a:off x="804672" y="2733995"/>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54696"/>
            <a:ext cx="307238" cy="307238"/>
          </a:xfrm>
          <a:prstGeom prst="rect">
            <a:avLst/>
          </a:prstGeom>
        </p:spPr>
      </p:pic>
      <p:sp>
        <p:nvSpPr>
          <p:cNvPr id="9" name="Text 5"/>
          <p:cNvSpPr txBox="1"/>
          <p:nvPr/>
        </p:nvSpPr>
        <p:spPr>
          <a:xfrm>
            <a:off x="1554480" y="2450531"/>
            <a:ext cx="9859975" cy="1298448"/>
          </a:xfrm>
          <a:prstGeom prst="rect">
            <a:avLst/>
          </a:prstGeom>
          <a:noFill/>
          <a:ln/>
        </p:spPr>
        <p:txBody>
          <a:bodyPr wrap="square" lIns="0" tIns="0" rIns="0" bIns="0" rtlCol="0" anchor="t"/>
          <a:lstStyle/>
          <a:p>
            <a:pPr indent="0" marL="0">
              <a:buNone/>
            </a:pPr>
            <a:r>
              <a:rPr lang="id-ID" altLang="en-US" sz="2400" dirty="0">
                <a:solidFill>
                  <a:srgbClr val="1F2328"/>
                </a:solidFill>
              </a:rPr>
              <a:t>Cara berpikir yang </a:t>
            </a:r>
            <a:r>
              <a:rPr lang="id-ID" altLang="en-US" sz="2400" b="1" dirty="0">
                <a:solidFill>
                  <a:srgbClr val="1F2328"/>
                </a:solidFill>
              </a:rPr>
              <a:t>menonjolkan hal yang penting</a:t>
            </a:r>
            <a:r>
              <a:rPr lang="id-ID" altLang="en-US" sz="2400" dirty="0">
                <a:solidFill>
                  <a:srgbClr val="1F2328"/>
                </a:solidFill>
              </a:rPr>
              <a:t> (apa yang bisa dilakukan) dan </a:t>
            </a:r>
            <a:r>
              <a:rPr lang="id-ID" altLang="en-US" sz="2400" b="1" dirty="0">
                <a:solidFill>
                  <a:srgbClr val="1F2328"/>
                </a:solidFill>
              </a:rPr>
              <a:t>menyembunyikan detail</a:t>
            </a:r>
            <a:r>
              <a:rPr lang="id-ID" altLang="en-US" sz="2400" dirty="0">
                <a:solidFill>
                  <a:srgbClr val="1F2328"/>
                </a:solidFill>
              </a:rPr>
              <a:t> yang tidak perlu diketahui pemakai (bagaimana cara melakukannya).</a:t>
            </a:r>
            <a:endParaRPr lang="id-ID" sz="2400" dirty="0"/>
          </a:p>
        </p:txBody>
      </p:sp>
      <p:sp>
        <p:nvSpPr>
          <p:cNvPr id="10" name="Shape 6"/>
          <p:cNvSpPr/>
          <p:nvPr/>
        </p:nvSpPr>
        <p:spPr>
          <a:xfrm>
            <a:off x="603504" y="4399473"/>
            <a:ext cx="137160" cy="137160"/>
          </a:xfrm>
          <a:prstGeom prst="roundRect">
            <a:avLst>
              <a:gd name="adj" fmla="val 166667"/>
            </a:avLst>
          </a:prstGeom>
          <a:solidFill>
            <a:srgbClr val="0969DA"/>
          </a:solidFill>
          <a:ln/>
        </p:spPr>
      </p:sp>
      <p:sp>
        <p:nvSpPr>
          <p:cNvPr id="11" name="Text 7"/>
          <p:cNvSpPr txBox="1"/>
          <p:nvPr/>
        </p:nvSpPr>
        <p:spPr>
          <a:xfrm>
            <a:off x="932688" y="4297619"/>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Kasir KedaiKita cukup berkata “proses pembayaran ini”, tanpa peduli tunai, QRIS, atau kartu.</a:t>
            </a:r>
            <a:endParaRPr lang="id-ID" sz="2200" dirty="0"/>
          </a:p>
        </p:txBody>
      </p:sp>
      <p:sp>
        <p:nvSpPr>
          <p:cNvPr id="12" name="Shape 8"/>
          <p:cNvSpPr/>
          <p:nvPr/>
        </p:nvSpPr>
        <p:spPr>
          <a:xfrm>
            <a:off x="603504" y="4978085"/>
            <a:ext cx="137160" cy="137160"/>
          </a:xfrm>
          <a:prstGeom prst="roundRect">
            <a:avLst>
              <a:gd name="adj" fmla="val 166667"/>
            </a:avLst>
          </a:prstGeom>
          <a:solidFill>
            <a:srgbClr val="0969DA"/>
          </a:solidFill>
          <a:ln/>
        </p:spPr>
      </p:sp>
      <p:sp>
        <p:nvSpPr>
          <p:cNvPr id="13" name="Text 9"/>
          <p:cNvSpPr txBox="1"/>
          <p:nvPr/>
        </p:nvSpPr>
        <p:spPr>
          <a:xfrm>
            <a:off x="932688" y="4876231"/>
            <a:ext cx="10710367" cy="386588"/>
          </a:xfrm>
          <a:prstGeom prst="rect">
            <a:avLst/>
          </a:prstGeom>
          <a:noFill/>
          <a:ln/>
        </p:spPr>
        <p:txBody>
          <a:bodyPr wrap="square" lIns="0" tIns="0" rIns="0" bIns="0" rtlCol="0" anchor="t"/>
          <a:lstStyle/>
          <a:p>
            <a:pPr indent="0" marL="0">
              <a:buNone/>
            </a:pPr>
            <a:r>
              <a:rPr lang="id-ID" altLang="en-US" sz="2200" b="1" dirty="0">
                <a:solidFill>
                  <a:srgbClr val="1F2328"/>
                </a:solidFill>
              </a:rPr>
              <a:t>Kelas abstrak</a:t>
            </a:r>
            <a:r>
              <a:rPr lang="id-ID" altLang="en-US" sz="2200" dirty="0">
                <a:solidFill>
                  <a:srgbClr val="1F2328"/>
                </a:solidFill>
              </a:rPr>
              <a:t>: kerangka bersama untuk kelas-⁠kelas yang </a:t>
            </a:r>
            <a:r>
              <a:rPr lang="id-ID" altLang="en-US" sz="2200" b="1" dirty="0">
                <a:solidFill>
                  <a:srgbClr val="1F2328"/>
                </a:solidFill>
              </a:rPr>
              <a:t>bersaudara</a:t>
            </a:r>
            <a:r>
              <a:rPr lang="id-ID" altLang="en-US" sz="2200" dirty="0">
                <a:solidFill>
                  <a:srgbClr val="1F2328"/>
                </a:solidFill>
              </a:rPr>
              <a:t> (hubungan “adalah”).</a:t>
            </a:r>
            <a:endParaRPr lang="id-ID" sz="2200" dirty="0"/>
          </a:p>
        </p:txBody>
      </p:sp>
      <p:sp>
        <p:nvSpPr>
          <p:cNvPr id="14" name="Shape 10"/>
          <p:cNvSpPr/>
          <p:nvPr/>
        </p:nvSpPr>
        <p:spPr>
          <a:xfrm>
            <a:off x="603504" y="5556697"/>
            <a:ext cx="137160" cy="137160"/>
          </a:xfrm>
          <a:prstGeom prst="roundRect">
            <a:avLst>
              <a:gd name="adj" fmla="val 166667"/>
            </a:avLst>
          </a:prstGeom>
          <a:solidFill>
            <a:srgbClr val="0969DA"/>
          </a:solidFill>
          <a:ln/>
        </p:spPr>
      </p:sp>
      <p:sp>
        <p:nvSpPr>
          <p:cNvPr id="15" name="Text 11"/>
          <p:cNvSpPr txBox="1"/>
          <p:nvPr/>
        </p:nvSpPr>
        <p:spPr>
          <a:xfrm>
            <a:off x="932688" y="5454843"/>
            <a:ext cx="10710367" cy="727456"/>
          </a:xfrm>
          <a:prstGeom prst="rect">
            <a:avLst/>
          </a:prstGeom>
          <a:noFill/>
          <a:ln/>
        </p:spPr>
        <p:txBody>
          <a:bodyPr wrap="square" lIns="0" tIns="0" rIns="0" bIns="0" rtlCol="0" anchor="t"/>
          <a:lstStyle/>
          <a:p>
            <a:pPr indent="0" marL="0">
              <a:buNone/>
            </a:pPr>
            <a:r>
              <a:rPr lang="id-ID" altLang="en-US" sz="2200" b="1" i="1" dirty="0">
                <a:solidFill>
                  <a:srgbClr val="1F2328"/>
                </a:solidFill>
              </a:rPr>
              <a:t>Interface</a:t>
            </a:r>
            <a:r>
              <a:rPr lang="id-ID" altLang="en-US" sz="2200" dirty="0">
                <a:solidFill>
                  <a:srgbClr val="1F2328"/>
                </a:solidFill>
              </a:rPr>
              <a:t>: kontrak kemampuan untuk kelas yang </a:t>
            </a:r>
            <a:r>
              <a:rPr lang="id-ID" altLang="en-US" sz="2200" b="1" dirty="0">
                <a:solidFill>
                  <a:srgbClr val="1F2328"/>
                </a:solidFill>
              </a:rPr>
              <a:t>belum tentu bersaudara</a:t>
            </a:r>
            <a:r>
              <a:rPr lang="id-ID" altLang="en-US" sz="2200" dirty="0">
                <a:solidFill>
                  <a:srgbClr val="1F2328"/>
                </a:solidFill>
              </a:rPr>
              <a:t> (hubungan “bisa”).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Kelas Abstrak dan </a:t>
            </a:r>
            <a:r>
              <a:rPr lang="id-ID" altLang="en-US" sz="4200" b="1" i="1" dirty="0">
                <a:solidFill>
                  <a:srgbClr val="FFFFFF"/>
                </a:solidFill>
              </a:rPr>
              <a:t>Template Method</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Cetak biru yang sengaja belum lengkap, janji yang wajib ditepati, dan kerangka yang tetap.</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Abstrak: Cetak Biru yang Sengaja Belum Lengkap</a:t>
            </a:r>
            <a:endParaRPr lang="id-ID" sz="3200" dirty="0"/>
          </a:p>
        </p:txBody>
      </p:sp>
      <p:sp>
        <p:nvSpPr>
          <p:cNvPr id="5" name="Text 2"/>
          <p:cNvSpPr txBox="1"/>
          <p:nvPr/>
        </p:nvSpPr>
        <p:spPr>
          <a:xfrm>
            <a:off x="548640" y="1645188"/>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Kelas abstrak (</a:t>
            </a:r>
            <a:r>
              <a:rPr lang="id-ID" altLang="en-US" sz="3000" b="1" i="1" dirty="0">
                <a:solidFill>
                  <a:srgbClr val="0969DA"/>
                </a:solidFill>
              </a:rPr>
              <a:t>abstract class</a:t>
            </a:r>
            <a:r>
              <a:rPr lang="id-ID" altLang="en-US" sz="3000" b="1" dirty="0">
                <a:solidFill>
                  <a:srgbClr val="0969DA"/>
                </a:solidFill>
              </a:rPr>
              <a:t>)</a:t>
            </a:r>
            <a:endParaRPr lang="id-ID" sz="3000" dirty="0"/>
          </a:p>
        </p:txBody>
      </p:sp>
      <p:sp>
        <p:nvSpPr>
          <p:cNvPr id="6" name="Shape 3"/>
          <p:cNvSpPr/>
          <p:nvPr/>
        </p:nvSpPr>
        <p:spPr>
          <a:xfrm>
            <a:off x="548640" y="2358420"/>
            <a:ext cx="11094415" cy="1617726"/>
          </a:xfrm>
          <a:prstGeom prst="roundRect">
            <a:avLst>
              <a:gd name="adj" fmla="val 3834"/>
            </a:avLst>
          </a:prstGeom>
          <a:solidFill>
            <a:srgbClr val="DDF4FF"/>
          </a:solidFill>
          <a:ln w="9525">
            <a:solidFill>
              <a:srgbClr val="54AEFF"/>
            </a:solidFill>
            <a:prstDash val="solid"/>
          </a:ln>
        </p:spPr>
      </p:sp>
      <p:sp>
        <p:nvSpPr>
          <p:cNvPr id="7" name="Shape 4"/>
          <p:cNvSpPr/>
          <p:nvPr/>
        </p:nvSpPr>
        <p:spPr>
          <a:xfrm>
            <a:off x="804672" y="2892963"/>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3013664"/>
            <a:ext cx="307238" cy="307238"/>
          </a:xfrm>
          <a:prstGeom prst="rect">
            <a:avLst/>
          </a:prstGeom>
        </p:spPr>
      </p:pic>
      <p:sp>
        <p:nvSpPr>
          <p:cNvPr id="9" name="Text 5"/>
          <p:cNvSpPr txBox="1"/>
          <p:nvPr/>
        </p:nvSpPr>
        <p:spPr>
          <a:xfrm>
            <a:off x="1554480" y="2632740"/>
            <a:ext cx="9859975" cy="1251966"/>
          </a:xfrm>
          <a:prstGeom prst="rect">
            <a:avLst/>
          </a:prstGeom>
          <a:noFill/>
          <a:ln/>
        </p:spPr>
        <p:txBody>
          <a:bodyPr wrap="square" lIns="0" tIns="0" rIns="0" bIns="0" rtlCol="0" anchor="t"/>
          <a:lstStyle/>
          <a:p>
            <a:pPr indent="0" marL="0">
              <a:buNone/>
            </a:pPr>
            <a:r>
              <a:rPr lang="id-ID" altLang="en-US" sz="2300" dirty="0">
                <a:solidFill>
                  <a:srgbClr val="1F2328"/>
                </a:solidFill>
              </a:rPr>
              <a:t>Kelas yang </a:t>
            </a:r>
            <a:r>
              <a:rPr lang="id-ID" altLang="en-US" sz="2300" b="1" dirty="0">
                <a:solidFill>
                  <a:srgbClr val="1F2328"/>
                </a:solidFill>
              </a:rPr>
              <a:t>tidak bisa dibuat objeknya secara langsung</a:t>
            </a:r>
            <a:r>
              <a:rPr lang="id-ID" altLang="en-US" sz="2300" dirty="0">
                <a:solidFill>
                  <a:srgbClr val="1F2328"/>
                </a:solidFill>
              </a:rPr>
              <a:t>. Kelas ini menjadi kerangka bersama bagi kelas-⁠kelas anak. Lawannya adalah </a:t>
            </a:r>
            <a:r>
              <a:rPr lang="id-ID" altLang="en-US" sz="2300" b="1" dirty="0">
                <a:solidFill>
                  <a:srgbClr val="1F2328"/>
                </a:solidFill>
              </a:rPr>
              <a:t>kelas konkret</a:t>
            </a:r>
            <a:r>
              <a:rPr lang="id-ID" altLang="en-US" sz="2300" dirty="0">
                <a:solidFill>
                  <a:srgbClr val="1F2328"/>
                </a:solidFill>
              </a:rPr>
              <a:t>: kelas biasa yang boleh dibuat objeknya.</a:t>
            </a:r>
            <a:endParaRPr lang="id-ID" sz="2300" dirty="0"/>
          </a:p>
        </p:txBody>
      </p:sp>
      <p:sp>
        <p:nvSpPr>
          <p:cNvPr id="10" name="Shape 6"/>
          <p:cNvSpPr/>
          <p:nvPr/>
        </p:nvSpPr>
        <p:spPr>
          <a:xfrm>
            <a:off x="603504" y="4527453"/>
            <a:ext cx="137160" cy="137160"/>
          </a:xfrm>
          <a:prstGeom prst="roundRect">
            <a:avLst>
              <a:gd name="adj" fmla="val 166667"/>
            </a:avLst>
          </a:prstGeom>
          <a:solidFill>
            <a:srgbClr val="0969DA"/>
          </a:solidFill>
          <a:ln/>
        </p:spPr>
      </p:sp>
      <p:sp>
        <p:nvSpPr>
          <p:cNvPr id="11" name="Text 7"/>
          <p:cNvSpPr txBox="1"/>
          <p:nvPr/>
        </p:nvSpPr>
        <p:spPr>
          <a:xfrm>
            <a:off x="932688" y="4433346"/>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Di diler, kamu tidak bisa membeli “kendaraan” saja; yang ada selalu motor atau mobil.</a:t>
            </a:r>
            <a:endParaRPr lang="id-ID" sz="2100" dirty="0"/>
          </a:p>
        </p:txBody>
      </p:sp>
      <p:sp>
        <p:nvSpPr>
          <p:cNvPr id="12" name="Shape 8"/>
          <p:cNvSpPr/>
          <p:nvPr/>
        </p:nvSpPr>
        <p:spPr>
          <a:xfrm>
            <a:off x="603504" y="5090571"/>
            <a:ext cx="137160" cy="137160"/>
          </a:xfrm>
          <a:prstGeom prst="roundRect">
            <a:avLst>
              <a:gd name="adj" fmla="val 166667"/>
            </a:avLst>
          </a:prstGeom>
          <a:solidFill>
            <a:srgbClr val="0969DA"/>
          </a:solidFill>
          <a:ln/>
        </p:spPr>
      </p:sp>
      <p:sp>
        <p:nvSpPr>
          <p:cNvPr id="13" name="Text 9"/>
          <p:cNvSpPr txBox="1"/>
          <p:nvPr/>
        </p:nvSpPr>
        <p:spPr>
          <a:xfrm>
            <a:off x="932688" y="4996464"/>
            <a:ext cx="10710367" cy="371094"/>
          </a:xfrm>
          <a:prstGeom prst="rect">
            <a:avLst/>
          </a:prstGeom>
          <a:noFill/>
          <a:ln/>
        </p:spPr>
        <p:txBody>
          <a:bodyPr wrap="square" lIns="0" tIns="0" rIns="0" bIns="0" rtlCol="0" anchor="t"/>
          <a:lstStyle/>
          <a:p>
            <a:pPr indent="0" marL="0">
              <a:buNone/>
            </a:pPr>
            <a:r>
              <a:rPr lang="id-ID" altLang="en-US" sz="2100" i="1" dirty="0">
                <a:solidFill>
                  <a:srgbClr val="1F2328"/>
                </a:solidFill>
              </a:rPr>
              <a:t>Method</a:t>
            </a:r>
            <a:r>
              <a:rPr lang="id-ID" altLang="en-US" sz="2100" dirty="0">
                <a:solidFill>
                  <a:srgbClr val="1F2328"/>
                </a:solidFill>
              </a:rPr>
              <a:t> abstrak hanya punya “kepala” tanpa isi. Kelas anak konkret </a:t>
            </a:r>
            <a:r>
              <a:rPr lang="id-ID" altLang="en-US" sz="2100" b="1" dirty="0">
                <a:solidFill>
                  <a:srgbClr val="1F2328"/>
                </a:solidFill>
              </a:rPr>
              <a:t>wajib</a:t>
            </a:r>
            <a:r>
              <a:rPr lang="id-ID" altLang="en-US" sz="2100" dirty="0">
                <a:solidFill>
                  <a:srgbClr val="1F2328"/>
                </a:solidFill>
              </a:rPr>
              <a:t> meng-⁠</a:t>
            </a:r>
            <a:r>
              <a:rPr lang="id-ID" altLang="en-US" sz="2100" i="1" dirty="0">
                <a:solidFill>
                  <a:srgbClr val="1F2328"/>
                </a:solidFill>
              </a:rPr>
              <a:t>override</a:t>
            </a:r>
            <a:r>
              <a:rPr lang="id-ID" altLang="en-US" sz="2100" dirty="0">
                <a:solidFill>
                  <a:srgbClr val="1F2328"/>
                </a:solidFill>
              </a:rPr>
              <a:t>-nya.</a:t>
            </a:r>
            <a:endParaRPr lang="id-ID" sz="2100" dirty="0"/>
          </a:p>
        </p:txBody>
      </p:sp>
      <p:sp>
        <p:nvSpPr>
          <p:cNvPr id="14" name="Shape 10"/>
          <p:cNvSpPr/>
          <p:nvPr/>
        </p:nvSpPr>
        <p:spPr>
          <a:xfrm>
            <a:off x="603504" y="5653689"/>
            <a:ext cx="137160" cy="137160"/>
          </a:xfrm>
          <a:prstGeom prst="roundRect">
            <a:avLst>
              <a:gd name="adj" fmla="val 166667"/>
            </a:avLst>
          </a:prstGeom>
          <a:solidFill>
            <a:srgbClr val="0969DA"/>
          </a:solidFill>
          <a:ln/>
        </p:spPr>
      </p:sp>
      <p:sp>
        <p:nvSpPr>
          <p:cNvPr id="15" name="Text 11"/>
          <p:cNvSpPr txBox="1"/>
          <p:nvPr/>
        </p:nvSpPr>
        <p:spPr>
          <a:xfrm>
            <a:off x="932688" y="5559582"/>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Tetap boleh punya atribut, konstruktor, dan </a:t>
            </a:r>
            <a:r>
              <a:rPr lang="id-ID" altLang="en-US" sz="2100" i="1" dirty="0">
                <a:solidFill>
                  <a:srgbClr val="1F2328"/>
                </a:solidFill>
              </a:rPr>
              <a:t>method</a:t>
            </a:r>
            <a:r>
              <a:rPr lang="id-ID" altLang="en-US" sz="2100" dirty="0">
                <a:solidFill>
                  <a:srgbClr val="1F2328"/>
                </a:solidFill>
              </a:rPr>
              <a:t> konkret, serta boleh dipakai sebagai tipe.</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Menandai Kelas dan </a:t>
            </a:r>
            <a:r>
              <a:rPr lang="id-ID" altLang="en-US" sz="3200" b="1" i="1" dirty="0">
                <a:solidFill>
                  <a:srgbClr val="0A3069"/>
                </a:solidFill>
              </a:rPr>
              <a:t>Method</a:t>
            </a:r>
            <a:r>
              <a:rPr lang="id-ID" altLang="en-US" sz="3200" b="1" dirty="0">
                <a:solidFill>
                  <a:srgbClr val="0A3069"/>
                </a:solidFill>
              </a:rPr>
              <a:t> Abstrak</a:t>
            </a:r>
            <a:endParaRPr lang="id-ID" sz="3200" dirty="0"/>
          </a:p>
        </p:txBody>
      </p:sp>
      <p:sp>
        <p:nvSpPr>
          <p:cNvPr id="5" name="Text 2"/>
          <p:cNvSpPr txBox="1"/>
          <p:nvPr/>
        </p:nvSpPr>
        <p:spPr>
          <a:xfrm>
            <a:off x="548640" y="1371600"/>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Python: mewarisi </a:t>
            </a:r>
            <a:r>
              <a:rPr lang="id-ID" altLang="en-US" sz="1800" dirty="0">
                <a:solidFill>
                  <a:srgbClr val="0A3069"/>
                </a:solidFill>
                <a:latin typeface="Consolas" pitchFamily="34" charset="0"/>
                <a:ea typeface="Consolas" pitchFamily="34" charset="-122"/>
                <a:cs typeface="Consolas" pitchFamily="34" charset="-120"/>
              </a:rPr>
              <a:t>ABC</a:t>
            </a:r>
            <a:r>
              <a:rPr lang="id-ID" altLang="en-US" sz="1800" dirty="0">
                <a:solidFill>
                  <a:srgbClr val="57606A"/>
                </a:solidFill>
              </a:rPr>
              <a:t> dan memakai </a:t>
            </a:r>
            <a:r>
              <a:rPr lang="id-ID" altLang="en-US" sz="1800" dirty="0">
                <a:solidFill>
                  <a:srgbClr val="0A3069"/>
                </a:solidFill>
                <a:latin typeface="Consolas" pitchFamily="34" charset="0"/>
                <a:ea typeface="Consolas" pitchFamily="34" charset="-122"/>
                <a:cs typeface="Consolas" pitchFamily="34" charset="-120"/>
              </a:rPr>
              <a:t>@abstractmethod</a:t>
            </a:r>
            <a:r>
              <a:rPr lang="id-ID" altLang="en-US" sz="1800" dirty="0">
                <a:solidFill>
                  <a:srgbClr val="57606A"/>
                </a:solidFill>
              </a:rPr>
              <a:t>. Java: kata kunci </a:t>
            </a:r>
            <a:r>
              <a:rPr lang="id-ID" altLang="en-US" sz="1800" dirty="0">
                <a:solidFill>
                  <a:srgbClr val="0A3069"/>
                </a:solidFill>
                <a:latin typeface="Consolas" pitchFamily="34" charset="0"/>
                <a:ea typeface="Consolas" pitchFamily="34" charset="-122"/>
                <a:cs typeface="Consolas" pitchFamily="34" charset="-120"/>
              </a:rPr>
              <a:t>abstract</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PersegiPanjang</a:t>
            </a:r>
            <a:r>
              <a:rPr lang="id-ID" altLang="en-US" sz="1800" dirty="0">
                <a:solidFill>
                  <a:srgbClr val="57606A"/>
                </a:solidFill>
              </a:rPr>
              <a:t> mengisinya, jadi ia konkret.</a:t>
            </a:r>
            <a:endParaRPr lang="id-ID" sz="1800" dirty="0"/>
          </a:p>
        </p:txBody>
      </p:sp>
      <p:sp>
        <p:nvSpPr>
          <p:cNvPr id="6" name="Shape 3"/>
          <p:cNvSpPr/>
          <p:nvPr/>
        </p:nvSpPr>
        <p:spPr>
          <a:xfrm>
            <a:off x="548640" y="2084832"/>
            <a:ext cx="1051560" cy="329184"/>
          </a:xfrm>
          <a:prstGeom prst="roundRect">
            <a:avLst>
              <a:gd name="adj" fmla="val 138889"/>
            </a:avLst>
          </a:prstGeom>
          <a:solidFill>
            <a:srgbClr val="3572A5"/>
          </a:solidFill>
          <a:ln/>
        </p:spPr>
      </p:sp>
      <p:sp>
        <p:nvSpPr>
          <p:cNvPr id="7" name="Text 4"/>
          <p:cNvSpPr txBox="1"/>
          <p:nvPr/>
        </p:nvSpPr>
        <p:spPr>
          <a:xfrm>
            <a:off x="548640" y="208483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08483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python/contoh/contoh02_kelas_abstrak.py</a:t>
            </a:r>
            <a:endParaRPr lang="id-ID" sz="1100" dirty="0"/>
          </a:p>
        </p:txBody>
      </p:sp>
      <p:sp>
        <p:nvSpPr>
          <p:cNvPr id="9" name="Shape 6"/>
          <p:cNvSpPr/>
          <p:nvPr/>
        </p:nvSpPr>
        <p:spPr>
          <a:xfrm>
            <a:off x="548640" y="2505456"/>
            <a:ext cx="5432908" cy="3694176"/>
          </a:xfrm>
          <a:prstGeom prst="roundRect">
            <a:avLst>
              <a:gd name="adj" fmla="val 613"/>
            </a:avLst>
          </a:prstGeom>
          <a:solidFill>
            <a:srgbClr val="F6F8FA"/>
          </a:solidFill>
          <a:ln w="9525">
            <a:solidFill>
              <a:srgbClr val="D0D7DE"/>
            </a:solidFill>
            <a:prstDash val="solid"/>
          </a:ln>
        </p:spPr>
      </p:sp>
      <p:sp>
        <p:nvSpPr>
          <p:cNvPr id="10" name="Text 7"/>
          <p:cNvSpPr txBox="1"/>
          <p:nvPr/>
        </p:nvSpPr>
        <p:spPr>
          <a:xfrm>
            <a:off x="658368" y="2596896"/>
            <a:ext cx="5213452" cy="3511296"/>
          </a:xfrm>
          <a:prstGeom prst="rect">
            <a:avLst/>
          </a:prstGeom>
          <a:noFill/>
          <a:ln/>
        </p:spPr>
        <p:txBody>
          <a:bodyPr wrap="square" lIns="0" tIns="0" rIns="0" bIns="0" rtlCol="0" anchor="t"/>
          <a:lstStyle/>
          <a:p>
            <a:pPr indent="0" marL="0">
              <a:buNone/>
            </a:pPr>
            <a:r>
              <a:rPr lang="en-US" altLang="en-US" sz="1650" dirty="0">
                <a:solidFill>
                  <a:srgbClr val="CF222E"/>
                </a:solidFill>
                <a:latin typeface="Consolas" pitchFamily="34" charset="0"/>
                <a:ea typeface="Consolas" pitchFamily="34" charset="-122"/>
                <a:cs typeface="Consolas" pitchFamily="34" charset="-120"/>
              </a:rPr>
              <a:t>from</a:t>
            </a:r>
            <a:r>
              <a:rPr lang="en-US" altLang="en-US" sz="1650" dirty="0">
                <a:solidFill>
                  <a:srgbClr val="1F2328"/>
                </a:solidFill>
                <a:latin typeface="Consolas" pitchFamily="34" charset="0"/>
                <a:ea typeface="Consolas" pitchFamily="34" charset="-122"/>
                <a:cs typeface="Consolas" pitchFamily="34" charset="-120"/>
              </a:rPr>
              <a:t> abc </a:t>
            </a:r>
            <a:r>
              <a:rPr lang="en-US" altLang="en-US" sz="1650" dirty="0">
                <a:solidFill>
                  <a:srgbClr val="CF222E"/>
                </a:solidFill>
                <a:latin typeface="Consolas" pitchFamily="34" charset="0"/>
                <a:ea typeface="Consolas" pitchFamily="34" charset="-122"/>
                <a:cs typeface="Consolas" pitchFamily="34" charset="-120"/>
              </a:rPr>
              <a:t>import</a:t>
            </a:r>
            <a:r>
              <a:rPr lang="en-US" altLang="en-US" sz="1650" dirty="0">
                <a:solidFill>
                  <a:srgbClr val="1F2328"/>
                </a:solidFill>
                <a:latin typeface="Consolas" pitchFamily="34" charset="0"/>
                <a:ea typeface="Consolas" pitchFamily="34" charset="-122"/>
                <a:cs typeface="Consolas" pitchFamily="34" charset="-120"/>
              </a:rPr>
              <a:t> ABC, abstractmethod</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CF222E"/>
                </a:solidFill>
                <a:latin typeface="Consolas" pitchFamily="34" charset="0"/>
                <a:ea typeface="Consolas" pitchFamily="34" charset="-122"/>
                <a:cs typeface="Consolas" pitchFamily="34" charset="-120"/>
              </a:rPr>
              <a:t>class</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953800"/>
                </a:solidFill>
                <a:latin typeface="Consolas" pitchFamily="34" charset="0"/>
                <a:ea typeface="Consolas" pitchFamily="34" charset="-122"/>
                <a:cs typeface="Consolas" pitchFamily="34" charset="-120"/>
              </a:rPr>
              <a:t>Bentuk</a:t>
            </a:r>
            <a:r>
              <a:rPr lang="en-US" altLang="en-US" sz="1650" dirty="0">
                <a:solidFill>
                  <a:srgbClr val="1F2328"/>
                </a:solidFill>
                <a:latin typeface="Consolas" pitchFamily="34" charset="0"/>
                <a:ea typeface="Consolas" pitchFamily="34" charset="-122"/>
                <a:cs typeface="Consolas" pitchFamily="34" charset="-120"/>
              </a:rPr>
              <a:t>(ABC):</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 (dilewati)</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8250DF"/>
                </a:solidFill>
                <a:latin typeface="Consolas" pitchFamily="34" charset="0"/>
                <a:ea typeface="Consolas" pitchFamily="34" charset="-122"/>
                <a:cs typeface="Consolas" pitchFamily="34" charset="-120"/>
              </a:rPr>
              <a:t>@abstractmethod</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def</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8250DF"/>
                </a:solidFill>
                <a:latin typeface="Consolas" pitchFamily="34" charset="0"/>
                <a:ea typeface="Consolas" pitchFamily="34" charset="-122"/>
                <a:cs typeface="Consolas" pitchFamily="34" charset="-120"/>
              </a:rPr>
              <a:t>luas</a:t>
            </a:r>
            <a:r>
              <a:rPr lang="en-US" altLang="en-US" sz="1650" dirty="0">
                <a:solidFill>
                  <a:srgbClr val="1F2328"/>
                </a:solidFill>
                <a:latin typeface="Consolas" pitchFamily="34" charset="0"/>
                <a:ea typeface="Consolas" pitchFamily="34" charset="-122"/>
                <a:cs typeface="Consolas" pitchFamily="34" charset="-120"/>
              </a:rPr>
              <a:t>(</a:t>
            </a:r>
            <a:r>
              <a:rPr lang="en-US" altLang="en-US" sz="1650" dirty="0">
                <a:solidFill>
                  <a:srgbClr val="0550AE"/>
                </a:solidFill>
                <a:latin typeface="Consolas" pitchFamily="34" charset="0"/>
                <a:ea typeface="Consolas" pitchFamily="34" charset="-122"/>
                <a:cs typeface="Consolas" pitchFamily="34" charset="-120"/>
              </a:rPr>
              <a:t>self</a:t>
            </a:r>
            <a:r>
              <a:rPr lang="en-US" altLang="en-US" sz="1650" dirty="0">
                <a:solidFill>
                  <a:srgbClr val="1F2328"/>
                </a:solidFill>
                <a:latin typeface="Consolas" pitchFamily="34" charset="0"/>
                <a:ea typeface="Consolas" pitchFamily="34" charset="-122"/>
                <a:cs typeface="Consolas" pitchFamily="34" charset="-120"/>
              </a:rPr>
              <a:t>) -&gt; </a:t>
            </a:r>
            <a:r>
              <a:rPr lang="en-US" altLang="en-US" sz="1650" dirty="0">
                <a:solidFill>
                  <a:srgbClr val="0550AE"/>
                </a:solidFill>
                <a:latin typeface="Consolas" pitchFamily="34" charset="0"/>
                <a:ea typeface="Consolas" pitchFamily="34" charset="-122"/>
                <a:cs typeface="Consolas" pitchFamily="34" charset="-120"/>
              </a:rPr>
              <a:t>int</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0A3069"/>
                </a:solidFill>
                <a:latin typeface="Consolas" pitchFamily="34" charset="0"/>
                <a:ea typeface="Consolas" pitchFamily="34" charset="-122"/>
                <a:cs typeface="Consolas" pitchFamily="34" charset="-120"/>
              </a:rPr>
              <a:t>"""Menghitung luas (cm2)."""</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 (dilewati)</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CF222E"/>
                </a:solidFill>
                <a:latin typeface="Consolas" pitchFamily="34" charset="0"/>
                <a:ea typeface="Consolas" pitchFamily="34" charset="-122"/>
                <a:cs typeface="Consolas" pitchFamily="34" charset="-120"/>
              </a:rPr>
              <a:t>class</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953800"/>
                </a:solidFill>
                <a:latin typeface="Consolas" pitchFamily="34" charset="0"/>
                <a:ea typeface="Consolas" pitchFamily="34" charset="-122"/>
                <a:cs typeface="Consolas" pitchFamily="34" charset="-120"/>
              </a:rPr>
              <a:t>PersegiPanjang</a:t>
            </a:r>
            <a:r>
              <a:rPr lang="en-US" altLang="en-US" sz="1650" dirty="0">
                <a:solidFill>
                  <a:srgbClr val="1F2328"/>
                </a:solidFill>
                <a:latin typeface="Consolas" pitchFamily="34" charset="0"/>
                <a:ea typeface="Consolas" pitchFamily="34" charset="-122"/>
                <a:cs typeface="Consolas" pitchFamily="34" charset="-120"/>
              </a:rPr>
              <a:t>(Bentuk):</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 (dilewati)</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def</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8250DF"/>
                </a:solidFill>
                <a:latin typeface="Consolas" pitchFamily="34" charset="0"/>
                <a:ea typeface="Consolas" pitchFamily="34" charset="-122"/>
                <a:cs typeface="Consolas" pitchFamily="34" charset="-120"/>
              </a:rPr>
              <a:t>luas</a:t>
            </a:r>
            <a:r>
              <a:rPr lang="en-US" altLang="en-US" sz="1650" dirty="0">
                <a:solidFill>
                  <a:srgbClr val="1F2328"/>
                </a:solidFill>
                <a:latin typeface="Consolas" pitchFamily="34" charset="0"/>
                <a:ea typeface="Consolas" pitchFamily="34" charset="-122"/>
                <a:cs typeface="Consolas" pitchFamily="34" charset="-120"/>
              </a:rPr>
              <a:t>(</a:t>
            </a:r>
            <a:r>
              <a:rPr lang="en-US" altLang="en-US" sz="1650" dirty="0">
                <a:solidFill>
                  <a:srgbClr val="0550AE"/>
                </a:solidFill>
                <a:latin typeface="Consolas" pitchFamily="34" charset="0"/>
                <a:ea typeface="Consolas" pitchFamily="34" charset="-122"/>
                <a:cs typeface="Consolas" pitchFamily="34" charset="-120"/>
              </a:rPr>
              <a:t>self</a:t>
            </a:r>
            <a:r>
              <a:rPr lang="en-US" altLang="en-US" sz="1650" dirty="0">
                <a:solidFill>
                  <a:srgbClr val="1F2328"/>
                </a:solidFill>
                <a:latin typeface="Consolas" pitchFamily="34" charset="0"/>
                <a:ea typeface="Consolas" pitchFamily="34" charset="-122"/>
                <a:cs typeface="Consolas" pitchFamily="34" charset="-120"/>
              </a:rPr>
              <a:t>) -&gt; </a:t>
            </a:r>
            <a:r>
              <a:rPr lang="en-US" altLang="en-US" sz="1650" dirty="0">
                <a:solidFill>
                  <a:srgbClr val="0550AE"/>
                </a:solidFill>
                <a:latin typeface="Consolas" pitchFamily="34" charset="0"/>
                <a:ea typeface="Consolas" pitchFamily="34" charset="-122"/>
                <a:cs typeface="Consolas" pitchFamily="34" charset="-120"/>
              </a:rPr>
              <a:t>int</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return</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0550AE"/>
                </a:solidFill>
                <a:latin typeface="Consolas" pitchFamily="34" charset="0"/>
                <a:ea typeface="Consolas" pitchFamily="34" charset="-122"/>
                <a:cs typeface="Consolas" pitchFamily="34" charset="-120"/>
              </a:rPr>
              <a:t>self</a:t>
            </a:r>
            <a:r>
              <a:rPr lang="en-US" altLang="en-US" sz="1650" dirty="0">
                <a:solidFill>
                  <a:srgbClr val="1F2328"/>
                </a:solidFill>
                <a:latin typeface="Consolas" pitchFamily="34" charset="0"/>
                <a:ea typeface="Consolas" pitchFamily="34" charset="-122"/>
                <a:cs typeface="Consolas" pitchFamily="34" charset="-120"/>
              </a:rPr>
              <a:t>.panjang * </a:t>
            </a:r>
            <a:r>
              <a:rPr lang="en-US" altLang="en-US" sz="1650" dirty="0">
                <a:solidFill>
                  <a:srgbClr val="0550AE"/>
                </a:solidFill>
                <a:latin typeface="Consolas" pitchFamily="34" charset="0"/>
                <a:ea typeface="Consolas" pitchFamily="34" charset="-122"/>
                <a:cs typeface="Consolas" pitchFamily="34" charset="-120"/>
              </a:rPr>
              <a:t>self</a:t>
            </a:r>
            <a:r>
              <a:rPr lang="en-US" altLang="en-US" sz="1650" dirty="0">
                <a:solidFill>
                  <a:srgbClr val="1F2328"/>
                </a:solidFill>
                <a:latin typeface="Consolas" pitchFamily="34" charset="0"/>
                <a:ea typeface="Consolas" pitchFamily="34" charset="-122"/>
                <a:cs typeface="Consolas" pitchFamily="34" charset="-120"/>
              </a:rPr>
              <a:t>.lebar</a:t>
            </a:r>
            <a:endParaRPr lang="en-US" sz="1650" dirty="0"/>
          </a:p>
        </p:txBody>
      </p:sp>
      <p:sp>
        <p:nvSpPr>
          <p:cNvPr id="11" name="Shape 8"/>
          <p:cNvSpPr/>
          <p:nvPr/>
        </p:nvSpPr>
        <p:spPr>
          <a:xfrm>
            <a:off x="6210148" y="2084832"/>
            <a:ext cx="1051560" cy="329184"/>
          </a:xfrm>
          <a:prstGeom prst="roundRect">
            <a:avLst>
              <a:gd name="adj" fmla="val 138889"/>
            </a:avLst>
          </a:prstGeom>
          <a:solidFill>
            <a:srgbClr val="B07219"/>
          </a:solidFill>
          <a:ln/>
        </p:spPr>
      </p:sp>
      <p:sp>
        <p:nvSpPr>
          <p:cNvPr id="12" name="Text 9"/>
          <p:cNvSpPr txBox="1"/>
          <p:nvPr/>
        </p:nvSpPr>
        <p:spPr>
          <a:xfrm>
            <a:off x="6210148" y="208483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08483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java/contoh/Contoh02KelasAbstrak.java</a:t>
            </a:r>
            <a:endParaRPr lang="id-ID" sz="1100" dirty="0"/>
          </a:p>
        </p:txBody>
      </p:sp>
      <p:sp>
        <p:nvSpPr>
          <p:cNvPr id="14" name="Shape 11"/>
          <p:cNvSpPr/>
          <p:nvPr/>
        </p:nvSpPr>
        <p:spPr>
          <a:xfrm>
            <a:off x="6210148" y="2505456"/>
            <a:ext cx="5432908" cy="3694176"/>
          </a:xfrm>
          <a:prstGeom prst="roundRect">
            <a:avLst>
              <a:gd name="adj" fmla="val 613"/>
            </a:avLst>
          </a:prstGeom>
          <a:solidFill>
            <a:srgbClr val="F6F8FA"/>
          </a:solidFill>
          <a:ln w="9525">
            <a:solidFill>
              <a:srgbClr val="D0D7DE"/>
            </a:solidFill>
            <a:prstDash val="solid"/>
          </a:ln>
        </p:spPr>
      </p:sp>
      <p:sp>
        <p:nvSpPr>
          <p:cNvPr id="15" name="Text 12"/>
          <p:cNvSpPr txBox="1"/>
          <p:nvPr/>
        </p:nvSpPr>
        <p:spPr>
          <a:xfrm>
            <a:off x="6319876" y="2596896"/>
            <a:ext cx="5213452" cy="3511296"/>
          </a:xfrm>
          <a:prstGeom prst="rect">
            <a:avLst/>
          </a:prstGeom>
          <a:noFill/>
          <a:ln/>
        </p:spPr>
        <p:txBody>
          <a:bodyPr wrap="square" lIns="0" tIns="0" rIns="0" bIns="0" rtlCol="0" anchor="t"/>
          <a:lstStyle/>
          <a:p>
            <a:pPr indent="0" marL="0">
              <a:buNone/>
            </a:pPr>
            <a:r>
              <a:rPr lang="en-US" altLang="en-US" sz="1650" dirty="0">
                <a:solidFill>
                  <a:srgbClr val="CF222E"/>
                </a:solidFill>
                <a:latin typeface="Consolas" pitchFamily="34" charset="0"/>
                <a:ea typeface="Consolas" pitchFamily="34" charset="-122"/>
                <a:cs typeface="Consolas" pitchFamily="34" charset="-120"/>
              </a:rPr>
              <a:t>abstract</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class</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953800"/>
                </a:solidFill>
                <a:latin typeface="Consolas" pitchFamily="34" charset="0"/>
                <a:ea typeface="Consolas" pitchFamily="34" charset="-122"/>
                <a:cs typeface="Consolas" pitchFamily="34" charset="-120"/>
              </a:rPr>
              <a:t>Bentuk</a:t>
            </a:r>
            <a:r>
              <a:rPr lang="en-US" altLang="en-US" sz="1650" dirty="0">
                <a:solidFill>
                  <a:srgbClr val="1F2328"/>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i="1" dirty="0">
                <a:solidFill>
                  <a:srgbClr val="6E7781"/>
                </a:solidFill>
                <a:latin typeface="Consolas" pitchFamily="34" charset="0"/>
                <a:ea typeface="Consolas" pitchFamily="34" charset="-122"/>
                <a:cs typeface="Consolas" pitchFamily="34" charset="-120"/>
              </a:rPr>
              <a:t>/** Menghitung luas (cm2). */</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public</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abstract</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int</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8250DF"/>
                </a:solidFill>
                <a:latin typeface="Consolas" pitchFamily="34" charset="0"/>
                <a:ea typeface="Consolas" pitchFamily="34" charset="-122"/>
                <a:cs typeface="Consolas" pitchFamily="34" charset="-120"/>
              </a:rPr>
              <a:t>luas</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 (dilewati)</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CF222E"/>
                </a:solidFill>
                <a:latin typeface="Consolas" pitchFamily="34" charset="0"/>
                <a:ea typeface="Consolas" pitchFamily="34" charset="-122"/>
                <a:cs typeface="Consolas" pitchFamily="34" charset="-120"/>
              </a:rPr>
              <a:t>class</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953800"/>
                </a:solidFill>
                <a:latin typeface="Consolas" pitchFamily="34" charset="0"/>
                <a:ea typeface="Consolas" pitchFamily="34" charset="-122"/>
                <a:cs typeface="Consolas" pitchFamily="34" charset="-120"/>
              </a:rPr>
              <a:t>PersegiPanjang</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extends</a:t>
            </a:r>
            <a:r>
              <a:rPr lang="en-US" altLang="en-US" sz="1650" dirty="0">
                <a:solidFill>
                  <a:srgbClr val="1F2328"/>
                </a:solidFill>
                <a:latin typeface="Consolas" pitchFamily="34" charset="0"/>
                <a:ea typeface="Consolas" pitchFamily="34" charset="-122"/>
                <a:cs typeface="Consolas" pitchFamily="34" charset="-120"/>
              </a:rPr>
              <a:t> Bentuk {</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 (dilewati)</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8250DF"/>
                </a:solidFill>
                <a:latin typeface="Consolas" pitchFamily="34" charset="0"/>
                <a:ea typeface="Consolas" pitchFamily="34" charset="-122"/>
                <a:cs typeface="Consolas" pitchFamily="34" charset="-120"/>
              </a:rPr>
              <a:t>@Override</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public</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int</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8250DF"/>
                </a:solidFill>
                <a:latin typeface="Consolas" pitchFamily="34" charset="0"/>
                <a:ea typeface="Consolas" pitchFamily="34" charset="-122"/>
                <a:cs typeface="Consolas" pitchFamily="34" charset="-120"/>
              </a:rPr>
              <a:t>luas</a:t>
            </a:r>
            <a:r>
              <a:rPr lang="en-US" altLang="en-US" sz="1650" dirty="0">
                <a:solidFill>
                  <a:srgbClr val="1F2328"/>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CF222E"/>
                </a:solidFill>
                <a:latin typeface="Consolas" pitchFamily="34" charset="0"/>
                <a:ea typeface="Consolas" pitchFamily="34" charset="-122"/>
                <a:cs typeface="Consolas" pitchFamily="34" charset="-120"/>
              </a:rPr>
              <a:t>return</a:t>
            </a:r>
            <a:r>
              <a:rPr lang="en-US" altLang="en-US" sz="1650" dirty="0">
                <a:solidFill>
                  <a:srgbClr val="1F2328"/>
                </a:solidFill>
                <a:latin typeface="Consolas" pitchFamily="34" charset="0"/>
                <a:ea typeface="Consolas" pitchFamily="34" charset="-122"/>
                <a:cs typeface="Consolas" pitchFamily="34" charset="-120"/>
              </a:rPr>
              <a:t> panjang * lebar;</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 (dilewati)</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a:t>
            </a:r>
            <a:endParaRPr lang="en-US" sz="16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Method</a:t>
            </a:r>
            <a:r>
              <a:rPr lang="id-ID" altLang="en-US" sz="3200" b="1" dirty="0">
                <a:solidFill>
                  <a:srgbClr val="0A3069"/>
                </a:solidFill>
              </a:rPr>
              <a:t> Abstrak: Janji yang Wajib Ditepati</a:t>
            </a:r>
            <a:endParaRPr lang="id-ID" sz="3200" dirty="0"/>
          </a:p>
        </p:txBody>
      </p:sp>
      <p:pic>
        <p:nvPicPr>
          <p:cNvPr id="5" name="Image 1" descr="Override biasa itu boleh, sedangkan override method abstrak itu wajib. Kelas abstrak mengubah “sebaiknya” menjadi “harus”.">    </p:cNvPr>
          <p:cNvPicPr>
            <a:picLocks noChangeAspect="1"/>
          </p:cNvPicPr>
          <p:nvPr/>
        </p:nvPicPr>
        <p:blipFill>
          <a:blip r:embed="rId2"/>
          <a:stretch>
            <a:fillRect/>
          </a:stretch>
        </p:blipFill>
        <p:spPr>
          <a:xfrm>
            <a:off x="1476520" y="1417320"/>
            <a:ext cx="9238656" cy="4045204"/>
          </a:xfrm>
          <a:prstGeom prst="rect">
            <a:avLst/>
          </a:prstGeom>
        </p:spPr>
      </p:pic>
      <p:sp>
        <p:nvSpPr>
          <p:cNvPr id="6" name="Text 2"/>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i="1" dirty="0">
                <a:solidFill>
                  <a:srgbClr val="57606A"/>
                </a:solidFill>
              </a:rPr>
              <a:t>Override</a:t>
            </a:r>
            <a:r>
              <a:rPr lang="id-ID" altLang="en-US" sz="1700" dirty="0">
                <a:solidFill>
                  <a:srgbClr val="57606A"/>
                </a:solidFill>
              </a:rPr>
              <a:t> biasa itu </a:t>
            </a:r>
            <a:r>
              <a:rPr lang="id-ID" altLang="en-US" sz="1700" b="1" dirty="0">
                <a:solidFill>
                  <a:srgbClr val="57606A"/>
                </a:solidFill>
              </a:rPr>
              <a:t>boleh</a:t>
            </a:r>
            <a:r>
              <a:rPr lang="id-ID" altLang="en-US" sz="1700" dirty="0">
                <a:solidFill>
                  <a:srgbClr val="57606A"/>
                </a:solidFill>
              </a:rPr>
              <a:t>, sedangkan </a:t>
            </a:r>
            <a:r>
              <a:rPr lang="id-ID" altLang="en-US" sz="1700" i="1" dirty="0">
                <a:solidFill>
                  <a:srgbClr val="57606A"/>
                </a:solidFill>
              </a:rPr>
              <a:t>override</a:t>
            </a:r>
            <a:r>
              <a:rPr lang="id-ID" altLang="en-US" sz="1700" dirty="0">
                <a:solidFill>
                  <a:srgbClr val="57606A"/>
                </a:solidFill>
              </a:rPr>
              <a:t> </a:t>
            </a:r>
            <a:r>
              <a:rPr lang="id-ID" altLang="en-US" sz="1700" i="1" dirty="0">
                <a:solidFill>
                  <a:srgbClr val="57606A"/>
                </a:solidFill>
              </a:rPr>
              <a:t>method</a:t>
            </a:r>
            <a:r>
              <a:rPr lang="id-ID" altLang="en-US" sz="1700" dirty="0">
                <a:solidFill>
                  <a:srgbClr val="57606A"/>
                </a:solidFill>
              </a:rPr>
              <a:t> abstrak itu </a:t>
            </a:r>
            <a:r>
              <a:rPr lang="id-ID" altLang="en-US" sz="1700" b="1" dirty="0">
                <a:solidFill>
                  <a:srgbClr val="57606A"/>
                </a:solidFill>
              </a:rPr>
              <a:t>wajib</a:t>
            </a:r>
            <a:r>
              <a:rPr lang="id-ID" altLang="en-US" sz="1700" dirty="0">
                <a:solidFill>
                  <a:srgbClr val="57606A"/>
                </a:solidFill>
              </a:rPr>
              <a:t>. Kelas abstrak mengubah “sebaiknya” menjadi “harus”.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Template Method</a:t>
            </a:r>
            <a:r>
              <a:rPr lang="id-ID" altLang="en-US" sz="3200" b="1" dirty="0">
                <a:solidFill>
                  <a:srgbClr val="0A3069"/>
                </a:solidFill>
              </a:rPr>
              <a:t>: Kerangka Tetap, Detail Menyusul</a:t>
            </a:r>
            <a:endParaRPr lang="id-ID" sz="3200" dirty="0"/>
          </a:p>
        </p:txBody>
      </p:sp>
      <p:sp>
        <p:nvSpPr>
          <p:cNvPr id="5" name="Text 2"/>
          <p:cNvSpPr txBox="1"/>
          <p:nvPr/>
        </p:nvSpPr>
        <p:spPr>
          <a:xfrm>
            <a:off x="548640" y="1405738"/>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tampilkan()</a:t>
            </a:r>
            <a:r>
              <a:rPr lang="id-ID" altLang="en-US" sz="1800" dirty="0">
                <a:solidFill>
                  <a:srgbClr val="57606A"/>
                </a:solidFill>
              </a:rPr>
              <a:t> menetapkan urutan langkah. </a:t>
            </a:r>
            <a:r>
              <a:rPr lang="id-ID" altLang="en-US" sz="1800" dirty="0">
                <a:solidFill>
                  <a:srgbClr val="0A3069"/>
                </a:solidFill>
                <a:latin typeface="Consolas" pitchFamily="34" charset="0"/>
                <a:ea typeface="Consolas" pitchFamily="34" charset="-122"/>
                <a:cs typeface="Consolas" pitchFamily="34" charset="-120"/>
              </a:rPr>
              <a:t>judul()</a:t>
            </a:r>
            <a:r>
              <a:rPr lang="id-ID" altLang="en-US" sz="1800" dirty="0">
                <a:solidFill>
                  <a:srgbClr val="57606A"/>
                </a:solidFill>
              </a:rPr>
              <a:t> dan </a:t>
            </a:r>
            <a:r>
              <a:rPr lang="id-ID" altLang="en-US" sz="1800" dirty="0">
                <a:solidFill>
                  <a:srgbClr val="0A3069"/>
                </a:solidFill>
                <a:latin typeface="Consolas" pitchFamily="34" charset="0"/>
                <a:ea typeface="Consolas" pitchFamily="34" charset="-122"/>
                <a:cs typeface="Consolas" pitchFamily="34" charset="-120"/>
              </a:rPr>
              <a:t>isi()</a:t>
            </a:r>
            <a:r>
              <a:rPr lang="id-ID" altLang="en-US" sz="1800" dirty="0">
                <a:solidFill>
                  <a:srgbClr val="57606A"/>
                </a:solidFill>
              </a:rPr>
              <a:t> diisi kelas anak; </a:t>
            </a:r>
            <a:r>
              <a:rPr lang="id-ID" altLang="en-US" sz="1800" dirty="0">
                <a:solidFill>
                  <a:srgbClr val="0A3069"/>
                </a:solidFill>
                <a:latin typeface="Consolas" pitchFamily="34" charset="0"/>
                <a:ea typeface="Consolas" pitchFamily="34" charset="-122"/>
                <a:cs typeface="Consolas" pitchFamily="34" charset="-120"/>
              </a:rPr>
              <a:t>penutup()</a:t>
            </a:r>
            <a:r>
              <a:rPr lang="id-ID" altLang="en-US" sz="1800" dirty="0">
                <a:solidFill>
                  <a:srgbClr val="57606A"/>
                </a:solidFill>
              </a:rPr>
              <a:t> adalah </a:t>
            </a:r>
            <a:r>
              <a:rPr lang="id-ID" altLang="en-US" sz="1800" i="1" dirty="0">
                <a:solidFill>
                  <a:srgbClr val="57606A"/>
                </a:solidFill>
              </a:rPr>
              <a:t>hook</a:t>
            </a:r>
            <a:r>
              <a:rPr lang="id-ID" altLang="en-US" sz="1800" dirty="0">
                <a:solidFill>
                  <a:srgbClr val="57606A"/>
                </a:solidFill>
              </a:rPr>
              <a:t> yang boleh diganti.</a:t>
            </a:r>
            <a:endParaRPr lang="id-ID" sz="1800" dirty="0"/>
          </a:p>
        </p:txBody>
      </p:sp>
      <p:sp>
        <p:nvSpPr>
          <p:cNvPr id="6" name="Shape 3"/>
          <p:cNvSpPr/>
          <p:nvPr/>
        </p:nvSpPr>
        <p:spPr>
          <a:xfrm>
            <a:off x="548640" y="2118970"/>
            <a:ext cx="1051560" cy="329184"/>
          </a:xfrm>
          <a:prstGeom prst="roundRect">
            <a:avLst>
              <a:gd name="adj" fmla="val 138889"/>
            </a:avLst>
          </a:prstGeom>
          <a:solidFill>
            <a:srgbClr val="3572A5"/>
          </a:solidFill>
          <a:ln/>
        </p:spPr>
      </p:sp>
      <p:sp>
        <p:nvSpPr>
          <p:cNvPr id="7" name="Text 4"/>
          <p:cNvSpPr txBox="1"/>
          <p:nvPr/>
        </p:nvSpPr>
        <p:spPr>
          <a:xfrm>
            <a:off x="548640" y="211897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1897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python/contoh/contoh04_template_method.py</a:t>
            </a:r>
            <a:endParaRPr lang="id-ID" sz="1100" dirty="0"/>
          </a:p>
        </p:txBody>
      </p:sp>
      <p:sp>
        <p:nvSpPr>
          <p:cNvPr id="9" name="Shape 6"/>
          <p:cNvSpPr/>
          <p:nvPr/>
        </p:nvSpPr>
        <p:spPr>
          <a:xfrm>
            <a:off x="548640" y="2539594"/>
            <a:ext cx="5432908" cy="3612896"/>
          </a:xfrm>
          <a:prstGeom prst="roundRect">
            <a:avLst>
              <a:gd name="adj" fmla="val 641"/>
            </a:avLst>
          </a:prstGeom>
          <a:solidFill>
            <a:srgbClr val="F6F8FA"/>
          </a:solidFill>
          <a:ln w="9525">
            <a:solidFill>
              <a:srgbClr val="D0D7DE"/>
            </a:solidFill>
            <a:prstDash val="solid"/>
          </a:ln>
        </p:spPr>
      </p:sp>
      <p:sp>
        <p:nvSpPr>
          <p:cNvPr id="10" name="Text 7"/>
          <p:cNvSpPr txBox="1"/>
          <p:nvPr/>
        </p:nvSpPr>
        <p:spPr>
          <a:xfrm>
            <a:off x="658368" y="2631034"/>
            <a:ext cx="5213452" cy="3430016"/>
          </a:xfrm>
          <a:prstGeom prst="rect">
            <a:avLst/>
          </a:prstGeom>
          <a:noFill/>
          <a:ln/>
        </p:spPr>
        <p:txBody>
          <a:bodyPr wrap="square" lIns="0" tIns="0" rIns="0" bIns="0" rtlCol="0" anchor="t"/>
          <a:lstStyle/>
          <a:p>
            <a:pPr indent="0" marL="0">
              <a:buNone/>
            </a:pPr>
            <a:r>
              <a:rPr lang="en-US" altLang="en-US" sz="1600" dirty="0">
                <a:solidFill>
                  <a:srgbClr val="CF222E"/>
                </a:solidFill>
                <a:latin typeface="Consolas" pitchFamily="34" charset="0"/>
                <a:ea typeface="Consolas" pitchFamily="34" charset="-122"/>
                <a:cs typeface="Consolas" pitchFamily="34" charset="-120"/>
              </a:rPr>
              <a:t>def</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8250DF"/>
                </a:solidFill>
                <a:latin typeface="Consolas" pitchFamily="34" charset="0"/>
                <a:ea typeface="Consolas" pitchFamily="34" charset="-122"/>
                <a:cs typeface="Consolas" pitchFamily="34" charset="-120"/>
              </a:rPr>
              <a:t>tampilkan</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550AE"/>
                </a:solidFill>
                <a:latin typeface="Consolas" pitchFamily="34" charset="0"/>
                <a:ea typeface="Consolas" pitchFamily="34" charset="-122"/>
                <a:cs typeface="Consolas" pitchFamily="34" charset="-120"/>
              </a:rPr>
              <a:t>self</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 * 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550AE"/>
                </a:solidFill>
                <a:latin typeface="Consolas" pitchFamily="34" charset="0"/>
                <a:ea typeface="Consolas" pitchFamily="34" charset="-122"/>
                <a:cs typeface="Consolas" pitchFamily="34" charset="-120"/>
              </a:rPr>
              <a:t>self</a:t>
            </a:r>
            <a:r>
              <a:rPr lang="en-US" altLang="en-US" sz="1600" dirty="0">
                <a:solidFill>
                  <a:srgbClr val="1F2328"/>
                </a:solidFill>
                <a:latin typeface="Consolas" pitchFamily="34" charset="0"/>
                <a:ea typeface="Consolas" pitchFamily="34" charset="-122"/>
                <a:cs typeface="Consolas" pitchFamily="34" charset="-120"/>
              </a:rPr>
              <a:t>.judul())</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 * 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for</a:t>
            </a:r>
            <a:r>
              <a:rPr lang="en-US" altLang="en-US" sz="1600" dirty="0">
                <a:solidFill>
                  <a:srgbClr val="1F2328"/>
                </a:solidFill>
                <a:latin typeface="Consolas" pitchFamily="34" charset="0"/>
                <a:ea typeface="Consolas" pitchFamily="34" charset="-122"/>
                <a:cs typeface="Consolas" pitchFamily="34" charset="-120"/>
              </a:rPr>
              <a:t> baris in </a:t>
            </a:r>
            <a:r>
              <a:rPr lang="en-US" altLang="en-US" sz="1600" dirty="0">
                <a:solidFill>
                  <a:srgbClr val="0550AE"/>
                </a:solidFill>
                <a:latin typeface="Consolas" pitchFamily="34" charset="0"/>
                <a:ea typeface="Consolas" pitchFamily="34" charset="-122"/>
                <a:cs typeface="Consolas" pitchFamily="34" charset="-120"/>
              </a:rPr>
              <a:t>self</a:t>
            </a:r>
            <a:r>
              <a:rPr lang="en-US" altLang="en-US" sz="1600" dirty="0">
                <a:solidFill>
                  <a:srgbClr val="1F2328"/>
                </a:solidFill>
                <a:latin typeface="Consolas" pitchFamily="34" charset="0"/>
                <a:ea typeface="Consolas" pitchFamily="34" charset="-122"/>
                <a:cs typeface="Consolas" pitchFamily="34" charset="-120"/>
              </a:rPr>
              <a:t>.isi():</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(baris)</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 * 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550AE"/>
                </a:solidFill>
                <a:latin typeface="Consolas" pitchFamily="34" charset="0"/>
                <a:ea typeface="Consolas" pitchFamily="34" charset="-122"/>
                <a:cs typeface="Consolas" pitchFamily="34" charset="-120"/>
              </a:rPr>
              <a:t>self</a:t>
            </a:r>
            <a:r>
              <a:rPr lang="en-US" altLang="en-US" sz="1600" dirty="0">
                <a:solidFill>
                  <a:srgbClr val="1F2328"/>
                </a:solidFill>
                <a:latin typeface="Consolas" pitchFamily="34" charset="0"/>
                <a:ea typeface="Consolas" pitchFamily="34" charset="-122"/>
                <a:cs typeface="Consolas" pitchFamily="34" charset="-120"/>
              </a:rPr>
              <a:t>.penutup())</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550AE"/>
                </a:solidFill>
                <a:latin typeface="Consolas" pitchFamily="34" charset="0"/>
                <a:ea typeface="Consolas" pitchFamily="34" charset="-122"/>
                <a:cs typeface="Consolas" pitchFamily="34" charset="-120"/>
              </a:rPr>
              <a:t>print</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 * LEBAR)</a:t>
            </a:r>
            <a:endParaRPr lang="en-US" sz="1600" dirty="0"/>
          </a:p>
          <a:p>
            <a:pPr indent="0" marL="0">
              <a:buNone/>
            </a:pPr>
            <a:r>
              <a:rPr lang="en-US" altLang="en-US" sz="1600" dirty="0">
                <a:solidFill>
                  <a:srgbClr val="000000"/>
                </a:solidFill>
                <a:latin typeface="Consolas" pitchFamily="34" charset="0"/>
                <a:ea typeface="Consolas" pitchFamily="34" charset="-122"/>
                <a:cs typeface="Consolas" pitchFamily="34" charset="-120"/>
              </a:rPr>
              <a:t> </a:t>
            </a:r>
            <a:endParaRPr lang="en-US" sz="1600" dirty="0"/>
          </a:p>
          <a:p>
            <a:pPr indent="0" marL="0">
              <a:buNone/>
            </a:pPr>
            <a:r>
              <a:rPr lang="en-US" altLang="en-US" sz="1600" dirty="0">
                <a:solidFill>
                  <a:srgbClr val="8250DF"/>
                </a:solidFill>
                <a:latin typeface="Consolas" pitchFamily="34" charset="0"/>
                <a:ea typeface="Consolas" pitchFamily="34" charset="-122"/>
                <a:cs typeface="Consolas" pitchFamily="34" charset="-120"/>
              </a:rPr>
              <a:t>@abstractmethod</a:t>
            </a:r>
            <a:endParaRPr lang="en-US" sz="1600" dirty="0"/>
          </a:p>
          <a:p>
            <a:pPr indent="0" marL="0">
              <a:buNone/>
            </a:pPr>
            <a:r>
              <a:rPr lang="en-US" altLang="en-US" sz="1600" dirty="0">
                <a:solidFill>
                  <a:srgbClr val="CF222E"/>
                </a:solidFill>
                <a:latin typeface="Consolas" pitchFamily="34" charset="0"/>
                <a:ea typeface="Consolas" pitchFamily="34" charset="-122"/>
                <a:cs typeface="Consolas" pitchFamily="34" charset="-120"/>
              </a:rPr>
              <a:t>def</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8250DF"/>
                </a:solidFill>
                <a:latin typeface="Consolas" pitchFamily="34" charset="0"/>
                <a:ea typeface="Consolas" pitchFamily="34" charset="-122"/>
                <a:cs typeface="Consolas" pitchFamily="34" charset="-120"/>
              </a:rPr>
              <a:t>judul</a:t>
            </a:r>
            <a:r>
              <a:rPr lang="en-US" altLang="en-US" sz="1600" dirty="0">
                <a:solidFill>
                  <a:srgbClr val="1F2328"/>
                </a:solidFill>
                <a:latin typeface="Consolas" pitchFamily="34" charset="0"/>
                <a:ea typeface="Consolas" pitchFamily="34" charset="-122"/>
                <a:cs typeface="Consolas" pitchFamily="34" charset="-120"/>
              </a:rPr>
              <a:t>(</a:t>
            </a:r>
            <a:r>
              <a:rPr lang="en-US" altLang="en-US" sz="1600" dirty="0">
                <a:solidFill>
                  <a:srgbClr val="0550AE"/>
                </a:solidFill>
                <a:latin typeface="Consolas" pitchFamily="34" charset="0"/>
                <a:ea typeface="Consolas" pitchFamily="34" charset="-122"/>
                <a:cs typeface="Consolas" pitchFamily="34" charset="-120"/>
              </a:rPr>
              <a:t>self</a:t>
            </a:r>
            <a:r>
              <a:rPr lang="en-US" altLang="en-US" sz="1600" dirty="0">
                <a:solidFill>
                  <a:srgbClr val="1F2328"/>
                </a:solidFill>
                <a:latin typeface="Consolas" pitchFamily="34" charset="0"/>
                <a:ea typeface="Consolas" pitchFamily="34" charset="-122"/>
                <a:cs typeface="Consolas" pitchFamily="34" charset="-120"/>
              </a:rPr>
              <a:t>) -&gt; </a:t>
            </a:r>
            <a:r>
              <a:rPr lang="en-US" altLang="en-US" sz="1600" dirty="0">
                <a:solidFill>
                  <a:srgbClr val="0550AE"/>
                </a:solidFill>
                <a:latin typeface="Consolas" pitchFamily="34" charset="0"/>
                <a:ea typeface="Consolas" pitchFamily="34" charset="-122"/>
                <a:cs typeface="Consolas" pitchFamily="34" charset="-120"/>
              </a:rPr>
              <a:t>str</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0A3069"/>
                </a:solidFill>
                <a:latin typeface="Consolas" pitchFamily="34" charset="0"/>
                <a:ea typeface="Consolas" pitchFamily="34" charset="-122"/>
                <a:cs typeface="Consolas" pitchFamily="34" charset="-120"/>
              </a:rPr>
              <a:t>"""Judul laporan."""</a:t>
            </a:r>
            <a:endParaRPr lang="en-US" sz="1600" dirty="0"/>
          </a:p>
        </p:txBody>
      </p:sp>
      <p:sp>
        <p:nvSpPr>
          <p:cNvPr id="11" name="Shape 8"/>
          <p:cNvSpPr/>
          <p:nvPr/>
        </p:nvSpPr>
        <p:spPr>
          <a:xfrm>
            <a:off x="6210148" y="2118970"/>
            <a:ext cx="1051560" cy="329184"/>
          </a:xfrm>
          <a:prstGeom prst="roundRect">
            <a:avLst>
              <a:gd name="adj" fmla="val 138889"/>
            </a:avLst>
          </a:prstGeom>
          <a:solidFill>
            <a:srgbClr val="B07219"/>
          </a:solidFill>
          <a:ln/>
        </p:spPr>
      </p:sp>
      <p:sp>
        <p:nvSpPr>
          <p:cNvPr id="12" name="Text 9"/>
          <p:cNvSpPr txBox="1"/>
          <p:nvPr/>
        </p:nvSpPr>
        <p:spPr>
          <a:xfrm>
            <a:off x="6210148" y="211897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11897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java/contoh/Contoh04TemplateMethod.java</a:t>
            </a:r>
            <a:endParaRPr lang="id-ID" sz="1100" dirty="0"/>
          </a:p>
        </p:txBody>
      </p:sp>
      <p:sp>
        <p:nvSpPr>
          <p:cNvPr id="14" name="Shape 11"/>
          <p:cNvSpPr/>
          <p:nvPr/>
        </p:nvSpPr>
        <p:spPr>
          <a:xfrm>
            <a:off x="6210148" y="2539594"/>
            <a:ext cx="5432908" cy="3612896"/>
          </a:xfrm>
          <a:prstGeom prst="roundRect">
            <a:avLst>
              <a:gd name="adj" fmla="val 641"/>
            </a:avLst>
          </a:prstGeom>
          <a:solidFill>
            <a:srgbClr val="F6F8FA"/>
          </a:solidFill>
          <a:ln w="9525">
            <a:solidFill>
              <a:srgbClr val="D0D7DE"/>
            </a:solidFill>
            <a:prstDash val="solid"/>
          </a:ln>
        </p:spPr>
      </p:sp>
      <p:sp>
        <p:nvSpPr>
          <p:cNvPr id="15" name="Text 12"/>
          <p:cNvSpPr txBox="1"/>
          <p:nvPr/>
        </p:nvSpPr>
        <p:spPr>
          <a:xfrm>
            <a:off x="6319876" y="2631034"/>
            <a:ext cx="5213452" cy="3430016"/>
          </a:xfrm>
          <a:prstGeom prst="rect">
            <a:avLst/>
          </a:prstGeom>
          <a:noFill/>
          <a:ln/>
        </p:spPr>
        <p:txBody>
          <a:bodyPr wrap="square" lIns="0" tIns="0" rIns="0" bIns="0" rtlCol="0" anchor="t"/>
          <a:lstStyle/>
          <a:p>
            <a:pPr indent="0" marL="0">
              <a:buNone/>
            </a:pPr>
            <a:r>
              <a:rPr lang="en-US" altLang="en-US" sz="1600" dirty="0">
                <a:solidFill>
                  <a:srgbClr val="CF222E"/>
                </a:solidFill>
                <a:latin typeface="Consolas" pitchFamily="34" charset="0"/>
                <a:ea typeface="Consolas" pitchFamily="34" charset="-122"/>
                <a:cs typeface="Consolas" pitchFamily="34" charset="-120"/>
              </a:rPr>
              <a:t>public</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final</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void</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8250DF"/>
                </a:solidFill>
                <a:latin typeface="Consolas" pitchFamily="34" charset="0"/>
                <a:ea typeface="Consolas" pitchFamily="34" charset="-122"/>
                <a:cs typeface="Consolas" pitchFamily="34" charset="-120"/>
              </a:rPr>
              <a:t>tampilkan</a:t>
            </a:r>
            <a:r>
              <a:rPr lang="en-US" altLang="en-US" sz="1600" dirty="0">
                <a:solidFill>
                  <a:srgbClr val="1F2328"/>
                </a:solidFill>
                <a:latin typeface="Consolas" pitchFamily="34" charset="0"/>
                <a:ea typeface="Consolas" pitchFamily="34" charset="-122"/>
                <a:cs typeface="Consolas" pitchFamily="34" charset="-120"/>
              </a:rPr>
              <a:t>() {</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.repeat(LEBAR));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System.out.println(judul());</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.repeat(LEBAR));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for</a:t>
            </a:r>
            <a:r>
              <a:rPr lang="en-US" altLang="en-US" sz="1600" dirty="0">
                <a:solidFill>
                  <a:srgbClr val="1F2328"/>
                </a:solidFill>
                <a:latin typeface="Consolas" pitchFamily="34" charset="0"/>
                <a:ea typeface="Consolas" pitchFamily="34" charset="-122"/>
                <a:cs typeface="Consolas" pitchFamily="34" charset="-120"/>
              </a:rPr>
              <a:t> (String baris : isi()) {</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System.out.println(baris);</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.repeat(LEBAR));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System.out.println(penutup());</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    System.out.println(</a:t>
            </a:r>
            <a:r>
              <a:rPr lang="en-US" altLang="en-US" sz="1600" dirty="0">
                <a:solidFill>
                  <a:srgbClr val="0A3069"/>
                </a:solidFill>
                <a:latin typeface="Consolas" pitchFamily="34" charset="0"/>
                <a:ea typeface="Consolas" pitchFamily="34" charset="-122"/>
                <a:cs typeface="Consolas" pitchFamily="34" charset="-120"/>
              </a:rPr>
              <a:t>"="</a:t>
            </a:r>
            <a:r>
              <a:rPr lang="en-US" altLang="en-US" sz="1600" dirty="0">
                <a:solidFill>
                  <a:srgbClr val="1F2328"/>
                </a:solidFill>
                <a:latin typeface="Consolas" pitchFamily="34" charset="0"/>
                <a:ea typeface="Consolas" pitchFamily="34" charset="-122"/>
                <a:cs typeface="Consolas" pitchFamily="34" charset="-120"/>
              </a:rPr>
              <a:t>.repeat(LEBAR));</a:t>
            </a:r>
            <a:endParaRPr lang="en-US" sz="1600" dirty="0"/>
          </a:p>
          <a:p>
            <a:pPr indent="0" marL="0">
              <a:buNone/>
            </a:pPr>
            <a:r>
              <a:rPr lang="en-US" altLang="en-US" sz="1600" dirty="0">
                <a:solidFill>
                  <a:srgbClr val="1F2328"/>
                </a:solidFill>
                <a:latin typeface="Consolas" pitchFamily="34" charset="0"/>
                <a:ea typeface="Consolas" pitchFamily="34" charset="-122"/>
                <a:cs typeface="Consolas" pitchFamily="34" charset="-120"/>
              </a:rPr>
              <a:t>}</a:t>
            </a:r>
            <a:endParaRPr lang="en-US" sz="1600" dirty="0"/>
          </a:p>
          <a:p>
            <a:pPr indent="0" marL="0">
              <a:buNone/>
            </a:pPr>
            <a:r>
              <a:rPr lang="en-US" altLang="en-US" sz="1600" dirty="0">
                <a:solidFill>
                  <a:srgbClr val="000000"/>
                </a:solidFill>
                <a:latin typeface="Consolas" pitchFamily="34" charset="0"/>
                <a:ea typeface="Consolas" pitchFamily="34" charset="-122"/>
                <a:cs typeface="Consolas" pitchFamily="34" charset="-120"/>
              </a:rPr>
              <a:t> </a:t>
            </a:r>
            <a:endParaRPr lang="en-US" sz="1600" dirty="0"/>
          </a:p>
          <a:p>
            <a:pPr indent="0" marL="0">
              <a:buNone/>
            </a:pPr>
            <a:r>
              <a:rPr lang="en-US" altLang="en-US" sz="1600" i="1" dirty="0">
                <a:solidFill>
                  <a:srgbClr val="6E7781"/>
                </a:solidFill>
                <a:latin typeface="Consolas" pitchFamily="34" charset="0"/>
                <a:ea typeface="Consolas" pitchFamily="34" charset="-122"/>
                <a:cs typeface="Consolas" pitchFamily="34" charset="-120"/>
              </a:rPr>
              <a:t>/** Judul laporan. */</a:t>
            </a:r>
            <a:endParaRPr lang="en-US" sz="1600" dirty="0"/>
          </a:p>
          <a:p>
            <a:pPr indent="0" marL="0">
              <a:buNone/>
            </a:pPr>
            <a:r>
              <a:rPr lang="en-US" altLang="en-US" sz="1600" dirty="0">
                <a:solidFill>
                  <a:srgbClr val="CF222E"/>
                </a:solidFill>
                <a:latin typeface="Consolas" pitchFamily="34" charset="0"/>
                <a:ea typeface="Consolas" pitchFamily="34" charset="-122"/>
                <a:cs typeface="Consolas" pitchFamily="34" charset="-120"/>
              </a:rPr>
              <a:t>public</a:t>
            </a:r>
            <a:r>
              <a:rPr lang="en-US" altLang="en-US" sz="1600" dirty="0">
                <a:solidFill>
                  <a:srgbClr val="1F2328"/>
                </a:solidFill>
                <a:latin typeface="Consolas" pitchFamily="34" charset="0"/>
                <a:ea typeface="Consolas" pitchFamily="34" charset="-122"/>
                <a:cs typeface="Consolas" pitchFamily="34" charset="-120"/>
              </a:rPr>
              <a:t> </a:t>
            </a:r>
            <a:r>
              <a:rPr lang="en-US" altLang="en-US" sz="1600" dirty="0">
                <a:solidFill>
                  <a:srgbClr val="CF222E"/>
                </a:solidFill>
                <a:latin typeface="Consolas" pitchFamily="34" charset="0"/>
                <a:ea typeface="Consolas" pitchFamily="34" charset="-122"/>
                <a:cs typeface="Consolas" pitchFamily="34" charset="-120"/>
              </a:rPr>
              <a:t>abstract</a:t>
            </a:r>
            <a:r>
              <a:rPr lang="en-US" altLang="en-US" sz="1600" dirty="0">
                <a:solidFill>
                  <a:srgbClr val="1F2328"/>
                </a:solidFill>
                <a:latin typeface="Consolas" pitchFamily="34" charset="0"/>
                <a:ea typeface="Consolas" pitchFamily="34" charset="-122"/>
                <a:cs typeface="Consolas" pitchFamily="34" charset="-120"/>
              </a:rPr>
              <a:t> String </a:t>
            </a:r>
            <a:r>
              <a:rPr lang="en-US" altLang="en-US" sz="1600" dirty="0">
                <a:solidFill>
                  <a:srgbClr val="8250DF"/>
                </a:solidFill>
                <a:latin typeface="Consolas" pitchFamily="34" charset="0"/>
                <a:ea typeface="Consolas" pitchFamily="34" charset="-122"/>
                <a:cs typeface="Consolas" pitchFamily="34" charset="-120"/>
              </a:rPr>
              <a:t>judul</a:t>
            </a:r>
            <a:r>
              <a:rPr lang="en-US" altLang="en-US" sz="1600" dirty="0">
                <a:solidFill>
                  <a:srgbClr val="1F2328"/>
                </a:solidFill>
                <a:latin typeface="Consolas" pitchFamily="34" charset="0"/>
                <a:ea typeface="Consolas" pitchFamily="34" charset="-122"/>
                <a:cs typeface="Consolas" pitchFamily="34" charset="-120"/>
              </a:rPr>
              <a:t>();</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Interface</a:t>
            </a:r>
            <a:r>
              <a:rPr lang="id-ID" altLang="en-US" sz="4200" b="1" dirty="0">
                <a:solidFill>
                  <a:srgbClr val="FFFFFF"/>
                </a:solidFill>
              </a:rPr>
              <a:t>: Kontrak Kemampuan</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Untuk kelas-⁠kelas yang tidak bersaudara, tetapi sama-⁠sama bisa melakukan sesuatu.</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Interface</a:t>
            </a:r>
            <a:r>
              <a:rPr lang="id-ID" altLang="en-US" sz="3200" b="1" dirty="0">
                <a:solidFill>
                  <a:srgbClr val="0A3069"/>
                </a:solidFill>
              </a:rPr>
              <a:t>: Tanda Kemampuan, Bukan Keturunan</a:t>
            </a:r>
            <a:endParaRPr lang="id-ID" sz="3200" dirty="0"/>
          </a:p>
        </p:txBody>
      </p:sp>
      <p:sp>
        <p:nvSpPr>
          <p:cNvPr id="5" name="Text 2"/>
          <p:cNvSpPr txBox="1"/>
          <p:nvPr/>
        </p:nvSpPr>
        <p:spPr>
          <a:xfrm>
            <a:off x="548640" y="1462979"/>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Interface</a:t>
            </a:r>
            <a:r>
              <a:rPr lang="id-ID" altLang="en-US" sz="3000" b="1" dirty="0">
                <a:solidFill>
                  <a:srgbClr val="0969DA"/>
                </a:solidFill>
              </a:rPr>
              <a:t> (antarmuka)</a:t>
            </a:r>
            <a:endParaRPr lang="id-ID" sz="3000" dirty="0"/>
          </a:p>
        </p:txBody>
      </p:sp>
      <p:sp>
        <p:nvSpPr>
          <p:cNvPr id="6" name="Shape 3"/>
          <p:cNvSpPr/>
          <p:nvPr/>
        </p:nvSpPr>
        <p:spPr>
          <a:xfrm>
            <a:off x="548640" y="2176211"/>
            <a:ext cx="11094415" cy="1664208"/>
          </a:xfrm>
          <a:prstGeom prst="roundRect">
            <a:avLst>
              <a:gd name="adj" fmla="val 3623"/>
            </a:avLst>
          </a:prstGeom>
          <a:solidFill>
            <a:srgbClr val="DDF4FF"/>
          </a:solidFill>
          <a:ln w="9525">
            <a:solidFill>
              <a:srgbClr val="54AEFF"/>
            </a:solidFill>
            <a:prstDash val="solid"/>
          </a:ln>
        </p:spPr>
      </p:sp>
      <p:sp>
        <p:nvSpPr>
          <p:cNvPr id="7" name="Shape 4"/>
          <p:cNvSpPr/>
          <p:nvPr/>
        </p:nvSpPr>
        <p:spPr>
          <a:xfrm>
            <a:off x="804672" y="2733995"/>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54696"/>
            <a:ext cx="307238" cy="307238"/>
          </a:xfrm>
          <a:prstGeom prst="rect">
            <a:avLst/>
          </a:prstGeom>
        </p:spPr>
      </p:pic>
      <p:sp>
        <p:nvSpPr>
          <p:cNvPr id="9" name="Text 5"/>
          <p:cNvSpPr txBox="1"/>
          <p:nvPr/>
        </p:nvSpPr>
        <p:spPr>
          <a:xfrm>
            <a:off x="1554480" y="2450531"/>
            <a:ext cx="9859975" cy="1298448"/>
          </a:xfrm>
          <a:prstGeom prst="rect">
            <a:avLst/>
          </a:prstGeom>
          <a:noFill/>
          <a:ln/>
        </p:spPr>
        <p:txBody>
          <a:bodyPr wrap="square" lIns="0" tIns="0" rIns="0" bIns="0" rtlCol="0" anchor="t"/>
          <a:lstStyle/>
          <a:p>
            <a:pPr indent="0" marL="0">
              <a:buNone/>
            </a:pPr>
            <a:r>
              <a:rPr lang="id-ID" altLang="en-US" sz="2400" dirty="0">
                <a:solidFill>
                  <a:srgbClr val="1F2328"/>
                </a:solidFill>
              </a:rPr>
              <a:t>Kontrak yang berisi daftar kemampuan (</a:t>
            </a:r>
            <a:r>
              <a:rPr lang="id-ID" altLang="en-US" sz="2400" i="1" dirty="0">
                <a:solidFill>
                  <a:srgbClr val="1F2328"/>
                </a:solidFill>
              </a:rPr>
              <a:t>method</a:t>
            </a:r>
            <a:r>
              <a:rPr lang="id-ID" altLang="en-US" sz="2400" dirty="0">
                <a:solidFill>
                  <a:srgbClr val="1F2328"/>
                </a:solidFill>
              </a:rPr>
              <a:t>) yang </a:t>
            </a:r>
            <a:r>
              <a:rPr lang="id-ID" altLang="en-US" sz="2400" b="1" dirty="0">
                <a:solidFill>
                  <a:srgbClr val="1F2328"/>
                </a:solidFill>
              </a:rPr>
              <a:t>wajib</a:t>
            </a:r>
            <a:r>
              <a:rPr lang="id-ID" altLang="en-US" sz="2400" dirty="0">
                <a:solidFill>
                  <a:srgbClr val="1F2328"/>
                </a:solidFill>
              </a:rPr>
              <a:t> dimiliki oleh kelas yang menyatakan diri memenuhinya. </a:t>
            </a:r>
            <a:r>
              <a:rPr lang="id-ID" altLang="en-US" sz="2400" i="1" dirty="0">
                <a:solidFill>
                  <a:srgbClr val="1F2328"/>
                </a:solidFill>
              </a:rPr>
              <a:t>Interface</a:t>
            </a:r>
            <a:r>
              <a:rPr lang="id-ID" altLang="en-US" sz="2400" dirty="0">
                <a:solidFill>
                  <a:srgbClr val="1F2328"/>
                </a:solidFill>
              </a:rPr>
              <a:t> tidak peduli kelas itu keturunan siapa. Hubungannya “bisa” (</a:t>
            </a:r>
            <a:r>
              <a:rPr lang="id-ID" altLang="en-US" sz="2400" i="1" dirty="0">
                <a:solidFill>
                  <a:srgbClr val="1F2328"/>
                </a:solidFill>
              </a:rPr>
              <a:t>can-⁠do</a:t>
            </a:r>
            <a:r>
              <a:rPr lang="id-ID" altLang="en-US" sz="2400" dirty="0">
                <a:solidFill>
                  <a:srgbClr val="1F2328"/>
                </a:solidFill>
              </a:rPr>
              <a:t>), bukan “adalah” (</a:t>
            </a:r>
            <a:r>
              <a:rPr lang="id-ID" altLang="en-US" sz="2400" i="1" dirty="0">
                <a:solidFill>
                  <a:srgbClr val="1F2328"/>
                </a:solidFill>
              </a:rPr>
              <a:t>is-⁠a</a:t>
            </a:r>
            <a:r>
              <a:rPr lang="id-ID" altLang="en-US" sz="2400" dirty="0">
                <a:solidFill>
                  <a:srgbClr val="1F2328"/>
                </a:solidFill>
              </a:rPr>
              <a:t>).</a:t>
            </a:r>
            <a:endParaRPr lang="id-ID" sz="2400" dirty="0"/>
          </a:p>
        </p:txBody>
      </p:sp>
      <p:sp>
        <p:nvSpPr>
          <p:cNvPr id="10" name="Shape 6"/>
          <p:cNvSpPr/>
          <p:nvPr/>
        </p:nvSpPr>
        <p:spPr>
          <a:xfrm>
            <a:off x="603504" y="4399473"/>
            <a:ext cx="137160" cy="137160"/>
          </a:xfrm>
          <a:prstGeom prst="roundRect">
            <a:avLst>
              <a:gd name="adj" fmla="val 166667"/>
            </a:avLst>
          </a:prstGeom>
          <a:solidFill>
            <a:srgbClr val="0969DA"/>
          </a:solidFill>
          <a:ln/>
        </p:spPr>
      </p:sp>
      <p:sp>
        <p:nvSpPr>
          <p:cNvPr id="11" name="Text 7"/>
          <p:cNvSpPr txBox="1"/>
          <p:nvPr/>
        </p:nvSpPr>
        <p:spPr>
          <a:xfrm>
            <a:off x="932688" y="4297619"/>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Seperti </a:t>
            </a:r>
            <a:r>
              <a:rPr lang="id-ID" altLang="en-US" sz="2200" b="1" dirty="0">
                <a:solidFill>
                  <a:srgbClr val="1F2328"/>
                </a:solidFill>
              </a:rPr>
              <a:t>SIM C</a:t>
            </a:r>
            <a:r>
              <a:rPr lang="id-ID" altLang="en-US" sz="2200" dirty="0">
                <a:solidFill>
                  <a:srgbClr val="1F2328"/>
                </a:solidFill>
              </a:rPr>
              <a:t>: tanda </a:t>
            </a:r>
            <a:r>
              <a:rPr lang="id-ID" altLang="en-US" sz="2200" b="1" dirty="0">
                <a:solidFill>
                  <a:srgbClr val="1F2328"/>
                </a:solidFill>
              </a:rPr>
              <a:t>kemampuan</a:t>
            </a:r>
            <a:r>
              <a:rPr lang="id-ID" altLang="en-US" sz="2200" dirty="0">
                <a:solidFill>
                  <a:srgbClr val="1F2328"/>
                </a:solidFill>
              </a:rPr>
              <a:t> mengendarai motor, bukan tanda keturunan.</a:t>
            </a:r>
            <a:endParaRPr lang="id-ID" sz="2200" dirty="0"/>
          </a:p>
        </p:txBody>
      </p:sp>
      <p:sp>
        <p:nvSpPr>
          <p:cNvPr id="12" name="Shape 8"/>
          <p:cNvSpPr/>
          <p:nvPr/>
        </p:nvSpPr>
        <p:spPr>
          <a:xfrm>
            <a:off x="603504" y="4978085"/>
            <a:ext cx="137160" cy="137160"/>
          </a:xfrm>
          <a:prstGeom prst="roundRect">
            <a:avLst>
              <a:gd name="adj" fmla="val 166667"/>
            </a:avLst>
          </a:prstGeom>
          <a:solidFill>
            <a:srgbClr val="0969DA"/>
          </a:solidFill>
          <a:ln/>
        </p:spPr>
      </p:sp>
      <p:sp>
        <p:nvSpPr>
          <p:cNvPr id="13" name="Text 9"/>
          <p:cNvSpPr txBox="1"/>
          <p:nvPr/>
        </p:nvSpPr>
        <p:spPr>
          <a:xfrm>
            <a:off x="932688" y="4876231"/>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Tidak bisa dibuat objeknya. Isinya terutama </a:t>
            </a:r>
            <a:r>
              <a:rPr lang="id-ID" altLang="en-US" sz="2200" i="1" dirty="0">
                <a:solidFill>
                  <a:srgbClr val="1F2328"/>
                </a:solidFill>
              </a:rPr>
              <a:t>method</a:t>
            </a:r>
            <a:r>
              <a:rPr lang="id-ID" altLang="en-US" sz="2200" dirty="0">
                <a:solidFill>
                  <a:srgbClr val="1F2328"/>
                </a:solidFill>
              </a:rPr>
              <a:t> tanpa isi, tanpa atribut biasa.</a:t>
            </a:r>
            <a:endParaRPr lang="id-ID" sz="2200" dirty="0"/>
          </a:p>
        </p:txBody>
      </p:sp>
      <p:sp>
        <p:nvSpPr>
          <p:cNvPr id="14" name="Shape 10"/>
          <p:cNvSpPr/>
          <p:nvPr/>
        </p:nvSpPr>
        <p:spPr>
          <a:xfrm>
            <a:off x="603504" y="5556697"/>
            <a:ext cx="137160" cy="137160"/>
          </a:xfrm>
          <a:prstGeom prst="roundRect">
            <a:avLst>
              <a:gd name="adj" fmla="val 166667"/>
            </a:avLst>
          </a:prstGeom>
          <a:solidFill>
            <a:srgbClr val="0969DA"/>
          </a:solidFill>
          <a:ln/>
        </p:spPr>
      </p:sp>
      <p:sp>
        <p:nvSpPr>
          <p:cNvPr id="15" name="Text 11"/>
          <p:cNvSpPr txBox="1"/>
          <p:nvPr/>
        </p:nvSpPr>
        <p:spPr>
          <a:xfrm>
            <a:off x="932688" y="5454843"/>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Python: kelas </a:t>
            </a:r>
            <a:r>
              <a:rPr lang="id-ID" altLang="en-US" sz="2200" dirty="0">
                <a:solidFill>
                  <a:srgbClr val="1F2328"/>
                </a:solidFill>
                <a:latin typeface="Consolas" pitchFamily="34" charset="0"/>
                <a:ea typeface="Consolas" pitchFamily="34" charset="-122"/>
                <a:cs typeface="Consolas" pitchFamily="34" charset="-120"/>
              </a:rPr>
              <a:t>ABC</a:t>
            </a:r>
            <a:r>
              <a:rPr lang="id-ID" altLang="en-US" sz="2200" dirty="0">
                <a:solidFill>
                  <a:srgbClr val="1F2328"/>
                </a:solidFill>
              </a:rPr>
              <a:t> yang semua </a:t>
            </a:r>
            <a:r>
              <a:rPr lang="id-ID" altLang="en-US" sz="2200" i="1" dirty="0">
                <a:solidFill>
                  <a:srgbClr val="1F2328"/>
                </a:solidFill>
              </a:rPr>
              <a:t>method</a:t>
            </a:r>
            <a:r>
              <a:rPr lang="id-ID" altLang="en-US" sz="2200" dirty="0">
                <a:solidFill>
                  <a:srgbClr val="1F2328"/>
                </a:solidFill>
              </a:rPr>
              <a:t>-nya abstrak. Java: kata kunci </a:t>
            </a:r>
            <a:r>
              <a:rPr lang="id-ID" altLang="en-US" sz="2200" dirty="0">
                <a:solidFill>
                  <a:srgbClr val="1F2328"/>
                </a:solidFill>
                <a:latin typeface="Consolas" pitchFamily="34" charset="0"/>
                <a:ea typeface="Consolas" pitchFamily="34" charset="-122"/>
                <a:cs typeface="Consolas" pitchFamily="34" charset="-120"/>
              </a:rPr>
              <a:t>interface</a:t>
            </a:r>
            <a:r>
              <a:rPr lang="id-ID" altLang="en-US" sz="2200" dirty="0">
                <a:solidFill>
                  <a:srgbClr val="1F2328"/>
                </a:solidFill>
              </a:rPr>
              <a:t> dan </a:t>
            </a:r>
            <a:r>
              <a:rPr lang="id-ID" altLang="en-US" sz="2200" dirty="0">
                <a:solidFill>
                  <a:srgbClr val="1F2328"/>
                </a:solidFill>
                <a:latin typeface="Consolas" pitchFamily="34" charset="0"/>
                <a:ea typeface="Consolas" pitchFamily="34" charset="-122"/>
                <a:cs typeface="Consolas" pitchFamily="34" charset="-120"/>
              </a:rPr>
              <a:t>implements</a:t>
            </a:r>
            <a:r>
              <a:rPr lang="id-ID" altLang="en-US" sz="2200" dirty="0">
                <a:solidFill>
                  <a:srgbClr val="1F232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Kontrak </a:t>
            </a:r>
            <a:r>
              <a:rPr lang="id-ID" altLang="en-US" sz="3200" b="1" dirty="0">
                <a:solidFill>
                  <a:srgbClr val="0A3069"/>
                </a:solidFill>
                <a:latin typeface="Consolas" pitchFamily="34" charset="0"/>
                <a:ea typeface="Consolas" pitchFamily="34" charset="-122"/>
                <a:cs typeface="Consolas" pitchFamily="34" charset="-120"/>
              </a:rPr>
              <a:t>BisaDinyalakan</a:t>
            </a:r>
            <a:r>
              <a:rPr lang="id-ID" altLang="en-US" sz="3200" b="1" dirty="0">
                <a:solidFill>
                  <a:srgbClr val="0A3069"/>
                </a:solidFill>
              </a:rPr>
              <a:t> dan Kelas yang Memenuhinya</a:t>
            </a:r>
            <a:endParaRPr lang="id-ID" sz="3200" dirty="0"/>
          </a:p>
        </p:txBody>
      </p:sp>
      <p:sp>
        <p:nvSpPr>
          <p:cNvPr id="5" name="Text 2"/>
          <p:cNvSpPr txBox="1"/>
          <p:nvPr/>
        </p:nvSpPr>
        <p:spPr>
          <a:xfrm>
            <a:off x="548640" y="1846326"/>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Python mewarisi kelas </a:t>
            </a:r>
            <a:r>
              <a:rPr lang="id-ID" altLang="en-US" sz="1800" dirty="0">
                <a:solidFill>
                  <a:srgbClr val="0A3069"/>
                </a:solidFill>
                <a:latin typeface="Consolas" pitchFamily="34" charset="0"/>
                <a:ea typeface="Consolas" pitchFamily="34" charset="-122"/>
                <a:cs typeface="Consolas" pitchFamily="34" charset="-120"/>
              </a:rPr>
              <a:t>ABC</a:t>
            </a:r>
            <a:r>
              <a:rPr lang="id-ID" altLang="en-US" sz="1800" dirty="0">
                <a:solidFill>
                  <a:srgbClr val="57606A"/>
                </a:solidFill>
              </a:rPr>
              <a:t> yang berisi </a:t>
            </a:r>
            <a:r>
              <a:rPr lang="id-ID" altLang="en-US" sz="1800" i="1" dirty="0">
                <a:solidFill>
                  <a:srgbClr val="57606A"/>
                </a:solidFill>
              </a:rPr>
              <a:t>method</a:t>
            </a:r>
            <a:r>
              <a:rPr lang="id-ID" altLang="en-US" sz="1800" dirty="0">
                <a:solidFill>
                  <a:srgbClr val="57606A"/>
                </a:solidFill>
              </a:rPr>
              <a:t> abstrak saja. Java menulis </a:t>
            </a:r>
            <a:r>
              <a:rPr lang="id-ID" altLang="en-US" sz="1800" dirty="0">
                <a:solidFill>
                  <a:srgbClr val="0A3069"/>
                </a:solidFill>
                <a:latin typeface="Consolas" pitchFamily="34" charset="0"/>
                <a:ea typeface="Consolas" pitchFamily="34" charset="-122"/>
                <a:cs typeface="Consolas" pitchFamily="34" charset="-120"/>
              </a:rPr>
              <a:t>interface</a:t>
            </a:r>
            <a:r>
              <a:rPr lang="id-ID" altLang="en-US" sz="1800" dirty="0">
                <a:solidFill>
                  <a:srgbClr val="57606A"/>
                </a:solidFill>
              </a:rPr>
              <a:t>, lalu kelasnya menulis </a:t>
            </a:r>
            <a:r>
              <a:rPr lang="id-ID" altLang="en-US" sz="1800" dirty="0">
                <a:solidFill>
                  <a:srgbClr val="0A3069"/>
                </a:solidFill>
                <a:latin typeface="Consolas" pitchFamily="34" charset="0"/>
                <a:ea typeface="Consolas" pitchFamily="34" charset="-122"/>
                <a:cs typeface="Consolas" pitchFamily="34" charset="-120"/>
              </a:rPr>
              <a:t>implements</a:t>
            </a:r>
            <a:r>
              <a:rPr lang="id-ID" altLang="en-US" sz="1800" dirty="0">
                <a:solidFill>
                  <a:srgbClr val="57606A"/>
                </a:solidFill>
              </a:rPr>
              <a:t>.</a:t>
            </a:r>
            <a:endParaRPr lang="id-ID" sz="1800" dirty="0"/>
          </a:p>
        </p:txBody>
      </p:sp>
      <p:sp>
        <p:nvSpPr>
          <p:cNvPr id="6" name="Shape 3"/>
          <p:cNvSpPr/>
          <p:nvPr/>
        </p:nvSpPr>
        <p:spPr>
          <a:xfrm>
            <a:off x="548640" y="2559558"/>
            <a:ext cx="1051560" cy="329184"/>
          </a:xfrm>
          <a:prstGeom prst="roundRect">
            <a:avLst>
              <a:gd name="adj" fmla="val 138889"/>
            </a:avLst>
          </a:prstGeom>
          <a:solidFill>
            <a:srgbClr val="3572A5"/>
          </a:solidFill>
          <a:ln/>
        </p:spPr>
      </p:sp>
      <p:sp>
        <p:nvSpPr>
          <p:cNvPr id="7" name="Text 4"/>
          <p:cNvSpPr txBox="1"/>
          <p:nvPr/>
        </p:nvSpPr>
        <p:spPr>
          <a:xfrm>
            <a:off x="548640" y="255955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55955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python/contoh/contoh05_interface.py</a:t>
            </a:r>
            <a:endParaRPr lang="id-ID" sz="1100" dirty="0"/>
          </a:p>
        </p:txBody>
      </p:sp>
      <p:sp>
        <p:nvSpPr>
          <p:cNvPr id="9" name="Shape 6"/>
          <p:cNvSpPr/>
          <p:nvPr/>
        </p:nvSpPr>
        <p:spPr>
          <a:xfrm>
            <a:off x="548640" y="2980182"/>
            <a:ext cx="5432908" cy="2563876"/>
          </a:xfrm>
          <a:prstGeom prst="roundRect">
            <a:avLst>
              <a:gd name="adj" fmla="val 1272"/>
            </a:avLst>
          </a:prstGeom>
          <a:solidFill>
            <a:srgbClr val="F6F8FA"/>
          </a:solidFill>
          <a:ln w="9525">
            <a:solidFill>
              <a:srgbClr val="D0D7DE"/>
            </a:solidFill>
            <a:prstDash val="solid"/>
          </a:ln>
        </p:spPr>
      </p:sp>
      <p:sp>
        <p:nvSpPr>
          <p:cNvPr id="10" name="Text 7"/>
          <p:cNvSpPr txBox="1"/>
          <p:nvPr/>
        </p:nvSpPr>
        <p:spPr>
          <a:xfrm>
            <a:off x="658368" y="3071622"/>
            <a:ext cx="5213452" cy="238099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BisaDinyalakan</a:t>
            </a:r>
            <a:r>
              <a:rPr lang="en-US" altLang="en-US" sz="1100" dirty="0">
                <a:solidFill>
                  <a:srgbClr val="1F2328"/>
                </a:solidFill>
                <a:latin typeface="Consolas" pitchFamily="34" charset="0"/>
                <a:ea typeface="Consolas" pitchFamily="34" charset="-122"/>
                <a:cs typeface="Consolas" pitchFamily="34" charset="-120"/>
              </a:rPr>
              <a:t>(ABC):</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"""Kontrak: benda ini bisa dinyalakan dan dimatikan."""</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@abstractmethod</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nyalakan</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"""Menyalakan benda."""</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Lampu</a:t>
            </a:r>
            <a:r>
              <a:rPr lang="en-US" altLang="en-US" sz="1100" dirty="0">
                <a:solidFill>
                  <a:srgbClr val="1F2328"/>
                </a:solidFill>
                <a:latin typeface="Consolas" pitchFamily="34" charset="0"/>
                <a:ea typeface="Consolas" pitchFamily="34" charset="-122"/>
                <a:cs typeface="Consolas" pitchFamily="34" charset="-120"/>
              </a:rPr>
              <a:t>(BisaDinyalakan):</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nyalakan</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._menyala = </a:t>
            </a:r>
            <a:r>
              <a:rPr lang="en-US" altLang="en-US" sz="1100" dirty="0">
                <a:solidFill>
                  <a:srgbClr val="CF222E"/>
                </a:solidFill>
                <a:latin typeface="Consolas" pitchFamily="34" charset="0"/>
                <a:ea typeface="Consolas" pitchFamily="34" charset="-122"/>
                <a:cs typeface="Consolas" pitchFamily="34" charset="-120"/>
              </a:rPr>
              <a:t>True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f"Lampu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._ruangan</a:t>
            </a:r>
            <a:r>
              <a:rPr lang="en-US" altLang="en-US" sz="1100" dirty="0">
                <a:solidFill>
                  <a:srgbClr val="0A3069"/>
                </a:solidFill>
                <a:latin typeface="Consolas" pitchFamily="34" charset="0"/>
                <a:ea typeface="Consolas" pitchFamily="34" charset="-122"/>
                <a:cs typeface="Consolas" pitchFamily="34" charset="-120"/>
              </a:rPr>
              <a:t>} menyala"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p:txBody>
      </p:sp>
      <p:sp>
        <p:nvSpPr>
          <p:cNvPr id="11" name="Shape 8"/>
          <p:cNvSpPr/>
          <p:nvPr/>
        </p:nvSpPr>
        <p:spPr>
          <a:xfrm>
            <a:off x="6210148" y="2559558"/>
            <a:ext cx="1051560" cy="329184"/>
          </a:xfrm>
          <a:prstGeom prst="roundRect">
            <a:avLst>
              <a:gd name="adj" fmla="val 138889"/>
            </a:avLst>
          </a:prstGeom>
          <a:solidFill>
            <a:srgbClr val="B07219"/>
          </a:solidFill>
          <a:ln/>
        </p:spPr>
      </p:sp>
      <p:sp>
        <p:nvSpPr>
          <p:cNvPr id="12" name="Text 9"/>
          <p:cNvSpPr txBox="1"/>
          <p:nvPr/>
        </p:nvSpPr>
        <p:spPr>
          <a:xfrm>
            <a:off x="6210148" y="255955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55955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java/contoh/Contoh05Interface.java</a:t>
            </a:r>
            <a:endParaRPr lang="id-ID" sz="1100" dirty="0"/>
          </a:p>
        </p:txBody>
      </p:sp>
      <p:sp>
        <p:nvSpPr>
          <p:cNvPr id="14" name="Shape 11"/>
          <p:cNvSpPr/>
          <p:nvPr/>
        </p:nvSpPr>
        <p:spPr>
          <a:xfrm>
            <a:off x="6210148" y="2980182"/>
            <a:ext cx="5432908" cy="2563876"/>
          </a:xfrm>
          <a:prstGeom prst="roundRect">
            <a:avLst>
              <a:gd name="adj" fmla="val 1272"/>
            </a:avLst>
          </a:prstGeom>
          <a:solidFill>
            <a:srgbClr val="F6F8FA"/>
          </a:solidFill>
          <a:ln w="9525">
            <a:solidFill>
              <a:srgbClr val="D0D7DE"/>
            </a:solidFill>
            <a:prstDash val="solid"/>
          </a:ln>
        </p:spPr>
      </p:sp>
      <p:sp>
        <p:nvSpPr>
          <p:cNvPr id="15" name="Text 12"/>
          <p:cNvSpPr txBox="1"/>
          <p:nvPr/>
        </p:nvSpPr>
        <p:spPr>
          <a:xfrm>
            <a:off x="6319876" y="3071622"/>
            <a:ext cx="5213452" cy="238099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interface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BisaDinyalakan</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nyalakan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matikan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boolean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sedangMenyala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Lampu</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implements</a:t>
            </a:r>
            <a:r>
              <a:rPr lang="en-US" altLang="en-US" sz="1100" dirty="0">
                <a:solidFill>
                  <a:srgbClr val="1F2328"/>
                </a:solidFill>
                <a:latin typeface="Consolas" pitchFamily="34" charset="0"/>
                <a:ea typeface="Consolas" pitchFamily="34" charset="-122"/>
                <a:cs typeface="Consolas" pitchFamily="34" charset="-120"/>
              </a:rPr>
              <a:t> BisaDinyalakan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@Override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nyalakan</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menyala = </a:t>
            </a:r>
            <a:r>
              <a:rPr lang="en-US" altLang="en-US" sz="1100" dirty="0">
                <a:solidFill>
                  <a:srgbClr val="CF222E"/>
                </a:solidFill>
                <a:latin typeface="Consolas" pitchFamily="34" charset="0"/>
                <a:ea typeface="Consolas" pitchFamily="34" charset="-122"/>
                <a:cs typeface="Consolas" pitchFamily="34" charset="-120"/>
              </a:rPr>
              <a:t>true</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"Lampu "</a:t>
            </a:r>
            <a:r>
              <a:rPr lang="en-US" altLang="en-US" sz="1100" dirty="0">
                <a:solidFill>
                  <a:srgbClr val="1F2328"/>
                </a:solidFill>
                <a:latin typeface="Consolas" pitchFamily="34" charset="0"/>
                <a:ea typeface="Consolas" pitchFamily="34" charset="-122"/>
                <a:cs typeface="Consolas" pitchFamily="34" charset="-120"/>
              </a:rPr>
              <a:t> + ruangan + </a:t>
            </a:r>
            <a:r>
              <a:rPr lang="en-US" altLang="en-US" sz="1100" dirty="0">
                <a:solidFill>
                  <a:srgbClr val="0A3069"/>
                </a:solidFill>
                <a:latin typeface="Consolas" pitchFamily="34" charset="0"/>
                <a:ea typeface="Consolas" pitchFamily="34" charset="-122"/>
                <a:cs typeface="Consolas" pitchFamily="34" charset="-120"/>
              </a:rPr>
              <a:t>" menyala"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Kelas, Banyak </a:t>
            </a:r>
            <a:r>
              <a:rPr lang="id-ID" altLang="en-US" sz="3200" b="1" i="1" dirty="0">
                <a:solidFill>
                  <a:srgbClr val="0A3069"/>
                </a:solidFill>
              </a:rPr>
              <a:t>Interface</a:t>
            </a:r>
            <a:endParaRPr lang="id-ID" sz="3200" dirty="0"/>
          </a:p>
        </p:txBody>
      </p:sp>
      <p:pic>
        <p:nvPicPr>
          <p:cNvPr id="5" name="Image 1" descr="Bebek punya satu induk dan dua interface. Pesawat bukan Hewan, tetapi tetap BisaTerbang.">    </p:cNvPr>
          <p:cNvPicPr>
            <a:picLocks noChangeAspect="1"/>
          </p:cNvPicPr>
          <p:nvPr/>
        </p:nvPicPr>
        <p:blipFill>
          <a:blip r:embed="rId2"/>
          <a:stretch>
            <a:fillRect/>
          </a:stretch>
        </p:blipFill>
        <p:spPr>
          <a:xfrm>
            <a:off x="3077885" y="1417320"/>
            <a:ext cx="6035924"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latin typeface="Consolas" pitchFamily="34" charset="0"/>
                <a:ea typeface="Consolas" pitchFamily="34" charset="-122"/>
                <a:cs typeface="Consolas" pitchFamily="34" charset="-120"/>
              </a:rPr>
              <a:t>Bebek</a:t>
            </a:r>
            <a:r>
              <a:rPr lang="id-ID" altLang="en-US" sz="1700" dirty="0">
                <a:solidFill>
                  <a:srgbClr val="57606A"/>
                </a:solidFill>
              </a:rPr>
              <a:t> punya satu induk dan dua </a:t>
            </a:r>
            <a:r>
              <a:rPr lang="id-ID" altLang="en-US" sz="1700" i="1" dirty="0">
                <a:solidFill>
                  <a:srgbClr val="57606A"/>
                </a:solidFill>
              </a:rPr>
              <a:t>interface</a:t>
            </a:r>
            <a:r>
              <a:rPr lang="id-ID" altLang="en-US" sz="1700" dirty="0">
                <a:solidFill>
                  <a:srgbClr val="57606A"/>
                </a:solidFill>
              </a:rPr>
              <a:t>. </a:t>
            </a:r>
            <a:r>
              <a:rPr lang="id-ID" altLang="en-US" sz="1700" dirty="0">
                <a:solidFill>
                  <a:srgbClr val="57606A"/>
                </a:solidFill>
                <a:latin typeface="Consolas" pitchFamily="34" charset="0"/>
                <a:ea typeface="Consolas" pitchFamily="34" charset="-122"/>
                <a:cs typeface="Consolas" pitchFamily="34" charset="-120"/>
              </a:rPr>
              <a:t>Pesawat</a:t>
            </a:r>
            <a:r>
              <a:rPr lang="id-ID" altLang="en-US" sz="1700" dirty="0">
                <a:solidFill>
                  <a:srgbClr val="57606A"/>
                </a:solidFill>
              </a:rPr>
              <a:t> bukan </a:t>
            </a:r>
            <a:r>
              <a:rPr lang="id-ID" altLang="en-US" sz="1700" dirty="0">
                <a:solidFill>
                  <a:srgbClr val="57606A"/>
                </a:solidFill>
                <a:latin typeface="Consolas" pitchFamily="34" charset="0"/>
                <a:ea typeface="Consolas" pitchFamily="34" charset="-122"/>
                <a:cs typeface="Consolas" pitchFamily="34" charset="-120"/>
              </a:rPr>
              <a:t>Hewan</a:t>
            </a:r>
            <a:r>
              <a:rPr lang="id-ID" altLang="en-US" sz="1700" dirty="0">
                <a:solidFill>
                  <a:srgbClr val="57606A"/>
                </a:solidFill>
              </a:rPr>
              <a:t>, tetapi tetap </a:t>
            </a:r>
            <a:r>
              <a:rPr lang="id-ID" altLang="en-US" sz="1700" dirty="0">
                <a:solidFill>
                  <a:srgbClr val="57606A"/>
                </a:solidFill>
                <a:latin typeface="Consolas" pitchFamily="34" charset="0"/>
                <a:ea typeface="Consolas" pitchFamily="34" charset="-122"/>
                <a:cs typeface="Consolas" pitchFamily="34" charset="-120"/>
              </a:rPr>
              <a:t>BisaTerbang</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Fitur Khusus Tiap Bahasa</a:t>
            </a:r>
            <a:endParaRPr lang="id-ID"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1811"/>
          <a:ext cx="11094415" cy="914400"/>
        </p:xfrm>
        <a:graphic>
          <a:graphicData uri="http://schemas.openxmlformats.org/drawingml/2006/table">
            <a:tbl>
              <a:tblPr/>
              <a:tblGrid>
                <a:gridCol w="4836095"/>
                <a:gridCol w="1591789"/>
                <a:gridCol w="4666531"/>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Fitur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Bahasa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Arti singkat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Default method</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Java (sejak Java 8)</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a:t>
                      </a:r>
                      <a:r>
                        <a:rPr lang="id-ID" altLang="en-US" sz="2000" b="1" dirty="0">
                          <a:solidFill>
                            <a:srgbClr val="1F2328"/>
                          </a:solidFill>
                          <a:latin typeface="Calibri" pitchFamily="34" charset="0"/>
                          <a:ea typeface="Calibri" pitchFamily="34" charset="-122"/>
                          <a:cs typeface="Calibri" pitchFamily="34" charset="-120"/>
                        </a:rPr>
                        <a:t>berisi</a:t>
                      </a:r>
                      <a:r>
                        <a:rPr lang="id-ID" altLang="en-US" sz="2000" dirty="0">
                          <a:solidFill>
                            <a:srgbClr val="1F2328"/>
                          </a:solidFill>
                          <a:latin typeface="Calibri" pitchFamily="34" charset="0"/>
                          <a:ea typeface="Calibri" pitchFamily="34" charset="-122"/>
                          <a:cs typeface="Calibri" pitchFamily="34" charset="-120"/>
                        </a:rPr>
                        <a:t> di dalam </a:t>
                      </a:r>
                      <a:r>
                        <a:rPr lang="id-ID" altLang="en-US" sz="2000" i="1" dirty="0">
                          <a:solidFill>
                            <a:srgbClr val="1F2328"/>
                          </a:solidFill>
                          <a:latin typeface="Calibri" pitchFamily="34" charset="0"/>
                          <a:ea typeface="Calibri" pitchFamily="34" charset="-122"/>
                          <a:cs typeface="Calibri" pitchFamily="34" charset="-120"/>
                        </a:rPr>
                        <a:t>interface</a:t>
                      </a:r>
                      <a:r>
                        <a:rPr lang="id-ID" altLang="en-US" sz="2000" dirty="0">
                          <a:solidFill>
                            <a:srgbClr val="1F2328"/>
                          </a:solidFill>
                          <a:latin typeface="Calibri" pitchFamily="34" charset="0"/>
                          <a:ea typeface="Calibri" pitchFamily="34" charset="-122"/>
                          <a:cs typeface="Calibri" pitchFamily="34" charset="-120"/>
                        </a:rPr>
                        <a:t>; otomatis didapat, boleh di-⁠</a:t>
                      </a:r>
                      <a:r>
                        <a:rPr lang="id-ID" altLang="en-US" sz="2000" i="1" dirty="0">
                          <a:solidFill>
                            <a:srgbClr val="1F2328"/>
                          </a:solidFill>
                          <a:latin typeface="Calibri" pitchFamily="34" charset="0"/>
                          <a:ea typeface="Calibri" pitchFamily="34" charset="-122"/>
                          <a:cs typeface="Calibri" pitchFamily="34" charset="-120"/>
                        </a:rPr>
                        <a:t>override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static</a:t>
                      </a:r>
                      <a:r>
                        <a:rPr lang="id-ID" altLang="en-US" sz="2000" dirty="0">
                          <a:solidFill>
                            <a:srgbClr val="1F2328"/>
                          </a:solidFill>
                          <a:latin typeface="Calibri" pitchFamily="34" charset="0"/>
                          <a:ea typeface="Calibri" pitchFamily="34" charset="-122"/>
                          <a:cs typeface="Calibri" pitchFamily="34" charset="-120"/>
                        </a:rPr>
                        <a:t> dan </a:t>
                      </a:r>
                      <a:r>
                        <a:rPr lang="id-ID" altLang="en-US" sz="2000" dirty="0">
                          <a:solidFill>
                            <a:srgbClr val="0A3069"/>
                          </a:solidFill>
                          <a:latin typeface="Consolas" pitchFamily="34" charset="0"/>
                          <a:ea typeface="Consolas" pitchFamily="34" charset="-122"/>
                          <a:cs typeface="Consolas" pitchFamily="34" charset="-120"/>
                        </a:rPr>
                        <a:t>private</a:t>
                      </a:r>
                      <a:r>
                        <a:rPr lang="id-ID" altLang="en-US" sz="2000" dirty="0">
                          <a:solidFill>
                            <a:srgbClr val="1F2328"/>
                          </a:solidFill>
                          <a:latin typeface="Calibri" pitchFamily="34" charset="0"/>
                          <a:ea typeface="Calibri" pitchFamily="34" charset="-122"/>
                          <a:cs typeface="Calibri" pitchFamily="34" charset="-120"/>
                        </a:rPr>
                        <a:t> di </a:t>
                      </a:r>
                      <a:r>
                        <a:rPr lang="id-ID" altLang="en-US" sz="2000" i="1" dirty="0">
                          <a:solidFill>
                            <a:srgbClr val="1F2328"/>
                          </a:solidFill>
                          <a:latin typeface="Calibri" pitchFamily="34" charset="0"/>
                          <a:ea typeface="Calibri" pitchFamily="34" charset="-122"/>
                          <a:cs typeface="Calibri" pitchFamily="34" charset="-120"/>
                        </a:rPr>
                        <a:t>interface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Java (sejak Java 8 dan 9)</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pembantu milik </a:t>
                      </a:r>
                      <a:r>
                        <a:rPr lang="id-ID" altLang="en-US" sz="2000" i="1" dirty="0">
                          <a:solidFill>
                            <a:srgbClr val="1F2328"/>
                          </a:solidFill>
                          <a:latin typeface="Calibri" pitchFamily="34" charset="0"/>
                          <a:ea typeface="Calibri" pitchFamily="34" charset="-122"/>
                          <a:cs typeface="Calibri" pitchFamily="34" charset="-120"/>
                        </a:rPr>
                        <a:t>interface</a:t>
                      </a:r>
                      <a:r>
                        <a:rPr lang="id-ID" altLang="en-US" sz="2000" dirty="0">
                          <a:solidFill>
                            <a:srgbClr val="1F2328"/>
                          </a:solidFill>
                          <a:latin typeface="Calibri" pitchFamily="34" charset="0"/>
                          <a:ea typeface="Calibri" pitchFamily="34" charset="-122"/>
                          <a:cs typeface="Calibri" pitchFamily="34" charset="-120"/>
                        </a:rPr>
                        <a:t> itu; tidak diwariskan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Konstanta di </a:t>
                      </a:r>
                      <a:r>
                        <a:rPr lang="id-ID" altLang="en-US" sz="2000" i="1" dirty="0">
                          <a:solidFill>
                            <a:srgbClr val="1F2328"/>
                          </a:solidFill>
                          <a:latin typeface="Calibri" pitchFamily="34" charset="0"/>
                          <a:ea typeface="Calibri" pitchFamily="34" charset="-122"/>
                          <a:cs typeface="Calibri" pitchFamily="34" charset="-120"/>
                        </a:rPr>
                        <a:t>interface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Java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Nilai tetap yang menempel pada </a:t>
                      </a:r>
                      <a:r>
                        <a:rPr lang="id-ID" altLang="en-US" sz="2000" i="1" dirty="0">
                          <a:solidFill>
                            <a:srgbClr val="1F2328"/>
                          </a:solidFill>
                          <a:latin typeface="Calibri" pitchFamily="34" charset="0"/>
                          <a:ea typeface="Calibri" pitchFamily="34" charset="-122"/>
                          <a:cs typeface="Calibri" pitchFamily="34" charset="-120"/>
                        </a:rPr>
                        <a:t>interface</a:t>
                      </a:r>
                      <a:r>
                        <a:rPr lang="id-ID" altLang="en-US" sz="2000" dirty="0">
                          <a:solidFill>
                            <a:srgbClr val="1F2328"/>
                          </a:solidFill>
                          <a:latin typeface="Calibri" pitchFamily="34" charset="0"/>
                          <a:ea typeface="Calibri" pitchFamily="34" charset="-122"/>
                          <a:cs typeface="Calibri" pitchFamily="34" charset="-120"/>
                        </a:rPr>
                        <a:t>, misalnya </a:t>
                      </a:r>
                      <a:r>
                        <a:rPr lang="id-ID" altLang="en-US" sz="2000" dirty="0">
                          <a:solidFill>
                            <a:srgbClr val="0A3069"/>
                          </a:solidFill>
                          <a:latin typeface="Consolas" pitchFamily="34" charset="0"/>
                          <a:ea typeface="Consolas" pitchFamily="34" charset="-122"/>
                          <a:cs typeface="Consolas" pitchFamily="34" charset="-120"/>
                        </a:rPr>
                        <a:t>BINTANG_MAKS = 5</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typing.Protocol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Python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Kontrak </a:t>
                      </a:r>
                      <a:r>
                        <a:rPr lang="id-ID" altLang="en-US" sz="2000" b="1" dirty="0">
                          <a:solidFill>
                            <a:srgbClr val="1F2328"/>
                          </a:solidFill>
                          <a:latin typeface="Calibri" pitchFamily="34" charset="0"/>
                          <a:ea typeface="Calibri" pitchFamily="34" charset="-122"/>
                          <a:cs typeface="Calibri" pitchFamily="34" charset="-120"/>
                        </a:rPr>
                        <a:t>struktural</a:t>
                      </a:r>
                      <a:r>
                        <a:rPr lang="id-ID" altLang="en-US" sz="2000" dirty="0">
                          <a:solidFill>
                            <a:srgbClr val="1F2328"/>
                          </a:solidFill>
                          <a:latin typeface="Calibri" pitchFamily="34" charset="0"/>
                          <a:ea typeface="Calibri" pitchFamily="34" charset="-122"/>
                          <a:cs typeface="Calibri" pitchFamily="34" charset="-120"/>
                        </a:rPr>
                        <a:t>: cukup punya </a:t>
                      </a: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yang cocok, tanpa mewarisi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5201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24439"/>
            <a:ext cx="184343" cy="184343"/>
          </a:xfrm>
          <a:prstGeom prst="rect">
            <a:avLst/>
          </a:prstGeom>
        </p:spPr>
      </p:pic>
      <p:sp>
        <p:nvSpPr>
          <p:cNvPr id="8" name="Text 3"/>
          <p:cNvSpPr txBox="1"/>
          <p:nvPr/>
        </p:nvSpPr>
        <p:spPr>
          <a:xfrm>
            <a:off x="1005840" y="543373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latin typeface="Consolas" pitchFamily="34" charset="0"/>
                <a:ea typeface="Consolas" pitchFamily="34" charset="-122"/>
                <a:cs typeface="Consolas" pitchFamily="34" charset="-120"/>
              </a:rPr>
              <a:t>Protocol</a:t>
            </a:r>
            <a:r>
              <a:rPr lang="id-ID" altLang="en-US" sz="1800" dirty="0">
                <a:solidFill>
                  <a:srgbClr val="57606A"/>
                </a:solidFill>
              </a:rPr>
              <a:t> diperiksa alat pemeriksa tipe di editor, misalnya Pylance atau mypy, bukan oleh Python saat program berjalan.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Kelas Abstrak atau </a:t>
            </a:r>
            <a:r>
              <a:rPr lang="id-ID" altLang="en-US" sz="4200" b="1" i="1" dirty="0">
                <a:solidFill>
                  <a:srgbClr val="FFFFFF"/>
                </a:solidFill>
              </a:rPr>
              <a:t>Interface</a:t>
            </a:r>
            <a:r>
              <a:rPr lang="id-ID" altLang="en-US" sz="4200" b="1" dirty="0">
                <a:solidFill>
                  <a:srgbClr val="FFFFFF"/>
                </a:solidFill>
              </a:rPr>
              <a:t>?</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Panduan memilih, lalu cara menggambar keduanya di diagram kelas UML.</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Memilih: Kelas Abstrak atau </a:t>
            </a:r>
            <a:r>
              <a:rPr lang="id-ID" altLang="en-US" sz="3200" b="1" i="1" dirty="0">
                <a:solidFill>
                  <a:srgbClr val="0A3069"/>
                </a:solidFill>
              </a:rPr>
              <a:t>Interface</a:t>
            </a:r>
            <a:endParaRPr lang="id-ID"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30401"/>
          <a:ext cx="11094415" cy="914400"/>
        </p:xfrm>
        <a:graphic>
          <a:graphicData uri="http://schemas.openxmlformats.org/drawingml/2006/table">
            <a:tbl>
              <a:tblPr/>
              <a:tblGrid>
                <a:gridCol w="2146413"/>
                <a:gridCol w="3995999"/>
                <a:gridCol w="4952003"/>
              </a:tblGrid>
              <a:tr h="446278">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Aspek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Kelas abstrak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i="1" dirty="0">
                          <a:solidFill>
                            <a:srgbClr val="FFFFFF"/>
                          </a:solidFill>
                          <a:latin typeface="Calibri" pitchFamily="34" charset="0"/>
                          <a:ea typeface="Calibri" pitchFamily="34" charset="-122"/>
                          <a:cs typeface="Calibri" pitchFamily="34" charset="-120"/>
                        </a:rPr>
                        <a:t>Interface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Pertanyaan kunci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“X </a:t>
                      </a:r>
                      <a:r>
                        <a:rPr lang="id-ID" altLang="en-US" sz="1700" b="1" dirty="0">
                          <a:solidFill>
                            <a:srgbClr val="1F2328"/>
                          </a:solidFill>
                          <a:latin typeface="Calibri" pitchFamily="34" charset="0"/>
                          <a:ea typeface="Calibri" pitchFamily="34" charset="-122"/>
                          <a:cs typeface="Calibri" pitchFamily="34" charset="-120"/>
                        </a:rPr>
                        <a:t>adalah</a:t>
                      </a:r>
                      <a:r>
                        <a:rPr lang="id-ID" altLang="en-US" sz="1700" dirty="0">
                          <a:solidFill>
                            <a:srgbClr val="1F2328"/>
                          </a:solidFill>
                          <a:latin typeface="Calibri" pitchFamily="34" charset="0"/>
                          <a:ea typeface="Calibri" pitchFamily="34" charset="-122"/>
                          <a:cs typeface="Calibri" pitchFamily="34" charset="-120"/>
                        </a:rPr>
                        <a:t> sejenis Y?” (</a:t>
                      </a:r>
                      <a:r>
                        <a:rPr lang="id-ID" altLang="en-US" sz="1700" i="1" dirty="0">
                          <a:solidFill>
                            <a:srgbClr val="1F2328"/>
                          </a:solidFill>
                          <a:latin typeface="Calibri" pitchFamily="34" charset="0"/>
                          <a:ea typeface="Calibri" pitchFamily="34" charset="-122"/>
                          <a:cs typeface="Calibri" pitchFamily="34" charset="-120"/>
                        </a:rPr>
                        <a:t>is-⁠a</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“X </a:t>
                      </a:r>
                      <a:r>
                        <a:rPr lang="id-ID" altLang="en-US" sz="1700" b="1" dirty="0">
                          <a:solidFill>
                            <a:srgbClr val="1F2328"/>
                          </a:solidFill>
                          <a:latin typeface="Calibri" pitchFamily="34" charset="0"/>
                          <a:ea typeface="Calibri" pitchFamily="34" charset="-122"/>
                          <a:cs typeface="Calibri" pitchFamily="34" charset="-120"/>
                        </a:rPr>
                        <a:t>bisa</a:t>
                      </a:r>
                      <a:r>
                        <a:rPr lang="id-ID" altLang="en-US" sz="1700" dirty="0">
                          <a:solidFill>
                            <a:srgbClr val="1F2328"/>
                          </a:solidFill>
                          <a:latin typeface="Calibri" pitchFamily="34" charset="0"/>
                          <a:ea typeface="Calibri" pitchFamily="34" charset="-122"/>
                          <a:cs typeface="Calibri" pitchFamily="34" charset="-120"/>
                        </a:rPr>
                        <a:t> melakukan Y?” (</a:t>
                      </a:r>
                      <a:r>
                        <a:rPr lang="id-ID" altLang="en-US" sz="1700" i="1" dirty="0">
                          <a:solidFill>
                            <a:srgbClr val="1F2328"/>
                          </a:solidFill>
                          <a:latin typeface="Calibri" pitchFamily="34" charset="0"/>
                          <a:ea typeface="Calibri" pitchFamily="34" charset="-122"/>
                          <a:cs typeface="Calibri" pitchFamily="34" charset="-120"/>
                        </a:rPr>
                        <a:t>can-⁠do</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Hubungan antarkelas</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Kelas-⁠kelas yang bersaudara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 apa saja, tidak harus bersaudara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Atribut dan konstruktor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Boleh</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Tidak (Java hanya boleh konstanta)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i="1" dirty="0">
                          <a:solidFill>
                            <a:srgbClr val="1F2328"/>
                          </a:solidFill>
                          <a:latin typeface="Calibri" pitchFamily="34" charset="0"/>
                          <a:ea typeface="Calibri" pitchFamily="34" charset="-122"/>
                          <a:cs typeface="Calibri" pitchFamily="34" charset="-120"/>
                        </a:rPr>
                        <a:t>Method</a:t>
                      </a:r>
                      <a:r>
                        <a:rPr lang="id-ID" altLang="en-US" sz="1700" dirty="0">
                          <a:solidFill>
                            <a:srgbClr val="1F2328"/>
                          </a:solidFill>
                          <a:latin typeface="Calibri" pitchFamily="34" charset="0"/>
                          <a:ea typeface="Calibri" pitchFamily="34" charset="-122"/>
                          <a:cs typeface="Calibri" pitchFamily="34" charset="-120"/>
                        </a:rPr>
                        <a:t> berisi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Boleh</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Java: lewat </a:t>
                      </a:r>
                      <a:r>
                        <a:rPr lang="id-ID" altLang="en-US" sz="1700" i="1" dirty="0">
                          <a:solidFill>
                            <a:srgbClr val="1F2328"/>
                          </a:solidFill>
                          <a:latin typeface="Calibri" pitchFamily="34" charset="0"/>
                          <a:ea typeface="Calibri" pitchFamily="34" charset="-122"/>
                          <a:cs typeface="Calibri" pitchFamily="34" charset="-120"/>
                        </a:rPr>
                        <a:t>default method</a:t>
                      </a:r>
                      <a:r>
                        <a:rPr lang="id-ID" altLang="en-US" sz="1700" dirty="0">
                          <a:solidFill>
                            <a:srgbClr val="1F2328"/>
                          </a:solidFill>
                          <a:latin typeface="Calibri" pitchFamily="34" charset="0"/>
                          <a:ea typeface="Calibri" pitchFamily="34" charset="-122"/>
                          <a:cs typeface="Calibri" pitchFamily="34" charset="-120"/>
                        </a:rPr>
                        <a:t>; Python: boleh, tetapi sebaiknya hemat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Satu kelas boleh memakai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Java: satu (</a:t>
                      </a:r>
                      <a:r>
                        <a:rPr lang="id-ID" altLang="en-US" sz="1700" dirty="0">
                          <a:solidFill>
                            <a:srgbClr val="0A3069"/>
                          </a:solidFill>
                          <a:latin typeface="Consolas" pitchFamily="34" charset="0"/>
                          <a:ea typeface="Consolas" pitchFamily="34" charset="-122"/>
                          <a:cs typeface="Consolas" pitchFamily="34" charset="-120"/>
                        </a:rPr>
                        <a:t>extends</a:t>
                      </a:r>
                      <a:r>
                        <a:rPr lang="id-ID" altLang="en-US" sz="1700" dirty="0">
                          <a:solidFill>
                            <a:srgbClr val="1F2328"/>
                          </a:solidFill>
                          <a:latin typeface="Calibri" pitchFamily="34" charset="0"/>
                          <a:ea typeface="Calibri" pitchFamily="34" charset="-122"/>
                          <a:cs typeface="Calibri" pitchFamily="34" charset="-120"/>
                        </a:rPr>
                        <a:t>); Python: boleh lebih</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Banyak (</a:t>
                      </a:r>
                      <a:r>
                        <a:rPr lang="id-ID" altLang="en-US" sz="1700" dirty="0">
                          <a:solidFill>
                            <a:srgbClr val="0A3069"/>
                          </a:solidFill>
                          <a:latin typeface="Consolas" pitchFamily="34" charset="0"/>
                          <a:ea typeface="Consolas" pitchFamily="34" charset="-122"/>
                          <a:cs typeface="Consolas" pitchFamily="34" charset="-120"/>
                        </a:rPr>
                        <a:t>implements A, B</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Contoh di KedaiKita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Pembayaran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DapatDicetak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69142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763849"/>
            <a:ext cx="184343" cy="184343"/>
          </a:xfrm>
          <a:prstGeom prst="rect">
            <a:avLst/>
          </a:prstGeom>
        </p:spPr>
      </p:pic>
      <p:sp>
        <p:nvSpPr>
          <p:cNvPr id="8" name="Text 3"/>
          <p:cNvSpPr txBox="1"/>
          <p:nvPr/>
        </p:nvSpPr>
        <p:spPr>
          <a:xfrm>
            <a:off x="1005840" y="5673141"/>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Keduanya tidak bisa dibuat objeknya. Satu kelas boleh memakai keduanya sekaligus, seperti </a:t>
            </a:r>
            <a:r>
              <a:rPr lang="id-ID" altLang="en-US" sz="1800" dirty="0">
                <a:solidFill>
                  <a:srgbClr val="57606A"/>
                </a:solidFill>
                <a:latin typeface="Consolas" pitchFamily="34" charset="0"/>
                <a:ea typeface="Consolas" pitchFamily="34" charset="-122"/>
                <a:cs typeface="Consolas" pitchFamily="34" charset="-120"/>
              </a:rPr>
              <a:t>Bebek</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Abstraksi di Diagram Kelas UML</a:t>
            </a:r>
            <a:endParaRPr lang="id-ID"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00703"/>
          <a:ext cx="11094415" cy="914400"/>
        </p:xfrm>
        <a:graphic>
          <a:graphicData uri="http://schemas.openxmlformats.org/drawingml/2006/table">
            <a:tbl>
              <a:tblPr/>
              <a:tblGrid>
                <a:gridCol w="1780022"/>
                <a:gridCol w="4706845"/>
                <a:gridCol w="4607549"/>
              </a:tblGrid>
              <a:tr h="477266">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Elemen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Notasi UML (di kertas)</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Di Mermaid</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Kelas abstrak</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Nama kelas ditulis </a:t>
                      </a:r>
                      <a:r>
                        <a:rPr lang="id-ID" altLang="en-US" sz="1900" i="1" dirty="0">
                          <a:solidFill>
                            <a:srgbClr val="1F2328"/>
                          </a:solidFill>
                          <a:latin typeface="Calibri" pitchFamily="34" charset="0"/>
                          <a:ea typeface="Calibri" pitchFamily="34" charset="-122"/>
                          <a:cs typeface="Calibri" pitchFamily="34" charset="-120"/>
                        </a:rPr>
                        <a:t>miring</a:t>
                      </a:r>
                      <a:r>
                        <a:rPr lang="id-ID" altLang="en-US" sz="1900" dirty="0">
                          <a:solidFill>
                            <a:srgbClr val="1F2328"/>
                          </a:solidFill>
                          <a:latin typeface="Calibri" pitchFamily="34" charset="0"/>
                          <a:ea typeface="Calibri" pitchFamily="34" charset="-122"/>
                          <a:cs typeface="Calibri" pitchFamily="34" charset="-120"/>
                        </a:rPr>
                        <a:t>, atau diberi label </a:t>
                      </a:r>
                      <a:r>
                        <a:rPr lang="id-ID" altLang="en-US" sz="1900" dirty="0">
                          <a:solidFill>
                            <a:srgbClr val="0A3069"/>
                          </a:solidFill>
                          <a:latin typeface="Consolas" pitchFamily="34" charset="0"/>
                          <a:ea typeface="Consolas" pitchFamily="34" charset="-122"/>
                          <a:cs typeface="Consolas" pitchFamily="34" charset="-120"/>
                        </a:rPr>
                        <a:t>&lt;&lt;abstract&gt;&gt;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Label </a:t>
                      </a:r>
                      <a:r>
                        <a:rPr lang="id-ID" altLang="en-US" sz="1900" dirty="0">
                          <a:solidFill>
                            <a:srgbClr val="0A3069"/>
                          </a:solidFill>
                          <a:latin typeface="Consolas" pitchFamily="34" charset="0"/>
                          <a:ea typeface="Consolas" pitchFamily="34" charset="-122"/>
                          <a:cs typeface="Consolas" pitchFamily="34" charset="-120"/>
                        </a:rPr>
                        <a:t>&lt;&lt;abstract&gt;&gt;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77266">
                <a:tc>
                  <a:txBody>
                    <a:bodyPr/>
                    <a:lstStyle/>
                    <a:p>
                      <a:pPr indent="0" marL="0">
                        <a:buNone/>
                      </a:pPr>
                      <a:r>
                        <a:rPr lang="id-ID" altLang="en-US" sz="1900" i="1" dirty="0">
                          <a:solidFill>
                            <a:srgbClr val="1F2328"/>
                          </a:solidFill>
                          <a:latin typeface="Calibri" pitchFamily="34" charset="0"/>
                          <a:ea typeface="Calibri" pitchFamily="34" charset="-122"/>
                          <a:cs typeface="Calibri" pitchFamily="34" charset="-120"/>
                        </a:rPr>
                        <a:t>Method</a:t>
                      </a:r>
                      <a:r>
                        <a:rPr lang="id-ID" altLang="en-US" sz="1900" dirty="0">
                          <a:solidFill>
                            <a:srgbClr val="1F2328"/>
                          </a:solidFill>
                          <a:latin typeface="Calibri" pitchFamily="34" charset="0"/>
                          <a:ea typeface="Calibri" pitchFamily="34" charset="-122"/>
                          <a:cs typeface="Calibri" pitchFamily="34" charset="-120"/>
                        </a:rPr>
                        <a:t> abstrak</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Nama </a:t>
                      </a:r>
                      <a:r>
                        <a:rPr lang="id-ID" altLang="en-US" sz="1900" i="1" dirty="0">
                          <a:solidFill>
                            <a:srgbClr val="1F2328"/>
                          </a:solidFill>
                          <a:latin typeface="Calibri" pitchFamily="34" charset="0"/>
                          <a:ea typeface="Calibri" pitchFamily="34" charset="-122"/>
                          <a:cs typeface="Calibri" pitchFamily="34" charset="-120"/>
                        </a:rPr>
                        <a:t>method</a:t>
                      </a:r>
                      <a:r>
                        <a:rPr lang="id-ID" altLang="en-US" sz="1900" dirty="0">
                          <a:solidFill>
                            <a:srgbClr val="1F2328"/>
                          </a:solidFill>
                          <a:latin typeface="Calibri" pitchFamily="34" charset="0"/>
                          <a:ea typeface="Calibri" pitchFamily="34" charset="-122"/>
                          <a:cs typeface="Calibri" pitchFamily="34" charset="-120"/>
                        </a:rPr>
                        <a:t> ditulis </a:t>
                      </a:r>
                      <a:r>
                        <a:rPr lang="id-ID" altLang="en-US" sz="1900" i="1" dirty="0">
                          <a:solidFill>
                            <a:srgbClr val="1F2328"/>
                          </a:solidFill>
                          <a:latin typeface="Calibri" pitchFamily="34" charset="0"/>
                          <a:ea typeface="Calibri" pitchFamily="34" charset="-122"/>
                          <a:cs typeface="Calibri" pitchFamily="34" charset="-120"/>
                        </a:rPr>
                        <a:t>miring</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Tanda </a:t>
                      </a:r>
                      <a:r>
                        <a:rPr lang="id-ID" altLang="en-US" sz="1900" dirty="0">
                          <a:solidFill>
                            <a:srgbClr val="0A3069"/>
                          </a:solidFill>
                          <a:latin typeface="Consolas" pitchFamily="34" charset="0"/>
                          <a:ea typeface="Consolas" pitchFamily="34" charset="-122"/>
                          <a:cs typeface="Consolas" pitchFamily="34" charset="-120"/>
                        </a:rPr>
                        <a:t>*</a:t>
                      </a:r>
                      <a:r>
                        <a:rPr lang="id-ID" altLang="en-US" sz="1900" dirty="0">
                          <a:solidFill>
                            <a:srgbClr val="1F2328"/>
                          </a:solidFill>
                          <a:latin typeface="Calibri" pitchFamily="34" charset="0"/>
                          <a:ea typeface="Calibri" pitchFamily="34" charset="-122"/>
                          <a:cs typeface="Calibri" pitchFamily="34" charset="-120"/>
                        </a:rPr>
                        <a:t> di akhir, misalnya </a:t>
                      </a:r>
                      <a:r>
                        <a:rPr lang="id-ID" altLang="en-US" sz="1900" dirty="0">
                          <a:solidFill>
                            <a:srgbClr val="0A3069"/>
                          </a:solidFill>
                          <a:latin typeface="Consolas" pitchFamily="34" charset="0"/>
                          <a:ea typeface="Consolas" pitchFamily="34" charset="-122"/>
                          <a:cs typeface="Consolas" pitchFamily="34" charset="-120"/>
                        </a:rPr>
                        <a:t>+luas() int*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77266">
                <a:tc>
                  <a:txBody>
                    <a:bodyPr/>
                    <a:lstStyle/>
                    <a:p>
                      <a:pPr indent="0" marL="0">
                        <a:buNone/>
                      </a:pPr>
                      <a:r>
                        <a:rPr lang="id-ID" altLang="en-US" sz="1900" i="1" dirty="0">
                          <a:solidFill>
                            <a:srgbClr val="1F2328"/>
                          </a:solidFill>
                          <a:latin typeface="Calibri" pitchFamily="34" charset="0"/>
                          <a:ea typeface="Calibri" pitchFamily="34" charset="-122"/>
                          <a:cs typeface="Calibri" pitchFamily="34" charset="-120"/>
                        </a:rPr>
                        <a:t>Interface</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Label </a:t>
                      </a:r>
                      <a:r>
                        <a:rPr lang="id-ID" altLang="en-US" sz="1900" dirty="0">
                          <a:solidFill>
                            <a:srgbClr val="0A3069"/>
                          </a:solidFill>
                          <a:latin typeface="Consolas" pitchFamily="34" charset="0"/>
                          <a:ea typeface="Consolas" pitchFamily="34" charset="-122"/>
                          <a:cs typeface="Consolas" pitchFamily="34" charset="-120"/>
                        </a:rPr>
                        <a:t>&lt;&lt;interface&gt;&gt;</a:t>
                      </a:r>
                      <a:r>
                        <a:rPr lang="id-ID" altLang="en-US" sz="1900" dirty="0">
                          <a:solidFill>
                            <a:srgbClr val="1F2328"/>
                          </a:solidFill>
                          <a:latin typeface="Calibri" pitchFamily="34" charset="0"/>
                          <a:ea typeface="Calibri" pitchFamily="34" charset="-122"/>
                          <a:cs typeface="Calibri" pitchFamily="34" charset="-120"/>
                        </a:rPr>
                        <a:t> di atas nama</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Label </a:t>
                      </a:r>
                      <a:r>
                        <a:rPr lang="id-ID" altLang="en-US" sz="1900" dirty="0">
                          <a:solidFill>
                            <a:srgbClr val="0A3069"/>
                          </a:solidFill>
                          <a:latin typeface="Consolas" pitchFamily="34" charset="0"/>
                          <a:ea typeface="Consolas" pitchFamily="34" charset="-122"/>
                          <a:cs typeface="Consolas" pitchFamily="34" charset="-120"/>
                        </a:rPr>
                        <a:t>&lt;&lt;interface&gt;&gt;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Pewarisan (</a:t>
                      </a:r>
                      <a:r>
                        <a:rPr lang="id-ID" altLang="en-US" sz="1900" i="1" dirty="0">
                          <a:solidFill>
                            <a:srgbClr val="1F2328"/>
                          </a:solidFill>
                          <a:latin typeface="Calibri" pitchFamily="34" charset="0"/>
                          <a:ea typeface="Calibri" pitchFamily="34" charset="-122"/>
                          <a:cs typeface="Calibri" pitchFamily="34" charset="-120"/>
                        </a:rPr>
                        <a:t>extends</a:t>
                      </a:r>
                      <a:r>
                        <a:rPr lang="id-ID" altLang="en-US" sz="1900" dirty="0">
                          <a:solidFill>
                            <a:srgbClr val="1F232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Garis </a:t>
                      </a:r>
                      <a:r>
                        <a:rPr lang="id-ID" altLang="en-US" sz="1900" b="1" dirty="0">
                          <a:solidFill>
                            <a:srgbClr val="1F2328"/>
                          </a:solidFill>
                          <a:latin typeface="Calibri" pitchFamily="34" charset="0"/>
                          <a:ea typeface="Calibri" pitchFamily="34" charset="-122"/>
                          <a:cs typeface="Calibri" pitchFamily="34" charset="-120"/>
                        </a:rPr>
                        <a:t>lurus</a:t>
                      </a:r>
                      <a:r>
                        <a:rPr lang="id-ID" altLang="en-US" sz="1900" dirty="0">
                          <a:solidFill>
                            <a:srgbClr val="1F2328"/>
                          </a:solidFill>
                          <a:latin typeface="Calibri" pitchFamily="34" charset="0"/>
                          <a:ea typeface="Calibri" pitchFamily="34" charset="-122"/>
                          <a:cs typeface="Calibri" pitchFamily="34" charset="-120"/>
                        </a:rPr>
                        <a:t> + segitiga kosong menunjuk induk</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0A3069"/>
                          </a:solidFill>
                          <a:latin typeface="Consolas" pitchFamily="34" charset="0"/>
                          <a:ea typeface="Consolas" pitchFamily="34" charset="-122"/>
                          <a:cs typeface="Consolas" pitchFamily="34" charset="-120"/>
                        </a:rPr>
                        <a:t>Induk &lt;|-- Anak</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Realisasi (</a:t>
                      </a:r>
                      <a:r>
                        <a:rPr lang="id-ID" altLang="en-US" sz="1900" i="1" dirty="0">
                          <a:solidFill>
                            <a:srgbClr val="1F2328"/>
                          </a:solidFill>
                          <a:latin typeface="Calibri" pitchFamily="34" charset="0"/>
                          <a:ea typeface="Calibri" pitchFamily="34" charset="-122"/>
                          <a:cs typeface="Calibri" pitchFamily="34" charset="-120"/>
                        </a:rPr>
                        <a:t>implements</a:t>
                      </a:r>
                      <a:r>
                        <a:rPr lang="id-ID" altLang="en-US" sz="1900" dirty="0">
                          <a:solidFill>
                            <a:srgbClr val="1F232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Garis </a:t>
                      </a:r>
                      <a:r>
                        <a:rPr lang="id-ID" altLang="en-US" sz="1900" b="1" dirty="0">
                          <a:solidFill>
                            <a:srgbClr val="1F2328"/>
                          </a:solidFill>
                          <a:latin typeface="Calibri" pitchFamily="34" charset="0"/>
                          <a:ea typeface="Calibri" pitchFamily="34" charset="-122"/>
                          <a:cs typeface="Calibri" pitchFamily="34" charset="-120"/>
                        </a:rPr>
                        <a:t>putus-⁠putus</a:t>
                      </a:r>
                      <a:r>
                        <a:rPr lang="id-ID" altLang="en-US" sz="1900" dirty="0">
                          <a:solidFill>
                            <a:srgbClr val="1F2328"/>
                          </a:solidFill>
                          <a:latin typeface="Calibri" pitchFamily="34" charset="0"/>
                          <a:ea typeface="Calibri" pitchFamily="34" charset="-122"/>
                          <a:cs typeface="Calibri" pitchFamily="34" charset="-120"/>
                        </a:rPr>
                        <a:t> + segitiga kosong menunjuk </a:t>
                      </a:r>
                      <a:r>
                        <a:rPr lang="id-ID" altLang="en-US" sz="1900" i="1" dirty="0">
                          <a:solidFill>
                            <a:srgbClr val="1F2328"/>
                          </a:solidFill>
                          <a:latin typeface="Calibri" pitchFamily="34" charset="0"/>
                          <a:ea typeface="Calibri" pitchFamily="34" charset="-122"/>
                          <a:cs typeface="Calibri" pitchFamily="34" charset="-120"/>
                        </a:rPr>
                        <a:t>interface</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0A3069"/>
                          </a:solidFill>
                          <a:latin typeface="Consolas" pitchFamily="34" charset="0"/>
                          <a:ea typeface="Consolas" pitchFamily="34" charset="-122"/>
                          <a:cs typeface="Consolas" pitchFamily="34" charset="-120"/>
                        </a:rPr>
                        <a:t>Kelas ..|&gt; Interface</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94345"/>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66765"/>
            <a:ext cx="184343" cy="184343"/>
          </a:xfrm>
          <a:prstGeom prst="rect">
            <a:avLst/>
          </a:prstGeom>
        </p:spPr>
      </p:pic>
      <p:sp>
        <p:nvSpPr>
          <p:cNvPr id="8" name="Text 3"/>
          <p:cNvSpPr txBox="1"/>
          <p:nvPr/>
        </p:nvSpPr>
        <p:spPr>
          <a:xfrm>
            <a:off x="1005840" y="5576057"/>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Mermaid tidak bisa memiringkan nama kelas, jadi kelas abstrak di materi ini ditandai label </a:t>
            </a:r>
            <a:r>
              <a:rPr lang="id-ID" altLang="en-US" sz="1800" dirty="0">
                <a:solidFill>
                  <a:srgbClr val="57606A"/>
                </a:solidFill>
                <a:latin typeface="Consolas" pitchFamily="34" charset="0"/>
                <a:ea typeface="Consolas" pitchFamily="34" charset="-122"/>
                <a:cs typeface="Consolas" pitchFamily="34" charset="-120"/>
              </a:rPr>
              <a:t>&lt;&lt;abstract&gt;&gt;</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DDF4FF"/>
                </a:solidFill>
                <a:latin typeface="Consolas" pitchFamily="34" charset="0"/>
                <a:ea typeface="Consolas" pitchFamily="34" charset="-122"/>
                <a:cs typeface="Consolas" pitchFamily="34" charset="-120"/>
              </a:rPr>
              <a:t>Pembayaran</a:t>
            </a:r>
            <a:r>
              <a:rPr lang="id-ID" altLang="en-US" sz="2200" dirty="0">
                <a:solidFill>
                  <a:srgbClr val="C9D7E8"/>
                </a:solidFill>
              </a:rPr>
              <a:t> menjadi kelas abstrak, sedangkan </a:t>
            </a:r>
            <a:r>
              <a:rPr lang="id-ID" altLang="en-US" sz="2200" dirty="0">
                <a:solidFill>
                  <a:srgbClr val="DDF4FF"/>
                </a:solidFill>
                <a:latin typeface="Consolas" pitchFamily="34" charset="0"/>
                <a:ea typeface="Consolas" pitchFamily="34" charset="-122"/>
                <a:cs typeface="Consolas" pitchFamily="34" charset="-120"/>
              </a:rPr>
              <a:t>Kedai</a:t>
            </a:r>
            <a:r>
              <a:rPr lang="id-ID" altLang="en-US" sz="2200" dirty="0">
                <a:solidFill>
                  <a:srgbClr val="C9D7E8"/>
                </a:solidFill>
              </a:rPr>
              <a:t> dan </a:t>
            </a:r>
            <a:r>
              <a:rPr lang="id-ID" altLang="en-US" sz="2200" dirty="0">
                <a:solidFill>
                  <a:srgbClr val="DDF4FF"/>
                </a:solidFill>
                <a:latin typeface="Consolas" pitchFamily="34" charset="0"/>
                <a:ea typeface="Consolas" pitchFamily="34" charset="-122"/>
                <a:cs typeface="Consolas" pitchFamily="34" charset="-120"/>
              </a:rPr>
              <a:t>Pesanan</a:t>
            </a:r>
            <a:r>
              <a:rPr lang="id-ID" altLang="en-US" sz="2200" dirty="0">
                <a:solidFill>
                  <a:srgbClr val="C9D7E8"/>
                </a:solidFill>
              </a:rPr>
              <a:t> memenuhi kontrak </a:t>
            </a:r>
            <a:r>
              <a:rPr lang="id-ID" altLang="en-US" sz="2200" dirty="0">
                <a:solidFill>
                  <a:srgbClr val="DDF4FF"/>
                </a:solidFill>
                <a:latin typeface="Consolas" pitchFamily="34" charset="0"/>
                <a:ea typeface="Consolas" pitchFamily="34" charset="-122"/>
                <a:cs typeface="Consolas" pitchFamily="34" charset="-120"/>
              </a:rPr>
              <a:t>DapatDicetak</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2800" b="1" dirty="0">
                <a:solidFill>
                  <a:srgbClr val="0A3069"/>
                </a:solidFill>
              </a:rPr>
              <a:t>Rancangan: Pembayaran Abstrak</a:t>
            </a:r>
            <a:endParaRPr lang="id-ID" sz="2800" dirty="0"/>
          </a:p>
          <a:p>
            <a:pPr algn="l" indent="0" marL="0">
              <a:buNone/>
            </a:pPr>
            <a:r>
              <a:rPr lang="id-ID" altLang="en-US" sz="2800" b="1" dirty="0">
                <a:solidFill>
                  <a:srgbClr val="0A3069"/>
                </a:solidFill>
              </a:rPr>
              <a:t>dan Kontrak </a:t>
            </a:r>
            <a:r>
              <a:rPr lang="id-ID" altLang="en-US" sz="2800" b="1" dirty="0">
                <a:solidFill>
                  <a:srgbClr val="0A3069"/>
                </a:solidFill>
                <a:latin typeface="Consolas" pitchFamily="34" charset="0"/>
                <a:ea typeface="Consolas" pitchFamily="34" charset="-122"/>
                <a:cs typeface="Consolas" pitchFamily="34" charset="-120"/>
              </a:rPr>
              <a:t>DapatDicetak</a:t>
            </a:r>
            <a:endParaRPr lang="id-ID" sz="28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Kotak PembayaranTunai dan PembayaranQRIS tampak kosong karena isinya tetap seperti di Pertemuan 09: keduanya sudah mengisi kedua method abstrak itu.">    </p:cNvPr>
          <p:cNvPicPr>
            <a:picLocks noChangeAspect="1"/>
          </p:cNvPicPr>
          <p:nvPr/>
        </p:nvPicPr>
        <p:blipFill>
          <a:blip r:embed="rId2"/>
          <a:stretch>
            <a:fillRect/>
          </a:stretch>
        </p:blipFill>
        <p:spPr>
          <a:xfrm>
            <a:off x="1600756" y="1417320"/>
            <a:ext cx="8990182" cy="4045204"/>
          </a:xfrm>
          <a:prstGeom prst="rect">
            <a:avLst/>
          </a:prstGeom>
        </p:spPr>
      </p:pic>
      <p:sp>
        <p:nvSpPr>
          <p:cNvPr id="8" name="Text 4"/>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Kotak </a:t>
            </a:r>
            <a:r>
              <a:rPr lang="id-ID" altLang="en-US" sz="1700" dirty="0">
                <a:solidFill>
                  <a:srgbClr val="57606A"/>
                </a:solidFill>
                <a:latin typeface="Consolas" pitchFamily="34" charset="0"/>
                <a:ea typeface="Consolas" pitchFamily="34" charset="-122"/>
                <a:cs typeface="Consolas" pitchFamily="34" charset="-120"/>
              </a:rPr>
              <a:t>PembayaranTunai</a:t>
            </a:r>
            <a:r>
              <a:rPr lang="id-ID" altLang="en-US" sz="1700" dirty="0">
                <a:solidFill>
                  <a:srgbClr val="57606A"/>
                </a:solidFill>
              </a:rPr>
              <a:t> dan </a:t>
            </a:r>
            <a:r>
              <a:rPr lang="id-ID" altLang="en-US" sz="1700" dirty="0">
                <a:solidFill>
                  <a:srgbClr val="57606A"/>
                </a:solidFill>
                <a:latin typeface="Consolas" pitchFamily="34" charset="0"/>
                <a:ea typeface="Consolas" pitchFamily="34" charset="-122"/>
                <a:cs typeface="Consolas" pitchFamily="34" charset="-120"/>
              </a:rPr>
              <a:t>PembayaranQRIS</a:t>
            </a:r>
            <a:r>
              <a:rPr lang="id-ID" altLang="en-US" sz="1700" dirty="0">
                <a:solidFill>
                  <a:srgbClr val="57606A"/>
                </a:solidFill>
              </a:rPr>
              <a:t> tampak kosong karena isinya tetap seperti di Pertemuan 09: keduanya sudah mengisi kedua </a:t>
            </a:r>
            <a:r>
              <a:rPr lang="id-ID" altLang="en-US" sz="1700" i="1" dirty="0">
                <a:solidFill>
                  <a:srgbClr val="57606A"/>
                </a:solidFill>
              </a:rPr>
              <a:t>method</a:t>
            </a:r>
            <a:r>
              <a:rPr lang="id-ID" altLang="en-US" sz="1700" dirty="0">
                <a:solidFill>
                  <a:srgbClr val="57606A"/>
                </a:solidFill>
              </a:rPr>
              <a:t> abstrak itu.</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Pembayaran</a:t>
            </a:r>
            <a:r>
              <a:rPr lang="id-ID" altLang="en-US" sz="3200" b="1" dirty="0">
                <a:solidFill>
                  <a:srgbClr val="0A3069"/>
                </a:solidFill>
              </a:rPr>
              <a:t> Kini Kelas Abstrak</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692120"/>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Nama metode dan </a:t>
            </a:r>
            <a:r>
              <a:rPr lang="id-ID" altLang="en-US" sz="1800" dirty="0">
                <a:solidFill>
                  <a:srgbClr val="0A3069"/>
                </a:solidFill>
                <a:latin typeface="Consolas" pitchFamily="34" charset="0"/>
                <a:ea typeface="Consolas" pitchFamily="34" charset="-122"/>
                <a:cs typeface="Consolas" pitchFamily="34" charset="-120"/>
              </a:rPr>
              <a:t>proses()</a:t>
            </a:r>
            <a:r>
              <a:rPr lang="id-ID" altLang="en-US" sz="1800" dirty="0">
                <a:solidFill>
                  <a:srgbClr val="57606A"/>
                </a:solidFill>
              </a:rPr>
              <a:t> kini </a:t>
            </a:r>
            <a:r>
              <a:rPr lang="id-ID" altLang="en-US" sz="1800" b="1" dirty="0">
                <a:solidFill>
                  <a:srgbClr val="57606A"/>
                </a:solidFill>
              </a:rPr>
              <a:t>wajib</a:t>
            </a:r>
            <a:r>
              <a:rPr lang="id-ID" altLang="en-US" sz="1800" dirty="0">
                <a:solidFill>
                  <a:srgbClr val="57606A"/>
                </a:solidFill>
              </a:rPr>
              <a:t> diisi setiap jenis pembayaran. </a:t>
            </a:r>
            <a:r>
              <a:rPr lang="id-ID" altLang="en-US" sz="1800" dirty="0">
                <a:solidFill>
                  <a:srgbClr val="0A3069"/>
                </a:solidFill>
                <a:latin typeface="Consolas" pitchFamily="34" charset="0"/>
                <a:ea typeface="Consolas" pitchFamily="34" charset="-122"/>
                <a:cs typeface="Consolas" pitchFamily="34" charset="-120"/>
              </a:rPr>
              <a:t>deskripsi()</a:t>
            </a:r>
            <a:r>
              <a:rPr lang="id-ID" altLang="en-US" sz="1800" dirty="0">
                <a:solidFill>
                  <a:srgbClr val="57606A"/>
                </a:solidFill>
              </a:rPr>
              <a:t> yang konkret memakai keduanya.</a:t>
            </a:r>
            <a:endParaRPr lang="id-ID" sz="1800" dirty="0"/>
          </a:p>
        </p:txBody>
      </p:sp>
      <p:sp>
        <p:nvSpPr>
          <p:cNvPr id="8" name="Shape 5"/>
          <p:cNvSpPr/>
          <p:nvPr/>
        </p:nvSpPr>
        <p:spPr>
          <a:xfrm>
            <a:off x="548640" y="2405352"/>
            <a:ext cx="1051560" cy="329184"/>
          </a:xfrm>
          <a:prstGeom prst="roundRect">
            <a:avLst>
              <a:gd name="adj" fmla="val 138889"/>
            </a:avLst>
          </a:prstGeom>
          <a:solidFill>
            <a:srgbClr val="3572A5"/>
          </a:solidFill>
          <a:ln/>
        </p:spPr>
      </p:sp>
      <p:sp>
        <p:nvSpPr>
          <p:cNvPr id="9" name="Text 6"/>
          <p:cNvSpPr txBox="1"/>
          <p:nvPr/>
        </p:nvSpPr>
        <p:spPr>
          <a:xfrm>
            <a:off x="548640" y="240535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40535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python/studi-kasus/pembayaran.py</a:t>
            </a:r>
            <a:endParaRPr lang="id-ID" sz="1100" dirty="0"/>
          </a:p>
        </p:txBody>
      </p:sp>
      <p:sp>
        <p:nvSpPr>
          <p:cNvPr id="11" name="Shape 8"/>
          <p:cNvSpPr/>
          <p:nvPr/>
        </p:nvSpPr>
        <p:spPr>
          <a:xfrm>
            <a:off x="548640" y="2825976"/>
            <a:ext cx="5432908" cy="2931033"/>
          </a:xfrm>
          <a:prstGeom prst="roundRect">
            <a:avLst>
              <a:gd name="adj" fmla="val 973"/>
            </a:avLst>
          </a:prstGeom>
          <a:solidFill>
            <a:srgbClr val="F6F8FA"/>
          </a:solidFill>
          <a:ln w="9525">
            <a:solidFill>
              <a:srgbClr val="D0D7DE"/>
            </a:solidFill>
            <a:prstDash val="solid"/>
          </a:ln>
        </p:spPr>
      </p:sp>
      <p:sp>
        <p:nvSpPr>
          <p:cNvPr id="12" name="Text 9"/>
          <p:cNvSpPr txBox="1"/>
          <p:nvPr/>
        </p:nvSpPr>
        <p:spPr>
          <a:xfrm>
            <a:off x="658368" y="2917416"/>
            <a:ext cx="5213452" cy="2748153"/>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Pembayaran</a:t>
            </a:r>
            <a:r>
              <a:rPr lang="en-US" altLang="en-US" sz="1050" dirty="0">
                <a:solidFill>
                  <a:srgbClr val="1F2328"/>
                </a:solidFill>
                <a:latin typeface="Consolas" pitchFamily="34" charset="0"/>
                <a:ea typeface="Consolas" pitchFamily="34" charset="-122"/>
                <a:cs typeface="Consolas" pitchFamily="34" charset="-120"/>
              </a:rPr>
              <a:t>(ABC):</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@abstractmethod</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nama_metode</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-&gt; </a:t>
            </a:r>
            <a:r>
              <a:rPr lang="en-US" altLang="en-US" sz="1050" dirty="0">
                <a:solidFill>
                  <a:srgbClr val="0550AE"/>
                </a:solidFill>
                <a:latin typeface="Consolas" pitchFamily="34" charset="0"/>
                <a:ea typeface="Consolas" pitchFamily="34" charset="-122"/>
                <a:cs typeface="Consolas" pitchFamily="34" charset="-120"/>
              </a:rPr>
              <a:t>str</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A3069"/>
                </a:solidFill>
                <a:latin typeface="Consolas" pitchFamily="34" charset="0"/>
                <a:ea typeface="Consolas" pitchFamily="34" charset="-122"/>
                <a:cs typeface="Consolas" pitchFamily="34" charset="-120"/>
              </a:rPr>
              <a:t>"""Nama metode pembayaran, misalnya 'Tunai'."""</a:t>
            </a:r>
            <a:endParaRPr lang="en-US" sz="1050" dirty="0"/>
          </a:p>
          <a:p>
            <a:pPr indent="0" marL="0">
              <a:buNone/>
            </a:pPr>
            <a:r>
              <a:rPr lang="en-US" altLang="en-US" sz="1050" dirty="0">
                <a:solidFill>
                  <a:srgbClr val="000000"/>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@abstractmethod</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proses</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total: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-&gt; </a:t>
            </a:r>
            <a:r>
              <a:rPr lang="en-US" altLang="en-US" sz="1050" dirty="0">
                <a:solidFill>
                  <a:srgbClr val="0550AE"/>
                </a:solidFill>
                <a:latin typeface="Consolas" pitchFamily="34" charset="0"/>
                <a:ea typeface="Consolas" pitchFamily="34" charset="-122"/>
                <a:cs typeface="Consolas" pitchFamily="34" charset="-120"/>
              </a:rPr>
              <a:t>bool</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A3069"/>
                </a:solidFill>
                <a:latin typeface="Consolas" pitchFamily="34" charset="0"/>
                <a:ea typeface="Consolas" pitchFamily="34" charset="-122"/>
                <a:cs typeface="Consolas" pitchFamily="34" charset="-120"/>
              </a:rPr>
              <a:t>"""Memproses pembayaran. ..."""</a:t>
            </a:r>
            <a:endParaRPr lang="en-US" sz="1050" dirty="0"/>
          </a:p>
          <a:p>
            <a:pPr indent="0" marL="0">
              <a:buNone/>
            </a:pPr>
            <a:r>
              <a:rPr lang="en-US" altLang="en-US" sz="1050" dirty="0">
                <a:solidFill>
                  <a:srgbClr val="000000"/>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hitung_biaya_layanan</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total: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-&gt;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0</a:t>
            </a:r>
            <a:endParaRPr lang="en-US" sz="1050" dirty="0"/>
          </a:p>
          <a:p>
            <a:pPr indent="0" marL="0">
              <a:buNone/>
            </a:pPr>
            <a:r>
              <a:rPr lang="en-US" altLang="en-US" sz="1050" dirty="0">
                <a:solidFill>
                  <a:srgbClr val="000000"/>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deskripsi</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total: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-&gt; </a:t>
            </a:r>
            <a:r>
              <a:rPr lang="en-US" altLang="en-US" sz="1050" dirty="0">
                <a:solidFill>
                  <a:srgbClr val="0550AE"/>
                </a:solidFill>
                <a:latin typeface="Consolas" pitchFamily="34" charset="0"/>
                <a:ea typeface="Consolas" pitchFamily="34" charset="-122"/>
                <a:cs typeface="Consolas" pitchFamily="34" charset="-120"/>
              </a:rPr>
              <a:t>str</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biaya = format_rupiah(</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.hitung_biaya_layanan(total))</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A3069"/>
                </a:solidFill>
                <a:latin typeface="Consolas" pitchFamily="34" charset="0"/>
                <a:ea typeface="Consolas" pitchFamily="34" charset="-122"/>
                <a:cs typeface="Consolas" pitchFamily="34" charset="-120"/>
              </a:rPr>
              <a:t>f"{</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.nama_metode()</a:t>
            </a:r>
            <a:r>
              <a:rPr lang="en-US" altLang="en-US" sz="1050" dirty="0">
                <a:solidFill>
                  <a:srgbClr val="0A3069"/>
                </a:solidFill>
                <a:latin typeface="Consolas" pitchFamily="34" charset="0"/>
                <a:ea typeface="Consolas" pitchFamily="34" charset="-122"/>
                <a:cs typeface="Consolas" pitchFamily="34" charset="-120"/>
              </a:rPr>
              <a:t>} (biaya layanan {</a:t>
            </a:r>
            <a:r>
              <a:rPr lang="en-US" altLang="en-US" sz="1050" dirty="0">
                <a:solidFill>
                  <a:srgbClr val="1F2328"/>
                </a:solidFill>
                <a:latin typeface="Consolas" pitchFamily="34" charset="0"/>
                <a:ea typeface="Consolas" pitchFamily="34" charset="-122"/>
                <a:cs typeface="Consolas" pitchFamily="34" charset="-120"/>
              </a:rPr>
              <a:t>biaya</a:t>
            </a:r>
            <a:r>
              <a:rPr lang="en-US" altLang="en-US" sz="1050" dirty="0">
                <a:solidFill>
                  <a:srgbClr val="0A3069"/>
                </a:solidFill>
                <a:latin typeface="Consolas" pitchFamily="34" charset="0"/>
                <a:ea typeface="Consolas" pitchFamily="34" charset="-122"/>
                <a:cs typeface="Consolas" pitchFamily="34" charset="-120"/>
              </a:rPr>
              <a:t>})"</a:t>
            </a:r>
            <a:endParaRPr lang="en-US" sz="1050" dirty="0"/>
          </a:p>
        </p:txBody>
      </p:sp>
      <p:sp>
        <p:nvSpPr>
          <p:cNvPr id="13" name="Shape 10"/>
          <p:cNvSpPr/>
          <p:nvPr/>
        </p:nvSpPr>
        <p:spPr>
          <a:xfrm>
            <a:off x="6210148" y="2405352"/>
            <a:ext cx="1051560" cy="329184"/>
          </a:xfrm>
          <a:prstGeom prst="roundRect">
            <a:avLst>
              <a:gd name="adj" fmla="val 138889"/>
            </a:avLst>
          </a:prstGeom>
          <a:solidFill>
            <a:srgbClr val="B07219"/>
          </a:solidFill>
          <a:ln/>
        </p:spPr>
      </p:sp>
      <p:sp>
        <p:nvSpPr>
          <p:cNvPr id="14" name="Text 11"/>
          <p:cNvSpPr txBox="1"/>
          <p:nvPr/>
        </p:nvSpPr>
        <p:spPr>
          <a:xfrm>
            <a:off x="6210148" y="240535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40535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java/studi-kasus/Pembayaran.java</a:t>
            </a:r>
            <a:endParaRPr lang="id-ID" sz="1100" dirty="0"/>
          </a:p>
        </p:txBody>
      </p:sp>
      <p:sp>
        <p:nvSpPr>
          <p:cNvPr id="16" name="Shape 13"/>
          <p:cNvSpPr/>
          <p:nvPr/>
        </p:nvSpPr>
        <p:spPr>
          <a:xfrm>
            <a:off x="6210148" y="2825976"/>
            <a:ext cx="5432908" cy="2931033"/>
          </a:xfrm>
          <a:prstGeom prst="roundRect">
            <a:avLst>
              <a:gd name="adj" fmla="val 973"/>
            </a:avLst>
          </a:prstGeom>
          <a:solidFill>
            <a:srgbClr val="F6F8FA"/>
          </a:solidFill>
          <a:ln w="9525">
            <a:solidFill>
              <a:srgbClr val="D0D7DE"/>
            </a:solidFill>
            <a:prstDash val="solid"/>
          </a:ln>
        </p:spPr>
      </p:sp>
      <p:sp>
        <p:nvSpPr>
          <p:cNvPr id="17" name="Text 14"/>
          <p:cNvSpPr txBox="1"/>
          <p:nvPr/>
        </p:nvSpPr>
        <p:spPr>
          <a:xfrm>
            <a:off x="6319876" y="2917416"/>
            <a:ext cx="5213452" cy="2748153"/>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abstract</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class</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953800"/>
                </a:solidFill>
                <a:latin typeface="Consolas" pitchFamily="34" charset="0"/>
                <a:ea typeface="Consolas" pitchFamily="34" charset="-122"/>
                <a:cs typeface="Consolas" pitchFamily="34" charset="-120"/>
              </a:rPr>
              <a:t>Pembayaran</a:t>
            </a: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000000"/>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i="1" dirty="0">
                <a:solidFill>
                  <a:srgbClr val="6E7781"/>
                </a:solidFill>
                <a:latin typeface="Consolas" pitchFamily="34" charset="0"/>
                <a:ea typeface="Consolas" pitchFamily="34" charset="-122"/>
                <a:cs typeface="Consolas" pitchFamily="34" charset="-120"/>
              </a:rPr>
              <a:t>/** Nama metode pembayaran, misalnya "Tunai".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abstract</a:t>
            </a:r>
            <a:r>
              <a:rPr lang="en-US" altLang="en-US" sz="1050" dirty="0">
                <a:solidFill>
                  <a:srgbClr val="1F2328"/>
                </a:solidFill>
                <a:latin typeface="Consolas" pitchFamily="34" charset="0"/>
                <a:ea typeface="Consolas" pitchFamily="34" charset="-122"/>
                <a:cs typeface="Consolas" pitchFamily="34" charset="-120"/>
              </a:rPr>
              <a:t> String </a:t>
            </a:r>
            <a:r>
              <a:rPr lang="en-US" altLang="en-US" sz="1050" dirty="0">
                <a:solidFill>
                  <a:srgbClr val="8250DF"/>
                </a:solidFill>
                <a:latin typeface="Consolas" pitchFamily="34" charset="0"/>
                <a:ea typeface="Consolas" pitchFamily="34" charset="-122"/>
                <a:cs typeface="Consolas" pitchFamily="34" charset="-120"/>
              </a:rPr>
              <a:t>namaMetode</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abstract</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boolean</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proses</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total);</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hitungBiayaLayanan</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total)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0</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String </a:t>
            </a:r>
            <a:r>
              <a:rPr lang="en-US" altLang="en-US" sz="1050" dirty="0">
                <a:solidFill>
                  <a:srgbClr val="8250DF"/>
                </a:solidFill>
                <a:latin typeface="Consolas" pitchFamily="34" charset="0"/>
                <a:ea typeface="Consolas" pitchFamily="34" charset="-122"/>
                <a:cs typeface="Consolas" pitchFamily="34" charset="-120"/>
              </a:rPr>
              <a:t>deskripsi</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total)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String biaya = Rupiah.format(hitungBiayaLayanan(total));</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return</a:t>
            </a:r>
            <a:r>
              <a:rPr lang="en-US" altLang="en-US" sz="1050" dirty="0">
                <a:solidFill>
                  <a:srgbClr val="1F2328"/>
                </a:solidFill>
                <a:latin typeface="Consolas" pitchFamily="34" charset="0"/>
                <a:ea typeface="Consolas" pitchFamily="34" charset="-122"/>
                <a:cs typeface="Consolas" pitchFamily="34" charset="-120"/>
              </a:rPr>
              <a:t> namaMetode() + </a:t>
            </a:r>
            <a:r>
              <a:rPr lang="en-US" altLang="en-US" sz="1050" dirty="0">
                <a:solidFill>
                  <a:srgbClr val="0A3069"/>
                </a:solidFill>
                <a:latin typeface="Consolas" pitchFamily="34" charset="0"/>
                <a:ea typeface="Consolas" pitchFamily="34" charset="-122"/>
                <a:cs typeface="Consolas" pitchFamily="34" charset="-120"/>
              </a:rPr>
              <a:t>" (biaya layanan "</a:t>
            </a:r>
            <a:r>
              <a:rPr lang="en-US" altLang="en-US" sz="1050" dirty="0">
                <a:solidFill>
                  <a:srgbClr val="1F2328"/>
                </a:solidFill>
                <a:latin typeface="Consolas" pitchFamily="34" charset="0"/>
                <a:ea typeface="Consolas" pitchFamily="34" charset="-122"/>
                <a:cs typeface="Consolas" pitchFamily="34" charset="-120"/>
              </a:rPr>
              <a:t> + biaya + </a:t>
            </a:r>
            <a:r>
              <a:rPr lang="en-US" altLang="en-US" sz="1050" dirty="0">
                <a:solidFill>
                  <a:srgbClr val="0A3069"/>
                </a:solidFill>
                <a:latin typeface="Consolas" pitchFamily="34" charset="0"/>
                <a:ea typeface="Consolas" pitchFamily="34" charset="-122"/>
                <a:cs typeface="Consolas" pitchFamily="34" charset="-120"/>
              </a:rPr>
              <a:t>")"</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Kedai</a:t>
            </a:r>
            <a:r>
              <a:rPr lang="id-ID" altLang="en-US" sz="3200" b="1" dirty="0">
                <a:solidFill>
                  <a:srgbClr val="0A3069"/>
                </a:solidFill>
              </a:rPr>
              <a:t> Memenuhi Kontrak </a:t>
            </a:r>
            <a:r>
              <a:rPr lang="id-ID" altLang="en-US" sz="3200" b="1" dirty="0">
                <a:solidFill>
                  <a:srgbClr val="0A3069"/>
                </a:solidFill>
                <a:latin typeface="Consolas" pitchFamily="34" charset="0"/>
                <a:ea typeface="Consolas" pitchFamily="34" charset="-122"/>
                <a:cs typeface="Consolas" pitchFamily="34" charset="-120"/>
              </a:rPr>
              <a:t>DapatDicetak</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2054032"/>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Kontrak menuntut nama </a:t>
            </a:r>
            <a:r>
              <a:rPr lang="id-ID" altLang="en-US" sz="1800" dirty="0">
                <a:solidFill>
                  <a:srgbClr val="0A3069"/>
                </a:solidFill>
                <a:latin typeface="Consolas" pitchFamily="34" charset="0"/>
                <a:ea typeface="Consolas" pitchFamily="34" charset="-122"/>
                <a:cs typeface="Consolas" pitchFamily="34" charset="-120"/>
              </a:rPr>
              <a:t>cetak()</a:t>
            </a:r>
            <a:r>
              <a:rPr lang="id-ID" altLang="en-US" sz="1800" dirty="0">
                <a:solidFill>
                  <a:srgbClr val="57606A"/>
                </a:solidFill>
              </a:rPr>
              <a:t>, jadi </a:t>
            </a:r>
            <a:r>
              <a:rPr lang="id-ID" altLang="en-US" sz="1800" dirty="0">
                <a:solidFill>
                  <a:srgbClr val="0A3069"/>
                </a:solidFill>
                <a:latin typeface="Consolas" pitchFamily="34" charset="0"/>
                <a:ea typeface="Consolas" pitchFamily="34" charset="-122"/>
                <a:cs typeface="Consolas" pitchFamily="34" charset="-120"/>
              </a:rPr>
              <a:t>tampilkan_menu()</a:t>
            </a:r>
            <a:r>
              <a:rPr lang="id-ID" altLang="en-US" sz="1800" dirty="0">
                <a:solidFill>
                  <a:srgbClr val="57606A"/>
                </a:solidFill>
              </a:rPr>
              <a:t> berganti nama. Di </a:t>
            </a: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cetak_struk()</a:t>
            </a:r>
            <a:r>
              <a:rPr lang="id-ID" altLang="en-US" sz="1800" dirty="0">
                <a:solidFill>
                  <a:srgbClr val="57606A"/>
                </a:solidFill>
              </a:rPr>
              <a:t> juga menjadi </a:t>
            </a:r>
            <a:r>
              <a:rPr lang="id-ID" altLang="en-US" sz="1800" dirty="0">
                <a:solidFill>
                  <a:srgbClr val="0A3069"/>
                </a:solidFill>
                <a:latin typeface="Consolas" pitchFamily="34" charset="0"/>
                <a:ea typeface="Consolas" pitchFamily="34" charset="-122"/>
                <a:cs typeface="Consolas" pitchFamily="34" charset="-120"/>
              </a:rPr>
              <a:t>cetak()</a:t>
            </a:r>
            <a:r>
              <a:rPr lang="id-ID" altLang="en-US" sz="1800" dirty="0">
                <a:solidFill>
                  <a:srgbClr val="57606A"/>
                </a:solidFill>
              </a:rPr>
              <a:t>.</a:t>
            </a:r>
            <a:endParaRPr lang="id-ID" sz="1800" dirty="0"/>
          </a:p>
        </p:txBody>
      </p:sp>
      <p:sp>
        <p:nvSpPr>
          <p:cNvPr id="8" name="Shape 5"/>
          <p:cNvSpPr/>
          <p:nvPr/>
        </p:nvSpPr>
        <p:spPr>
          <a:xfrm>
            <a:off x="548640" y="2767264"/>
            <a:ext cx="1051560" cy="329184"/>
          </a:xfrm>
          <a:prstGeom prst="roundRect">
            <a:avLst>
              <a:gd name="adj" fmla="val 138889"/>
            </a:avLst>
          </a:prstGeom>
          <a:solidFill>
            <a:srgbClr val="3572A5"/>
          </a:solidFill>
          <a:ln/>
        </p:spPr>
      </p:sp>
      <p:sp>
        <p:nvSpPr>
          <p:cNvPr id="9" name="Text 6"/>
          <p:cNvSpPr txBox="1"/>
          <p:nvPr/>
        </p:nvSpPr>
        <p:spPr>
          <a:xfrm>
            <a:off x="548640" y="276726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76726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python/studi-kasus/kedai.py</a:t>
            </a:r>
            <a:endParaRPr lang="id-ID" sz="1100" dirty="0"/>
          </a:p>
        </p:txBody>
      </p:sp>
      <p:sp>
        <p:nvSpPr>
          <p:cNvPr id="11" name="Shape 8"/>
          <p:cNvSpPr/>
          <p:nvPr/>
        </p:nvSpPr>
        <p:spPr>
          <a:xfrm>
            <a:off x="548640" y="3187888"/>
            <a:ext cx="5432908" cy="2069338"/>
          </a:xfrm>
          <a:prstGeom prst="roundRect">
            <a:avLst>
              <a:gd name="adj" fmla="val 1953"/>
            </a:avLst>
          </a:prstGeom>
          <a:solidFill>
            <a:srgbClr val="F6F8FA"/>
          </a:solidFill>
          <a:ln w="9525">
            <a:solidFill>
              <a:srgbClr val="D0D7DE"/>
            </a:solidFill>
            <a:prstDash val="solid"/>
          </a:ln>
        </p:spPr>
      </p:sp>
      <p:sp>
        <p:nvSpPr>
          <p:cNvPr id="12" name="Text 9"/>
          <p:cNvSpPr txBox="1"/>
          <p:nvPr/>
        </p:nvSpPr>
        <p:spPr>
          <a:xfrm>
            <a:off x="658368" y="3279328"/>
            <a:ext cx="5213452" cy="1886458"/>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from</a:t>
            </a:r>
            <a:r>
              <a:rPr lang="en-US" altLang="en-US" sz="1100" dirty="0">
                <a:solidFill>
                  <a:srgbClr val="1F2328"/>
                </a:solidFill>
                <a:latin typeface="Consolas" pitchFamily="34" charset="0"/>
                <a:ea typeface="Consolas" pitchFamily="34" charset="-122"/>
                <a:cs typeface="Consolas" pitchFamily="34" charset="-120"/>
              </a:rPr>
              <a:t> dapat_dicetak </a:t>
            </a:r>
            <a:r>
              <a:rPr lang="en-US" altLang="en-US" sz="1100" dirty="0">
                <a:solidFill>
                  <a:srgbClr val="CF222E"/>
                </a:solidFill>
                <a:latin typeface="Consolas" pitchFamily="34" charset="0"/>
                <a:ea typeface="Consolas" pitchFamily="34" charset="-122"/>
                <a:cs typeface="Consolas" pitchFamily="34" charset="-120"/>
              </a:rPr>
              <a:t>import</a:t>
            </a:r>
            <a:r>
              <a:rPr lang="en-US" altLang="en-US" sz="1100" dirty="0">
                <a:solidFill>
                  <a:srgbClr val="1F2328"/>
                </a:solidFill>
                <a:latin typeface="Consolas" pitchFamily="34" charset="0"/>
                <a:ea typeface="Consolas" pitchFamily="34" charset="-122"/>
                <a:cs typeface="Consolas" pitchFamily="34" charset="-120"/>
              </a:rPr>
              <a:t> DapatDicetak</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Kedai</a:t>
            </a:r>
            <a:r>
              <a:rPr lang="en-US" altLang="en-US" sz="1100" dirty="0">
                <a:solidFill>
                  <a:srgbClr val="1F2328"/>
                </a:solidFill>
                <a:latin typeface="Consolas" pitchFamily="34" charset="0"/>
                <a:ea typeface="Consolas" pitchFamily="34" charset="-122"/>
                <a:cs typeface="Consolas" pitchFamily="34" charset="-120"/>
              </a:rPr>
              <a:t>(DapatDicetak):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"""Kedai yang punya daftar menu dan catatan pesanan."""</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cetak</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 MENU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._nama</a:t>
            </a:r>
            <a:r>
              <a:rPr lang="en-US" altLang="en-US" sz="1100" dirty="0">
                <a:solidFill>
                  <a:srgbClr val="0A3069"/>
                </a:solidFill>
                <a:latin typeface="Consolas" pitchFamily="34" charset="0"/>
                <a:ea typeface="Consolas" pitchFamily="34" charset="-122"/>
                <a:cs typeface="Consolas" pitchFamily="34" charset="-120"/>
              </a:rPr>
              <a:t>} ==="</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menu in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._daftar_menu:</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(menu)</a:t>
            </a:r>
            <a:endParaRPr lang="en-US" sz="1100" dirty="0"/>
          </a:p>
        </p:txBody>
      </p:sp>
      <p:sp>
        <p:nvSpPr>
          <p:cNvPr id="13" name="Shape 10"/>
          <p:cNvSpPr/>
          <p:nvPr/>
        </p:nvSpPr>
        <p:spPr>
          <a:xfrm>
            <a:off x="6210148" y="2767264"/>
            <a:ext cx="1051560" cy="329184"/>
          </a:xfrm>
          <a:prstGeom prst="roundRect">
            <a:avLst>
              <a:gd name="adj" fmla="val 138889"/>
            </a:avLst>
          </a:prstGeom>
          <a:solidFill>
            <a:srgbClr val="B07219"/>
          </a:solidFill>
          <a:ln/>
        </p:spPr>
      </p:sp>
      <p:sp>
        <p:nvSpPr>
          <p:cNvPr id="14" name="Text 11"/>
          <p:cNvSpPr txBox="1"/>
          <p:nvPr/>
        </p:nvSpPr>
        <p:spPr>
          <a:xfrm>
            <a:off x="6210148" y="276726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76726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java/studi-kasus/Kedai.java</a:t>
            </a:r>
            <a:endParaRPr lang="id-ID" sz="1100" dirty="0"/>
          </a:p>
        </p:txBody>
      </p:sp>
      <p:sp>
        <p:nvSpPr>
          <p:cNvPr id="16" name="Shape 13"/>
          <p:cNvSpPr/>
          <p:nvPr/>
        </p:nvSpPr>
        <p:spPr>
          <a:xfrm>
            <a:off x="6210148" y="3187888"/>
            <a:ext cx="5432908" cy="2069338"/>
          </a:xfrm>
          <a:prstGeom prst="roundRect">
            <a:avLst>
              <a:gd name="adj" fmla="val 1953"/>
            </a:avLst>
          </a:prstGeom>
          <a:solidFill>
            <a:srgbClr val="F6F8FA"/>
          </a:solidFill>
          <a:ln w="9525">
            <a:solidFill>
              <a:srgbClr val="D0D7DE"/>
            </a:solidFill>
            <a:prstDash val="solid"/>
          </a:ln>
        </p:spPr>
      </p:sp>
      <p:sp>
        <p:nvSpPr>
          <p:cNvPr id="17" name="Text 14"/>
          <p:cNvSpPr txBox="1"/>
          <p:nvPr/>
        </p:nvSpPr>
        <p:spPr>
          <a:xfrm>
            <a:off x="6319876" y="3279328"/>
            <a:ext cx="5213452" cy="1886458"/>
          </a:xfrm>
          <a:prstGeom prst="rect">
            <a:avLst/>
          </a:prstGeom>
          <a:noFill/>
          <a:ln/>
        </p:spPr>
        <p:txBody>
          <a:bodyPr wrap="square" lIns="0" tIns="0" rIns="0" bIns="0" rtlCol="0" anchor="t"/>
          <a:lstStyle/>
          <a:p>
            <a:pPr indent="0" marL="0">
              <a:buNone/>
            </a:pPr>
            <a:r>
              <a:rPr lang="en-US" altLang="en-US" sz="1100" i="1" dirty="0">
                <a:solidFill>
                  <a:srgbClr val="6E7781"/>
                </a:solidFill>
                <a:latin typeface="Consolas" pitchFamily="34" charset="0"/>
                <a:ea typeface="Consolas" pitchFamily="34" charset="-122"/>
                <a:cs typeface="Consolas" pitchFamily="34" charset="-120"/>
              </a:rPr>
              <a:t>/** Kedai yang punya daftar menu dan catatan pesanan.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Kedai</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implements</a:t>
            </a:r>
            <a:r>
              <a:rPr lang="en-US" altLang="en-US" sz="1100" dirty="0">
                <a:solidFill>
                  <a:srgbClr val="1F2328"/>
                </a:solidFill>
                <a:latin typeface="Consolas" pitchFamily="34" charset="0"/>
                <a:ea typeface="Consolas" pitchFamily="34" charset="-122"/>
                <a:cs typeface="Consolas" pitchFamily="34" charset="-120"/>
              </a:rPr>
              <a:t> DapatDicetak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@Override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cetak</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 MENU "</a:t>
            </a:r>
            <a:r>
              <a:rPr lang="en-US" altLang="en-US" sz="1100" dirty="0">
                <a:solidFill>
                  <a:srgbClr val="1F2328"/>
                </a:solidFill>
                <a:latin typeface="Consolas" pitchFamily="34" charset="0"/>
                <a:ea typeface="Consolas" pitchFamily="34" charset="-122"/>
                <a:cs typeface="Consolas" pitchFamily="34" charset="-120"/>
              </a:rPr>
              <a:t> + nama + </a:t>
            </a:r>
            <a:r>
              <a:rPr lang="en-US" altLang="en-US" sz="1100" dirty="0">
                <a:solidFill>
                  <a:srgbClr val="0A3069"/>
                </a:solidFill>
                <a:latin typeface="Consolas" pitchFamily="34" charset="0"/>
                <a:ea typeface="Consolas" pitchFamily="34" charset="-122"/>
                <a:cs typeface="Consolas" pitchFamily="34" charset="-120"/>
              </a:rPr>
              <a:t>" ==="</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(Menu menu : daftarMenu)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System.out.println(menu);</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72047"/>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44467"/>
            <a:ext cx="184343" cy="184343"/>
          </a:xfrm>
          <a:prstGeom prst="rect">
            <a:avLst/>
          </a:prstGeom>
        </p:spPr>
      </p:pic>
      <p:sp>
        <p:nvSpPr>
          <p:cNvPr id="7" name="Text 3"/>
          <p:cNvSpPr txBox="1"/>
          <p:nvPr/>
        </p:nvSpPr>
        <p:spPr>
          <a:xfrm>
            <a:off x="987552" y="1472047"/>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72047"/>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44467"/>
            <a:ext cx="184343" cy="184343"/>
          </a:xfrm>
          <a:prstGeom prst="rect">
            <a:avLst/>
          </a:prstGeom>
        </p:spPr>
      </p:pic>
      <p:sp>
        <p:nvSpPr>
          <p:cNvPr id="10" name="Text 5"/>
          <p:cNvSpPr txBox="1"/>
          <p:nvPr/>
        </p:nvSpPr>
        <p:spPr>
          <a:xfrm>
            <a:off x="5605272" y="1472047"/>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74967"/>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157847"/>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“Kelas abstrak tidak boleh punya atribut dan konstruktor.”</a:t>
            </a:r>
            <a:endParaRPr lang="id-ID" sz="1900" dirty="0"/>
          </a:p>
        </p:txBody>
      </p:sp>
      <p:sp>
        <p:nvSpPr>
          <p:cNvPr id="13" name="Shape 8"/>
          <p:cNvSpPr/>
          <p:nvPr/>
        </p:nvSpPr>
        <p:spPr>
          <a:xfrm>
            <a:off x="5166360" y="1974967"/>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157847"/>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Boleh. Kelas abstrak justru tempat yang tepat untuk data dan kode bersama. Konstruktornya dipanggil saat objek kelas anak dibuat.</a:t>
            </a:r>
            <a:endParaRPr lang="id-ID" sz="1900" dirty="0"/>
          </a:p>
        </p:txBody>
      </p:sp>
      <p:sp>
        <p:nvSpPr>
          <p:cNvPr id="15" name="Shape 10"/>
          <p:cNvSpPr/>
          <p:nvPr/>
        </p:nvSpPr>
        <p:spPr>
          <a:xfrm>
            <a:off x="548640" y="3425053"/>
            <a:ext cx="4343400" cy="1248918"/>
          </a:xfrm>
          <a:prstGeom prst="roundRect">
            <a:avLst>
              <a:gd name="adj" fmla="val 6433"/>
            </a:avLst>
          </a:prstGeom>
          <a:solidFill>
            <a:srgbClr val="FFEBE9"/>
          </a:solidFill>
          <a:ln w="9525">
            <a:solidFill>
              <a:srgbClr val="FF8182"/>
            </a:solidFill>
            <a:prstDash val="solid"/>
          </a:ln>
        </p:spPr>
      </p:sp>
      <p:sp>
        <p:nvSpPr>
          <p:cNvPr id="16" name="Text 11"/>
          <p:cNvSpPr txBox="1"/>
          <p:nvPr/>
        </p:nvSpPr>
        <p:spPr>
          <a:xfrm>
            <a:off x="777240" y="3607933"/>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“Kelas abstrak tidak bisa dibuat objeknya, jadi tidak bisa dipakai sebagai tipe.”</a:t>
            </a:r>
            <a:endParaRPr lang="id-ID" sz="1900" dirty="0"/>
          </a:p>
        </p:txBody>
      </p:sp>
      <p:sp>
        <p:nvSpPr>
          <p:cNvPr id="17" name="Shape 12"/>
          <p:cNvSpPr/>
          <p:nvPr/>
        </p:nvSpPr>
        <p:spPr>
          <a:xfrm>
            <a:off x="5166360" y="3425053"/>
            <a:ext cx="6476695" cy="1248918"/>
          </a:xfrm>
          <a:prstGeom prst="roundRect">
            <a:avLst>
              <a:gd name="adj" fmla="val 6433"/>
            </a:avLst>
          </a:prstGeom>
          <a:solidFill>
            <a:srgbClr val="DAFBE1"/>
          </a:solidFill>
          <a:ln w="9525">
            <a:solidFill>
              <a:srgbClr val="4AC26B"/>
            </a:solidFill>
            <a:prstDash val="solid"/>
          </a:ln>
        </p:spPr>
      </p:sp>
      <p:sp>
        <p:nvSpPr>
          <p:cNvPr id="18" name="Text 13"/>
          <p:cNvSpPr txBox="1"/>
          <p:nvPr/>
        </p:nvSpPr>
        <p:spPr>
          <a:xfrm>
            <a:off x="5394960" y="3607933"/>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Variabel, parameter, dan </a:t>
            </a:r>
            <a:r>
              <a:rPr lang="id-ID" altLang="en-US" sz="1900" i="1" dirty="0">
                <a:solidFill>
                  <a:srgbClr val="1F2328"/>
                </a:solidFill>
              </a:rPr>
              <a:t>list</a:t>
            </a:r>
            <a:r>
              <a:rPr lang="id-ID" altLang="en-US" sz="1900" dirty="0">
                <a:solidFill>
                  <a:srgbClr val="1F2328"/>
                </a:solidFill>
              </a:rPr>
              <a:t> bertipe kelas abstrak atau </a:t>
            </a:r>
            <a:r>
              <a:rPr lang="id-ID" altLang="en-US" sz="1900" i="1" dirty="0">
                <a:solidFill>
                  <a:srgbClr val="1F2328"/>
                </a:solidFill>
              </a:rPr>
              <a:t>interface</a:t>
            </a:r>
            <a:r>
              <a:rPr lang="id-ID" altLang="en-US" sz="1900" dirty="0">
                <a:solidFill>
                  <a:srgbClr val="1F2328"/>
                </a:solidFill>
              </a:rPr>
              <a:t> sangat umum, misalnya parameter </a:t>
            </a:r>
            <a:r>
              <a:rPr lang="id-ID" altLang="en-US" sz="1900" dirty="0">
                <a:solidFill>
                  <a:srgbClr val="1F2328"/>
                </a:solidFill>
                <a:latin typeface="Consolas" pitchFamily="34" charset="0"/>
                <a:ea typeface="Consolas" pitchFamily="34" charset="-122"/>
                <a:cs typeface="Consolas" pitchFamily="34" charset="-120"/>
              </a:rPr>
              <a:t>pembayaran</a:t>
            </a:r>
            <a:r>
              <a:rPr lang="id-ID" altLang="en-US" sz="1900" dirty="0">
                <a:solidFill>
                  <a:srgbClr val="1F2328"/>
                </a:solidFill>
              </a:rPr>
              <a:t> di </a:t>
            </a:r>
            <a:r>
              <a:rPr lang="id-ID" altLang="en-US" sz="1900" dirty="0">
                <a:solidFill>
                  <a:srgbClr val="1F2328"/>
                </a:solidFill>
                <a:latin typeface="Consolas" pitchFamily="34" charset="0"/>
                <a:ea typeface="Consolas" pitchFamily="34" charset="-122"/>
                <a:cs typeface="Consolas" pitchFamily="34" charset="-120"/>
              </a:rPr>
              <a:t>Pesanan.bayar()</a:t>
            </a:r>
            <a:r>
              <a:rPr lang="id-ID" altLang="en-US" sz="1900" dirty="0">
                <a:solidFill>
                  <a:srgbClr val="1F2328"/>
                </a:solidFill>
              </a:rPr>
              <a:t>. Isinya selalu objek kelas konkret.</a:t>
            </a:r>
            <a:endParaRPr lang="id-ID" sz="1900" dirty="0"/>
          </a:p>
        </p:txBody>
      </p:sp>
      <p:sp>
        <p:nvSpPr>
          <p:cNvPr id="19" name="Shape 14"/>
          <p:cNvSpPr/>
          <p:nvPr/>
        </p:nvSpPr>
        <p:spPr>
          <a:xfrm>
            <a:off x="548640" y="4875139"/>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505801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Interface</a:t>
            </a:r>
            <a:r>
              <a:rPr lang="id-ID" altLang="en-US" sz="1900" dirty="0">
                <a:solidFill>
                  <a:srgbClr val="1F2328"/>
                </a:solidFill>
              </a:rPr>
              <a:t> sama saja dengan kelas abstrak, hanya beda nama.”</a:t>
            </a:r>
            <a:endParaRPr lang="id-ID" sz="1900" dirty="0"/>
          </a:p>
        </p:txBody>
      </p:sp>
      <p:sp>
        <p:nvSpPr>
          <p:cNvPr id="21" name="Shape 16"/>
          <p:cNvSpPr/>
          <p:nvPr/>
        </p:nvSpPr>
        <p:spPr>
          <a:xfrm>
            <a:off x="5166360" y="4875139"/>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5058019"/>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Tujuannya berbeda. Kelas abstrak menyatukan kelas yang </a:t>
            </a:r>
            <a:r>
              <a:rPr lang="id-ID" altLang="en-US" sz="1900" b="1" dirty="0">
                <a:solidFill>
                  <a:srgbClr val="1F2328"/>
                </a:solidFill>
              </a:rPr>
              <a:t>bersaudara</a:t>
            </a:r>
            <a:r>
              <a:rPr lang="id-ID" altLang="en-US" sz="1900" dirty="0">
                <a:solidFill>
                  <a:srgbClr val="1F2328"/>
                </a:solidFill>
              </a:rPr>
              <a:t> beserta datanya; </a:t>
            </a:r>
            <a:r>
              <a:rPr lang="id-ID" altLang="en-US" sz="1900" i="1" dirty="0">
                <a:solidFill>
                  <a:srgbClr val="1F2328"/>
                </a:solidFill>
              </a:rPr>
              <a:t>interface</a:t>
            </a:r>
            <a:r>
              <a:rPr lang="id-ID" altLang="en-US" sz="1900" dirty="0">
                <a:solidFill>
                  <a:srgbClr val="1F2328"/>
                </a:solidFill>
              </a:rPr>
              <a:t> menyatukan kelas yang </a:t>
            </a:r>
            <a:r>
              <a:rPr lang="id-ID" altLang="en-US" sz="1900" b="1" dirty="0">
                <a:solidFill>
                  <a:srgbClr val="1F2328"/>
                </a:solidFill>
              </a:rPr>
              <a:t>belum tentu bersaudara</a:t>
            </a:r>
            <a:r>
              <a:rPr lang="id-ID" altLang="en-US" sz="1900" dirty="0">
                <a:solidFill>
                  <a:srgbClr val="1F2328"/>
                </a:solidFill>
              </a:rPr>
              <a:t> berdasarkan kemampuannya.</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9985"/>
            <a:ext cx="11094415" cy="1758696"/>
          </a:xfrm>
          <a:prstGeom prst="roundRect">
            <a:avLst>
              <a:gd name="adj" fmla="val 3244"/>
            </a:avLst>
          </a:prstGeom>
          <a:solidFill>
            <a:srgbClr val="FBEFFF"/>
          </a:solidFill>
          <a:ln w="9525">
            <a:solidFill>
              <a:srgbClr val="C297FF"/>
            </a:solidFill>
            <a:prstDash val="solid"/>
          </a:ln>
        </p:spPr>
      </p:sp>
      <p:sp>
        <p:nvSpPr>
          <p:cNvPr id="6" name="Shape 3"/>
          <p:cNvSpPr/>
          <p:nvPr/>
        </p:nvSpPr>
        <p:spPr>
          <a:xfrm>
            <a:off x="777240" y="252073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21317"/>
            <a:ext cx="256032" cy="256032"/>
          </a:xfrm>
          <a:prstGeom prst="rect">
            <a:avLst/>
          </a:prstGeom>
        </p:spPr>
      </p:pic>
      <p:sp>
        <p:nvSpPr>
          <p:cNvPr id="8" name="Text 4"/>
          <p:cNvSpPr txBox="1"/>
          <p:nvPr/>
        </p:nvSpPr>
        <p:spPr>
          <a:xfrm>
            <a:off x="1417320" y="2098585"/>
            <a:ext cx="9951415" cy="1484376"/>
          </a:xfrm>
          <a:prstGeom prst="rect">
            <a:avLst/>
          </a:prstGeom>
          <a:noFill/>
          <a:ln/>
        </p:spPr>
        <p:txBody>
          <a:bodyPr wrap="square" lIns="0" tIns="0" rIns="0" bIns="0" rtlCol="0" anchor="t"/>
          <a:lstStyle/>
          <a:p>
            <a:pPr indent="0" marL="0">
              <a:buNone/>
            </a:pPr>
            <a:r>
              <a:rPr lang="id-ID" altLang="en-US" sz="2800" i="1" dirty="0">
                <a:solidFill>
                  <a:srgbClr val="1F2328"/>
                </a:solidFill>
              </a:rPr>
              <a:t>Method</a:t>
            </a:r>
            <a:r>
              <a:rPr lang="id-ID" altLang="en-US" sz="2800" dirty="0">
                <a:solidFill>
                  <a:srgbClr val="1F2328"/>
                </a:solidFill>
              </a:rPr>
              <a:t> konkret di kelas abstrak yang menetapkan </a:t>
            </a:r>
            <a:r>
              <a:rPr lang="id-ID" altLang="en-US" sz="2800" b="1" dirty="0">
                <a:solidFill>
                  <a:srgbClr val="1F2328"/>
                </a:solidFill>
              </a:rPr>
              <a:t>urutan langkah</a:t>
            </a:r>
            <a:r>
              <a:rPr lang="id-ID" altLang="en-US" sz="2800" dirty="0">
                <a:solidFill>
                  <a:srgbClr val="1F2328"/>
                </a:solidFill>
              </a:rPr>
              <a:t> sebuah proses, lalu memanggil </a:t>
            </a:r>
            <a:r>
              <a:rPr lang="id-ID" altLang="en-US" sz="2800" i="1" dirty="0">
                <a:solidFill>
                  <a:srgbClr val="1F2328"/>
                </a:solidFill>
              </a:rPr>
              <a:t>method</a:t>
            </a:r>
            <a:r>
              <a:rPr lang="id-ID" altLang="en-US" sz="2800" dirty="0">
                <a:solidFill>
                  <a:srgbClr val="1F2328"/>
                </a:solidFill>
              </a:rPr>
              <a:t> abstrak untuk langkah-⁠langkah yang berbeda di setiap kelas anak, disebut ...</a:t>
            </a:r>
            <a:endParaRPr lang="id-ID" sz="2800" dirty="0"/>
          </a:p>
        </p:txBody>
      </p:sp>
      <p:sp>
        <p:nvSpPr>
          <p:cNvPr id="9" name="Shape 5"/>
          <p:cNvSpPr/>
          <p:nvPr/>
        </p:nvSpPr>
        <p:spPr>
          <a:xfrm>
            <a:off x="548640" y="3811561"/>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977981"/>
            <a:ext cx="457200" cy="457200"/>
          </a:xfrm>
          <a:prstGeom prst="ellipse">
            <a:avLst/>
          </a:prstGeom>
          <a:solidFill>
            <a:srgbClr val="8250DF"/>
          </a:solidFill>
          <a:ln/>
        </p:spPr>
      </p:sp>
      <p:sp>
        <p:nvSpPr>
          <p:cNvPr id="11" name="Text 7"/>
          <p:cNvSpPr txBox="1"/>
          <p:nvPr/>
        </p:nvSpPr>
        <p:spPr>
          <a:xfrm>
            <a:off x="749808"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921289"/>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Konstruktor</a:t>
            </a:r>
            <a:endParaRPr lang="id-ID" sz="2400" dirty="0"/>
          </a:p>
        </p:txBody>
      </p:sp>
      <p:sp>
        <p:nvSpPr>
          <p:cNvPr id="13" name="Shape 9"/>
          <p:cNvSpPr/>
          <p:nvPr/>
        </p:nvSpPr>
        <p:spPr>
          <a:xfrm>
            <a:off x="6187288" y="3811561"/>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977981"/>
            <a:ext cx="457200" cy="457200"/>
          </a:xfrm>
          <a:prstGeom prst="ellipse">
            <a:avLst/>
          </a:prstGeom>
          <a:solidFill>
            <a:srgbClr val="8250DF"/>
          </a:solidFill>
          <a:ln/>
        </p:spPr>
      </p:sp>
      <p:sp>
        <p:nvSpPr>
          <p:cNvPr id="15" name="Text 11"/>
          <p:cNvSpPr txBox="1"/>
          <p:nvPr/>
        </p:nvSpPr>
        <p:spPr>
          <a:xfrm>
            <a:off x="6388456"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921289"/>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Default method</a:t>
            </a:r>
            <a:endParaRPr lang="id-ID" sz="2400" dirty="0"/>
          </a:p>
        </p:txBody>
      </p:sp>
      <p:sp>
        <p:nvSpPr>
          <p:cNvPr id="17" name="Shape 13"/>
          <p:cNvSpPr/>
          <p:nvPr/>
        </p:nvSpPr>
        <p:spPr>
          <a:xfrm>
            <a:off x="548640" y="4784482"/>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4950903"/>
            <a:ext cx="457200" cy="457200"/>
          </a:xfrm>
          <a:prstGeom prst="ellipse">
            <a:avLst/>
          </a:prstGeom>
          <a:solidFill>
            <a:srgbClr val="8250DF"/>
          </a:solidFill>
          <a:ln/>
        </p:spPr>
      </p:sp>
      <p:sp>
        <p:nvSpPr>
          <p:cNvPr id="19" name="Text 15"/>
          <p:cNvSpPr txBox="1"/>
          <p:nvPr/>
        </p:nvSpPr>
        <p:spPr>
          <a:xfrm>
            <a:off x="749808"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94210"/>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Template method</a:t>
            </a:r>
            <a:endParaRPr lang="id-ID" sz="2400" dirty="0"/>
          </a:p>
        </p:txBody>
      </p:sp>
      <p:sp>
        <p:nvSpPr>
          <p:cNvPr id="21" name="Shape 17"/>
          <p:cNvSpPr/>
          <p:nvPr/>
        </p:nvSpPr>
        <p:spPr>
          <a:xfrm>
            <a:off x="6187288" y="4784482"/>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4950903"/>
            <a:ext cx="457200" cy="457200"/>
          </a:xfrm>
          <a:prstGeom prst="ellipse">
            <a:avLst/>
          </a:prstGeom>
          <a:solidFill>
            <a:srgbClr val="8250DF"/>
          </a:solidFill>
          <a:ln/>
        </p:spPr>
      </p:sp>
      <p:sp>
        <p:nvSpPr>
          <p:cNvPr id="23" name="Text 19"/>
          <p:cNvSpPr txBox="1"/>
          <p:nvPr/>
        </p:nvSpPr>
        <p:spPr>
          <a:xfrm>
            <a:off x="6388456"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94210"/>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Getter</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9583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632996"/>
            <a:ext cx="10545775" cy="557784"/>
          </a:xfrm>
          <a:prstGeom prst="rect">
            <a:avLst/>
          </a:prstGeom>
          <a:noFill/>
          <a:ln/>
        </p:spPr>
        <p:txBody>
          <a:bodyPr wrap="square" lIns="0" tIns="0" rIns="0" bIns="0" rtlCol="0" anchor="t"/>
          <a:lstStyle/>
          <a:p>
            <a:pPr indent="0" marL="0">
              <a:buNone/>
            </a:pPr>
            <a:r>
              <a:rPr lang="id-ID" altLang="en-US" sz="1800" i="1" dirty="0">
                <a:solidFill>
                  <a:srgbClr val="57606A"/>
                </a:solidFill>
              </a:rPr>
              <a:t>Method</a:t>
            </a:r>
            <a:r>
              <a:rPr lang="id-ID" altLang="en-US" sz="1800" dirty="0">
                <a:solidFill>
                  <a:srgbClr val="57606A"/>
                </a:solidFill>
              </a:rPr>
              <a:t> konkret di kelas abstrak yang menetapkan </a:t>
            </a:r>
            <a:r>
              <a:rPr lang="id-ID" altLang="en-US" sz="1800" b="1" dirty="0">
                <a:solidFill>
                  <a:srgbClr val="57606A"/>
                </a:solidFill>
              </a:rPr>
              <a:t>urutan langkah</a:t>
            </a:r>
            <a:r>
              <a:rPr lang="id-ID" altLang="en-US" sz="1800" dirty="0">
                <a:solidFill>
                  <a:srgbClr val="57606A"/>
                </a:solidFill>
              </a:rPr>
              <a:t> sebuah proses, lalu memanggil </a:t>
            </a:r>
            <a:r>
              <a:rPr lang="id-ID" altLang="en-US" sz="1800" i="1" dirty="0">
                <a:solidFill>
                  <a:srgbClr val="57606A"/>
                </a:solidFill>
              </a:rPr>
              <a:t>method</a:t>
            </a:r>
            <a:r>
              <a:rPr lang="id-ID" altLang="en-US" sz="1800" dirty="0">
                <a:solidFill>
                  <a:srgbClr val="57606A"/>
                </a:solidFill>
              </a:rPr>
              <a:t> abstrak untuk langkah-⁠langkah yang berbeda di setiap kelas anak, disebut ...</a:t>
            </a:r>
            <a:endParaRPr lang="id-ID" sz="1800" dirty="0"/>
          </a:p>
        </p:txBody>
      </p:sp>
      <p:sp>
        <p:nvSpPr>
          <p:cNvPr id="7" name="Shape 4"/>
          <p:cNvSpPr/>
          <p:nvPr/>
        </p:nvSpPr>
        <p:spPr>
          <a:xfrm>
            <a:off x="548640" y="251082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611404"/>
            <a:ext cx="457200" cy="457200"/>
          </a:xfrm>
          <a:prstGeom prst="ellipse">
            <a:avLst/>
          </a:prstGeom>
          <a:solidFill>
            <a:srgbClr val="8C959F"/>
          </a:solidFill>
          <a:ln/>
        </p:spPr>
      </p:sp>
      <p:sp>
        <p:nvSpPr>
          <p:cNvPr id="9" name="Text 6"/>
          <p:cNvSpPr txBox="1"/>
          <p:nvPr/>
        </p:nvSpPr>
        <p:spPr>
          <a:xfrm>
            <a:off x="749808"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620548"/>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Konstruktor</a:t>
            </a:r>
            <a:endParaRPr lang="id-ID" sz="2000" dirty="0"/>
          </a:p>
        </p:txBody>
      </p:sp>
      <p:sp>
        <p:nvSpPr>
          <p:cNvPr id="11" name="Shape 8"/>
          <p:cNvSpPr/>
          <p:nvPr/>
        </p:nvSpPr>
        <p:spPr>
          <a:xfrm>
            <a:off x="6187288" y="2510820"/>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611404"/>
            <a:ext cx="457200" cy="457200"/>
          </a:xfrm>
          <a:prstGeom prst="ellipse">
            <a:avLst/>
          </a:prstGeom>
          <a:solidFill>
            <a:srgbClr val="8C959F"/>
          </a:solidFill>
          <a:ln/>
        </p:spPr>
      </p:sp>
      <p:sp>
        <p:nvSpPr>
          <p:cNvPr id="13" name="Text 10"/>
          <p:cNvSpPr txBox="1"/>
          <p:nvPr/>
        </p:nvSpPr>
        <p:spPr>
          <a:xfrm>
            <a:off x="6388456"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620548"/>
            <a:ext cx="4541368" cy="438912"/>
          </a:xfrm>
          <a:prstGeom prst="rect">
            <a:avLst/>
          </a:prstGeom>
          <a:noFill/>
          <a:ln/>
        </p:spPr>
        <p:txBody>
          <a:bodyPr wrap="square" lIns="0" tIns="0" rIns="0" bIns="0" rtlCol="0" anchor="ctr"/>
          <a:lstStyle/>
          <a:p>
            <a:pPr indent="0" marL="0">
              <a:buNone/>
            </a:pPr>
            <a:r>
              <a:rPr lang="id-ID" altLang="en-US" sz="2000" i="1" dirty="0">
                <a:solidFill>
                  <a:srgbClr val="57606A"/>
                </a:solidFill>
              </a:rPr>
              <a:t>Default method</a:t>
            </a:r>
            <a:endParaRPr lang="id-ID" sz="2000" dirty="0"/>
          </a:p>
        </p:txBody>
      </p:sp>
      <p:sp>
        <p:nvSpPr>
          <p:cNvPr id="15" name="Shape 12"/>
          <p:cNvSpPr/>
          <p:nvPr/>
        </p:nvSpPr>
        <p:spPr>
          <a:xfrm>
            <a:off x="548640" y="3352068"/>
            <a:ext cx="5455768" cy="658368"/>
          </a:xfrm>
          <a:prstGeom prst="roundRect">
            <a:avLst>
              <a:gd name="adj" fmla="val 23148"/>
            </a:avLst>
          </a:prstGeom>
          <a:solidFill>
            <a:srgbClr val="DAFBE1"/>
          </a:solidFill>
          <a:ln w="22225">
            <a:solidFill>
              <a:srgbClr val="1A7F37"/>
            </a:solidFill>
            <a:prstDash val="solid"/>
          </a:ln>
        </p:spPr>
      </p:sp>
      <p:sp>
        <p:nvSpPr>
          <p:cNvPr id="16" name="Shape 13"/>
          <p:cNvSpPr/>
          <p:nvPr/>
        </p:nvSpPr>
        <p:spPr>
          <a:xfrm>
            <a:off x="749808" y="3452652"/>
            <a:ext cx="457200" cy="45720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50392" y="3553236"/>
            <a:ext cx="256032" cy="256032"/>
          </a:xfrm>
          <a:prstGeom prst="rect">
            <a:avLst/>
          </a:prstGeom>
        </p:spPr>
      </p:pic>
      <p:sp>
        <p:nvSpPr>
          <p:cNvPr id="18" name="Text 14"/>
          <p:cNvSpPr txBox="1"/>
          <p:nvPr/>
        </p:nvSpPr>
        <p:spPr>
          <a:xfrm>
            <a:off x="1353312" y="3461796"/>
            <a:ext cx="4541368" cy="438912"/>
          </a:xfrm>
          <a:prstGeom prst="rect">
            <a:avLst/>
          </a:prstGeom>
          <a:noFill/>
          <a:ln/>
        </p:spPr>
        <p:txBody>
          <a:bodyPr wrap="square" lIns="0" tIns="0" rIns="0" bIns="0" rtlCol="0" anchor="ctr"/>
          <a:lstStyle/>
          <a:p>
            <a:pPr indent="0" marL="0">
              <a:buNone/>
            </a:pPr>
            <a:r>
              <a:rPr lang="id-ID" altLang="en-US" sz="2000" i="1" dirty="0">
                <a:solidFill>
                  <a:srgbClr val="1F2328"/>
                </a:solidFill>
              </a:rPr>
              <a:t>Template method</a:t>
            </a:r>
            <a:endParaRPr lang="id-ID" sz="2000" dirty="0"/>
          </a:p>
        </p:txBody>
      </p:sp>
      <p:sp>
        <p:nvSpPr>
          <p:cNvPr id="19" name="Shape 15"/>
          <p:cNvSpPr/>
          <p:nvPr/>
        </p:nvSpPr>
        <p:spPr>
          <a:xfrm>
            <a:off x="6187288" y="3352068"/>
            <a:ext cx="5455768" cy="658368"/>
          </a:xfrm>
          <a:prstGeom prst="roundRect">
            <a:avLst>
              <a:gd name="adj" fmla="val 23148"/>
            </a:avLst>
          </a:prstGeom>
          <a:solidFill>
            <a:srgbClr val="FFFFFF"/>
          </a:solidFill>
          <a:ln w="9525">
            <a:solidFill>
              <a:srgbClr val="D0D7DE"/>
            </a:solidFill>
            <a:prstDash val="solid"/>
          </a:ln>
        </p:spPr>
      </p:sp>
      <p:sp>
        <p:nvSpPr>
          <p:cNvPr id="20" name="Shape 16"/>
          <p:cNvSpPr/>
          <p:nvPr/>
        </p:nvSpPr>
        <p:spPr>
          <a:xfrm>
            <a:off x="6388456" y="3452652"/>
            <a:ext cx="457200" cy="457200"/>
          </a:xfrm>
          <a:prstGeom prst="ellipse">
            <a:avLst/>
          </a:prstGeom>
          <a:solidFill>
            <a:srgbClr val="8C959F"/>
          </a:solidFill>
          <a:ln/>
        </p:spPr>
      </p:sp>
      <p:sp>
        <p:nvSpPr>
          <p:cNvPr id="21" name="Text 17"/>
          <p:cNvSpPr txBox="1"/>
          <p:nvPr/>
        </p:nvSpPr>
        <p:spPr>
          <a:xfrm>
            <a:off x="6388456"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461796"/>
            <a:ext cx="4541368" cy="438912"/>
          </a:xfrm>
          <a:prstGeom prst="rect">
            <a:avLst/>
          </a:prstGeom>
          <a:noFill/>
          <a:ln/>
        </p:spPr>
        <p:txBody>
          <a:bodyPr wrap="square" lIns="0" tIns="0" rIns="0" bIns="0" rtlCol="0" anchor="ctr"/>
          <a:lstStyle/>
          <a:p>
            <a:pPr indent="0" marL="0">
              <a:buNone/>
            </a:pPr>
            <a:r>
              <a:rPr lang="id-ID" altLang="en-US" sz="2000" i="1" dirty="0">
                <a:solidFill>
                  <a:srgbClr val="57606A"/>
                </a:solidFill>
              </a:rPr>
              <a:t>Getter</a:t>
            </a:r>
            <a:endParaRPr lang="id-ID" sz="2000" dirty="0"/>
          </a:p>
        </p:txBody>
      </p:sp>
      <p:sp>
        <p:nvSpPr>
          <p:cNvPr id="23" name="Shape 19"/>
          <p:cNvSpPr/>
          <p:nvPr/>
        </p:nvSpPr>
        <p:spPr>
          <a:xfrm>
            <a:off x="548640" y="4211604"/>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39448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95068"/>
            <a:ext cx="256032" cy="256032"/>
          </a:xfrm>
          <a:prstGeom prst="rect">
            <a:avLst/>
          </a:prstGeom>
        </p:spPr>
      </p:pic>
      <p:sp>
        <p:nvSpPr>
          <p:cNvPr id="26" name="Text 21"/>
          <p:cNvSpPr txBox="1"/>
          <p:nvPr/>
        </p:nvSpPr>
        <p:spPr>
          <a:xfrm>
            <a:off x="1417320" y="434876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687092"/>
            <a:ext cx="9951415" cy="1330960"/>
          </a:xfrm>
          <a:prstGeom prst="rect">
            <a:avLst/>
          </a:prstGeom>
          <a:noFill/>
          <a:ln/>
        </p:spPr>
        <p:txBody>
          <a:bodyPr wrap="square" lIns="0" tIns="0" rIns="0" bIns="0" rtlCol="0" anchor="t"/>
          <a:lstStyle/>
          <a:p>
            <a:pPr indent="0" marL="0">
              <a:buNone/>
            </a:pPr>
            <a:r>
              <a:rPr lang="id-ID" altLang="en-US" sz="2000" i="1" dirty="0">
                <a:solidFill>
                  <a:srgbClr val="1F2328"/>
                </a:solidFill>
              </a:rPr>
              <a:t>Template method</a:t>
            </a:r>
            <a:r>
              <a:rPr lang="id-ID" altLang="en-US" sz="2000" dirty="0">
                <a:solidFill>
                  <a:srgbClr val="1F2328"/>
                </a:solidFill>
              </a:rPr>
              <a:t>, misalnya </a:t>
            </a:r>
            <a:r>
              <a:rPr lang="id-ID" altLang="en-US" sz="2000" dirty="0">
                <a:solidFill>
                  <a:srgbClr val="0A3069"/>
                </a:solidFill>
                <a:latin typeface="Consolas" pitchFamily="34" charset="0"/>
                <a:ea typeface="Consolas" pitchFamily="34" charset="-122"/>
                <a:cs typeface="Consolas" pitchFamily="34" charset="-120"/>
              </a:rPr>
              <a:t>tampilkan()</a:t>
            </a:r>
            <a:r>
              <a:rPr lang="id-ID" altLang="en-US" sz="2000" dirty="0">
                <a:solidFill>
                  <a:srgbClr val="1F2328"/>
                </a:solidFill>
              </a:rPr>
              <a:t> pada </a:t>
            </a:r>
            <a:r>
              <a:rPr lang="id-ID" altLang="en-US" sz="2000" dirty="0">
                <a:solidFill>
                  <a:srgbClr val="0A3069"/>
                </a:solidFill>
                <a:latin typeface="Consolas" pitchFamily="34" charset="0"/>
                <a:ea typeface="Consolas" pitchFamily="34" charset="-122"/>
                <a:cs typeface="Consolas" pitchFamily="34" charset="-120"/>
              </a:rPr>
              <a:t>Laporan</a:t>
            </a:r>
            <a:r>
              <a:rPr lang="id-ID" altLang="en-US" sz="2000" dirty="0">
                <a:solidFill>
                  <a:srgbClr val="1F2328"/>
                </a:solidFill>
              </a:rPr>
              <a:t> atau </a:t>
            </a:r>
            <a:r>
              <a:rPr lang="id-ID" altLang="en-US" sz="2000" dirty="0">
                <a:solidFill>
                  <a:srgbClr val="0A3069"/>
                </a:solidFill>
                <a:latin typeface="Consolas" pitchFamily="34" charset="0"/>
                <a:ea typeface="Consolas" pitchFamily="34" charset="-122"/>
                <a:cs typeface="Consolas" pitchFamily="34" charset="-120"/>
              </a:rPr>
              <a:t>deskripsi()</a:t>
            </a:r>
            <a:r>
              <a:rPr lang="id-ID" altLang="en-US" sz="2000" dirty="0">
                <a:solidFill>
                  <a:srgbClr val="1F2328"/>
                </a:solidFill>
              </a:rPr>
              <a:t> pada </a:t>
            </a:r>
            <a:r>
              <a:rPr lang="id-ID" altLang="en-US" sz="2000" dirty="0">
                <a:solidFill>
                  <a:srgbClr val="0A3069"/>
                </a:solidFill>
                <a:latin typeface="Consolas" pitchFamily="34" charset="0"/>
                <a:ea typeface="Consolas" pitchFamily="34" charset="-122"/>
                <a:cs typeface="Consolas" pitchFamily="34" charset="-120"/>
              </a:rPr>
              <a:t>Pembayaran</a:t>
            </a:r>
            <a:r>
              <a:rPr lang="id-ID" altLang="en-US" sz="2000" dirty="0">
                <a:solidFill>
                  <a:srgbClr val="1F2328"/>
                </a:solidFill>
              </a:rPr>
              <a:t>, menetapkan kerangka yang sama bagi semua kelas anak. </a:t>
            </a:r>
            <a:r>
              <a:rPr lang="id-ID" altLang="en-US" sz="2000" i="1" dirty="0">
                <a:solidFill>
                  <a:srgbClr val="1F2328"/>
                </a:solidFill>
              </a:rPr>
              <a:t>Default method</a:t>
            </a:r>
            <a:r>
              <a:rPr lang="id-ID" altLang="en-US" sz="2000" dirty="0">
                <a:solidFill>
                  <a:srgbClr val="1F2328"/>
                </a:solidFill>
              </a:rPr>
              <a:t> (B) adalah </a:t>
            </a:r>
            <a:r>
              <a:rPr lang="id-ID" altLang="en-US" sz="2000" i="1" dirty="0">
                <a:solidFill>
                  <a:srgbClr val="1F2328"/>
                </a:solidFill>
              </a:rPr>
              <a:t>method</a:t>
            </a:r>
            <a:r>
              <a:rPr lang="id-ID" altLang="en-US" sz="2000" dirty="0">
                <a:solidFill>
                  <a:srgbClr val="1F2328"/>
                </a:solidFill>
              </a:rPr>
              <a:t> berisi di </a:t>
            </a:r>
            <a:r>
              <a:rPr lang="id-ID" altLang="en-US" sz="2000" i="1" dirty="0">
                <a:solidFill>
                  <a:srgbClr val="1F2328"/>
                </a:solidFill>
              </a:rPr>
              <a:t>interface</a:t>
            </a:r>
            <a:r>
              <a:rPr lang="id-ID" altLang="en-US" sz="2000" dirty="0">
                <a:solidFill>
                  <a:srgbClr val="1F2328"/>
                </a:solidFill>
              </a:rPr>
              <a:t> Java; ia bisa memanggil </a:t>
            </a:r>
            <a:r>
              <a:rPr lang="id-ID" altLang="en-US" sz="2000" i="1" dirty="0">
                <a:solidFill>
                  <a:srgbClr val="1F2328"/>
                </a:solidFill>
              </a:rPr>
              <a:t>method</a:t>
            </a:r>
            <a:r>
              <a:rPr lang="id-ID" altLang="en-US" sz="2000" dirty="0">
                <a:solidFill>
                  <a:srgbClr val="1F2328"/>
                </a:solidFill>
              </a:rPr>
              <a:t> abstrak, tetapi bukan nama pola ini. Konstruktor (A) dan </a:t>
            </a:r>
            <a:r>
              <a:rPr lang="id-ID" altLang="en-US" sz="2000" i="1" dirty="0">
                <a:solidFill>
                  <a:srgbClr val="1F2328"/>
                </a:solidFill>
              </a:rPr>
              <a:t>getter</a:t>
            </a:r>
            <a:r>
              <a:rPr lang="id-ID" altLang="en-US" sz="2000" dirty="0">
                <a:solidFill>
                  <a:srgbClr val="1F2328"/>
                </a:solidFill>
              </a:rPr>
              <a:t> (D) tidak berhubungan dengan urutan langkah.</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730532"/>
            <a:ext cx="11094415" cy="891032"/>
          </a:xfrm>
          <a:prstGeom prst="roundRect">
            <a:avLst>
              <a:gd name="adj" fmla="val 12638"/>
            </a:avLst>
          </a:prstGeom>
          <a:solidFill>
            <a:srgbClr val="FBEFFF"/>
          </a:solidFill>
          <a:ln w="9525">
            <a:solidFill>
              <a:srgbClr val="C297FF"/>
            </a:solidFill>
            <a:prstDash val="solid"/>
          </a:ln>
        </p:spPr>
      </p:sp>
      <p:sp>
        <p:nvSpPr>
          <p:cNvPr id="6" name="Shape 3"/>
          <p:cNvSpPr/>
          <p:nvPr/>
        </p:nvSpPr>
        <p:spPr>
          <a:xfrm>
            <a:off x="777240" y="194744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048032"/>
            <a:ext cx="256032" cy="256032"/>
          </a:xfrm>
          <a:prstGeom prst="rect">
            <a:avLst/>
          </a:prstGeom>
        </p:spPr>
      </p:pic>
      <p:sp>
        <p:nvSpPr>
          <p:cNvPr id="8" name="Text 4"/>
          <p:cNvSpPr txBox="1"/>
          <p:nvPr/>
        </p:nvSpPr>
        <p:spPr>
          <a:xfrm>
            <a:off x="1417320" y="1959132"/>
            <a:ext cx="9951415" cy="616712"/>
          </a:xfrm>
          <a:prstGeom prst="rect">
            <a:avLst/>
          </a:prstGeom>
          <a:noFill/>
          <a:ln/>
        </p:spPr>
        <p:txBody>
          <a:bodyPr wrap="square" lIns="0" tIns="0" rIns="0" bIns="0" rtlCol="0" anchor="t"/>
          <a:lstStyle/>
          <a:p>
            <a:pPr indent="0" marL="0">
              <a:buNone/>
            </a:pPr>
            <a:r>
              <a:rPr lang="id-ID" altLang="en-US" sz="2800" dirty="0">
                <a:solidFill>
                  <a:srgbClr val="1F2328"/>
                </a:solidFill>
              </a:rPr>
              <a:t>Situasi manakah yang </a:t>
            </a:r>
            <a:r>
              <a:rPr lang="id-ID" altLang="en-US" sz="2800" b="1" dirty="0">
                <a:solidFill>
                  <a:srgbClr val="1F2328"/>
                </a:solidFill>
              </a:rPr>
              <a:t>paling tepat</a:t>
            </a:r>
            <a:r>
              <a:rPr lang="id-ID" altLang="en-US" sz="2800" dirty="0">
                <a:solidFill>
                  <a:srgbClr val="1F2328"/>
                </a:solidFill>
              </a:rPr>
              <a:t> diselesaikan dengan </a:t>
            </a:r>
            <a:r>
              <a:rPr lang="id-ID" altLang="en-US" sz="2800" i="1" dirty="0">
                <a:solidFill>
                  <a:srgbClr val="1F2328"/>
                </a:solidFill>
              </a:rPr>
              <a:t>interface</a:t>
            </a:r>
            <a:r>
              <a:rPr lang="id-ID" altLang="en-US" sz="2800" dirty="0">
                <a:solidFill>
                  <a:srgbClr val="1F2328"/>
                </a:solidFill>
              </a:rPr>
              <a:t>?</a:t>
            </a:r>
            <a:endParaRPr lang="id-ID" sz="2800" dirty="0"/>
          </a:p>
        </p:txBody>
      </p:sp>
      <p:sp>
        <p:nvSpPr>
          <p:cNvPr id="9" name="Shape 5"/>
          <p:cNvSpPr/>
          <p:nvPr/>
        </p:nvSpPr>
        <p:spPr>
          <a:xfrm>
            <a:off x="548640" y="2804444"/>
            <a:ext cx="5455768" cy="1389888"/>
          </a:xfrm>
          <a:prstGeom prst="roundRect">
            <a:avLst>
              <a:gd name="adj" fmla="val 5194"/>
            </a:avLst>
          </a:prstGeom>
          <a:solidFill>
            <a:srgbClr val="FFFFFF"/>
          </a:solidFill>
          <a:ln w="9525">
            <a:solidFill>
              <a:srgbClr val="D0D7DE"/>
            </a:solidFill>
            <a:prstDash val="solid"/>
          </a:ln>
        </p:spPr>
      </p:sp>
      <p:sp>
        <p:nvSpPr>
          <p:cNvPr id="10" name="Shape 6"/>
          <p:cNvSpPr/>
          <p:nvPr/>
        </p:nvSpPr>
        <p:spPr>
          <a:xfrm>
            <a:off x="749808" y="3270788"/>
            <a:ext cx="457200" cy="457200"/>
          </a:xfrm>
          <a:prstGeom prst="ellipse">
            <a:avLst/>
          </a:prstGeom>
          <a:solidFill>
            <a:srgbClr val="8250DF"/>
          </a:solidFill>
          <a:ln/>
        </p:spPr>
      </p:sp>
      <p:sp>
        <p:nvSpPr>
          <p:cNvPr id="11" name="Text 7"/>
          <p:cNvSpPr txBox="1"/>
          <p:nvPr/>
        </p:nvSpPr>
        <p:spPr>
          <a:xfrm>
            <a:off x="749808" y="327078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2914172"/>
            <a:ext cx="4541368" cy="1170432"/>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Makanan</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Minuman</a:t>
            </a:r>
            <a:r>
              <a:rPr lang="id-ID" altLang="en-US" sz="2400" dirty="0">
                <a:solidFill>
                  <a:srgbClr val="1F2328"/>
                </a:solidFill>
              </a:rPr>
              <a:t> sama-⁠sama menu yang punya kode, nama, dan harga</a:t>
            </a:r>
            <a:endParaRPr lang="id-ID" sz="2400" dirty="0"/>
          </a:p>
        </p:txBody>
      </p:sp>
      <p:sp>
        <p:nvSpPr>
          <p:cNvPr id="13" name="Shape 9"/>
          <p:cNvSpPr/>
          <p:nvPr/>
        </p:nvSpPr>
        <p:spPr>
          <a:xfrm>
            <a:off x="6187288" y="2804444"/>
            <a:ext cx="5455768" cy="1389888"/>
          </a:xfrm>
          <a:prstGeom prst="roundRect">
            <a:avLst>
              <a:gd name="adj" fmla="val 5194"/>
            </a:avLst>
          </a:prstGeom>
          <a:solidFill>
            <a:srgbClr val="FFFFFF"/>
          </a:solidFill>
          <a:ln w="9525">
            <a:solidFill>
              <a:srgbClr val="D0D7DE"/>
            </a:solidFill>
            <a:prstDash val="solid"/>
          </a:ln>
        </p:spPr>
      </p:sp>
      <p:sp>
        <p:nvSpPr>
          <p:cNvPr id="14" name="Shape 10"/>
          <p:cNvSpPr/>
          <p:nvPr/>
        </p:nvSpPr>
        <p:spPr>
          <a:xfrm>
            <a:off x="6388456" y="3270788"/>
            <a:ext cx="457200" cy="457200"/>
          </a:xfrm>
          <a:prstGeom prst="ellipse">
            <a:avLst/>
          </a:prstGeom>
          <a:solidFill>
            <a:srgbClr val="8250DF"/>
          </a:solidFill>
          <a:ln/>
        </p:spPr>
      </p:sp>
      <p:sp>
        <p:nvSpPr>
          <p:cNvPr id="15" name="Text 11"/>
          <p:cNvSpPr txBox="1"/>
          <p:nvPr/>
        </p:nvSpPr>
        <p:spPr>
          <a:xfrm>
            <a:off x="6388456" y="327078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2914172"/>
            <a:ext cx="4541368" cy="1170432"/>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Kedai</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Pesanan</a:t>
            </a:r>
            <a:r>
              <a:rPr lang="id-ID" altLang="en-US" sz="2400" dirty="0">
                <a:solidFill>
                  <a:srgbClr val="1F2328"/>
                </a:solidFill>
              </a:rPr>
              <a:t> tidak bersaudara, tetapi sama-⁠sama perlu dicetak oleh satu fungsi yang sama</a:t>
            </a:r>
            <a:endParaRPr lang="id-ID" sz="2400" dirty="0"/>
          </a:p>
        </p:txBody>
      </p:sp>
      <p:sp>
        <p:nvSpPr>
          <p:cNvPr id="17" name="Shape 13"/>
          <p:cNvSpPr/>
          <p:nvPr/>
        </p:nvSpPr>
        <p:spPr>
          <a:xfrm>
            <a:off x="548640" y="4377212"/>
            <a:ext cx="5455768" cy="1389888"/>
          </a:xfrm>
          <a:prstGeom prst="roundRect">
            <a:avLst>
              <a:gd name="adj" fmla="val 5194"/>
            </a:avLst>
          </a:prstGeom>
          <a:solidFill>
            <a:srgbClr val="FFFFFF"/>
          </a:solidFill>
          <a:ln w="9525">
            <a:solidFill>
              <a:srgbClr val="D0D7DE"/>
            </a:solidFill>
            <a:prstDash val="solid"/>
          </a:ln>
        </p:spPr>
      </p:sp>
      <p:sp>
        <p:nvSpPr>
          <p:cNvPr id="18" name="Shape 14"/>
          <p:cNvSpPr/>
          <p:nvPr/>
        </p:nvSpPr>
        <p:spPr>
          <a:xfrm>
            <a:off x="749808" y="4843556"/>
            <a:ext cx="457200" cy="457200"/>
          </a:xfrm>
          <a:prstGeom prst="ellipse">
            <a:avLst/>
          </a:prstGeom>
          <a:solidFill>
            <a:srgbClr val="8250DF"/>
          </a:solidFill>
          <a:ln/>
        </p:spPr>
      </p:sp>
      <p:sp>
        <p:nvSpPr>
          <p:cNvPr id="19" name="Text 15"/>
          <p:cNvSpPr txBox="1"/>
          <p:nvPr/>
        </p:nvSpPr>
        <p:spPr>
          <a:xfrm>
            <a:off x="749808" y="484355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486940"/>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Membuat banyak objek menu dari satu kelas </a:t>
            </a:r>
            <a:r>
              <a:rPr lang="id-ID" altLang="en-US" sz="2400" dirty="0">
                <a:solidFill>
                  <a:srgbClr val="0A3069"/>
                </a:solidFill>
                <a:latin typeface="Consolas" pitchFamily="34" charset="0"/>
                <a:ea typeface="Consolas" pitchFamily="34" charset="-122"/>
                <a:cs typeface="Consolas" pitchFamily="34" charset="-120"/>
              </a:rPr>
              <a:t>Menu</a:t>
            </a:r>
            <a:endParaRPr lang="id-ID" sz="2400" dirty="0"/>
          </a:p>
        </p:txBody>
      </p:sp>
      <p:sp>
        <p:nvSpPr>
          <p:cNvPr id="21" name="Shape 17"/>
          <p:cNvSpPr/>
          <p:nvPr/>
        </p:nvSpPr>
        <p:spPr>
          <a:xfrm>
            <a:off x="6187288" y="4377212"/>
            <a:ext cx="5455768" cy="1389888"/>
          </a:xfrm>
          <a:prstGeom prst="roundRect">
            <a:avLst>
              <a:gd name="adj" fmla="val 5194"/>
            </a:avLst>
          </a:prstGeom>
          <a:solidFill>
            <a:srgbClr val="FFFFFF"/>
          </a:solidFill>
          <a:ln w="9525">
            <a:solidFill>
              <a:srgbClr val="D0D7DE"/>
            </a:solidFill>
            <a:prstDash val="solid"/>
          </a:ln>
        </p:spPr>
      </p:sp>
      <p:sp>
        <p:nvSpPr>
          <p:cNvPr id="22" name="Shape 18"/>
          <p:cNvSpPr/>
          <p:nvPr/>
        </p:nvSpPr>
        <p:spPr>
          <a:xfrm>
            <a:off x="6388456" y="4843556"/>
            <a:ext cx="457200" cy="457200"/>
          </a:xfrm>
          <a:prstGeom prst="ellipse">
            <a:avLst/>
          </a:prstGeom>
          <a:solidFill>
            <a:srgbClr val="8250DF"/>
          </a:solidFill>
          <a:ln/>
        </p:spPr>
      </p:sp>
      <p:sp>
        <p:nvSpPr>
          <p:cNvPr id="23" name="Text 19"/>
          <p:cNvSpPr txBox="1"/>
          <p:nvPr/>
        </p:nvSpPr>
        <p:spPr>
          <a:xfrm>
            <a:off x="6388456" y="484355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486940"/>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Menyembunyikan atribut harga agar tidak diubah sembarangan dari luar kelas</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73540"/>
            <a:ext cx="11094415" cy="522224"/>
          </a:xfrm>
          <a:prstGeom prst="roundRect">
            <a:avLst>
              <a:gd name="adj" fmla="val 36791"/>
            </a:avLst>
          </a:prstGeom>
          <a:solidFill>
            <a:srgbClr val="F6F8FA"/>
          </a:solidFill>
          <a:ln w="9525">
            <a:solidFill>
              <a:srgbClr val="D0D7DE"/>
            </a:solidFill>
            <a:prstDash val="solid"/>
          </a:ln>
        </p:spPr>
      </p:sp>
      <p:sp>
        <p:nvSpPr>
          <p:cNvPr id="6" name="Text 3"/>
          <p:cNvSpPr txBox="1"/>
          <p:nvPr/>
        </p:nvSpPr>
        <p:spPr>
          <a:xfrm>
            <a:off x="822960" y="1610700"/>
            <a:ext cx="10545775" cy="247904"/>
          </a:xfrm>
          <a:prstGeom prst="rect">
            <a:avLst/>
          </a:prstGeom>
          <a:noFill/>
          <a:ln/>
        </p:spPr>
        <p:txBody>
          <a:bodyPr wrap="square" lIns="0" tIns="0" rIns="0" bIns="0" rtlCol="0" anchor="t"/>
          <a:lstStyle/>
          <a:p>
            <a:pPr indent="0" marL="0">
              <a:buNone/>
            </a:pPr>
            <a:r>
              <a:rPr lang="id-ID" altLang="en-US" sz="1600" dirty="0">
                <a:solidFill>
                  <a:srgbClr val="57606A"/>
                </a:solidFill>
              </a:rPr>
              <a:t>Situasi manakah yang </a:t>
            </a:r>
            <a:r>
              <a:rPr lang="id-ID" altLang="en-US" sz="1600" b="1" dirty="0">
                <a:solidFill>
                  <a:srgbClr val="57606A"/>
                </a:solidFill>
              </a:rPr>
              <a:t>paling tepat</a:t>
            </a:r>
            <a:r>
              <a:rPr lang="id-ID" altLang="en-US" sz="1600" dirty="0">
                <a:solidFill>
                  <a:srgbClr val="57606A"/>
                </a:solidFill>
              </a:rPr>
              <a:t> diselesaikan dengan </a:t>
            </a:r>
            <a:r>
              <a:rPr lang="id-ID" altLang="en-US" sz="1600" i="1" dirty="0">
                <a:solidFill>
                  <a:srgbClr val="57606A"/>
                </a:solidFill>
              </a:rPr>
              <a:t>interface</a:t>
            </a:r>
            <a:r>
              <a:rPr lang="id-ID" altLang="en-US" sz="1600" dirty="0">
                <a:solidFill>
                  <a:srgbClr val="57606A"/>
                </a:solidFill>
              </a:rPr>
              <a:t>?</a:t>
            </a:r>
            <a:endParaRPr lang="id-ID" sz="1600" dirty="0"/>
          </a:p>
        </p:txBody>
      </p:sp>
      <p:sp>
        <p:nvSpPr>
          <p:cNvPr id="7" name="Shape 4"/>
          <p:cNvSpPr/>
          <p:nvPr/>
        </p:nvSpPr>
        <p:spPr>
          <a:xfrm>
            <a:off x="548640" y="2178644"/>
            <a:ext cx="5455768" cy="1064514"/>
          </a:xfrm>
          <a:prstGeom prst="roundRect">
            <a:avLst>
              <a:gd name="adj" fmla="val 8854"/>
            </a:avLst>
          </a:prstGeom>
          <a:solidFill>
            <a:srgbClr val="FFFFFF"/>
          </a:solidFill>
          <a:ln w="9525">
            <a:solidFill>
              <a:srgbClr val="D0D7DE"/>
            </a:solidFill>
            <a:prstDash val="solid"/>
          </a:ln>
        </p:spPr>
      </p:sp>
      <p:sp>
        <p:nvSpPr>
          <p:cNvPr id="8" name="Shape 5"/>
          <p:cNvSpPr/>
          <p:nvPr/>
        </p:nvSpPr>
        <p:spPr>
          <a:xfrm>
            <a:off x="749808" y="2516591"/>
            <a:ext cx="388620" cy="388620"/>
          </a:xfrm>
          <a:prstGeom prst="ellipse">
            <a:avLst/>
          </a:prstGeom>
          <a:solidFill>
            <a:srgbClr val="8C959F"/>
          </a:solidFill>
          <a:ln/>
        </p:spPr>
      </p:sp>
      <p:sp>
        <p:nvSpPr>
          <p:cNvPr id="9" name="Text 6"/>
          <p:cNvSpPr txBox="1"/>
          <p:nvPr/>
        </p:nvSpPr>
        <p:spPr>
          <a:xfrm>
            <a:off x="749808" y="2516591"/>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A</a:t>
            </a:r>
            <a:endParaRPr lang="id-ID" sz="1500" dirty="0"/>
          </a:p>
        </p:txBody>
      </p:sp>
      <p:sp>
        <p:nvSpPr>
          <p:cNvPr id="10" name="Text 7"/>
          <p:cNvSpPr txBox="1"/>
          <p:nvPr/>
        </p:nvSpPr>
        <p:spPr>
          <a:xfrm>
            <a:off x="1353312" y="2288372"/>
            <a:ext cx="4541368" cy="845058"/>
          </a:xfrm>
          <a:prstGeom prst="rect">
            <a:avLst/>
          </a:prstGeom>
          <a:noFill/>
          <a:ln/>
        </p:spPr>
        <p:txBody>
          <a:bodyPr wrap="square" lIns="0" tIns="0" rIns="0" bIns="0" rtlCol="0" anchor="ctr"/>
          <a:lstStyle/>
          <a:p>
            <a:pPr indent="0" marL="0">
              <a:buNone/>
            </a:pPr>
            <a:r>
              <a:rPr lang="id-ID" altLang="en-US" sz="1700" dirty="0">
                <a:solidFill>
                  <a:srgbClr val="0A3069"/>
                </a:solidFill>
                <a:latin typeface="Consolas" pitchFamily="34" charset="0"/>
                <a:ea typeface="Consolas" pitchFamily="34" charset="-122"/>
                <a:cs typeface="Consolas" pitchFamily="34" charset="-120"/>
              </a:rPr>
              <a:t>Makanan</a:t>
            </a:r>
            <a:r>
              <a:rPr lang="id-ID" altLang="en-US" sz="1700" dirty="0">
                <a:solidFill>
                  <a:srgbClr val="57606A"/>
                </a:solidFill>
              </a:rPr>
              <a:t> dan </a:t>
            </a:r>
            <a:r>
              <a:rPr lang="id-ID" altLang="en-US" sz="1700" dirty="0">
                <a:solidFill>
                  <a:srgbClr val="0A3069"/>
                </a:solidFill>
                <a:latin typeface="Consolas" pitchFamily="34" charset="0"/>
                <a:ea typeface="Consolas" pitchFamily="34" charset="-122"/>
                <a:cs typeface="Consolas" pitchFamily="34" charset="-120"/>
              </a:rPr>
              <a:t>Minuman</a:t>
            </a:r>
            <a:r>
              <a:rPr lang="id-ID" altLang="en-US" sz="1700" dirty="0">
                <a:solidFill>
                  <a:srgbClr val="57606A"/>
                </a:solidFill>
              </a:rPr>
              <a:t> sama-⁠sama menu yang punya kode, nama, dan harga</a:t>
            </a:r>
            <a:endParaRPr lang="id-ID" sz="1700" dirty="0"/>
          </a:p>
        </p:txBody>
      </p:sp>
      <p:sp>
        <p:nvSpPr>
          <p:cNvPr id="11" name="Shape 8"/>
          <p:cNvSpPr/>
          <p:nvPr/>
        </p:nvSpPr>
        <p:spPr>
          <a:xfrm>
            <a:off x="6187288" y="2178644"/>
            <a:ext cx="5455768" cy="1064514"/>
          </a:xfrm>
          <a:prstGeom prst="roundRect">
            <a:avLst>
              <a:gd name="adj" fmla="val 8854"/>
            </a:avLst>
          </a:prstGeom>
          <a:solidFill>
            <a:srgbClr val="DAFBE1"/>
          </a:solidFill>
          <a:ln w="22225">
            <a:solidFill>
              <a:srgbClr val="1A7F37"/>
            </a:solidFill>
            <a:prstDash val="solid"/>
          </a:ln>
        </p:spPr>
      </p:sp>
      <p:sp>
        <p:nvSpPr>
          <p:cNvPr id="12" name="Shape 9"/>
          <p:cNvSpPr/>
          <p:nvPr/>
        </p:nvSpPr>
        <p:spPr>
          <a:xfrm>
            <a:off x="6388456" y="2516591"/>
            <a:ext cx="388620" cy="38862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73952" y="2602088"/>
            <a:ext cx="217627" cy="217627"/>
          </a:xfrm>
          <a:prstGeom prst="rect">
            <a:avLst/>
          </a:prstGeom>
        </p:spPr>
      </p:pic>
      <p:sp>
        <p:nvSpPr>
          <p:cNvPr id="14" name="Text 10"/>
          <p:cNvSpPr txBox="1"/>
          <p:nvPr/>
        </p:nvSpPr>
        <p:spPr>
          <a:xfrm>
            <a:off x="6991960" y="2288372"/>
            <a:ext cx="4541368" cy="845058"/>
          </a:xfrm>
          <a:prstGeom prst="rect">
            <a:avLst/>
          </a:prstGeom>
          <a:noFill/>
          <a:ln/>
        </p:spPr>
        <p:txBody>
          <a:bodyPr wrap="square" lIns="0" tIns="0" rIns="0" bIns="0" rtlCol="0" anchor="ctr"/>
          <a:lstStyle/>
          <a:p>
            <a:pPr indent="0" marL="0">
              <a:buNone/>
            </a:pPr>
            <a:r>
              <a:rPr lang="id-ID" altLang="en-US" sz="1700" dirty="0">
                <a:solidFill>
                  <a:srgbClr val="0A3069"/>
                </a:solidFill>
                <a:latin typeface="Consolas" pitchFamily="34" charset="0"/>
                <a:ea typeface="Consolas" pitchFamily="34" charset="-122"/>
                <a:cs typeface="Consolas" pitchFamily="34" charset="-120"/>
              </a:rPr>
              <a:t>Kedai</a:t>
            </a:r>
            <a:r>
              <a:rPr lang="id-ID" altLang="en-US" sz="1700" dirty="0">
                <a:solidFill>
                  <a:srgbClr val="1F2328"/>
                </a:solidFill>
              </a:rPr>
              <a:t> dan </a:t>
            </a:r>
            <a:r>
              <a:rPr lang="id-ID" altLang="en-US" sz="1700" dirty="0">
                <a:solidFill>
                  <a:srgbClr val="0A3069"/>
                </a:solidFill>
                <a:latin typeface="Consolas" pitchFamily="34" charset="0"/>
                <a:ea typeface="Consolas" pitchFamily="34" charset="-122"/>
                <a:cs typeface="Consolas" pitchFamily="34" charset="-120"/>
              </a:rPr>
              <a:t>Pesanan</a:t>
            </a:r>
            <a:r>
              <a:rPr lang="id-ID" altLang="en-US" sz="1700" dirty="0">
                <a:solidFill>
                  <a:srgbClr val="1F2328"/>
                </a:solidFill>
              </a:rPr>
              <a:t> tidak bersaudara, tetapi sama-⁠sama perlu dicetak oleh satu fungsi yang sama</a:t>
            </a:r>
            <a:endParaRPr lang="id-ID" sz="1700" dirty="0"/>
          </a:p>
        </p:txBody>
      </p:sp>
      <p:sp>
        <p:nvSpPr>
          <p:cNvPr id="15" name="Shape 11"/>
          <p:cNvSpPr/>
          <p:nvPr/>
        </p:nvSpPr>
        <p:spPr>
          <a:xfrm>
            <a:off x="548640" y="3426038"/>
            <a:ext cx="5455768" cy="801116"/>
          </a:xfrm>
          <a:prstGeom prst="roundRect">
            <a:avLst>
              <a:gd name="adj" fmla="val 15634"/>
            </a:avLst>
          </a:prstGeom>
          <a:solidFill>
            <a:srgbClr val="FFFFFF"/>
          </a:solidFill>
          <a:ln w="9525">
            <a:solidFill>
              <a:srgbClr val="D0D7DE"/>
            </a:solidFill>
            <a:prstDash val="solid"/>
          </a:ln>
        </p:spPr>
      </p:sp>
      <p:sp>
        <p:nvSpPr>
          <p:cNvPr id="16" name="Shape 12"/>
          <p:cNvSpPr/>
          <p:nvPr/>
        </p:nvSpPr>
        <p:spPr>
          <a:xfrm>
            <a:off x="749808" y="3632286"/>
            <a:ext cx="388620" cy="388620"/>
          </a:xfrm>
          <a:prstGeom prst="ellipse">
            <a:avLst/>
          </a:prstGeom>
          <a:solidFill>
            <a:srgbClr val="8C959F"/>
          </a:solidFill>
          <a:ln/>
        </p:spPr>
      </p:sp>
      <p:sp>
        <p:nvSpPr>
          <p:cNvPr id="17" name="Text 13"/>
          <p:cNvSpPr txBox="1"/>
          <p:nvPr/>
        </p:nvSpPr>
        <p:spPr>
          <a:xfrm>
            <a:off x="749808" y="3632286"/>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C</a:t>
            </a:r>
            <a:endParaRPr lang="id-ID" sz="1500" dirty="0"/>
          </a:p>
        </p:txBody>
      </p:sp>
      <p:sp>
        <p:nvSpPr>
          <p:cNvPr id="18" name="Text 14"/>
          <p:cNvSpPr txBox="1"/>
          <p:nvPr/>
        </p:nvSpPr>
        <p:spPr>
          <a:xfrm>
            <a:off x="1353312" y="3535766"/>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Membuat banyak objek menu dari satu kelas </a:t>
            </a:r>
            <a:r>
              <a:rPr lang="id-ID" altLang="en-US" sz="1700" dirty="0">
                <a:solidFill>
                  <a:srgbClr val="0A3069"/>
                </a:solidFill>
                <a:latin typeface="Consolas" pitchFamily="34" charset="0"/>
                <a:ea typeface="Consolas" pitchFamily="34" charset="-122"/>
                <a:cs typeface="Consolas" pitchFamily="34" charset="-120"/>
              </a:rPr>
              <a:t>Menu</a:t>
            </a:r>
            <a:endParaRPr lang="id-ID" sz="1700" dirty="0"/>
          </a:p>
        </p:txBody>
      </p:sp>
      <p:sp>
        <p:nvSpPr>
          <p:cNvPr id="19" name="Shape 15"/>
          <p:cNvSpPr/>
          <p:nvPr/>
        </p:nvSpPr>
        <p:spPr>
          <a:xfrm>
            <a:off x="6187288" y="3426038"/>
            <a:ext cx="5455768" cy="801116"/>
          </a:xfrm>
          <a:prstGeom prst="roundRect">
            <a:avLst>
              <a:gd name="adj" fmla="val 15634"/>
            </a:avLst>
          </a:prstGeom>
          <a:solidFill>
            <a:srgbClr val="FFFFFF"/>
          </a:solidFill>
          <a:ln w="9525">
            <a:solidFill>
              <a:srgbClr val="D0D7DE"/>
            </a:solidFill>
            <a:prstDash val="solid"/>
          </a:ln>
        </p:spPr>
      </p:sp>
      <p:sp>
        <p:nvSpPr>
          <p:cNvPr id="20" name="Shape 16"/>
          <p:cNvSpPr/>
          <p:nvPr/>
        </p:nvSpPr>
        <p:spPr>
          <a:xfrm>
            <a:off x="6388456" y="3632286"/>
            <a:ext cx="388620" cy="388620"/>
          </a:xfrm>
          <a:prstGeom prst="ellipse">
            <a:avLst/>
          </a:prstGeom>
          <a:solidFill>
            <a:srgbClr val="8C959F"/>
          </a:solidFill>
          <a:ln/>
        </p:spPr>
      </p:sp>
      <p:sp>
        <p:nvSpPr>
          <p:cNvPr id="21" name="Text 17"/>
          <p:cNvSpPr txBox="1"/>
          <p:nvPr/>
        </p:nvSpPr>
        <p:spPr>
          <a:xfrm>
            <a:off x="6388456" y="3632286"/>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D</a:t>
            </a:r>
            <a:endParaRPr lang="id-ID" sz="1500" dirty="0"/>
          </a:p>
        </p:txBody>
      </p:sp>
      <p:sp>
        <p:nvSpPr>
          <p:cNvPr id="22" name="Text 18"/>
          <p:cNvSpPr txBox="1"/>
          <p:nvPr/>
        </p:nvSpPr>
        <p:spPr>
          <a:xfrm>
            <a:off x="6991960" y="3535766"/>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Menyembunyikan atribut harga agar tidak diubah sembarangan dari luar kelas</a:t>
            </a:r>
            <a:endParaRPr lang="id-ID" sz="1700" dirty="0"/>
          </a:p>
        </p:txBody>
      </p:sp>
      <p:sp>
        <p:nvSpPr>
          <p:cNvPr id="23" name="Shape 19"/>
          <p:cNvSpPr/>
          <p:nvPr/>
        </p:nvSpPr>
        <p:spPr>
          <a:xfrm>
            <a:off x="548640" y="4428322"/>
            <a:ext cx="11094415" cy="1693672"/>
          </a:xfrm>
          <a:prstGeom prst="roundRect">
            <a:avLst>
              <a:gd name="adj" fmla="val 3498"/>
            </a:avLst>
          </a:prstGeom>
          <a:solidFill>
            <a:srgbClr val="FFF8C5"/>
          </a:solidFill>
          <a:ln w="9525">
            <a:solidFill>
              <a:srgbClr val="D4A72C"/>
            </a:solidFill>
            <a:prstDash val="solid"/>
          </a:ln>
        </p:spPr>
      </p:sp>
      <p:sp>
        <p:nvSpPr>
          <p:cNvPr id="24" name="Shape 20"/>
          <p:cNvSpPr/>
          <p:nvPr/>
        </p:nvSpPr>
        <p:spPr>
          <a:xfrm>
            <a:off x="777240" y="4611202"/>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11786"/>
            <a:ext cx="256032" cy="256032"/>
          </a:xfrm>
          <a:prstGeom prst="rect">
            <a:avLst/>
          </a:prstGeom>
        </p:spPr>
      </p:pic>
      <p:sp>
        <p:nvSpPr>
          <p:cNvPr id="26" name="Text 21"/>
          <p:cNvSpPr txBox="1"/>
          <p:nvPr/>
        </p:nvSpPr>
        <p:spPr>
          <a:xfrm>
            <a:off x="1417320" y="4565482"/>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903810"/>
            <a:ext cx="9951415" cy="1145032"/>
          </a:xfrm>
          <a:prstGeom prst="rect">
            <a:avLst/>
          </a:prstGeom>
          <a:noFill/>
          <a:ln/>
        </p:spPr>
        <p:txBody>
          <a:bodyPr wrap="square" lIns="0" tIns="0" rIns="0" bIns="0" rtlCol="0" anchor="t"/>
          <a:lstStyle/>
          <a:p>
            <a:pPr indent="0" marL="0">
              <a:buNone/>
            </a:pPr>
            <a:r>
              <a:rPr lang="id-ID" altLang="en-US" sz="1700" i="1" dirty="0">
                <a:solidFill>
                  <a:srgbClr val="1F2328"/>
                </a:solidFill>
              </a:rPr>
              <a:t>Interface</a:t>
            </a:r>
            <a:r>
              <a:rPr lang="id-ID" altLang="en-US" sz="1700" dirty="0">
                <a:solidFill>
                  <a:srgbClr val="1F2328"/>
                </a:solidFill>
              </a:rPr>
              <a:t> cocok untuk hubungan “bisa” (</a:t>
            </a:r>
            <a:r>
              <a:rPr lang="id-ID" altLang="en-US" sz="1700" i="1" dirty="0">
                <a:solidFill>
                  <a:srgbClr val="1F2328"/>
                </a:solidFill>
              </a:rPr>
              <a:t>can-⁠do</a:t>
            </a:r>
            <a:r>
              <a:rPr lang="id-ID" altLang="en-US" sz="1700" dirty="0">
                <a:solidFill>
                  <a:srgbClr val="1F2328"/>
                </a:solidFill>
              </a:rPr>
              <a:t>) antara kelas-⁠kelas yang tidak bersaudara, persis seperti </a:t>
            </a:r>
            <a:r>
              <a:rPr lang="id-ID" altLang="en-US" sz="1700" dirty="0">
                <a:solidFill>
                  <a:srgbClr val="0A3069"/>
                </a:solidFill>
                <a:latin typeface="Consolas" pitchFamily="34" charset="0"/>
                <a:ea typeface="Consolas" pitchFamily="34" charset="-122"/>
                <a:cs typeface="Consolas" pitchFamily="34" charset="-120"/>
              </a:rPr>
              <a:t>DapatDicetak</a:t>
            </a:r>
            <a:r>
              <a:rPr lang="id-ID" altLang="en-US" sz="1700" dirty="0">
                <a:solidFill>
                  <a:srgbClr val="1F2328"/>
                </a:solidFill>
              </a:rPr>
              <a:t> di KedaiKita. Pilihan A adalah hubungan “adalah” dengan data bersama sehingga lebih cocok memakai kelas induk atau kelas abstrak. Pilihan C adalah konsep kelas dan objek biasa. Pilihan D adalah enkapsulasi.</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400"/>
            <a:ext cx="279667" cy="279667"/>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0167" y="1531926"/>
            <a:ext cx="156613" cy="156613"/>
          </a:xfrm>
          <a:prstGeom prst="rect">
            <a:avLst/>
          </a:prstGeom>
        </p:spPr>
      </p:pic>
      <p:sp>
        <p:nvSpPr>
          <p:cNvPr id="7" name="Text 3"/>
          <p:cNvSpPr txBox="1"/>
          <p:nvPr/>
        </p:nvSpPr>
        <p:spPr>
          <a:xfrm>
            <a:off x="1051560" y="1463040"/>
            <a:ext cx="10591495" cy="340106"/>
          </a:xfrm>
          <a:prstGeom prst="rect">
            <a:avLst/>
          </a:prstGeom>
          <a:noFill/>
          <a:ln/>
        </p:spPr>
        <p:txBody>
          <a:bodyPr wrap="square" lIns="0" tIns="0" rIns="0" bIns="0" rtlCol="0" anchor="t"/>
          <a:lstStyle/>
          <a:p>
            <a:pPr indent="0" marL="0">
              <a:buNone/>
            </a:pPr>
            <a:r>
              <a:rPr lang="id-ID" altLang="en-US" sz="1900" b="1" dirty="0">
                <a:solidFill>
                  <a:srgbClr val="1F2328"/>
                </a:solidFill>
              </a:rPr>
              <a:t>Abstraksi</a:t>
            </a:r>
            <a:r>
              <a:rPr lang="id-ID" altLang="en-US" sz="1900" dirty="0">
                <a:solidFill>
                  <a:srgbClr val="1F2328"/>
                </a:solidFill>
              </a:rPr>
              <a:t>: menonjolkan hal yang penting dan menyembunyikan detail yang tidak perlu.</a:t>
            </a:r>
            <a:endParaRPr lang="id-ID" sz="1900" dirty="0"/>
          </a:p>
        </p:txBody>
      </p:sp>
      <p:sp>
        <p:nvSpPr>
          <p:cNvPr id="8" name="Shape 4"/>
          <p:cNvSpPr/>
          <p:nvPr/>
        </p:nvSpPr>
        <p:spPr>
          <a:xfrm>
            <a:off x="548640" y="1965954"/>
            <a:ext cx="279667" cy="279667"/>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0167" y="2027480"/>
            <a:ext cx="156613" cy="156613"/>
          </a:xfrm>
          <a:prstGeom prst="rect">
            <a:avLst/>
          </a:prstGeom>
        </p:spPr>
      </p:pic>
      <p:sp>
        <p:nvSpPr>
          <p:cNvPr id="10" name="Text 5"/>
          <p:cNvSpPr txBox="1"/>
          <p:nvPr/>
        </p:nvSpPr>
        <p:spPr>
          <a:xfrm>
            <a:off x="1051560" y="1958594"/>
            <a:ext cx="10591495" cy="340106"/>
          </a:xfrm>
          <a:prstGeom prst="rect">
            <a:avLst/>
          </a:prstGeom>
          <a:noFill/>
          <a:ln/>
        </p:spPr>
        <p:txBody>
          <a:bodyPr wrap="square" lIns="0" tIns="0" rIns="0" bIns="0" rtlCol="0" anchor="t"/>
          <a:lstStyle/>
          <a:p>
            <a:pPr indent="0" marL="0">
              <a:buNone/>
            </a:pPr>
            <a:r>
              <a:rPr lang="id-ID" altLang="en-US" sz="1900" b="1" dirty="0">
                <a:solidFill>
                  <a:srgbClr val="1F2328"/>
                </a:solidFill>
              </a:rPr>
              <a:t>Kelas abstrak</a:t>
            </a:r>
            <a:r>
              <a:rPr lang="id-ID" altLang="en-US" sz="1900" dirty="0">
                <a:solidFill>
                  <a:srgbClr val="1F2328"/>
                </a:solidFill>
              </a:rPr>
              <a:t> tidak bisa dibuat objeknya, tetapi boleh punya atribut, konstruktor, dan </a:t>
            </a:r>
            <a:r>
              <a:rPr lang="id-ID" altLang="en-US" sz="1900" i="1" dirty="0">
                <a:solidFill>
                  <a:srgbClr val="1F2328"/>
                </a:solidFill>
              </a:rPr>
              <a:t>method</a:t>
            </a:r>
            <a:r>
              <a:rPr lang="id-ID" altLang="en-US" sz="1900" dirty="0">
                <a:solidFill>
                  <a:srgbClr val="1F2328"/>
                </a:solidFill>
              </a:rPr>
              <a:t> konkret.</a:t>
            </a:r>
            <a:endParaRPr lang="id-ID" sz="1900" dirty="0"/>
          </a:p>
        </p:txBody>
      </p:sp>
      <p:sp>
        <p:nvSpPr>
          <p:cNvPr id="11" name="Shape 6"/>
          <p:cNvSpPr/>
          <p:nvPr/>
        </p:nvSpPr>
        <p:spPr>
          <a:xfrm>
            <a:off x="548640" y="2461508"/>
            <a:ext cx="279667" cy="279667"/>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0167" y="2523034"/>
            <a:ext cx="156613" cy="156613"/>
          </a:xfrm>
          <a:prstGeom prst="rect">
            <a:avLst/>
          </a:prstGeom>
        </p:spPr>
      </p:pic>
      <p:sp>
        <p:nvSpPr>
          <p:cNvPr id="13" name="Text 7"/>
          <p:cNvSpPr txBox="1"/>
          <p:nvPr/>
        </p:nvSpPr>
        <p:spPr>
          <a:xfrm>
            <a:off x="1051560" y="2454148"/>
            <a:ext cx="10591495" cy="340106"/>
          </a:xfrm>
          <a:prstGeom prst="rect">
            <a:avLst/>
          </a:prstGeom>
          <a:noFill/>
          <a:ln/>
        </p:spPr>
        <p:txBody>
          <a:bodyPr wrap="square" lIns="0" tIns="0" rIns="0" bIns="0" rtlCol="0" anchor="t"/>
          <a:lstStyle/>
          <a:p>
            <a:pPr indent="0" marL="0">
              <a:buNone/>
            </a:pPr>
            <a:r>
              <a:rPr lang="id-ID" altLang="en-US" sz="1900" i="1" dirty="0">
                <a:solidFill>
                  <a:srgbClr val="1F2328"/>
                </a:solidFill>
              </a:rPr>
              <a:t>Method</a:t>
            </a:r>
            <a:r>
              <a:rPr lang="id-ID" altLang="en-US" sz="1900" dirty="0">
                <a:solidFill>
                  <a:srgbClr val="1F2328"/>
                </a:solidFill>
              </a:rPr>
              <a:t> abstrak </a:t>
            </a:r>
            <a:r>
              <a:rPr lang="id-ID" altLang="en-US" sz="1900" b="1" dirty="0">
                <a:solidFill>
                  <a:srgbClr val="1F2328"/>
                </a:solidFill>
              </a:rPr>
              <a:t>wajib</a:t>
            </a:r>
            <a:r>
              <a:rPr lang="id-ID" altLang="en-US" sz="1900" dirty="0">
                <a:solidFill>
                  <a:srgbClr val="1F2328"/>
                </a:solidFill>
              </a:rPr>
              <a:t> di-⁠</a:t>
            </a:r>
            <a:r>
              <a:rPr lang="id-ID" altLang="en-US" sz="1900" i="1" dirty="0">
                <a:solidFill>
                  <a:srgbClr val="1F2328"/>
                </a:solidFill>
              </a:rPr>
              <a:t>override</a:t>
            </a:r>
            <a:r>
              <a:rPr lang="id-ID" altLang="en-US" sz="1900" dirty="0">
                <a:solidFill>
                  <a:srgbClr val="1F2328"/>
                </a:solidFill>
              </a:rPr>
              <a:t>. Pelanggaran ketahuan: Python saat objek dibuat, Java saat kompilasi.</a:t>
            </a:r>
            <a:endParaRPr lang="id-ID" sz="1900" dirty="0"/>
          </a:p>
        </p:txBody>
      </p:sp>
      <p:sp>
        <p:nvSpPr>
          <p:cNvPr id="14" name="Shape 8"/>
          <p:cNvSpPr/>
          <p:nvPr/>
        </p:nvSpPr>
        <p:spPr>
          <a:xfrm>
            <a:off x="548640" y="2957062"/>
            <a:ext cx="279667" cy="279667"/>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0167" y="3018588"/>
            <a:ext cx="156613" cy="156613"/>
          </a:xfrm>
          <a:prstGeom prst="rect">
            <a:avLst/>
          </a:prstGeom>
        </p:spPr>
      </p:pic>
      <p:sp>
        <p:nvSpPr>
          <p:cNvPr id="16" name="Text 9"/>
          <p:cNvSpPr txBox="1"/>
          <p:nvPr/>
        </p:nvSpPr>
        <p:spPr>
          <a:xfrm>
            <a:off x="1051560" y="2949702"/>
            <a:ext cx="10591495" cy="340106"/>
          </a:xfrm>
          <a:prstGeom prst="rect">
            <a:avLst/>
          </a:prstGeom>
          <a:noFill/>
          <a:ln/>
        </p:spPr>
        <p:txBody>
          <a:bodyPr wrap="square" lIns="0" tIns="0" rIns="0" bIns="0" rtlCol="0" anchor="t"/>
          <a:lstStyle/>
          <a:p>
            <a:pPr indent="0" marL="0">
              <a:buNone/>
            </a:pPr>
            <a:r>
              <a:rPr lang="id-ID" altLang="en-US" sz="1900" b="1" i="1" dirty="0">
                <a:solidFill>
                  <a:srgbClr val="1F2328"/>
                </a:solidFill>
              </a:rPr>
              <a:t>Template method</a:t>
            </a:r>
            <a:r>
              <a:rPr lang="id-ID" altLang="en-US" sz="1900" dirty="0">
                <a:solidFill>
                  <a:srgbClr val="1F2328"/>
                </a:solidFill>
              </a:rPr>
              <a:t>: </a:t>
            </a:r>
            <a:r>
              <a:rPr lang="id-ID" altLang="en-US" sz="1900" i="1" dirty="0">
                <a:solidFill>
                  <a:srgbClr val="1F2328"/>
                </a:solidFill>
              </a:rPr>
              <a:t>method</a:t>
            </a:r>
            <a:r>
              <a:rPr lang="id-ID" altLang="en-US" sz="1900" dirty="0">
                <a:solidFill>
                  <a:srgbClr val="1F2328"/>
                </a:solidFill>
              </a:rPr>
              <a:t> konkret yang menetapkan urutan langkah dan memanggil </a:t>
            </a:r>
            <a:r>
              <a:rPr lang="id-ID" altLang="en-US" sz="1900" i="1" dirty="0">
                <a:solidFill>
                  <a:srgbClr val="1F2328"/>
                </a:solidFill>
              </a:rPr>
              <a:t>method</a:t>
            </a:r>
            <a:r>
              <a:rPr lang="id-ID" altLang="en-US" sz="1900" dirty="0">
                <a:solidFill>
                  <a:srgbClr val="1F2328"/>
                </a:solidFill>
              </a:rPr>
              <a:t> abstrak.</a:t>
            </a:r>
            <a:endParaRPr lang="id-ID" sz="1900" dirty="0"/>
          </a:p>
        </p:txBody>
      </p:sp>
      <p:sp>
        <p:nvSpPr>
          <p:cNvPr id="17" name="Shape 10"/>
          <p:cNvSpPr/>
          <p:nvPr/>
        </p:nvSpPr>
        <p:spPr>
          <a:xfrm>
            <a:off x="548640" y="3452616"/>
            <a:ext cx="279667" cy="279667"/>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0167" y="3514142"/>
            <a:ext cx="156613" cy="156613"/>
          </a:xfrm>
          <a:prstGeom prst="rect">
            <a:avLst/>
          </a:prstGeom>
        </p:spPr>
      </p:pic>
      <p:sp>
        <p:nvSpPr>
          <p:cNvPr id="19" name="Text 11"/>
          <p:cNvSpPr txBox="1"/>
          <p:nvPr/>
        </p:nvSpPr>
        <p:spPr>
          <a:xfrm>
            <a:off x="1051560" y="3445256"/>
            <a:ext cx="10591495" cy="340106"/>
          </a:xfrm>
          <a:prstGeom prst="rect">
            <a:avLst/>
          </a:prstGeom>
          <a:noFill/>
          <a:ln/>
        </p:spPr>
        <p:txBody>
          <a:bodyPr wrap="square" lIns="0" tIns="0" rIns="0" bIns="0" rtlCol="0" anchor="t"/>
          <a:lstStyle/>
          <a:p>
            <a:pPr indent="0" marL="0">
              <a:buNone/>
            </a:pPr>
            <a:r>
              <a:rPr lang="id-ID" altLang="en-US" sz="1900" b="1" i="1" dirty="0">
                <a:solidFill>
                  <a:srgbClr val="1F2328"/>
                </a:solidFill>
              </a:rPr>
              <a:t>Interface</a:t>
            </a:r>
            <a:r>
              <a:rPr lang="id-ID" altLang="en-US" sz="1900" dirty="0">
                <a:solidFill>
                  <a:srgbClr val="1F2328"/>
                </a:solidFill>
              </a:rPr>
              <a:t>: kontrak kemampuan (</a:t>
            </a:r>
            <a:r>
              <a:rPr lang="id-ID" altLang="en-US" sz="1900" i="1" dirty="0">
                <a:solidFill>
                  <a:srgbClr val="1F2328"/>
                </a:solidFill>
              </a:rPr>
              <a:t>can-⁠do</a:t>
            </a:r>
            <a:r>
              <a:rPr lang="id-ID" altLang="en-US" sz="1900" dirty="0">
                <a:solidFill>
                  <a:srgbClr val="1F2328"/>
                </a:solidFill>
              </a:rPr>
              <a:t>); satu kelas boleh memenuhi banyak </a:t>
            </a:r>
            <a:r>
              <a:rPr lang="id-ID" altLang="en-US" sz="1900" i="1" dirty="0">
                <a:solidFill>
                  <a:srgbClr val="1F2328"/>
                </a:solidFill>
              </a:rPr>
              <a:t>interface</a:t>
            </a:r>
            <a:r>
              <a:rPr lang="id-ID" altLang="en-US" sz="1900" dirty="0">
                <a:solidFill>
                  <a:srgbClr val="1F2328"/>
                </a:solidFill>
              </a:rPr>
              <a:t>.</a:t>
            </a:r>
            <a:endParaRPr lang="id-ID" sz="1900" dirty="0"/>
          </a:p>
        </p:txBody>
      </p:sp>
      <p:sp>
        <p:nvSpPr>
          <p:cNvPr id="20" name="Shape 12"/>
          <p:cNvSpPr/>
          <p:nvPr/>
        </p:nvSpPr>
        <p:spPr>
          <a:xfrm>
            <a:off x="548640" y="3948170"/>
            <a:ext cx="279667" cy="279667"/>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0167" y="4009696"/>
            <a:ext cx="156613" cy="156613"/>
          </a:xfrm>
          <a:prstGeom prst="rect">
            <a:avLst/>
          </a:prstGeom>
        </p:spPr>
      </p:pic>
      <p:sp>
        <p:nvSpPr>
          <p:cNvPr id="22" name="Text 13"/>
          <p:cNvSpPr txBox="1"/>
          <p:nvPr/>
        </p:nvSpPr>
        <p:spPr>
          <a:xfrm>
            <a:off x="1051560" y="3940810"/>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Java: </a:t>
            </a:r>
            <a:r>
              <a:rPr lang="id-ID" altLang="en-US" sz="1900" dirty="0">
                <a:solidFill>
                  <a:srgbClr val="1F2328"/>
                </a:solidFill>
                <a:latin typeface="Consolas" pitchFamily="34" charset="0"/>
                <a:ea typeface="Consolas" pitchFamily="34" charset="-122"/>
                <a:cs typeface="Consolas" pitchFamily="34" charset="-120"/>
              </a:rPr>
              <a:t>abstract class</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interface</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implements</a:t>
            </a:r>
            <a:r>
              <a:rPr lang="id-ID" altLang="en-US" sz="1900" dirty="0">
                <a:solidFill>
                  <a:srgbClr val="1F2328"/>
                </a:solidFill>
              </a:rPr>
              <a:t>. Python: </a:t>
            </a:r>
            <a:r>
              <a:rPr lang="id-ID" altLang="en-US" sz="1900" dirty="0">
                <a:solidFill>
                  <a:srgbClr val="1F2328"/>
                </a:solidFill>
                <a:latin typeface="Consolas" pitchFamily="34" charset="0"/>
                <a:ea typeface="Consolas" pitchFamily="34" charset="-122"/>
                <a:cs typeface="Consolas" pitchFamily="34" charset="-120"/>
              </a:rPr>
              <a:t>ABC</a:t>
            </a:r>
            <a:r>
              <a:rPr lang="id-ID" altLang="en-US" sz="1900" dirty="0">
                <a:solidFill>
                  <a:srgbClr val="1F2328"/>
                </a:solidFill>
              </a:rPr>
              <a:t> + </a:t>
            </a:r>
            <a:r>
              <a:rPr lang="id-ID" altLang="en-US" sz="1900" dirty="0">
                <a:solidFill>
                  <a:srgbClr val="1F2328"/>
                </a:solidFill>
                <a:latin typeface="Consolas" pitchFamily="34" charset="0"/>
                <a:ea typeface="Consolas" pitchFamily="34" charset="-122"/>
                <a:cs typeface="Consolas" pitchFamily="34" charset="-120"/>
              </a:rPr>
              <a:t>@abstractmethod</a:t>
            </a:r>
            <a:r>
              <a:rPr lang="id-ID" altLang="en-US" sz="1900" dirty="0">
                <a:solidFill>
                  <a:srgbClr val="1F2328"/>
                </a:solidFill>
              </a:rPr>
              <a:t>, atau </a:t>
            </a:r>
            <a:r>
              <a:rPr lang="id-ID" altLang="en-US" sz="1900" dirty="0">
                <a:solidFill>
                  <a:srgbClr val="1F2328"/>
                </a:solidFill>
                <a:latin typeface="Consolas" pitchFamily="34" charset="0"/>
                <a:ea typeface="Consolas" pitchFamily="34" charset="-122"/>
                <a:cs typeface="Consolas" pitchFamily="34" charset="-120"/>
              </a:rPr>
              <a:t>typing.Protocol</a:t>
            </a:r>
            <a:r>
              <a:rPr lang="id-ID" altLang="en-US" sz="1900" dirty="0">
                <a:solidFill>
                  <a:srgbClr val="1F2328"/>
                </a:solidFill>
              </a:rPr>
              <a:t>.</a:t>
            </a:r>
            <a:endParaRPr lang="id-ID" sz="1900" dirty="0"/>
          </a:p>
        </p:txBody>
      </p:sp>
      <p:sp>
        <p:nvSpPr>
          <p:cNvPr id="23" name="Shape 14"/>
          <p:cNvSpPr/>
          <p:nvPr/>
        </p:nvSpPr>
        <p:spPr>
          <a:xfrm>
            <a:off x="548640" y="4738110"/>
            <a:ext cx="279667" cy="279667"/>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0167" y="4799636"/>
            <a:ext cx="156613" cy="156613"/>
          </a:xfrm>
          <a:prstGeom prst="rect">
            <a:avLst/>
          </a:prstGeom>
        </p:spPr>
      </p:pic>
      <p:sp>
        <p:nvSpPr>
          <p:cNvPr id="25" name="Text 15"/>
          <p:cNvSpPr txBox="1"/>
          <p:nvPr/>
        </p:nvSpPr>
        <p:spPr>
          <a:xfrm>
            <a:off x="1051560" y="4730750"/>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KedaiKita: </a:t>
            </a:r>
            <a:r>
              <a:rPr lang="id-ID" altLang="en-US" sz="1900" dirty="0">
                <a:solidFill>
                  <a:srgbClr val="1F2328"/>
                </a:solidFill>
                <a:latin typeface="Consolas" pitchFamily="34" charset="0"/>
                <a:ea typeface="Consolas" pitchFamily="34" charset="-122"/>
                <a:cs typeface="Consolas" pitchFamily="34" charset="-120"/>
              </a:rPr>
              <a:t>Pembayaran</a:t>
            </a:r>
            <a:r>
              <a:rPr lang="id-ID" altLang="en-US" sz="1900" dirty="0">
                <a:solidFill>
                  <a:srgbClr val="1F2328"/>
                </a:solidFill>
              </a:rPr>
              <a:t> kini abstrak dengan </a:t>
            </a:r>
            <a:r>
              <a:rPr lang="id-ID" altLang="en-US" sz="1900" dirty="0">
                <a:solidFill>
                  <a:srgbClr val="1F2328"/>
                </a:solidFill>
                <a:latin typeface="Consolas" pitchFamily="34" charset="0"/>
                <a:ea typeface="Consolas" pitchFamily="34" charset="-122"/>
                <a:cs typeface="Consolas" pitchFamily="34" charset="-120"/>
              </a:rPr>
              <a:t>deskripsi()</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Kedai</a:t>
            </a:r>
            <a:r>
              <a:rPr lang="id-ID" altLang="en-US" sz="1900" dirty="0">
                <a:solidFill>
                  <a:srgbClr val="1F2328"/>
                </a:solidFill>
              </a:rPr>
              <a:t> dan </a:t>
            </a:r>
            <a:r>
              <a:rPr lang="id-ID" altLang="en-US" sz="1900" dirty="0">
                <a:solidFill>
                  <a:srgbClr val="1F2328"/>
                </a:solidFill>
                <a:latin typeface="Consolas" pitchFamily="34" charset="0"/>
                <a:ea typeface="Consolas" pitchFamily="34" charset="-122"/>
                <a:cs typeface="Consolas" pitchFamily="34" charset="-120"/>
              </a:rPr>
              <a:t>Pesanan</a:t>
            </a:r>
            <a:r>
              <a:rPr lang="id-ID" altLang="en-US" sz="1900" dirty="0">
                <a:solidFill>
                  <a:srgbClr val="1F2328"/>
                </a:solidFill>
              </a:rPr>
              <a:t> sama-⁠sama </a:t>
            </a:r>
            <a:r>
              <a:rPr lang="id-ID" altLang="en-US" sz="1900" dirty="0">
                <a:solidFill>
                  <a:srgbClr val="1F2328"/>
                </a:solidFill>
                <a:latin typeface="Consolas" pitchFamily="34" charset="0"/>
                <a:ea typeface="Consolas" pitchFamily="34" charset="-122"/>
                <a:cs typeface="Consolas" pitchFamily="34" charset="-120"/>
              </a:rPr>
              <a:t>DapatDicetak</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di halaman praktik (Python 01⁠—⁠07, Java 01⁠—⁠06 dan 08) serta studi kasus KedaiKita.</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Kerjakan latihan, termasuk Latihan 5: Menu Abstrak, lalu cek pemahamanmu dengan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github.com/antonprafanto/PBO2026/tree/master/Pertemuan-10-Abstract-Class-dan-Interface</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10: Abstract Class dan Interface</dc:title>
  <dc:subject>Pemrograman Berorientasi Objek 2026</dc:subject>
  <dc:creator>PBO 2026 UNMUL</dc:creator>
  <cp:lastModifiedBy>PBO 2026 UNMUL</cp:lastModifiedBy>
  <cp:revision>1</cp:revision>
  <dcterms:created xsi:type="dcterms:W3CDTF">2026-10-15T02:18:34Z</dcterms:created>
  <dcterms:modified xsi:type="dcterms:W3CDTF">2026-10-15T02:18:34Z</dcterms:modified>
</cp:coreProperties>
</file>