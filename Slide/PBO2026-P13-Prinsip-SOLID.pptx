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8dd64c85-c685-e7f7-8f6b-2b489ef1471c}">
          <p14:sldIdLst>
            <p14:sldId id="256"/>
            <p14:sldId id="257"/>
            <p14:sldId id="258"/>
            <p14:sldId id="259"/>
          </p14:sldIdLst>
        </p14:section>
        <p14:section name="Program Benar, tetapi Sulit Diubah" id="{c6d294a0-9c81-9082-0b4a-d929e8a24034}">
          <p14:sldIdLst>
            <p14:sldId id="260"/>
            <p14:sldId id="261"/>
            <p14:sldId id="262"/>
          </p14:sldIdLst>
        </p14:section>
        <p14:section name="S: Satu Kelas, Satu Alasan untuk Berubah" id="{0cba58db-a210-bae5-f136-e17d69dabbde}">
          <p14:sldIdLst>
            <p14:sldId id="263"/>
            <p14:sldId id="264"/>
            <p14:sldId id="265"/>
          </p14:sldIdLst>
        </p14:section>
        <p14:section name="O dan L: Menambah Perilaku tanpa Kejutan" id="{ae5d7f57-bbf3-e7e3-856c-93d2db6f66b1}">
          <p14:sldIdLst>
            <p14:sldId id="266"/>
            <p14:sldId id="267"/>
            <p14:sldId id="268"/>
            <p14:sldId id="269"/>
          </p14:sldIdLst>
        </p14:section>
        <p14:section name="I dan D: Kontrak Kecil dan Abstraksi" id="{f8e19484-1e3a-d07c-643c-6d9a7febf8dd}">
          <p14:sldIdLst>
            <p14:sldId id="270"/>
            <p14:sldId id="271"/>
            <p14:sldId id="272"/>
            <p14:sldId id="273"/>
          </p14:sldIdLst>
        </p14:section>
        <p14:section name="Refactoring dan Prinsip Pendamping" id="{fe5ce77b-ac8f-e981-5cd3-8214603843a7}">
          <p14:sldIdLst>
            <p14:sldId id="274"/>
            <p14:sldId id="275"/>
            <p14:sldId id="276"/>
          </p14:sldIdLst>
        </p14:section>
        <p14:section name="Studi Kasus KedaiKita: Membongkar KasirSerbaBisa" id="{8c0b6a22-f63e-b6d9-f196-32c52c9c1974}">
          <p14:sldIdLst>
            <p14:sldId id="277"/>
            <p14:sldId id="278"/>
            <p14:sldId id="279"/>
            <p14:sldId id="280"/>
          </p14:sldIdLst>
        </p14:section>
        <p14:section name="Cek Pemahaman" id="{98069bcc-d8bd-3f2e-ca04-cfcfed959a79}">
          <p14:sldIdLst>
            <p14:sldId id="281"/>
            <p14:sldId id="282"/>
            <p14:sldId id="283"/>
            <p14:sldId id="284"/>
            <p14:sldId id="285"/>
          </p14:sldIdLst>
        </p14:section>
        <p14:section name="Penutup" id="{1496402d-7d01-14a5-e6d5-03d26d64d325}">
          <p14:sldIdLst>
            <p14:sldId id="286"/>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Selamat datang di Pertemuan 13. Program yang berjalan benar belum tentu mudah diubah. Hari ini kita belajar lima prinsip desain bernama SOLID untuk menilai dan merapikan susunan kelas. Di akhir pertemuan, kita membongkar kelas kasir serba bisa milik KedaiKita menjadi beberapa kelas kecil, tanpa mengubah satu karakter pun pada </a:t>
            </a:r>
            <a:r>
              <a:rPr lang="id-ID" dirty="0" i="1"/>
              <a:t>output</a:t>
            </a:r>
            <a:r>
              <a:rPr lang="id-ID" dirty="0"/>
              <a:t>-nya. Semua materi, kode, latihan, dan kuis pertemuan ini ada di repositori GitHub mata kuliah, di folder Pertemuan-13-Prinsip-SOLID.</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 enam kemampuan yang kita kejar hari ini. Perhatikan bahwa fokusnya bukan lagi sekadar membuat program yang benar, tetapi membuat program yang mudah diubah. Urutan belajarnya sama seperti biasa: konsep di </a:t>
            </a:r>
            <a:r>
              <a:rPr lang="id-ID" dirty="0" i="1"/>
              <a:t>slide</a:t>
            </a:r>
            <a:r>
              <a:rPr lang="id-ID" dirty="0"/>
              <a:t> ini, lalu praktik di halaman Python atau Java, kemudian halaman Jembatan Python ↔ Java, latihan, dan kuis. Di akhir pertemuan, cek lagi satu per satu: sudahkah kamu bisa menjelaskannya dengan kata-katamu sendiri?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Ada dua janji dari Pertemuan 09 yang hari ini kita tepati. Aturan pertama, menambah jenis baru tanpa mengubah kode lama, bernama </a:t>
            </a:r>
            <a:r>
              <a:rPr lang="id-ID" dirty="0" i="1"/>
              <a:t>Open/Closed Principle</a:t>
            </a:r>
            <a:r>
              <a:rPr lang="id-ID" dirty="0"/>
              <a:t>. Aturan kedua, objek anak tidak boleh membuat pemanggil kaget, bernama </a:t>
            </a:r>
            <a:r>
              <a:rPr lang="id-ID" dirty="0" i="1"/>
              <a:t>Liskov Substitution Principle</a:t>
            </a:r>
            <a:r>
              <a:rPr lang="id-ID" dirty="0"/>
              <a:t>. Kontrak dari Pertemuan 10 menjadi alat utama kita. Kebiasaan dari Pertemuan 12, yaitu tipe kontrak di kiri dan wujudnya di kanan, juga akan kita pakai lagi hari ini, di kedua bahasa.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alur kita hari ini. Kita mulai dari tanda-tanda kode yang sulit diubah, lalu mengenal kelima prinsip SOLID satu per satu. Prinsip yang saling berkaitan kita bahas berdampingan: O dengan L, serta I dengan D. Setelah itu kita belajar </a:t>
            </a:r>
            <a:r>
              <a:rPr lang="id-ID" dirty="0" i="1"/>
              <a:t>refactoring</a:t>
            </a:r>
            <a:r>
              <a:rPr lang="id-ID" dirty="0"/>
              <a:t> dan tiga prinsip pendamping. Terakhir, kita membongkar kelas kasir serba bisa milik KedaiKita menjadi beberapa kelas kecil.</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Andi, mahasiswa Informatika Unmul, magang di KedaiKita. Program kasirnya benar, tetapi semuanya dikerjakan satu kelas, </a:t>
            </a:r>
            <a:r>
              <a:rPr lang="en-US" dirty="0">
                <a:latin typeface="Consolas"/>
              </a:rPr>
              <a:t>KasirSerbaBisa</a:t>
            </a:r>
            <a:r>
              <a:rPr lang="id-ID" dirty="0"/>
              <a:t>. Pemilik meminta promo ulang tahun, nomor WhatsApp di struk, dan riwayat yang disimpan ke </a:t>
            </a:r>
            <a:r>
              <a:rPr lang="id-ID" dirty="0" i="1"/>
              <a:t>file</a:t>
            </a:r>
            <a:r>
              <a:rPr lang="id-ID" dirty="0"/>
              <a:t>. Ketiganya memaksa Andi membuka </a:t>
            </a:r>
            <a:r>
              <a:rPr lang="id-ID" dirty="0" i="1"/>
              <a:t>method</a:t>
            </a:r>
            <a:r>
              <a:rPr lang="id-ID" dirty="0"/>
              <a:t> yang sama. Saat menambah promo, format struk ikut rusak, dan Andi pun takut menyentuh kode itu. Programnya tidak salah; masalahnya ada pada desain.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Pernahkah kamu mencium bau aneh dari kulkas? Belum tentu ada makanan basi, tetapi isinya perlu diperiksa. </a:t>
            </a:r>
            <a:r>
              <a:rPr lang="id-ID" dirty="0" i="1"/>
              <a:t>Code smell</a:t>
            </a:r>
            <a:r>
              <a:rPr lang="id-ID" dirty="0"/>
              <a:t> mirip itu: tanda pada kode yang belum tentu salah, tetapi sering menjadi sumber masalah ketika program diubah atau dikembangkan. Kolom kanan menunjukkan prinsip yang biasanya dilanggar; kelimanya akan kita kenal sebentar lagi. Kode Andi tadi termasuk rapuh: menambah promo malah merusak struk.</a:t>
            </a:r>
            <a:endParaRPr lang="id-ID" dirty="0"/>
          </a:p>
          <a:p>
            <a:r>
              <a:rPr lang="id-ID" dirty="0"/>
              <a:t>Pertanyaan untuk kelas: adakah </a:t>
            </a:r>
            <a:r>
              <a:rPr lang="id-ID" dirty="0" i="1"/>
              <a:t>method</a:t>
            </a:r>
            <a:r>
              <a:rPr lang="id-ID" dirty="0"/>
              <a:t> yang panjangnya lebih dari satu layar, atau rumus yang disalin di dua tempat, pada tugas yang pernah kamu kerjakan? Tenang, hampir semua pemrogram pernah menulisnya.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SOLID adalah singkatan dari lima prinsip desain berorientasi objek. Prinsip desain sendiri adalah pedoman menyusun kelas dan hubungan antarkelas agar program mudah dipahami, mudah diubah, dan mudah dikembangkan tanpa merusak bagian lain. Kolom paling kanan bisa kamu pakai sebagai daftar periksa: ajukan pertanyaannya pada kelas yang sedang kamu tulis. Program nyata selalu berubah, misalnya ada promo baru, aturan pajak baru, atau laporan baru. Karena itu, kemampuan membuat kode yang tahan perubahan sama pentingnya dengan kemampuan membuat kode yang benar. Mari kita bahas satu per satu.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Huruf pertama SOLID adalah S. Kita mulai dari pertanyaan sederhana: siapa saja yang bisa meminta sebuah kelas berubah?</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Bayangkan warung makan yang ramai: ada koki yang memasak, kasir yang menerima uang, dan pelayan yang mengantar pesanan. Jika resep berubah, hanya koki yang perlu belajar lagi. Jika harga naik, hanya kasir yang perlu tahu. Kalau satu orang mengerjakan semuanya, setiap perubahan aturan selalu mengganggu orang itu. Pada kelas </a:t>
            </a:r>
            <a:r>
              <a:rPr lang="en-US" dirty="0">
                <a:latin typeface="Consolas"/>
              </a:rPr>
              <a:t>LaporanSerbaBisa</a:t>
            </a:r>
            <a:r>
              <a:rPr lang="id-ID" dirty="0"/>
              <a:t>, permintaan "batas predikat A naik menjadi 85" datang dari aturan akademik, sedangkan "laporan ditampilkan dalam bentuk tabel bergaris" datang dari bagian administrasi. Ingat juga butir terakhir: </a:t>
            </a:r>
            <a:r>
              <a:rPr lang="en-US" dirty="0">
                <a:latin typeface="Consolas"/>
              </a:rPr>
              <a:t>PenghitungNilai</a:t>
            </a:r>
            <a:r>
              <a:rPr lang="id-ID" dirty="0"/>
              <a:t> nanti punya dua </a:t>
            </a:r>
            <a:r>
              <a:rPr lang="id-ID" dirty="0" i="1"/>
              <a:t>method</a:t>
            </a:r>
            <a:r>
              <a:rPr lang="id-ID" dirty="0"/>
              <a:t>, tetapi keduanya melayani satu urusan, yaitu aturan penilaian.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Setelah dipecah, </a:t>
            </a:r>
            <a:r>
              <a:rPr lang="en-US" dirty="0">
                <a:latin typeface="Consolas"/>
              </a:rPr>
              <a:t>PenghitungNilai</a:t>
            </a:r>
            <a:r>
              <a:rPr lang="id-ID" dirty="0"/>
              <a:t> hanya menghitung rata-rata dan predikat, sedangkan </a:t>
            </a:r>
            <a:r>
              <a:rPr lang="en-US" dirty="0">
                <a:latin typeface="Consolas"/>
              </a:rPr>
              <a:t>PencetakLaporan</a:t>
            </a:r>
            <a:r>
              <a:rPr lang="id-ID" dirty="0"/>
              <a:t> hanya menyusun dan mencetak. Pencetak tidak menghitung sendiri; ia meminta hasil hitungan dari ahlinya, yaitu objek penghitung yang diberikan lewat konstruktor. Laporannya tetap sama persis dengan versi lama. Bonusnya, hitungan kini bisa dipakai ulang: di contoh 01 halaman praktik, daftar mahasiswa yang perlu remedial dibuat langsung dari </a:t>
            </a:r>
            <a:r>
              <a:rPr lang="en-US" dirty="0">
                <a:latin typeface="Consolas"/>
              </a:rPr>
              <a:t>PenghitungNilai</a:t>
            </a:r>
            <a:r>
              <a:rPr lang="id-ID" dirty="0"/>
              <a:t>, tanpa ikut mencetak seluruh laporan. Pada versi lama hal itu tidak mungkin karena hitungannya terkunci di dalam perintah cetak.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Dua prinsip ini berpasangan. OCP mengajak kita menambah perilaku lewat kelas baru, sedangkan LSP memastikan kelas-kelas baru itu aman dipakai untuk menggantikan induknya. Keduanya bertumpu pada kontrak dan polimorfisme.</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OCP berarti sebuah modul terbuka untuk ditambah, tetapi tertutup untuk diubah: perilaku baru ditambahkan dengan menulis kode baru, bukan dengan membongkar kode lama yang sudah teruji. Ibaratnya ponsel: fitur baru cukup dipasang sebagai aplikasi, tanpa membongkar </a:t>
            </a:r>
            <a:r>
              <a:rPr lang="id-ID" dirty="0" i="1"/>
              <a:t>casing</a:t>
            </a:r>
            <a:r>
              <a:rPr lang="id-ID" dirty="0"/>
              <a:t>-nya. Versi yang melanggar memilih rumus dengan rantai </a:t>
            </a:r>
            <a:r>
              <a:rPr lang="en-US" dirty="0">
                <a:latin typeface="Consolas"/>
              </a:rPr>
              <a:t>if</a:t>
            </a:r>
            <a:r>
              <a:rPr lang="id-ID" dirty="0"/>
              <a:t>, dan layanan yang belum dikenal diam-diam dianggap gratis. Pada versi ini, menambah layanan Same Day cukup dengan satu kelas baru; tidak ada kode lama yang disentuh. </a:t>
            </a:r>
            <a:r>
              <a:rPr lang="en-US" dirty="0">
                <a:latin typeface="Consolas"/>
              </a:rPr>
              <a:t>KalkulatorOngkir</a:t>
            </a:r>
            <a:r>
              <a:rPr lang="id-ID" dirty="0"/>
              <a:t> hanya mengenal kontrak, jadi tidak perlu tahu ada berapa jenis layanan. Kuncinya abstraksi dan polimorfisme. Memperbaiki </a:t>
            </a:r>
            <a:r>
              <a:rPr lang="id-ID" dirty="0" i="1"/>
              <a:t>bug</a:t>
            </a:r>
            <a:r>
              <a:rPr lang="id-ID" dirty="0"/>
              <a:t> tetap boleh; yang dihindari adalah membongkar kode lama setiap ada tambahan perilaku. Kode lengkapnya adalah contoh 02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LSP berbunyi: objek kelas anak harus bisa dipakai di mana pun objek kelas induk diharapkan, tanpa mengubah kebenaran program dan tanpa membuat pemanggil terkejut. Namanya diambil dari Barbara Liskov, ilmuwan komputer yang merumuskannya. Bayangkan dosen pengganti yang malah membubarkan kelas: ia memang dosen, tetapi mahasiswa tetap terkejut. Kelas induk adalah janji, kelas anak wajib menepatinya. </a:t>
            </a:r>
            <a:r>
              <a:rPr lang="en-US" dirty="0">
                <a:latin typeface="Consolas"/>
              </a:rPr>
              <a:t>Burung</a:t>
            </a:r>
            <a:r>
              <a:rPr lang="id-ID" dirty="0"/>
              <a:t> berjanji bisa terbang, tetapi </a:t>
            </a:r>
            <a:r>
              <a:rPr lang="en-US" dirty="0">
                <a:latin typeface="Consolas"/>
              </a:rPr>
              <a:t>terbang()</a:t>
            </a:r>
            <a:r>
              <a:rPr lang="id-ID" dirty="0"/>
              <a:t> milik </a:t>
            </a:r>
            <a:r>
              <a:rPr lang="en-US" dirty="0">
                <a:latin typeface="Consolas"/>
              </a:rPr>
              <a:t>Penguin</a:t>
            </a:r>
            <a:r>
              <a:rPr lang="id-ID" dirty="0"/>
              <a:t> melempar </a:t>
            </a:r>
            <a:r>
              <a:rPr lang="id-ID" dirty="0" i="1"/>
              <a:t>exception</a:t>
            </a:r>
            <a:r>
              <a:rPr lang="id-ID" dirty="0"/>
              <a:t>, yaitu </a:t>
            </a:r>
            <a:r>
              <a:rPr lang="en-US" dirty="0">
                <a:latin typeface="Consolas"/>
              </a:rPr>
              <a:t>NotImplementedError</a:t>
            </a:r>
            <a:r>
              <a:rPr lang="id-ID" dirty="0"/>
              <a:t> di Python atau </a:t>
            </a:r>
            <a:r>
              <a:rPr lang="en-US" dirty="0">
                <a:latin typeface="Consolas"/>
              </a:rPr>
              <a:t>UnsupportedOperationException</a:t>
            </a:r>
            <a:r>
              <a:rPr lang="id-ID" dirty="0"/>
              <a:t> di Java. Fungsi yang melepas semua burung ke udara pun gagal di tengah jalan. Kode lengkapnya adalah contoh 03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Kejutan tidak selalu berupa </a:t>
            </a:r>
            <a:r>
              <a:rPr lang="id-ID" dirty="0" i="1"/>
              <a:t>error</a:t>
            </a:r>
            <a:r>
              <a:rPr lang="id-ID" dirty="0"/>
              <a:t>. Para ahli merangkum aturan LSP dengan dua istilah. Prasyarat (</a:t>
            </a:r>
            <a:r>
              <a:rPr lang="id-ID" dirty="0" i="1"/>
              <a:t>precondition</a:t>
            </a:r>
            <a:r>
              <a:rPr lang="id-ID" dirty="0"/>
              <a:t>) adalah syarat yang harus dipenuhi pemanggil sebelum memanggil sebuah </a:t>
            </a:r>
            <a:r>
              <a:rPr lang="id-ID" dirty="0" i="1"/>
              <a:t>method</a:t>
            </a:r>
            <a:r>
              <a:rPr lang="id-ID" dirty="0"/>
              <a:t>, misalnya jumlah porsi minimal 1; kelas anak tidak boleh memperketatnya. Jaminan hasil (</a:t>
            </a:r>
            <a:r>
              <a:rPr lang="id-ID" dirty="0" i="1"/>
              <a:t>postcondition</a:t>
            </a:r>
            <a:r>
              <a:rPr lang="id-ID" dirty="0"/>
              <a:t>) adalah janji tentang hasil dan akibat </a:t>
            </a:r>
            <a:r>
              <a:rPr lang="id-ID" dirty="0" i="1"/>
              <a:t>method</a:t>
            </a:r>
            <a:r>
              <a:rPr lang="id-ID" dirty="0"/>
              <a:t> sesudah dipanggil, misalnya potongan tidak pernah negatif; kelas anak tidak boleh memperlemahnya. Di KedaiKita, semua kelas </a:t>
            </a:r>
            <a:r>
              <a:rPr lang="en-US" dirty="0">
                <a:latin typeface="Consolas"/>
              </a:rPr>
              <a:t>Diskon</a:t>
            </a:r>
            <a:r>
              <a:rPr lang="id-ID" dirty="0"/>
              <a:t> berjanji potongannya tidak negatif sehingga bisa saling menggantikan. Ingat: lolos kompilasi atau bisa dijalankan belum berarti memenuhi LSP, karena LSP adalah soal perilaku.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Dua prinsip terakhir sama-sama tentang kontrak. ISP menjaga agar kontrak tetap kecil dan fokus, sedangkan DIP mengatur arah ketergantungan: kelas pengatur dan detail teknis sama-sama bergantung pada kontrak.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ISP berbunyi: jangan memaksa sebuah kelas bergantung pada </a:t>
            </a:r>
            <a:r>
              <a:rPr lang="id-ID" dirty="0" i="1"/>
              <a:t>method</a:t>
            </a:r>
            <a:r>
              <a:rPr lang="id-ID" dirty="0"/>
              <a:t> yang tidak ia butuhkan, baik kelas yang memakai </a:t>
            </a:r>
            <a:r>
              <a:rPr lang="id-ID" dirty="0" i="1"/>
              <a:t>interface</a:t>
            </a:r>
            <a:r>
              <a:rPr lang="id-ID" dirty="0"/>
              <a:t> itu maupun kelas yang mengisinya. Bayangkan </a:t>
            </a:r>
            <a:r>
              <a:rPr lang="id-ID" dirty="0" i="1"/>
              <a:t>remote</a:t>
            </a:r>
            <a:r>
              <a:rPr lang="id-ID" dirty="0"/>
              <a:t> kipas angin yang diwajibkan punya 40 tombol, termasuk tombol ganti saluran TV. Kontrak </a:t>
            </a:r>
            <a:r>
              <a:rPr lang="en-US" dirty="0">
                <a:latin typeface="Consolas"/>
              </a:rPr>
              <a:t>PerangkatKasir</a:t>
            </a:r>
            <a:r>
              <a:rPr lang="id-ID" dirty="0"/>
              <a:t> dulu mewajibkan mencetak struk, memindai </a:t>
            </a:r>
            <a:r>
              <a:rPr lang="id-ID" dirty="0" i="1"/>
              <a:t>barcode</a:t>
            </a:r>
            <a:r>
              <a:rPr lang="id-ID" dirty="0"/>
              <a:t>, dan membuka laci uang sekaligus, sehingga </a:t>
            </a:r>
            <a:r>
              <a:rPr lang="id-ID" dirty="0" i="1"/>
              <a:t>printer</a:t>
            </a:r>
            <a:r>
              <a:rPr lang="id-ID" dirty="0"/>
              <a:t> Bluetooth terpaksa menulis dua </a:t>
            </a:r>
            <a:r>
              <a:rPr lang="id-ID" dirty="0" i="1"/>
              <a:t>method</a:t>
            </a:r>
            <a:r>
              <a:rPr lang="id-ID" dirty="0"/>
              <a:t> palsu yang melempar </a:t>
            </a:r>
            <a:r>
              <a:rPr lang="id-ID" dirty="0" i="1"/>
              <a:t>error</a:t>
            </a:r>
            <a:r>
              <a:rPr lang="id-ID" dirty="0"/>
              <a:t>. </a:t>
            </a:r>
            <a:r>
              <a:rPr lang="id-ID" dirty="0" i="1"/>
              <a:t>Method</a:t>
            </a:r>
            <a:r>
              <a:rPr lang="id-ID" dirty="0"/>
              <a:t> palsu seperti itu juga melanggar LSP. Setelah dipecah, setiap perangkat hanya berjanji sebanyak kemampuannya, dan fungsi yang hanya perlu mencetak cukup meminta </a:t>
            </a:r>
            <a:r>
              <a:rPr lang="en-US" dirty="0">
                <a:latin typeface="Consolas"/>
              </a:rPr>
              <a:t>PencetakStruk</a:t>
            </a:r>
            <a:r>
              <a:rPr lang="id-ID" dirty="0"/>
              <a:t>. Di KedaiKita, </a:t>
            </a:r>
            <a:r>
              <a:rPr lang="en-US" dirty="0">
                <a:latin typeface="Consolas"/>
              </a:rPr>
              <a:t>DapatDicetak</a:t>
            </a:r>
            <a:r>
              <a:rPr lang="id-ID" dirty="0"/>
              <a:t> hanya berisi </a:t>
            </a:r>
            <a:r>
              <a:rPr lang="en-US" dirty="0">
                <a:latin typeface="Consolas"/>
              </a:rPr>
              <a:t>cetak()</a:t>
            </a:r>
            <a:r>
              <a:rPr lang="id-ID" dirty="0"/>
              <a:t>. Kode lengkapnya adalah contoh 04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DIP berbunyi: modul tingkat tinggi, yaitu pengatur alur kerja, tidak boleh bergantung pada modul tingkat rendah, yaitu detail teknis. Keduanya bergantung pada abstraksi. Rumahmu tidak disolder langsung ke kipas angin merek tertentu; rumah menyediakan stopkontak berstandar sehingga alat apa pun bisa dipakai, selama stekernya mengikuti standar. Di KedaiKita, </a:t>
            </a:r>
            <a:r>
              <a:rPr lang="en-US" dirty="0">
                <a:latin typeface="Consolas"/>
              </a:rPr>
              <a:t>Kedai</a:t>
            </a:r>
            <a:r>
              <a:rPr lang="id-ID" dirty="0"/>
              <a:t> adalah pengatur pembuatan pesanan, sedangkan tempat menyimpan pesanan, entah </a:t>
            </a:r>
            <a:r>
              <a:rPr lang="id-ID" dirty="0" i="1"/>
              <a:t>list</a:t>
            </a:r>
            <a:r>
              <a:rPr lang="id-ID" dirty="0"/>
              <a:t> di memori, </a:t>
            </a:r>
            <a:r>
              <a:rPr lang="id-ID" dirty="0" i="1"/>
              <a:t>file</a:t>
            </a:r>
            <a:r>
              <a:rPr lang="id-ID" dirty="0"/>
              <a:t>, atau </a:t>
            </a:r>
            <a:r>
              <a:rPr lang="id-ID" dirty="0" i="1"/>
              <a:t>database</a:t>
            </a:r>
            <a:r>
              <a:rPr lang="id-ID" dirty="0"/>
              <a:t>, adalah detail teknis. Isi kontrak </a:t>
            </a:r>
            <a:r>
              <a:rPr lang="en-US" dirty="0">
                <a:latin typeface="Consolas"/>
              </a:rPr>
              <a:t>PenyimpananPesanan</a:t>
            </a:r>
            <a:r>
              <a:rPr lang="id-ID" dirty="0"/>
              <a:t> ditentukan oleh kebutuhan </a:t>
            </a:r>
            <a:r>
              <a:rPr lang="en-US" dirty="0">
                <a:latin typeface="Consolas"/>
              </a:rPr>
              <a:t>Kedai</a:t>
            </a:r>
            <a:r>
              <a:rPr lang="id-ID" dirty="0"/>
              <a:t>: cukup bisa menyimpan pesanan dan memberikan semuanya kembali. Kontrak sekecil itu sekaligus memenuhi ISP.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Cara paling umum mewujudkan DIP adalah </a:t>
            </a:r>
            <a:r>
              <a:rPr lang="id-ID" dirty="0" i="1"/>
              <a:t>dependency injection</a:t>
            </a:r>
            <a:r>
              <a:rPr lang="id-ID" dirty="0"/>
              <a:t>: objek yang dibutuhkan sebuah kelas diberikan dari luar, biasanya lewat konstruktor, bukan diciptakan sendiri. </a:t>
            </a:r>
            <a:r>
              <a:rPr lang="en-US" dirty="0">
                <a:latin typeface="Consolas"/>
              </a:rPr>
              <a:t>PengingatKaku</a:t>
            </a:r>
            <a:r>
              <a:rPr lang="id-ID" dirty="0"/>
              <a:t> terkunci pada SMS; pindah ke WhatsApp berarti membongkar kelasnya. </a:t>
            </a:r>
            <a:r>
              <a:rPr lang="en-US" dirty="0">
                <a:latin typeface="Consolas"/>
              </a:rPr>
              <a:t>PengingatJadwal</a:t>
            </a:r>
            <a:r>
              <a:rPr lang="id-ID" dirty="0"/>
              <a:t> cukup disuntik </a:t>
            </a:r>
            <a:r>
              <a:rPr lang="en-US" dirty="0">
                <a:latin typeface="Consolas"/>
              </a:rPr>
              <a:t>PengirimSms</a:t>
            </a:r>
            <a:r>
              <a:rPr lang="id-ID" dirty="0"/>
              <a:t>, </a:t>
            </a:r>
            <a:r>
              <a:rPr lang="en-US" dirty="0">
                <a:latin typeface="Consolas"/>
              </a:rPr>
              <a:t>PengirimWhatsApp</a:t>
            </a:r>
            <a:r>
              <a:rPr lang="id-ID" dirty="0"/>
              <a:t>, atau </a:t>
            </a:r>
            <a:r>
              <a:rPr lang="en-US" dirty="0">
                <a:latin typeface="Consolas"/>
              </a:rPr>
              <a:t>PengirimTiruan</a:t>
            </a:r>
            <a:r>
              <a:rPr lang="id-ID" dirty="0"/>
              <a:t> yang hanya mencatat pesan untuk pengujian. Penciptaan objek konkret dikumpulkan di program utama, si tukang rakit. Hati-hati: DIP adalah prinsip, sedangkan </a:t>
            </a:r>
            <a:r>
              <a:rPr lang="id-ID" dirty="0" i="1"/>
              <a:t>dependency injection</a:t>
            </a:r>
            <a:r>
              <a:rPr lang="id-ID" dirty="0"/>
              <a:t> adalah teknik. Jika tipe parameternya kelas konkret, kelas itu tetap terikat pada detail. Di Java, objek yang tidak memenuhi kontrak ditolak </a:t>
            </a:r>
            <a:r>
              <a:rPr lang="id-ID" dirty="0" i="1"/>
              <a:t>compiler</a:t>
            </a:r>
            <a:r>
              <a:rPr lang="id-ID" dirty="0"/>
              <a:t>; di Python, </a:t>
            </a:r>
            <a:r>
              <a:rPr lang="id-ID" dirty="0" i="1"/>
              <a:t>error</a:t>
            </a:r>
            <a:r>
              <a:rPr lang="id-ID" dirty="0"/>
              <a:t> baru muncul saat </a:t>
            </a:r>
            <a:r>
              <a:rPr lang="id-ID" dirty="0" i="1"/>
              <a:t>method</a:t>
            </a:r>
            <a:r>
              <a:rPr lang="id-ID" dirty="0"/>
              <a:t> yang hilang dipanggil. Kode lengkapnya adalah contoh 05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Sekarang kita tahu ke arah mana kode sebaiknya dirapikan. Pertanyaan berikutnya: bagaimana merapikannya tanpa merusak program yang sudah berjalan? Lalu, kapan prinsip-prinsip ini justru tidak perlu diterapkan?</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Merapikan kamar kos berarti memindahkan baju ke lemari dan buku ke rak. Tidak ada barang yang dibuang atau ditambah, hanya letaknya yang berubah. Begitu juga </a:t>
            </a:r>
            <a:r>
              <a:rPr lang="id-ID" dirty="0" i="1"/>
              <a:t>refactoring</a:t>
            </a:r>
            <a:r>
              <a:rPr lang="id-ID" dirty="0"/>
              <a:t>. Kata kuncinya adalah membuktikan: simpan </a:t>
            </a:r>
            <a:r>
              <a:rPr lang="id-ID" dirty="0" i="1"/>
              <a:t>output</a:t>
            </a:r>
            <a:r>
              <a:rPr lang="id-ID" dirty="0"/>
              <a:t> versi lama ke </a:t>
            </a:r>
            <a:r>
              <a:rPr lang="id-ID" dirty="0" i="1"/>
              <a:t>file</a:t>
            </a:r>
            <a:r>
              <a:rPr lang="id-ID" dirty="0"/>
              <a:t>, ubah satu hal kecil, jalankan lagi dan simpan </a:t>
            </a:r>
            <a:r>
              <a:rPr lang="id-ID" dirty="0" i="1"/>
              <a:t>output</a:t>
            </a:r>
            <a:r>
              <a:rPr lang="id-ID" dirty="0"/>
              <a:t> versi baru, lalu bandingkan dengan </a:t>
            </a:r>
            <a:r>
              <a:rPr lang="en-US" dirty="0">
                <a:latin typeface="Consolas"/>
              </a:rPr>
              <a:t>diff</a:t>
            </a:r>
            <a:r>
              <a:rPr lang="id-ID" dirty="0"/>
              <a:t> atau </a:t>
            </a:r>
            <a:r>
              <a:rPr lang="en-US" dirty="0">
                <a:latin typeface="Consolas"/>
              </a:rPr>
              <a:t>fc</a:t>
            </a:r>
            <a:r>
              <a:rPr lang="id-ID" dirty="0"/>
              <a:t>. </a:t>
            </a:r>
            <a:r>
              <a:rPr lang="id-ID" dirty="0" i="1"/>
              <a:t>Output</a:t>
            </a:r>
            <a:r>
              <a:rPr lang="id-ID" dirty="0"/>
              <a:t> disimpan ke </a:t>
            </a:r>
            <a:r>
              <a:rPr lang="id-ID" dirty="0" i="1"/>
              <a:t>file</a:t>
            </a:r>
            <a:r>
              <a:rPr lang="id-ID" dirty="0"/>
              <a:t> dengan tanda </a:t>
            </a:r>
            <a:r>
              <a:rPr lang="en-US" dirty="0">
                <a:latin typeface="Consolas"/>
              </a:rPr>
              <a:t>&gt;</a:t>
            </a:r>
            <a:r>
              <a:rPr lang="id-ID" dirty="0"/>
              <a:t>, misalnya </a:t>
            </a:r>
            <a:r>
              <a:rPr lang="en-US" dirty="0">
                <a:latin typeface="Consolas"/>
              </a:rPr>
              <a:t>python main.py &gt; hasil_sesudah.txt</a:t>
            </a:r>
            <a:r>
              <a:rPr lang="id-ID" dirty="0"/>
              <a:t> atau </a:t>
            </a:r>
            <a:r>
              <a:rPr lang="en-US" dirty="0">
                <a:latin typeface="Consolas"/>
              </a:rPr>
              <a:t>java Main &gt; hasil_sesudah.txt</a:t>
            </a:r>
            <a:r>
              <a:rPr lang="id-ID" dirty="0"/>
              <a:t>. Jika hasilnya berbeda, perbaiki atau batalkan perubahan terakhir. Ingat, membandingkan </a:t>
            </a:r>
            <a:r>
              <a:rPr lang="id-ID" dirty="0" i="1"/>
              <a:t>output</a:t>
            </a:r>
            <a:r>
              <a:rPr lang="id-ID" dirty="0"/>
              <a:t> hanya membuktikan skenario yang dijalankan. Cara menguji yang lebih otomatis, yaitu </a:t>
            </a:r>
            <a:r>
              <a:rPr lang="id-ID" dirty="0" i="1"/>
              <a:t>unit test</a:t>
            </a:r>
            <a:r>
              <a:rPr lang="id-ID" dirty="0"/>
              <a:t>, kita pelajari di Pertemuan 15.</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Jika rumus denda tertulis di tiga tempat lalu tarifnya naik, kamu harus ingat mengubah ketiganya; lupa satu saja, denda untuk kasus yang sama jadi berbeda. Contoh 06 di halaman praktik me-</a:t>
            </a:r>
            <a:r>
              <a:rPr lang="id-ID" dirty="0" i="1"/>
              <a:t>refactor</a:t>
            </a:r>
            <a:r>
              <a:rPr lang="id-ID" dirty="0"/>
              <a:t> rumus denda seperti itu, lalu membuktikan hasilnya tetap sama untuk banyak kasus. Namun, prinsip-prinsip ini kadang tarik-menarik: menghapus duplikasi terlalu dini bisa melahirkan abstraksi rumit yang melanggar KISS. Patokannya: biarkan kode mirip muncul dua kali, lalu satukan saat muncul ketiga kalinya. SOLID pun hanya alat untuk mengelola perubahan. Di KedaiKita, diskon dibuat abstraksi karena promo sering berganti, sedangkan </a:t>
            </a:r>
            <a:r>
              <a:rPr lang="en-US" dirty="0">
                <a:latin typeface="Consolas"/>
              </a:rPr>
              <a:t>StrukPesanan</a:t>
            </a:r>
            <a:r>
              <a:rPr lang="id-ID" dirty="0"/>
              <a:t> dibiarkan kelas konkret biasa karena format struk baru satu.</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Sekarang kita kembali ke kasir Andi. Pertemuan ini punya dua versi studi kasus. Versi sebelum berisi satu kelas serba bisa. Versi sesudah adalah hasil </a:t>
            </a:r>
            <a:r>
              <a:rPr lang="id-ID" dirty="0" i="1"/>
              <a:t>refactoring</a:t>
            </a:r>
            <a:r>
              <a:rPr lang="id-ID" dirty="0"/>
              <a:t> dengan prinsip SOLID, memakai kelas-kelas KedaiKita dari Pertemuan 12 yang dirapikan dan ditambah beberapa kelas baru. </a:t>
            </a:r>
            <a:r>
              <a:rPr lang="id-ID" dirty="0" i="1"/>
              <a:t>Output</a:t>
            </a:r>
            <a:r>
              <a:rPr lang="id-ID" dirty="0"/>
              <a:t> keduanya sama persis.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Kedua versi menjalankan skenario yang sama: tiga pesanan, lalu riwayat penjualan. Budi Santoso memesan 2 Kopi Susu Gula Aren dan 1 Nasi Goreng Kampung tanpa diskon. Siti Aminah, pelanggan lama dengan 12 poin, memesan 2 Es Teh Manis dan 1 Pisang Goreng Keju dengan diskon member 10%. Rina Marlina memesan 1 Kopi Susu Gula Aren dan 1 Mie Goreng Jawa dengan promo 15%. </a:t>
            </a:r>
            <a:r>
              <a:rPr lang="en-US" dirty="0">
                <a:latin typeface="Consolas"/>
              </a:rPr>
              <a:t>KasirSerbaBisa</a:t>
            </a:r>
            <a:r>
              <a:rPr lang="id-ID" dirty="0"/>
              <a:t> memikul semua tugas itu di dalam satu </a:t>
            </a:r>
            <a:r>
              <a:rPr lang="id-ID" dirty="0" i="1"/>
              <a:t>method</a:t>
            </a:r>
            <a:r>
              <a:rPr lang="id-ID" dirty="0"/>
              <a:t>. Setelah </a:t>
            </a:r>
            <a:r>
              <a:rPr lang="id-ID" dirty="0" i="1"/>
              <a:t>refactoring</a:t>
            </a:r>
            <a:r>
              <a:rPr lang="id-ID" dirty="0"/>
              <a:t>, setiap tugas punya rumah sendiri, seperti terlihat di tabel. Perhatikan kolom kanan: satu perbaikan sering memenuhi dua prinsip sekaligus.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a:t>
            </a:r>
            <a:r>
              <a:rPr lang="id-ID" dirty="0" i="1"/>
              <a:t>method</a:t>
            </a:r>
            <a:r>
              <a:rPr lang="id-ID" dirty="0"/>
              <a:t> yang ditakuti Andi. Di dalam satu </a:t>
            </a:r>
            <a:r>
              <a:rPr lang="id-ID" dirty="0" i="1"/>
              <a:t>method</a:t>
            </a:r>
            <a:r>
              <a:rPr lang="id-ID" dirty="0"/>
              <a:t>, kasir mengambil data menu, menjumlahkan subtotal, memilih diskon dengan rantai </a:t>
            </a:r>
            <a:r>
              <a:rPr lang="en-US" dirty="0">
                <a:latin typeface="Consolas"/>
              </a:rPr>
              <a:t>if</a:t>
            </a:r>
            <a:r>
              <a:rPr lang="id-ID" dirty="0"/>
              <a:t>, mencetak struk, lalu menyimpan riwayat. Yang tampil hanya potongannya karena </a:t>
            </a:r>
            <a:r>
              <a:rPr lang="id-ID" dirty="0" i="1"/>
              <a:t>method</a:t>
            </a:r>
            <a:r>
              <a:rPr lang="id-ID" dirty="0"/>
              <a:t> aslinya jauh lebih panjang; di sisi Java, baris di bawah komentar Tugas 4 menambahkan catatan baru ke </a:t>
            </a:r>
            <a:r>
              <a:rPr lang="en-US" dirty="0">
                <a:latin typeface="Consolas"/>
              </a:rPr>
              <a:t>riwayat</a:t>
            </a:r>
            <a:r>
              <a:rPr lang="id-ID" dirty="0"/>
              <a:t>. Sekarang ingat tiga permintaan pemilik: promo ulang tahun menyentuh rantai </a:t>
            </a:r>
            <a:r>
              <a:rPr lang="en-US" dirty="0">
                <a:latin typeface="Consolas"/>
              </a:rPr>
              <a:t>if</a:t>
            </a:r>
            <a:r>
              <a:rPr lang="id-ID" dirty="0"/>
              <a:t> diskon, nomor WhatsApp menyentuh bagian cetak, dan riwayat ke </a:t>
            </a:r>
            <a:r>
              <a:rPr lang="id-ID" dirty="0" i="1"/>
              <a:t>file</a:t>
            </a:r>
            <a:r>
              <a:rPr lang="id-ID" dirty="0"/>
              <a:t> menyentuh bagian menyimpan. Semuanya membongkar </a:t>
            </a:r>
            <a:r>
              <a:rPr lang="id-ID" dirty="0" i="1"/>
              <a:t>method</a:t>
            </a:r>
            <a:r>
              <a:rPr lang="id-ID" dirty="0"/>
              <a:t> yang sama.</a:t>
            </a:r>
            <a:endParaRPr lang="id-ID" dirty="0"/>
          </a:p>
          <a:p>
            <a:r>
              <a:rPr lang="id-ID" dirty="0"/>
              <a:t>Pertanyaan untuk kelas: </a:t>
            </a:r>
            <a:r>
              <a:rPr lang="id-ID" dirty="0" i="1"/>
              <a:t>code smell</a:t>
            </a:r>
            <a:r>
              <a:rPr lang="id-ID" dirty="0"/>
              <a:t> apa saja yang kamu temukan di sini? Jawabannya: kelas serba bisa dan rantai percabangan jenis.</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Bandingkan dengan </a:t>
            </a:r>
            <a:r>
              <a:rPr lang="id-ID" dirty="0" i="1"/>
              <a:t>slide</a:t>
            </a:r>
            <a:r>
              <a:rPr lang="id-ID" dirty="0"/>
              <a:t> sebelumnya. Baris pertama berasal dari fungsi </a:t>
            </a:r>
            <a:r>
              <a:rPr lang="en-US" dirty="0">
                <a:latin typeface="Consolas"/>
              </a:rPr>
              <a:t>siapkan_kedai()</a:t>
            </a:r>
            <a:r>
              <a:rPr lang="id-ID" dirty="0"/>
              <a:t>/</a:t>
            </a:r>
            <a:r>
              <a:rPr lang="en-US" dirty="0">
                <a:latin typeface="Consolas"/>
              </a:rPr>
              <a:t>siapkanKedai()</a:t>
            </a:r>
            <a:r>
              <a:rPr lang="id-ID" dirty="0"/>
              <a:t>, sisanya dari </a:t>
            </a:r>
            <a:r>
              <a:rPr lang="en-US" dirty="0">
                <a:latin typeface="Consolas"/>
              </a:rPr>
              <a:t>proses_pesanan()</a:t>
            </a:r>
            <a:r>
              <a:rPr lang="id-ID" dirty="0"/>
              <a:t>/</a:t>
            </a:r>
            <a:r>
              <a:rPr lang="en-US" dirty="0">
                <a:latin typeface="Consolas"/>
              </a:rPr>
              <a:t>prosesPesanan()</a:t>
            </a:r>
            <a:r>
              <a:rPr lang="id-ID" dirty="0"/>
              <a:t>. Program utama kini hanya merakit dan menyuruh. </a:t>
            </a:r>
            <a:r>
              <a:rPr lang="en-US" dirty="0">
                <a:latin typeface="Consolas"/>
              </a:rPr>
              <a:t>Kedai</a:t>
            </a:r>
            <a:r>
              <a:rPr lang="id-ID" dirty="0"/>
              <a:t> menerima penyimpanan dari luar (DIP), lalu pesanan yang dibuatnya disimpan ke sana. Diskon diserahkan ke objek </a:t>
            </a:r>
            <a:r>
              <a:rPr lang="en-US" dirty="0">
                <a:latin typeface="Consolas"/>
              </a:rPr>
              <a:t>Diskon</a:t>
            </a:r>
            <a:r>
              <a:rPr lang="id-ID" dirty="0"/>
              <a:t>, yaitu </a:t>
            </a:r>
            <a:r>
              <a:rPr lang="en-US" dirty="0">
                <a:latin typeface="Consolas"/>
              </a:rPr>
              <a:t>TanpaDiskon()</a:t>
            </a:r>
            <a:r>
              <a:rPr lang="id-ID" dirty="0"/>
              <a:t>, </a:t>
            </a:r>
            <a:r>
              <a:rPr lang="en-US" dirty="0">
                <a:latin typeface="Consolas"/>
              </a:rPr>
              <a:t>DiskonMember()</a:t>
            </a:r>
            <a:r>
              <a:rPr lang="id-ID" dirty="0"/>
              <a:t>, atau </a:t>
            </a:r>
            <a:r>
              <a:rPr lang="en-US" dirty="0">
                <a:latin typeface="Consolas"/>
              </a:rPr>
              <a:t>DiskonPersen(15)</a:t>
            </a:r>
            <a:r>
              <a:rPr lang="id-ID" dirty="0"/>
              <a:t>, sehingga promo baru cukup menjadi kelas baru (OCP) asalkan potongannya tidak negatif (LSP). Struk disusun oleh </a:t>
            </a:r>
            <a:r>
              <a:rPr lang="en-US" dirty="0">
                <a:latin typeface="Consolas"/>
              </a:rPr>
              <a:t>StrukPesanan</a:t>
            </a:r>
            <a:r>
              <a:rPr lang="id-ID" dirty="0"/>
              <a:t> (SRP). Struk Budi tidak punya baris Diskon karena potongannya nol, dan aturan itu ikut dipertahankan. Inilah arti perilaku tidak berubah: bukan hanya totalnya, tetapi setiap karakter </a:t>
            </a:r>
            <a:r>
              <a:rPr lang="id-ID" dirty="0" i="1"/>
              <a:t>output</a:t>
            </a:r>
            <a:r>
              <a:rPr lang="id-ID" dirty="0"/>
              <a:t>-nya. Cara membuktikannya dengan </a:t>
            </a:r>
            <a:r>
              <a:rPr lang="en-US" dirty="0">
                <a:latin typeface="Consolas"/>
              </a:rPr>
              <a:t>diff</a:t>
            </a:r>
            <a:r>
              <a:rPr lang="id-ID" dirty="0"/>
              <a:t> atau </a:t>
            </a:r>
            <a:r>
              <a:rPr lang="en-US" dirty="0">
                <a:latin typeface="Consolas"/>
              </a:rPr>
              <a:t>fc</a:t>
            </a:r>
            <a:r>
              <a:rPr lang="id-ID" dirty="0"/>
              <a:t> ada di halaman praktik.</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Tiga anggapan keliru ini paling sering muncul saat pertama kali belajar SOLID. Ajak kelas menebak dulu: mengapa anggapan di kiri salah? Lima miskonsepsi lainnya, misalnya OCP berarti kode lama tidak boleh disentuh sama sekali dan </a:t>
            </a:r>
            <a:r>
              <a:rPr lang="id-ID" dirty="0" i="1"/>
              <a:t>refactoring</a:t>
            </a:r>
            <a:r>
              <a:rPr lang="id-ID" dirty="0"/>
              <a:t> sama dengan menulis ulang program sambil memperbaiki </a:t>
            </a:r>
            <a:r>
              <a:rPr lang="id-ID" dirty="0" i="1"/>
              <a:t>bug</a:t>
            </a:r>
            <a:r>
              <a:rPr lang="id-ID" dirty="0"/>
              <a:t>, dibahas di bagian 13 halaman konsep.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Beri waktu sekitar 30 detik untuk berpikir, lalu minta mahasiswa mengangkat tangan sesuai pilihannya. Perhatikan pilihan B: isi kosong memang menghilangkan </a:t>
            </a:r>
            <a:r>
              <a:rPr lang="id-ID" dirty="0" i="1"/>
              <a:t>error</a:t>
            </a:r>
            <a:r>
              <a:rPr lang="id-ID" dirty="0"/>
              <a:t>, tetapi apakah perangkat itu menepati janjinya? Jawaban dan pembahasannya ada di </a:t>
            </a:r>
            <a:r>
              <a:rPr lang="id-ID" dirty="0" i="1"/>
              <a:t>slide</a:t>
            </a:r>
            <a:r>
              <a:rPr lang="id-ID" dirty="0"/>
              <a:t> berikutnya. Kuis lengkap berisi 10 soal ada di </a:t>
            </a:r>
            <a:r>
              <a:rPr lang="id-ID" dirty="0" i="1"/>
              <a:t>file</a:t>
            </a:r>
            <a:r>
              <a:rPr lang="id-ID" dirty="0"/>
              <a:t> kuis.md pada folder pertemuan ini.</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A. ISP meminta </a:t>
            </a:r>
            <a:r>
              <a:rPr lang="id-ID" dirty="0" i="1"/>
              <a:t>interface</a:t>
            </a:r>
            <a:r>
              <a:rPr lang="id-ID" dirty="0"/>
              <a:t> kecil yang fokus sehingga setiap perangkat hanya berjanji sebanyak kemampuannya. Pilihan B menyembunyikan masalah: pemanggil mengira pemindaian berhasil padahal tidak terjadi apa-apa (tetap melanggar LSP). Pilihan C memperparah kontrak gemuk, dan pilihan D kembali ke rantai percabangan yang melanggar OCP.</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Ingat cerita Andi: permintaan nomor WhatsApp dulu memaksanya membongkar </a:t>
            </a:r>
            <a:r>
              <a:rPr lang="id-ID" dirty="0" i="1"/>
              <a:t>method</a:t>
            </a:r>
            <a:r>
              <a:rPr lang="id-ID" dirty="0"/>
              <a:t> proses pesanan yang juga menghitung diskon dan menyimpan riwayat. Setelah </a:t>
            </a:r>
            <a:r>
              <a:rPr lang="id-ID" dirty="0" i="1"/>
              <a:t>refactoring</a:t>
            </a:r>
            <a:r>
              <a:rPr lang="id-ID" dirty="0"/>
              <a:t>, di mana perubahan itu cukup dilakukan? Beri waktu sejenak untuk berpikir, lalu tampilkan jawabannya di </a:t>
            </a:r>
            <a:r>
              <a:rPr lang="id-ID" dirty="0" i="1"/>
              <a:t>slide</a:t>
            </a:r>
            <a:r>
              <a:rPr lang="id-ID" dirty="0"/>
              <a:t> berikutnya.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Jawaban: B. Menyusun dan mencetak struk adalah satu-satunya urusan </a:t>
            </a:r>
            <a:r>
              <a:rPr lang="en-US" dirty="0">
                <a:latin typeface="Consolas"/>
              </a:rPr>
              <a:t>StrukPesanan</a:t>
            </a:r>
            <a:r>
              <a:rPr lang="id-ID" dirty="0"/>
              <a:t> (SRP). </a:t>
            </a:r>
            <a:r>
              <a:rPr lang="en-US" dirty="0">
                <a:latin typeface="Consolas"/>
              </a:rPr>
              <a:t>Pesanan</a:t>
            </a:r>
            <a:r>
              <a:rPr lang="id-ID" dirty="0"/>
              <a:t> hanya mengurus item dan perhitungan, </a:t>
            </a:r>
            <a:r>
              <a:rPr lang="en-US" dirty="0">
                <a:latin typeface="Consolas"/>
              </a:rPr>
              <a:t>Diskon</a:t>
            </a:r>
            <a:r>
              <a:rPr lang="id-ID" dirty="0"/>
              <a:t> hanya mengurus potongan, dan </a:t>
            </a:r>
            <a:r>
              <a:rPr lang="en-US" dirty="0">
                <a:latin typeface="Consolas"/>
              </a:rPr>
              <a:t>Kedai</a:t>
            </a:r>
            <a:r>
              <a:rPr lang="id-ID" dirty="0"/>
              <a:t> mengurus menu serta pembuatan pesanan. Inilah manfaat SRP: kamu langsung tahu harus membuka </a:t>
            </a:r>
            <a:r>
              <a:rPr lang="id-ID" dirty="0" i="1"/>
              <a:t>file</a:t>
            </a:r>
            <a:r>
              <a:rPr lang="id-ID" dirty="0"/>
              <a:t> yang mana.</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Inilah tujuh hal yang perlu kamu bawa pulang hari ini. Untuk DIP, cara yang paling umum adalah </a:t>
            </a:r>
            <a:r>
              <a:rPr lang="id-ID" dirty="0" i="1"/>
              <a:t>dependency injection</a:t>
            </a:r>
            <a:r>
              <a:rPr lang="id-ID" dirty="0"/>
              <a:t> lewat konstruktor dengan parameter bertipe abstrak, dengan program utama sebagai tempat perakitan. Kalau ada yang masih samar, baca lagi bagian yang sesuai di halaman konsep, lalu jalankan contohnya di halaman praktik. Pertemuan berikutnya kita masuk ke </a:t>
            </a:r>
            <a:r>
              <a:rPr lang="id-ID" dirty="0" i="1"/>
              <a:t>design pattern</a:t>
            </a:r>
            <a:r>
              <a:rPr lang="id-ID" dirty="0"/>
              <a:t>.</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d-ID" dirty="0"/>
              <a:t>Semua bahan pertemuan ini ada di folder Pertemuan-13-Prinsip-SOLID di GitHub. Mulailah dari halaman praktik sesuai jalurmu, Python atau Java. Simpan semua percobaanmu di folder PBO-latihan-saya/pertemuan-13, bukan di folder materi, agar tidak tertimpa saat materi diperbarui. Langkah membandingkan </a:t>
            </a:r>
            <a:r>
              <a:rPr lang="id-ID" dirty="0" i="1"/>
              <a:t>output</a:t>
            </a:r>
            <a:r>
              <a:rPr lang="id-ID" dirty="0"/>
              <a:t> versi sebelum dan sesudah ada di bagian studi kasus halaman praktik. Sampai jumpa di Pertemuan 14.</a:t>
            </a:r>
            <a:endParaRPr lang="id-ID"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00200"/>
            <a:ext cx="7589520" cy="182880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697480" y="2377440"/>
            <a:ext cx="8778240" cy="960120"/>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13 · Prinsip SOLID</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0A3069"/>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57606A"/>
                </a:solidFill>
              </a:rPr>
              <a:t>PBO 2026 · Pertemuan 13 · Prinsip SOLID</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LAP">
    <p:bg>
      <p:bgPr>
        <a:solidFill>
          <a:srgbClr val="0A306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261872" y="384048"/>
            <a:ext cx="10378440" cy="713232"/>
          </a:xfrm>
          <a:prstGeom prst="rect">
            <a:avLst/>
          </a:prstGeom>
          <a:noFill/>
          <a:ln/>
        </p:spPr>
        <p:txBody>
          <a:bodyPr wrap="square" rtlCol="0"/>
          <a:lstStyle>
            <a:lvl1pPr algn="l" indent="0" marL="0">
              <a:buNone/>
              <a:defRPr lang="en-US" b="1" dirty="0">
                <a:solidFill>
                  <a:srgbClr val="FFFFFF"/>
                </a:solidFill>
              </a:defRPr>
            </a:lvl1pPr>
          </a:lstStyle>
          <a:p>
            <a:pPr algn="l" indent="0" marL="0">
              <a:buNone/>
            </a:pPr>
            <a:endParaRPr lang="en-US"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FB3C8"/>
                </a:solidFill>
              </a:rPr>
              <a:t>PBO 2026 · Pertemuan 13 · Prinsip SOLID</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1.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6-3.png"/><Relationship Id="rId3" Type="http://schemas.openxmlformats.org/officeDocument/2006/relationships/image" Target="../media/image-26-3.png"/><Relationship Id="rId4" Type="http://schemas.openxmlformats.org/officeDocument/2006/relationships/image" Target="../media/image-26-3.png"/><Relationship Id="rId5" Type="http://schemas.openxmlformats.org/officeDocument/2006/relationships/image" Target="../media/image-26-3.png"/><Relationship Id="rId6" Type="http://schemas.openxmlformats.org/officeDocument/2006/relationships/image" Target="../media/image-26-3.png"/><Relationship Id="rId7" Type="http://schemas.openxmlformats.org/officeDocument/2006/relationships/image" Target="../media/image-26-3.png"/><Relationship Id="rId8" Type="http://schemas.openxmlformats.org/officeDocument/2006/relationships/image" Target="../media/image-26-3.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antonprafanto/PBO2026/blob/master/Pertemuan-13-Prinsip-SOLID/README.md" TargetMode="External"/><Relationship Id="rId5" Type="http://schemas.openxmlformats.org/officeDocument/2006/relationships/hyperlink" Target="https://github.com/antonprafanto/PBO2026/blob/master/Pertemuan-13-Prinsip-SOLID/python/README.md" TargetMode="External"/><Relationship Id="rId7" Type="http://schemas.openxmlformats.org/officeDocument/2006/relationships/hyperlink" Target="https://github.com/antonprafanto/PBO2026/blob/master/Pertemuan-13-Prinsip-SOLID/java/README.md" TargetMode="External"/><Relationship Id="rId9" Type="http://schemas.openxmlformats.org/officeDocument/2006/relationships/hyperlink" Target="https://github.com/antonprafanto/PBO2026/blob/master/Pertemuan-13-Prinsip-SOLID/jembatan-python-java.md" TargetMode="External"/><Relationship Id="rId11" Type="http://schemas.openxmlformats.org/officeDocument/2006/relationships/hyperlink" Target="https://github.com/antonprafanto/PBO2026/blob/master/Pertemuan-13-Prinsip-SOLID/latihan.md" TargetMode="External"/><Relationship Id="rId13" Type="http://schemas.openxmlformats.org/officeDocument/2006/relationships/hyperlink" Target="https://github.com/antonprafanto/PBO2026/blob/master/Pertemuan-13-Prinsip-SOLID/kuis.md" TargetMode="External"/><Relationship Id="rId15" Type="http://schemas.openxmlformats.org/officeDocument/2006/relationships/hyperlink" Target="https://github.com/antonprafanto/PBO2026/tree/master/Pertemuan-13-Prinsip-SOLID" TargetMode="External"/><Relationship Id="rId1" Type="http://schemas.openxmlformats.org/officeDocument/2006/relationships/image" Target="../media/image-32-1.png"/><Relationship Id="rId2" Type="http://schemas.openxmlformats.org/officeDocument/2006/relationships/image" Target="../media/image-32-2.png"/><Relationship Id="rId4" Type="http://schemas.openxmlformats.org/officeDocument/2006/relationships/image" Target="../media/image-32-3.png"/><Relationship Id="rId6" Type="http://schemas.openxmlformats.org/officeDocument/2006/relationships/image" Target="../media/image-32-3.png"/><Relationship Id="rId8" Type="http://schemas.openxmlformats.org/officeDocument/2006/relationships/image" Target="../media/image-32-5.png"/><Relationship Id="rId10" Type="http://schemas.openxmlformats.org/officeDocument/2006/relationships/image" Target="../media/image-32-6.png"/><Relationship Id="rId12" Type="http://schemas.openxmlformats.org/officeDocument/2006/relationships/image" Target="../media/image-32-7.png"/><Relationship Id="rId14" Type="http://schemas.openxmlformats.org/officeDocument/2006/relationships/image" Target="../media/image-32-8.png"/><Relationship Id="rId16" Type="http://schemas.openxmlformats.org/officeDocument/2006/relationships/slideLayout" Target="../slideLayouts/slideLayout5.xml"/><Relationship Id="rId17"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97280"/>
            <a:ext cx="7680960" cy="365760"/>
          </a:xfrm>
          <a:prstGeom prst="rect">
            <a:avLst/>
          </a:prstGeom>
          <a:noFill/>
          <a:ln/>
        </p:spPr>
        <p:txBody>
          <a:bodyPr wrap="square" lIns="0" tIns="0" rIns="0" bIns="0" rtlCol="0" anchor="t"/>
          <a:lstStyle/>
          <a:p>
            <a:pPr indent="0" marL="0">
              <a:buNone/>
            </a:pPr>
            <a:r>
              <a:rPr lang="id-ID" altLang="en-US" sz="1500" b="1" spc="200" kern="0" dirty="0">
                <a:solidFill>
                  <a:srgbClr val="54AEFF"/>
                </a:solidFill>
              </a:rPr>
              <a:t>PEMROGRAMAN BERORIENTASI OBJEK 2026</a:t>
            </a:r>
            <a:endParaRPr lang="id-ID" sz="1500" dirty="0"/>
          </a:p>
        </p:txBody>
      </p:sp>
      <p:sp>
        <p:nvSpPr>
          <p:cNvPr id="3" name="Text 0"/>
          <p:cNvSpPr/>
          <p:nvPr>
            <p:ph idx="100" type="title" hasCustomPrompt="1"/>
          </p:nvPr>
        </p:nvSpPr>
        <p:spPr>
          <a:xfrm>
            <a:off x="731520" y="1600200"/>
            <a:ext cx="7589520" cy="1828800"/>
          </a:xfrm>
          <a:prstGeom prst="rect">
            <a:avLst/>
          </a:prstGeom>
          <a:noFill/>
          <a:ln/>
        </p:spPr>
        <p:txBody>
          <a:bodyPr wrap="square" lIns="0" tIns="0" rIns="0" bIns="0" rtlCol="0" anchor="t"/>
          <a:lstStyle/>
          <a:p>
            <a:pPr algn="l" indent="0" marL="0">
              <a:buNone/>
            </a:pPr>
            <a:r>
              <a:rPr lang="id-ID" altLang="en-US" sz="4800" b="1" dirty="0">
                <a:solidFill>
                  <a:srgbClr val="FFFFFF"/>
                </a:solidFill>
              </a:rPr>
              <a:t>Prinsip SOLID</a:t>
            </a:r>
            <a:endParaRPr lang="id-ID" sz="4800" dirty="0"/>
          </a:p>
        </p:txBody>
      </p:sp>
      <p:sp>
        <p:nvSpPr>
          <p:cNvPr id="4" name="Text 2"/>
          <p:cNvSpPr txBox="1"/>
          <p:nvPr/>
        </p:nvSpPr>
        <p:spPr>
          <a:xfrm>
            <a:off x="731520" y="2663952"/>
            <a:ext cx="7589520" cy="1097280"/>
          </a:xfrm>
          <a:prstGeom prst="rect">
            <a:avLst/>
          </a:prstGeom>
          <a:noFill/>
          <a:ln/>
        </p:spPr>
        <p:txBody>
          <a:bodyPr wrap="square" lIns="0" tIns="0" rIns="0" bIns="0" rtlCol="0" anchor="t"/>
          <a:lstStyle/>
          <a:p>
            <a:pPr indent="0" marL="0">
              <a:buNone/>
            </a:pPr>
            <a:r>
              <a:rPr lang="id-ID" altLang="en-US" sz="2200" dirty="0">
                <a:solidFill>
                  <a:srgbClr val="C9D7E8"/>
                </a:solidFill>
              </a:rPr>
              <a:t>Lima prinsip desain agar kelas mudah diubah, lalu membongkar kasir serba bisa milik KedaiKita</a:t>
            </a:r>
            <a:endParaRPr lang="id-ID" sz="2200" dirty="0"/>
          </a:p>
        </p:txBody>
      </p:sp>
      <p:sp>
        <p:nvSpPr>
          <p:cNvPr id="5" name="Text 3"/>
          <p:cNvSpPr txBox="1"/>
          <p:nvPr/>
        </p:nvSpPr>
        <p:spPr>
          <a:xfrm>
            <a:off x="731520" y="5349240"/>
            <a:ext cx="7589520" cy="731520"/>
          </a:xfrm>
          <a:prstGeom prst="rect">
            <a:avLst/>
          </a:prstGeom>
          <a:noFill/>
          <a:ln/>
        </p:spPr>
        <p:txBody>
          <a:bodyPr wrap="square" lIns="0" tIns="0" rIns="0" bIns="0" rtlCol="0" anchor="t"/>
          <a:lstStyle/>
          <a:p>
            <a:pPr indent="0" marL="0">
              <a:buNone/>
            </a:pPr>
            <a:r>
              <a:rPr lang="id-ID" altLang="en-US" sz="1500" dirty="0">
                <a:solidFill>
                  <a:srgbClr val="9FB3C8"/>
                </a:solidFill>
              </a:rPr>
              <a:t>Program Studi Informatika · Universitas Mulawarman</a:t>
            </a:r>
            <a:endParaRPr lang="id-ID" sz="1500" dirty="0"/>
          </a:p>
          <a:p>
            <a:pPr indent="0" marL="0">
              <a:buNone/>
            </a:pPr>
            <a:r>
              <a:rPr lang="id-ID" altLang="en-US" sz="1500" dirty="0">
                <a:solidFill>
                  <a:srgbClr val="9FB3C8"/>
                </a:solidFill>
              </a:rPr>
              <a:t>Jalur praktik: Python dan Java</a:t>
            </a:r>
            <a:endParaRPr lang="id-ID" sz="1500" dirty="0"/>
          </a:p>
        </p:txBody>
      </p:sp>
      <p:sp>
        <p:nvSpPr>
          <p:cNvPr id="6" name="Shape 4"/>
          <p:cNvSpPr/>
          <p:nvPr/>
        </p:nvSpPr>
        <p:spPr>
          <a:xfrm>
            <a:off x="8549640" y="1691640"/>
            <a:ext cx="3017520" cy="3017520"/>
          </a:xfrm>
          <a:prstGeom prst="ellipse">
            <a:avLst/>
          </a:prstGeom>
          <a:solidFill>
            <a:srgbClr val="0969DA"/>
          </a:solidFill>
          <a:ln/>
        </p:spPr>
      </p:sp>
      <p:sp>
        <p:nvSpPr>
          <p:cNvPr id="7" name="Shape 5"/>
          <p:cNvSpPr/>
          <p:nvPr/>
        </p:nvSpPr>
        <p:spPr>
          <a:xfrm>
            <a:off x="8385048" y="1527048"/>
            <a:ext cx="3346704" cy="3346704"/>
          </a:xfrm>
          <a:prstGeom prst="ellipse">
            <a:avLst/>
          </a:prstGeom>
          <a:ln w="19050">
            <a:solidFill>
              <a:srgbClr val="54AEFF"/>
            </a:solidFill>
            <a:prstDash val="solid"/>
          </a:ln>
        </p:spPr>
      </p:sp>
      <p:sp>
        <p:nvSpPr>
          <p:cNvPr id="8" name="Text 6"/>
          <p:cNvSpPr txBox="1"/>
          <p:nvPr/>
        </p:nvSpPr>
        <p:spPr>
          <a:xfrm>
            <a:off x="8549640" y="2258568"/>
            <a:ext cx="3017520" cy="365760"/>
          </a:xfrm>
          <a:prstGeom prst="rect">
            <a:avLst/>
          </a:prstGeom>
          <a:noFill/>
          <a:ln/>
        </p:spPr>
        <p:txBody>
          <a:bodyPr wrap="square" lIns="0" tIns="0" rIns="0" bIns="0" rtlCol="0" anchor="t"/>
          <a:lstStyle/>
          <a:p>
            <a:pPr algn="ctr" indent="0" marL="0">
              <a:buNone/>
            </a:pPr>
            <a:r>
              <a:rPr lang="id-ID" altLang="en-US" sz="1600" b="1" spc="300" kern="0" dirty="0">
                <a:solidFill>
                  <a:srgbClr val="DDF4FF"/>
                </a:solidFill>
              </a:rPr>
              <a:t>PERTEMUAN</a:t>
            </a:r>
            <a:endParaRPr lang="id-ID" sz="1600" dirty="0"/>
          </a:p>
        </p:txBody>
      </p:sp>
      <p:sp>
        <p:nvSpPr>
          <p:cNvPr id="9" name="Text 7"/>
          <p:cNvSpPr txBox="1"/>
          <p:nvPr/>
        </p:nvSpPr>
        <p:spPr>
          <a:xfrm>
            <a:off x="8549640" y="2560320"/>
            <a:ext cx="3017520" cy="1463040"/>
          </a:xfrm>
          <a:prstGeom prst="rect">
            <a:avLst/>
          </a:prstGeom>
          <a:noFill/>
          <a:ln/>
        </p:spPr>
        <p:txBody>
          <a:bodyPr wrap="square" lIns="0" tIns="0" rIns="0" bIns="0" rtlCol="0" anchor="ctr"/>
          <a:lstStyle/>
          <a:p>
            <a:pPr algn="ctr" indent="0" marL="0">
              <a:buNone/>
            </a:pPr>
            <a:r>
              <a:rPr lang="id-ID" altLang="en-US" sz="9600" b="1" dirty="0">
                <a:solidFill>
                  <a:srgbClr val="FFFFFF"/>
                </a:solidFill>
              </a:rPr>
              <a:t>13</a:t>
            </a:r>
            <a:endParaRPr lang="id-ID" sz="9600" dirty="0"/>
          </a:p>
        </p:txBody>
      </p:sp>
      <p:sp>
        <p:nvSpPr>
          <p:cNvPr id="10" name="Text 8"/>
          <p:cNvSpPr txBox="1"/>
          <p:nvPr/>
        </p:nvSpPr>
        <p:spPr>
          <a:xfrm>
            <a:off x="8549640" y="4069080"/>
            <a:ext cx="3017520" cy="365760"/>
          </a:xfrm>
          <a:prstGeom prst="rect">
            <a:avLst/>
          </a:prstGeom>
          <a:noFill/>
          <a:ln/>
        </p:spPr>
        <p:txBody>
          <a:bodyPr wrap="square" lIns="0" tIns="0" rIns="0" bIns="0" rtlCol="0" anchor="t"/>
          <a:lstStyle/>
          <a:p>
            <a:pPr algn="ctr" indent="0" marL="0">
              <a:buNone/>
            </a:pPr>
            <a:r>
              <a:rPr lang="id-ID" altLang="en-US" sz="1500" dirty="0">
                <a:solidFill>
                  <a:srgbClr val="DDF4FF"/>
                </a:solidFill>
              </a:rPr>
              <a:t>dari 16</a:t>
            </a:r>
            <a:endParaRPr lang="id-ID"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Tujuan Pembelajaran</a:t>
            </a:r>
            <a:endParaRPr lang="id-ID" sz="3200" dirty="0"/>
          </a:p>
        </p:txBody>
      </p:sp>
      <p:sp>
        <p:nvSpPr>
          <p:cNvPr id="5" name="Text 2"/>
          <p:cNvSpPr txBox="1"/>
          <p:nvPr/>
        </p:nvSpPr>
        <p:spPr>
          <a:xfrm>
            <a:off x="548640" y="1417320"/>
            <a:ext cx="11094415" cy="365760"/>
          </a:xfrm>
          <a:prstGeom prst="rect">
            <a:avLst/>
          </a:prstGeom>
          <a:noFill/>
          <a:ln/>
        </p:spPr>
        <p:txBody>
          <a:bodyPr wrap="square" lIns="0" tIns="0" rIns="0" bIns="0" rtlCol="0" anchor="t"/>
          <a:lstStyle/>
          <a:p>
            <a:pPr indent="0" marL="0">
              <a:buNone/>
            </a:pPr>
            <a:r>
              <a:rPr lang="id-ID" altLang="en-US" sz="1800" dirty="0">
                <a:solidFill>
                  <a:srgbClr val="57606A"/>
                </a:solidFill>
              </a:rPr>
              <a:t>Setelah pertemuan ini, kamu mampu:</a:t>
            </a:r>
            <a:endParaRPr lang="id-ID" sz="1800" dirty="0"/>
          </a:p>
        </p:txBody>
      </p:sp>
      <p:sp>
        <p:nvSpPr>
          <p:cNvPr id="6" name="Shape 3"/>
          <p:cNvSpPr/>
          <p:nvPr/>
        </p:nvSpPr>
        <p:spPr>
          <a:xfrm>
            <a:off x="548640" y="1920240"/>
            <a:ext cx="5432908" cy="1258824"/>
          </a:xfrm>
          <a:prstGeom prst="roundRect">
            <a:avLst>
              <a:gd name="adj" fmla="val 6332"/>
            </a:avLst>
          </a:prstGeom>
          <a:solidFill>
            <a:srgbClr val="F6F8FA"/>
          </a:solidFill>
          <a:ln w="9525">
            <a:solidFill>
              <a:srgbClr val="D0D7DE"/>
            </a:solidFill>
            <a:prstDash val="solid"/>
          </a:ln>
        </p:spPr>
      </p:sp>
      <p:sp>
        <p:nvSpPr>
          <p:cNvPr id="7" name="Shape 4"/>
          <p:cNvSpPr/>
          <p:nvPr/>
        </p:nvSpPr>
        <p:spPr>
          <a:xfrm>
            <a:off x="777240" y="2084832"/>
            <a:ext cx="457200" cy="457200"/>
          </a:xfrm>
          <a:prstGeom prst="ellipse">
            <a:avLst/>
          </a:prstGeom>
          <a:solidFill>
            <a:srgbClr val="0969DA"/>
          </a:solidFill>
          <a:ln/>
        </p:spPr>
      </p:sp>
      <p:sp>
        <p:nvSpPr>
          <p:cNvPr id="8" name="Text 5"/>
          <p:cNvSpPr txBox="1"/>
          <p:nvPr/>
        </p:nvSpPr>
        <p:spPr>
          <a:xfrm>
            <a:off x="777240"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1</a:t>
            </a:r>
            <a:endParaRPr lang="id-ID" sz="1800" dirty="0"/>
          </a:p>
        </p:txBody>
      </p:sp>
      <p:sp>
        <p:nvSpPr>
          <p:cNvPr id="9" name="Text 6"/>
          <p:cNvSpPr txBox="1"/>
          <p:nvPr/>
        </p:nvSpPr>
        <p:spPr>
          <a:xfrm>
            <a:off x="1417320"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Mengenali tanda kode yang sulit diubah (</a:t>
            </a:r>
            <a:r>
              <a:rPr lang="id-ID" altLang="en-US" sz="2000" b="1" i="1" dirty="0">
                <a:solidFill>
                  <a:srgbClr val="1F2328"/>
                </a:solidFill>
              </a:rPr>
              <a:t>code smell</a:t>
            </a:r>
            <a:r>
              <a:rPr lang="id-ID" altLang="en-US" sz="2000" dirty="0">
                <a:solidFill>
                  <a:srgbClr val="1F2328"/>
                </a:solidFill>
              </a:rPr>
              <a:t>), misalnya kelas serba bisa dan rantai percabangan yang panjang.</a:t>
            </a:r>
            <a:endParaRPr lang="id-ID" sz="2000" dirty="0"/>
          </a:p>
        </p:txBody>
      </p:sp>
      <p:sp>
        <p:nvSpPr>
          <p:cNvPr id="10" name="Shape 7"/>
          <p:cNvSpPr/>
          <p:nvPr/>
        </p:nvSpPr>
        <p:spPr>
          <a:xfrm>
            <a:off x="6210148" y="1920240"/>
            <a:ext cx="5432908" cy="1258824"/>
          </a:xfrm>
          <a:prstGeom prst="roundRect">
            <a:avLst>
              <a:gd name="adj" fmla="val 6332"/>
            </a:avLst>
          </a:prstGeom>
          <a:solidFill>
            <a:srgbClr val="F6F8FA"/>
          </a:solidFill>
          <a:ln w="9525">
            <a:solidFill>
              <a:srgbClr val="D0D7DE"/>
            </a:solidFill>
            <a:prstDash val="solid"/>
          </a:ln>
        </p:spPr>
      </p:sp>
      <p:sp>
        <p:nvSpPr>
          <p:cNvPr id="11" name="Shape 8"/>
          <p:cNvSpPr/>
          <p:nvPr/>
        </p:nvSpPr>
        <p:spPr>
          <a:xfrm>
            <a:off x="6438748" y="2084832"/>
            <a:ext cx="457200" cy="457200"/>
          </a:xfrm>
          <a:prstGeom prst="ellipse">
            <a:avLst/>
          </a:prstGeom>
          <a:solidFill>
            <a:srgbClr val="0969DA"/>
          </a:solidFill>
          <a:ln/>
        </p:spPr>
      </p:sp>
      <p:sp>
        <p:nvSpPr>
          <p:cNvPr id="12" name="Text 9"/>
          <p:cNvSpPr txBox="1"/>
          <p:nvPr/>
        </p:nvSpPr>
        <p:spPr>
          <a:xfrm>
            <a:off x="6438748" y="208483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2</a:t>
            </a:r>
            <a:endParaRPr lang="id-ID" sz="1800" dirty="0"/>
          </a:p>
        </p:txBody>
      </p:sp>
      <p:sp>
        <p:nvSpPr>
          <p:cNvPr id="13" name="Text 10"/>
          <p:cNvSpPr txBox="1"/>
          <p:nvPr/>
        </p:nvSpPr>
        <p:spPr>
          <a:xfrm>
            <a:off x="7078828" y="2084832"/>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Menjelaskan kelima prinsip </a:t>
            </a:r>
            <a:r>
              <a:rPr lang="id-ID" altLang="en-US" sz="2000" b="1" dirty="0">
                <a:solidFill>
                  <a:srgbClr val="1F2328"/>
                </a:solidFill>
              </a:rPr>
              <a:t>SOLID</a:t>
            </a:r>
            <a:r>
              <a:rPr lang="id-ID" altLang="en-US" sz="2000" dirty="0">
                <a:solidFill>
                  <a:srgbClr val="1F2328"/>
                </a:solidFill>
              </a:rPr>
              <a:t> (SRP, OCP, LSP, ISP, DIP) dengan analogi sehari-⁠hari dan contoh kode.</a:t>
            </a:r>
            <a:endParaRPr lang="id-ID" sz="2000" dirty="0"/>
          </a:p>
        </p:txBody>
      </p:sp>
      <p:sp>
        <p:nvSpPr>
          <p:cNvPr id="14" name="Shape 11"/>
          <p:cNvSpPr/>
          <p:nvPr/>
        </p:nvSpPr>
        <p:spPr>
          <a:xfrm>
            <a:off x="548640" y="3361944"/>
            <a:ext cx="5432908" cy="1258824"/>
          </a:xfrm>
          <a:prstGeom prst="roundRect">
            <a:avLst>
              <a:gd name="adj" fmla="val 6332"/>
            </a:avLst>
          </a:prstGeom>
          <a:solidFill>
            <a:srgbClr val="F6F8FA"/>
          </a:solidFill>
          <a:ln w="9525">
            <a:solidFill>
              <a:srgbClr val="D0D7DE"/>
            </a:solidFill>
            <a:prstDash val="solid"/>
          </a:ln>
        </p:spPr>
      </p:sp>
      <p:sp>
        <p:nvSpPr>
          <p:cNvPr id="15" name="Shape 12"/>
          <p:cNvSpPr/>
          <p:nvPr/>
        </p:nvSpPr>
        <p:spPr>
          <a:xfrm>
            <a:off x="777240" y="3526536"/>
            <a:ext cx="457200" cy="457200"/>
          </a:xfrm>
          <a:prstGeom prst="ellipse">
            <a:avLst/>
          </a:prstGeom>
          <a:solidFill>
            <a:srgbClr val="0969DA"/>
          </a:solidFill>
          <a:ln/>
        </p:spPr>
      </p:sp>
      <p:sp>
        <p:nvSpPr>
          <p:cNvPr id="16" name="Text 13"/>
          <p:cNvSpPr txBox="1"/>
          <p:nvPr/>
        </p:nvSpPr>
        <p:spPr>
          <a:xfrm>
            <a:off x="777240"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3</a:t>
            </a:r>
            <a:endParaRPr lang="id-ID" sz="1800" dirty="0"/>
          </a:p>
        </p:txBody>
      </p:sp>
      <p:sp>
        <p:nvSpPr>
          <p:cNvPr id="17" name="Text 14"/>
          <p:cNvSpPr txBox="1"/>
          <p:nvPr/>
        </p:nvSpPr>
        <p:spPr>
          <a:xfrm>
            <a:off x="1417320"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Menemukan pelanggaran prinsip SOLID pada sebuah rancangan lalu mengusulkan perbaikannya.</a:t>
            </a:r>
            <a:endParaRPr lang="id-ID" sz="2000" dirty="0"/>
          </a:p>
        </p:txBody>
      </p:sp>
      <p:sp>
        <p:nvSpPr>
          <p:cNvPr id="18" name="Shape 15"/>
          <p:cNvSpPr/>
          <p:nvPr/>
        </p:nvSpPr>
        <p:spPr>
          <a:xfrm>
            <a:off x="6210148" y="3361944"/>
            <a:ext cx="5432908" cy="1258824"/>
          </a:xfrm>
          <a:prstGeom prst="roundRect">
            <a:avLst>
              <a:gd name="adj" fmla="val 6332"/>
            </a:avLst>
          </a:prstGeom>
          <a:solidFill>
            <a:srgbClr val="F6F8FA"/>
          </a:solidFill>
          <a:ln w="9525">
            <a:solidFill>
              <a:srgbClr val="D0D7DE"/>
            </a:solidFill>
            <a:prstDash val="solid"/>
          </a:ln>
        </p:spPr>
      </p:sp>
      <p:sp>
        <p:nvSpPr>
          <p:cNvPr id="19" name="Shape 16"/>
          <p:cNvSpPr/>
          <p:nvPr/>
        </p:nvSpPr>
        <p:spPr>
          <a:xfrm>
            <a:off x="6438748" y="3526536"/>
            <a:ext cx="457200" cy="457200"/>
          </a:xfrm>
          <a:prstGeom prst="ellipse">
            <a:avLst/>
          </a:prstGeom>
          <a:solidFill>
            <a:srgbClr val="0969DA"/>
          </a:solidFill>
          <a:ln/>
        </p:spPr>
      </p:sp>
      <p:sp>
        <p:nvSpPr>
          <p:cNvPr id="20" name="Text 17"/>
          <p:cNvSpPr txBox="1"/>
          <p:nvPr/>
        </p:nvSpPr>
        <p:spPr>
          <a:xfrm>
            <a:off x="6438748" y="3526536"/>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4</a:t>
            </a:r>
            <a:endParaRPr lang="id-ID" sz="1800" dirty="0"/>
          </a:p>
        </p:txBody>
      </p:sp>
      <p:sp>
        <p:nvSpPr>
          <p:cNvPr id="21" name="Text 18"/>
          <p:cNvSpPr txBox="1"/>
          <p:nvPr/>
        </p:nvSpPr>
        <p:spPr>
          <a:xfrm>
            <a:off x="7078828" y="3526536"/>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Menerapkan </a:t>
            </a:r>
            <a:r>
              <a:rPr lang="id-ID" altLang="en-US" sz="2000" b="1" i="1" dirty="0">
                <a:solidFill>
                  <a:srgbClr val="1F2328"/>
                </a:solidFill>
              </a:rPr>
              <a:t>dependency injection</a:t>
            </a:r>
            <a:r>
              <a:rPr lang="id-ID" altLang="en-US" sz="2000" dirty="0">
                <a:solidFill>
                  <a:srgbClr val="1F2328"/>
                </a:solidFill>
              </a:rPr>
              <a:t> lewat konstruktor agar sebuah kelas bergantung pada abstraksi.</a:t>
            </a:r>
            <a:endParaRPr lang="id-ID" sz="2000" dirty="0"/>
          </a:p>
        </p:txBody>
      </p:sp>
      <p:sp>
        <p:nvSpPr>
          <p:cNvPr id="22" name="Shape 19"/>
          <p:cNvSpPr/>
          <p:nvPr/>
        </p:nvSpPr>
        <p:spPr>
          <a:xfrm>
            <a:off x="548640" y="4803648"/>
            <a:ext cx="5432908" cy="1258824"/>
          </a:xfrm>
          <a:prstGeom prst="roundRect">
            <a:avLst>
              <a:gd name="adj" fmla="val 6332"/>
            </a:avLst>
          </a:prstGeom>
          <a:solidFill>
            <a:srgbClr val="F6F8FA"/>
          </a:solidFill>
          <a:ln w="9525">
            <a:solidFill>
              <a:srgbClr val="D0D7DE"/>
            </a:solidFill>
            <a:prstDash val="solid"/>
          </a:ln>
        </p:spPr>
      </p:sp>
      <p:sp>
        <p:nvSpPr>
          <p:cNvPr id="23" name="Shape 20"/>
          <p:cNvSpPr/>
          <p:nvPr/>
        </p:nvSpPr>
        <p:spPr>
          <a:xfrm>
            <a:off x="777240" y="4968240"/>
            <a:ext cx="457200" cy="457200"/>
          </a:xfrm>
          <a:prstGeom prst="ellipse">
            <a:avLst/>
          </a:prstGeom>
          <a:solidFill>
            <a:srgbClr val="0969DA"/>
          </a:solidFill>
          <a:ln/>
        </p:spPr>
      </p:sp>
      <p:sp>
        <p:nvSpPr>
          <p:cNvPr id="24" name="Text 21"/>
          <p:cNvSpPr txBox="1"/>
          <p:nvPr/>
        </p:nvSpPr>
        <p:spPr>
          <a:xfrm>
            <a:off x="777240"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5</a:t>
            </a:r>
            <a:endParaRPr lang="id-ID" sz="1800" dirty="0"/>
          </a:p>
        </p:txBody>
      </p:sp>
      <p:sp>
        <p:nvSpPr>
          <p:cNvPr id="25" name="Text 22"/>
          <p:cNvSpPr txBox="1"/>
          <p:nvPr/>
        </p:nvSpPr>
        <p:spPr>
          <a:xfrm>
            <a:off x="1417320"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Melakukan </a:t>
            </a:r>
            <a:r>
              <a:rPr lang="id-ID" altLang="en-US" sz="2000" b="1" i="1" dirty="0">
                <a:solidFill>
                  <a:srgbClr val="1F2328"/>
                </a:solidFill>
              </a:rPr>
              <a:t>refactoring</a:t>
            </a:r>
            <a:r>
              <a:rPr lang="id-ID" altLang="en-US" sz="2000" dirty="0">
                <a:solidFill>
                  <a:srgbClr val="1F2328"/>
                </a:solidFill>
              </a:rPr>
              <a:t> dan membuktikan perilaku program tidak berubah dengan </a:t>
            </a:r>
            <a:r>
              <a:rPr lang="id-ID" altLang="en-US" sz="2000" dirty="0">
                <a:solidFill>
                  <a:srgbClr val="1F2328"/>
                </a:solidFill>
                <a:latin typeface="Consolas" pitchFamily="34" charset="0"/>
                <a:ea typeface="Consolas" pitchFamily="34" charset="-122"/>
                <a:cs typeface="Consolas" pitchFamily="34" charset="-120"/>
              </a:rPr>
              <a:t>diff</a:t>
            </a:r>
            <a:r>
              <a:rPr lang="id-ID" altLang="en-US" sz="2000" dirty="0">
                <a:solidFill>
                  <a:srgbClr val="1F2328"/>
                </a:solidFill>
              </a:rPr>
              <a:t> atau </a:t>
            </a:r>
            <a:r>
              <a:rPr lang="id-ID" altLang="en-US" sz="2000" dirty="0">
                <a:solidFill>
                  <a:srgbClr val="1F2328"/>
                </a:solidFill>
                <a:latin typeface="Consolas" pitchFamily="34" charset="0"/>
                <a:ea typeface="Consolas" pitchFamily="34" charset="-122"/>
                <a:cs typeface="Consolas" pitchFamily="34" charset="-120"/>
              </a:rPr>
              <a:t>fc</a:t>
            </a:r>
            <a:r>
              <a:rPr lang="id-ID" altLang="en-US" sz="2000" dirty="0">
                <a:solidFill>
                  <a:srgbClr val="1F2328"/>
                </a:solidFill>
              </a:rPr>
              <a:t>.</a:t>
            </a:r>
            <a:endParaRPr lang="id-ID" sz="2000" dirty="0"/>
          </a:p>
        </p:txBody>
      </p:sp>
      <p:sp>
        <p:nvSpPr>
          <p:cNvPr id="26" name="Shape 23"/>
          <p:cNvSpPr/>
          <p:nvPr/>
        </p:nvSpPr>
        <p:spPr>
          <a:xfrm>
            <a:off x="6210148" y="4803648"/>
            <a:ext cx="5432908" cy="1258824"/>
          </a:xfrm>
          <a:prstGeom prst="roundRect">
            <a:avLst>
              <a:gd name="adj" fmla="val 6332"/>
            </a:avLst>
          </a:prstGeom>
          <a:solidFill>
            <a:srgbClr val="F6F8FA"/>
          </a:solidFill>
          <a:ln w="9525">
            <a:solidFill>
              <a:srgbClr val="D0D7DE"/>
            </a:solidFill>
            <a:prstDash val="solid"/>
          </a:ln>
        </p:spPr>
      </p:sp>
      <p:sp>
        <p:nvSpPr>
          <p:cNvPr id="27" name="Shape 24"/>
          <p:cNvSpPr/>
          <p:nvPr/>
        </p:nvSpPr>
        <p:spPr>
          <a:xfrm>
            <a:off x="6438748" y="4968240"/>
            <a:ext cx="457200" cy="457200"/>
          </a:xfrm>
          <a:prstGeom prst="ellipse">
            <a:avLst/>
          </a:prstGeom>
          <a:solidFill>
            <a:srgbClr val="0969DA"/>
          </a:solidFill>
          <a:ln/>
        </p:spPr>
      </p:sp>
      <p:sp>
        <p:nvSpPr>
          <p:cNvPr id="28" name="Text 25"/>
          <p:cNvSpPr txBox="1"/>
          <p:nvPr/>
        </p:nvSpPr>
        <p:spPr>
          <a:xfrm>
            <a:off x="6438748" y="4968240"/>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6</a:t>
            </a:r>
            <a:endParaRPr lang="id-ID" sz="1800" dirty="0"/>
          </a:p>
        </p:txBody>
      </p:sp>
      <p:sp>
        <p:nvSpPr>
          <p:cNvPr id="29" name="Text 26"/>
          <p:cNvSpPr txBox="1"/>
          <p:nvPr/>
        </p:nvSpPr>
        <p:spPr>
          <a:xfrm>
            <a:off x="7078828" y="4968240"/>
            <a:ext cx="4381348" cy="984504"/>
          </a:xfrm>
          <a:prstGeom prst="rect">
            <a:avLst/>
          </a:prstGeom>
          <a:noFill/>
          <a:ln/>
        </p:spPr>
        <p:txBody>
          <a:bodyPr wrap="square" lIns="0" tIns="0" rIns="0" bIns="0" rtlCol="0" anchor="t"/>
          <a:lstStyle/>
          <a:p>
            <a:pPr indent="0" marL="0">
              <a:buNone/>
            </a:pPr>
            <a:r>
              <a:rPr lang="id-ID" altLang="en-US" sz="2000" dirty="0">
                <a:solidFill>
                  <a:srgbClr val="1F2328"/>
                </a:solidFill>
              </a:rPr>
              <a:t>Menimbang kapan prinsip desain perlu diterapkan, termasuk prinsip pendamping DRY, KISS, dan YAGNI.</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Mengingat Kembali</a:t>
            </a:r>
            <a:endParaRPr lang="id-ID" sz="3200" dirty="0"/>
          </a:p>
        </p:txBody>
      </p:sp>
      <p:sp>
        <p:nvSpPr>
          <p:cNvPr id="5" name="Shape 2"/>
          <p:cNvSpPr/>
          <p:nvPr/>
        </p:nvSpPr>
        <p:spPr>
          <a:xfrm>
            <a:off x="548640" y="1756562"/>
            <a:ext cx="2377440" cy="3974592"/>
          </a:xfrm>
          <a:prstGeom prst="roundRect">
            <a:avLst>
              <a:gd name="adj" fmla="val 2663"/>
            </a:avLst>
          </a:prstGeom>
          <a:solidFill>
            <a:srgbClr val="DDF4FF"/>
          </a:solidFill>
          <a:ln w="9525">
            <a:solidFill>
              <a:srgbClr val="54AEFF"/>
            </a:solidFill>
            <a:prstDash val="solid"/>
          </a:ln>
        </p:spPr>
      </p:sp>
      <p:sp>
        <p:nvSpPr>
          <p:cNvPr id="6" name="Shape 3"/>
          <p:cNvSpPr/>
          <p:nvPr/>
        </p:nvSpPr>
        <p:spPr>
          <a:xfrm>
            <a:off x="1188720" y="2783738"/>
            <a:ext cx="1097280" cy="1097280"/>
          </a:xfrm>
          <a:prstGeom prst="ellipse">
            <a:avLst/>
          </a:prstGeom>
          <a:solidFill>
            <a:srgbClr val="0969DA"/>
          </a:solidFill>
          <a:ln/>
        </p:spPr>
      </p:sp>
      <p:pic>
        <p:nvPicPr>
          <p:cNvPr id="7" name="Image 1" descr="preencoded.png">    </p:cNvPr>
          <p:cNvPicPr>
            <a:picLocks noChangeAspect="1"/>
          </p:cNvPicPr>
          <p:nvPr/>
        </p:nvPicPr>
        <p:blipFill>
          <a:blip r:embed="rId2"/>
          <a:stretch>
            <a:fillRect/>
          </a:stretch>
        </p:blipFill>
        <p:spPr>
          <a:xfrm>
            <a:off x="1430122" y="3025140"/>
            <a:ext cx="614477" cy="614477"/>
          </a:xfrm>
          <a:prstGeom prst="rect">
            <a:avLst/>
          </a:prstGeom>
        </p:spPr>
      </p:pic>
      <p:sp>
        <p:nvSpPr>
          <p:cNvPr id="8" name="Text 4"/>
          <p:cNvSpPr txBox="1"/>
          <p:nvPr/>
        </p:nvSpPr>
        <p:spPr>
          <a:xfrm>
            <a:off x="731520" y="4063898"/>
            <a:ext cx="2011680" cy="640080"/>
          </a:xfrm>
          <a:prstGeom prst="rect">
            <a:avLst/>
          </a:prstGeom>
          <a:noFill/>
          <a:ln/>
        </p:spPr>
        <p:txBody>
          <a:bodyPr wrap="square" lIns="0" tIns="0" rIns="0" bIns="0" rtlCol="0" anchor="t"/>
          <a:lstStyle/>
          <a:p>
            <a:pPr algn="ctr" indent="0" marL="0">
              <a:buNone/>
            </a:pPr>
            <a:r>
              <a:rPr lang="id-ID" altLang="en-US" sz="1600" b="1" dirty="0">
                <a:solidFill>
                  <a:srgbClr val="0A3069"/>
                </a:solidFill>
              </a:rPr>
              <a:t>Dari pertemuan sebelumnya</a:t>
            </a:r>
            <a:endParaRPr lang="id-ID" sz="1600" dirty="0"/>
          </a:p>
        </p:txBody>
      </p:sp>
      <p:sp>
        <p:nvSpPr>
          <p:cNvPr id="9" name="Shape 5"/>
          <p:cNvSpPr/>
          <p:nvPr/>
        </p:nvSpPr>
        <p:spPr>
          <a:xfrm>
            <a:off x="3346704" y="2124989"/>
            <a:ext cx="137160" cy="137160"/>
          </a:xfrm>
          <a:prstGeom prst="roundRect">
            <a:avLst>
              <a:gd name="adj" fmla="val 166667"/>
            </a:avLst>
          </a:prstGeom>
          <a:solidFill>
            <a:srgbClr val="0969DA"/>
          </a:solidFill>
          <a:ln/>
        </p:spPr>
      </p:sp>
      <p:sp>
        <p:nvSpPr>
          <p:cNvPr id="10" name="Text 6"/>
          <p:cNvSpPr txBox="1"/>
          <p:nvPr/>
        </p:nvSpPr>
        <p:spPr>
          <a:xfrm>
            <a:off x="3675888" y="2030882"/>
            <a:ext cx="7967167" cy="696468"/>
          </a:xfrm>
          <a:prstGeom prst="rect">
            <a:avLst/>
          </a:prstGeom>
          <a:noFill/>
          <a:ln/>
        </p:spPr>
        <p:txBody>
          <a:bodyPr wrap="square" lIns="0" tIns="0" rIns="0" bIns="0" rtlCol="0" anchor="t"/>
          <a:lstStyle/>
          <a:p>
            <a:pPr indent="0" marL="0">
              <a:buNone/>
            </a:pPr>
            <a:r>
              <a:rPr lang="id-ID" altLang="en-US" sz="2100" dirty="0">
                <a:solidFill>
                  <a:srgbClr val="1F2328"/>
                </a:solidFill>
              </a:rPr>
              <a:t>Pertemuan 09: polimorfisme membuat kita bisa menambah bangun datar baru </a:t>
            </a:r>
            <a:r>
              <a:rPr lang="id-ID" altLang="en-US" sz="2100" b="1" dirty="0">
                <a:solidFill>
                  <a:srgbClr val="1F2328"/>
                </a:solidFill>
              </a:rPr>
              <a:t>tanpa mengubah</a:t>
            </a:r>
            <a:r>
              <a:rPr lang="id-ID" altLang="en-US" sz="2100" dirty="0">
                <a:solidFill>
                  <a:srgbClr val="1F2328"/>
                </a:solidFill>
              </a:rPr>
              <a:t> fungsi pencetak laporan.</a:t>
            </a:r>
            <a:endParaRPr lang="id-ID" sz="2100" dirty="0"/>
          </a:p>
        </p:txBody>
      </p:sp>
      <p:sp>
        <p:nvSpPr>
          <p:cNvPr id="11" name="Shape 7"/>
          <p:cNvSpPr/>
          <p:nvPr/>
        </p:nvSpPr>
        <p:spPr>
          <a:xfrm>
            <a:off x="3346704" y="3050057"/>
            <a:ext cx="137160" cy="137160"/>
          </a:xfrm>
          <a:prstGeom prst="roundRect">
            <a:avLst>
              <a:gd name="adj" fmla="val 166667"/>
            </a:avLst>
          </a:prstGeom>
          <a:solidFill>
            <a:srgbClr val="0969DA"/>
          </a:solidFill>
          <a:ln/>
        </p:spPr>
      </p:sp>
      <p:sp>
        <p:nvSpPr>
          <p:cNvPr id="12" name="Text 8"/>
          <p:cNvSpPr txBox="1"/>
          <p:nvPr/>
        </p:nvSpPr>
        <p:spPr>
          <a:xfrm>
            <a:off x="3675888" y="2955950"/>
            <a:ext cx="7967167" cy="696468"/>
          </a:xfrm>
          <a:prstGeom prst="rect">
            <a:avLst/>
          </a:prstGeom>
          <a:noFill/>
          <a:ln/>
        </p:spPr>
        <p:txBody>
          <a:bodyPr wrap="square" lIns="0" tIns="0" rIns="0" bIns="0" rtlCol="0" anchor="t"/>
          <a:lstStyle/>
          <a:p>
            <a:pPr indent="0" marL="0">
              <a:buNone/>
            </a:pPr>
            <a:r>
              <a:rPr lang="id-ID" altLang="en-US" sz="2100" dirty="0">
                <a:solidFill>
                  <a:srgbClr val="1F2328"/>
                </a:solidFill>
              </a:rPr>
              <a:t>Pertemuan 09 juga: objek anak harus bisa dipakai di mana pun objek induk diharapkan, tanpa membuat pemanggil kaget.</a:t>
            </a:r>
            <a:endParaRPr lang="id-ID" sz="2100" dirty="0"/>
          </a:p>
        </p:txBody>
      </p:sp>
      <p:sp>
        <p:nvSpPr>
          <p:cNvPr id="13" name="Shape 9"/>
          <p:cNvSpPr/>
          <p:nvPr/>
        </p:nvSpPr>
        <p:spPr>
          <a:xfrm>
            <a:off x="3346704" y="3975125"/>
            <a:ext cx="137160" cy="137160"/>
          </a:xfrm>
          <a:prstGeom prst="roundRect">
            <a:avLst>
              <a:gd name="adj" fmla="val 166667"/>
            </a:avLst>
          </a:prstGeom>
          <a:solidFill>
            <a:srgbClr val="0969DA"/>
          </a:solidFill>
          <a:ln/>
        </p:spPr>
      </p:sp>
      <p:sp>
        <p:nvSpPr>
          <p:cNvPr id="14" name="Text 10"/>
          <p:cNvSpPr txBox="1"/>
          <p:nvPr/>
        </p:nvSpPr>
        <p:spPr>
          <a:xfrm>
            <a:off x="3675888" y="3881018"/>
            <a:ext cx="7967167" cy="696468"/>
          </a:xfrm>
          <a:prstGeom prst="rect">
            <a:avLst/>
          </a:prstGeom>
          <a:noFill/>
          <a:ln/>
        </p:spPr>
        <p:txBody>
          <a:bodyPr wrap="square" lIns="0" tIns="0" rIns="0" bIns="0" rtlCol="0" anchor="t"/>
          <a:lstStyle/>
          <a:p>
            <a:pPr indent="0" marL="0">
              <a:buNone/>
            </a:pPr>
            <a:r>
              <a:rPr lang="id-ID" altLang="en-US" sz="2100" dirty="0">
                <a:solidFill>
                  <a:srgbClr val="1F2328"/>
                </a:solidFill>
              </a:rPr>
              <a:t>Pertemuan 10: kelas abstrak dan </a:t>
            </a:r>
            <a:r>
              <a:rPr lang="id-ID" altLang="en-US" sz="2100" i="1" dirty="0">
                <a:solidFill>
                  <a:srgbClr val="1F2328"/>
                </a:solidFill>
              </a:rPr>
              <a:t>interface</a:t>
            </a:r>
            <a:r>
              <a:rPr lang="id-ID" altLang="en-US" sz="2100" dirty="0">
                <a:solidFill>
                  <a:srgbClr val="1F2328"/>
                </a:solidFill>
              </a:rPr>
              <a:t> menjadi </a:t>
            </a:r>
            <a:r>
              <a:rPr lang="id-ID" altLang="en-US" sz="2100" b="1" dirty="0">
                <a:solidFill>
                  <a:srgbClr val="1F2328"/>
                </a:solidFill>
              </a:rPr>
              <a:t>kontrak</a:t>
            </a:r>
            <a:r>
              <a:rPr lang="id-ID" altLang="en-US" sz="2100" dirty="0">
                <a:solidFill>
                  <a:srgbClr val="1F2328"/>
                </a:solidFill>
              </a:rPr>
              <a:t>, alat utama dalam SOLID.</a:t>
            </a:r>
            <a:endParaRPr lang="id-ID" sz="2100" dirty="0"/>
          </a:p>
        </p:txBody>
      </p:sp>
      <p:sp>
        <p:nvSpPr>
          <p:cNvPr id="15" name="Shape 11"/>
          <p:cNvSpPr/>
          <p:nvPr/>
        </p:nvSpPr>
        <p:spPr>
          <a:xfrm>
            <a:off x="3346704" y="4900193"/>
            <a:ext cx="137160" cy="137160"/>
          </a:xfrm>
          <a:prstGeom prst="roundRect">
            <a:avLst>
              <a:gd name="adj" fmla="val 166667"/>
            </a:avLst>
          </a:prstGeom>
          <a:solidFill>
            <a:srgbClr val="0969DA"/>
          </a:solidFill>
          <a:ln/>
        </p:spPr>
      </p:sp>
      <p:sp>
        <p:nvSpPr>
          <p:cNvPr id="16" name="Text 12"/>
          <p:cNvSpPr txBox="1"/>
          <p:nvPr/>
        </p:nvSpPr>
        <p:spPr>
          <a:xfrm>
            <a:off x="3675888" y="4806086"/>
            <a:ext cx="7967167" cy="696468"/>
          </a:xfrm>
          <a:prstGeom prst="rect">
            <a:avLst/>
          </a:prstGeom>
          <a:noFill/>
          <a:ln/>
        </p:spPr>
        <p:txBody>
          <a:bodyPr wrap="square" lIns="0" tIns="0" rIns="0" bIns="0" rtlCol="0" anchor="t"/>
          <a:lstStyle/>
          <a:p>
            <a:pPr indent="0" marL="0">
              <a:buNone/>
            </a:pPr>
            <a:r>
              <a:rPr lang="id-ID" altLang="en-US" sz="2100" dirty="0">
                <a:solidFill>
                  <a:srgbClr val="1F2328"/>
                </a:solidFill>
              </a:rPr>
              <a:t>Pertemuan 12: </a:t>
            </a:r>
            <a:r>
              <a:rPr lang="id-ID" altLang="en-US" sz="2100" dirty="0">
                <a:solidFill>
                  <a:srgbClr val="1F2328"/>
                </a:solidFill>
                <a:latin typeface="Consolas" pitchFamily="34" charset="0"/>
                <a:ea typeface="Consolas" pitchFamily="34" charset="-122"/>
                <a:cs typeface="Consolas" pitchFamily="34" charset="-120"/>
              </a:rPr>
              <a:t>List&lt;Menu&gt; daftar = new ArrayList&lt;&gt;()</a:t>
            </a:r>
            <a:r>
              <a:rPr lang="id-ID" altLang="en-US" sz="2100" dirty="0">
                <a:solidFill>
                  <a:srgbClr val="1F2328"/>
                </a:solidFill>
              </a:rPr>
              <a:t> berarti bergantung pada kontrak, bukan pada wujud.</a:t>
            </a:r>
            <a:endParaRPr lang="id-ID"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Agenda Hari Ini</a:t>
            </a:r>
            <a:endParaRPr lang="id-ID" sz="3200" dirty="0"/>
          </a:p>
        </p:txBody>
      </p:sp>
      <p:sp>
        <p:nvSpPr>
          <p:cNvPr id="5" name="Shape 2"/>
          <p:cNvSpPr/>
          <p:nvPr/>
        </p:nvSpPr>
        <p:spPr>
          <a:xfrm>
            <a:off x="548640" y="1554480"/>
            <a:ext cx="3515258" cy="2165604"/>
          </a:xfrm>
          <a:prstGeom prst="roundRect">
            <a:avLst>
              <a:gd name="adj" fmla="val 2139"/>
            </a:avLst>
          </a:prstGeom>
          <a:solidFill>
            <a:srgbClr val="F6F8FA"/>
          </a:solidFill>
          <a:ln w="9525">
            <a:solidFill>
              <a:srgbClr val="D0D7DE"/>
            </a:solidFill>
            <a:prstDash val="solid"/>
          </a:ln>
        </p:spPr>
      </p:sp>
      <p:sp>
        <p:nvSpPr>
          <p:cNvPr id="6" name="Shape 3"/>
          <p:cNvSpPr/>
          <p:nvPr/>
        </p:nvSpPr>
        <p:spPr>
          <a:xfrm>
            <a:off x="777240" y="1783080"/>
            <a:ext cx="512064" cy="512064"/>
          </a:xfrm>
          <a:prstGeom prst="ellipse">
            <a:avLst/>
          </a:prstGeom>
          <a:solidFill>
            <a:srgbClr val="0969DA"/>
          </a:solidFill>
          <a:ln/>
        </p:spPr>
      </p:sp>
      <p:sp>
        <p:nvSpPr>
          <p:cNvPr id="7" name="Text 4"/>
          <p:cNvSpPr txBox="1"/>
          <p:nvPr/>
        </p:nvSpPr>
        <p:spPr>
          <a:xfrm>
            <a:off x="777240" y="178308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1</a:t>
            </a:r>
            <a:endParaRPr lang="id-ID" sz="2000" dirty="0"/>
          </a:p>
        </p:txBody>
      </p:sp>
      <p:sp>
        <p:nvSpPr>
          <p:cNvPr id="8" name="Text 5"/>
          <p:cNvSpPr txBox="1"/>
          <p:nvPr/>
        </p:nvSpPr>
        <p:spPr>
          <a:xfrm>
            <a:off x="777240" y="2423160"/>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Program benar, tetapi sulit diubah</a:t>
            </a:r>
            <a:endParaRPr lang="id-ID" sz="2200" dirty="0"/>
          </a:p>
        </p:txBody>
      </p:sp>
      <p:sp>
        <p:nvSpPr>
          <p:cNvPr id="9" name="Shape 6"/>
          <p:cNvSpPr/>
          <p:nvPr/>
        </p:nvSpPr>
        <p:spPr>
          <a:xfrm>
            <a:off x="4338218" y="1554480"/>
            <a:ext cx="3515258" cy="2165604"/>
          </a:xfrm>
          <a:prstGeom prst="roundRect">
            <a:avLst>
              <a:gd name="adj" fmla="val 2139"/>
            </a:avLst>
          </a:prstGeom>
          <a:solidFill>
            <a:srgbClr val="F6F8FA"/>
          </a:solidFill>
          <a:ln w="9525">
            <a:solidFill>
              <a:srgbClr val="D0D7DE"/>
            </a:solidFill>
            <a:prstDash val="solid"/>
          </a:ln>
        </p:spPr>
      </p:sp>
      <p:sp>
        <p:nvSpPr>
          <p:cNvPr id="10" name="Shape 7"/>
          <p:cNvSpPr/>
          <p:nvPr/>
        </p:nvSpPr>
        <p:spPr>
          <a:xfrm>
            <a:off x="4566818" y="1783080"/>
            <a:ext cx="512064" cy="512064"/>
          </a:xfrm>
          <a:prstGeom prst="ellipse">
            <a:avLst/>
          </a:prstGeom>
          <a:solidFill>
            <a:srgbClr val="0969DA"/>
          </a:solidFill>
          <a:ln/>
        </p:spPr>
      </p:sp>
      <p:sp>
        <p:nvSpPr>
          <p:cNvPr id="11" name="Text 8"/>
          <p:cNvSpPr txBox="1"/>
          <p:nvPr/>
        </p:nvSpPr>
        <p:spPr>
          <a:xfrm>
            <a:off x="4566818" y="178308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2</a:t>
            </a:r>
            <a:endParaRPr lang="id-ID" sz="2000" dirty="0"/>
          </a:p>
        </p:txBody>
      </p:sp>
      <p:sp>
        <p:nvSpPr>
          <p:cNvPr id="12" name="Text 9"/>
          <p:cNvSpPr txBox="1"/>
          <p:nvPr/>
        </p:nvSpPr>
        <p:spPr>
          <a:xfrm>
            <a:off x="4566818" y="2423160"/>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S: satu kelas, satu alasan untuk berubah</a:t>
            </a:r>
            <a:endParaRPr lang="id-ID" sz="2200" dirty="0"/>
          </a:p>
        </p:txBody>
      </p:sp>
      <p:sp>
        <p:nvSpPr>
          <p:cNvPr id="13" name="Shape 10"/>
          <p:cNvSpPr/>
          <p:nvPr/>
        </p:nvSpPr>
        <p:spPr>
          <a:xfrm>
            <a:off x="8127797" y="1554480"/>
            <a:ext cx="3515258" cy="2165604"/>
          </a:xfrm>
          <a:prstGeom prst="roundRect">
            <a:avLst>
              <a:gd name="adj" fmla="val 2139"/>
            </a:avLst>
          </a:prstGeom>
          <a:solidFill>
            <a:srgbClr val="F6F8FA"/>
          </a:solidFill>
          <a:ln w="9525">
            <a:solidFill>
              <a:srgbClr val="D0D7DE"/>
            </a:solidFill>
            <a:prstDash val="solid"/>
          </a:ln>
        </p:spPr>
      </p:sp>
      <p:sp>
        <p:nvSpPr>
          <p:cNvPr id="14" name="Shape 11"/>
          <p:cNvSpPr/>
          <p:nvPr/>
        </p:nvSpPr>
        <p:spPr>
          <a:xfrm>
            <a:off x="8356397" y="1783080"/>
            <a:ext cx="512064" cy="512064"/>
          </a:xfrm>
          <a:prstGeom prst="ellipse">
            <a:avLst/>
          </a:prstGeom>
          <a:solidFill>
            <a:srgbClr val="0969DA"/>
          </a:solidFill>
          <a:ln/>
        </p:spPr>
      </p:sp>
      <p:sp>
        <p:nvSpPr>
          <p:cNvPr id="15" name="Text 12"/>
          <p:cNvSpPr txBox="1"/>
          <p:nvPr/>
        </p:nvSpPr>
        <p:spPr>
          <a:xfrm>
            <a:off x="8356397" y="1783080"/>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3</a:t>
            </a:r>
            <a:endParaRPr lang="id-ID" sz="2000" dirty="0"/>
          </a:p>
        </p:txBody>
      </p:sp>
      <p:sp>
        <p:nvSpPr>
          <p:cNvPr id="16" name="Text 13"/>
          <p:cNvSpPr txBox="1"/>
          <p:nvPr/>
        </p:nvSpPr>
        <p:spPr>
          <a:xfrm>
            <a:off x="8356397" y="2423160"/>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O dan L: menambah perilaku tanpa kejutan</a:t>
            </a:r>
            <a:endParaRPr lang="id-ID" sz="2200" dirty="0"/>
          </a:p>
        </p:txBody>
      </p:sp>
      <p:sp>
        <p:nvSpPr>
          <p:cNvPr id="17" name="Shape 14"/>
          <p:cNvSpPr/>
          <p:nvPr/>
        </p:nvSpPr>
        <p:spPr>
          <a:xfrm>
            <a:off x="548640" y="3994404"/>
            <a:ext cx="3515258" cy="2165604"/>
          </a:xfrm>
          <a:prstGeom prst="roundRect">
            <a:avLst>
              <a:gd name="adj" fmla="val 2139"/>
            </a:avLst>
          </a:prstGeom>
          <a:solidFill>
            <a:srgbClr val="F6F8FA"/>
          </a:solidFill>
          <a:ln w="9525">
            <a:solidFill>
              <a:srgbClr val="D0D7DE"/>
            </a:solidFill>
            <a:prstDash val="solid"/>
          </a:ln>
        </p:spPr>
      </p:sp>
      <p:sp>
        <p:nvSpPr>
          <p:cNvPr id="18" name="Shape 15"/>
          <p:cNvSpPr/>
          <p:nvPr/>
        </p:nvSpPr>
        <p:spPr>
          <a:xfrm>
            <a:off x="777240" y="4223004"/>
            <a:ext cx="512064" cy="512064"/>
          </a:xfrm>
          <a:prstGeom prst="ellipse">
            <a:avLst/>
          </a:prstGeom>
          <a:solidFill>
            <a:srgbClr val="0969DA"/>
          </a:solidFill>
          <a:ln/>
        </p:spPr>
      </p:sp>
      <p:sp>
        <p:nvSpPr>
          <p:cNvPr id="19" name="Text 16"/>
          <p:cNvSpPr txBox="1"/>
          <p:nvPr/>
        </p:nvSpPr>
        <p:spPr>
          <a:xfrm>
            <a:off x="777240" y="422300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4</a:t>
            </a:r>
            <a:endParaRPr lang="id-ID" sz="2000" dirty="0"/>
          </a:p>
        </p:txBody>
      </p:sp>
      <p:sp>
        <p:nvSpPr>
          <p:cNvPr id="20" name="Text 17"/>
          <p:cNvSpPr txBox="1"/>
          <p:nvPr/>
        </p:nvSpPr>
        <p:spPr>
          <a:xfrm>
            <a:off x="777240" y="4863084"/>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I dan D: kontrak kecil dan abstraksi</a:t>
            </a:r>
            <a:endParaRPr lang="id-ID" sz="2200" dirty="0"/>
          </a:p>
        </p:txBody>
      </p:sp>
      <p:sp>
        <p:nvSpPr>
          <p:cNvPr id="21" name="Shape 18"/>
          <p:cNvSpPr/>
          <p:nvPr/>
        </p:nvSpPr>
        <p:spPr>
          <a:xfrm>
            <a:off x="4338218" y="3994404"/>
            <a:ext cx="3515258" cy="2165604"/>
          </a:xfrm>
          <a:prstGeom prst="roundRect">
            <a:avLst>
              <a:gd name="adj" fmla="val 2139"/>
            </a:avLst>
          </a:prstGeom>
          <a:solidFill>
            <a:srgbClr val="F6F8FA"/>
          </a:solidFill>
          <a:ln w="9525">
            <a:solidFill>
              <a:srgbClr val="D0D7DE"/>
            </a:solidFill>
            <a:prstDash val="solid"/>
          </a:ln>
        </p:spPr>
      </p:sp>
      <p:sp>
        <p:nvSpPr>
          <p:cNvPr id="22" name="Shape 19"/>
          <p:cNvSpPr/>
          <p:nvPr/>
        </p:nvSpPr>
        <p:spPr>
          <a:xfrm>
            <a:off x="4566818" y="4223004"/>
            <a:ext cx="512064" cy="512064"/>
          </a:xfrm>
          <a:prstGeom prst="ellipse">
            <a:avLst/>
          </a:prstGeom>
          <a:solidFill>
            <a:srgbClr val="0969DA"/>
          </a:solidFill>
          <a:ln/>
        </p:spPr>
      </p:sp>
      <p:sp>
        <p:nvSpPr>
          <p:cNvPr id="23" name="Text 20"/>
          <p:cNvSpPr txBox="1"/>
          <p:nvPr/>
        </p:nvSpPr>
        <p:spPr>
          <a:xfrm>
            <a:off x="4566818" y="422300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5</a:t>
            </a:r>
            <a:endParaRPr lang="id-ID" sz="2000" dirty="0"/>
          </a:p>
        </p:txBody>
      </p:sp>
      <p:sp>
        <p:nvSpPr>
          <p:cNvPr id="24" name="Text 21"/>
          <p:cNvSpPr txBox="1"/>
          <p:nvPr/>
        </p:nvSpPr>
        <p:spPr>
          <a:xfrm>
            <a:off x="4566818" y="4863084"/>
            <a:ext cx="3058058" cy="1114044"/>
          </a:xfrm>
          <a:prstGeom prst="rect">
            <a:avLst/>
          </a:prstGeom>
          <a:noFill/>
          <a:ln/>
        </p:spPr>
        <p:txBody>
          <a:bodyPr wrap="square" lIns="0" tIns="0" rIns="0" bIns="0" rtlCol="0" anchor="t"/>
          <a:lstStyle/>
          <a:p>
            <a:pPr indent="0" marL="0">
              <a:buNone/>
            </a:pPr>
            <a:r>
              <a:rPr lang="id-ID" altLang="en-US" sz="2200" i="1" dirty="0">
                <a:solidFill>
                  <a:srgbClr val="1F2328"/>
                </a:solidFill>
              </a:rPr>
              <a:t>Refactoring</a:t>
            </a:r>
            <a:r>
              <a:rPr lang="id-ID" altLang="en-US" sz="2200" dirty="0">
                <a:solidFill>
                  <a:srgbClr val="1F2328"/>
                </a:solidFill>
              </a:rPr>
              <a:t> dan prinsip pendamping</a:t>
            </a:r>
            <a:endParaRPr lang="id-ID" sz="2200" dirty="0"/>
          </a:p>
        </p:txBody>
      </p:sp>
      <p:sp>
        <p:nvSpPr>
          <p:cNvPr id="25" name="Shape 22"/>
          <p:cNvSpPr/>
          <p:nvPr/>
        </p:nvSpPr>
        <p:spPr>
          <a:xfrm>
            <a:off x="8127797" y="3994404"/>
            <a:ext cx="3515258" cy="2165604"/>
          </a:xfrm>
          <a:prstGeom prst="roundRect">
            <a:avLst>
              <a:gd name="adj" fmla="val 2139"/>
            </a:avLst>
          </a:prstGeom>
          <a:solidFill>
            <a:srgbClr val="F6F8FA"/>
          </a:solidFill>
          <a:ln w="9525">
            <a:solidFill>
              <a:srgbClr val="D0D7DE"/>
            </a:solidFill>
            <a:prstDash val="solid"/>
          </a:ln>
        </p:spPr>
      </p:sp>
      <p:sp>
        <p:nvSpPr>
          <p:cNvPr id="26" name="Shape 23"/>
          <p:cNvSpPr/>
          <p:nvPr/>
        </p:nvSpPr>
        <p:spPr>
          <a:xfrm>
            <a:off x="8356397" y="4223004"/>
            <a:ext cx="512064" cy="512064"/>
          </a:xfrm>
          <a:prstGeom prst="ellipse">
            <a:avLst/>
          </a:prstGeom>
          <a:solidFill>
            <a:srgbClr val="0969DA"/>
          </a:solidFill>
          <a:ln/>
        </p:spPr>
      </p:sp>
      <p:sp>
        <p:nvSpPr>
          <p:cNvPr id="27" name="Text 24"/>
          <p:cNvSpPr txBox="1"/>
          <p:nvPr/>
        </p:nvSpPr>
        <p:spPr>
          <a:xfrm>
            <a:off x="8356397" y="4223004"/>
            <a:ext cx="512064" cy="512064"/>
          </a:xfrm>
          <a:prstGeom prst="rect">
            <a:avLst/>
          </a:prstGeom>
          <a:noFill/>
          <a:ln/>
        </p:spPr>
        <p:txBody>
          <a:bodyPr wrap="square" lIns="0" tIns="0" rIns="0" bIns="0" rtlCol="0" anchor="ctr"/>
          <a:lstStyle/>
          <a:p>
            <a:pPr algn="ctr" indent="0" marL="0">
              <a:buNone/>
            </a:pPr>
            <a:r>
              <a:rPr lang="id-ID" altLang="en-US" sz="2000" b="1" dirty="0">
                <a:solidFill>
                  <a:srgbClr val="FFFFFF"/>
                </a:solidFill>
              </a:rPr>
              <a:t>6</a:t>
            </a:r>
            <a:endParaRPr lang="id-ID" sz="2000" dirty="0"/>
          </a:p>
        </p:txBody>
      </p:sp>
      <p:sp>
        <p:nvSpPr>
          <p:cNvPr id="28" name="Text 25"/>
          <p:cNvSpPr txBox="1"/>
          <p:nvPr/>
        </p:nvSpPr>
        <p:spPr>
          <a:xfrm>
            <a:off x="8356397" y="4863084"/>
            <a:ext cx="3058058" cy="1114044"/>
          </a:xfrm>
          <a:prstGeom prst="rect">
            <a:avLst/>
          </a:prstGeom>
          <a:noFill/>
          <a:ln/>
        </p:spPr>
        <p:txBody>
          <a:bodyPr wrap="square" lIns="0" tIns="0" rIns="0" bIns="0" rtlCol="0" anchor="t"/>
          <a:lstStyle/>
          <a:p>
            <a:pPr indent="0" marL="0">
              <a:buNone/>
            </a:pPr>
            <a:r>
              <a:rPr lang="id-ID" altLang="en-US" sz="2200" dirty="0">
                <a:solidFill>
                  <a:srgbClr val="1F2328"/>
                </a:solidFill>
              </a:rPr>
              <a:t>Studi kasus KedaiKita: membongkar </a:t>
            </a:r>
            <a:r>
              <a:rPr lang="id-ID" altLang="en-US" sz="2200" dirty="0">
                <a:solidFill>
                  <a:srgbClr val="1F2328"/>
                </a:solidFill>
                <a:latin typeface="Consolas" pitchFamily="34" charset="0"/>
                <a:ea typeface="Consolas" pitchFamily="34" charset="-122"/>
                <a:cs typeface="Consolas" pitchFamily="34" charset="-120"/>
              </a:rPr>
              <a:t>KasirSerbaBisa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1</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1</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Program Benar, tetapi Sulit Diubah</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Kasir KedaiKita berjalan benar, tetapi Andi takut mengubahnya. Mengapa?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Code Smell</a:t>
            </a:r>
            <a:r>
              <a:rPr lang="id-ID" altLang="en-US" sz="3200" b="1" dirty="0">
                <a:solidFill>
                  <a:srgbClr val="0A3069"/>
                </a:solidFill>
              </a:rPr>
              <a:t>: Tanda Kode Mulai Bermasalah</a:t>
            </a:r>
            <a:endParaRPr lang="id-ID"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43416"/>
          <a:ext cx="11094415" cy="914400"/>
        </p:xfrm>
        <a:graphic>
          <a:graphicData uri="http://schemas.openxmlformats.org/drawingml/2006/table">
            <a:tbl>
              <a:tblPr/>
              <a:tblGrid>
                <a:gridCol w="2239541"/>
                <a:gridCol w="6223274"/>
                <a:gridCol w="2631601"/>
              </a:tblGrid>
              <a:tr h="647700">
                <a:tc>
                  <a:txBody>
                    <a:bodyPr/>
                    <a:lstStyle/>
                    <a:p>
                      <a:pPr indent="0" marL="0">
                        <a:buNone/>
                      </a:pPr>
                      <a:r>
                        <a:rPr lang="id-ID" altLang="en-US" sz="1500" b="1" i="1" dirty="0">
                          <a:solidFill>
                            <a:srgbClr val="FFFFFF"/>
                          </a:solidFill>
                          <a:latin typeface="Calibri" pitchFamily="34" charset="0"/>
                          <a:ea typeface="Calibri" pitchFamily="34" charset="-122"/>
                          <a:cs typeface="Calibri" pitchFamily="34" charset="-120"/>
                        </a:rPr>
                        <a:t>Code smell</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500" b="1" dirty="0">
                          <a:solidFill>
                            <a:srgbClr val="FFFFFF"/>
                          </a:solidFill>
                          <a:latin typeface="Calibri" pitchFamily="34" charset="0"/>
                          <a:ea typeface="Calibri" pitchFamily="34" charset="-122"/>
                          <a:cs typeface="Calibri" pitchFamily="34" charset="-120"/>
                        </a:rPr>
                        <a:t>Cirinya</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500" b="1" dirty="0">
                          <a:solidFill>
                            <a:srgbClr val="FFFFFF"/>
                          </a:solidFill>
                          <a:latin typeface="Calibri" pitchFamily="34" charset="0"/>
                          <a:ea typeface="Calibri" pitchFamily="34" charset="-122"/>
                          <a:cs typeface="Calibri" pitchFamily="34" charset="-120"/>
                        </a:rPr>
                        <a:t>Prinsip yang biasanya dilanggar</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64770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Kelas serba bisa (</a:t>
                      </a:r>
                      <a:r>
                        <a:rPr lang="id-ID" altLang="en-US" sz="1500" i="1" dirty="0">
                          <a:solidFill>
                            <a:srgbClr val="1F2328"/>
                          </a:solidFill>
                          <a:latin typeface="Calibri" pitchFamily="34" charset="0"/>
                          <a:ea typeface="Calibri" pitchFamily="34" charset="-122"/>
                          <a:cs typeface="Calibri" pitchFamily="34" charset="-120"/>
                        </a:rPr>
                        <a:t>god class</a:t>
                      </a:r>
                      <a:r>
                        <a:rPr lang="id-ID" altLang="en-US" sz="1500" dirty="0">
                          <a:solidFill>
                            <a:srgbClr val="1F232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satu kelas mengurus banyak hal berbeda, </a:t>
                      </a:r>
                      <a:r>
                        <a:rPr lang="id-ID" altLang="en-US" sz="1500" i="1" dirty="0">
                          <a:solidFill>
                            <a:srgbClr val="1F2328"/>
                          </a:solidFill>
                          <a:latin typeface="Calibri" pitchFamily="34" charset="0"/>
                          <a:ea typeface="Calibri" pitchFamily="34" charset="-122"/>
                          <a:cs typeface="Calibri" pitchFamily="34" charset="-120"/>
                        </a:rPr>
                        <a:t>method</a:t>
                      </a:r>
                      <a:r>
                        <a:rPr lang="id-ID" altLang="en-US" sz="1500" dirty="0">
                          <a:solidFill>
                            <a:srgbClr val="1F2328"/>
                          </a:solidFill>
                          <a:latin typeface="Calibri" pitchFamily="34" charset="0"/>
                          <a:ea typeface="Calibri" pitchFamily="34" charset="-122"/>
                          <a:cs typeface="Calibri" pitchFamily="34" charset="-120"/>
                        </a:rPr>
                        <a:t>-nya sangat panjang</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SRP</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4770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Rantai percabangan “jenis”</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0A3069"/>
                          </a:solidFill>
                          <a:latin typeface="Consolas" pitchFamily="34" charset="0"/>
                          <a:ea typeface="Consolas" pitchFamily="34" charset="-122"/>
                          <a:cs typeface="Consolas" pitchFamily="34" charset="-120"/>
                        </a:rPr>
                        <a:t>if jenis == "a" ... elif ...</a:t>
                      </a:r>
                      <a:r>
                        <a:rPr lang="id-ID" altLang="en-US" sz="1500" dirty="0">
                          <a:solidFill>
                            <a:srgbClr val="1F2328"/>
                          </a:solidFill>
                          <a:latin typeface="Calibri" pitchFamily="34" charset="0"/>
                          <a:ea typeface="Calibri" pitchFamily="34" charset="-122"/>
                          <a:cs typeface="Calibri" pitchFamily="34" charset="-120"/>
                        </a:rPr>
                        <a:t> yang bertambah setiap ada jenis baru</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OCP</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5290">
                <a:tc>
                  <a:txBody>
                    <a:bodyPr/>
                    <a:lstStyle/>
                    <a:p>
                      <a:pPr indent="0" marL="0">
                        <a:buNone/>
                      </a:pPr>
                      <a:r>
                        <a:rPr lang="id-ID" altLang="en-US" sz="1500" i="1" dirty="0">
                          <a:solidFill>
                            <a:srgbClr val="1F2328"/>
                          </a:solidFill>
                          <a:latin typeface="Calibri" pitchFamily="34" charset="0"/>
                          <a:ea typeface="Calibri" pitchFamily="34" charset="-122"/>
                          <a:cs typeface="Calibri" pitchFamily="34" charset="-120"/>
                        </a:rPr>
                        <a:t>Override</a:t>
                      </a:r>
                      <a:r>
                        <a:rPr lang="id-ID" altLang="en-US" sz="1500" dirty="0">
                          <a:solidFill>
                            <a:srgbClr val="1F2328"/>
                          </a:solidFill>
                          <a:latin typeface="Calibri" pitchFamily="34" charset="0"/>
                          <a:ea typeface="Calibri" pitchFamily="34" charset="-122"/>
                          <a:cs typeface="Calibri" pitchFamily="34" charset="-120"/>
                        </a:rPr>
                        <a:t> yang menolak</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i="1" dirty="0">
                          <a:solidFill>
                            <a:srgbClr val="1F2328"/>
                          </a:solidFill>
                          <a:latin typeface="Calibri" pitchFamily="34" charset="0"/>
                          <a:ea typeface="Calibri" pitchFamily="34" charset="-122"/>
                          <a:cs typeface="Calibri" pitchFamily="34" charset="-120"/>
                        </a:rPr>
                        <a:t>method</a:t>
                      </a:r>
                      <a:r>
                        <a:rPr lang="id-ID" altLang="en-US" sz="1500" dirty="0">
                          <a:solidFill>
                            <a:srgbClr val="1F2328"/>
                          </a:solidFill>
                          <a:latin typeface="Calibri" pitchFamily="34" charset="0"/>
                          <a:ea typeface="Calibri" pitchFamily="34" charset="-122"/>
                          <a:cs typeface="Calibri" pitchFamily="34" charset="-120"/>
                        </a:rPr>
                        <a:t> kelas anak hanya berisi “maaf, tidak bisa” (melempar </a:t>
                      </a:r>
                      <a:r>
                        <a:rPr lang="id-ID" altLang="en-US" sz="1500" i="1" dirty="0">
                          <a:solidFill>
                            <a:srgbClr val="1F2328"/>
                          </a:solidFill>
                          <a:latin typeface="Calibri" pitchFamily="34" charset="0"/>
                          <a:ea typeface="Calibri" pitchFamily="34" charset="-122"/>
                          <a:cs typeface="Calibri" pitchFamily="34" charset="-120"/>
                        </a:rPr>
                        <a:t>exception</a:t>
                      </a:r>
                      <a:r>
                        <a:rPr lang="id-ID" altLang="en-US" sz="1500" dirty="0">
                          <a:solidFill>
                            <a:srgbClr val="1F2328"/>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LSP, ISP</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5290">
                <a:tc>
                  <a:txBody>
                    <a:bodyPr/>
                    <a:lstStyle/>
                    <a:p>
                      <a:pPr indent="0" marL="0">
                        <a:buNone/>
                      </a:pPr>
                      <a:r>
                        <a:rPr lang="id-ID" altLang="en-US" sz="1500" i="1" dirty="0">
                          <a:solidFill>
                            <a:srgbClr val="1F2328"/>
                          </a:solidFill>
                          <a:latin typeface="Calibri" pitchFamily="34" charset="0"/>
                          <a:ea typeface="Calibri" pitchFamily="34" charset="-122"/>
                          <a:cs typeface="Calibri" pitchFamily="34" charset="-120"/>
                        </a:rPr>
                        <a:t>Interface</a:t>
                      </a:r>
                      <a:r>
                        <a:rPr lang="id-ID" altLang="en-US" sz="1500" dirty="0">
                          <a:solidFill>
                            <a:srgbClr val="1F2328"/>
                          </a:solidFill>
                          <a:latin typeface="Calibri" pitchFamily="34" charset="0"/>
                          <a:ea typeface="Calibri" pitchFamily="34" charset="-122"/>
                          <a:cs typeface="Calibri" pitchFamily="34" charset="-120"/>
                        </a:rPr>
                        <a:t> gemuk</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kelas dipaksa menulis </a:t>
                      </a:r>
                      <a:r>
                        <a:rPr lang="id-ID" altLang="en-US" sz="1500" i="1" dirty="0">
                          <a:solidFill>
                            <a:srgbClr val="1F2328"/>
                          </a:solidFill>
                          <a:latin typeface="Calibri" pitchFamily="34" charset="0"/>
                          <a:ea typeface="Calibri" pitchFamily="34" charset="-122"/>
                          <a:cs typeface="Calibri" pitchFamily="34" charset="-120"/>
                        </a:rPr>
                        <a:t>method</a:t>
                      </a:r>
                      <a:r>
                        <a:rPr lang="id-ID" altLang="en-US" sz="1500" dirty="0">
                          <a:solidFill>
                            <a:srgbClr val="1F2328"/>
                          </a:solidFill>
                          <a:latin typeface="Calibri" pitchFamily="34" charset="0"/>
                          <a:ea typeface="Calibri" pitchFamily="34" charset="-122"/>
                          <a:cs typeface="Calibri" pitchFamily="34" charset="-120"/>
                        </a:rPr>
                        <a:t> yang tidak ia butuhkan</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ISP</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529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Membuat alat sendiri</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menciptakan sendiri objek konkret yang dipakai, sulit diganti atau diuji</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DIP</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5290">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Kode kembar</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rumus yang sama disalin ke beberapa tempat</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500" dirty="0">
                          <a:solidFill>
                            <a:srgbClr val="1F2328"/>
                          </a:solidFill>
                          <a:latin typeface="Calibri" pitchFamily="34" charset="0"/>
                          <a:ea typeface="Calibri" pitchFamily="34" charset="-122"/>
                          <a:cs typeface="Calibri" pitchFamily="34" charset="-120"/>
                        </a:rPr>
                        <a:t>DRY</a:t>
                      </a:r>
                      <a:endParaRPr lang="en-US" sz="15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394564"/>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466984"/>
            <a:ext cx="184343" cy="184343"/>
          </a:xfrm>
          <a:prstGeom prst="rect">
            <a:avLst/>
          </a:prstGeom>
        </p:spPr>
      </p:pic>
      <p:sp>
        <p:nvSpPr>
          <p:cNvPr id="8" name="Text 3"/>
          <p:cNvSpPr txBox="1"/>
          <p:nvPr/>
        </p:nvSpPr>
        <p:spPr>
          <a:xfrm>
            <a:off x="1005840" y="5376276"/>
            <a:ext cx="10637215" cy="603504"/>
          </a:xfrm>
          <a:prstGeom prst="rect">
            <a:avLst/>
          </a:prstGeom>
          <a:noFill/>
          <a:ln/>
        </p:spPr>
        <p:txBody>
          <a:bodyPr wrap="square" lIns="0" tIns="0" rIns="0" bIns="0" rtlCol="0" anchor="t"/>
          <a:lstStyle/>
          <a:p>
            <a:pPr indent="0" marL="0">
              <a:buNone/>
            </a:pPr>
            <a:r>
              <a:rPr lang="id-ID" altLang="en-US" sz="1800" b="1" dirty="0">
                <a:solidFill>
                  <a:srgbClr val="57606A"/>
                </a:solidFill>
              </a:rPr>
              <a:t>Kaku</a:t>
            </a:r>
            <a:r>
              <a:rPr lang="id-ID" altLang="en-US" sz="1800" dirty="0">
                <a:solidFill>
                  <a:srgbClr val="57606A"/>
                </a:solidFill>
              </a:rPr>
              <a:t> (</a:t>
            </a:r>
            <a:r>
              <a:rPr lang="id-ID" altLang="en-US" sz="1800" i="1" dirty="0">
                <a:solidFill>
                  <a:srgbClr val="57606A"/>
                </a:solidFill>
              </a:rPr>
              <a:t>rigid</a:t>
            </a:r>
            <a:r>
              <a:rPr lang="id-ID" altLang="en-US" sz="1800" dirty="0">
                <a:solidFill>
                  <a:srgbClr val="57606A"/>
                </a:solidFill>
              </a:rPr>
              <a:t>): satu perubahan kecil memaksa banyak bagian lain ikut diubah. </a:t>
            </a:r>
            <a:r>
              <a:rPr lang="id-ID" altLang="en-US" sz="1800" b="1" dirty="0">
                <a:solidFill>
                  <a:srgbClr val="57606A"/>
                </a:solidFill>
              </a:rPr>
              <a:t>Rapuh</a:t>
            </a:r>
            <a:r>
              <a:rPr lang="id-ID" altLang="en-US" sz="1800" dirty="0">
                <a:solidFill>
                  <a:srgbClr val="57606A"/>
                </a:solidFill>
              </a:rPr>
              <a:t> (</a:t>
            </a:r>
            <a:r>
              <a:rPr lang="id-ID" altLang="en-US" sz="1800" i="1" dirty="0">
                <a:solidFill>
                  <a:srgbClr val="57606A"/>
                </a:solidFill>
              </a:rPr>
              <a:t>fragile</a:t>
            </a:r>
            <a:r>
              <a:rPr lang="id-ID" altLang="en-US" sz="1800" dirty="0">
                <a:solidFill>
                  <a:srgbClr val="57606A"/>
                </a:solidFill>
              </a:rPr>
              <a:t>): mengubah satu tempat merusak tempat lain.</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SOLID dalam Satu Tabel</a:t>
            </a:r>
            <a:endParaRPr lang="id-ID"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51031"/>
          <a:ext cx="11094415" cy="914400"/>
        </p:xfrm>
        <a:graphic>
          <a:graphicData uri="http://schemas.openxmlformats.org/drawingml/2006/table">
            <a:tbl>
              <a:tblPr/>
              <a:tblGrid>
                <a:gridCol w="2725435"/>
                <a:gridCol w="3511615"/>
                <a:gridCol w="4857366"/>
              </a:tblGrid>
              <a:tr h="430784">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Prinsip</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Arti singkat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600" b="1" dirty="0">
                          <a:solidFill>
                            <a:srgbClr val="FFFFFF"/>
                          </a:solidFill>
                          <a:latin typeface="Calibri" pitchFamily="34" charset="0"/>
                          <a:ea typeface="Calibri" pitchFamily="34" charset="-122"/>
                          <a:cs typeface="Calibri" pitchFamily="34" charset="-120"/>
                        </a:rPr>
                        <a:t>Pertanyaan untuk menguji kodemu</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678688">
                <a:tc>
                  <a:txBody>
                    <a:bodyPr/>
                    <a:lstStyle/>
                    <a:p>
                      <a:pPr indent="0" marL="0">
                        <a:buNone/>
                      </a:pPr>
                      <a:r>
                        <a:rPr lang="id-ID" altLang="en-US" sz="1600" b="1" dirty="0">
                          <a:solidFill>
                            <a:srgbClr val="1F2328"/>
                          </a:solidFill>
                          <a:latin typeface="Calibri" pitchFamily="34" charset="0"/>
                          <a:ea typeface="Calibri" pitchFamily="34" charset="-122"/>
                          <a:cs typeface="Calibri" pitchFamily="34" charset="-120"/>
                        </a:rPr>
                        <a:t>S</a:t>
                      </a:r>
                      <a:r>
                        <a:rPr lang="id-ID" altLang="en-US" sz="1600" dirty="0">
                          <a:solidFill>
                            <a:srgbClr val="1F2328"/>
                          </a:solidFill>
                          <a:latin typeface="Calibri" pitchFamily="34" charset="0"/>
                          <a:ea typeface="Calibri" pitchFamily="34" charset="-122"/>
                          <a:cs typeface="Calibri" pitchFamily="34" charset="-120"/>
                        </a:rPr>
                        <a:t>: </a:t>
                      </a:r>
                      <a:r>
                        <a:rPr lang="id-ID" altLang="en-US" sz="1600" i="1" dirty="0">
                          <a:solidFill>
                            <a:srgbClr val="1F2328"/>
                          </a:solidFill>
                          <a:latin typeface="Calibri" pitchFamily="34" charset="0"/>
                          <a:ea typeface="Calibri" pitchFamily="34" charset="-122"/>
                          <a:cs typeface="Calibri" pitchFamily="34" charset="-120"/>
                        </a:rPr>
                        <a:t>Single Responsibility Principle</a:t>
                      </a:r>
                      <a:r>
                        <a:rPr lang="id-ID" altLang="en-US" sz="1600" dirty="0">
                          <a:solidFill>
                            <a:srgbClr val="1F2328"/>
                          </a:solidFill>
                          <a:latin typeface="Calibri" pitchFamily="34" charset="0"/>
                          <a:ea typeface="Calibri" pitchFamily="34" charset="-122"/>
                          <a:cs typeface="Calibri" pitchFamily="34" charset="-120"/>
                        </a:rPr>
                        <a:t> (SRP)</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satu kelas, satu alasan untuk berubah</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Adakah lebih dari satu pihak atau aturan yang bisa memaksanya berubah?</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78688">
                <a:tc>
                  <a:txBody>
                    <a:bodyPr/>
                    <a:lstStyle/>
                    <a:p>
                      <a:pPr indent="0" marL="0">
                        <a:buNone/>
                      </a:pPr>
                      <a:r>
                        <a:rPr lang="id-ID" altLang="en-US" sz="1600" b="1" dirty="0">
                          <a:solidFill>
                            <a:srgbClr val="1F2328"/>
                          </a:solidFill>
                          <a:latin typeface="Calibri" pitchFamily="34" charset="0"/>
                          <a:ea typeface="Calibri" pitchFamily="34" charset="-122"/>
                          <a:cs typeface="Calibri" pitchFamily="34" charset="-120"/>
                        </a:rPr>
                        <a:t>O</a:t>
                      </a:r>
                      <a:r>
                        <a:rPr lang="id-ID" altLang="en-US" sz="1600" dirty="0">
                          <a:solidFill>
                            <a:srgbClr val="1F2328"/>
                          </a:solidFill>
                          <a:latin typeface="Calibri" pitchFamily="34" charset="0"/>
                          <a:ea typeface="Calibri" pitchFamily="34" charset="-122"/>
                          <a:cs typeface="Calibri" pitchFamily="34" charset="-120"/>
                        </a:rPr>
                        <a:t>: </a:t>
                      </a:r>
                      <a:r>
                        <a:rPr lang="id-ID" altLang="en-US" sz="1600" i="1" dirty="0">
                          <a:solidFill>
                            <a:srgbClr val="1F2328"/>
                          </a:solidFill>
                          <a:latin typeface="Calibri" pitchFamily="34" charset="0"/>
                          <a:ea typeface="Calibri" pitchFamily="34" charset="-122"/>
                          <a:cs typeface="Calibri" pitchFamily="34" charset="-120"/>
                        </a:rPr>
                        <a:t>Open/Closed Principle</a:t>
                      </a:r>
                      <a:r>
                        <a:rPr lang="id-ID" altLang="en-US" sz="1600" dirty="0">
                          <a:solidFill>
                            <a:srgbClr val="1F2328"/>
                          </a:solidFill>
                          <a:latin typeface="Calibri" pitchFamily="34" charset="0"/>
                          <a:ea typeface="Calibri" pitchFamily="34" charset="-122"/>
                          <a:cs typeface="Calibri" pitchFamily="34" charset="-120"/>
                        </a:rPr>
                        <a:t> (OCP)</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terbuka untuk ditambah, tertutup untuk diubah</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Bisakah fitur baru ditambahkan tanpa membongkar kelas lama?</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678688">
                <a:tc>
                  <a:txBody>
                    <a:bodyPr/>
                    <a:lstStyle/>
                    <a:p>
                      <a:pPr indent="0" marL="0">
                        <a:buNone/>
                      </a:pPr>
                      <a:r>
                        <a:rPr lang="id-ID" altLang="en-US" sz="1600" b="1" dirty="0">
                          <a:solidFill>
                            <a:srgbClr val="1F2328"/>
                          </a:solidFill>
                          <a:latin typeface="Calibri" pitchFamily="34" charset="0"/>
                          <a:ea typeface="Calibri" pitchFamily="34" charset="-122"/>
                          <a:cs typeface="Calibri" pitchFamily="34" charset="-120"/>
                        </a:rPr>
                        <a:t>L</a:t>
                      </a:r>
                      <a:r>
                        <a:rPr lang="id-ID" altLang="en-US" sz="1600" dirty="0">
                          <a:solidFill>
                            <a:srgbClr val="1F2328"/>
                          </a:solidFill>
                          <a:latin typeface="Calibri" pitchFamily="34" charset="0"/>
                          <a:ea typeface="Calibri" pitchFamily="34" charset="-122"/>
                          <a:cs typeface="Calibri" pitchFamily="34" charset="-120"/>
                        </a:rPr>
                        <a:t>: </a:t>
                      </a:r>
                      <a:r>
                        <a:rPr lang="id-ID" altLang="en-US" sz="1600" i="1" dirty="0">
                          <a:solidFill>
                            <a:srgbClr val="1F2328"/>
                          </a:solidFill>
                          <a:latin typeface="Calibri" pitchFamily="34" charset="0"/>
                          <a:ea typeface="Calibri" pitchFamily="34" charset="-122"/>
                          <a:cs typeface="Calibri" pitchFamily="34" charset="-120"/>
                        </a:rPr>
                        <a:t>Liskov Substitution Principle</a:t>
                      </a:r>
                      <a:r>
                        <a:rPr lang="id-ID" altLang="en-US" sz="1600" dirty="0">
                          <a:solidFill>
                            <a:srgbClr val="1F2328"/>
                          </a:solidFill>
                          <a:latin typeface="Calibri" pitchFamily="34" charset="0"/>
                          <a:ea typeface="Calibri" pitchFamily="34" charset="-122"/>
                          <a:cs typeface="Calibri" pitchFamily="34" charset="-120"/>
                        </a:rPr>
                        <a:t> (LSP)</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kelas anak bisa menggantikan induknya tanpa kejutan</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Apakah kelas anak menepati semua janji kelas induknya?</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678688">
                <a:tc>
                  <a:txBody>
                    <a:bodyPr/>
                    <a:lstStyle/>
                    <a:p>
                      <a:pPr indent="0" marL="0">
                        <a:buNone/>
                      </a:pPr>
                      <a:r>
                        <a:rPr lang="id-ID" altLang="en-US" sz="1600" b="1" dirty="0">
                          <a:solidFill>
                            <a:srgbClr val="1F2328"/>
                          </a:solidFill>
                          <a:latin typeface="Calibri" pitchFamily="34" charset="0"/>
                          <a:ea typeface="Calibri" pitchFamily="34" charset="-122"/>
                          <a:cs typeface="Calibri" pitchFamily="34" charset="-120"/>
                        </a:rPr>
                        <a:t>I</a:t>
                      </a:r>
                      <a:r>
                        <a:rPr lang="id-ID" altLang="en-US" sz="1600" dirty="0">
                          <a:solidFill>
                            <a:srgbClr val="1F2328"/>
                          </a:solidFill>
                          <a:latin typeface="Calibri" pitchFamily="34" charset="0"/>
                          <a:ea typeface="Calibri" pitchFamily="34" charset="-122"/>
                          <a:cs typeface="Calibri" pitchFamily="34" charset="-120"/>
                        </a:rPr>
                        <a:t>: </a:t>
                      </a:r>
                      <a:r>
                        <a:rPr lang="id-ID" altLang="en-US" sz="1600" i="1" dirty="0">
                          <a:solidFill>
                            <a:srgbClr val="1F2328"/>
                          </a:solidFill>
                          <a:latin typeface="Calibri" pitchFamily="34" charset="0"/>
                          <a:ea typeface="Calibri" pitchFamily="34" charset="-122"/>
                          <a:cs typeface="Calibri" pitchFamily="34" charset="-120"/>
                        </a:rPr>
                        <a:t>Interface Segregation Principle</a:t>
                      </a:r>
                      <a:r>
                        <a:rPr lang="id-ID" altLang="en-US" sz="1600" dirty="0">
                          <a:solidFill>
                            <a:srgbClr val="1F2328"/>
                          </a:solidFill>
                          <a:latin typeface="Calibri" pitchFamily="34" charset="0"/>
                          <a:ea typeface="Calibri" pitchFamily="34" charset="-122"/>
                          <a:cs typeface="Calibri" pitchFamily="34" charset="-120"/>
                        </a:rPr>
                        <a:t> (ISP)</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i="1" dirty="0">
                          <a:solidFill>
                            <a:srgbClr val="1F2328"/>
                          </a:solidFill>
                          <a:latin typeface="Calibri" pitchFamily="34" charset="0"/>
                          <a:ea typeface="Calibri" pitchFamily="34" charset="-122"/>
                          <a:cs typeface="Calibri" pitchFamily="34" charset="-120"/>
                        </a:rPr>
                        <a:t>interface</a:t>
                      </a:r>
                      <a:r>
                        <a:rPr lang="id-ID" altLang="en-US" sz="1600" dirty="0">
                          <a:solidFill>
                            <a:srgbClr val="1F2328"/>
                          </a:solidFill>
                          <a:latin typeface="Calibri" pitchFamily="34" charset="0"/>
                          <a:ea typeface="Calibri" pitchFamily="34" charset="-122"/>
                          <a:cs typeface="Calibri" pitchFamily="34" charset="-120"/>
                        </a:rPr>
                        <a:t> kecil yang fokus</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Adakah kelas yang dipaksa menulis </a:t>
                      </a:r>
                      <a:r>
                        <a:rPr lang="id-ID" altLang="en-US" sz="1600" i="1" dirty="0">
                          <a:solidFill>
                            <a:srgbClr val="1F2328"/>
                          </a:solidFill>
                          <a:latin typeface="Calibri" pitchFamily="34" charset="0"/>
                          <a:ea typeface="Calibri" pitchFamily="34" charset="-122"/>
                          <a:cs typeface="Calibri" pitchFamily="34" charset="-120"/>
                        </a:rPr>
                        <a:t>method</a:t>
                      </a:r>
                      <a:r>
                        <a:rPr lang="id-ID" altLang="en-US" sz="1600" dirty="0">
                          <a:solidFill>
                            <a:srgbClr val="1F2328"/>
                          </a:solidFill>
                          <a:latin typeface="Calibri" pitchFamily="34" charset="0"/>
                          <a:ea typeface="Calibri" pitchFamily="34" charset="-122"/>
                          <a:cs typeface="Calibri" pitchFamily="34" charset="-120"/>
                        </a:rPr>
                        <a:t> yang tidak ia butuhkan?</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678688">
                <a:tc>
                  <a:txBody>
                    <a:bodyPr/>
                    <a:lstStyle/>
                    <a:p>
                      <a:pPr indent="0" marL="0">
                        <a:buNone/>
                      </a:pPr>
                      <a:r>
                        <a:rPr lang="id-ID" altLang="en-US" sz="1600" b="1" dirty="0">
                          <a:solidFill>
                            <a:srgbClr val="1F2328"/>
                          </a:solidFill>
                          <a:latin typeface="Calibri" pitchFamily="34" charset="0"/>
                          <a:ea typeface="Calibri" pitchFamily="34" charset="-122"/>
                          <a:cs typeface="Calibri" pitchFamily="34" charset="-120"/>
                        </a:rPr>
                        <a:t>D</a:t>
                      </a:r>
                      <a:r>
                        <a:rPr lang="id-ID" altLang="en-US" sz="1600" dirty="0">
                          <a:solidFill>
                            <a:srgbClr val="1F2328"/>
                          </a:solidFill>
                          <a:latin typeface="Calibri" pitchFamily="34" charset="0"/>
                          <a:ea typeface="Calibri" pitchFamily="34" charset="-122"/>
                          <a:cs typeface="Calibri" pitchFamily="34" charset="-120"/>
                        </a:rPr>
                        <a:t>: </a:t>
                      </a:r>
                      <a:r>
                        <a:rPr lang="id-ID" altLang="en-US" sz="1600" i="1" dirty="0">
                          <a:solidFill>
                            <a:srgbClr val="1F2328"/>
                          </a:solidFill>
                          <a:latin typeface="Calibri" pitchFamily="34" charset="0"/>
                          <a:ea typeface="Calibri" pitchFamily="34" charset="-122"/>
                          <a:cs typeface="Calibri" pitchFamily="34" charset="-120"/>
                        </a:rPr>
                        <a:t>Dependency Inversion Principle</a:t>
                      </a:r>
                      <a:r>
                        <a:rPr lang="id-ID" altLang="en-US" sz="1600" dirty="0">
                          <a:solidFill>
                            <a:srgbClr val="1F2328"/>
                          </a:solidFill>
                          <a:latin typeface="Calibri" pitchFamily="34" charset="0"/>
                          <a:ea typeface="Calibri" pitchFamily="34" charset="-122"/>
                          <a:cs typeface="Calibri" pitchFamily="34" charset="-120"/>
                        </a:rPr>
                        <a:t> (DIP)</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bergantung pada abstraksi, bukan pada kelas konkret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600" dirty="0">
                          <a:solidFill>
                            <a:srgbClr val="1F2328"/>
                          </a:solidFill>
                          <a:latin typeface="Calibri" pitchFamily="34" charset="0"/>
                          <a:ea typeface="Calibri" pitchFamily="34" charset="-122"/>
                          <a:cs typeface="Calibri" pitchFamily="34" charset="-120"/>
                        </a:rPr>
                        <a:t>Apakah kelas pengatur ini terikat langsung pada kelas konkret?</a:t>
                      </a:r>
                      <a:endParaRPr lang="en-US" sz="16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522143"/>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594563"/>
            <a:ext cx="184343" cy="184343"/>
          </a:xfrm>
          <a:prstGeom prst="rect">
            <a:avLst/>
          </a:prstGeom>
        </p:spPr>
      </p:pic>
      <p:sp>
        <p:nvSpPr>
          <p:cNvPr id="8" name="Text 3"/>
          <p:cNvSpPr txBox="1"/>
          <p:nvPr/>
        </p:nvSpPr>
        <p:spPr>
          <a:xfrm>
            <a:off x="1005840" y="5503855"/>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Dirangkum dan dipopulerkan oleh Robert C. Martin. Kelimanya saling mendukung: satu perbaikan sering memenuhi dua prinsip sekaligus.</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2</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2</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000" b="1" dirty="0">
                <a:solidFill>
                  <a:srgbClr val="FFFFFF"/>
                </a:solidFill>
              </a:rPr>
              <a:t>S: Satu Kelas, Satu Alasan untuk Berubah</a:t>
            </a:r>
            <a:endParaRPr lang="id-ID" sz="40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Prinsip pertama: pisahkan urusan yang perubahannya datang dari sumber berbeda.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SRP: Siapa yang Akan Meminta Perubahan?</a:t>
            </a:r>
            <a:endParaRPr lang="id-ID" sz="3200" dirty="0"/>
          </a:p>
        </p:txBody>
      </p:sp>
      <p:sp>
        <p:nvSpPr>
          <p:cNvPr id="5" name="Text 2"/>
          <p:cNvSpPr txBox="1"/>
          <p:nvPr/>
        </p:nvSpPr>
        <p:spPr>
          <a:xfrm>
            <a:off x="548640" y="1521546"/>
            <a:ext cx="11094415" cy="548640"/>
          </a:xfrm>
          <a:prstGeom prst="rect">
            <a:avLst/>
          </a:prstGeom>
          <a:noFill/>
          <a:ln/>
        </p:spPr>
        <p:txBody>
          <a:bodyPr wrap="square" lIns="0" tIns="0" rIns="0" bIns="0" rtlCol="0" anchor="t"/>
          <a:lstStyle/>
          <a:p>
            <a:pPr indent="0" marL="0">
              <a:buNone/>
            </a:pPr>
            <a:r>
              <a:rPr lang="id-ID" altLang="en-US" sz="3000" b="1" dirty="0">
                <a:solidFill>
                  <a:srgbClr val="0969DA"/>
                </a:solidFill>
              </a:rPr>
              <a:t>SRP (</a:t>
            </a:r>
            <a:r>
              <a:rPr lang="id-ID" altLang="en-US" sz="3000" b="1" i="1" dirty="0">
                <a:solidFill>
                  <a:srgbClr val="0969DA"/>
                </a:solidFill>
              </a:rPr>
              <a:t>Single Responsibility Principle</a:t>
            </a:r>
            <a:r>
              <a:rPr lang="id-ID" altLang="en-US" sz="3000" b="1" dirty="0">
                <a:solidFill>
                  <a:srgbClr val="0969DA"/>
                </a:solidFill>
              </a:rPr>
              <a:t>)</a:t>
            </a:r>
            <a:endParaRPr lang="id-ID" sz="3000" dirty="0"/>
          </a:p>
        </p:txBody>
      </p:sp>
      <p:sp>
        <p:nvSpPr>
          <p:cNvPr id="6" name="Shape 3"/>
          <p:cNvSpPr/>
          <p:nvPr/>
        </p:nvSpPr>
        <p:spPr>
          <a:xfrm>
            <a:off x="548640" y="2234778"/>
            <a:ext cx="11094415" cy="1261364"/>
          </a:xfrm>
          <a:prstGeom prst="roundRect">
            <a:avLst>
              <a:gd name="adj" fmla="val 6306"/>
            </a:avLst>
          </a:prstGeom>
          <a:solidFill>
            <a:srgbClr val="DDF4FF"/>
          </a:solidFill>
          <a:ln w="9525">
            <a:solidFill>
              <a:srgbClr val="54AEFF"/>
            </a:solidFill>
            <a:prstDash val="solid"/>
          </a:ln>
        </p:spPr>
      </p:sp>
      <p:sp>
        <p:nvSpPr>
          <p:cNvPr id="7" name="Shape 4"/>
          <p:cNvSpPr/>
          <p:nvPr/>
        </p:nvSpPr>
        <p:spPr>
          <a:xfrm>
            <a:off x="804672" y="2591140"/>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711841"/>
            <a:ext cx="307238" cy="307238"/>
          </a:xfrm>
          <a:prstGeom prst="rect">
            <a:avLst/>
          </a:prstGeom>
        </p:spPr>
      </p:pic>
      <p:sp>
        <p:nvSpPr>
          <p:cNvPr id="9" name="Text 5"/>
          <p:cNvSpPr txBox="1"/>
          <p:nvPr/>
        </p:nvSpPr>
        <p:spPr>
          <a:xfrm>
            <a:off x="1554480" y="2509098"/>
            <a:ext cx="9859975" cy="895604"/>
          </a:xfrm>
          <a:prstGeom prst="rect">
            <a:avLst/>
          </a:prstGeom>
          <a:noFill/>
          <a:ln/>
        </p:spPr>
        <p:txBody>
          <a:bodyPr wrap="square" lIns="0" tIns="0" rIns="0" bIns="0" rtlCol="0" anchor="t"/>
          <a:lstStyle/>
          <a:p>
            <a:pPr indent="0" marL="0">
              <a:buNone/>
            </a:pPr>
            <a:r>
              <a:rPr lang="id-ID" altLang="en-US" sz="2300" dirty="0">
                <a:solidFill>
                  <a:srgbClr val="1F2328"/>
                </a:solidFill>
              </a:rPr>
              <a:t>Sebuah kelas sebaiknya hanya punya </a:t>
            </a:r>
            <a:r>
              <a:rPr lang="id-ID" altLang="en-US" sz="2300" b="1" dirty="0">
                <a:solidFill>
                  <a:srgbClr val="1F2328"/>
                </a:solidFill>
              </a:rPr>
              <a:t>satu alasan untuk berubah</a:t>
            </a:r>
            <a:r>
              <a:rPr lang="id-ID" altLang="en-US" sz="2300" dirty="0">
                <a:solidFill>
                  <a:srgbClr val="1F2328"/>
                </a:solidFill>
              </a:rPr>
              <a:t>, yaitu hanya mengurus satu urusan yang perubahannya datang dari satu sumber yang sama.</a:t>
            </a:r>
            <a:endParaRPr lang="id-ID" sz="2300" dirty="0"/>
          </a:p>
        </p:txBody>
      </p:sp>
      <p:sp>
        <p:nvSpPr>
          <p:cNvPr id="10" name="Shape 6"/>
          <p:cNvSpPr/>
          <p:nvPr/>
        </p:nvSpPr>
        <p:spPr>
          <a:xfrm>
            <a:off x="603504" y="4047449"/>
            <a:ext cx="137160" cy="137160"/>
          </a:xfrm>
          <a:prstGeom prst="roundRect">
            <a:avLst>
              <a:gd name="adj" fmla="val 166667"/>
            </a:avLst>
          </a:prstGeom>
          <a:solidFill>
            <a:srgbClr val="0969DA"/>
          </a:solidFill>
          <a:ln/>
        </p:spPr>
      </p:sp>
      <p:sp>
        <p:nvSpPr>
          <p:cNvPr id="11" name="Text 7"/>
          <p:cNvSpPr txBox="1"/>
          <p:nvPr/>
        </p:nvSpPr>
        <p:spPr>
          <a:xfrm>
            <a:off x="932688" y="3953342"/>
            <a:ext cx="10710367" cy="696468"/>
          </a:xfrm>
          <a:prstGeom prst="rect">
            <a:avLst/>
          </a:prstGeom>
          <a:noFill/>
          <a:ln/>
        </p:spPr>
        <p:txBody>
          <a:bodyPr wrap="square" lIns="0" tIns="0" rIns="0" bIns="0" rtlCol="0" anchor="t"/>
          <a:lstStyle/>
          <a:p>
            <a:pPr indent="0" marL="0">
              <a:buNone/>
            </a:pPr>
            <a:r>
              <a:rPr lang="id-ID" altLang="en-US" sz="2100" dirty="0">
                <a:solidFill>
                  <a:srgbClr val="1F2328"/>
                </a:solidFill>
                <a:latin typeface="Consolas" pitchFamily="34" charset="0"/>
                <a:ea typeface="Consolas" pitchFamily="34" charset="-122"/>
                <a:cs typeface="Consolas" pitchFamily="34" charset="-120"/>
              </a:rPr>
              <a:t>LaporanSerbaBisa</a:t>
            </a:r>
            <a:r>
              <a:rPr lang="id-ID" altLang="en-US" sz="2100" dirty="0">
                <a:solidFill>
                  <a:srgbClr val="1F2328"/>
                </a:solidFill>
              </a:rPr>
              <a:t> menghitung nilai </a:t>
            </a:r>
            <a:r>
              <a:rPr lang="id-ID" altLang="en-US" sz="2100" b="1" dirty="0">
                <a:solidFill>
                  <a:srgbClr val="1F2328"/>
                </a:solidFill>
              </a:rPr>
              <a:t>dan</a:t>
            </a:r>
            <a:r>
              <a:rPr lang="id-ID" altLang="en-US" sz="2100" dirty="0">
                <a:solidFill>
                  <a:srgbClr val="1F2328"/>
                </a:solidFill>
              </a:rPr>
              <a:t> mencetak laporan: dua sumber perubahan, dua alasan untuk berubah.</a:t>
            </a:r>
            <a:endParaRPr lang="id-ID" sz="2100" dirty="0"/>
          </a:p>
        </p:txBody>
      </p:sp>
      <p:sp>
        <p:nvSpPr>
          <p:cNvPr id="12" name="Shape 8"/>
          <p:cNvSpPr/>
          <p:nvPr/>
        </p:nvSpPr>
        <p:spPr>
          <a:xfrm>
            <a:off x="603504" y="4935941"/>
            <a:ext cx="137160" cy="137160"/>
          </a:xfrm>
          <a:prstGeom prst="roundRect">
            <a:avLst>
              <a:gd name="adj" fmla="val 166667"/>
            </a:avLst>
          </a:prstGeom>
          <a:solidFill>
            <a:srgbClr val="0969DA"/>
          </a:solidFill>
          <a:ln/>
        </p:spPr>
      </p:sp>
      <p:sp>
        <p:nvSpPr>
          <p:cNvPr id="13" name="Text 9"/>
          <p:cNvSpPr txBox="1"/>
          <p:nvPr/>
        </p:nvSpPr>
        <p:spPr>
          <a:xfrm>
            <a:off x="932688" y="4841834"/>
            <a:ext cx="10710367" cy="696468"/>
          </a:xfrm>
          <a:prstGeom prst="rect">
            <a:avLst/>
          </a:prstGeom>
          <a:noFill/>
          <a:ln/>
        </p:spPr>
        <p:txBody>
          <a:bodyPr wrap="square" lIns="0" tIns="0" rIns="0" bIns="0" rtlCol="0" anchor="t"/>
          <a:lstStyle/>
          <a:p>
            <a:pPr indent="0" marL="0">
              <a:buNone/>
            </a:pPr>
            <a:r>
              <a:rPr lang="id-ID" altLang="en-US" sz="2100" dirty="0">
                <a:solidFill>
                  <a:srgbClr val="1F2328"/>
                </a:solidFill>
              </a:rPr>
              <a:t>Trik cepat: jelaskan tugas kelasmu dalam satu kalimat. Jika penuh kata “dan”, tugasnya kemungkinan terlalu banyak.</a:t>
            </a:r>
            <a:endParaRPr lang="id-ID" sz="2100" dirty="0"/>
          </a:p>
        </p:txBody>
      </p:sp>
      <p:sp>
        <p:nvSpPr>
          <p:cNvPr id="14" name="Shape 10"/>
          <p:cNvSpPr/>
          <p:nvPr/>
        </p:nvSpPr>
        <p:spPr>
          <a:xfrm>
            <a:off x="603504" y="5824433"/>
            <a:ext cx="137160" cy="137160"/>
          </a:xfrm>
          <a:prstGeom prst="roundRect">
            <a:avLst>
              <a:gd name="adj" fmla="val 166667"/>
            </a:avLst>
          </a:prstGeom>
          <a:solidFill>
            <a:srgbClr val="0969DA"/>
          </a:solidFill>
          <a:ln/>
        </p:spPr>
      </p:sp>
      <p:sp>
        <p:nvSpPr>
          <p:cNvPr id="15" name="Text 11"/>
          <p:cNvSpPr txBox="1"/>
          <p:nvPr/>
        </p:nvSpPr>
        <p:spPr>
          <a:xfrm>
            <a:off x="932688" y="5730326"/>
            <a:ext cx="10710367" cy="371094"/>
          </a:xfrm>
          <a:prstGeom prst="rect">
            <a:avLst/>
          </a:prstGeom>
          <a:noFill/>
          <a:ln/>
        </p:spPr>
        <p:txBody>
          <a:bodyPr wrap="square" lIns="0" tIns="0" rIns="0" bIns="0" rtlCol="0" anchor="t"/>
          <a:lstStyle/>
          <a:p>
            <a:pPr indent="0" marL="0">
              <a:buNone/>
            </a:pPr>
            <a:r>
              <a:rPr lang="id-ID" altLang="en-US" sz="2100" dirty="0">
                <a:solidFill>
                  <a:srgbClr val="1F2328"/>
                </a:solidFill>
              </a:rPr>
              <a:t>SRP </a:t>
            </a:r>
            <a:r>
              <a:rPr lang="id-ID" altLang="en-US" sz="2100" b="1" dirty="0">
                <a:solidFill>
                  <a:srgbClr val="1F2328"/>
                </a:solidFill>
              </a:rPr>
              <a:t>bukan</a:t>
            </a:r>
            <a:r>
              <a:rPr lang="id-ID" altLang="en-US" sz="2100" dirty="0">
                <a:solidFill>
                  <a:srgbClr val="1F2328"/>
                </a:solidFill>
              </a:rPr>
              <a:t> berarti satu kelas hanya boleh punya satu </a:t>
            </a:r>
            <a:r>
              <a:rPr lang="id-ID" altLang="en-US" sz="2100" i="1" dirty="0">
                <a:solidFill>
                  <a:srgbClr val="1F2328"/>
                </a:solidFill>
              </a:rPr>
              <a:t>method</a:t>
            </a:r>
            <a:r>
              <a:rPr lang="id-ID" altLang="en-US" sz="2100" dirty="0">
                <a:solidFill>
                  <a:srgbClr val="1F2328"/>
                </a:solidFill>
              </a:rPr>
              <a:t>.</a:t>
            </a:r>
            <a:endParaRPr lang="id-ID" sz="2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SRP dalam Kode: Menghitung dan Mencetak Dipisah</a:t>
            </a:r>
            <a:endParaRPr lang="id-ID" sz="3200" dirty="0"/>
          </a:p>
        </p:txBody>
      </p:sp>
      <p:sp>
        <p:nvSpPr>
          <p:cNvPr id="5" name="Text 2"/>
          <p:cNvSpPr txBox="1"/>
          <p:nvPr/>
        </p:nvSpPr>
        <p:spPr>
          <a:xfrm>
            <a:off x="548640" y="1456091"/>
            <a:ext cx="11094415" cy="603504"/>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LaporanSerbaBisa</a:t>
            </a:r>
            <a:r>
              <a:rPr lang="id-ID" altLang="en-US" sz="1800" dirty="0">
                <a:solidFill>
                  <a:srgbClr val="57606A"/>
                </a:solidFill>
              </a:rPr>
              <a:t> dipecah dua: </a:t>
            </a:r>
            <a:r>
              <a:rPr lang="id-ID" altLang="en-US" sz="1800" dirty="0">
                <a:solidFill>
                  <a:srgbClr val="0A3069"/>
                </a:solidFill>
                <a:latin typeface="Consolas" pitchFamily="34" charset="0"/>
                <a:ea typeface="Consolas" pitchFamily="34" charset="-122"/>
                <a:cs typeface="Consolas" pitchFamily="34" charset="-120"/>
              </a:rPr>
              <a:t>PenghitungNilai</a:t>
            </a:r>
            <a:r>
              <a:rPr lang="id-ID" altLang="en-US" sz="1800" dirty="0">
                <a:solidFill>
                  <a:srgbClr val="57606A"/>
                </a:solidFill>
              </a:rPr>
              <a:t> hanya menghitung, </a:t>
            </a:r>
            <a:r>
              <a:rPr lang="id-ID" altLang="en-US" sz="1800" dirty="0">
                <a:solidFill>
                  <a:srgbClr val="0A3069"/>
                </a:solidFill>
                <a:latin typeface="Consolas" pitchFamily="34" charset="0"/>
                <a:ea typeface="Consolas" pitchFamily="34" charset="-122"/>
                <a:cs typeface="Consolas" pitchFamily="34" charset="-120"/>
              </a:rPr>
              <a:t>PencetakLaporan</a:t>
            </a:r>
            <a:r>
              <a:rPr lang="id-ID" altLang="en-US" sz="1800" dirty="0">
                <a:solidFill>
                  <a:srgbClr val="57606A"/>
                </a:solidFill>
              </a:rPr>
              <a:t> hanya mencetak.</a:t>
            </a:r>
            <a:endParaRPr lang="id-ID" sz="1800" dirty="0"/>
          </a:p>
        </p:txBody>
      </p:sp>
      <p:sp>
        <p:nvSpPr>
          <p:cNvPr id="6" name="Shape 3"/>
          <p:cNvSpPr/>
          <p:nvPr/>
        </p:nvSpPr>
        <p:spPr>
          <a:xfrm>
            <a:off x="548640" y="2169323"/>
            <a:ext cx="1051560" cy="329184"/>
          </a:xfrm>
          <a:prstGeom prst="roundRect">
            <a:avLst>
              <a:gd name="adj" fmla="val 138889"/>
            </a:avLst>
          </a:prstGeom>
          <a:solidFill>
            <a:srgbClr val="3572A5"/>
          </a:solidFill>
          <a:ln/>
        </p:spPr>
      </p:sp>
      <p:sp>
        <p:nvSpPr>
          <p:cNvPr id="7" name="Text 4"/>
          <p:cNvSpPr txBox="1"/>
          <p:nvPr/>
        </p:nvSpPr>
        <p:spPr>
          <a:xfrm>
            <a:off x="548640" y="216932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16932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python/contoh/contoh01_srp.py</a:t>
            </a:r>
            <a:endParaRPr lang="id-ID" sz="1100" dirty="0"/>
          </a:p>
        </p:txBody>
      </p:sp>
      <p:sp>
        <p:nvSpPr>
          <p:cNvPr id="9" name="Shape 6"/>
          <p:cNvSpPr/>
          <p:nvPr/>
        </p:nvSpPr>
        <p:spPr>
          <a:xfrm>
            <a:off x="548640" y="2589947"/>
            <a:ext cx="5432908" cy="3493008"/>
          </a:xfrm>
          <a:prstGeom prst="roundRect">
            <a:avLst>
              <a:gd name="adj" fmla="val 685"/>
            </a:avLst>
          </a:prstGeom>
          <a:solidFill>
            <a:srgbClr val="F6F8FA"/>
          </a:solidFill>
          <a:ln w="9525">
            <a:solidFill>
              <a:srgbClr val="D0D7DE"/>
            </a:solidFill>
            <a:prstDash val="solid"/>
          </a:ln>
        </p:spPr>
      </p:sp>
      <p:sp>
        <p:nvSpPr>
          <p:cNvPr id="10" name="Text 7"/>
          <p:cNvSpPr txBox="1"/>
          <p:nvPr/>
        </p:nvSpPr>
        <p:spPr>
          <a:xfrm>
            <a:off x="658368" y="2681387"/>
            <a:ext cx="5213452" cy="3310128"/>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PenghitungNilai</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rata_rata</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daftar: </a:t>
            </a:r>
            <a:r>
              <a:rPr lang="en-US" altLang="en-US" sz="1200" dirty="0">
                <a:solidFill>
                  <a:srgbClr val="0550AE"/>
                </a:solidFill>
                <a:latin typeface="Consolas" pitchFamily="34" charset="0"/>
                <a:ea typeface="Consolas" pitchFamily="34" charset="-122"/>
                <a:cs typeface="Consolas" pitchFamily="34" charset="-120"/>
              </a:rPr>
              <a:t>list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-&gt; </a:t>
            </a:r>
            <a:r>
              <a:rPr lang="en-US" altLang="en-US" sz="1200" dirty="0">
                <a:solidFill>
                  <a:srgbClr val="0550A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return</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sum</a:t>
            </a:r>
            <a:r>
              <a:rPr lang="en-US" altLang="en-US" sz="1200" dirty="0">
                <a:solidFill>
                  <a:srgbClr val="1F2328"/>
                </a:solidFill>
                <a:latin typeface="Consolas" pitchFamily="34" charset="0"/>
                <a:ea typeface="Consolas" pitchFamily="34" charset="-122"/>
                <a:cs typeface="Consolas" pitchFamily="34" charset="-120"/>
              </a:rPr>
              <a:t>(daftar) // </a:t>
            </a:r>
            <a:r>
              <a:rPr lang="en-US" altLang="en-US" sz="1200" dirty="0">
                <a:solidFill>
                  <a:srgbClr val="0550AE"/>
                </a:solidFill>
                <a:latin typeface="Consolas" pitchFamily="34" charset="0"/>
                <a:ea typeface="Consolas" pitchFamily="34" charset="-122"/>
                <a:cs typeface="Consolas" pitchFamily="34" charset="-120"/>
              </a:rPr>
              <a:t>len</a:t>
            </a:r>
            <a:r>
              <a:rPr lang="en-US" altLang="en-US" sz="1200" dirty="0">
                <a:solidFill>
                  <a:srgbClr val="1F2328"/>
                </a:solidFill>
                <a:latin typeface="Consolas" pitchFamily="34" charset="0"/>
                <a:ea typeface="Consolas" pitchFamily="34" charset="-122"/>
                <a:cs typeface="Consolas" pitchFamily="34" charset="-120"/>
              </a:rPr>
              <a:t>(daftar)</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predikat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rata: </a:t>
            </a:r>
            <a:r>
              <a:rPr lang="en-US" altLang="en-US" sz="1200" dirty="0">
                <a:solidFill>
                  <a:srgbClr val="0550A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-&gt; </a:t>
            </a:r>
            <a:r>
              <a:rPr lang="en-US" altLang="en-US" sz="1200" dirty="0">
                <a:solidFill>
                  <a:srgbClr val="0550AE"/>
                </a:solidFill>
                <a:latin typeface="Consolas" pitchFamily="34" charset="0"/>
                <a:ea typeface="Consolas" pitchFamily="34" charset="-122"/>
                <a:cs typeface="Consolas" pitchFamily="34" charset="-120"/>
              </a:rPr>
              <a:t>str</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000000"/>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PencetakLaporan</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__init__</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penghitung: PenghitungNilai):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._penghitung = penghitung</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di dalam main()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penghitung = PenghitungNilai()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PencetakLaporan(penghitung).cetak(data_nilai)</a:t>
            </a:r>
            <a:endParaRPr lang="en-US" sz="1200" dirty="0"/>
          </a:p>
        </p:txBody>
      </p:sp>
      <p:sp>
        <p:nvSpPr>
          <p:cNvPr id="11" name="Shape 8"/>
          <p:cNvSpPr/>
          <p:nvPr/>
        </p:nvSpPr>
        <p:spPr>
          <a:xfrm>
            <a:off x="6210148" y="2169323"/>
            <a:ext cx="1051560" cy="329184"/>
          </a:xfrm>
          <a:prstGeom prst="roundRect">
            <a:avLst>
              <a:gd name="adj" fmla="val 138889"/>
            </a:avLst>
          </a:prstGeom>
          <a:solidFill>
            <a:srgbClr val="B07219"/>
          </a:solidFill>
          <a:ln/>
        </p:spPr>
      </p:sp>
      <p:sp>
        <p:nvSpPr>
          <p:cNvPr id="12" name="Text 9"/>
          <p:cNvSpPr txBox="1"/>
          <p:nvPr/>
        </p:nvSpPr>
        <p:spPr>
          <a:xfrm>
            <a:off x="6210148" y="2169323"/>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169323"/>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java/contoh/Contoh01Srp.java</a:t>
            </a:r>
            <a:endParaRPr lang="id-ID" sz="1100" dirty="0"/>
          </a:p>
        </p:txBody>
      </p:sp>
      <p:sp>
        <p:nvSpPr>
          <p:cNvPr id="14" name="Shape 11"/>
          <p:cNvSpPr/>
          <p:nvPr/>
        </p:nvSpPr>
        <p:spPr>
          <a:xfrm>
            <a:off x="6210148" y="2589947"/>
            <a:ext cx="5432908" cy="3493008"/>
          </a:xfrm>
          <a:prstGeom prst="roundRect">
            <a:avLst>
              <a:gd name="adj" fmla="val 685"/>
            </a:avLst>
          </a:prstGeom>
          <a:solidFill>
            <a:srgbClr val="F6F8FA"/>
          </a:solidFill>
          <a:ln w="9525">
            <a:solidFill>
              <a:srgbClr val="D0D7DE"/>
            </a:solidFill>
            <a:prstDash val="solid"/>
          </a:ln>
        </p:spPr>
      </p:sp>
      <p:sp>
        <p:nvSpPr>
          <p:cNvPr id="15" name="Text 12"/>
          <p:cNvSpPr txBox="1"/>
          <p:nvPr/>
        </p:nvSpPr>
        <p:spPr>
          <a:xfrm>
            <a:off x="6319876" y="2681387"/>
            <a:ext cx="5213452" cy="3310128"/>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PenghitungNilai</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rataRata</a:t>
            </a:r>
            <a:r>
              <a:rPr lang="en-US" altLang="en-US" sz="1200" dirty="0">
                <a:solidFill>
                  <a:srgbClr val="1F2328"/>
                </a:solidFill>
                <a:latin typeface="Consolas" pitchFamily="34" charset="0"/>
                <a:ea typeface="Consolas" pitchFamily="34" charset="-122"/>
                <a:cs typeface="Consolas" pitchFamily="34" charset="-120"/>
              </a:rPr>
              <a:t>(List&lt;Integer&gt; daftar)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String </a:t>
            </a:r>
            <a:r>
              <a:rPr lang="en-US" altLang="en-US" sz="1200" dirty="0">
                <a:solidFill>
                  <a:srgbClr val="8250DF"/>
                </a:solidFill>
                <a:latin typeface="Consolas" pitchFamily="34" charset="0"/>
                <a:ea typeface="Consolas" pitchFamily="34" charset="-122"/>
                <a:cs typeface="Consolas" pitchFamily="34" charset="-120"/>
              </a:rPr>
              <a:t>predikat</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CF222E"/>
                </a:solidFill>
                <a:latin typeface="Consolas" pitchFamily="34" charset="0"/>
                <a:ea typeface="Consolas" pitchFamily="34" charset="-122"/>
                <a:cs typeface="Consolas" pitchFamily="34" charset="-120"/>
              </a:rPr>
              <a:t>int</a:t>
            </a:r>
            <a:r>
              <a:rPr lang="en-US" altLang="en-US" sz="1200" dirty="0">
                <a:solidFill>
                  <a:srgbClr val="1F2328"/>
                </a:solidFill>
                <a:latin typeface="Consolas" pitchFamily="34" charset="0"/>
                <a:ea typeface="Consolas" pitchFamily="34" charset="-122"/>
                <a:cs typeface="Consolas" pitchFamily="34" charset="-120"/>
              </a:rPr>
              <a:t> rata)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PencetakLaporan</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private</a:t>
            </a:r>
            <a:r>
              <a:rPr lang="en-US" altLang="en-US" sz="1200" dirty="0">
                <a:solidFill>
                  <a:srgbClr val="1F2328"/>
                </a:solidFill>
                <a:latin typeface="Consolas" pitchFamily="34" charset="0"/>
                <a:ea typeface="Consolas" pitchFamily="34" charset="-122"/>
                <a:cs typeface="Consolas" pitchFamily="34" charset="-120"/>
              </a:rPr>
              <a:t> PenghitungNilai penghitung;</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PencetakLaporan</a:t>
            </a:r>
            <a:r>
              <a:rPr lang="en-US" altLang="en-US" sz="1200" dirty="0">
                <a:solidFill>
                  <a:srgbClr val="1F2328"/>
                </a:solidFill>
                <a:latin typeface="Consolas" pitchFamily="34" charset="0"/>
                <a:ea typeface="Consolas" pitchFamily="34" charset="-122"/>
                <a:cs typeface="Consolas" pitchFamily="34" charset="-120"/>
              </a:rPr>
              <a:t>(PenghitungNilai penghitung)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this</a:t>
            </a:r>
            <a:r>
              <a:rPr lang="en-US" altLang="en-US" sz="1200" dirty="0">
                <a:solidFill>
                  <a:srgbClr val="1F2328"/>
                </a:solidFill>
                <a:latin typeface="Consolas" pitchFamily="34" charset="0"/>
                <a:ea typeface="Consolas" pitchFamily="34" charset="-122"/>
                <a:cs typeface="Consolas" pitchFamily="34" charset="-120"/>
              </a:rPr>
              <a:t>.penghitung = penghitung;</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di dalam main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PenghitungNilai penghitung = </a:t>
            </a:r>
            <a:r>
              <a:rPr lang="en-US" altLang="en-US" sz="1200" dirty="0">
                <a:solidFill>
                  <a:srgbClr val="CF222E"/>
                </a:solidFill>
                <a:latin typeface="Consolas" pitchFamily="34" charset="0"/>
                <a:ea typeface="Consolas" pitchFamily="34" charset="-122"/>
                <a:cs typeface="Consolas" pitchFamily="34" charset="-120"/>
              </a:rPr>
              <a:t>new</a:t>
            </a:r>
            <a:r>
              <a:rPr lang="en-US" altLang="en-US" sz="1200" dirty="0">
                <a:solidFill>
                  <a:srgbClr val="1F2328"/>
                </a:solidFill>
                <a:latin typeface="Consolas" pitchFamily="34" charset="0"/>
                <a:ea typeface="Consolas" pitchFamily="34" charset="-122"/>
                <a:cs typeface="Consolas" pitchFamily="34" charset="-120"/>
              </a:rPr>
              <a:t> PenghitungNilai();</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new</a:t>
            </a:r>
            <a:r>
              <a:rPr lang="en-US" altLang="en-US" sz="1200" dirty="0">
                <a:solidFill>
                  <a:srgbClr val="1F2328"/>
                </a:solidFill>
                <a:latin typeface="Consolas" pitchFamily="34" charset="0"/>
                <a:ea typeface="Consolas" pitchFamily="34" charset="-122"/>
                <a:cs typeface="Consolas" pitchFamily="34" charset="-120"/>
              </a:rPr>
              <a:t> PencetakLaporan(penghitung).cetak(dataNilai);</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3</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3</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600" b="1" dirty="0">
                <a:solidFill>
                  <a:srgbClr val="FFFFFF"/>
                </a:solidFill>
              </a:rPr>
              <a:t>O dan L: Menambah Perilaku tanpa Kejutan</a:t>
            </a:r>
            <a:endParaRPr lang="id-ID" sz="36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Jenis baru ditambahkan tanpa membongkar kode lama, dan kelas anak selalu menepati janji induknya.</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O: Terbuka untuk Ditambah, Tertutup untuk Diubah</a:t>
            </a:r>
            <a:endParaRPr lang="id-ID" sz="3200" dirty="0"/>
          </a:p>
        </p:txBody>
      </p:sp>
      <p:sp>
        <p:nvSpPr>
          <p:cNvPr id="5" name="Text 2"/>
          <p:cNvSpPr txBox="1"/>
          <p:nvPr/>
        </p:nvSpPr>
        <p:spPr>
          <a:xfrm>
            <a:off x="548640" y="1638620"/>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Setiap layanan kirim menjadi kelas yang memenuhi kontrak </a:t>
            </a:r>
            <a:r>
              <a:rPr lang="id-ID" altLang="en-US" sz="1800" dirty="0">
                <a:solidFill>
                  <a:srgbClr val="0A3069"/>
                </a:solidFill>
                <a:latin typeface="Consolas" pitchFamily="34" charset="0"/>
                <a:ea typeface="Consolas" pitchFamily="34" charset="-122"/>
                <a:cs typeface="Consolas" pitchFamily="34" charset="-120"/>
              </a:rPr>
              <a:t>LayananKirim</a:t>
            </a:r>
            <a:r>
              <a:rPr lang="id-ID" altLang="en-US" sz="1800" dirty="0">
                <a:solidFill>
                  <a:srgbClr val="57606A"/>
                </a:solidFill>
              </a:rPr>
              <a:t>. Layanan baru cukup ditulis sebagai kelas baru.</a:t>
            </a:r>
            <a:endParaRPr lang="id-ID" sz="1800" dirty="0"/>
          </a:p>
        </p:txBody>
      </p:sp>
      <p:sp>
        <p:nvSpPr>
          <p:cNvPr id="6" name="Shape 3"/>
          <p:cNvSpPr/>
          <p:nvPr/>
        </p:nvSpPr>
        <p:spPr>
          <a:xfrm>
            <a:off x="548640" y="2351852"/>
            <a:ext cx="1051560" cy="329184"/>
          </a:xfrm>
          <a:prstGeom prst="roundRect">
            <a:avLst>
              <a:gd name="adj" fmla="val 138889"/>
            </a:avLst>
          </a:prstGeom>
          <a:solidFill>
            <a:srgbClr val="3572A5"/>
          </a:solidFill>
          <a:ln/>
        </p:spPr>
      </p:sp>
      <p:sp>
        <p:nvSpPr>
          <p:cNvPr id="7" name="Text 4"/>
          <p:cNvSpPr txBox="1"/>
          <p:nvPr/>
        </p:nvSpPr>
        <p:spPr>
          <a:xfrm>
            <a:off x="548640" y="235185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35185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python/contoh/contoh02_ocp.py</a:t>
            </a:r>
            <a:endParaRPr lang="id-ID" sz="1100" dirty="0"/>
          </a:p>
        </p:txBody>
      </p:sp>
      <p:sp>
        <p:nvSpPr>
          <p:cNvPr id="9" name="Shape 6"/>
          <p:cNvSpPr/>
          <p:nvPr/>
        </p:nvSpPr>
        <p:spPr>
          <a:xfrm>
            <a:off x="548640" y="2772476"/>
            <a:ext cx="5432908" cy="3058414"/>
          </a:xfrm>
          <a:prstGeom prst="roundRect">
            <a:avLst>
              <a:gd name="adj" fmla="val 894"/>
            </a:avLst>
          </a:prstGeom>
          <a:solidFill>
            <a:srgbClr val="F6F8FA"/>
          </a:solidFill>
          <a:ln w="9525">
            <a:solidFill>
              <a:srgbClr val="D0D7DE"/>
            </a:solidFill>
            <a:prstDash val="solid"/>
          </a:ln>
        </p:spPr>
      </p:sp>
      <p:sp>
        <p:nvSpPr>
          <p:cNvPr id="10" name="Text 7"/>
          <p:cNvSpPr txBox="1"/>
          <p:nvPr/>
        </p:nvSpPr>
        <p:spPr>
          <a:xfrm>
            <a:off x="658368" y="2863916"/>
            <a:ext cx="5213452" cy="2875534"/>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LayananKirim</a:t>
            </a:r>
            <a:r>
              <a:rPr lang="en-US" altLang="en-US" sz="1100" dirty="0">
                <a:solidFill>
                  <a:srgbClr val="1F2328"/>
                </a:solidFill>
                <a:latin typeface="Consolas" pitchFamily="34" charset="0"/>
                <a:ea typeface="Consolas" pitchFamily="34" charset="-122"/>
                <a:cs typeface="Consolas" pitchFamily="34" charset="-120"/>
              </a:rPr>
              <a:t>(ABC):</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@abstractmethod</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ongkir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berat_kg: </a:t>
            </a:r>
            <a:r>
              <a:rPr lang="en-US" altLang="en-US" sz="1100" dirty="0">
                <a:solidFill>
                  <a:srgbClr val="0550A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-&gt; </a:t>
            </a:r>
            <a:r>
              <a:rPr lang="en-US" altLang="en-US" sz="1100" dirty="0">
                <a:solidFill>
                  <a:srgbClr val="0550A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LayananSameDay</a:t>
            </a:r>
            <a:r>
              <a:rPr lang="en-US" altLang="en-US" sz="1100" dirty="0">
                <a:solidFill>
                  <a:srgbClr val="1F2328"/>
                </a:solidFill>
                <a:latin typeface="Consolas" pitchFamily="34" charset="0"/>
                <a:ea typeface="Consolas" pitchFamily="34" charset="-122"/>
                <a:cs typeface="Consolas" pitchFamily="34" charset="-120"/>
              </a:rPr>
              <a:t>(LayananKirim):</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ongkir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berat_kg: </a:t>
            </a:r>
            <a:r>
              <a:rPr lang="en-US" altLang="en-US" sz="1100" dirty="0">
                <a:solidFill>
                  <a:srgbClr val="0550A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-&gt; </a:t>
            </a:r>
            <a:r>
              <a:rPr lang="en-US" altLang="en-US" sz="1100" dirty="0">
                <a:solidFill>
                  <a:srgbClr val="0550A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25000</a:t>
            </a: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0550AE"/>
                </a:solidFill>
                <a:latin typeface="Consolas" pitchFamily="34" charset="0"/>
                <a:ea typeface="Consolas" pitchFamily="34" charset="-122"/>
                <a:cs typeface="Consolas" pitchFamily="34" charset="-120"/>
              </a:rPr>
              <a:t>5000</a:t>
            </a:r>
            <a:r>
              <a:rPr lang="en-US" altLang="en-US" sz="1100" dirty="0">
                <a:solidFill>
                  <a:srgbClr val="1F2328"/>
                </a:solidFill>
                <a:latin typeface="Consolas" pitchFamily="34" charset="0"/>
                <a:ea typeface="Consolas" pitchFamily="34" charset="-122"/>
                <a:cs typeface="Consolas" pitchFamily="34" charset="-120"/>
              </a:rPr>
              <a:t> * berat_kg</a:t>
            </a:r>
            <a:endParaRPr lang="en-US" sz="1100" dirty="0"/>
          </a:p>
          <a:p>
            <a:pPr indent="0" marL="0">
              <a:buNone/>
            </a:pPr>
            <a:r>
              <a:rPr lang="en-US" altLang="en-US" sz="1100" dirty="0">
                <a:solidFill>
                  <a:srgbClr val="000000"/>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KalkulatorOngkir</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def</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hitung</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 layanan: LayananKirim, berat_kg) -&gt; </a:t>
            </a:r>
            <a:r>
              <a:rPr lang="en-US" altLang="en-US" sz="1100" dirty="0">
                <a:solidFill>
                  <a:srgbClr val="0550A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layanan.ongkir(berat_kg)</a:t>
            </a:r>
            <a:endParaRPr lang="en-US" sz="1100" dirty="0"/>
          </a:p>
        </p:txBody>
      </p:sp>
      <p:sp>
        <p:nvSpPr>
          <p:cNvPr id="11" name="Shape 8"/>
          <p:cNvSpPr/>
          <p:nvPr/>
        </p:nvSpPr>
        <p:spPr>
          <a:xfrm>
            <a:off x="6210148" y="2351852"/>
            <a:ext cx="1051560" cy="329184"/>
          </a:xfrm>
          <a:prstGeom prst="roundRect">
            <a:avLst>
              <a:gd name="adj" fmla="val 138889"/>
            </a:avLst>
          </a:prstGeom>
          <a:solidFill>
            <a:srgbClr val="B07219"/>
          </a:solidFill>
          <a:ln/>
        </p:spPr>
      </p:sp>
      <p:sp>
        <p:nvSpPr>
          <p:cNvPr id="12" name="Text 9"/>
          <p:cNvSpPr txBox="1"/>
          <p:nvPr/>
        </p:nvSpPr>
        <p:spPr>
          <a:xfrm>
            <a:off x="6210148" y="235185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35185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java/contoh/Contoh02Ocp.java</a:t>
            </a:r>
            <a:endParaRPr lang="id-ID" sz="1100" dirty="0"/>
          </a:p>
        </p:txBody>
      </p:sp>
      <p:sp>
        <p:nvSpPr>
          <p:cNvPr id="14" name="Shape 11"/>
          <p:cNvSpPr/>
          <p:nvPr/>
        </p:nvSpPr>
        <p:spPr>
          <a:xfrm>
            <a:off x="6210148" y="2772476"/>
            <a:ext cx="5432908" cy="3058414"/>
          </a:xfrm>
          <a:prstGeom prst="roundRect">
            <a:avLst>
              <a:gd name="adj" fmla="val 894"/>
            </a:avLst>
          </a:prstGeom>
          <a:solidFill>
            <a:srgbClr val="F6F8FA"/>
          </a:solidFill>
          <a:ln w="9525">
            <a:solidFill>
              <a:srgbClr val="D0D7DE"/>
            </a:solidFill>
            <a:prstDash val="solid"/>
          </a:ln>
        </p:spPr>
      </p:sp>
      <p:sp>
        <p:nvSpPr>
          <p:cNvPr id="15" name="Text 12"/>
          <p:cNvSpPr txBox="1"/>
          <p:nvPr/>
        </p:nvSpPr>
        <p:spPr>
          <a:xfrm>
            <a:off x="6319876" y="2863916"/>
            <a:ext cx="5213452" cy="2875534"/>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interface</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LayananKirim</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String </a:t>
            </a:r>
            <a:r>
              <a:rPr lang="en-US" altLang="en-US" sz="1100" dirty="0">
                <a:solidFill>
                  <a:srgbClr val="8250DF"/>
                </a:solidFill>
                <a:latin typeface="Consolas" pitchFamily="34" charset="0"/>
                <a:ea typeface="Consolas" pitchFamily="34" charset="-122"/>
                <a:cs typeface="Consolas" pitchFamily="34" charset="-120"/>
              </a:rPr>
              <a:t>nama</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ongkir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beratKg);</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LayananSameDay</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implements</a:t>
            </a:r>
            <a:r>
              <a:rPr lang="en-US" altLang="en-US" sz="1100" dirty="0">
                <a:solidFill>
                  <a:srgbClr val="1F2328"/>
                </a:solidFill>
                <a:latin typeface="Consolas" pitchFamily="34" charset="0"/>
                <a:ea typeface="Consolas" pitchFamily="34" charset="-122"/>
                <a:cs typeface="Consolas" pitchFamily="34" charset="-120"/>
              </a:rPr>
              <a:t> LayananKirim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ongkir</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beratKg)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0550AE"/>
                </a:solidFill>
                <a:latin typeface="Consolas" pitchFamily="34" charset="0"/>
                <a:ea typeface="Consolas" pitchFamily="34" charset="-122"/>
                <a:cs typeface="Consolas" pitchFamily="34" charset="-120"/>
              </a:rPr>
              <a:t>25000</a:t>
            </a: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0550AE"/>
                </a:solidFill>
                <a:latin typeface="Consolas" pitchFamily="34" charset="0"/>
                <a:ea typeface="Consolas" pitchFamily="34" charset="-122"/>
                <a:cs typeface="Consolas" pitchFamily="34" charset="-120"/>
              </a:rPr>
              <a:t>5000</a:t>
            </a:r>
            <a:r>
              <a:rPr lang="en-US" altLang="en-US" sz="1100" dirty="0">
                <a:solidFill>
                  <a:srgbClr val="1F2328"/>
                </a:solidFill>
                <a:latin typeface="Consolas" pitchFamily="34" charset="0"/>
                <a:ea typeface="Consolas" pitchFamily="34" charset="-122"/>
                <a:cs typeface="Consolas" pitchFamily="34" charset="-120"/>
              </a:rPr>
              <a:t> * beratKg;</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class</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953800"/>
                </a:solidFill>
                <a:latin typeface="Consolas" pitchFamily="34" charset="0"/>
                <a:ea typeface="Consolas" pitchFamily="34" charset="-122"/>
                <a:cs typeface="Consolas" pitchFamily="34" charset="-120"/>
              </a:rPr>
              <a:t>KalkulatorOngkir</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public</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8250DF"/>
                </a:solidFill>
                <a:latin typeface="Consolas" pitchFamily="34" charset="0"/>
                <a:ea typeface="Consolas" pitchFamily="34" charset="-122"/>
                <a:cs typeface="Consolas" pitchFamily="34" charset="-120"/>
              </a:rPr>
              <a:t>hitung</a:t>
            </a:r>
            <a:r>
              <a:rPr lang="en-US" altLang="en-US" sz="1100" dirty="0">
                <a:solidFill>
                  <a:srgbClr val="1F2328"/>
                </a:solidFill>
                <a:latin typeface="Consolas" pitchFamily="34" charset="0"/>
                <a:ea typeface="Consolas" pitchFamily="34" charset="-122"/>
                <a:cs typeface="Consolas" pitchFamily="34" charset="-120"/>
              </a:rPr>
              <a:t>(LayananKirim layanan, </a:t>
            </a:r>
            <a:r>
              <a:rPr lang="en-US" altLang="en-US" sz="1100" dirty="0">
                <a:solidFill>
                  <a:srgbClr val="CF222E"/>
                </a:solidFill>
                <a:latin typeface="Consolas" pitchFamily="34" charset="0"/>
                <a:ea typeface="Consolas" pitchFamily="34" charset="-122"/>
                <a:cs typeface="Consolas" pitchFamily="34" charset="-120"/>
              </a:rPr>
              <a:t>int</a:t>
            </a:r>
            <a:r>
              <a:rPr lang="en-US" altLang="en-US" sz="1100" dirty="0">
                <a:solidFill>
                  <a:srgbClr val="1F2328"/>
                </a:solidFill>
                <a:latin typeface="Consolas" pitchFamily="34" charset="0"/>
                <a:ea typeface="Consolas" pitchFamily="34" charset="-122"/>
                <a:cs typeface="Consolas" pitchFamily="34" charset="-120"/>
              </a:rPr>
              <a:t> beratKg)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return</a:t>
            </a:r>
            <a:r>
              <a:rPr lang="en-US" altLang="en-US" sz="1100" dirty="0">
                <a:solidFill>
                  <a:srgbClr val="1F2328"/>
                </a:solidFill>
                <a:latin typeface="Consolas" pitchFamily="34" charset="0"/>
                <a:ea typeface="Consolas" pitchFamily="34" charset="-122"/>
                <a:cs typeface="Consolas" pitchFamily="34" charset="-120"/>
              </a:rPr>
              <a:t> layanan.ongkir(beratKg);</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L: Kelas Anak Tidak Boleh Mengejutkan</a:t>
            </a:r>
            <a:endParaRPr lang="id-ID" sz="3200" dirty="0"/>
          </a:p>
        </p:txBody>
      </p:sp>
      <p:pic>
        <p:nvPicPr>
          <p:cNvPr id="5" name="Image 1" descr="Perbaikannya: janji dipecah. BurungDasar hanya berjanji bertelur, janji terbang pindah ke BurungTerbang, dan penguin cukup mewarisi BurungDasar.">    </p:cNvPr>
          <p:cNvPicPr>
            <a:picLocks noChangeAspect="1"/>
          </p:cNvPicPr>
          <p:nvPr/>
        </p:nvPicPr>
        <p:blipFill>
          <a:blip r:embed="rId2"/>
          <a:stretch>
            <a:fillRect/>
          </a:stretch>
        </p:blipFill>
        <p:spPr>
          <a:xfrm>
            <a:off x="2210323" y="1417320"/>
            <a:ext cx="7771050" cy="4045204"/>
          </a:xfrm>
          <a:prstGeom prst="rect">
            <a:avLst/>
          </a:prstGeom>
        </p:spPr>
      </p:pic>
      <p:sp>
        <p:nvSpPr>
          <p:cNvPr id="6" name="Text 2"/>
          <p:cNvSpPr txBox="1"/>
          <p:nvPr/>
        </p:nvSpPr>
        <p:spPr>
          <a:xfrm>
            <a:off x="1005840" y="5572252"/>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Perbaikannya: janji dipecah. </a:t>
            </a:r>
            <a:r>
              <a:rPr lang="id-ID" altLang="en-US" sz="1700" dirty="0">
                <a:solidFill>
                  <a:srgbClr val="57606A"/>
                </a:solidFill>
                <a:latin typeface="Consolas" pitchFamily="34" charset="0"/>
                <a:ea typeface="Consolas" pitchFamily="34" charset="-122"/>
                <a:cs typeface="Consolas" pitchFamily="34" charset="-120"/>
              </a:rPr>
              <a:t>BurungDasar</a:t>
            </a:r>
            <a:r>
              <a:rPr lang="id-ID" altLang="en-US" sz="1700" dirty="0">
                <a:solidFill>
                  <a:srgbClr val="57606A"/>
                </a:solidFill>
              </a:rPr>
              <a:t> hanya berjanji bertelur, janji terbang pindah ke </a:t>
            </a:r>
            <a:r>
              <a:rPr lang="id-ID" altLang="en-US" sz="1700" dirty="0">
                <a:solidFill>
                  <a:srgbClr val="57606A"/>
                </a:solidFill>
                <a:latin typeface="Consolas" pitchFamily="34" charset="0"/>
                <a:ea typeface="Consolas" pitchFamily="34" charset="-122"/>
                <a:cs typeface="Consolas" pitchFamily="34" charset="-120"/>
              </a:rPr>
              <a:t>BurungTerbang</a:t>
            </a:r>
            <a:r>
              <a:rPr lang="id-ID" altLang="en-US" sz="1700" dirty="0">
                <a:solidFill>
                  <a:srgbClr val="57606A"/>
                </a:solidFill>
              </a:rPr>
              <a:t>, dan penguin cukup mewarisi </a:t>
            </a:r>
            <a:r>
              <a:rPr lang="id-ID" altLang="en-US" sz="1700" dirty="0">
                <a:solidFill>
                  <a:srgbClr val="57606A"/>
                </a:solidFill>
                <a:latin typeface="Consolas" pitchFamily="34" charset="0"/>
                <a:ea typeface="Consolas" pitchFamily="34" charset="-122"/>
                <a:cs typeface="Consolas" pitchFamily="34" charset="-120"/>
              </a:rPr>
              <a:t>BurungDasar</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Bentuk Kejutan yang Melanggar LSP</a:t>
            </a:r>
            <a:endParaRPr lang="id-ID"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43243"/>
          <a:ext cx="11094415" cy="914400"/>
        </p:xfrm>
        <a:graphic>
          <a:graphicData uri="http://schemas.openxmlformats.org/drawingml/2006/table">
            <a:tbl>
              <a:tblPr/>
              <a:tblGrid>
                <a:gridCol w="3009928"/>
                <a:gridCol w="6138531"/>
                <a:gridCol w="1945956"/>
              </a:tblGrid>
              <a:tr h="508254">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Bentuk kejutan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Contoh</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100" b="1" dirty="0">
                          <a:solidFill>
                            <a:srgbClr val="FFFFFF"/>
                          </a:solidFill>
                          <a:latin typeface="Calibri" pitchFamily="34" charset="0"/>
                          <a:ea typeface="Calibri" pitchFamily="34" charset="-122"/>
                          <a:cs typeface="Calibri" pitchFamily="34" charset="-120"/>
                        </a:rPr>
                        <a:t>Yang dilanggar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Melempar </a:t>
                      </a:r>
                      <a:r>
                        <a:rPr lang="id-ID" altLang="en-US" sz="2100" i="1" dirty="0">
                          <a:solidFill>
                            <a:srgbClr val="1F2328"/>
                          </a:solidFill>
                          <a:latin typeface="Calibri" pitchFamily="34" charset="0"/>
                          <a:ea typeface="Calibri" pitchFamily="34" charset="-122"/>
                          <a:cs typeface="Calibri" pitchFamily="34" charset="-120"/>
                        </a:rPr>
                        <a:t>exception</a:t>
                      </a:r>
                      <a:r>
                        <a:rPr lang="id-ID" altLang="en-US" sz="2100" dirty="0">
                          <a:solidFill>
                            <a:srgbClr val="1F2328"/>
                          </a:solidFill>
                          <a:latin typeface="Calibri" pitchFamily="34" charset="0"/>
                          <a:ea typeface="Calibri" pitchFamily="34" charset="-122"/>
                          <a:cs typeface="Calibri" pitchFamily="34" charset="-120"/>
                        </a:rPr>
                        <a:t> yang tidak dijanjikan</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0A3069"/>
                          </a:solidFill>
                          <a:latin typeface="Consolas" pitchFamily="34" charset="0"/>
                          <a:ea typeface="Consolas" pitchFamily="34" charset="-122"/>
                          <a:cs typeface="Consolas" pitchFamily="34" charset="-120"/>
                        </a:rPr>
                        <a:t>Penguin.terbang()</a:t>
                      </a:r>
                      <a:r>
                        <a:rPr lang="id-ID" altLang="en-US" sz="2100" dirty="0">
                          <a:solidFill>
                            <a:srgbClr val="1F2328"/>
                          </a:solidFill>
                          <a:latin typeface="Calibri" pitchFamily="34" charset="0"/>
                          <a:ea typeface="Calibri" pitchFamily="34" charset="-122"/>
                          <a:cs typeface="Calibri" pitchFamily="34" charset="-120"/>
                        </a:rPr>
                        <a:t> melempar </a:t>
                      </a:r>
                      <a:r>
                        <a:rPr lang="id-ID" altLang="en-US" sz="2100" i="1" dirty="0">
                          <a:solidFill>
                            <a:srgbClr val="1F2328"/>
                          </a:solidFill>
                          <a:latin typeface="Calibri" pitchFamily="34" charset="0"/>
                          <a:ea typeface="Calibri" pitchFamily="34" charset="-122"/>
                          <a:cs typeface="Calibri" pitchFamily="34" charset="-120"/>
                        </a:rPr>
                        <a:t>error</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jaminan hasil diperlemah</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Mengembalikan nilai di luar janji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kelas diskon mengembalikan potongan </a:t>
                      </a:r>
                      <a:r>
                        <a:rPr lang="id-ID" altLang="en-US" sz="2100" b="1" dirty="0">
                          <a:solidFill>
                            <a:srgbClr val="1F2328"/>
                          </a:solidFill>
                          <a:latin typeface="Calibri" pitchFamily="34" charset="0"/>
                          <a:ea typeface="Calibri" pitchFamily="34" charset="-122"/>
                          <a:cs typeface="Calibri" pitchFamily="34" charset="-120"/>
                        </a:rPr>
                        <a:t>negatif</a:t>
                      </a:r>
                      <a:r>
                        <a:rPr lang="id-ID" altLang="en-US" sz="2100" dirty="0">
                          <a:solidFill>
                            <a:srgbClr val="1F2328"/>
                          </a:solidFill>
                          <a:latin typeface="Calibri" pitchFamily="34" charset="0"/>
                          <a:ea typeface="Calibri" pitchFamily="34" charset="-122"/>
                          <a:cs typeface="Calibri" pitchFamily="34" charset="-120"/>
                        </a:rPr>
                        <a:t> sehingga total malah naik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jaminan hasil diperlemah</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Meminta syarat lebih ketat dari induk</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induk menerima jumlah porsi berapa pun, kelas anak hanya mau jumlah genap</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prasyarat diperketat</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33628">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Mengubah keadaan secara diam-⁠diam</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0A3069"/>
                          </a:solidFill>
                          <a:latin typeface="Consolas" pitchFamily="34" charset="0"/>
                          <a:ea typeface="Consolas" pitchFamily="34" charset="-122"/>
                          <a:cs typeface="Consolas" pitchFamily="34" charset="-120"/>
                        </a:rPr>
                        <a:t>Persegi</a:t>
                      </a:r>
                      <a:r>
                        <a:rPr lang="id-ID" altLang="en-US" sz="2100" dirty="0">
                          <a:solidFill>
                            <a:srgbClr val="1F2328"/>
                          </a:solidFill>
                          <a:latin typeface="Calibri" pitchFamily="34" charset="0"/>
                          <a:ea typeface="Calibri" pitchFamily="34" charset="-122"/>
                          <a:cs typeface="Calibri" pitchFamily="34" charset="-120"/>
                        </a:rPr>
                        <a:t> turunan </a:t>
                      </a:r>
                      <a:r>
                        <a:rPr lang="id-ID" altLang="en-US" sz="2100" dirty="0">
                          <a:solidFill>
                            <a:srgbClr val="0A3069"/>
                          </a:solidFill>
                          <a:latin typeface="Consolas" pitchFamily="34" charset="0"/>
                          <a:ea typeface="Consolas" pitchFamily="34" charset="-122"/>
                          <a:cs typeface="Consolas" pitchFamily="34" charset="-120"/>
                        </a:rPr>
                        <a:t>PersegiPanjang</a:t>
                      </a:r>
                      <a:r>
                        <a:rPr lang="id-ID" altLang="en-US" sz="2100" dirty="0">
                          <a:solidFill>
                            <a:srgbClr val="1F2328"/>
                          </a:solidFill>
                          <a:latin typeface="Calibri" pitchFamily="34" charset="0"/>
                          <a:ea typeface="Calibri" pitchFamily="34" charset="-122"/>
                          <a:cs typeface="Calibri" pitchFamily="34" charset="-120"/>
                        </a:rPr>
                        <a:t>: mengubah lebar ikut mengubah tinggi</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100" dirty="0">
                          <a:solidFill>
                            <a:srgbClr val="1F2328"/>
                          </a:solidFill>
                          <a:latin typeface="Calibri" pitchFamily="34" charset="0"/>
                          <a:ea typeface="Calibri" pitchFamily="34" charset="-122"/>
                          <a:cs typeface="Calibri" pitchFamily="34" charset="-120"/>
                        </a:rPr>
                        <a:t>jaminan hasil diperlemah</a:t>
                      </a:r>
                      <a:endParaRPr lang="en-US" sz="21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6" name="Shape 2"/>
          <p:cNvSpPr/>
          <p:nvPr/>
        </p:nvSpPr>
        <p:spPr>
          <a:xfrm>
            <a:off x="548640" y="5532897"/>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605318"/>
            <a:ext cx="184343" cy="184343"/>
          </a:xfrm>
          <a:prstGeom prst="rect">
            <a:avLst/>
          </a:prstGeom>
        </p:spPr>
      </p:pic>
      <p:sp>
        <p:nvSpPr>
          <p:cNvPr id="8" name="Text 3"/>
          <p:cNvSpPr txBox="1"/>
          <p:nvPr/>
        </p:nvSpPr>
        <p:spPr>
          <a:xfrm>
            <a:off x="1005840" y="5514609"/>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Kelas anak boleh meminta </a:t>
            </a:r>
            <a:r>
              <a:rPr lang="id-ID" altLang="en-US" sz="1800" b="1" dirty="0">
                <a:solidFill>
                  <a:srgbClr val="57606A"/>
                </a:solidFill>
              </a:rPr>
              <a:t>lebih sedikit</a:t>
            </a:r>
            <a:r>
              <a:rPr lang="id-ID" altLang="en-US" sz="1800" dirty="0">
                <a:solidFill>
                  <a:srgbClr val="57606A"/>
                </a:solidFill>
              </a:rPr>
              <a:t> dan memberi </a:t>
            </a:r>
            <a:r>
              <a:rPr lang="id-ID" altLang="en-US" sz="1800" b="1" dirty="0">
                <a:solidFill>
                  <a:srgbClr val="57606A"/>
                </a:solidFill>
              </a:rPr>
              <a:t>lebih banyak</a:t>
            </a:r>
            <a:r>
              <a:rPr lang="id-ID" altLang="en-US" sz="1800" dirty="0">
                <a:solidFill>
                  <a:srgbClr val="57606A"/>
                </a:solidFill>
              </a:rPr>
              <a:t> daripada induknya, tetapi tidak boleh sebaliknya.</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4</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4</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dirty="0">
                <a:solidFill>
                  <a:srgbClr val="FFFFFF"/>
                </a:solidFill>
              </a:rPr>
              <a:t>I dan D: Kontrak Kecil dan Abstraksi</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Kontrak yang pas dengan kebutuhan, dan kelas pengatur yang tidak terkunci pada detail teknis.</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I: </a:t>
            </a:r>
            <a:r>
              <a:rPr lang="id-ID" altLang="en-US" sz="3200" b="1" i="1" dirty="0">
                <a:solidFill>
                  <a:srgbClr val="0A3069"/>
                </a:solidFill>
              </a:rPr>
              <a:t>Interface</a:t>
            </a:r>
            <a:r>
              <a:rPr lang="id-ID" altLang="en-US" sz="3200" b="1" dirty="0">
                <a:solidFill>
                  <a:srgbClr val="0A3069"/>
                </a:solidFill>
              </a:rPr>
              <a:t> Kecil yang Fokus</a:t>
            </a:r>
            <a:endParaRPr lang="id-ID" sz="3200" dirty="0"/>
          </a:p>
        </p:txBody>
      </p:sp>
      <p:pic>
        <p:nvPicPr>
          <p:cNvPr id="5" name="Image 1" descr="Kontrak gemuk PerangkatKasir dipecah tiga. Kasir lengkap memenuhi ketiganya, sedangkan printer termal cukup PencetakStruk.">    </p:cNvPr>
          <p:cNvPicPr>
            <a:picLocks noChangeAspect="1"/>
          </p:cNvPicPr>
          <p:nvPr/>
        </p:nvPicPr>
        <p:blipFill>
          <a:blip r:embed="rId2"/>
          <a:stretch>
            <a:fillRect/>
          </a:stretch>
        </p:blipFill>
        <p:spPr>
          <a:xfrm>
            <a:off x="548640" y="1440706"/>
            <a:ext cx="11094415" cy="3998432"/>
          </a:xfrm>
          <a:prstGeom prst="rect">
            <a:avLst/>
          </a:prstGeom>
        </p:spPr>
      </p:pic>
      <p:sp>
        <p:nvSpPr>
          <p:cNvPr id="6" name="Text 2"/>
          <p:cNvSpPr txBox="1"/>
          <p:nvPr/>
        </p:nvSpPr>
        <p:spPr>
          <a:xfrm>
            <a:off x="1005840" y="5548866"/>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Kontrak gemuk </a:t>
            </a:r>
            <a:r>
              <a:rPr lang="id-ID" altLang="en-US" sz="1700" dirty="0">
                <a:solidFill>
                  <a:srgbClr val="57606A"/>
                </a:solidFill>
                <a:latin typeface="Consolas" pitchFamily="34" charset="0"/>
                <a:ea typeface="Consolas" pitchFamily="34" charset="-122"/>
                <a:cs typeface="Consolas" pitchFamily="34" charset="-120"/>
              </a:rPr>
              <a:t>PerangkatKasir</a:t>
            </a:r>
            <a:r>
              <a:rPr lang="id-ID" altLang="en-US" sz="1700" dirty="0">
                <a:solidFill>
                  <a:srgbClr val="57606A"/>
                </a:solidFill>
              </a:rPr>
              <a:t> dipecah tiga. Kasir lengkap memenuhi ketiganya, sedangkan </a:t>
            </a:r>
            <a:r>
              <a:rPr lang="id-ID" altLang="en-US" sz="1700" i="1" dirty="0">
                <a:solidFill>
                  <a:srgbClr val="57606A"/>
                </a:solidFill>
              </a:rPr>
              <a:t>printer</a:t>
            </a:r>
            <a:r>
              <a:rPr lang="id-ID" altLang="en-US" sz="1700" dirty="0">
                <a:solidFill>
                  <a:srgbClr val="57606A"/>
                </a:solidFill>
              </a:rPr>
              <a:t> termal cukup </a:t>
            </a:r>
            <a:r>
              <a:rPr lang="id-ID" altLang="en-US" sz="1700" dirty="0">
                <a:solidFill>
                  <a:srgbClr val="57606A"/>
                </a:solidFill>
                <a:latin typeface="Consolas" pitchFamily="34" charset="0"/>
                <a:ea typeface="Consolas" pitchFamily="34" charset="-122"/>
                <a:cs typeface="Consolas" pitchFamily="34" charset="-120"/>
              </a:rPr>
              <a:t>PencetakStruk</a:t>
            </a:r>
            <a:r>
              <a:rPr lang="id-ID" altLang="en-US" sz="1700" dirty="0">
                <a:solidFill>
                  <a:srgbClr val="57606A"/>
                </a:solidFill>
              </a:rPr>
              <a:t>.</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D: Bergantung pada Abstraksi</a:t>
            </a:r>
            <a:endParaRPr lang="id-ID" sz="3200" dirty="0"/>
          </a:p>
        </p:txBody>
      </p:sp>
      <p:pic>
        <p:nvPicPr>
          <p:cNvPr id="5" name="Image 1" descr="Dulu detail berada di ujung panah. Kini detail (PenyimpananMemori) yang menunjuk ke abstraksi: itulah arti inversion (pembalikan).">    </p:cNvPr>
          <p:cNvPicPr>
            <a:picLocks noChangeAspect="1"/>
          </p:cNvPicPr>
          <p:nvPr/>
        </p:nvPicPr>
        <p:blipFill>
          <a:blip r:embed="rId2"/>
          <a:stretch>
            <a:fillRect/>
          </a:stretch>
        </p:blipFill>
        <p:spPr>
          <a:xfrm>
            <a:off x="548640" y="1770762"/>
            <a:ext cx="11094415" cy="3338320"/>
          </a:xfrm>
          <a:prstGeom prst="rect">
            <a:avLst/>
          </a:prstGeom>
        </p:spPr>
      </p:pic>
      <p:sp>
        <p:nvSpPr>
          <p:cNvPr id="6" name="Text 2"/>
          <p:cNvSpPr txBox="1"/>
          <p:nvPr/>
        </p:nvSpPr>
        <p:spPr>
          <a:xfrm>
            <a:off x="1005840" y="5218810"/>
            <a:ext cx="10180015" cy="691388"/>
          </a:xfrm>
          <a:prstGeom prst="rect">
            <a:avLst/>
          </a:prstGeom>
          <a:noFill/>
          <a:ln/>
        </p:spPr>
        <p:txBody>
          <a:bodyPr wrap="square" lIns="0" tIns="0" rIns="0" bIns="0" rtlCol="0" anchor="t"/>
          <a:lstStyle/>
          <a:p>
            <a:pPr algn="ctr" indent="0" marL="0">
              <a:buNone/>
            </a:pPr>
            <a:r>
              <a:rPr lang="id-ID" altLang="en-US" sz="1700" dirty="0">
                <a:solidFill>
                  <a:srgbClr val="57606A"/>
                </a:solidFill>
              </a:rPr>
              <a:t>Dulu detail berada di ujung panah. Kini detail (</a:t>
            </a:r>
            <a:r>
              <a:rPr lang="id-ID" altLang="en-US" sz="1700" dirty="0">
                <a:solidFill>
                  <a:srgbClr val="57606A"/>
                </a:solidFill>
                <a:latin typeface="Consolas" pitchFamily="34" charset="0"/>
                <a:ea typeface="Consolas" pitchFamily="34" charset="-122"/>
                <a:cs typeface="Consolas" pitchFamily="34" charset="-120"/>
              </a:rPr>
              <a:t>PenyimpananMemori</a:t>
            </a:r>
            <a:r>
              <a:rPr lang="id-ID" altLang="en-US" sz="1700" dirty="0">
                <a:solidFill>
                  <a:srgbClr val="57606A"/>
                </a:solidFill>
              </a:rPr>
              <a:t>) yang menunjuk ke abstraksi: itulah arti </a:t>
            </a:r>
            <a:r>
              <a:rPr lang="id-ID" altLang="en-US" sz="1700" i="1" dirty="0">
                <a:solidFill>
                  <a:srgbClr val="57606A"/>
                </a:solidFill>
              </a:rPr>
              <a:t>inversion</a:t>
            </a:r>
            <a:r>
              <a:rPr lang="id-ID" altLang="en-US" sz="1700" dirty="0">
                <a:solidFill>
                  <a:srgbClr val="57606A"/>
                </a:solidFill>
              </a:rPr>
              <a:t> (pembalikan).</a:t>
            </a:r>
            <a:endParaRPr lang="id-ID"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24292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Dependency Injection</a:t>
            </a:r>
            <a:r>
              <a:rPr lang="id-ID" altLang="en-US" sz="3200" b="1" dirty="0">
                <a:solidFill>
                  <a:srgbClr val="0A3069"/>
                </a:solidFill>
              </a:rPr>
              <a:t> lewat Konstruktor</a:t>
            </a:r>
            <a:endParaRPr lang="id-ID" sz="3200" dirty="0"/>
          </a:p>
        </p:txBody>
      </p:sp>
      <p:sp>
        <p:nvSpPr>
          <p:cNvPr id="5" name="Text 2"/>
          <p:cNvSpPr txBox="1"/>
          <p:nvPr/>
        </p:nvSpPr>
        <p:spPr>
          <a:xfrm>
            <a:off x="548640" y="1531620"/>
            <a:ext cx="11094415" cy="603504"/>
          </a:xfrm>
          <a:prstGeom prst="rect">
            <a:avLst/>
          </a:prstGeom>
          <a:noFill/>
          <a:ln/>
        </p:spPr>
        <p:txBody>
          <a:bodyPr wrap="square" lIns="0" tIns="0" rIns="0" bIns="0" rtlCol="0" anchor="t"/>
          <a:lstStyle/>
          <a:p>
            <a:pPr indent="0" marL="0">
              <a:buNone/>
            </a:pPr>
            <a:r>
              <a:rPr lang="id-ID" altLang="en-US" sz="1800" dirty="0">
                <a:solidFill>
                  <a:srgbClr val="0A3069"/>
                </a:solidFill>
                <a:latin typeface="Consolas" pitchFamily="34" charset="0"/>
                <a:ea typeface="Consolas" pitchFamily="34" charset="-122"/>
                <a:cs typeface="Consolas" pitchFamily="34" charset="-120"/>
              </a:rPr>
              <a:t>PengingatKaku</a:t>
            </a:r>
            <a:r>
              <a:rPr lang="id-ID" altLang="en-US" sz="1800" dirty="0">
                <a:solidFill>
                  <a:srgbClr val="57606A"/>
                </a:solidFill>
              </a:rPr>
              <a:t> membuat sendiri </a:t>
            </a:r>
            <a:r>
              <a:rPr lang="id-ID" altLang="en-US" sz="1800" dirty="0">
                <a:solidFill>
                  <a:srgbClr val="0A3069"/>
                </a:solidFill>
                <a:latin typeface="Consolas" pitchFamily="34" charset="0"/>
                <a:ea typeface="Consolas" pitchFamily="34" charset="-122"/>
                <a:cs typeface="Consolas" pitchFamily="34" charset="-120"/>
              </a:rPr>
              <a:t>SmsGateway</a:t>
            </a:r>
            <a:r>
              <a:rPr lang="id-ID" altLang="en-US" sz="1800" dirty="0">
                <a:solidFill>
                  <a:srgbClr val="57606A"/>
                </a:solidFill>
              </a:rPr>
              <a:t>. </a:t>
            </a:r>
            <a:r>
              <a:rPr lang="id-ID" altLang="en-US" sz="1800" dirty="0">
                <a:solidFill>
                  <a:srgbClr val="0A3069"/>
                </a:solidFill>
                <a:latin typeface="Consolas" pitchFamily="34" charset="0"/>
                <a:ea typeface="Consolas" pitchFamily="34" charset="-122"/>
                <a:cs typeface="Consolas" pitchFamily="34" charset="-120"/>
              </a:rPr>
              <a:t>PengingatJadwal</a:t>
            </a:r>
            <a:r>
              <a:rPr lang="id-ID" altLang="en-US" sz="1800" dirty="0">
                <a:solidFill>
                  <a:srgbClr val="57606A"/>
                </a:solidFill>
              </a:rPr>
              <a:t> menerima </a:t>
            </a:r>
            <a:r>
              <a:rPr lang="id-ID" altLang="en-US" sz="1800" dirty="0">
                <a:solidFill>
                  <a:srgbClr val="0A3069"/>
                </a:solidFill>
                <a:latin typeface="Consolas" pitchFamily="34" charset="0"/>
                <a:ea typeface="Consolas" pitchFamily="34" charset="-122"/>
                <a:cs typeface="Consolas" pitchFamily="34" charset="-120"/>
              </a:rPr>
              <a:t>Pengirim</a:t>
            </a:r>
            <a:r>
              <a:rPr lang="id-ID" altLang="en-US" sz="1800" dirty="0">
                <a:solidFill>
                  <a:srgbClr val="57606A"/>
                </a:solidFill>
              </a:rPr>
              <a:t> dari luar lewat konstruktor.</a:t>
            </a:r>
            <a:endParaRPr lang="id-ID" sz="1800" dirty="0"/>
          </a:p>
        </p:txBody>
      </p:sp>
      <p:sp>
        <p:nvSpPr>
          <p:cNvPr id="6" name="Shape 3"/>
          <p:cNvSpPr/>
          <p:nvPr/>
        </p:nvSpPr>
        <p:spPr>
          <a:xfrm>
            <a:off x="548640" y="2244852"/>
            <a:ext cx="1051560" cy="329184"/>
          </a:xfrm>
          <a:prstGeom prst="roundRect">
            <a:avLst>
              <a:gd name="adj" fmla="val 138889"/>
            </a:avLst>
          </a:prstGeom>
          <a:solidFill>
            <a:srgbClr val="3572A5"/>
          </a:solidFill>
          <a:ln/>
        </p:spPr>
      </p:sp>
      <p:sp>
        <p:nvSpPr>
          <p:cNvPr id="7" name="Text 4"/>
          <p:cNvSpPr txBox="1"/>
          <p:nvPr/>
        </p:nvSpPr>
        <p:spPr>
          <a:xfrm>
            <a:off x="548640" y="224485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8" name="Text 5"/>
          <p:cNvSpPr txBox="1"/>
          <p:nvPr/>
        </p:nvSpPr>
        <p:spPr>
          <a:xfrm>
            <a:off x="1737360" y="224485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python/contoh/contoh05_dip.py</a:t>
            </a:r>
            <a:endParaRPr lang="id-ID" sz="1100" dirty="0"/>
          </a:p>
        </p:txBody>
      </p:sp>
      <p:sp>
        <p:nvSpPr>
          <p:cNvPr id="9" name="Shape 6"/>
          <p:cNvSpPr/>
          <p:nvPr/>
        </p:nvSpPr>
        <p:spPr>
          <a:xfrm>
            <a:off x="548640" y="2665476"/>
            <a:ext cx="5432908" cy="3313176"/>
          </a:xfrm>
          <a:prstGeom prst="roundRect">
            <a:avLst>
              <a:gd name="adj" fmla="val 762"/>
            </a:avLst>
          </a:prstGeom>
          <a:solidFill>
            <a:srgbClr val="F6F8FA"/>
          </a:solidFill>
          <a:ln w="9525">
            <a:solidFill>
              <a:srgbClr val="D0D7DE"/>
            </a:solidFill>
            <a:prstDash val="solid"/>
          </a:ln>
        </p:spPr>
      </p:sp>
      <p:sp>
        <p:nvSpPr>
          <p:cNvPr id="10" name="Text 7"/>
          <p:cNvSpPr txBox="1"/>
          <p:nvPr/>
        </p:nvSpPr>
        <p:spPr>
          <a:xfrm>
            <a:off x="658368" y="2756916"/>
            <a:ext cx="5213452" cy="3130296"/>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PengingatKaku</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__init__</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._sms = SmsGateway()</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Pengirim</a:t>
            </a:r>
            <a:r>
              <a:rPr lang="en-US" altLang="en-US" sz="1200" dirty="0">
                <a:solidFill>
                  <a:srgbClr val="1F2328"/>
                </a:solidFill>
                <a:latin typeface="Consolas" pitchFamily="34" charset="0"/>
                <a:ea typeface="Consolas" pitchFamily="34" charset="-122"/>
                <a:cs typeface="Consolas" pitchFamily="34" charset="-120"/>
              </a:rPr>
              <a:t>(ABC):</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A3069"/>
                </a:solidFill>
                <a:latin typeface="Consolas" pitchFamily="34" charset="0"/>
                <a:ea typeface="Consolas" pitchFamily="34" charset="-122"/>
                <a:cs typeface="Consolas" pitchFamily="34" charset="-120"/>
              </a:rPr>
              <a:t>"""Abstraksi: apa pun yang bisa mengirim pesan."""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@abstractmethod</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kirim</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tujuan: </a:t>
            </a:r>
            <a:r>
              <a:rPr lang="en-US" altLang="en-US" sz="1200" dirty="0">
                <a:solidFill>
                  <a:srgbClr val="0550AE"/>
                </a:solidFill>
                <a:latin typeface="Consolas" pitchFamily="34" charset="0"/>
                <a:ea typeface="Consolas" pitchFamily="34" charset="-122"/>
                <a:cs typeface="Consolas" pitchFamily="34" charset="-120"/>
              </a:rPr>
              <a:t>str</a:t>
            </a:r>
            <a:r>
              <a:rPr lang="en-US" altLang="en-US" sz="1200" dirty="0">
                <a:solidFill>
                  <a:srgbClr val="1F2328"/>
                </a:solidFill>
                <a:latin typeface="Consolas" pitchFamily="34" charset="0"/>
                <a:ea typeface="Consolas" pitchFamily="34" charset="-122"/>
                <a:cs typeface="Consolas" pitchFamily="34" charset="-120"/>
              </a:rPr>
              <a:t>, pesan: </a:t>
            </a:r>
            <a:r>
              <a:rPr lang="en-US" altLang="en-US" sz="1200" dirty="0">
                <a:solidFill>
                  <a:srgbClr val="0550AE"/>
                </a:solidFill>
                <a:latin typeface="Consolas" pitchFamily="34" charset="0"/>
                <a:ea typeface="Consolas" pitchFamily="34" charset="-122"/>
                <a:cs typeface="Consolas" pitchFamily="34" charset="-120"/>
              </a:rPr>
              <a:t>str</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(dilewati)</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PengingatJadwal</a:t>
            </a: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def</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__init__</a:t>
            </a:r>
            <a:r>
              <a:rPr lang="en-US" altLang="en-US" sz="1200" dirty="0">
                <a:solidFill>
                  <a:srgbClr val="1F2328"/>
                </a:solidFill>
                <a:latin typeface="Consolas" pitchFamily="34" charset="0"/>
                <a:ea typeface="Consolas" pitchFamily="34" charset="-122"/>
                <a:cs typeface="Consolas" pitchFamily="34" charset="-120"/>
              </a:rPr>
              <a:t>(</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 pengirim: Pengirim):</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0550AE"/>
                </a:solidFill>
                <a:latin typeface="Consolas" pitchFamily="34" charset="0"/>
                <a:ea typeface="Consolas" pitchFamily="34" charset="-122"/>
                <a:cs typeface="Consolas" pitchFamily="34" charset="-120"/>
              </a:rPr>
              <a:t>self</a:t>
            </a:r>
            <a:r>
              <a:rPr lang="en-US" altLang="en-US" sz="1200" dirty="0">
                <a:solidFill>
                  <a:srgbClr val="1F2328"/>
                </a:solidFill>
                <a:latin typeface="Consolas" pitchFamily="34" charset="0"/>
                <a:ea typeface="Consolas" pitchFamily="34" charset="-122"/>
                <a:cs typeface="Consolas" pitchFamily="34" charset="-120"/>
              </a:rPr>
              <a:t>._pengirim = pengirim</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p:txBody>
      </p:sp>
      <p:sp>
        <p:nvSpPr>
          <p:cNvPr id="11" name="Shape 8"/>
          <p:cNvSpPr/>
          <p:nvPr/>
        </p:nvSpPr>
        <p:spPr>
          <a:xfrm>
            <a:off x="6210148" y="2244852"/>
            <a:ext cx="1051560" cy="329184"/>
          </a:xfrm>
          <a:prstGeom prst="roundRect">
            <a:avLst>
              <a:gd name="adj" fmla="val 138889"/>
            </a:avLst>
          </a:prstGeom>
          <a:solidFill>
            <a:srgbClr val="B07219"/>
          </a:solidFill>
          <a:ln/>
        </p:spPr>
      </p:sp>
      <p:sp>
        <p:nvSpPr>
          <p:cNvPr id="12" name="Text 9"/>
          <p:cNvSpPr txBox="1"/>
          <p:nvPr/>
        </p:nvSpPr>
        <p:spPr>
          <a:xfrm>
            <a:off x="6210148" y="2244852"/>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3" name="Text 10"/>
          <p:cNvSpPr txBox="1"/>
          <p:nvPr/>
        </p:nvSpPr>
        <p:spPr>
          <a:xfrm>
            <a:off x="7398868" y="2244852"/>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java/contoh/Contoh05Dip.java</a:t>
            </a:r>
            <a:endParaRPr lang="id-ID" sz="1100" dirty="0"/>
          </a:p>
        </p:txBody>
      </p:sp>
      <p:sp>
        <p:nvSpPr>
          <p:cNvPr id="14" name="Shape 11"/>
          <p:cNvSpPr/>
          <p:nvPr/>
        </p:nvSpPr>
        <p:spPr>
          <a:xfrm>
            <a:off x="6210148" y="2665476"/>
            <a:ext cx="5432908" cy="3313176"/>
          </a:xfrm>
          <a:prstGeom prst="roundRect">
            <a:avLst>
              <a:gd name="adj" fmla="val 762"/>
            </a:avLst>
          </a:prstGeom>
          <a:solidFill>
            <a:srgbClr val="F6F8FA"/>
          </a:solidFill>
          <a:ln w="9525">
            <a:solidFill>
              <a:srgbClr val="D0D7DE"/>
            </a:solidFill>
            <a:prstDash val="solid"/>
          </a:ln>
        </p:spPr>
      </p:sp>
      <p:sp>
        <p:nvSpPr>
          <p:cNvPr id="15" name="Text 12"/>
          <p:cNvSpPr txBox="1"/>
          <p:nvPr/>
        </p:nvSpPr>
        <p:spPr>
          <a:xfrm>
            <a:off x="6319876" y="2756916"/>
            <a:ext cx="5213452" cy="3130296"/>
          </a:xfrm>
          <a:prstGeom prst="rect">
            <a:avLst/>
          </a:prstGeom>
          <a:noFill/>
          <a:ln/>
        </p:spPr>
        <p:txBody>
          <a:bodyPr wrap="square" lIns="0" tIns="0" rIns="0" bIns="0" rtlCol="0" anchor="t"/>
          <a:lstStyle/>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PengingatKaku</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private</a:t>
            </a:r>
            <a:r>
              <a:rPr lang="en-US" altLang="en-US" sz="1200" dirty="0">
                <a:solidFill>
                  <a:srgbClr val="1F2328"/>
                </a:solidFill>
                <a:latin typeface="Consolas" pitchFamily="34" charset="0"/>
                <a:ea typeface="Consolas" pitchFamily="34" charset="-122"/>
                <a:cs typeface="Consolas" pitchFamily="34" charset="-120"/>
              </a:rPr>
              <a:t> SmsGateway sms;</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PengingatKaku</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this</a:t>
            </a:r>
            <a:r>
              <a:rPr lang="en-US" altLang="en-US" sz="1200" dirty="0">
                <a:solidFill>
                  <a:srgbClr val="1F2328"/>
                </a:solidFill>
                <a:latin typeface="Consolas" pitchFamily="34" charset="0"/>
                <a:ea typeface="Consolas" pitchFamily="34" charset="-122"/>
                <a:cs typeface="Consolas" pitchFamily="34" charset="-120"/>
              </a:rPr>
              <a:t>.sms = </a:t>
            </a:r>
            <a:r>
              <a:rPr lang="en-US" altLang="en-US" sz="1200" dirty="0">
                <a:solidFill>
                  <a:srgbClr val="CF222E"/>
                </a:solidFill>
                <a:latin typeface="Consolas" pitchFamily="34" charset="0"/>
                <a:ea typeface="Consolas" pitchFamily="34" charset="-122"/>
                <a:cs typeface="Consolas" pitchFamily="34" charset="-120"/>
              </a:rPr>
              <a:t>new</a:t>
            </a:r>
            <a:r>
              <a:rPr lang="en-US" altLang="en-US" sz="1200" dirty="0">
                <a:solidFill>
                  <a:srgbClr val="1F2328"/>
                </a:solidFill>
                <a:latin typeface="Consolas" pitchFamily="34" charset="0"/>
                <a:ea typeface="Consolas" pitchFamily="34" charset="-122"/>
                <a:cs typeface="Consolas" pitchFamily="34" charset="-120"/>
              </a:rPr>
              <a:t> SmsGateway();</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interface</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Pengirim</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void</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kirim</a:t>
            </a:r>
            <a:r>
              <a:rPr lang="en-US" altLang="en-US" sz="1200" dirty="0">
                <a:solidFill>
                  <a:srgbClr val="1F2328"/>
                </a:solidFill>
                <a:latin typeface="Consolas" pitchFamily="34" charset="0"/>
                <a:ea typeface="Consolas" pitchFamily="34" charset="-122"/>
                <a:cs typeface="Consolas" pitchFamily="34" charset="-120"/>
              </a:rPr>
              <a:t>(String tujuan, String pesan);</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a:p>
            <a:pPr indent="0" marL="0">
              <a:buNone/>
            </a:pPr>
            <a:r>
              <a:rPr lang="en-US" altLang="en-US" sz="1200" dirty="0">
                <a:solidFill>
                  <a:srgbClr val="CF222E"/>
                </a:solidFill>
                <a:latin typeface="Consolas" pitchFamily="34" charset="0"/>
                <a:ea typeface="Consolas" pitchFamily="34" charset="-122"/>
                <a:cs typeface="Consolas" pitchFamily="34" charset="-120"/>
              </a:rPr>
              <a:t>class</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953800"/>
                </a:solidFill>
                <a:latin typeface="Consolas" pitchFamily="34" charset="0"/>
                <a:ea typeface="Consolas" pitchFamily="34" charset="-122"/>
                <a:cs typeface="Consolas" pitchFamily="34" charset="-120"/>
              </a:rPr>
              <a:t>PengingatJadwal</a:t>
            </a: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private</a:t>
            </a:r>
            <a:r>
              <a:rPr lang="en-US" altLang="en-US" sz="1200" dirty="0">
                <a:solidFill>
                  <a:srgbClr val="1F2328"/>
                </a:solidFill>
                <a:latin typeface="Consolas" pitchFamily="34" charset="0"/>
                <a:ea typeface="Consolas" pitchFamily="34" charset="-122"/>
                <a:cs typeface="Consolas" pitchFamily="34" charset="-120"/>
              </a:rPr>
              <a:t> Pengirim pengirim;</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public</a:t>
            </a: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8250DF"/>
                </a:solidFill>
                <a:latin typeface="Consolas" pitchFamily="34" charset="0"/>
                <a:ea typeface="Consolas" pitchFamily="34" charset="-122"/>
                <a:cs typeface="Consolas" pitchFamily="34" charset="-120"/>
              </a:rPr>
              <a:t>PengingatJadwal</a:t>
            </a:r>
            <a:r>
              <a:rPr lang="en-US" altLang="en-US" sz="1200" dirty="0">
                <a:solidFill>
                  <a:srgbClr val="1F2328"/>
                </a:solidFill>
                <a:latin typeface="Consolas" pitchFamily="34" charset="0"/>
                <a:ea typeface="Consolas" pitchFamily="34" charset="-122"/>
                <a:cs typeface="Consolas" pitchFamily="34" charset="-120"/>
              </a:rPr>
              <a:t>(Pengirim pengirim) {</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r>
              <a:rPr lang="en-US" altLang="en-US" sz="1200" dirty="0">
                <a:solidFill>
                  <a:srgbClr val="CF222E"/>
                </a:solidFill>
                <a:latin typeface="Consolas" pitchFamily="34" charset="0"/>
                <a:ea typeface="Consolas" pitchFamily="34" charset="-122"/>
                <a:cs typeface="Consolas" pitchFamily="34" charset="-120"/>
              </a:rPr>
              <a:t>this</a:t>
            </a:r>
            <a:r>
              <a:rPr lang="en-US" altLang="en-US" sz="1200" dirty="0">
                <a:solidFill>
                  <a:srgbClr val="1F2328"/>
                </a:solidFill>
                <a:latin typeface="Consolas" pitchFamily="34" charset="0"/>
                <a:ea typeface="Consolas" pitchFamily="34" charset="-122"/>
                <a:cs typeface="Consolas" pitchFamily="34" charset="-120"/>
              </a:rPr>
              <a:t>.pengirim = pengirim;</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    }</a:t>
            </a:r>
            <a:endParaRPr lang="en-US" sz="1200" dirty="0"/>
          </a:p>
          <a:p>
            <a:pPr indent="0" marL="0">
              <a:buNone/>
            </a:pPr>
            <a:r>
              <a:rPr lang="en-US" altLang="en-US" sz="1200" i="1" dirty="0">
                <a:solidFill>
                  <a:srgbClr val="6E7781"/>
                </a:solidFill>
                <a:latin typeface="Consolas" pitchFamily="34" charset="0"/>
                <a:ea typeface="Consolas" pitchFamily="34" charset="-122"/>
                <a:cs typeface="Consolas" pitchFamily="34" charset="-120"/>
              </a:rPr>
              <a:t>    // ... (dilewati)</a:t>
            </a:r>
            <a:endParaRPr lang="en-US" sz="1200" dirty="0"/>
          </a:p>
          <a:p>
            <a:pPr indent="0" marL="0">
              <a:buNone/>
            </a:pPr>
            <a:r>
              <a:rPr lang="en-US" altLang="en-US" sz="1200" dirty="0">
                <a:solidFill>
                  <a:srgbClr val="1F2328"/>
                </a:solidFill>
                <a:latin typeface="Consolas" pitchFamily="34" charset="0"/>
                <a:ea typeface="Consolas" pitchFamily="34" charset="-122"/>
                <a:cs typeface="Consolas" pitchFamily="34" charset="-120"/>
              </a:rPr>
              <a:t>}</a:t>
            </a:r>
            <a:endParaRPr 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0969DA"/>
          </a:solidFill>
          <a:ln/>
        </p:spPr>
      </p:sp>
      <p:sp>
        <p:nvSpPr>
          <p:cNvPr id="3" name="Text 1"/>
          <p:cNvSpPr txBox="1"/>
          <p:nvPr/>
        </p:nvSpPr>
        <p:spPr>
          <a:xfrm>
            <a:off x="868680" y="2286000"/>
            <a:ext cx="1417320" cy="1417320"/>
          </a:xfrm>
          <a:prstGeom prst="rect">
            <a:avLst/>
          </a:prstGeom>
          <a:noFill/>
          <a:ln/>
        </p:spPr>
        <p:txBody>
          <a:bodyPr wrap="square" lIns="0" tIns="0" rIns="0" bIns="0" rtlCol="0" anchor="ctr"/>
          <a:lstStyle/>
          <a:p>
            <a:pPr algn="ctr" indent="0" marL="0">
              <a:buNone/>
            </a:pPr>
            <a:r>
              <a:rPr lang="id-ID" altLang="en-US" sz="5400" b="1" dirty="0">
                <a:solidFill>
                  <a:srgbClr val="FFFFFF"/>
                </a:solidFill>
              </a:rPr>
              <a:t>5</a:t>
            </a:r>
            <a:endParaRPr lang="id-ID" sz="5400" dirty="0"/>
          </a:p>
        </p:txBody>
      </p:sp>
      <p:sp>
        <p:nvSpPr>
          <p:cNvPr id="4" name="Text 2"/>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54AEFF"/>
                </a:solidFill>
              </a:rPr>
              <a:t>BAGIAN 5</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4200" b="1" i="1" dirty="0">
                <a:solidFill>
                  <a:srgbClr val="FFFFFF"/>
                </a:solidFill>
              </a:rPr>
              <a:t>Refactoring</a:t>
            </a:r>
            <a:r>
              <a:rPr lang="id-ID" altLang="en-US" sz="4200" b="1" dirty="0">
                <a:solidFill>
                  <a:srgbClr val="FFFFFF"/>
                </a:solidFill>
              </a:rPr>
              <a:t> dan Prinsip Pendamping</a:t>
            </a:r>
            <a:endParaRPr lang="id-ID" sz="4200" dirty="0"/>
          </a:p>
        </p:txBody>
      </p:sp>
      <p:sp>
        <p:nvSpPr>
          <p:cNvPr id="6" name="Text 4"/>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Merapikan kode dengan aman, serta tiga prinsip pendek yang sering disebut pemrogram.</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i="1" dirty="0">
                <a:solidFill>
                  <a:srgbClr val="0A3069"/>
                </a:solidFill>
              </a:rPr>
              <a:t>Refactoring</a:t>
            </a:r>
            <a:r>
              <a:rPr lang="id-ID" altLang="en-US" sz="3200" b="1" dirty="0">
                <a:solidFill>
                  <a:srgbClr val="0A3069"/>
                </a:solidFill>
              </a:rPr>
              <a:t>: Ubah Struktur, Jaga Perilaku</a:t>
            </a:r>
            <a:endParaRPr lang="id-ID" sz="3200" dirty="0"/>
          </a:p>
        </p:txBody>
      </p:sp>
      <p:sp>
        <p:nvSpPr>
          <p:cNvPr id="5" name="Text 2"/>
          <p:cNvSpPr txBox="1"/>
          <p:nvPr/>
        </p:nvSpPr>
        <p:spPr>
          <a:xfrm>
            <a:off x="548640" y="1736293"/>
            <a:ext cx="11094415" cy="548640"/>
          </a:xfrm>
          <a:prstGeom prst="rect">
            <a:avLst/>
          </a:prstGeom>
          <a:noFill/>
          <a:ln/>
        </p:spPr>
        <p:txBody>
          <a:bodyPr wrap="square" lIns="0" tIns="0" rIns="0" bIns="0" rtlCol="0" anchor="t"/>
          <a:lstStyle/>
          <a:p>
            <a:pPr indent="0" marL="0">
              <a:buNone/>
            </a:pPr>
            <a:r>
              <a:rPr lang="id-ID" altLang="en-US" sz="3000" b="1" i="1" dirty="0">
                <a:solidFill>
                  <a:srgbClr val="0969DA"/>
                </a:solidFill>
              </a:rPr>
              <a:t>Refactoring</a:t>
            </a:r>
            <a:endParaRPr lang="id-ID" sz="3000" dirty="0"/>
          </a:p>
        </p:txBody>
      </p:sp>
      <p:sp>
        <p:nvSpPr>
          <p:cNvPr id="6" name="Shape 3"/>
          <p:cNvSpPr/>
          <p:nvPr/>
        </p:nvSpPr>
        <p:spPr>
          <a:xfrm>
            <a:off x="548640" y="2449525"/>
            <a:ext cx="11094415" cy="1199388"/>
          </a:xfrm>
          <a:prstGeom prst="roundRect">
            <a:avLst>
              <a:gd name="adj" fmla="val 6975"/>
            </a:avLst>
          </a:prstGeom>
          <a:solidFill>
            <a:srgbClr val="DDF4FF"/>
          </a:solidFill>
          <a:ln w="9525">
            <a:solidFill>
              <a:srgbClr val="54AEFF"/>
            </a:solidFill>
            <a:prstDash val="solid"/>
          </a:ln>
        </p:spPr>
      </p:sp>
      <p:sp>
        <p:nvSpPr>
          <p:cNvPr id="7" name="Shape 4"/>
          <p:cNvSpPr/>
          <p:nvPr/>
        </p:nvSpPr>
        <p:spPr>
          <a:xfrm>
            <a:off x="804672" y="2774899"/>
            <a:ext cx="548640" cy="548640"/>
          </a:xfrm>
          <a:prstGeom prst="ellipse">
            <a:avLst/>
          </a:prstGeom>
          <a:solidFill>
            <a:srgbClr val="0969DA"/>
          </a:solidFill>
          <a:ln/>
        </p:spPr>
      </p:sp>
      <p:pic>
        <p:nvPicPr>
          <p:cNvPr id="8" name="Image 1" descr="preencoded.png">    </p:cNvPr>
          <p:cNvPicPr>
            <a:picLocks noChangeAspect="1"/>
          </p:cNvPicPr>
          <p:nvPr/>
        </p:nvPicPr>
        <p:blipFill>
          <a:blip r:embed="rId2"/>
          <a:stretch>
            <a:fillRect/>
          </a:stretch>
        </p:blipFill>
        <p:spPr>
          <a:xfrm>
            <a:off x="925373" y="2895600"/>
            <a:ext cx="307238" cy="307238"/>
          </a:xfrm>
          <a:prstGeom prst="rect">
            <a:avLst/>
          </a:prstGeom>
        </p:spPr>
      </p:pic>
      <p:sp>
        <p:nvSpPr>
          <p:cNvPr id="9" name="Text 5"/>
          <p:cNvSpPr txBox="1"/>
          <p:nvPr/>
        </p:nvSpPr>
        <p:spPr>
          <a:xfrm>
            <a:off x="1554480" y="2723845"/>
            <a:ext cx="9859975" cy="833628"/>
          </a:xfrm>
          <a:prstGeom prst="rect">
            <a:avLst/>
          </a:prstGeom>
          <a:noFill/>
          <a:ln/>
        </p:spPr>
        <p:txBody>
          <a:bodyPr wrap="square" lIns="0" tIns="0" rIns="0" bIns="0" rtlCol="0" anchor="t"/>
          <a:lstStyle/>
          <a:p>
            <a:pPr indent="0" marL="0">
              <a:buNone/>
            </a:pPr>
            <a:r>
              <a:rPr lang="id-ID" altLang="en-US" sz="2100" dirty="0">
                <a:solidFill>
                  <a:srgbClr val="1F2328"/>
                </a:solidFill>
              </a:rPr>
              <a:t>Mengubah </a:t>
            </a:r>
            <a:r>
              <a:rPr lang="id-ID" altLang="en-US" sz="2100" b="1" dirty="0">
                <a:solidFill>
                  <a:srgbClr val="1F2328"/>
                </a:solidFill>
              </a:rPr>
              <a:t>struktur</a:t>
            </a:r>
            <a:r>
              <a:rPr lang="id-ID" altLang="en-US" sz="2100" dirty="0">
                <a:solidFill>
                  <a:srgbClr val="1F2328"/>
                </a:solidFill>
              </a:rPr>
              <a:t> kode </a:t>
            </a:r>
            <a:r>
              <a:rPr lang="id-ID" altLang="en-US" sz="2100" b="1" dirty="0">
                <a:solidFill>
                  <a:srgbClr val="1F2328"/>
                </a:solidFill>
              </a:rPr>
              <a:t>tanpa mengubah perilakunya</a:t>
            </a:r>
            <a:r>
              <a:rPr lang="id-ID" altLang="en-US" sz="2100" dirty="0">
                <a:solidFill>
                  <a:srgbClr val="1F2328"/>
                </a:solidFill>
              </a:rPr>
              <a:t>. </a:t>
            </a:r>
            <a:r>
              <a:rPr lang="id-ID" altLang="en-US" sz="2100" i="1" dirty="0">
                <a:solidFill>
                  <a:srgbClr val="1F2328"/>
                </a:solidFill>
              </a:rPr>
              <a:t>Output</a:t>
            </a:r>
            <a:r>
              <a:rPr lang="id-ID" altLang="en-US" sz="2100" dirty="0">
                <a:solidFill>
                  <a:srgbClr val="1F2328"/>
                </a:solidFill>
              </a:rPr>
              <a:t>, hasil perhitungan, dan reaksi program terhadap kesalahan harus tetap sama persis.</a:t>
            </a:r>
            <a:endParaRPr lang="id-ID" sz="2100" dirty="0"/>
          </a:p>
        </p:txBody>
      </p:sp>
      <p:sp>
        <p:nvSpPr>
          <p:cNvPr id="10" name="Shape 6"/>
          <p:cNvSpPr/>
          <p:nvPr/>
        </p:nvSpPr>
        <p:spPr>
          <a:xfrm>
            <a:off x="603504" y="4184726"/>
            <a:ext cx="137160" cy="137160"/>
          </a:xfrm>
          <a:prstGeom prst="roundRect">
            <a:avLst>
              <a:gd name="adj" fmla="val 166667"/>
            </a:avLst>
          </a:prstGeom>
          <a:solidFill>
            <a:srgbClr val="0969DA"/>
          </a:solidFill>
          <a:ln/>
        </p:spPr>
      </p:sp>
      <p:sp>
        <p:nvSpPr>
          <p:cNvPr id="11" name="Text 7"/>
          <p:cNvSpPr txBox="1"/>
          <p:nvPr/>
        </p:nvSpPr>
        <p:spPr>
          <a:xfrm>
            <a:off x="932688" y="4106113"/>
            <a:ext cx="10710367" cy="340106"/>
          </a:xfrm>
          <a:prstGeom prst="rect">
            <a:avLst/>
          </a:prstGeom>
          <a:noFill/>
          <a:ln/>
        </p:spPr>
        <p:txBody>
          <a:bodyPr wrap="square" lIns="0" tIns="0" rIns="0" bIns="0" rtlCol="0" anchor="t"/>
          <a:lstStyle/>
          <a:p>
            <a:pPr indent="0" marL="0">
              <a:buNone/>
            </a:pPr>
            <a:r>
              <a:rPr lang="id-ID" altLang="en-US" sz="1900" dirty="0">
                <a:solidFill>
                  <a:srgbClr val="1F2328"/>
                </a:solidFill>
              </a:rPr>
              <a:t>Buktikan, jangan hanya merasa yakin: simpan </a:t>
            </a:r>
            <a:r>
              <a:rPr lang="id-ID" altLang="en-US" sz="1900" i="1" dirty="0">
                <a:solidFill>
                  <a:srgbClr val="1F2328"/>
                </a:solidFill>
              </a:rPr>
              <a:t>output</a:t>
            </a:r>
            <a:r>
              <a:rPr lang="id-ID" altLang="en-US" sz="1900" dirty="0">
                <a:solidFill>
                  <a:srgbClr val="1F2328"/>
                </a:solidFill>
              </a:rPr>
              <a:t> versi lama dan baru ke </a:t>
            </a:r>
            <a:r>
              <a:rPr lang="id-ID" altLang="en-US" sz="1900" i="1" dirty="0">
                <a:solidFill>
                  <a:srgbClr val="1F2328"/>
                </a:solidFill>
              </a:rPr>
              <a:t>file</a:t>
            </a:r>
            <a:r>
              <a:rPr lang="id-ID" altLang="en-US" sz="1900" dirty="0">
                <a:solidFill>
                  <a:srgbClr val="1F2328"/>
                </a:solidFill>
              </a:rPr>
              <a:t> dengan </a:t>
            </a:r>
            <a:r>
              <a:rPr lang="id-ID" altLang="en-US" sz="1900" dirty="0">
                <a:solidFill>
                  <a:srgbClr val="1F2328"/>
                </a:solidFill>
                <a:latin typeface="Consolas" pitchFamily="34" charset="0"/>
                <a:ea typeface="Consolas" pitchFamily="34" charset="-122"/>
                <a:cs typeface="Consolas" pitchFamily="34" charset="-120"/>
              </a:rPr>
              <a:t>&gt;</a:t>
            </a:r>
            <a:r>
              <a:rPr lang="id-ID" altLang="en-US" sz="1900" dirty="0">
                <a:solidFill>
                  <a:srgbClr val="1F2328"/>
                </a:solidFill>
              </a:rPr>
              <a:t>, lalu bandingkan.</a:t>
            </a:r>
            <a:endParaRPr lang="id-ID" sz="1900" dirty="0"/>
          </a:p>
        </p:txBody>
      </p:sp>
      <p:sp>
        <p:nvSpPr>
          <p:cNvPr id="12" name="Shape 8"/>
          <p:cNvSpPr/>
          <p:nvPr/>
        </p:nvSpPr>
        <p:spPr>
          <a:xfrm>
            <a:off x="603504" y="4716856"/>
            <a:ext cx="137160" cy="137160"/>
          </a:xfrm>
          <a:prstGeom prst="roundRect">
            <a:avLst>
              <a:gd name="adj" fmla="val 166667"/>
            </a:avLst>
          </a:prstGeom>
          <a:solidFill>
            <a:srgbClr val="0969DA"/>
          </a:solidFill>
          <a:ln/>
        </p:spPr>
      </p:sp>
      <p:sp>
        <p:nvSpPr>
          <p:cNvPr id="13" name="Text 9"/>
          <p:cNvSpPr txBox="1"/>
          <p:nvPr/>
        </p:nvSpPr>
        <p:spPr>
          <a:xfrm>
            <a:off x="932688" y="4638243"/>
            <a:ext cx="10710367" cy="634492"/>
          </a:xfrm>
          <a:prstGeom prst="rect">
            <a:avLst/>
          </a:prstGeom>
          <a:noFill/>
          <a:ln/>
        </p:spPr>
        <p:txBody>
          <a:bodyPr wrap="square" lIns="0" tIns="0" rIns="0" bIns="0" rtlCol="0" anchor="t"/>
          <a:lstStyle/>
          <a:p>
            <a:pPr indent="0" marL="0">
              <a:buNone/>
            </a:pPr>
            <a:r>
              <a:rPr lang="id-ID" altLang="en-US" sz="1900" dirty="0">
                <a:solidFill>
                  <a:srgbClr val="1F2328"/>
                </a:solidFill>
                <a:latin typeface="Consolas" pitchFamily="34" charset="0"/>
                <a:ea typeface="Consolas" pitchFamily="34" charset="-122"/>
                <a:cs typeface="Consolas" pitchFamily="34" charset="-120"/>
              </a:rPr>
              <a:t>diff</a:t>
            </a:r>
            <a:r>
              <a:rPr lang="id-ID" altLang="en-US" sz="1900" dirty="0">
                <a:solidFill>
                  <a:srgbClr val="1F2328"/>
                </a:solidFill>
              </a:rPr>
              <a:t> (macOS/Linux) tidak mencetak apa pun jika sama; </a:t>
            </a:r>
            <a:r>
              <a:rPr lang="id-ID" altLang="en-US" sz="1900" dirty="0">
                <a:solidFill>
                  <a:srgbClr val="1F2328"/>
                </a:solidFill>
                <a:latin typeface="Consolas" pitchFamily="34" charset="0"/>
                <a:ea typeface="Consolas" pitchFamily="34" charset="-122"/>
                <a:cs typeface="Consolas" pitchFamily="34" charset="-120"/>
              </a:rPr>
              <a:t>fc</a:t>
            </a:r>
            <a:r>
              <a:rPr lang="id-ID" altLang="en-US" sz="1900" dirty="0">
                <a:solidFill>
                  <a:srgbClr val="1F2328"/>
                </a:solidFill>
              </a:rPr>
              <a:t> (Windows) menampilkan </a:t>
            </a:r>
            <a:r>
              <a:rPr lang="id-ID" altLang="en-US" sz="1900" dirty="0">
                <a:solidFill>
                  <a:srgbClr val="1F2328"/>
                </a:solidFill>
                <a:latin typeface="Consolas" pitchFamily="34" charset="0"/>
                <a:ea typeface="Consolas" pitchFamily="34" charset="-122"/>
                <a:cs typeface="Consolas" pitchFamily="34" charset="-120"/>
              </a:rPr>
              <a:t>FC: no differences encountered</a:t>
            </a:r>
            <a:r>
              <a:rPr lang="id-ID" altLang="en-US" sz="1900" dirty="0">
                <a:solidFill>
                  <a:srgbClr val="1F2328"/>
                </a:solidFill>
              </a:rPr>
              <a:t>.</a:t>
            </a:r>
            <a:endParaRPr lang="id-ID" sz="1900" dirty="0"/>
          </a:p>
        </p:txBody>
      </p:sp>
      <p:sp>
        <p:nvSpPr>
          <p:cNvPr id="14" name="Shape 10"/>
          <p:cNvSpPr/>
          <p:nvPr/>
        </p:nvSpPr>
        <p:spPr>
          <a:xfrm>
            <a:off x="603504" y="5543372"/>
            <a:ext cx="137160" cy="137160"/>
          </a:xfrm>
          <a:prstGeom prst="roundRect">
            <a:avLst>
              <a:gd name="adj" fmla="val 166667"/>
            </a:avLst>
          </a:prstGeom>
          <a:solidFill>
            <a:srgbClr val="0969DA"/>
          </a:solidFill>
          <a:ln/>
        </p:spPr>
      </p:sp>
      <p:sp>
        <p:nvSpPr>
          <p:cNvPr id="15" name="Text 11"/>
          <p:cNvSpPr txBox="1"/>
          <p:nvPr/>
        </p:nvSpPr>
        <p:spPr>
          <a:xfrm>
            <a:off x="932688" y="5464759"/>
            <a:ext cx="10710367" cy="340106"/>
          </a:xfrm>
          <a:prstGeom prst="rect">
            <a:avLst/>
          </a:prstGeom>
          <a:noFill/>
          <a:ln/>
        </p:spPr>
        <p:txBody>
          <a:bodyPr wrap="square" lIns="0" tIns="0" rIns="0" bIns="0" rtlCol="0" anchor="t"/>
          <a:lstStyle/>
          <a:p>
            <a:pPr indent="0" marL="0">
              <a:buNone/>
            </a:pPr>
            <a:r>
              <a:rPr lang="id-ID" altLang="en-US" sz="1900" dirty="0">
                <a:solidFill>
                  <a:srgbClr val="1F2328"/>
                </a:solidFill>
              </a:rPr>
              <a:t>Aturan emas: langkah kecil, jangan dicampur dengan fitur baru atau perbaikan </a:t>
            </a:r>
            <a:r>
              <a:rPr lang="id-ID" altLang="en-US" sz="1900" i="1" dirty="0">
                <a:solidFill>
                  <a:srgbClr val="1F2328"/>
                </a:solidFill>
              </a:rPr>
              <a:t>bug</a:t>
            </a:r>
            <a:r>
              <a:rPr lang="id-ID" altLang="en-US" sz="1900" dirty="0">
                <a:solidFill>
                  <a:srgbClr val="1F2328"/>
                </a:solidFill>
              </a:rPr>
              <a:t>, dan uji banyak kasus.</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969DA"/>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DRY, KISS, YAGNI: Panduan, Bukan Aturan Mati</a:t>
            </a:r>
            <a:endParaRPr lang="id-ID" sz="3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04650"/>
          <a:ext cx="11094415" cy="914400"/>
        </p:xfrm>
        <a:graphic>
          <a:graphicData uri="http://schemas.openxmlformats.org/drawingml/2006/table">
            <a:tbl>
              <a:tblPr/>
              <a:tblGrid>
                <a:gridCol w="2859638"/>
                <a:gridCol w="3730667"/>
                <a:gridCol w="4504110"/>
              </a:tblGrid>
              <a:tr h="523748">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Prinsip</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Artinya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2200" b="1" dirty="0">
                          <a:solidFill>
                            <a:srgbClr val="FFFFFF"/>
                          </a:solidFill>
                          <a:latin typeface="Calibri" pitchFamily="34" charset="0"/>
                          <a:ea typeface="Calibri" pitchFamily="34" charset="-122"/>
                          <a:cs typeface="Calibri" pitchFamily="34" charset="-120"/>
                        </a:rPr>
                        <a:t>Contoh pelanggaran</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864616">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DRY</a:t>
                      </a:r>
                      <a:r>
                        <a:rPr lang="id-ID" altLang="en-US" sz="2200" dirty="0">
                          <a:solidFill>
                            <a:srgbClr val="1F2328"/>
                          </a:solidFill>
                          <a:latin typeface="Calibri" pitchFamily="34" charset="0"/>
                          <a:ea typeface="Calibri" pitchFamily="34" charset="-122"/>
                          <a:cs typeface="Calibri" pitchFamily="34" charset="-120"/>
                        </a:rPr>
                        <a:t> (</a:t>
                      </a:r>
                      <a:r>
                        <a:rPr lang="id-ID" altLang="en-US" sz="2200" i="1" dirty="0">
                          <a:solidFill>
                            <a:srgbClr val="1F2328"/>
                          </a:solidFill>
                          <a:latin typeface="Calibri" pitchFamily="34" charset="0"/>
                          <a:ea typeface="Calibri" pitchFamily="34" charset="-122"/>
                          <a:cs typeface="Calibri" pitchFamily="34" charset="-120"/>
                        </a:rPr>
                        <a:t>Don’t Repeat Yourself</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satu aturan cukup ditulis di </a:t>
                      </a:r>
                      <a:r>
                        <a:rPr lang="id-ID" altLang="en-US" sz="2200" b="1" dirty="0">
                          <a:solidFill>
                            <a:srgbClr val="1F2328"/>
                          </a:solidFill>
                          <a:latin typeface="Calibri" pitchFamily="34" charset="0"/>
                          <a:ea typeface="Calibri" pitchFamily="34" charset="-122"/>
                          <a:cs typeface="Calibri" pitchFamily="34" charset="-120"/>
                        </a:rPr>
                        <a:t>satu tempat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rumus denda perpustakaan disalin tiga kali untuk tiga jenis pustaka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864616">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KISS</a:t>
                      </a:r>
                      <a:r>
                        <a:rPr lang="id-ID" altLang="en-US" sz="2200" dirty="0">
                          <a:solidFill>
                            <a:srgbClr val="1F2328"/>
                          </a:solidFill>
                          <a:latin typeface="Calibri" pitchFamily="34" charset="0"/>
                          <a:ea typeface="Calibri" pitchFamily="34" charset="-122"/>
                          <a:cs typeface="Calibri" pitchFamily="34" charset="-120"/>
                        </a:rPr>
                        <a:t> (</a:t>
                      </a:r>
                      <a:r>
                        <a:rPr lang="id-ID" altLang="en-US" sz="2200" i="1" dirty="0">
                          <a:solidFill>
                            <a:srgbClr val="1F2328"/>
                          </a:solidFill>
                          <a:latin typeface="Calibri" pitchFamily="34" charset="0"/>
                          <a:ea typeface="Calibri" pitchFamily="34" charset="-122"/>
                          <a:cs typeface="Calibri" pitchFamily="34" charset="-120"/>
                        </a:rPr>
                        <a:t>Keep It Simple, Stupid</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pilih solusi </a:t>
                      </a:r>
                      <a:r>
                        <a:rPr lang="id-ID" altLang="en-US" sz="2200" b="1" dirty="0">
                          <a:solidFill>
                            <a:srgbClr val="1F2328"/>
                          </a:solidFill>
                          <a:latin typeface="Calibri" pitchFamily="34" charset="0"/>
                          <a:ea typeface="Calibri" pitchFamily="34" charset="-122"/>
                          <a:cs typeface="Calibri" pitchFamily="34" charset="-120"/>
                        </a:rPr>
                        <a:t>paling sederhana</a:t>
                      </a:r>
                      <a:r>
                        <a:rPr lang="id-ID" altLang="en-US" sz="2200" dirty="0">
                          <a:solidFill>
                            <a:srgbClr val="1F2328"/>
                          </a:solidFill>
                          <a:latin typeface="Calibri" pitchFamily="34" charset="0"/>
                          <a:ea typeface="Calibri" pitchFamily="34" charset="-122"/>
                          <a:cs typeface="Calibri" pitchFamily="34" charset="-120"/>
                        </a:rPr>
                        <a:t> yang benar</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lima kelas dan tiga </a:t>
                      </a:r>
                      <a:r>
                        <a:rPr lang="id-ID" altLang="en-US" sz="2200" i="1" dirty="0">
                          <a:solidFill>
                            <a:srgbClr val="1F2328"/>
                          </a:solidFill>
                          <a:latin typeface="Calibri" pitchFamily="34" charset="0"/>
                          <a:ea typeface="Calibri" pitchFamily="34" charset="-122"/>
                          <a:cs typeface="Calibri" pitchFamily="34" charset="-120"/>
                        </a:rPr>
                        <a:t>interface</a:t>
                      </a:r>
                      <a:r>
                        <a:rPr lang="id-ID" altLang="en-US" sz="2200" dirty="0">
                          <a:solidFill>
                            <a:srgbClr val="1F2328"/>
                          </a:solidFill>
                          <a:latin typeface="Calibri" pitchFamily="34" charset="0"/>
                          <a:ea typeface="Calibri" pitchFamily="34" charset="-122"/>
                          <a:cs typeface="Calibri" pitchFamily="34" charset="-120"/>
                        </a:rPr>
                        <a:t> untuk menghitung luas satu persegi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1205484">
                <a:tc>
                  <a:txBody>
                    <a:bodyPr/>
                    <a:lstStyle/>
                    <a:p>
                      <a:pPr indent="0" marL="0">
                        <a:buNone/>
                      </a:pPr>
                      <a:r>
                        <a:rPr lang="id-ID" altLang="en-US" sz="2200" b="1" dirty="0">
                          <a:solidFill>
                            <a:srgbClr val="1F2328"/>
                          </a:solidFill>
                          <a:latin typeface="Calibri" pitchFamily="34" charset="0"/>
                          <a:ea typeface="Calibri" pitchFamily="34" charset="-122"/>
                          <a:cs typeface="Calibri" pitchFamily="34" charset="-120"/>
                        </a:rPr>
                        <a:t>YAGNI</a:t>
                      </a:r>
                      <a:r>
                        <a:rPr lang="id-ID" altLang="en-US" sz="2200" dirty="0">
                          <a:solidFill>
                            <a:srgbClr val="1F2328"/>
                          </a:solidFill>
                          <a:latin typeface="Calibri" pitchFamily="34" charset="0"/>
                          <a:ea typeface="Calibri" pitchFamily="34" charset="-122"/>
                          <a:cs typeface="Calibri" pitchFamily="34" charset="-120"/>
                        </a:rPr>
                        <a:t> (</a:t>
                      </a:r>
                      <a:r>
                        <a:rPr lang="id-ID" altLang="en-US" sz="2200" i="1" dirty="0">
                          <a:solidFill>
                            <a:srgbClr val="1F2328"/>
                          </a:solidFill>
                          <a:latin typeface="Calibri" pitchFamily="34" charset="0"/>
                          <a:ea typeface="Calibri" pitchFamily="34" charset="-122"/>
                          <a:cs typeface="Calibri" pitchFamily="34" charset="-120"/>
                        </a:rPr>
                        <a:t>You Aren’t Gonna Need It</a:t>
                      </a:r>
                      <a:r>
                        <a:rPr lang="id-ID" altLang="en-US" sz="2200" dirty="0">
                          <a:solidFill>
                            <a:srgbClr val="1F2328"/>
                          </a:solidFill>
                          <a:latin typeface="Calibri" pitchFamily="34" charset="0"/>
                          <a:ea typeface="Calibri" pitchFamily="34" charset="-122"/>
                          <a:cs typeface="Calibri" pitchFamily="34" charset="-120"/>
                        </a:rPr>
                        <a:t>)</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jangan membuat sesuatu untuk kebutuhan yang </a:t>
                      </a:r>
                      <a:r>
                        <a:rPr lang="id-ID" altLang="en-US" sz="2200" b="1" dirty="0">
                          <a:solidFill>
                            <a:srgbClr val="1F2328"/>
                          </a:solidFill>
                          <a:latin typeface="Calibri" pitchFamily="34" charset="0"/>
                          <a:ea typeface="Calibri" pitchFamily="34" charset="-122"/>
                          <a:cs typeface="Calibri" pitchFamily="34" charset="-120"/>
                        </a:rPr>
                        <a:t>belum ada</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2200" dirty="0">
                          <a:solidFill>
                            <a:srgbClr val="1F2328"/>
                          </a:solidFill>
                          <a:latin typeface="Calibri" pitchFamily="34" charset="0"/>
                          <a:ea typeface="Calibri" pitchFamily="34" charset="-122"/>
                          <a:cs typeface="Calibri" pitchFamily="34" charset="-120"/>
                        </a:rPr>
                        <a:t>penyimpanan </a:t>
                      </a:r>
                      <a:r>
                        <a:rPr lang="id-ID" altLang="en-US" sz="2200" i="1" dirty="0">
                          <a:solidFill>
                            <a:srgbClr val="1F2328"/>
                          </a:solidFill>
                          <a:latin typeface="Calibri" pitchFamily="34" charset="0"/>
                          <a:ea typeface="Calibri" pitchFamily="34" charset="-122"/>
                          <a:cs typeface="Calibri" pitchFamily="34" charset="-120"/>
                        </a:rPr>
                        <a:t>database</a:t>
                      </a:r>
                      <a:r>
                        <a:rPr lang="id-ID" altLang="en-US" sz="2200" dirty="0">
                          <a:solidFill>
                            <a:srgbClr val="1F2328"/>
                          </a:solidFill>
                          <a:latin typeface="Calibri" pitchFamily="34" charset="0"/>
                          <a:ea typeface="Calibri" pitchFamily="34" charset="-122"/>
                          <a:cs typeface="Calibri" pitchFamily="34" charset="-120"/>
                        </a:rPr>
                        <a:t> dan </a:t>
                      </a:r>
                      <a:r>
                        <a:rPr lang="id-ID" altLang="en-US" sz="2200" i="1" dirty="0">
                          <a:solidFill>
                            <a:srgbClr val="1F2328"/>
                          </a:solidFill>
                          <a:latin typeface="Calibri" pitchFamily="34" charset="0"/>
                          <a:ea typeface="Calibri" pitchFamily="34" charset="-122"/>
                          <a:cs typeface="Calibri" pitchFamily="34" charset="-120"/>
                        </a:rPr>
                        <a:t>cloud</a:t>
                      </a:r>
                      <a:r>
                        <a:rPr lang="id-ID" altLang="en-US" sz="2200" dirty="0">
                          <a:solidFill>
                            <a:srgbClr val="1F2328"/>
                          </a:solidFill>
                          <a:latin typeface="Calibri" pitchFamily="34" charset="0"/>
                          <a:ea typeface="Calibri" pitchFamily="34" charset="-122"/>
                          <a:cs typeface="Calibri" pitchFamily="34" charset="-120"/>
                        </a:rPr>
                        <a:t>, padahal kedai baru butuh </a:t>
                      </a:r>
                      <a:r>
                        <a:rPr lang="id-ID" altLang="en-US" sz="2200" i="1" dirty="0">
                          <a:solidFill>
                            <a:srgbClr val="1F2328"/>
                          </a:solidFill>
                          <a:latin typeface="Calibri" pitchFamily="34" charset="0"/>
                          <a:ea typeface="Calibri" pitchFamily="34" charset="-122"/>
                          <a:cs typeface="Calibri" pitchFamily="34" charset="-120"/>
                        </a:rPr>
                        <a:t>list</a:t>
                      </a:r>
                      <a:r>
                        <a:rPr lang="id-ID" altLang="en-US" sz="2200" dirty="0">
                          <a:solidFill>
                            <a:srgbClr val="1F2328"/>
                          </a:solidFill>
                          <a:latin typeface="Calibri" pitchFamily="34" charset="0"/>
                          <a:ea typeface="Calibri" pitchFamily="34" charset="-122"/>
                          <a:cs typeface="Calibri" pitchFamily="34" charset="-120"/>
                        </a:rPr>
                        <a:t> di memori</a:t>
                      </a:r>
                      <a:endParaRPr lang="en-US" sz="22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10002"/>
            <a:ext cx="329184" cy="329184"/>
          </a:xfrm>
          <a:prstGeom prst="ellipse">
            <a:avLst/>
          </a:prstGeom>
          <a:solidFill>
            <a:srgbClr val="57606A"/>
          </a:solidFill>
          <a:ln/>
        </p:spPr>
      </p:sp>
      <p:pic>
        <p:nvPicPr>
          <p:cNvPr id="7" name="Image 1" descr="preencoded.png">    </p:cNvPr>
          <p:cNvPicPr>
            <a:picLocks noChangeAspect="1"/>
          </p:cNvPicPr>
          <p:nvPr/>
        </p:nvPicPr>
        <p:blipFill>
          <a:blip r:embed="rId2"/>
          <a:stretch>
            <a:fillRect/>
          </a:stretch>
        </p:blipFill>
        <p:spPr>
          <a:xfrm>
            <a:off x="621060" y="5382423"/>
            <a:ext cx="184343" cy="184343"/>
          </a:xfrm>
          <a:prstGeom prst="rect">
            <a:avLst/>
          </a:prstGeom>
        </p:spPr>
      </p:pic>
      <p:sp>
        <p:nvSpPr>
          <p:cNvPr id="8" name="Text 3"/>
          <p:cNvSpPr txBox="1"/>
          <p:nvPr/>
        </p:nvSpPr>
        <p:spPr>
          <a:xfrm>
            <a:off x="1005840" y="5291714"/>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Rancangan yang jauh lebih rumit daripada kebutuhannya disebut </a:t>
            </a:r>
            <a:r>
              <a:rPr lang="id-ID" altLang="en-US" sz="1800" i="1" dirty="0">
                <a:solidFill>
                  <a:srgbClr val="57606A"/>
                </a:solidFill>
              </a:rPr>
              <a:t>over-⁠engineering</a:t>
            </a:r>
            <a:r>
              <a:rPr lang="id-ID" altLang="en-US" sz="1800" dirty="0">
                <a:solidFill>
                  <a:srgbClr val="57606A"/>
                </a:solidFill>
              </a:rPr>
              <a:t>. Tulis yang sederhana dan benar lebih dulu.</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68680" y="2286000"/>
            <a:ext cx="1417320" cy="1417320"/>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1216152" y="2633472"/>
            <a:ext cx="722376" cy="722376"/>
          </a:xfrm>
          <a:prstGeom prst="rect">
            <a:avLst/>
          </a:prstGeom>
        </p:spPr>
      </p:pic>
      <p:sp>
        <p:nvSpPr>
          <p:cNvPr id="4" name="Text 1"/>
          <p:cNvSpPr txBox="1"/>
          <p:nvPr/>
        </p:nvSpPr>
        <p:spPr>
          <a:xfrm>
            <a:off x="2697480" y="2057400"/>
            <a:ext cx="8778240" cy="365760"/>
          </a:xfrm>
          <a:prstGeom prst="rect">
            <a:avLst/>
          </a:prstGeom>
          <a:noFill/>
          <a:ln/>
        </p:spPr>
        <p:txBody>
          <a:bodyPr wrap="square" lIns="0" tIns="0" rIns="0" bIns="0" rtlCol="0" anchor="t"/>
          <a:lstStyle/>
          <a:p>
            <a:pPr indent="0" marL="0">
              <a:buNone/>
            </a:pPr>
            <a:r>
              <a:rPr lang="id-ID" altLang="en-US" sz="1500" b="1" spc="300" kern="0" dirty="0">
                <a:solidFill>
                  <a:srgbClr val="FB8F44"/>
                </a:solidFill>
              </a:rPr>
              <a:t>STUDI KASUS</a:t>
            </a:r>
            <a:endParaRPr lang="id-ID" sz="1500" dirty="0"/>
          </a:p>
        </p:txBody>
      </p:sp>
      <p:sp>
        <p:nvSpPr>
          <p:cNvPr id="5" name="Text 0"/>
          <p:cNvSpPr/>
          <p:nvPr>
            <p:ph idx="100" type="title" hasCustomPrompt="1"/>
          </p:nvPr>
        </p:nvSpPr>
        <p:spPr>
          <a:xfrm>
            <a:off x="2697480" y="2377440"/>
            <a:ext cx="8778240" cy="960120"/>
          </a:xfrm>
          <a:prstGeom prst="rect">
            <a:avLst/>
          </a:prstGeom>
          <a:noFill/>
          <a:ln/>
        </p:spPr>
        <p:txBody>
          <a:bodyPr wrap="square" lIns="0" tIns="0" rIns="0" bIns="0" rtlCol="0" anchor="ctr"/>
          <a:lstStyle/>
          <a:p>
            <a:pPr algn="l" indent="0" marL="0">
              <a:buNone/>
            </a:pPr>
            <a:r>
              <a:rPr lang="id-ID" altLang="en-US" sz="3200" b="1" dirty="0">
                <a:solidFill>
                  <a:srgbClr val="FFFFFF"/>
                </a:solidFill>
              </a:rPr>
              <a:t>Studi Kasus KedaiKita:</a:t>
            </a:r>
            <a:endParaRPr lang="id-ID" sz="3200" dirty="0"/>
          </a:p>
          <a:p>
            <a:pPr algn="l" indent="0" marL="0">
              <a:buNone/>
            </a:pPr>
            <a:r>
              <a:rPr lang="id-ID" altLang="en-US" sz="3200" b="1" dirty="0">
                <a:solidFill>
                  <a:srgbClr val="FFFFFF"/>
                </a:solidFill>
              </a:rPr>
              <a:t>Membongkar </a:t>
            </a:r>
            <a:r>
              <a:rPr lang="id-ID" altLang="en-US" sz="3200" b="1" dirty="0">
                <a:solidFill>
                  <a:srgbClr val="FFFFFF"/>
                </a:solidFill>
                <a:latin typeface="Consolas" pitchFamily="34" charset="0"/>
                <a:ea typeface="Consolas" pitchFamily="34" charset="-122"/>
                <a:cs typeface="Consolas" pitchFamily="34" charset="-120"/>
              </a:rPr>
              <a:t>KasirSerbaBisa</a:t>
            </a:r>
            <a:endParaRPr lang="id-ID" sz="3200" dirty="0"/>
          </a:p>
        </p:txBody>
      </p:sp>
      <p:sp>
        <p:nvSpPr>
          <p:cNvPr id="6" name="Text 3"/>
          <p:cNvSpPr txBox="1"/>
          <p:nvPr/>
        </p:nvSpPr>
        <p:spPr>
          <a:xfrm>
            <a:off x="2697480" y="3429000"/>
            <a:ext cx="8778240" cy="914400"/>
          </a:xfrm>
          <a:prstGeom prst="rect">
            <a:avLst/>
          </a:prstGeom>
          <a:noFill/>
          <a:ln/>
        </p:spPr>
        <p:txBody>
          <a:bodyPr wrap="square" lIns="0" tIns="0" rIns="0" bIns="0" rtlCol="0" anchor="t"/>
          <a:lstStyle/>
          <a:p>
            <a:pPr indent="0" marL="0">
              <a:buNone/>
            </a:pPr>
            <a:r>
              <a:rPr lang="id-ID" altLang="en-US" sz="2200" dirty="0">
                <a:solidFill>
                  <a:srgbClr val="C9D7E8"/>
                </a:solidFill>
              </a:rPr>
              <a:t>Dua versi dengan </a:t>
            </a:r>
            <a:r>
              <a:rPr lang="id-ID" altLang="en-US" sz="2200" i="1" dirty="0">
                <a:solidFill>
                  <a:srgbClr val="C9D7E8"/>
                </a:solidFill>
              </a:rPr>
              <a:t>output</a:t>
            </a:r>
            <a:r>
              <a:rPr lang="id-ID" altLang="en-US" sz="2200" dirty="0">
                <a:solidFill>
                  <a:srgbClr val="C9D7E8"/>
                </a:solidFill>
              </a:rPr>
              <a:t> yang sama persis: </a:t>
            </a:r>
            <a:r>
              <a:rPr lang="id-ID" altLang="en-US" sz="2200" dirty="0">
                <a:solidFill>
                  <a:srgbClr val="DDF4FF"/>
                </a:solidFill>
                <a:latin typeface="Consolas" pitchFamily="34" charset="0"/>
                <a:ea typeface="Consolas" pitchFamily="34" charset="-122"/>
                <a:cs typeface="Consolas" pitchFamily="34" charset="-120"/>
              </a:rPr>
              <a:t>studi-kasus/sebelum</a:t>
            </a:r>
            <a:r>
              <a:rPr lang="id-ID" altLang="en-US" sz="2200" dirty="0">
                <a:solidFill>
                  <a:srgbClr val="C9D7E8"/>
                </a:solidFill>
              </a:rPr>
              <a:t> dan </a:t>
            </a:r>
            <a:r>
              <a:rPr lang="id-ID" altLang="en-US" sz="2200" dirty="0">
                <a:solidFill>
                  <a:srgbClr val="DDF4FF"/>
                </a:solidFill>
                <a:latin typeface="Consolas" pitchFamily="34" charset="0"/>
                <a:ea typeface="Consolas" pitchFamily="34" charset="-122"/>
                <a:cs typeface="Consolas" pitchFamily="34" charset="-120"/>
              </a:rPr>
              <a:t>studi-kasus/sesudah</a:t>
            </a:r>
            <a:r>
              <a:rPr lang="id-ID" altLang="en-US" sz="2200" dirty="0">
                <a:solidFill>
                  <a:srgbClr val="C9D7E8"/>
                </a:solidFill>
              </a:rPr>
              <a:t>.</a:t>
            </a:r>
            <a:endParaRPr lang="id-ID" sz="2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Ke Mana Perginya Setiap Tugas?</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65326"/>
          <a:ext cx="11094415" cy="914400"/>
        </p:xfrm>
        <a:graphic>
          <a:graphicData uri="http://schemas.openxmlformats.org/drawingml/2006/table">
            <a:tbl>
              <a:tblPr/>
              <a:tblGrid>
                <a:gridCol w="4310135"/>
                <a:gridCol w="5881358"/>
                <a:gridCol w="902922"/>
              </a:tblGrid>
              <a:tr h="461772">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Tugas di </a:t>
                      </a:r>
                      <a:r>
                        <a:rPr lang="id-ID" altLang="en-US" sz="1800" b="1" dirty="0">
                          <a:solidFill>
                            <a:srgbClr val="FFFFFF"/>
                          </a:solidFill>
                          <a:latin typeface="Consolas" pitchFamily="34" charset="0"/>
                          <a:ea typeface="Consolas" pitchFamily="34" charset="-122"/>
                          <a:cs typeface="Consolas" pitchFamily="34" charset="-120"/>
                        </a:rPr>
                        <a:t>KasirSerbaBisa</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Sekarang dikerjakan oleh</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c>
                  <a:txBody>
                    <a:bodyPr/>
                    <a:lstStyle/>
                    <a:p>
                      <a:pPr indent="0" marL="0">
                        <a:buNone/>
                      </a:pPr>
                      <a:r>
                        <a:rPr lang="id-ID" altLang="en-US" sz="1800" b="1" dirty="0">
                          <a:solidFill>
                            <a:srgbClr val="FFFFFF"/>
                          </a:solidFill>
                          <a:latin typeface="Calibri" pitchFamily="34" charset="0"/>
                          <a:ea typeface="Calibri" pitchFamily="34" charset="-122"/>
                          <a:cs typeface="Calibri" pitchFamily="34" charset="-120"/>
                        </a:rPr>
                        <a:t>Prinsip</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0A3069"/>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Menyimpan data menu</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Kedai</a:t>
                      </a:r>
                      <a:r>
                        <a:rPr lang="id-ID" altLang="en-US" sz="1800" dirty="0">
                          <a:solidFill>
                            <a:srgbClr val="1F2328"/>
                          </a:solidFill>
                          <a:latin typeface="Calibri" pitchFamily="34" charset="0"/>
                          <a:ea typeface="Calibri" pitchFamily="34" charset="-122"/>
                          <a:cs typeface="Calibri" pitchFamily="34" charset="-120"/>
                        </a:rPr>
                        <a:t> bersama </a:t>
                      </a:r>
                      <a:r>
                        <a:rPr lang="id-ID" altLang="en-US" sz="1800" dirty="0">
                          <a:solidFill>
                            <a:srgbClr val="0A3069"/>
                          </a:solidFill>
                          <a:latin typeface="Consolas" pitchFamily="34" charset="0"/>
                          <a:ea typeface="Consolas" pitchFamily="34" charset="-122"/>
                          <a:cs typeface="Consolas" pitchFamily="34" charset="-120"/>
                        </a:rPr>
                        <a:t>Menu</a:t>
                      </a:r>
                      <a:r>
                        <a:rPr lang="id-ID" altLang="en-US" sz="1800" dirty="0">
                          <a:solidFill>
                            <a:srgbClr val="1F2328"/>
                          </a:solidFill>
                          <a:latin typeface="Calibri" pitchFamily="34" charset="0"/>
                          <a:ea typeface="Calibri" pitchFamily="34" charset="-122"/>
                          <a:cs typeface="Calibri" pitchFamily="34" charset="-120"/>
                        </a:rPr>
                        <a:t>, </a:t>
                      </a:r>
                      <a:r>
                        <a:rPr lang="id-ID" altLang="en-US" sz="1800" dirty="0">
                          <a:solidFill>
                            <a:srgbClr val="0A3069"/>
                          </a:solidFill>
                          <a:latin typeface="Consolas" pitchFamily="34" charset="0"/>
                          <a:ea typeface="Consolas" pitchFamily="34" charset="-122"/>
                          <a:cs typeface="Consolas" pitchFamily="34" charset="-120"/>
                        </a:rPr>
                        <a:t>Makanan</a:t>
                      </a:r>
                      <a:r>
                        <a:rPr lang="id-ID" altLang="en-US" sz="1800" dirty="0">
                          <a:solidFill>
                            <a:srgbClr val="1F2328"/>
                          </a:solidFill>
                          <a:latin typeface="Calibri" pitchFamily="34" charset="0"/>
                          <a:ea typeface="Calibri" pitchFamily="34" charset="-122"/>
                          <a:cs typeface="Calibri" pitchFamily="34" charset="-120"/>
                        </a:rPr>
                        <a:t>, </a:t>
                      </a:r>
                      <a:r>
                        <a:rPr lang="id-ID" altLang="en-US" sz="1800" dirty="0">
                          <a:solidFill>
                            <a:srgbClr val="0A3069"/>
                          </a:solidFill>
                          <a:latin typeface="Consolas" pitchFamily="34" charset="0"/>
                          <a:ea typeface="Consolas" pitchFamily="34" charset="-122"/>
                          <a:cs typeface="Consolas" pitchFamily="34" charset="-120"/>
                        </a:rPr>
                        <a:t>Minuman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SRP</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Menghitung subtotal</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Pesanan</a:t>
                      </a:r>
                      <a:r>
                        <a:rPr lang="id-ID" altLang="en-US" sz="1800" dirty="0">
                          <a:solidFill>
                            <a:srgbClr val="1F2328"/>
                          </a:solidFill>
                          <a:latin typeface="Calibri" pitchFamily="34" charset="0"/>
                          <a:ea typeface="Calibri" pitchFamily="34" charset="-122"/>
                          <a:cs typeface="Calibri" pitchFamily="34" charset="-120"/>
                        </a:rPr>
                        <a:t> dan </a:t>
                      </a:r>
                      <a:r>
                        <a:rPr lang="id-ID" altLang="en-US" sz="1800" dirty="0">
                          <a:solidFill>
                            <a:srgbClr val="0A3069"/>
                          </a:solidFill>
                          <a:latin typeface="Consolas" pitchFamily="34" charset="0"/>
                          <a:ea typeface="Consolas" pitchFamily="34" charset="-122"/>
                          <a:cs typeface="Consolas" pitchFamily="34" charset="-120"/>
                        </a:rPr>
                        <a:t>ItemPesanan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SRP</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Memilih dan menghitung diskon (rantai </a:t>
                      </a:r>
                      <a:r>
                        <a:rPr lang="id-ID" altLang="en-US" sz="1800" dirty="0">
                          <a:solidFill>
                            <a:srgbClr val="0A3069"/>
                          </a:solidFill>
                          <a:latin typeface="Consolas" pitchFamily="34" charset="0"/>
                          <a:ea typeface="Consolas" pitchFamily="34" charset="-122"/>
                          <a:cs typeface="Consolas" pitchFamily="34" charset="-120"/>
                        </a:rPr>
                        <a:t>if</a:t>
                      </a:r>
                      <a:r>
                        <a:rPr lang="id-ID" altLang="en-US" sz="1800" dirty="0">
                          <a:solidFill>
                            <a:srgbClr val="1F2328"/>
                          </a:solidFill>
                          <a:latin typeface="Calibri" pitchFamily="34" charset="0"/>
                          <a:ea typeface="Calibri" pitchFamily="34" charset="-122"/>
                          <a:cs typeface="Calibri" pitchFamily="34" charset="-120"/>
                        </a:rPr>
                        <a:t>)</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Diskon</a:t>
                      </a:r>
                      <a:r>
                        <a:rPr lang="id-ID" altLang="en-US" sz="1800" dirty="0">
                          <a:solidFill>
                            <a:srgbClr val="1F2328"/>
                          </a:solidFill>
                          <a:latin typeface="Calibri" pitchFamily="34" charset="0"/>
                          <a:ea typeface="Calibri" pitchFamily="34" charset="-122"/>
                          <a:cs typeface="Calibri" pitchFamily="34" charset="-120"/>
                        </a:rPr>
                        <a:t>: </a:t>
                      </a:r>
                      <a:r>
                        <a:rPr lang="id-ID" altLang="en-US" sz="1800" dirty="0">
                          <a:solidFill>
                            <a:srgbClr val="0A3069"/>
                          </a:solidFill>
                          <a:latin typeface="Consolas" pitchFamily="34" charset="0"/>
                          <a:ea typeface="Consolas" pitchFamily="34" charset="-122"/>
                          <a:cs typeface="Consolas" pitchFamily="34" charset="-120"/>
                        </a:rPr>
                        <a:t>TanpaDiskon</a:t>
                      </a:r>
                      <a:r>
                        <a:rPr lang="id-ID" altLang="en-US" sz="1800" dirty="0">
                          <a:solidFill>
                            <a:srgbClr val="1F2328"/>
                          </a:solidFill>
                          <a:latin typeface="Calibri" pitchFamily="34" charset="0"/>
                          <a:ea typeface="Calibri" pitchFamily="34" charset="-122"/>
                          <a:cs typeface="Calibri" pitchFamily="34" charset="-120"/>
                        </a:rPr>
                        <a:t>, </a:t>
                      </a:r>
                      <a:r>
                        <a:rPr lang="id-ID" altLang="en-US" sz="1800" dirty="0">
                          <a:solidFill>
                            <a:srgbClr val="0A3069"/>
                          </a:solidFill>
                          <a:latin typeface="Consolas" pitchFamily="34" charset="0"/>
                          <a:ea typeface="Consolas" pitchFamily="34" charset="-122"/>
                          <a:cs typeface="Consolas" pitchFamily="34" charset="-120"/>
                        </a:rPr>
                        <a:t>DiskonPersen</a:t>
                      </a:r>
                      <a:r>
                        <a:rPr lang="id-ID" altLang="en-US" sz="1800" dirty="0">
                          <a:solidFill>
                            <a:srgbClr val="1F2328"/>
                          </a:solidFill>
                          <a:latin typeface="Calibri" pitchFamily="34" charset="0"/>
                          <a:ea typeface="Calibri" pitchFamily="34" charset="-122"/>
                          <a:cs typeface="Calibri" pitchFamily="34" charset="-120"/>
                        </a:rPr>
                        <a:t>, </a:t>
                      </a:r>
                      <a:r>
                        <a:rPr lang="id-ID" altLang="en-US" sz="1800" dirty="0">
                          <a:solidFill>
                            <a:srgbClr val="0A3069"/>
                          </a:solidFill>
                          <a:latin typeface="Consolas" pitchFamily="34" charset="0"/>
                          <a:ea typeface="Consolas" pitchFamily="34" charset="-122"/>
                          <a:cs typeface="Consolas" pitchFamily="34" charset="-120"/>
                        </a:rPr>
                        <a:t>DiskonMember</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OCP, LSP</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Menyusun dan mencetak struk</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StrukPesanan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SRP</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740664">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Menyimpan riwayat pesanan</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PenyimpananPesanan</a:t>
                      </a:r>
                      <a:r>
                        <a:rPr lang="id-ID" altLang="en-US" sz="1800" dirty="0">
                          <a:solidFill>
                            <a:srgbClr val="1F2328"/>
                          </a:solidFill>
                          <a:latin typeface="Calibri" pitchFamily="34" charset="0"/>
                          <a:ea typeface="Calibri" pitchFamily="34" charset="-122"/>
                          <a:cs typeface="Calibri" pitchFamily="34" charset="-120"/>
                        </a:rPr>
                        <a:t> (wujudnya </a:t>
                      </a:r>
                      <a:r>
                        <a:rPr lang="id-ID" altLang="en-US" sz="1800" dirty="0">
                          <a:solidFill>
                            <a:srgbClr val="0A3069"/>
                          </a:solidFill>
                          <a:latin typeface="Consolas" pitchFamily="34" charset="0"/>
                          <a:ea typeface="Consolas" pitchFamily="34" charset="-122"/>
                          <a:cs typeface="Consolas" pitchFamily="34" charset="-120"/>
                        </a:rPr>
                        <a:t>PenyimpananMemori</a:t>
                      </a:r>
                      <a:r>
                        <a:rPr lang="id-ID" altLang="en-US" sz="1800" dirty="0">
                          <a:solidFill>
                            <a:srgbClr val="1F2328"/>
                          </a:solidFill>
                          <a:latin typeface="Calibri" pitchFamily="34" charset="0"/>
                          <a:ea typeface="Calibri" pitchFamily="34" charset="-122"/>
                          <a:cs typeface="Calibri" pitchFamily="34" charset="-120"/>
                        </a:rPr>
                        <a:t>), disuntikkan ke </a:t>
                      </a:r>
                      <a:r>
                        <a:rPr lang="id-ID" altLang="en-US" sz="1800" dirty="0">
                          <a:solidFill>
                            <a:srgbClr val="0A3069"/>
                          </a:solidFill>
                          <a:latin typeface="Consolas" pitchFamily="34" charset="0"/>
                          <a:ea typeface="Consolas" pitchFamily="34" charset="-122"/>
                          <a:cs typeface="Consolas" pitchFamily="34" charset="-120"/>
                        </a:rPr>
                        <a:t>Kedai</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DIP, ISP</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61772">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Membuat nomor pesanan P001, P002, ...</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0A3069"/>
                          </a:solidFill>
                          <a:latin typeface="Consolas" pitchFamily="34" charset="0"/>
                          <a:ea typeface="Consolas" pitchFamily="34" charset="-122"/>
                          <a:cs typeface="Consolas" pitchFamily="34" charset="-120"/>
                        </a:rPr>
                        <a:t>Pesanan</a:t>
                      </a:r>
                      <a:r>
                        <a:rPr lang="id-ID" altLang="en-US" sz="1800" dirty="0">
                          <a:solidFill>
                            <a:srgbClr val="1F2328"/>
                          </a:solidFill>
                          <a:latin typeface="Calibri" pitchFamily="34" charset="0"/>
                          <a:ea typeface="Calibri" pitchFamily="34" charset="-122"/>
                          <a:cs typeface="Calibri" pitchFamily="34" charset="-120"/>
                        </a:rPr>
                        <a:t> (atribut milik kelas)</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id-ID" altLang="en-US" sz="1800" dirty="0">
                          <a:solidFill>
                            <a:srgbClr val="1F2328"/>
                          </a:solidFill>
                          <a:latin typeface="Calibri" pitchFamily="34" charset="0"/>
                          <a:ea typeface="Calibri" pitchFamily="34" charset="-122"/>
                          <a:cs typeface="Calibri" pitchFamily="34" charset="-120"/>
                        </a:rPr>
                        <a:t>SRP</a:t>
                      </a:r>
                      <a:endParaRPr lang="en-US" sz="1800" dirty="0">
                        <a:latin typeface="Calibri" charset="0"/>
                        <a:ea typeface="Calibri" charset="0"/>
                        <a:cs typeface="Calibri" charset="0"/>
                      </a:endParaRPr>
                    </a:p>
                  </a:txBody>
                  <a:tcPr marL="88900" marR="88900" marT="38100" marB="38100"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8" name="Shape 4"/>
          <p:cNvSpPr/>
          <p:nvPr/>
        </p:nvSpPr>
        <p:spPr>
          <a:xfrm>
            <a:off x="548640" y="5502402"/>
            <a:ext cx="329184" cy="329184"/>
          </a:xfrm>
          <a:prstGeom prst="ellipse">
            <a:avLst/>
          </a:prstGeom>
          <a:solidFill>
            <a:srgbClr val="57606A"/>
          </a:solidFill>
          <a:ln/>
        </p:spPr>
      </p:sp>
      <p:pic>
        <p:nvPicPr>
          <p:cNvPr id="9" name="Image 1" descr="preencoded.png">    </p:cNvPr>
          <p:cNvPicPr>
            <a:picLocks noChangeAspect="1"/>
          </p:cNvPicPr>
          <p:nvPr/>
        </p:nvPicPr>
        <p:blipFill>
          <a:blip r:embed="rId2"/>
          <a:stretch>
            <a:fillRect/>
          </a:stretch>
        </p:blipFill>
        <p:spPr>
          <a:xfrm>
            <a:off x="621060" y="5574822"/>
            <a:ext cx="184343" cy="184343"/>
          </a:xfrm>
          <a:prstGeom prst="rect">
            <a:avLst/>
          </a:prstGeom>
        </p:spPr>
      </p:pic>
      <p:sp>
        <p:nvSpPr>
          <p:cNvPr id="10" name="Text 5"/>
          <p:cNvSpPr txBox="1"/>
          <p:nvPr/>
        </p:nvSpPr>
        <p:spPr>
          <a:xfrm>
            <a:off x="1005840" y="5484114"/>
            <a:ext cx="10637215" cy="603504"/>
          </a:xfrm>
          <a:prstGeom prst="rect">
            <a:avLst/>
          </a:prstGeom>
          <a:noFill/>
          <a:ln/>
        </p:spPr>
        <p:txBody>
          <a:bodyPr wrap="square" lIns="0" tIns="0" rIns="0" bIns="0" rtlCol="0" anchor="t"/>
          <a:lstStyle/>
          <a:p>
            <a:pPr indent="0" marL="0">
              <a:buNone/>
            </a:pPr>
            <a:r>
              <a:rPr lang="id-ID" altLang="en-US" sz="1800" dirty="0">
                <a:solidFill>
                  <a:srgbClr val="57606A"/>
                </a:solidFill>
              </a:rPr>
              <a:t>Nama dan poin pelanggan yang dulu dikirim sebagai parameter lepas kini menjadi objek </a:t>
            </a:r>
            <a:r>
              <a:rPr lang="id-ID" altLang="en-US" sz="1800" dirty="0">
                <a:solidFill>
                  <a:srgbClr val="57606A"/>
                </a:solidFill>
                <a:latin typeface="Consolas" pitchFamily="34" charset="0"/>
                <a:ea typeface="Consolas" pitchFamily="34" charset="-122"/>
                <a:cs typeface="Consolas" pitchFamily="34" charset="-120"/>
              </a:rPr>
              <a:t>Pelanggan</a:t>
            </a:r>
            <a:r>
              <a:rPr lang="id-ID" altLang="en-US" sz="1800" dirty="0">
                <a:solidFill>
                  <a:srgbClr val="57606A"/>
                </a:solidFill>
              </a:rPr>
              <a:t> (enkapsulasi).</a:t>
            </a:r>
            <a:endParaRPr lang="id-ID"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Sebelum: Satu </a:t>
            </a:r>
            <a:r>
              <a:rPr lang="id-ID" altLang="en-US" sz="3200" b="1" i="1" dirty="0">
                <a:solidFill>
                  <a:srgbClr val="0A3069"/>
                </a:solidFill>
              </a:rPr>
              <a:t>Method</a:t>
            </a:r>
            <a:r>
              <a:rPr lang="id-ID" altLang="en-US" sz="3200" b="1" dirty="0">
                <a:solidFill>
                  <a:srgbClr val="0A3069"/>
                </a:solidFill>
              </a:rPr>
              <a:t> Mengurus Semuanya</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569385"/>
            <a:ext cx="11094415" cy="603504"/>
          </a:xfrm>
          <a:prstGeom prst="rect">
            <a:avLst/>
          </a:prstGeom>
          <a:noFill/>
          <a:ln/>
        </p:spPr>
        <p:txBody>
          <a:bodyPr wrap="square" lIns="0" tIns="0" rIns="0" bIns="0" rtlCol="0" anchor="t"/>
          <a:lstStyle/>
          <a:p>
            <a:pPr indent="0" marL="0">
              <a:buNone/>
            </a:pPr>
            <a:r>
              <a:rPr lang="id-ID" altLang="en-US" sz="1800" dirty="0">
                <a:solidFill>
                  <a:srgbClr val="57606A"/>
                </a:solidFill>
              </a:rPr>
              <a:t>Potongan </a:t>
            </a:r>
            <a:r>
              <a:rPr lang="id-ID" altLang="en-US" sz="1800" dirty="0">
                <a:solidFill>
                  <a:srgbClr val="0A3069"/>
                </a:solidFill>
                <a:latin typeface="Consolas" pitchFamily="34" charset="0"/>
                <a:ea typeface="Consolas" pitchFamily="34" charset="-122"/>
                <a:cs typeface="Consolas" pitchFamily="34" charset="-120"/>
              </a:rPr>
              <a:t>proses_pesanan()</a:t>
            </a:r>
            <a:r>
              <a:rPr lang="id-ID" altLang="en-US" sz="1800" dirty="0">
                <a:solidFill>
                  <a:srgbClr val="57606A"/>
                </a:solidFill>
              </a:rPr>
              <a:t>/</a:t>
            </a:r>
            <a:r>
              <a:rPr lang="id-ID" altLang="en-US" sz="1800" dirty="0">
                <a:solidFill>
                  <a:srgbClr val="0A3069"/>
                </a:solidFill>
                <a:latin typeface="Consolas" pitchFamily="34" charset="0"/>
                <a:ea typeface="Consolas" pitchFamily="34" charset="-122"/>
                <a:cs typeface="Consolas" pitchFamily="34" charset="-120"/>
              </a:rPr>
              <a:t>prosesPesanan()</a:t>
            </a:r>
            <a:r>
              <a:rPr lang="id-ID" altLang="en-US" sz="1800" dirty="0">
                <a:solidFill>
                  <a:srgbClr val="57606A"/>
                </a:solidFill>
              </a:rPr>
              <a:t>: data menu, subtotal, diskon, struk, dan riwayat bercampur di satu tempat.</a:t>
            </a:r>
            <a:endParaRPr lang="id-ID" sz="1800" dirty="0"/>
          </a:p>
        </p:txBody>
      </p:sp>
      <p:sp>
        <p:nvSpPr>
          <p:cNvPr id="8" name="Shape 5"/>
          <p:cNvSpPr/>
          <p:nvPr/>
        </p:nvSpPr>
        <p:spPr>
          <a:xfrm>
            <a:off x="548640" y="2282617"/>
            <a:ext cx="1051560" cy="329184"/>
          </a:xfrm>
          <a:prstGeom prst="roundRect">
            <a:avLst>
              <a:gd name="adj" fmla="val 138889"/>
            </a:avLst>
          </a:prstGeom>
          <a:solidFill>
            <a:srgbClr val="3572A5"/>
          </a:solidFill>
          <a:ln/>
        </p:spPr>
      </p:sp>
      <p:sp>
        <p:nvSpPr>
          <p:cNvPr id="9" name="Text 6"/>
          <p:cNvSpPr txBox="1"/>
          <p:nvPr/>
        </p:nvSpPr>
        <p:spPr>
          <a:xfrm>
            <a:off x="548640" y="228261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28261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python/studi-kasus/sebelum/kasir_serba_bisa.py</a:t>
            </a:r>
            <a:endParaRPr lang="id-ID" sz="1100" dirty="0"/>
          </a:p>
        </p:txBody>
      </p:sp>
      <p:sp>
        <p:nvSpPr>
          <p:cNvPr id="11" name="Shape 8"/>
          <p:cNvSpPr/>
          <p:nvPr/>
        </p:nvSpPr>
        <p:spPr>
          <a:xfrm>
            <a:off x="548640" y="2703241"/>
            <a:ext cx="5432908" cy="3223260"/>
          </a:xfrm>
          <a:prstGeom prst="roundRect">
            <a:avLst>
              <a:gd name="adj" fmla="val 805"/>
            </a:avLst>
          </a:prstGeom>
          <a:solidFill>
            <a:srgbClr val="F6F8FA"/>
          </a:solidFill>
          <a:ln w="9525">
            <a:solidFill>
              <a:srgbClr val="D0D7DE"/>
            </a:solidFill>
            <a:prstDash val="solid"/>
          </a:ln>
        </p:spPr>
      </p:sp>
      <p:sp>
        <p:nvSpPr>
          <p:cNvPr id="12" name="Text 9"/>
          <p:cNvSpPr txBox="1"/>
          <p:nvPr/>
        </p:nvSpPr>
        <p:spPr>
          <a:xfrm>
            <a:off x="658368" y="2794681"/>
            <a:ext cx="5213452" cy="3040380"/>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for</a:t>
            </a:r>
            <a:r>
              <a:rPr lang="en-US" altLang="en-US" sz="1100" dirty="0">
                <a:solidFill>
                  <a:srgbClr val="1F2328"/>
                </a:solidFill>
                <a:latin typeface="Consolas" pitchFamily="34" charset="0"/>
                <a:ea typeface="Consolas" pitchFamily="34" charset="-122"/>
                <a:cs typeface="Consolas" pitchFamily="34" charset="-120"/>
              </a:rPr>
              <a:t> kode, jumlah in daftar_beli: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nama, harga = </a:t>
            </a: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.menu[kode]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subtotal += harga * jumlah</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jenis_diskon == </a:t>
            </a:r>
            <a:r>
              <a:rPr lang="en-US" altLang="en-US" sz="1100" dirty="0">
                <a:solidFill>
                  <a:srgbClr val="0A3069"/>
                </a:solidFill>
                <a:latin typeface="Consolas" pitchFamily="34" charset="0"/>
                <a:ea typeface="Consolas" pitchFamily="34" charset="-122"/>
                <a:cs typeface="Consolas" pitchFamily="34" charset="-120"/>
              </a:rPr>
              <a:t>"member"</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elif</a:t>
            </a:r>
            <a:r>
              <a:rPr lang="en-US" altLang="en-US" sz="1100" dirty="0">
                <a:solidFill>
                  <a:srgbClr val="1F2328"/>
                </a:solidFill>
                <a:latin typeface="Consolas" pitchFamily="34" charset="0"/>
                <a:ea typeface="Consolas" pitchFamily="34" charset="-122"/>
                <a:cs typeface="Consolas" pitchFamily="34" charset="-120"/>
              </a:rPr>
              <a:t> jenis_diskon == </a:t>
            </a:r>
            <a:r>
              <a:rPr lang="en-US" altLang="en-US" sz="1100" dirty="0">
                <a:solidFill>
                  <a:srgbClr val="0A3069"/>
                </a:solidFill>
                <a:latin typeface="Consolas" pitchFamily="34" charset="0"/>
                <a:ea typeface="Consolas" pitchFamily="34" charset="-122"/>
                <a:cs typeface="Consolas" pitchFamily="34" charset="-120"/>
              </a:rPr>
              <a:t>"promo"</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potongan = subtotal * </a:t>
            </a:r>
            <a:r>
              <a:rPr lang="en-US" altLang="en-US" sz="1100" dirty="0">
                <a:solidFill>
                  <a:srgbClr val="0550AE"/>
                </a:solidFill>
                <a:latin typeface="Consolas" pitchFamily="34" charset="0"/>
                <a:ea typeface="Consolas" pitchFamily="34" charset="-122"/>
                <a:cs typeface="Consolas" pitchFamily="34" charset="-120"/>
              </a:rPr>
              <a:t>15</a:t>
            </a: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0550AE"/>
                </a:solidFill>
                <a:latin typeface="Consolas" pitchFamily="34" charset="0"/>
                <a:ea typeface="Consolas" pitchFamily="34" charset="-122"/>
                <a:cs typeface="Consolas" pitchFamily="34" charset="-120"/>
              </a:rPr>
              <a:t>100</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0550AE"/>
                </a:solidFill>
                <a:latin typeface="Consolas" pitchFamily="34" charset="0"/>
                <a:ea typeface="Consolas" pitchFamily="34" charset="-122"/>
                <a:cs typeface="Consolas" pitchFamily="34" charset="-120"/>
              </a:rPr>
              <a:t>print</a:t>
            </a:r>
            <a:r>
              <a:rPr lang="en-US" altLang="en-US" sz="1100" dirty="0">
                <a:solidFill>
                  <a:srgbClr val="1F2328"/>
                </a:solidFill>
                <a:latin typeface="Consolas" pitchFamily="34" charset="0"/>
                <a:ea typeface="Consolas" pitchFamily="34" charset="-122"/>
                <a:cs typeface="Consolas" pitchFamily="34" charset="-120"/>
              </a:rPr>
              <a:t>(</a:t>
            </a:r>
            <a:r>
              <a:rPr lang="en-US" altLang="en-US" sz="1100" dirty="0">
                <a:solidFill>
                  <a:srgbClr val="0A3069"/>
                </a:solidFill>
                <a:latin typeface="Consolas" pitchFamily="34" charset="0"/>
                <a:ea typeface="Consolas" pitchFamily="34" charset="-122"/>
                <a:cs typeface="Consolas" pitchFamily="34" charset="-120"/>
              </a:rPr>
              <a:t>"KEDAIKITA - STRUK PESANAN"</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Tugas 4: menyimpan riwayat (hanya bisa ke list di memori)</a:t>
            </a:r>
            <a:endParaRPr lang="en-US" sz="1100" dirty="0"/>
          </a:p>
          <a:p>
            <a:pPr indent="0" marL="0">
              <a:buNone/>
            </a:pPr>
            <a:r>
              <a:rPr lang="en-US" altLang="en-US" sz="1100" dirty="0">
                <a:solidFill>
                  <a:srgbClr val="0550AE"/>
                </a:solidFill>
                <a:latin typeface="Consolas" pitchFamily="34" charset="0"/>
                <a:ea typeface="Consolas" pitchFamily="34" charset="-122"/>
                <a:cs typeface="Consolas" pitchFamily="34" charset="-120"/>
              </a:rPr>
              <a:t>self</a:t>
            </a:r>
            <a:r>
              <a:rPr lang="en-US" altLang="en-US" sz="1100" dirty="0">
                <a:solidFill>
                  <a:srgbClr val="1F2328"/>
                </a:solidFill>
                <a:latin typeface="Consolas" pitchFamily="34" charset="0"/>
                <a:ea typeface="Consolas" pitchFamily="34" charset="-122"/>
                <a:cs typeface="Consolas" pitchFamily="34" charset="-120"/>
              </a:rPr>
              <a:t>.riwayat.append((nomor, nama_pelanggan, total))</a:t>
            </a:r>
            <a:endParaRPr lang="en-US" sz="1100" dirty="0"/>
          </a:p>
        </p:txBody>
      </p:sp>
      <p:sp>
        <p:nvSpPr>
          <p:cNvPr id="13" name="Shape 10"/>
          <p:cNvSpPr/>
          <p:nvPr/>
        </p:nvSpPr>
        <p:spPr>
          <a:xfrm>
            <a:off x="6210148" y="2282617"/>
            <a:ext cx="1051560" cy="329184"/>
          </a:xfrm>
          <a:prstGeom prst="roundRect">
            <a:avLst>
              <a:gd name="adj" fmla="val 138889"/>
            </a:avLst>
          </a:prstGeom>
          <a:solidFill>
            <a:srgbClr val="B07219"/>
          </a:solidFill>
          <a:ln/>
        </p:spPr>
      </p:sp>
      <p:sp>
        <p:nvSpPr>
          <p:cNvPr id="14" name="Text 11"/>
          <p:cNvSpPr txBox="1"/>
          <p:nvPr/>
        </p:nvSpPr>
        <p:spPr>
          <a:xfrm>
            <a:off x="6210148" y="2282617"/>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282617"/>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java/studi-kasus/sebelum/KasirSerbaBisa.java</a:t>
            </a:r>
            <a:endParaRPr lang="id-ID" sz="1100" dirty="0"/>
          </a:p>
        </p:txBody>
      </p:sp>
      <p:sp>
        <p:nvSpPr>
          <p:cNvPr id="16" name="Shape 13"/>
          <p:cNvSpPr/>
          <p:nvPr/>
        </p:nvSpPr>
        <p:spPr>
          <a:xfrm>
            <a:off x="6210148" y="2703241"/>
            <a:ext cx="5432908" cy="3223260"/>
          </a:xfrm>
          <a:prstGeom prst="roundRect">
            <a:avLst>
              <a:gd name="adj" fmla="val 805"/>
            </a:avLst>
          </a:prstGeom>
          <a:solidFill>
            <a:srgbClr val="F6F8FA"/>
          </a:solidFill>
          <a:ln w="9525">
            <a:solidFill>
              <a:srgbClr val="D0D7DE"/>
            </a:solidFill>
            <a:prstDash val="solid"/>
          </a:ln>
        </p:spPr>
      </p:sp>
      <p:sp>
        <p:nvSpPr>
          <p:cNvPr id="17" name="Text 14"/>
          <p:cNvSpPr txBox="1"/>
          <p:nvPr/>
        </p:nvSpPr>
        <p:spPr>
          <a:xfrm>
            <a:off x="6319876" y="2794681"/>
            <a:ext cx="5213452" cy="3040380"/>
          </a:xfrm>
          <a:prstGeom prst="rect">
            <a:avLst/>
          </a:prstGeom>
          <a:noFill/>
          <a:ln/>
        </p:spPr>
        <p:txBody>
          <a:bodyPr wrap="square" lIns="0" tIns="0" rIns="0" bIns="0" rtlCol="0" anchor="t"/>
          <a:lstStyle/>
          <a:p>
            <a:pPr indent="0" marL="0">
              <a:buNone/>
            </a:pPr>
            <a:r>
              <a:rPr lang="en-US" altLang="en-US" sz="1100" dirty="0">
                <a:solidFill>
                  <a:srgbClr val="CF222E"/>
                </a:solidFill>
                <a:latin typeface="Consolas" pitchFamily="34" charset="0"/>
                <a:ea typeface="Consolas" pitchFamily="34" charset="-122"/>
                <a:cs typeface="Consolas" pitchFamily="34" charset="-120"/>
              </a:rPr>
              <a:t>for</a:t>
            </a:r>
            <a:r>
              <a:rPr lang="en-US" altLang="en-US" sz="1100" dirty="0">
                <a:solidFill>
                  <a:srgbClr val="1F2328"/>
                </a:solidFill>
                <a:latin typeface="Consolas" pitchFamily="34" charset="0"/>
                <a:ea typeface="Consolas" pitchFamily="34" charset="-122"/>
                <a:cs typeface="Consolas" pitchFamily="34" charset="-120"/>
              </a:rPr>
              <a:t> (ItemBeli beli : daftarBeli)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DataMenu data = menu.get(beli.kode);</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subtotal += data.harga * beli.jumlah;</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(jenisDiskon.equals(</a:t>
            </a:r>
            <a:r>
              <a:rPr lang="en-US" altLang="en-US" sz="1100" dirty="0">
                <a:solidFill>
                  <a:srgbClr val="0A3069"/>
                </a:solidFill>
                <a:latin typeface="Consolas" pitchFamily="34" charset="0"/>
                <a:ea typeface="Consolas" pitchFamily="34" charset="-122"/>
                <a:cs typeface="Consolas" pitchFamily="34" charset="-120"/>
              </a:rPr>
              <a:t>"member"</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else</a:t>
            </a: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if</a:t>
            </a:r>
            <a:r>
              <a:rPr lang="en-US" altLang="en-US" sz="1100" dirty="0">
                <a:solidFill>
                  <a:srgbClr val="1F2328"/>
                </a:solidFill>
                <a:latin typeface="Consolas" pitchFamily="34" charset="0"/>
                <a:ea typeface="Consolas" pitchFamily="34" charset="-122"/>
                <a:cs typeface="Consolas" pitchFamily="34" charset="-120"/>
              </a:rPr>
              <a:t> (jenisDiskon.equals(</a:t>
            </a:r>
            <a:r>
              <a:rPr lang="en-US" altLang="en-US" sz="1100" dirty="0">
                <a:solidFill>
                  <a:srgbClr val="0A3069"/>
                </a:solidFill>
                <a:latin typeface="Consolas" pitchFamily="34" charset="0"/>
                <a:ea typeface="Consolas" pitchFamily="34" charset="-122"/>
                <a:cs typeface="Consolas" pitchFamily="34" charset="-120"/>
              </a:rPr>
              <a:t>"promo"</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potongan = subtotal * </a:t>
            </a:r>
            <a:r>
              <a:rPr lang="en-US" altLang="en-US" sz="1100" dirty="0">
                <a:solidFill>
                  <a:srgbClr val="0550AE"/>
                </a:solidFill>
                <a:latin typeface="Consolas" pitchFamily="34" charset="0"/>
                <a:ea typeface="Consolas" pitchFamily="34" charset="-122"/>
                <a:cs typeface="Consolas" pitchFamily="34" charset="-120"/>
              </a:rPr>
              <a:t>15</a:t>
            </a:r>
            <a:r>
              <a:rPr lang="en-US" altLang="en-US" sz="1100" dirty="0">
                <a:solidFill>
                  <a:srgbClr val="1F2328"/>
                </a:solidFill>
                <a:latin typeface="Consolas" pitchFamily="34" charset="0"/>
                <a:ea typeface="Consolas" pitchFamily="34" charset="-122"/>
                <a:cs typeface="Consolas" pitchFamily="34" charset="-120"/>
              </a:rPr>
              <a:t> / </a:t>
            </a:r>
            <a:r>
              <a:rPr lang="en-US" altLang="en-US" sz="1100" dirty="0">
                <a:solidFill>
                  <a:srgbClr val="0550AE"/>
                </a:solidFill>
                <a:latin typeface="Consolas" pitchFamily="34" charset="0"/>
                <a:ea typeface="Consolas" pitchFamily="34" charset="-122"/>
                <a:cs typeface="Consolas" pitchFamily="34" charset="-120"/>
              </a:rPr>
              <a:t>100</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 </a:t>
            </a:r>
            <a:r>
              <a:rPr lang="en-US" altLang="en-US" sz="1100" dirty="0">
                <a:solidFill>
                  <a:srgbClr val="CF222E"/>
                </a:solidFill>
                <a:latin typeface="Consolas" pitchFamily="34" charset="0"/>
                <a:ea typeface="Consolas" pitchFamily="34" charset="-122"/>
                <a:cs typeface="Consolas" pitchFamily="34" charset="-120"/>
              </a:rPr>
              <a:t>else</a:t>
            </a:r>
            <a:r>
              <a:rPr lang="en-US" altLang="en-US" sz="1100" dirty="0">
                <a:solidFill>
                  <a:srgbClr val="1F2328"/>
                </a:solidFill>
                <a:latin typeface="Consolas" pitchFamily="34" charset="0"/>
                <a:ea typeface="Consolas" pitchFamily="34" charset="-122"/>
                <a:cs typeface="Consolas" pitchFamily="34" charset="-120"/>
              </a:rPr>
              <a:t> {</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System.out.println(</a:t>
            </a:r>
            <a:r>
              <a:rPr lang="en-US" altLang="en-US" sz="1100" dirty="0">
                <a:solidFill>
                  <a:srgbClr val="0A3069"/>
                </a:solidFill>
                <a:latin typeface="Consolas" pitchFamily="34" charset="0"/>
                <a:ea typeface="Consolas" pitchFamily="34" charset="-122"/>
                <a:cs typeface="Consolas" pitchFamily="34" charset="-120"/>
              </a:rPr>
              <a:t>"KEDAIKITA - STRUK PESANAN"</a:t>
            </a:r>
            <a:r>
              <a:rPr lang="en-US" altLang="en-US" sz="1100" dirty="0">
                <a:solidFill>
                  <a:srgbClr val="1F2328"/>
                </a:solidFill>
                <a:latin typeface="Consolas" pitchFamily="34" charset="0"/>
                <a:ea typeface="Consolas" pitchFamily="34" charset="-122"/>
                <a:cs typeface="Consolas" pitchFamily="34" charset="-120"/>
              </a:rPr>
              <a:t>);</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 (dilewati)</a:t>
            </a:r>
            <a:endParaRPr lang="en-US" sz="1100" dirty="0"/>
          </a:p>
          <a:p>
            <a:pPr indent="0" marL="0">
              <a:buNone/>
            </a:pPr>
            <a:r>
              <a:rPr lang="en-US" altLang="en-US" sz="1100" i="1" dirty="0">
                <a:solidFill>
                  <a:srgbClr val="6E7781"/>
                </a:solidFill>
                <a:latin typeface="Consolas" pitchFamily="34" charset="0"/>
                <a:ea typeface="Consolas" pitchFamily="34" charset="-122"/>
                <a:cs typeface="Consolas" pitchFamily="34" charset="-120"/>
              </a:rPr>
              <a:t>// Tugas 4: menyimpan riwayat (hanya bisa ke list di memori)</a:t>
            </a:r>
            <a:endParaRPr lang="en-US" sz="1100" dirty="0"/>
          </a:p>
          <a:p>
            <a:pPr indent="0" marL="0">
              <a:buNone/>
            </a:pPr>
            <a:r>
              <a:rPr lang="en-US" altLang="en-US" sz="1100" dirty="0">
                <a:solidFill>
                  <a:srgbClr val="1F2328"/>
                </a:solidFill>
                <a:latin typeface="Consolas" pitchFamily="34" charset="0"/>
                <a:ea typeface="Consolas" pitchFamily="34" charset="-122"/>
                <a:cs typeface="Consolas" pitchFamily="34" charset="-120"/>
              </a:rPr>
              <a:t>riwayat.add(</a:t>
            </a:r>
            <a:r>
              <a:rPr lang="en-US" altLang="en-US" sz="1100" dirty="0">
                <a:solidFill>
                  <a:srgbClr val="CF222E"/>
                </a:solidFill>
                <a:latin typeface="Consolas" pitchFamily="34" charset="0"/>
                <a:ea typeface="Consolas" pitchFamily="34" charset="-122"/>
                <a:cs typeface="Consolas" pitchFamily="34" charset="-120"/>
              </a:rPr>
              <a:t>new</a:t>
            </a:r>
            <a:r>
              <a:rPr lang="en-US" altLang="en-US" sz="1100" dirty="0">
                <a:solidFill>
                  <a:srgbClr val="1F2328"/>
                </a:solidFill>
                <a:latin typeface="Consolas" pitchFamily="34" charset="0"/>
                <a:ea typeface="Consolas" pitchFamily="34" charset="-122"/>
                <a:cs typeface="Consolas" pitchFamily="34" charset="-120"/>
              </a:rPr>
              <a:t> CatatanRiwayat(nomor, namaPelanggan, total));</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Sesudah: Setiap Tugas Punya Rumah Sendiri</a:t>
            </a:r>
            <a:endParaRPr lang="id-ID" sz="3200" dirty="0"/>
          </a:p>
        </p:txBody>
      </p:sp>
      <p:sp>
        <p:nvSpPr>
          <p:cNvPr id="5" name="Shape 2"/>
          <p:cNvSpPr/>
          <p:nvPr/>
        </p:nvSpPr>
        <p:spPr>
          <a:xfrm>
            <a:off x="9768535" y="566928"/>
            <a:ext cx="1874520" cy="365760"/>
          </a:xfrm>
          <a:prstGeom prst="roundRect">
            <a:avLst>
              <a:gd name="adj" fmla="val 125000"/>
            </a:avLst>
          </a:prstGeom>
          <a:solidFill>
            <a:srgbClr val="FFF1E5"/>
          </a:solidFill>
          <a:ln w="9525">
            <a:solidFill>
              <a:srgbClr val="FB8F44"/>
            </a:solidFill>
            <a:prstDash val="solid"/>
          </a:ln>
        </p:spPr>
      </p:sp>
      <p:sp>
        <p:nvSpPr>
          <p:cNvPr id="6" name="Text 3"/>
          <p:cNvSpPr txBox="1"/>
          <p:nvPr/>
        </p:nvSpPr>
        <p:spPr>
          <a:xfrm>
            <a:off x="9768535" y="566928"/>
            <a:ext cx="1874520" cy="365760"/>
          </a:xfrm>
          <a:prstGeom prst="rect">
            <a:avLst/>
          </a:prstGeom>
          <a:noFill/>
          <a:ln/>
        </p:spPr>
        <p:txBody>
          <a:bodyPr wrap="square" lIns="0" tIns="0" rIns="0" bIns="0" rtlCol="0" anchor="ctr"/>
          <a:lstStyle/>
          <a:p>
            <a:pPr algn="ctr" indent="0" marL="0">
              <a:buNone/>
            </a:pPr>
            <a:r>
              <a:rPr lang="id-ID" altLang="en-US" sz="1300" b="1" dirty="0">
                <a:solidFill>
                  <a:srgbClr val="BC4C00"/>
                </a:solidFill>
              </a:rPr>
              <a:t>Studi kasus KedaiKita</a:t>
            </a:r>
            <a:endParaRPr lang="id-ID" sz="1300" dirty="0"/>
          </a:p>
        </p:txBody>
      </p:sp>
      <p:sp>
        <p:nvSpPr>
          <p:cNvPr id="7" name="Text 4"/>
          <p:cNvSpPr txBox="1"/>
          <p:nvPr/>
        </p:nvSpPr>
        <p:spPr>
          <a:xfrm>
            <a:off x="548640" y="1686519"/>
            <a:ext cx="11094415" cy="324612"/>
          </a:xfrm>
          <a:prstGeom prst="rect">
            <a:avLst/>
          </a:prstGeom>
          <a:noFill/>
          <a:ln/>
        </p:spPr>
        <p:txBody>
          <a:bodyPr wrap="square" lIns="0" tIns="0" rIns="0" bIns="0" rtlCol="0" anchor="t"/>
          <a:lstStyle/>
          <a:p>
            <a:pPr indent="0" marL="0">
              <a:buNone/>
            </a:pPr>
            <a:r>
              <a:rPr lang="id-ID" altLang="en-US" sz="1800" dirty="0">
                <a:solidFill>
                  <a:srgbClr val="57606A"/>
                </a:solidFill>
              </a:rPr>
              <a:t>Potongan program utama versi sesudah. Struk Siti dengan diskon member tetap sama persis seperti versi sebelum.</a:t>
            </a:r>
            <a:endParaRPr lang="id-ID" sz="1800" dirty="0"/>
          </a:p>
        </p:txBody>
      </p:sp>
      <p:sp>
        <p:nvSpPr>
          <p:cNvPr id="8" name="Shape 5"/>
          <p:cNvSpPr/>
          <p:nvPr/>
        </p:nvSpPr>
        <p:spPr>
          <a:xfrm>
            <a:off x="548640" y="2120859"/>
            <a:ext cx="1051560" cy="329184"/>
          </a:xfrm>
          <a:prstGeom prst="roundRect">
            <a:avLst>
              <a:gd name="adj" fmla="val 138889"/>
            </a:avLst>
          </a:prstGeom>
          <a:solidFill>
            <a:srgbClr val="3572A5"/>
          </a:solidFill>
          <a:ln/>
        </p:spPr>
      </p:sp>
      <p:sp>
        <p:nvSpPr>
          <p:cNvPr id="9" name="Text 6"/>
          <p:cNvSpPr txBox="1"/>
          <p:nvPr/>
        </p:nvSpPr>
        <p:spPr>
          <a:xfrm>
            <a:off x="548640" y="212085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Python</a:t>
            </a:r>
            <a:endParaRPr lang="id-ID" sz="1400" dirty="0"/>
          </a:p>
        </p:txBody>
      </p:sp>
      <p:sp>
        <p:nvSpPr>
          <p:cNvPr id="10" name="Text 7"/>
          <p:cNvSpPr txBox="1"/>
          <p:nvPr/>
        </p:nvSpPr>
        <p:spPr>
          <a:xfrm>
            <a:off x="1737360" y="212085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python/studi-kasus/sesudah/main.py</a:t>
            </a:r>
            <a:endParaRPr lang="id-ID" sz="1100" dirty="0"/>
          </a:p>
        </p:txBody>
      </p:sp>
      <p:sp>
        <p:nvSpPr>
          <p:cNvPr id="11" name="Shape 8"/>
          <p:cNvSpPr/>
          <p:nvPr/>
        </p:nvSpPr>
        <p:spPr>
          <a:xfrm>
            <a:off x="548640" y="2541483"/>
            <a:ext cx="5432908" cy="1424940"/>
          </a:xfrm>
          <a:prstGeom prst="roundRect">
            <a:avLst>
              <a:gd name="adj" fmla="val 4118"/>
            </a:avLst>
          </a:prstGeom>
          <a:solidFill>
            <a:srgbClr val="F6F8FA"/>
          </a:solidFill>
          <a:ln w="9525">
            <a:solidFill>
              <a:srgbClr val="D0D7DE"/>
            </a:solidFill>
            <a:prstDash val="solid"/>
          </a:ln>
        </p:spPr>
      </p:sp>
      <p:sp>
        <p:nvSpPr>
          <p:cNvPr id="12" name="Text 9"/>
          <p:cNvSpPr txBox="1"/>
          <p:nvPr/>
        </p:nvSpPr>
        <p:spPr>
          <a:xfrm>
            <a:off x="658368" y="2632923"/>
            <a:ext cx="5213452" cy="1242060"/>
          </a:xfrm>
          <a:prstGeom prst="rect">
            <a:avLst/>
          </a:prstGeom>
          <a:noFill/>
          <a:ln/>
        </p:spPr>
        <p:txBody>
          <a:bodyPr wrap="square" lIns="0" tIns="0" rIns="0" bIns="0" rtlCol="0" anchor="t"/>
          <a:lstStyle/>
          <a:p>
            <a:pPr indent="0" marL="0">
              <a:buNone/>
            </a:pPr>
            <a:r>
              <a:rPr lang="en-US" altLang="en-US" sz="1300" dirty="0">
                <a:solidFill>
                  <a:srgbClr val="1F2328"/>
                </a:solidFill>
                <a:latin typeface="Consolas" pitchFamily="34" charset="0"/>
                <a:ea typeface="Consolas" pitchFamily="34" charset="-122"/>
                <a:cs typeface="Consolas" pitchFamily="34" charset="-120"/>
              </a:rPr>
              <a:t>kedai = Kedai(</a:t>
            </a:r>
            <a:r>
              <a:rPr lang="en-US" altLang="en-US" sz="1300" dirty="0">
                <a:solidFill>
                  <a:srgbClr val="0A3069"/>
                </a:solidFill>
                <a:latin typeface="Consolas" pitchFamily="34" charset="0"/>
                <a:ea typeface="Consolas" pitchFamily="34" charset="-122"/>
                <a:cs typeface="Consolas" pitchFamily="34" charset="-120"/>
              </a:rPr>
              <a:t>"KedaiKita"</a:t>
            </a:r>
            <a:r>
              <a:rPr lang="en-US" altLang="en-US" sz="1300" dirty="0">
                <a:solidFill>
                  <a:srgbClr val="1F2328"/>
                </a:solidFill>
                <a:latin typeface="Consolas" pitchFamily="34" charset="0"/>
                <a:ea typeface="Consolas" pitchFamily="34" charset="-122"/>
                <a:cs typeface="Consolas" pitchFamily="34" charset="-120"/>
              </a:rPr>
              <a:t>, penyimpanan)</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pesanan = kedai.buat_pesanan(pelanggan)</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pesanan.atur_diskon(diskon)</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StrukPesanan(pesanan).cetak()</a:t>
            </a:r>
            <a:endParaRPr lang="en-US" sz="1300" dirty="0"/>
          </a:p>
        </p:txBody>
      </p:sp>
      <p:sp>
        <p:nvSpPr>
          <p:cNvPr id="13" name="Shape 10"/>
          <p:cNvSpPr/>
          <p:nvPr/>
        </p:nvSpPr>
        <p:spPr>
          <a:xfrm>
            <a:off x="6210148" y="2120859"/>
            <a:ext cx="1051560" cy="329184"/>
          </a:xfrm>
          <a:prstGeom prst="roundRect">
            <a:avLst>
              <a:gd name="adj" fmla="val 138889"/>
            </a:avLst>
          </a:prstGeom>
          <a:solidFill>
            <a:srgbClr val="B07219"/>
          </a:solidFill>
          <a:ln/>
        </p:spPr>
      </p:sp>
      <p:sp>
        <p:nvSpPr>
          <p:cNvPr id="14" name="Text 11"/>
          <p:cNvSpPr txBox="1"/>
          <p:nvPr/>
        </p:nvSpPr>
        <p:spPr>
          <a:xfrm>
            <a:off x="6210148" y="2120859"/>
            <a:ext cx="1051560" cy="329184"/>
          </a:xfrm>
          <a:prstGeom prst="rect">
            <a:avLst/>
          </a:prstGeom>
          <a:noFill/>
          <a:ln/>
        </p:spPr>
        <p:txBody>
          <a:bodyPr wrap="square" lIns="0" tIns="0" rIns="0" bIns="0" rtlCol="0" anchor="ctr"/>
          <a:lstStyle/>
          <a:p>
            <a:pPr algn="ctr" indent="0" marL="0">
              <a:buNone/>
            </a:pPr>
            <a:r>
              <a:rPr lang="id-ID" altLang="en-US" sz="1400" b="1" dirty="0">
                <a:solidFill>
                  <a:srgbClr val="FFFFFF"/>
                </a:solidFill>
              </a:rPr>
              <a:t>Java</a:t>
            </a:r>
            <a:endParaRPr lang="id-ID" sz="1400" dirty="0"/>
          </a:p>
        </p:txBody>
      </p:sp>
      <p:sp>
        <p:nvSpPr>
          <p:cNvPr id="15" name="Text 12"/>
          <p:cNvSpPr txBox="1"/>
          <p:nvPr/>
        </p:nvSpPr>
        <p:spPr>
          <a:xfrm>
            <a:off x="7398868" y="2120859"/>
            <a:ext cx="4244188" cy="329184"/>
          </a:xfrm>
          <a:prstGeom prst="rect">
            <a:avLst/>
          </a:prstGeom>
          <a:noFill/>
          <a:ln/>
        </p:spPr>
        <p:txBody>
          <a:bodyPr wrap="square" lIns="0" tIns="0" rIns="0" bIns="0" rtlCol="0" anchor="ctr"/>
          <a:lstStyle/>
          <a:p>
            <a:pPr indent="0" marL="0">
              <a:buNone/>
            </a:pPr>
            <a:r>
              <a:rPr lang="id-ID" altLang="en-US" sz="1100" dirty="0">
                <a:solidFill>
                  <a:srgbClr val="57606A"/>
                </a:solidFill>
              </a:rPr>
              <a:t>java/studi-kasus/sesudah/Main.java</a:t>
            </a:r>
            <a:endParaRPr lang="id-ID" sz="1100" dirty="0"/>
          </a:p>
        </p:txBody>
      </p:sp>
      <p:sp>
        <p:nvSpPr>
          <p:cNvPr id="16" name="Shape 13"/>
          <p:cNvSpPr/>
          <p:nvPr/>
        </p:nvSpPr>
        <p:spPr>
          <a:xfrm>
            <a:off x="6210148" y="2541483"/>
            <a:ext cx="5432908" cy="1424940"/>
          </a:xfrm>
          <a:prstGeom prst="roundRect">
            <a:avLst>
              <a:gd name="adj" fmla="val 4118"/>
            </a:avLst>
          </a:prstGeom>
          <a:solidFill>
            <a:srgbClr val="F6F8FA"/>
          </a:solidFill>
          <a:ln w="9525">
            <a:solidFill>
              <a:srgbClr val="D0D7DE"/>
            </a:solidFill>
            <a:prstDash val="solid"/>
          </a:ln>
        </p:spPr>
      </p:sp>
      <p:sp>
        <p:nvSpPr>
          <p:cNvPr id="17" name="Text 14"/>
          <p:cNvSpPr txBox="1"/>
          <p:nvPr/>
        </p:nvSpPr>
        <p:spPr>
          <a:xfrm>
            <a:off x="6319876" y="2632923"/>
            <a:ext cx="5213452" cy="1242060"/>
          </a:xfrm>
          <a:prstGeom prst="rect">
            <a:avLst/>
          </a:prstGeom>
          <a:noFill/>
          <a:ln/>
        </p:spPr>
        <p:txBody>
          <a:bodyPr wrap="square" lIns="0" tIns="0" rIns="0" bIns="0" rtlCol="0" anchor="t"/>
          <a:lstStyle/>
          <a:p>
            <a:pPr indent="0" marL="0">
              <a:buNone/>
            </a:pPr>
            <a:r>
              <a:rPr lang="en-US" altLang="en-US" sz="1300" dirty="0">
                <a:solidFill>
                  <a:srgbClr val="1F2328"/>
                </a:solidFill>
                <a:latin typeface="Consolas" pitchFamily="34" charset="0"/>
                <a:ea typeface="Consolas" pitchFamily="34" charset="-122"/>
                <a:cs typeface="Consolas" pitchFamily="34" charset="-120"/>
              </a:rPr>
              <a:t>Kedai kedai = </a:t>
            </a:r>
            <a:r>
              <a:rPr lang="en-US" altLang="en-US" sz="1300" dirty="0">
                <a:solidFill>
                  <a:srgbClr val="CF222E"/>
                </a:solidFill>
                <a:latin typeface="Consolas" pitchFamily="34" charset="0"/>
                <a:ea typeface="Consolas" pitchFamily="34" charset="-122"/>
                <a:cs typeface="Consolas" pitchFamily="34" charset="-120"/>
              </a:rPr>
              <a:t>new</a:t>
            </a:r>
            <a:r>
              <a:rPr lang="en-US" altLang="en-US" sz="1300" dirty="0">
                <a:solidFill>
                  <a:srgbClr val="1F2328"/>
                </a:solidFill>
                <a:latin typeface="Consolas" pitchFamily="34" charset="0"/>
                <a:ea typeface="Consolas" pitchFamily="34" charset="-122"/>
                <a:cs typeface="Consolas" pitchFamily="34" charset="-120"/>
              </a:rPr>
              <a:t> Kedai(</a:t>
            </a:r>
            <a:r>
              <a:rPr lang="en-US" altLang="en-US" sz="1300" dirty="0">
                <a:solidFill>
                  <a:srgbClr val="0A3069"/>
                </a:solidFill>
                <a:latin typeface="Consolas" pitchFamily="34" charset="0"/>
                <a:ea typeface="Consolas" pitchFamily="34" charset="-122"/>
                <a:cs typeface="Consolas" pitchFamily="34" charset="-120"/>
              </a:rPr>
              <a:t>"KedaiKita"</a:t>
            </a:r>
            <a:r>
              <a:rPr lang="en-US" altLang="en-US" sz="1300" dirty="0">
                <a:solidFill>
                  <a:srgbClr val="1F2328"/>
                </a:solidFill>
                <a:latin typeface="Consolas" pitchFamily="34" charset="0"/>
                <a:ea typeface="Consolas" pitchFamily="34" charset="-122"/>
                <a:cs typeface="Consolas" pitchFamily="34" charset="-120"/>
              </a:rPr>
              <a:t>, penyimpanan);</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Pesanan pesanan = kedai.buatPesanan(pelanggan);</a:t>
            </a:r>
            <a:endParaRPr lang="en-US" sz="1300" dirty="0"/>
          </a:p>
          <a:p>
            <a:pPr indent="0" marL="0">
              <a:buNone/>
            </a:pPr>
            <a:r>
              <a:rPr lang="en-US" altLang="en-US" sz="1300" i="1" dirty="0">
                <a:solidFill>
                  <a:srgbClr val="6E7781"/>
                </a:solidFill>
                <a:latin typeface="Consolas" pitchFamily="34" charset="0"/>
                <a:ea typeface="Consolas" pitchFamily="34" charset="-122"/>
                <a:cs typeface="Consolas" pitchFamily="34" charset="-120"/>
              </a:rPr>
              <a:t>// ... (dilewati)</a:t>
            </a:r>
            <a:endParaRPr lang="en-US" sz="1300" dirty="0"/>
          </a:p>
          <a:p>
            <a:pPr indent="0" marL="0">
              <a:buNone/>
            </a:pPr>
            <a:r>
              <a:rPr lang="en-US" altLang="en-US" sz="1300" dirty="0">
                <a:solidFill>
                  <a:srgbClr val="1F2328"/>
                </a:solidFill>
                <a:latin typeface="Consolas" pitchFamily="34" charset="0"/>
                <a:ea typeface="Consolas" pitchFamily="34" charset="-122"/>
                <a:cs typeface="Consolas" pitchFamily="34" charset="-120"/>
              </a:rPr>
              <a:t>pesanan.aturDiskon(diskon);</a:t>
            </a:r>
            <a:endParaRPr lang="en-US" sz="1300" dirty="0"/>
          </a:p>
          <a:p>
            <a:pPr indent="0" marL="0">
              <a:buNone/>
            </a:pPr>
            <a:r>
              <a:rPr lang="en-US" altLang="en-US" sz="1300" dirty="0">
                <a:solidFill>
                  <a:srgbClr val="CF222E"/>
                </a:solidFill>
                <a:latin typeface="Consolas" pitchFamily="34" charset="0"/>
                <a:ea typeface="Consolas" pitchFamily="34" charset="-122"/>
                <a:cs typeface="Consolas" pitchFamily="34" charset="-120"/>
              </a:rPr>
              <a:t>new</a:t>
            </a:r>
            <a:r>
              <a:rPr lang="en-US" altLang="en-US" sz="1300" dirty="0">
                <a:solidFill>
                  <a:srgbClr val="1F2328"/>
                </a:solidFill>
                <a:latin typeface="Consolas" pitchFamily="34" charset="0"/>
                <a:ea typeface="Consolas" pitchFamily="34" charset="-122"/>
                <a:cs typeface="Consolas" pitchFamily="34" charset="-120"/>
              </a:rPr>
              <a:t> StrukPesanan(pesanan).cetak();</a:t>
            </a:r>
            <a:endParaRPr lang="en-US" sz="1300" dirty="0"/>
          </a:p>
        </p:txBody>
      </p:sp>
      <p:sp>
        <p:nvSpPr>
          <p:cNvPr id="18" name="Shape 15"/>
          <p:cNvSpPr/>
          <p:nvPr/>
        </p:nvSpPr>
        <p:spPr>
          <a:xfrm>
            <a:off x="548640" y="4195023"/>
            <a:ext cx="11094415" cy="1569720"/>
          </a:xfrm>
          <a:prstGeom prst="roundRect">
            <a:avLst>
              <a:gd name="adj" fmla="val 3393"/>
            </a:avLst>
          </a:prstGeom>
          <a:solidFill>
            <a:srgbClr val="0D1117"/>
          </a:solidFill>
          <a:ln/>
        </p:spPr>
      </p:sp>
      <p:sp>
        <p:nvSpPr>
          <p:cNvPr id="19" name="Shape 16"/>
          <p:cNvSpPr/>
          <p:nvPr/>
        </p:nvSpPr>
        <p:spPr>
          <a:xfrm>
            <a:off x="713232" y="4323039"/>
            <a:ext cx="960120" cy="292608"/>
          </a:xfrm>
          <a:prstGeom prst="roundRect">
            <a:avLst>
              <a:gd name="adj" fmla="val 156250"/>
            </a:avLst>
          </a:prstGeom>
          <a:solidFill>
            <a:srgbClr val="30363D"/>
          </a:solidFill>
          <a:ln/>
        </p:spPr>
      </p:sp>
      <p:sp>
        <p:nvSpPr>
          <p:cNvPr id="20" name="Text 17"/>
          <p:cNvSpPr txBox="1"/>
          <p:nvPr/>
        </p:nvSpPr>
        <p:spPr>
          <a:xfrm>
            <a:off x="713232" y="4323039"/>
            <a:ext cx="960120" cy="292608"/>
          </a:xfrm>
          <a:prstGeom prst="rect">
            <a:avLst/>
          </a:prstGeom>
          <a:noFill/>
          <a:ln/>
        </p:spPr>
        <p:txBody>
          <a:bodyPr wrap="square" lIns="0" tIns="0" rIns="0" bIns="0" rtlCol="0" anchor="ctr"/>
          <a:lstStyle/>
          <a:p>
            <a:pPr algn="ctr" indent="0" marL="0">
              <a:buNone/>
            </a:pPr>
            <a:r>
              <a:rPr lang="id-ID" altLang="en-US" sz="1200" b="1" i="1" dirty="0">
                <a:solidFill>
                  <a:srgbClr val="E6EDF3"/>
                </a:solidFill>
              </a:rPr>
              <a:t>Output</a:t>
            </a:r>
            <a:endParaRPr lang="id-ID" sz="1200" dirty="0"/>
          </a:p>
        </p:txBody>
      </p:sp>
      <p:sp>
        <p:nvSpPr>
          <p:cNvPr id="21" name="Text 18"/>
          <p:cNvSpPr txBox="1"/>
          <p:nvPr/>
        </p:nvSpPr>
        <p:spPr>
          <a:xfrm>
            <a:off x="1828800" y="4323039"/>
            <a:ext cx="9631375" cy="1350264"/>
          </a:xfrm>
          <a:prstGeom prst="rect">
            <a:avLst/>
          </a:prstGeom>
          <a:noFill/>
          <a:ln/>
        </p:spPr>
        <p:txBody>
          <a:bodyPr wrap="square" lIns="0" tIns="0" rIns="0" bIns="0" rtlCol="0" anchor="t"/>
          <a:lstStyle/>
          <a:p>
            <a:pPr indent="0" marL="0">
              <a:buNone/>
            </a:pPr>
            <a:r>
              <a:rPr lang="en-US" altLang="en-US" sz="1400" dirty="0">
                <a:solidFill>
                  <a:srgbClr val="E6EDF3"/>
                </a:solidFill>
                <a:latin typeface="Consolas" pitchFamily="34" charset="0"/>
                <a:ea typeface="Consolas" pitchFamily="34" charset="-122"/>
                <a:cs typeface="Consolas" pitchFamily="34" charset="-120"/>
              </a:rPr>
              <a:t>No. Pesanan : P002</a:t>
            </a:r>
            <a:endParaRPr lang="en-US" sz="1400" dirty="0"/>
          </a:p>
          <a:p>
            <a:pPr indent="0" marL="0">
              <a:buNone/>
            </a:pPr>
            <a:r>
              <a:rPr lang="en-US" altLang="en-US" sz="1400" dirty="0">
                <a:solidFill>
                  <a:srgbClr val="E6EDF3"/>
                </a:solidFill>
                <a:latin typeface="Consolas" pitchFamily="34" charset="0"/>
                <a:ea typeface="Consolas" pitchFamily="34" charset="-122"/>
                <a:cs typeface="Consolas" pitchFamily="34" charset="-120"/>
              </a:rPr>
              <a:t>Pelanggan   : Siti Aminah</a:t>
            </a:r>
            <a:endParaRPr lang="en-US" sz="1400" dirty="0"/>
          </a:p>
          <a:p>
            <a:pPr indent="0" marL="0">
              <a:buNone/>
            </a:pPr>
            <a:r>
              <a:rPr lang="en-US" altLang="en-US" sz="1400" dirty="0">
                <a:solidFill>
                  <a:srgbClr val="E6EDF3"/>
                </a:solidFill>
                <a:latin typeface="Consolas" pitchFamily="34" charset="0"/>
                <a:ea typeface="Consolas" pitchFamily="34" charset="-122"/>
                <a:cs typeface="Consolas" pitchFamily="34" charset="-120"/>
              </a:rPr>
              <a:t>...</a:t>
            </a:r>
            <a:endParaRPr lang="en-US" sz="1400" dirty="0"/>
          </a:p>
          <a:p>
            <a:pPr indent="0" marL="0">
              <a:buNone/>
            </a:pPr>
            <a:r>
              <a:rPr lang="en-US" altLang="en-US" sz="1400" dirty="0">
                <a:solidFill>
                  <a:srgbClr val="E6EDF3"/>
                </a:solidFill>
                <a:latin typeface="Consolas" pitchFamily="34" charset="0"/>
                <a:ea typeface="Consolas" pitchFamily="34" charset="-122"/>
                <a:cs typeface="Consolas" pitchFamily="34" charset="-120"/>
              </a:rPr>
              <a:t>Subtotal                        Rp31.000</a:t>
            </a:r>
            <a:endParaRPr lang="en-US" sz="1400" dirty="0"/>
          </a:p>
          <a:p>
            <a:pPr indent="0" marL="0">
              <a:buNone/>
            </a:pPr>
            <a:r>
              <a:rPr lang="en-US" altLang="en-US" sz="1400" dirty="0">
                <a:solidFill>
                  <a:srgbClr val="E6EDF3"/>
                </a:solidFill>
                <a:latin typeface="Consolas" pitchFamily="34" charset="0"/>
                <a:ea typeface="Consolas" pitchFamily="34" charset="-122"/>
                <a:cs typeface="Consolas" pitchFamily="34" charset="-120"/>
              </a:rPr>
              <a:t>Diskon Member 10%               -Rp3.100</a:t>
            </a:r>
            <a:endParaRPr lang="en-US" sz="1400" dirty="0"/>
          </a:p>
          <a:p>
            <a:pPr indent="0" marL="0">
              <a:buNone/>
            </a:pPr>
            <a:r>
              <a:rPr lang="en-US" altLang="en-US" sz="1400" dirty="0">
                <a:solidFill>
                  <a:srgbClr val="E6EDF3"/>
                </a:solidFill>
                <a:latin typeface="Consolas" pitchFamily="34" charset="0"/>
                <a:ea typeface="Consolas" pitchFamily="34" charset="-122"/>
                <a:cs typeface="Consolas" pitchFamily="34" charset="-120"/>
              </a:rPr>
              <a:t>TOTAL                           Rp27.900</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CF222E"/>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Miskonsepsi yang Sering Terjadi</a:t>
            </a:r>
            <a:endParaRPr lang="id-ID" sz="3200" dirty="0"/>
          </a:p>
        </p:txBody>
      </p:sp>
      <p:sp>
        <p:nvSpPr>
          <p:cNvPr id="5" name="Shape 2"/>
          <p:cNvSpPr/>
          <p:nvPr/>
        </p:nvSpPr>
        <p:spPr>
          <a:xfrm>
            <a:off x="548640" y="1472047"/>
            <a:ext cx="329184" cy="329184"/>
          </a:xfrm>
          <a:prstGeom prst="ellipse">
            <a:avLst/>
          </a:prstGeom>
          <a:solidFill>
            <a:srgbClr val="CF222E"/>
          </a:solidFill>
          <a:ln/>
        </p:spPr>
      </p:sp>
      <p:pic>
        <p:nvPicPr>
          <p:cNvPr id="6" name="Image 1" descr="preencoded.png">    </p:cNvPr>
          <p:cNvPicPr>
            <a:picLocks noChangeAspect="1"/>
          </p:cNvPicPr>
          <p:nvPr/>
        </p:nvPicPr>
        <p:blipFill>
          <a:blip r:embed="rId2"/>
          <a:stretch>
            <a:fillRect/>
          </a:stretch>
        </p:blipFill>
        <p:spPr>
          <a:xfrm>
            <a:off x="621060" y="1544467"/>
            <a:ext cx="184343" cy="184343"/>
          </a:xfrm>
          <a:prstGeom prst="rect">
            <a:avLst/>
          </a:prstGeom>
        </p:spPr>
      </p:pic>
      <p:sp>
        <p:nvSpPr>
          <p:cNvPr id="7" name="Text 3"/>
          <p:cNvSpPr txBox="1"/>
          <p:nvPr/>
        </p:nvSpPr>
        <p:spPr>
          <a:xfrm>
            <a:off x="987552" y="1472047"/>
            <a:ext cx="3886200" cy="329184"/>
          </a:xfrm>
          <a:prstGeom prst="rect">
            <a:avLst/>
          </a:prstGeom>
          <a:noFill/>
          <a:ln/>
        </p:spPr>
        <p:txBody>
          <a:bodyPr wrap="square" lIns="0" tIns="0" rIns="0" bIns="0" rtlCol="0" anchor="ctr"/>
          <a:lstStyle/>
          <a:p>
            <a:pPr indent="0" marL="0">
              <a:buNone/>
            </a:pPr>
            <a:r>
              <a:rPr lang="id-ID" altLang="en-US" sz="1600" b="1" dirty="0">
                <a:solidFill>
                  <a:srgbClr val="CF222E"/>
                </a:solidFill>
              </a:rPr>
              <a:t>Anggapan keliru</a:t>
            </a:r>
            <a:endParaRPr lang="id-ID" sz="1600" dirty="0"/>
          </a:p>
        </p:txBody>
      </p:sp>
      <p:sp>
        <p:nvSpPr>
          <p:cNvPr id="8" name="Shape 4"/>
          <p:cNvSpPr/>
          <p:nvPr/>
        </p:nvSpPr>
        <p:spPr>
          <a:xfrm>
            <a:off x="5166360" y="1472047"/>
            <a:ext cx="329184" cy="329184"/>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5238780" y="1544467"/>
            <a:ext cx="184343" cy="184343"/>
          </a:xfrm>
          <a:prstGeom prst="rect">
            <a:avLst/>
          </a:prstGeom>
        </p:spPr>
      </p:pic>
      <p:sp>
        <p:nvSpPr>
          <p:cNvPr id="10" name="Text 5"/>
          <p:cNvSpPr txBox="1"/>
          <p:nvPr/>
        </p:nvSpPr>
        <p:spPr>
          <a:xfrm>
            <a:off x="5605272" y="1472047"/>
            <a:ext cx="6019495" cy="329184"/>
          </a:xfrm>
          <a:prstGeom prst="rect">
            <a:avLst/>
          </a:prstGeom>
          <a:noFill/>
          <a:ln/>
        </p:spPr>
        <p:txBody>
          <a:bodyPr wrap="square" lIns="0" tIns="0" rIns="0" bIns="0" rtlCol="0" anchor="ctr"/>
          <a:lstStyle/>
          <a:p>
            <a:pPr indent="0" marL="0">
              <a:buNone/>
            </a:pPr>
            <a:r>
              <a:rPr lang="id-ID" altLang="en-US" sz="1600" b="1" dirty="0">
                <a:solidFill>
                  <a:srgbClr val="1A7F37"/>
                </a:solidFill>
              </a:rPr>
              <a:t>Yang benar</a:t>
            </a:r>
            <a:endParaRPr lang="id-ID" sz="1600" dirty="0"/>
          </a:p>
        </p:txBody>
      </p:sp>
      <p:sp>
        <p:nvSpPr>
          <p:cNvPr id="11" name="Shape 6"/>
          <p:cNvSpPr/>
          <p:nvPr/>
        </p:nvSpPr>
        <p:spPr>
          <a:xfrm>
            <a:off x="548640" y="1974967"/>
            <a:ext cx="4343400" cy="1248918"/>
          </a:xfrm>
          <a:prstGeom prst="roundRect">
            <a:avLst>
              <a:gd name="adj" fmla="val 6433"/>
            </a:avLst>
          </a:prstGeom>
          <a:solidFill>
            <a:srgbClr val="FFEBE9"/>
          </a:solidFill>
          <a:ln w="9525">
            <a:solidFill>
              <a:srgbClr val="FF8182"/>
            </a:solidFill>
            <a:prstDash val="solid"/>
          </a:ln>
        </p:spPr>
      </p:sp>
      <p:sp>
        <p:nvSpPr>
          <p:cNvPr id="12" name="Text 7"/>
          <p:cNvSpPr txBox="1"/>
          <p:nvPr/>
        </p:nvSpPr>
        <p:spPr>
          <a:xfrm>
            <a:off x="777240" y="2157847"/>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“Kode yang melanggar SOLID pasti salah.”</a:t>
            </a:r>
            <a:endParaRPr lang="id-ID" sz="1900" dirty="0"/>
          </a:p>
        </p:txBody>
      </p:sp>
      <p:sp>
        <p:nvSpPr>
          <p:cNvPr id="13" name="Shape 8"/>
          <p:cNvSpPr/>
          <p:nvPr/>
        </p:nvSpPr>
        <p:spPr>
          <a:xfrm>
            <a:off x="5166360" y="1974967"/>
            <a:ext cx="6476695" cy="1248918"/>
          </a:xfrm>
          <a:prstGeom prst="roundRect">
            <a:avLst>
              <a:gd name="adj" fmla="val 6433"/>
            </a:avLst>
          </a:prstGeom>
          <a:solidFill>
            <a:srgbClr val="DAFBE1"/>
          </a:solidFill>
          <a:ln w="9525">
            <a:solidFill>
              <a:srgbClr val="4AC26B"/>
            </a:solidFill>
            <a:prstDash val="solid"/>
          </a:ln>
        </p:spPr>
      </p:sp>
      <p:sp>
        <p:nvSpPr>
          <p:cNvPr id="14" name="Text 9"/>
          <p:cNvSpPr txBox="1"/>
          <p:nvPr/>
        </p:nvSpPr>
        <p:spPr>
          <a:xfrm>
            <a:off x="5394960" y="2157847"/>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Belum tentu. </a:t>
            </a:r>
            <a:r>
              <a:rPr lang="id-ID" altLang="en-US" sz="1900" dirty="0">
                <a:solidFill>
                  <a:srgbClr val="1F2328"/>
                </a:solidFill>
                <a:latin typeface="Consolas" pitchFamily="34" charset="0"/>
                <a:ea typeface="Consolas" pitchFamily="34" charset="-122"/>
                <a:cs typeface="Consolas" pitchFamily="34" charset="-120"/>
              </a:rPr>
              <a:t>KasirSerbaBisa</a:t>
            </a:r>
            <a:r>
              <a:rPr lang="id-ID" altLang="en-US" sz="1900" dirty="0">
                <a:solidFill>
                  <a:srgbClr val="1F2328"/>
                </a:solidFill>
              </a:rPr>
              <a:t> menghasilkan </a:t>
            </a:r>
            <a:r>
              <a:rPr lang="id-ID" altLang="en-US" sz="1900" i="1" dirty="0">
                <a:solidFill>
                  <a:srgbClr val="1F2328"/>
                </a:solidFill>
              </a:rPr>
              <a:t>output</a:t>
            </a:r>
            <a:r>
              <a:rPr lang="id-ID" altLang="en-US" sz="1900" dirty="0">
                <a:solidFill>
                  <a:srgbClr val="1F2328"/>
                </a:solidFill>
              </a:rPr>
              <a:t> yang benar. SOLID menilai </a:t>
            </a:r>
            <a:r>
              <a:rPr lang="id-ID" altLang="en-US" sz="1900" b="1" dirty="0">
                <a:solidFill>
                  <a:srgbClr val="1F2328"/>
                </a:solidFill>
              </a:rPr>
              <a:t>kemudahan diubah</a:t>
            </a:r>
            <a:r>
              <a:rPr lang="id-ID" altLang="en-US" sz="1900" dirty="0">
                <a:solidFill>
                  <a:srgbClr val="1F2328"/>
                </a:solidFill>
              </a:rPr>
              <a:t>, bukan kebenaran hasil hari ini.</a:t>
            </a:r>
            <a:endParaRPr lang="id-ID" sz="1900" dirty="0"/>
          </a:p>
        </p:txBody>
      </p:sp>
      <p:sp>
        <p:nvSpPr>
          <p:cNvPr id="15" name="Shape 10"/>
          <p:cNvSpPr/>
          <p:nvPr/>
        </p:nvSpPr>
        <p:spPr>
          <a:xfrm>
            <a:off x="548640" y="3425053"/>
            <a:ext cx="4343400" cy="1248918"/>
          </a:xfrm>
          <a:prstGeom prst="roundRect">
            <a:avLst>
              <a:gd name="adj" fmla="val 6433"/>
            </a:avLst>
          </a:prstGeom>
          <a:solidFill>
            <a:srgbClr val="FFEBE9"/>
          </a:solidFill>
          <a:ln w="9525">
            <a:solidFill>
              <a:srgbClr val="FF8182"/>
            </a:solidFill>
            <a:prstDash val="solid"/>
          </a:ln>
        </p:spPr>
      </p:sp>
      <p:sp>
        <p:nvSpPr>
          <p:cNvPr id="16" name="Text 11"/>
          <p:cNvSpPr txBox="1"/>
          <p:nvPr/>
        </p:nvSpPr>
        <p:spPr>
          <a:xfrm>
            <a:off x="777240" y="3607933"/>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“SRP berarti satu kelas hanya boleh punya satu </a:t>
            </a:r>
            <a:r>
              <a:rPr lang="id-ID" altLang="en-US" sz="1900" i="1" dirty="0">
                <a:solidFill>
                  <a:srgbClr val="1F2328"/>
                </a:solidFill>
              </a:rPr>
              <a:t>method</a:t>
            </a:r>
            <a:r>
              <a:rPr lang="id-ID" altLang="en-US" sz="1900" dirty="0">
                <a:solidFill>
                  <a:srgbClr val="1F2328"/>
                </a:solidFill>
              </a:rPr>
              <a:t>.”</a:t>
            </a:r>
            <a:endParaRPr lang="id-ID" sz="1900" dirty="0"/>
          </a:p>
        </p:txBody>
      </p:sp>
      <p:sp>
        <p:nvSpPr>
          <p:cNvPr id="17" name="Shape 12"/>
          <p:cNvSpPr/>
          <p:nvPr/>
        </p:nvSpPr>
        <p:spPr>
          <a:xfrm>
            <a:off x="5166360" y="3425053"/>
            <a:ext cx="6476695" cy="1248918"/>
          </a:xfrm>
          <a:prstGeom prst="roundRect">
            <a:avLst>
              <a:gd name="adj" fmla="val 6433"/>
            </a:avLst>
          </a:prstGeom>
          <a:solidFill>
            <a:srgbClr val="DAFBE1"/>
          </a:solidFill>
          <a:ln w="9525">
            <a:solidFill>
              <a:srgbClr val="4AC26B"/>
            </a:solidFill>
            <a:prstDash val="solid"/>
          </a:ln>
        </p:spPr>
      </p:sp>
      <p:sp>
        <p:nvSpPr>
          <p:cNvPr id="18" name="Text 13"/>
          <p:cNvSpPr txBox="1"/>
          <p:nvPr/>
        </p:nvSpPr>
        <p:spPr>
          <a:xfrm>
            <a:off x="5394960" y="3607933"/>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SRP berarti satu </a:t>
            </a:r>
            <a:r>
              <a:rPr lang="id-ID" altLang="en-US" sz="1900" b="1" dirty="0">
                <a:solidFill>
                  <a:srgbClr val="1F2328"/>
                </a:solidFill>
              </a:rPr>
              <a:t>alasan untuk berubah</a:t>
            </a:r>
            <a:r>
              <a:rPr lang="id-ID" altLang="en-US" sz="1900" dirty="0">
                <a:solidFill>
                  <a:srgbClr val="1F2328"/>
                </a:solidFill>
              </a:rPr>
              <a:t>. </a:t>
            </a:r>
            <a:r>
              <a:rPr lang="id-ID" altLang="en-US" sz="1900" dirty="0">
                <a:solidFill>
                  <a:srgbClr val="1F2328"/>
                </a:solidFill>
                <a:latin typeface="Consolas" pitchFamily="34" charset="0"/>
                <a:ea typeface="Consolas" pitchFamily="34" charset="-122"/>
                <a:cs typeface="Consolas" pitchFamily="34" charset="-120"/>
              </a:rPr>
              <a:t>PenghitungNilai</a:t>
            </a:r>
            <a:r>
              <a:rPr lang="id-ID" altLang="en-US" sz="1900" dirty="0">
                <a:solidFill>
                  <a:srgbClr val="1F2328"/>
                </a:solidFill>
              </a:rPr>
              <a:t> punya dua </a:t>
            </a:r>
            <a:r>
              <a:rPr lang="id-ID" altLang="en-US" sz="1900" i="1" dirty="0">
                <a:solidFill>
                  <a:srgbClr val="1F2328"/>
                </a:solidFill>
              </a:rPr>
              <a:t>method</a:t>
            </a:r>
            <a:r>
              <a:rPr lang="id-ID" altLang="en-US" sz="1900" dirty="0">
                <a:solidFill>
                  <a:srgbClr val="1F2328"/>
                </a:solidFill>
              </a:rPr>
              <a:t>, tetapi keduanya melayani satu urusan: aturan penilaian.</a:t>
            </a:r>
            <a:endParaRPr lang="id-ID" sz="1900" dirty="0"/>
          </a:p>
        </p:txBody>
      </p:sp>
      <p:sp>
        <p:nvSpPr>
          <p:cNvPr id="19" name="Shape 14"/>
          <p:cNvSpPr/>
          <p:nvPr/>
        </p:nvSpPr>
        <p:spPr>
          <a:xfrm>
            <a:off x="548640" y="4875139"/>
            <a:ext cx="4343400" cy="1248918"/>
          </a:xfrm>
          <a:prstGeom prst="roundRect">
            <a:avLst>
              <a:gd name="adj" fmla="val 6433"/>
            </a:avLst>
          </a:prstGeom>
          <a:solidFill>
            <a:srgbClr val="FFEBE9"/>
          </a:solidFill>
          <a:ln w="9525">
            <a:solidFill>
              <a:srgbClr val="FF8182"/>
            </a:solidFill>
            <a:prstDash val="solid"/>
          </a:ln>
        </p:spPr>
      </p:sp>
      <p:sp>
        <p:nvSpPr>
          <p:cNvPr id="20" name="Text 15"/>
          <p:cNvSpPr txBox="1"/>
          <p:nvPr/>
        </p:nvSpPr>
        <p:spPr>
          <a:xfrm>
            <a:off x="777240" y="5058019"/>
            <a:ext cx="3886200" cy="974598"/>
          </a:xfrm>
          <a:prstGeom prst="rect">
            <a:avLst/>
          </a:prstGeom>
          <a:noFill/>
          <a:ln/>
        </p:spPr>
        <p:txBody>
          <a:bodyPr wrap="square" lIns="0" tIns="0" rIns="0" bIns="0" rtlCol="0" anchor="t"/>
          <a:lstStyle/>
          <a:p>
            <a:pPr indent="0" marL="0">
              <a:buNone/>
            </a:pPr>
            <a:r>
              <a:rPr lang="id-ID" altLang="en-US" sz="1900" dirty="0">
                <a:solidFill>
                  <a:srgbClr val="1F2328"/>
                </a:solidFill>
              </a:rPr>
              <a:t>“DIP sama saja dengan </a:t>
            </a:r>
            <a:r>
              <a:rPr lang="id-ID" altLang="en-US" sz="1900" i="1" dirty="0">
                <a:solidFill>
                  <a:srgbClr val="1F2328"/>
                </a:solidFill>
              </a:rPr>
              <a:t>dependency injection</a:t>
            </a:r>
            <a:r>
              <a:rPr lang="id-ID" altLang="en-US" sz="1900" dirty="0">
                <a:solidFill>
                  <a:srgbClr val="1F2328"/>
                </a:solidFill>
              </a:rPr>
              <a:t>.”</a:t>
            </a:r>
            <a:endParaRPr lang="id-ID" sz="1900" dirty="0"/>
          </a:p>
        </p:txBody>
      </p:sp>
      <p:sp>
        <p:nvSpPr>
          <p:cNvPr id="21" name="Shape 16"/>
          <p:cNvSpPr/>
          <p:nvPr/>
        </p:nvSpPr>
        <p:spPr>
          <a:xfrm>
            <a:off x="5166360" y="4875139"/>
            <a:ext cx="6476695" cy="1248918"/>
          </a:xfrm>
          <a:prstGeom prst="roundRect">
            <a:avLst>
              <a:gd name="adj" fmla="val 6433"/>
            </a:avLst>
          </a:prstGeom>
          <a:solidFill>
            <a:srgbClr val="DAFBE1"/>
          </a:solidFill>
          <a:ln w="9525">
            <a:solidFill>
              <a:srgbClr val="4AC26B"/>
            </a:solidFill>
            <a:prstDash val="solid"/>
          </a:ln>
        </p:spPr>
      </p:sp>
      <p:sp>
        <p:nvSpPr>
          <p:cNvPr id="22" name="Text 17"/>
          <p:cNvSpPr txBox="1"/>
          <p:nvPr/>
        </p:nvSpPr>
        <p:spPr>
          <a:xfrm>
            <a:off x="5394960" y="5058019"/>
            <a:ext cx="6019495" cy="974598"/>
          </a:xfrm>
          <a:prstGeom prst="rect">
            <a:avLst/>
          </a:prstGeom>
          <a:noFill/>
          <a:ln/>
        </p:spPr>
        <p:txBody>
          <a:bodyPr wrap="square" lIns="0" tIns="0" rIns="0" bIns="0" rtlCol="0" anchor="t"/>
          <a:lstStyle/>
          <a:p>
            <a:pPr indent="0" marL="0">
              <a:buNone/>
            </a:pPr>
            <a:r>
              <a:rPr lang="id-ID" altLang="en-US" sz="1900" dirty="0">
                <a:solidFill>
                  <a:srgbClr val="1F2328"/>
                </a:solidFill>
              </a:rPr>
              <a:t>DIP adalah prinsip arah ketergantungan; </a:t>
            </a:r>
            <a:r>
              <a:rPr lang="id-ID" altLang="en-US" sz="1900" i="1" dirty="0">
                <a:solidFill>
                  <a:srgbClr val="1F2328"/>
                </a:solidFill>
              </a:rPr>
              <a:t>dependency injection</a:t>
            </a:r>
            <a:r>
              <a:rPr lang="id-ID" altLang="en-US" sz="1900" dirty="0">
                <a:solidFill>
                  <a:srgbClr val="1F2328"/>
                </a:solidFill>
              </a:rPr>
              <a:t> hanya salah satu tekniknya. Menyuntikkan objek bertipe kelas konkret belum memenuhi DIP.</a:t>
            </a:r>
            <a:endParaRPr lang="id-ID" sz="19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574353"/>
            <a:ext cx="11094415" cy="1944624"/>
          </a:xfrm>
          <a:prstGeom prst="roundRect">
            <a:avLst>
              <a:gd name="adj" fmla="val 2653"/>
            </a:avLst>
          </a:prstGeom>
          <a:solidFill>
            <a:srgbClr val="FBEFFF"/>
          </a:solidFill>
          <a:ln w="9525">
            <a:solidFill>
              <a:srgbClr val="C297FF"/>
            </a:solidFill>
            <a:prstDash val="solid"/>
          </a:ln>
        </p:spPr>
      </p:sp>
      <p:sp>
        <p:nvSpPr>
          <p:cNvPr id="6" name="Shape 3"/>
          <p:cNvSpPr/>
          <p:nvPr/>
        </p:nvSpPr>
        <p:spPr>
          <a:xfrm>
            <a:off x="777240" y="2318065"/>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418649"/>
            <a:ext cx="256032" cy="256032"/>
          </a:xfrm>
          <a:prstGeom prst="rect">
            <a:avLst/>
          </a:prstGeom>
        </p:spPr>
      </p:pic>
      <p:sp>
        <p:nvSpPr>
          <p:cNvPr id="8" name="Text 4"/>
          <p:cNvSpPr txBox="1"/>
          <p:nvPr/>
        </p:nvSpPr>
        <p:spPr>
          <a:xfrm>
            <a:off x="1417320" y="1802953"/>
            <a:ext cx="9951415" cy="1670304"/>
          </a:xfrm>
          <a:prstGeom prst="rect">
            <a:avLst/>
          </a:prstGeom>
          <a:noFill/>
          <a:ln/>
        </p:spPr>
        <p:txBody>
          <a:bodyPr wrap="square" lIns="0" tIns="0" rIns="0" bIns="0" rtlCol="0" anchor="t"/>
          <a:lstStyle/>
          <a:p>
            <a:pPr indent="0" marL="0">
              <a:buNone/>
            </a:pPr>
            <a:r>
              <a:rPr lang="id-ID" altLang="en-US" sz="2400" dirty="0">
                <a:solidFill>
                  <a:srgbClr val="1F2328"/>
                </a:solidFill>
              </a:rPr>
              <a:t>Kontrak </a:t>
            </a:r>
            <a:r>
              <a:rPr lang="id-ID" altLang="en-US" sz="2400" dirty="0">
                <a:solidFill>
                  <a:srgbClr val="0A3069"/>
                </a:solidFill>
                <a:latin typeface="Consolas" pitchFamily="34" charset="0"/>
                <a:ea typeface="Consolas" pitchFamily="34" charset="-122"/>
                <a:cs typeface="Consolas" pitchFamily="34" charset="-120"/>
              </a:rPr>
              <a:t>PerangkatKasir</a:t>
            </a:r>
            <a:r>
              <a:rPr lang="id-ID" altLang="en-US" sz="2400" dirty="0">
                <a:solidFill>
                  <a:srgbClr val="1F2328"/>
                </a:solidFill>
              </a:rPr>
              <a:t> mewajibkan </a:t>
            </a:r>
            <a:r>
              <a:rPr lang="id-ID" altLang="en-US" sz="2400" dirty="0">
                <a:solidFill>
                  <a:srgbClr val="0A3069"/>
                </a:solidFill>
                <a:latin typeface="Consolas" pitchFamily="34" charset="0"/>
                <a:ea typeface="Consolas" pitchFamily="34" charset="-122"/>
                <a:cs typeface="Consolas" pitchFamily="34" charset="-120"/>
              </a:rPr>
              <a:t>cetak_struk()</a:t>
            </a:r>
            <a:r>
              <a:rPr lang="id-ID" altLang="en-US" sz="2400" dirty="0">
                <a:solidFill>
                  <a:srgbClr val="1F2328"/>
                </a:solidFill>
              </a:rPr>
              <a:t>, </a:t>
            </a:r>
            <a:r>
              <a:rPr lang="id-ID" altLang="en-US" sz="2400" dirty="0">
                <a:solidFill>
                  <a:srgbClr val="0A3069"/>
                </a:solidFill>
                <a:latin typeface="Consolas" pitchFamily="34" charset="0"/>
                <a:ea typeface="Consolas" pitchFamily="34" charset="-122"/>
                <a:cs typeface="Consolas" pitchFamily="34" charset="-120"/>
              </a:rPr>
              <a:t>pindai_barcode()</a:t>
            </a:r>
            <a:r>
              <a:rPr lang="id-ID" altLang="en-US" sz="2400" dirty="0">
                <a:solidFill>
                  <a:srgbClr val="1F2328"/>
                </a:solidFill>
              </a:rPr>
              <a:t>, dan </a:t>
            </a:r>
            <a:r>
              <a:rPr lang="id-ID" altLang="en-US" sz="2400" dirty="0">
                <a:solidFill>
                  <a:srgbClr val="0A3069"/>
                </a:solidFill>
                <a:latin typeface="Consolas" pitchFamily="34" charset="0"/>
                <a:ea typeface="Consolas" pitchFamily="34" charset="-122"/>
                <a:cs typeface="Consolas" pitchFamily="34" charset="-120"/>
              </a:rPr>
              <a:t>buka_laci()</a:t>
            </a:r>
            <a:r>
              <a:rPr lang="id-ID" altLang="en-US" sz="2400" dirty="0">
                <a:solidFill>
                  <a:srgbClr val="1F2328"/>
                </a:solidFill>
              </a:rPr>
              <a:t>. Printer Bluetooth yang hanya bisa mencetak terpaksa mengisi dua </a:t>
            </a:r>
            <a:r>
              <a:rPr lang="id-ID" altLang="en-US" sz="2400" i="1" dirty="0">
                <a:solidFill>
                  <a:srgbClr val="1F2328"/>
                </a:solidFill>
              </a:rPr>
              <a:t>method</a:t>
            </a:r>
            <a:r>
              <a:rPr lang="id-ID" altLang="en-US" sz="2400" dirty="0">
                <a:solidFill>
                  <a:srgbClr val="1F2328"/>
                </a:solidFill>
              </a:rPr>
              <a:t> lain dengan melempar </a:t>
            </a:r>
            <a:r>
              <a:rPr lang="id-ID" altLang="en-US" sz="2400" i="1" dirty="0">
                <a:solidFill>
                  <a:srgbClr val="1F2328"/>
                </a:solidFill>
              </a:rPr>
              <a:t>error</a:t>
            </a:r>
            <a:r>
              <a:rPr lang="id-ID" altLang="en-US" sz="2400" dirty="0">
                <a:solidFill>
                  <a:srgbClr val="1F2328"/>
                </a:solidFill>
              </a:rPr>
              <a:t>. Perbaikan yang paling tepat adalah ...</a:t>
            </a:r>
            <a:endParaRPr lang="id-ID" sz="2400" dirty="0"/>
          </a:p>
        </p:txBody>
      </p:sp>
      <p:sp>
        <p:nvSpPr>
          <p:cNvPr id="9" name="Shape 5"/>
          <p:cNvSpPr/>
          <p:nvPr/>
        </p:nvSpPr>
        <p:spPr>
          <a:xfrm>
            <a:off x="548640" y="3701857"/>
            <a:ext cx="5455768" cy="1203960"/>
          </a:xfrm>
          <a:prstGeom prst="roundRect">
            <a:avLst>
              <a:gd name="adj" fmla="val 6922"/>
            </a:avLst>
          </a:prstGeom>
          <a:solidFill>
            <a:srgbClr val="FFFFFF"/>
          </a:solidFill>
          <a:ln w="9525">
            <a:solidFill>
              <a:srgbClr val="D0D7DE"/>
            </a:solidFill>
            <a:prstDash val="solid"/>
          </a:ln>
        </p:spPr>
      </p:sp>
      <p:sp>
        <p:nvSpPr>
          <p:cNvPr id="10" name="Shape 6"/>
          <p:cNvSpPr/>
          <p:nvPr/>
        </p:nvSpPr>
        <p:spPr>
          <a:xfrm>
            <a:off x="749808" y="4075237"/>
            <a:ext cx="457200" cy="457200"/>
          </a:xfrm>
          <a:prstGeom prst="ellipse">
            <a:avLst/>
          </a:prstGeom>
          <a:solidFill>
            <a:srgbClr val="8250DF"/>
          </a:solidFill>
          <a:ln/>
        </p:spPr>
      </p:sp>
      <p:sp>
        <p:nvSpPr>
          <p:cNvPr id="11" name="Text 7"/>
          <p:cNvSpPr txBox="1"/>
          <p:nvPr/>
        </p:nvSpPr>
        <p:spPr>
          <a:xfrm>
            <a:off x="749808" y="407523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811585"/>
            <a:ext cx="4541368" cy="984504"/>
          </a:xfrm>
          <a:prstGeom prst="rect">
            <a:avLst/>
          </a:prstGeom>
          <a:noFill/>
          <a:ln/>
        </p:spPr>
        <p:txBody>
          <a:bodyPr wrap="square" lIns="0" tIns="0" rIns="0" bIns="0" rtlCol="0" anchor="ctr"/>
          <a:lstStyle/>
          <a:p>
            <a:pPr indent="0" marL="0">
              <a:buNone/>
            </a:pPr>
            <a:r>
              <a:rPr lang="id-ID" altLang="en-US" sz="2000" dirty="0">
                <a:solidFill>
                  <a:srgbClr val="1F2328"/>
                </a:solidFill>
              </a:rPr>
              <a:t>Memecah kontrak menjadi kontrak kecil seperti </a:t>
            </a:r>
            <a:r>
              <a:rPr lang="id-ID" altLang="en-US" sz="2000" dirty="0">
                <a:solidFill>
                  <a:srgbClr val="0A3069"/>
                </a:solidFill>
                <a:latin typeface="Consolas" pitchFamily="34" charset="0"/>
                <a:ea typeface="Consolas" pitchFamily="34" charset="-122"/>
                <a:cs typeface="Consolas" pitchFamily="34" charset="-120"/>
              </a:rPr>
              <a:t>PencetakStruk</a:t>
            </a:r>
            <a:r>
              <a:rPr lang="id-ID" altLang="en-US" sz="2000" dirty="0">
                <a:solidFill>
                  <a:srgbClr val="1F2328"/>
                </a:solidFill>
              </a:rPr>
              <a:t>, </a:t>
            </a:r>
            <a:r>
              <a:rPr lang="id-ID" altLang="en-US" sz="2000" dirty="0">
                <a:solidFill>
                  <a:srgbClr val="0A3069"/>
                </a:solidFill>
                <a:latin typeface="Consolas" pitchFamily="34" charset="0"/>
                <a:ea typeface="Consolas" pitchFamily="34" charset="-122"/>
                <a:cs typeface="Consolas" pitchFamily="34" charset="-120"/>
              </a:rPr>
              <a:t>PemindaiBarcode</a:t>
            </a:r>
            <a:r>
              <a:rPr lang="id-ID" altLang="en-US" sz="2000" dirty="0">
                <a:solidFill>
                  <a:srgbClr val="1F2328"/>
                </a:solidFill>
              </a:rPr>
              <a:t>, dan </a:t>
            </a:r>
            <a:r>
              <a:rPr lang="id-ID" altLang="en-US" sz="2000" dirty="0">
                <a:solidFill>
                  <a:srgbClr val="0A3069"/>
                </a:solidFill>
                <a:latin typeface="Consolas" pitchFamily="34" charset="0"/>
                <a:ea typeface="Consolas" pitchFamily="34" charset="-122"/>
                <a:cs typeface="Consolas" pitchFamily="34" charset="-120"/>
              </a:rPr>
              <a:t>LaciUang</a:t>
            </a:r>
            <a:endParaRPr lang="id-ID" sz="2000" dirty="0"/>
          </a:p>
        </p:txBody>
      </p:sp>
      <p:sp>
        <p:nvSpPr>
          <p:cNvPr id="13" name="Shape 9"/>
          <p:cNvSpPr/>
          <p:nvPr/>
        </p:nvSpPr>
        <p:spPr>
          <a:xfrm>
            <a:off x="6187288" y="3701857"/>
            <a:ext cx="5455768" cy="1203960"/>
          </a:xfrm>
          <a:prstGeom prst="roundRect">
            <a:avLst>
              <a:gd name="adj" fmla="val 6922"/>
            </a:avLst>
          </a:prstGeom>
          <a:solidFill>
            <a:srgbClr val="FFFFFF"/>
          </a:solidFill>
          <a:ln w="9525">
            <a:solidFill>
              <a:srgbClr val="D0D7DE"/>
            </a:solidFill>
            <a:prstDash val="solid"/>
          </a:ln>
        </p:spPr>
      </p:sp>
      <p:sp>
        <p:nvSpPr>
          <p:cNvPr id="14" name="Shape 10"/>
          <p:cNvSpPr/>
          <p:nvPr/>
        </p:nvSpPr>
        <p:spPr>
          <a:xfrm>
            <a:off x="6388456" y="4075237"/>
            <a:ext cx="457200" cy="457200"/>
          </a:xfrm>
          <a:prstGeom prst="ellipse">
            <a:avLst/>
          </a:prstGeom>
          <a:solidFill>
            <a:srgbClr val="8250DF"/>
          </a:solidFill>
          <a:ln/>
        </p:spPr>
      </p:sp>
      <p:sp>
        <p:nvSpPr>
          <p:cNvPr id="15" name="Text 11"/>
          <p:cNvSpPr txBox="1"/>
          <p:nvPr/>
        </p:nvSpPr>
        <p:spPr>
          <a:xfrm>
            <a:off x="6388456" y="407523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811585"/>
            <a:ext cx="4541368" cy="984504"/>
          </a:xfrm>
          <a:prstGeom prst="rect">
            <a:avLst/>
          </a:prstGeom>
          <a:noFill/>
          <a:ln/>
        </p:spPr>
        <p:txBody>
          <a:bodyPr wrap="square" lIns="0" tIns="0" rIns="0" bIns="0" rtlCol="0" anchor="ctr"/>
          <a:lstStyle/>
          <a:p>
            <a:pPr indent="0" marL="0">
              <a:buNone/>
            </a:pPr>
            <a:r>
              <a:rPr lang="id-ID" altLang="en-US" sz="2000" dirty="0">
                <a:solidFill>
                  <a:srgbClr val="1F2328"/>
                </a:solidFill>
              </a:rPr>
              <a:t>Mengisi kedua </a:t>
            </a:r>
            <a:r>
              <a:rPr lang="id-ID" altLang="en-US" sz="2000" i="1" dirty="0">
                <a:solidFill>
                  <a:srgbClr val="1F2328"/>
                </a:solidFill>
              </a:rPr>
              <a:t>method</a:t>
            </a:r>
            <a:r>
              <a:rPr lang="id-ID" altLang="en-US" sz="2000" dirty="0">
                <a:solidFill>
                  <a:srgbClr val="1F2328"/>
                </a:solidFill>
              </a:rPr>
              <a:t> itu dengan isi kosong agar tidak ada </a:t>
            </a:r>
            <a:r>
              <a:rPr lang="id-ID" altLang="en-US" sz="2000" i="1" dirty="0">
                <a:solidFill>
                  <a:srgbClr val="1F2328"/>
                </a:solidFill>
              </a:rPr>
              <a:t>error</a:t>
            </a:r>
            <a:endParaRPr lang="id-ID" sz="2000" dirty="0"/>
          </a:p>
        </p:txBody>
      </p:sp>
      <p:sp>
        <p:nvSpPr>
          <p:cNvPr id="17" name="Shape 13"/>
          <p:cNvSpPr/>
          <p:nvPr/>
        </p:nvSpPr>
        <p:spPr>
          <a:xfrm>
            <a:off x="548640" y="5088697"/>
            <a:ext cx="5455768" cy="894080"/>
          </a:xfrm>
          <a:prstGeom prst="roundRect">
            <a:avLst>
              <a:gd name="adj" fmla="val 12552"/>
            </a:avLst>
          </a:prstGeom>
          <a:solidFill>
            <a:srgbClr val="FFFFFF"/>
          </a:solidFill>
          <a:ln w="9525">
            <a:solidFill>
              <a:srgbClr val="D0D7DE"/>
            </a:solidFill>
            <a:prstDash val="solid"/>
          </a:ln>
        </p:spPr>
      </p:sp>
      <p:sp>
        <p:nvSpPr>
          <p:cNvPr id="18" name="Shape 14"/>
          <p:cNvSpPr/>
          <p:nvPr/>
        </p:nvSpPr>
        <p:spPr>
          <a:xfrm>
            <a:off x="749808" y="5307137"/>
            <a:ext cx="457200" cy="457200"/>
          </a:xfrm>
          <a:prstGeom prst="ellipse">
            <a:avLst/>
          </a:prstGeom>
          <a:solidFill>
            <a:srgbClr val="8250DF"/>
          </a:solidFill>
          <a:ln/>
        </p:spPr>
      </p:sp>
      <p:sp>
        <p:nvSpPr>
          <p:cNvPr id="19" name="Text 15"/>
          <p:cNvSpPr txBox="1"/>
          <p:nvPr/>
        </p:nvSpPr>
        <p:spPr>
          <a:xfrm>
            <a:off x="749808" y="530713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5198425"/>
            <a:ext cx="4541368" cy="674624"/>
          </a:xfrm>
          <a:prstGeom prst="rect">
            <a:avLst/>
          </a:prstGeom>
          <a:noFill/>
          <a:ln/>
        </p:spPr>
        <p:txBody>
          <a:bodyPr wrap="square" lIns="0" tIns="0" rIns="0" bIns="0" rtlCol="0" anchor="ctr"/>
          <a:lstStyle/>
          <a:p>
            <a:pPr indent="0" marL="0">
              <a:buNone/>
            </a:pPr>
            <a:r>
              <a:rPr lang="id-ID" altLang="en-US" sz="2000" dirty="0">
                <a:solidFill>
                  <a:srgbClr val="1F2328"/>
                </a:solidFill>
              </a:rPr>
              <a:t>Menambahkan lebih banyak </a:t>
            </a:r>
            <a:r>
              <a:rPr lang="id-ID" altLang="en-US" sz="2000" i="1" dirty="0">
                <a:solidFill>
                  <a:srgbClr val="1F2328"/>
                </a:solidFill>
              </a:rPr>
              <a:t>method</a:t>
            </a:r>
            <a:r>
              <a:rPr lang="id-ID" altLang="en-US" sz="2000" dirty="0">
                <a:solidFill>
                  <a:srgbClr val="1F2328"/>
                </a:solidFill>
              </a:rPr>
              <a:t> ke </a:t>
            </a:r>
            <a:r>
              <a:rPr lang="id-ID" altLang="en-US" sz="2000" dirty="0">
                <a:solidFill>
                  <a:srgbClr val="0A3069"/>
                </a:solidFill>
                <a:latin typeface="Consolas" pitchFamily="34" charset="0"/>
                <a:ea typeface="Consolas" pitchFamily="34" charset="-122"/>
                <a:cs typeface="Consolas" pitchFamily="34" charset="-120"/>
              </a:rPr>
              <a:t>PerangkatKasir</a:t>
            </a:r>
            <a:r>
              <a:rPr lang="id-ID" altLang="en-US" sz="2000" dirty="0">
                <a:solidFill>
                  <a:srgbClr val="1F2328"/>
                </a:solidFill>
              </a:rPr>
              <a:t> agar lengkap</a:t>
            </a:r>
            <a:endParaRPr lang="id-ID" sz="2000" dirty="0"/>
          </a:p>
        </p:txBody>
      </p:sp>
      <p:sp>
        <p:nvSpPr>
          <p:cNvPr id="21" name="Shape 17"/>
          <p:cNvSpPr/>
          <p:nvPr/>
        </p:nvSpPr>
        <p:spPr>
          <a:xfrm>
            <a:off x="6187288" y="5088697"/>
            <a:ext cx="5455768" cy="894080"/>
          </a:xfrm>
          <a:prstGeom prst="roundRect">
            <a:avLst>
              <a:gd name="adj" fmla="val 12552"/>
            </a:avLst>
          </a:prstGeom>
          <a:solidFill>
            <a:srgbClr val="FFFFFF"/>
          </a:solidFill>
          <a:ln w="9525">
            <a:solidFill>
              <a:srgbClr val="D0D7DE"/>
            </a:solidFill>
            <a:prstDash val="solid"/>
          </a:ln>
        </p:spPr>
      </p:sp>
      <p:sp>
        <p:nvSpPr>
          <p:cNvPr id="22" name="Shape 18"/>
          <p:cNvSpPr/>
          <p:nvPr/>
        </p:nvSpPr>
        <p:spPr>
          <a:xfrm>
            <a:off x="6388456" y="5307137"/>
            <a:ext cx="457200" cy="457200"/>
          </a:xfrm>
          <a:prstGeom prst="ellipse">
            <a:avLst/>
          </a:prstGeom>
          <a:solidFill>
            <a:srgbClr val="8250DF"/>
          </a:solidFill>
          <a:ln/>
        </p:spPr>
      </p:sp>
      <p:sp>
        <p:nvSpPr>
          <p:cNvPr id="23" name="Text 19"/>
          <p:cNvSpPr txBox="1"/>
          <p:nvPr/>
        </p:nvSpPr>
        <p:spPr>
          <a:xfrm>
            <a:off x="6388456" y="5307137"/>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5198425"/>
            <a:ext cx="4541368" cy="674624"/>
          </a:xfrm>
          <a:prstGeom prst="rect">
            <a:avLst/>
          </a:prstGeom>
          <a:noFill/>
          <a:ln/>
        </p:spPr>
        <p:txBody>
          <a:bodyPr wrap="square" lIns="0" tIns="0" rIns="0" bIns="0" rtlCol="0" anchor="ctr"/>
          <a:lstStyle/>
          <a:p>
            <a:pPr indent="0" marL="0">
              <a:buNone/>
            </a:pPr>
            <a:r>
              <a:rPr lang="id-ID" altLang="en-US" sz="2000" dirty="0">
                <a:solidFill>
                  <a:srgbClr val="1F2328"/>
                </a:solidFill>
              </a:rPr>
              <a:t>Menghapus semua kontrak dan memeriksa jenis perangkat dengan percabangan</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545123"/>
            <a:ext cx="11094415" cy="739140"/>
          </a:xfrm>
          <a:prstGeom prst="roundRect">
            <a:avLst>
              <a:gd name="adj" fmla="val 18365"/>
            </a:avLst>
          </a:prstGeom>
          <a:solidFill>
            <a:srgbClr val="F6F8FA"/>
          </a:solidFill>
          <a:ln w="9525">
            <a:solidFill>
              <a:srgbClr val="D0D7DE"/>
            </a:solidFill>
            <a:prstDash val="solid"/>
          </a:ln>
        </p:spPr>
      </p:sp>
      <p:sp>
        <p:nvSpPr>
          <p:cNvPr id="6" name="Text 3"/>
          <p:cNvSpPr txBox="1"/>
          <p:nvPr/>
        </p:nvSpPr>
        <p:spPr>
          <a:xfrm>
            <a:off x="822960" y="1682283"/>
            <a:ext cx="10545775" cy="464820"/>
          </a:xfrm>
          <a:prstGeom prst="rect">
            <a:avLst/>
          </a:prstGeom>
          <a:noFill/>
          <a:ln/>
        </p:spPr>
        <p:txBody>
          <a:bodyPr wrap="square" lIns="0" tIns="0" rIns="0" bIns="0" rtlCol="0" anchor="t"/>
          <a:lstStyle/>
          <a:p>
            <a:pPr indent="0" marL="0">
              <a:buNone/>
            </a:pPr>
            <a:r>
              <a:rPr lang="id-ID" altLang="en-US" sz="1500" dirty="0">
                <a:solidFill>
                  <a:srgbClr val="57606A"/>
                </a:solidFill>
              </a:rPr>
              <a:t>Kontrak </a:t>
            </a:r>
            <a:r>
              <a:rPr lang="id-ID" altLang="en-US" sz="1500" dirty="0">
                <a:solidFill>
                  <a:srgbClr val="0A3069"/>
                </a:solidFill>
                <a:latin typeface="Consolas" pitchFamily="34" charset="0"/>
                <a:ea typeface="Consolas" pitchFamily="34" charset="-122"/>
                <a:cs typeface="Consolas" pitchFamily="34" charset="-120"/>
              </a:rPr>
              <a:t>PerangkatKasir</a:t>
            </a:r>
            <a:r>
              <a:rPr lang="id-ID" altLang="en-US" sz="1500" dirty="0">
                <a:solidFill>
                  <a:srgbClr val="57606A"/>
                </a:solidFill>
              </a:rPr>
              <a:t> mewajibkan </a:t>
            </a:r>
            <a:r>
              <a:rPr lang="id-ID" altLang="en-US" sz="1500" dirty="0">
                <a:solidFill>
                  <a:srgbClr val="0A3069"/>
                </a:solidFill>
                <a:latin typeface="Consolas" pitchFamily="34" charset="0"/>
                <a:ea typeface="Consolas" pitchFamily="34" charset="-122"/>
                <a:cs typeface="Consolas" pitchFamily="34" charset="-120"/>
              </a:rPr>
              <a:t>cetak_struk()</a:t>
            </a:r>
            <a:r>
              <a:rPr lang="id-ID" altLang="en-US" sz="1500" dirty="0">
                <a:solidFill>
                  <a:srgbClr val="57606A"/>
                </a:solidFill>
              </a:rPr>
              <a:t>, </a:t>
            </a:r>
            <a:r>
              <a:rPr lang="id-ID" altLang="en-US" sz="1500" dirty="0">
                <a:solidFill>
                  <a:srgbClr val="0A3069"/>
                </a:solidFill>
                <a:latin typeface="Consolas" pitchFamily="34" charset="0"/>
                <a:ea typeface="Consolas" pitchFamily="34" charset="-122"/>
                <a:cs typeface="Consolas" pitchFamily="34" charset="-120"/>
              </a:rPr>
              <a:t>pindai_barcode()</a:t>
            </a:r>
            <a:r>
              <a:rPr lang="id-ID" altLang="en-US" sz="1500" dirty="0">
                <a:solidFill>
                  <a:srgbClr val="57606A"/>
                </a:solidFill>
              </a:rPr>
              <a:t>, dan </a:t>
            </a:r>
            <a:r>
              <a:rPr lang="id-ID" altLang="en-US" sz="1500" dirty="0">
                <a:solidFill>
                  <a:srgbClr val="0A3069"/>
                </a:solidFill>
                <a:latin typeface="Consolas" pitchFamily="34" charset="0"/>
                <a:ea typeface="Consolas" pitchFamily="34" charset="-122"/>
                <a:cs typeface="Consolas" pitchFamily="34" charset="-120"/>
              </a:rPr>
              <a:t>buka_laci()</a:t>
            </a:r>
            <a:r>
              <a:rPr lang="id-ID" altLang="en-US" sz="1500" dirty="0">
                <a:solidFill>
                  <a:srgbClr val="57606A"/>
                </a:solidFill>
              </a:rPr>
              <a:t>. Printer Bluetooth yang hanya bisa mencetak terpaksa mengisi dua </a:t>
            </a:r>
            <a:r>
              <a:rPr lang="id-ID" altLang="en-US" sz="1500" i="1" dirty="0">
                <a:solidFill>
                  <a:srgbClr val="57606A"/>
                </a:solidFill>
              </a:rPr>
              <a:t>method</a:t>
            </a:r>
            <a:r>
              <a:rPr lang="id-ID" altLang="en-US" sz="1500" dirty="0">
                <a:solidFill>
                  <a:srgbClr val="57606A"/>
                </a:solidFill>
              </a:rPr>
              <a:t> lain dengan melempar </a:t>
            </a:r>
            <a:r>
              <a:rPr lang="id-ID" altLang="en-US" sz="1500" i="1" dirty="0">
                <a:solidFill>
                  <a:srgbClr val="57606A"/>
                </a:solidFill>
              </a:rPr>
              <a:t>error</a:t>
            </a:r>
            <a:r>
              <a:rPr lang="id-ID" altLang="en-US" sz="1500" dirty="0">
                <a:solidFill>
                  <a:srgbClr val="57606A"/>
                </a:solidFill>
              </a:rPr>
              <a:t>. Perbaikan yang paling tepat adalah ...</a:t>
            </a:r>
            <a:endParaRPr lang="id-ID" sz="1500" dirty="0"/>
          </a:p>
        </p:txBody>
      </p:sp>
      <p:sp>
        <p:nvSpPr>
          <p:cNvPr id="7" name="Shape 4"/>
          <p:cNvSpPr/>
          <p:nvPr/>
        </p:nvSpPr>
        <p:spPr>
          <a:xfrm>
            <a:off x="548640" y="2467143"/>
            <a:ext cx="5455768" cy="1018032"/>
          </a:xfrm>
          <a:prstGeom prst="roundRect">
            <a:avLst>
              <a:gd name="adj" fmla="val 9681"/>
            </a:avLst>
          </a:prstGeom>
          <a:solidFill>
            <a:srgbClr val="DAFBE1"/>
          </a:solidFill>
          <a:ln w="22225">
            <a:solidFill>
              <a:srgbClr val="1A7F37"/>
            </a:solidFill>
            <a:prstDash val="solid"/>
          </a:ln>
        </p:spPr>
      </p:sp>
      <p:sp>
        <p:nvSpPr>
          <p:cNvPr id="8" name="Shape 5"/>
          <p:cNvSpPr/>
          <p:nvPr/>
        </p:nvSpPr>
        <p:spPr>
          <a:xfrm>
            <a:off x="749808" y="2793279"/>
            <a:ext cx="365760" cy="365760"/>
          </a:xfrm>
          <a:prstGeom prst="ellipse">
            <a:avLst/>
          </a:prstGeom>
          <a:solidFill>
            <a:srgbClr val="1A7F37"/>
          </a:solidFill>
          <a:ln/>
        </p:spPr>
      </p:sp>
      <p:pic>
        <p:nvPicPr>
          <p:cNvPr id="9" name="Image 1" descr="preencoded.png">    </p:cNvPr>
          <p:cNvPicPr>
            <a:picLocks noChangeAspect="1"/>
          </p:cNvPicPr>
          <p:nvPr/>
        </p:nvPicPr>
        <p:blipFill>
          <a:blip r:embed="rId2"/>
          <a:stretch>
            <a:fillRect/>
          </a:stretch>
        </p:blipFill>
        <p:spPr>
          <a:xfrm>
            <a:off x="830275" y="2873746"/>
            <a:ext cx="204826" cy="204826"/>
          </a:xfrm>
          <a:prstGeom prst="rect">
            <a:avLst/>
          </a:prstGeom>
        </p:spPr>
      </p:pic>
      <p:sp>
        <p:nvSpPr>
          <p:cNvPr id="10" name="Text 6"/>
          <p:cNvSpPr txBox="1"/>
          <p:nvPr/>
        </p:nvSpPr>
        <p:spPr>
          <a:xfrm>
            <a:off x="1353312" y="2576871"/>
            <a:ext cx="4541368" cy="798576"/>
          </a:xfrm>
          <a:prstGeom prst="rect">
            <a:avLst/>
          </a:prstGeom>
          <a:noFill/>
          <a:ln/>
        </p:spPr>
        <p:txBody>
          <a:bodyPr wrap="square" lIns="0" tIns="0" rIns="0" bIns="0" rtlCol="0" anchor="ctr"/>
          <a:lstStyle/>
          <a:p>
            <a:pPr indent="0" marL="0">
              <a:buNone/>
            </a:pPr>
            <a:r>
              <a:rPr lang="id-ID" altLang="en-US" sz="1600" dirty="0">
                <a:solidFill>
                  <a:srgbClr val="1F2328"/>
                </a:solidFill>
              </a:rPr>
              <a:t>Memecah kontrak menjadi kontrak kecil seperti </a:t>
            </a:r>
            <a:r>
              <a:rPr lang="id-ID" altLang="en-US" sz="1600" dirty="0">
                <a:solidFill>
                  <a:srgbClr val="0A3069"/>
                </a:solidFill>
                <a:latin typeface="Consolas" pitchFamily="34" charset="0"/>
                <a:ea typeface="Consolas" pitchFamily="34" charset="-122"/>
                <a:cs typeface="Consolas" pitchFamily="34" charset="-120"/>
              </a:rPr>
              <a:t>PencetakStruk</a:t>
            </a:r>
            <a:r>
              <a:rPr lang="id-ID" altLang="en-US" sz="1600" dirty="0">
                <a:solidFill>
                  <a:srgbClr val="1F2328"/>
                </a:solidFill>
              </a:rPr>
              <a:t>, </a:t>
            </a:r>
            <a:r>
              <a:rPr lang="id-ID" altLang="en-US" sz="1600" dirty="0">
                <a:solidFill>
                  <a:srgbClr val="0A3069"/>
                </a:solidFill>
                <a:latin typeface="Consolas" pitchFamily="34" charset="0"/>
                <a:ea typeface="Consolas" pitchFamily="34" charset="-122"/>
                <a:cs typeface="Consolas" pitchFamily="34" charset="-120"/>
              </a:rPr>
              <a:t>PemindaiBarcode</a:t>
            </a:r>
            <a:r>
              <a:rPr lang="id-ID" altLang="en-US" sz="1600" dirty="0">
                <a:solidFill>
                  <a:srgbClr val="1F2328"/>
                </a:solidFill>
              </a:rPr>
              <a:t>, dan </a:t>
            </a:r>
            <a:r>
              <a:rPr lang="id-ID" altLang="en-US" sz="1600" dirty="0">
                <a:solidFill>
                  <a:srgbClr val="0A3069"/>
                </a:solidFill>
                <a:latin typeface="Consolas" pitchFamily="34" charset="0"/>
                <a:ea typeface="Consolas" pitchFamily="34" charset="-122"/>
                <a:cs typeface="Consolas" pitchFamily="34" charset="-120"/>
              </a:rPr>
              <a:t>LaciUang</a:t>
            </a:r>
            <a:endParaRPr lang="id-ID" sz="1600" dirty="0"/>
          </a:p>
        </p:txBody>
      </p:sp>
      <p:sp>
        <p:nvSpPr>
          <p:cNvPr id="11" name="Shape 7"/>
          <p:cNvSpPr/>
          <p:nvPr/>
        </p:nvSpPr>
        <p:spPr>
          <a:xfrm>
            <a:off x="6187288" y="2467143"/>
            <a:ext cx="5455768" cy="1018032"/>
          </a:xfrm>
          <a:prstGeom prst="roundRect">
            <a:avLst>
              <a:gd name="adj" fmla="val 9681"/>
            </a:avLst>
          </a:prstGeom>
          <a:solidFill>
            <a:srgbClr val="FFFFFF"/>
          </a:solidFill>
          <a:ln w="9525">
            <a:solidFill>
              <a:srgbClr val="D0D7DE"/>
            </a:solidFill>
            <a:prstDash val="solid"/>
          </a:ln>
        </p:spPr>
      </p:sp>
      <p:sp>
        <p:nvSpPr>
          <p:cNvPr id="12" name="Shape 8"/>
          <p:cNvSpPr/>
          <p:nvPr/>
        </p:nvSpPr>
        <p:spPr>
          <a:xfrm>
            <a:off x="6388456" y="2793279"/>
            <a:ext cx="365760" cy="365760"/>
          </a:xfrm>
          <a:prstGeom prst="ellipse">
            <a:avLst/>
          </a:prstGeom>
          <a:solidFill>
            <a:srgbClr val="8C959F"/>
          </a:solidFill>
          <a:ln/>
        </p:spPr>
      </p:sp>
      <p:sp>
        <p:nvSpPr>
          <p:cNvPr id="13" name="Text 9"/>
          <p:cNvSpPr txBox="1"/>
          <p:nvPr/>
        </p:nvSpPr>
        <p:spPr>
          <a:xfrm>
            <a:off x="6388456" y="2793279"/>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B</a:t>
            </a:r>
            <a:endParaRPr lang="id-ID" sz="1400" dirty="0"/>
          </a:p>
        </p:txBody>
      </p:sp>
      <p:sp>
        <p:nvSpPr>
          <p:cNvPr id="14" name="Text 10"/>
          <p:cNvSpPr txBox="1"/>
          <p:nvPr/>
        </p:nvSpPr>
        <p:spPr>
          <a:xfrm>
            <a:off x="6991960" y="2576871"/>
            <a:ext cx="4541368" cy="798576"/>
          </a:xfrm>
          <a:prstGeom prst="rect">
            <a:avLst/>
          </a:prstGeom>
          <a:noFill/>
          <a:ln/>
        </p:spPr>
        <p:txBody>
          <a:bodyPr wrap="square" lIns="0" tIns="0" rIns="0" bIns="0" rtlCol="0" anchor="ctr"/>
          <a:lstStyle/>
          <a:p>
            <a:pPr indent="0" marL="0">
              <a:buNone/>
            </a:pPr>
            <a:r>
              <a:rPr lang="id-ID" altLang="en-US" sz="1600" dirty="0">
                <a:solidFill>
                  <a:srgbClr val="57606A"/>
                </a:solidFill>
              </a:rPr>
              <a:t>Mengisi kedua </a:t>
            </a:r>
            <a:r>
              <a:rPr lang="id-ID" altLang="en-US" sz="1600" i="1" dirty="0">
                <a:solidFill>
                  <a:srgbClr val="57606A"/>
                </a:solidFill>
              </a:rPr>
              <a:t>method</a:t>
            </a:r>
            <a:r>
              <a:rPr lang="id-ID" altLang="en-US" sz="1600" dirty="0">
                <a:solidFill>
                  <a:srgbClr val="57606A"/>
                </a:solidFill>
              </a:rPr>
              <a:t> itu dengan isi kosong agar tidak ada </a:t>
            </a:r>
            <a:r>
              <a:rPr lang="id-ID" altLang="en-US" sz="1600" i="1" dirty="0">
                <a:solidFill>
                  <a:srgbClr val="57606A"/>
                </a:solidFill>
              </a:rPr>
              <a:t>error</a:t>
            </a:r>
            <a:endParaRPr lang="id-ID" sz="1600" dirty="0"/>
          </a:p>
        </p:txBody>
      </p:sp>
      <p:sp>
        <p:nvSpPr>
          <p:cNvPr id="15" name="Shape 11"/>
          <p:cNvSpPr/>
          <p:nvPr/>
        </p:nvSpPr>
        <p:spPr>
          <a:xfrm>
            <a:off x="548640" y="3668055"/>
            <a:ext cx="5455768" cy="770128"/>
          </a:xfrm>
          <a:prstGeom prst="roundRect">
            <a:avLst>
              <a:gd name="adj" fmla="val 16917"/>
            </a:avLst>
          </a:prstGeom>
          <a:solidFill>
            <a:srgbClr val="FFFFFF"/>
          </a:solidFill>
          <a:ln w="9525">
            <a:solidFill>
              <a:srgbClr val="D0D7DE"/>
            </a:solidFill>
            <a:prstDash val="solid"/>
          </a:ln>
        </p:spPr>
      </p:sp>
      <p:sp>
        <p:nvSpPr>
          <p:cNvPr id="16" name="Shape 12"/>
          <p:cNvSpPr/>
          <p:nvPr/>
        </p:nvSpPr>
        <p:spPr>
          <a:xfrm>
            <a:off x="749808" y="3870239"/>
            <a:ext cx="365760" cy="365760"/>
          </a:xfrm>
          <a:prstGeom prst="ellipse">
            <a:avLst/>
          </a:prstGeom>
          <a:solidFill>
            <a:srgbClr val="8C959F"/>
          </a:solidFill>
          <a:ln/>
        </p:spPr>
      </p:sp>
      <p:sp>
        <p:nvSpPr>
          <p:cNvPr id="17" name="Text 13"/>
          <p:cNvSpPr txBox="1"/>
          <p:nvPr/>
        </p:nvSpPr>
        <p:spPr>
          <a:xfrm>
            <a:off x="749808" y="3870239"/>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C</a:t>
            </a:r>
            <a:endParaRPr lang="id-ID" sz="1400" dirty="0"/>
          </a:p>
        </p:txBody>
      </p:sp>
      <p:sp>
        <p:nvSpPr>
          <p:cNvPr id="18" name="Text 14"/>
          <p:cNvSpPr txBox="1"/>
          <p:nvPr/>
        </p:nvSpPr>
        <p:spPr>
          <a:xfrm>
            <a:off x="1353312" y="3777783"/>
            <a:ext cx="4541368" cy="550672"/>
          </a:xfrm>
          <a:prstGeom prst="rect">
            <a:avLst/>
          </a:prstGeom>
          <a:noFill/>
          <a:ln/>
        </p:spPr>
        <p:txBody>
          <a:bodyPr wrap="square" lIns="0" tIns="0" rIns="0" bIns="0" rtlCol="0" anchor="ctr"/>
          <a:lstStyle/>
          <a:p>
            <a:pPr indent="0" marL="0">
              <a:buNone/>
            </a:pPr>
            <a:r>
              <a:rPr lang="id-ID" altLang="en-US" sz="1600" dirty="0">
                <a:solidFill>
                  <a:srgbClr val="57606A"/>
                </a:solidFill>
              </a:rPr>
              <a:t>Menambahkan lebih banyak </a:t>
            </a:r>
            <a:r>
              <a:rPr lang="id-ID" altLang="en-US" sz="1600" i="1" dirty="0">
                <a:solidFill>
                  <a:srgbClr val="57606A"/>
                </a:solidFill>
              </a:rPr>
              <a:t>method</a:t>
            </a:r>
            <a:r>
              <a:rPr lang="id-ID" altLang="en-US" sz="1600" dirty="0">
                <a:solidFill>
                  <a:srgbClr val="57606A"/>
                </a:solidFill>
              </a:rPr>
              <a:t> ke </a:t>
            </a:r>
            <a:r>
              <a:rPr lang="id-ID" altLang="en-US" sz="1600" dirty="0">
                <a:solidFill>
                  <a:srgbClr val="0A3069"/>
                </a:solidFill>
                <a:latin typeface="Consolas" pitchFamily="34" charset="0"/>
                <a:ea typeface="Consolas" pitchFamily="34" charset="-122"/>
                <a:cs typeface="Consolas" pitchFamily="34" charset="-120"/>
              </a:rPr>
              <a:t>PerangkatKasir</a:t>
            </a:r>
            <a:r>
              <a:rPr lang="id-ID" altLang="en-US" sz="1600" dirty="0">
                <a:solidFill>
                  <a:srgbClr val="57606A"/>
                </a:solidFill>
              </a:rPr>
              <a:t> agar lengkap</a:t>
            </a:r>
            <a:endParaRPr lang="id-ID" sz="1600" dirty="0"/>
          </a:p>
        </p:txBody>
      </p:sp>
      <p:sp>
        <p:nvSpPr>
          <p:cNvPr id="19" name="Shape 15"/>
          <p:cNvSpPr/>
          <p:nvPr/>
        </p:nvSpPr>
        <p:spPr>
          <a:xfrm>
            <a:off x="6187288" y="3668055"/>
            <a:ext cx="5455768" cy="770128"/>
          </a:xfrm>
          <a:prstGeom prst="roundRect">
            <a:avLst>
              <a:gd name="adj" fmla="val 16917"/>
            </a:avLst>
          </a:prstGeom>
          <a:solidFill>
            <a:srgbClr val="FFFFFF"/>
          </a:solidFill>
          <a:ln w="9525">
            <a:solidFill>
              <a:srgbClr val="D0D7DE"/>
            </a:solidFill>
            <a:prstDash val="solid"/>
          </a:ln>
        </p:spPr>
      </p:sp>
      <p:sp>
        <p:nvSpPr>
          <p:cNvPr id="20" name="Shape 16"/>
          <p:cNvSpPr/>
          <p:nvPr/>
        </p:nvSpPr>
        <p:spPr>
          <a:xfrm>
            <a:off x="6388456" y="3870239"/>
            <a:ext cx="365760" cy="365760"/>
          </a:xfrm>
          <a:prstGeom prst="ellipse">
            <a:avLst/>
          </a:prstGeom>
          <a:solidFill>
            <a:srgbClr val="8C959F"/>
          </a:solidFill>
          <a:ln/>
        </p:spPr>
      </p:sp>
      <p:sp>
        <p:nvSpPr>
          <p:cNvPr id="21" name="Text 17"/>
          <p:cNvSpPr txBox="1"/>
          <p:nvPr/>
        </p:nvSpPr>
        <p:spPr>
          <a:xfrm>
            <a:off x="6388456" y="3870239"/>
            <a:ext cx="365760" cy="365760"/>
          </a:xfrm>
          <a:prstGeom prst="rect">
            <a:avLst/>
          </a:prstGeom>
          <a:noFill/>
          <a:ln/>
        </p:spPr>
        <p:txBody>
          <a:bodyPr wrap="square" lIns="0" tIns="0" rIns="0" bIns="0" rtlCol="0" anchor="ctr"/>
          <a:lstStyle/>
          <a:p>
            <a:pPr algn="ctr" indent="0" marL="0">
              <a:buNone/>
            </a:pPr>
            <a:r>
              <a:rPr lang="id-ID" altLang="en-US" sz="1400" b="1" dirty="0">
                <a:solidFill>
                  <a:srgbClr val="FFFFFF"/>
                </a:solidFill>
              </a:rPr>
              <a:t>D</a:t>
            </a:r>
            <a:endParaRPr lang="id-ID" sz="1400" dirty="0"/>
          </a:p>
        </p:txBody>
      </p:sp>
      <p:sp>
        <p:nvSpPr>
          <p:cNvPr id="22" name="Text 18"/>
          <p:cNvSpPr txBox="1"/>
          <p:nvPr/>
        </p:nvSpPr>
        <p:spPr>
          <a:xfrm>
            <a:off x="6991960" y="3777783"/>
            <a:ext cx="4541368" cy="550672"/>
          </a:xfrm>
          <a:prstGeom prst="rect">
            <a:avLst/>
          </a:prstGeom>
          <a:noFill/>
          <a:ln/>
        </p:spPr>
        <p:txBody>
          <a:bodyPr wrap="square" lIns="0" tIns="0" rIns="0" bIns="0" rtlCol="0" anchor="ctr"/>
          <a:lstStyle/>
          <a:p>
            <a:pPr indent="0" marL="0">
              <a:buNone/>
            </a:pPr>
            <a:r>
              <a:rPr lang="id-ID" altLang="en-US" sz="1600" dirty="0">
                <a:solidFill>
                  <a:srgbClr val="57606A"/>
                </a:solidFill>
              </a:rPr>
              <a:t>Menghapus semua kontrak dan memeriksa jenis perangkat dengan percabangan</a:t>
            </a:r>
            <a:endParaRPr lang="id-ID" sz="1600" dirty="0"/>
          </a:p>
        </p:txBody>
      </p:sp>
      <p:sp>
        <p:nvSpPr>
          <p:cNvPr id="23" name="Shape 19"/>
          <p:cNvSpPr/>
          <p:nvPr/>
        </p:nvSpPr>
        <p:spPr>
          <a:xfrm>
            <a:off x="548640" y="4639351"/>
            <a:ext cx="11094415" cy="1383792"/>
          </a:xfrm>
          <a:prstGeom prst="roundRect">
            <a:avLst>
              <a:gd name="adj" fmla="val 5240"/>
            </a:avLst>
          </a:prstGeom>
          <a:solidFill>
            <a:srgbClr val="FFF8C5"/>
          </a:solidFill>
          <a:ln w="9525">
            <a:solidFill>
              <a:srgbClr val="D4A72C"/>
            </a:solidFill>
            <a:prstDash val="solid"/>
          </a:ln>
        </p:spPr>
      </p:sp>
      <p:sp>
        <p:nvSpPr>
          <p:cNvPr id="24" name="Shape 20"/>
          <p:cNvSpPr/>
          <p:nvPr/>
        </p:nvSpPr>
        <p:spPr>
          <a:xfrm>
            <a:off x="777240" y="4822231"/>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922815"/>
            <a:ext cx="256032" cy="256032"/>
          </a:xfrm>
          <a:prstGeom prst="rect">
            <a:avLst/>
          </a:prstGeom>
        </p:spPr>
      </p:pic>
      <p:sp>
        <p:nvSpPr>
          <p:cNvPr id="26" name="Text 21"/>
          <p:cNvSpPr txBox="1"/>
          <p:nvPr/>
        </p:nvSpPr>
        <p:spPr>
          <a:xfrm>
            <a:off x="1417320" y="4776511"/>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A</a:t>
            </a:r>
            <a:endParaRPr lang="id-ID" sz="1600" dirty="0"/>
          </a:p>
        </p:txBody>
      </p:sp>
      <p:sp>
        <p:nvSpPr>
          <p:cNvPr id="27" name="Text 22"/>
          <p:cNvSpPr txBox="1"/>
          <p:nvPr/>
        </p:nvSpPr>
        <p:spPr>
          <a:xfrm>
            <a:off x="1417320" y="5114839"/>
            <a:ext cx="9951415" cy="835152"/>
          </a:xfrm>
          <a:prstGeom prst="rect">
            <a:avLst/>
          </a:prstGeom>
          <a:noFill/>
          <a:ln/>
        </p:spPr>
        <p:txBody>
          <a:bodyPr wrap="square" lIns="0" tIns="0" rIns="0" bIns="0" rtlCol="0" anchor="t"/>
          <a:lstStyle/>
          <a:p>
            <a:pPr indent="0" marL="0">
              <a:buNone/>
            </a:pPr>
            <a:r>
              <a:rPr lang="id-ID" altLang="en-US" sz="1600" dirty="0">
                <a:solidFill>
                  <a:srgbClr val="1F2328"/>
                </a:solidFill>
              </a:rPr>
              <a:t>ISP meminta </a:t>
            </a:r>
            <a:r>
              <a:rPr lang="id-ID" altLang="en-US" sz="1600" i="1" dirty="0">
                <a:solidFill>
                  <a:srgbClr val="1F2328"/>
                </a:solidFill>
              </a:rPr>
              <a:t>interface</a:t>
            </a:r>
            <a:r>
              <a:rPr lang="id-ID" altLang="en-US" sz="1600" dirty="0">
                <a:solidFill>
                  <a:srgbClr val="1F2328"/>
                </a:solidFill>
              </a:rPr>
              <a:t> kecil yang fokus sehingga setiap perangkat hanya berjanji sebanyak kemampuannya. Pilihan B menyembunyikan masalah: pemanggil mengira pemindaian berhasil padahal tidak terjadi apa-⁠apa (tetap melanggar LSP). Pilihan C memperparah kontrak gemuk, dan pilihan D kembali ke rantai percabangan yang melanggar OCP.</a:t>
            </a:r>
            <a:endParaRPr lang="id-ID"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a:t>
            </a:r>
            <a:endParaRPr lang="id-ID" sz="3200" dirty="0"/>
          </a:p>
        </p:txBody>
      </p:sp>
      <p:sp>
        <p:nvSpPr>
          <p:cNvPr id="5" name="Shape 2"/>
          <p:cNvSpPr/>
          <p:nvPr/>
        </p:nvSpPr>
        <p:spPr>
          <a:xfrm>
            <a:off x="548640" y="1869985"/>
            <a:ext cx="11094415" cy="1758696"/>
          </a:xfrm>
          <a:prstGeom prst="roundRect">
            <a:avLst>
              <a:gd name="adj" fmla="val 3244"/>
            </a:avLst>
          </a:prstGeom>
          <a:solidFill>
            <a:srgbClr val="FBEFFF"/>
          </a:solidFill>
          <a:ln w="9525">
            <a:solidFill>
              <a:srgbClr val="C297FF"/>
            </a:solidFill>
            <a:prstDash val="solid"/>
          </a:ln>
        </p:spPr>
      </p:sp>
      <p:sp>
        <p:nvSpPr>
          <p:cNvPr id="6" name="Shape 3"/>
          <p:cNvSpPr/>
          <p:nvPr/>
        </p:nvSpPr>
        <p:spPr>
          <a:xfrm>
            <a:off x="777240" y="2520733"/>
            <a:ext cx="457200" cy="457200"/>
          </a:xfrm>
          <a:prstGeom prst="ellipse">
            <a:avLst/>
          </a:prstGeom>
          <a:solidFill>
            <a:srgbClr val="8250DF"/>
          </a:solidFill>
          <a:ln/>
        </p:spPr>
      </p:sp>
      <p:pic>
        <p:nvPicPr>
          <p:cNvPr id="7" name="Image 1" descr="preencoded.png">    </p:cNvPr>
          <p:cNvPicPr>
            <a:picLocks noChangeAspect="1"/>
          </p:cNvPicPr>
          <p:nvPr/>
        </p:nvPicPr>
        <p:blipFill>
          <a:blip r:embed="rId2"/>
          <a:stretch>
            <a:fillRect/>
          </a:stretch>
        </p:blipFill>
        <p:spPr>
          <a:xfrm>
            <a:off x="877824" y="2621317"/>
            <a:ext cx="256032" cy="256032"/>
          </a:xfrm>
          <a:prstGeom prst="rect">
            <a:avLst/>
          </a:prstGeom>
        </p:spPr>
      </p:pic>
      <p:sp>
        <p:nvSpPr>
          <p:cNvPr id="8" name="Text 4"/>
          <p:cNvSpPr txBox="1"/>
          <p:nvPr/>
        </p:nvSpPr>
        <p:spPr>
          <a:xfrm>
            <a:off x="1417320" y="2098585"/>
            <a:ext cx="9951415" cy="1484376"/>
          </a:xfrm>
          <a:prstGeom prst="rect">
            <a:avLst/>
          </a:prstGeom>
          <a:noFill/>
          <a:ln/>
        </p:spPr>
        <p:txBody>
          <a:bodyPr wrap="square" lIns="0" tIns="0" rIns="0" bIns="0" rtlCol="0" anchor="t"/>
          <a:lstStyle/>
          <a:p>
            <a:pPr indent="0" marL="0">
              <a:buNone/>
            </a:pPr>
            <a:r>
              <a:rPr lang="id-ID" altLang="en-US" sz="2800" dirty="0">
                <a:solidFill>
                  <a:srgbClr val="1F2328"/>
                </a:solidFill>
              </a:rPr>
              <a:t>Di KedaiKita versi sesudah </a:t>
            </a:r>
            <a:r>
              <a:rPr lang="id-ID" altLang="en-US" sz="2800" i="1" dirty="0">
                <a:solidFill>
                  <a:srgbClr val="1F2328"/>
                </a:solidFill>
              </a:rPr>
              <a:t>refactoring</a:t>
            </a:r>
            <a:r>
              <a:rPr lang="id-ID" altLang="en-US" sz="2800" dirty="0">
                <a:solidFill>
                  <a:srgbClr val="1F2328"/>
                </a:solidFill>
              </a:rPr>
              <a:t>, pemilik ingin struk menampilkan nomor WhatsApp kedai. Kelas mana yang paling tepat diubah?</a:t>
            </a:r>
            <a:endParaRPr lang="id-ID" sz="2800" dirty="0"/>
          </a:p>
        </p:txBody>
      </p:sp>
      <p:sp>
        <p:nvSpPr>
          <p:cNvPr id="9" name="Shape 5"/>
          <p:cNvSpPr/>
          <p:nvPr/>
        </p:nvSpPr>
        <p:spPr>
          <a:xfrm>
            <a:off x="548640" y="3811561"/>
            <a:ext cx="5455768" cy="790042"/>
          </a:xfrm>
          <a:prstGeom prst="roundRect">
            <a:avLst>
              <a:gd name="adj" fmla="val 16075"/>
            </a:avLst>
          </a:prstGeom>
          <a:solidFill>
            <a:srgbClr val="FFFFFF"/>
          </a:solidFill>
          <a:ln w="9525">
            <a:solidFill>
              <a:srgbClr val="D0D7DE"/>
            </a:solidFill>
            <a:prstDash val="solid"/>
          </a:ln>
        </p:spPr>
      </p:sp>
      <p:sp>
        <p:nvSpPr>
          <p:cNvPr id="10" name="Shape 6"/>
          <p:cNvSpPr/>
          <p:nvPr/>
        </p:nvSpPr>
        <p:spPr>
          <a:xfrm>
            <a:off x="749808" y="3977981"/>
            <a:ext cx="457200" cy="457200"/>
          </a:xfrm>
          <a:prstGeom prst="ellipse">
            <a:avLst/>
          </a:prstGeom>
          <a:solidFill>
            <a:srgbClr val="8250DF"/>
          </a:solidFill>
          <a:ln/>
        </p:spPr>
      </p:sp>
      <p:sp>
        <p:nvSpPr>
          <p:cNvPr id="11" name="Text 7"/>
          <p:cNvSpPr txBox="1"/>
          <p:nvPr/>
        </p:nvSpPr>
        <p:spPr>
          <a:xfrm>
            <a:off x="749808"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2" name="Text 8"/>
          <p:cNvSpPr txBox="1"/>
          <p:nvPr/>
        </p:nvSpPr>
        <p:spPr>
          <a:xfrm>
            <a:off x="1353312" y="3921289"/>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Pesanan</a:t>
            </a:r>
            <a:endParaRPr lang="id-ID" sz="2400" dirty="0"/>
          </a:p>
        </p:txBody>
      </p:sp>
      <p:sp>
        <p:nvSpPr>
          <p:cNvPr id="13" name="Shape 9"/>
          <p:cNvSpPr/>
          <p:nvPr/>
        </p:nvSpPr>
        <p:spPr>
          <a:xfrm>
            <a:off x="6187288" y="3811561"/>
            <a:ext cx="5455768" cy="790042"/>
          </a:xfrm>
          <a:prstGeom prst="roundRect">
            <a:avLst>
              <a:gd name="adj" fmla="val 16075"/>
            </a:avLst>
          </a:prstGeom>
          <a:solidFill>
            <a:srgbClr val="FFFFFF"/>
          </a:solidFill>
          <a:ln w="9525">
            <a:solidFill>
              <a:srgbClr val="D0D7DE"/>
            </a:solidFill>
            <a:prstDash val="solid"/>
          </a:ln>
        </p:spPr>
      </p:sp>
      <p:sp>
        <p:nvSpPr>
          <p:cNvPr id="14" name="Shape 10"/>
          <p:cNvSpPr/>
          <p:nvPr/>
        </p:nvSpPr>
        <p:spPr>
          <a:xfrm>
            <a:off x="6388456" y="3977981"/>
            <a:ext cx="457200" cy="457200"/>
          </a:xfrm>
          <a:prstGeom prst="ellipse">
            <a:avLst/>
          </a:prstGeom>
          <a:solidFill>
            <a:srgbClr val="8250DF"/>
          </a:solidFill>
          <a:ln/>
        </p:spPr>
      </p:sp>
      <p:sp>
        <p:nvSpPr>
          <p:cNvPr id="15" name="Text 11"/>
          <p:cNvSpPr txBox="1"/>
          <p:nvPr/>
        </p:nvSpPr>
        <p:spPr>
          <a:xfrm>
            <a:off x="6388456" y="3977981"/>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B</a:t>
            </a:r>
            <a:endParaRPr lang="id-ID" sz="1800" dirty="0"/>
          </a:p>
        </p:txBody>
      </p:sp>
      <p:sp>
        <p:nvSpPr>
          <p:cNvPr id="16" name="Text 12"/>
          <p:cNvSpPr txBox="1"/>
          <p:nvPr/>
        </p:nvSpPr>
        <p:spPr>
          <a:xfrm>
            <a:off x="6991960" y="3921289"/>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StrukPesanan</a:t>
            </a:r>
            <a:endParaRPr lang="id-ID" sz="2400" dirty="0"/>
          </a:p>
        </p:txBody>
      </p:sp>
      <p:sp>
        <p:nvSpPr>
          <p:cNvPr id="17" name="Shape 13"/>
          <p:cNvSpPr/>
          <p:nvPr/>
        </p:nvSpPr>
        <p:spPr>
          <a:xfrm>
            <a:off x="548640" y="4784482"/>
            <a:ext cx="5455768" cy="790042"/>
          </a:xfrm>
          <a:prstGeom prst="roundRect">
            <a:avLst>
              <a:gd name="adj" fmla="val 16075"/>
            </a:avLst>
          </a:prstGeom>
          <a:solidFill>
            <a:srgbClr val="FFFFFF"/>
          </a:solidFill>
          <a:ln w="9525">
            <a:solidFill>
              <a:srgbClr val="D0D7DE"/>
            </a:solidFill>
            <a:prstDash val="solid"/>
          </a:ln>
        </p:spPr>
      </p:sp>
      <p:sp>
        <p:nvSpPr>
          <p:cNvPr id="18" name="Shape 14"/>
          <p:cNvSpPr/>
          <p:nvPr/>
        </p:nvSpPr>
        <p:spPr>
          <a:xfrm>
            <a:off x="749808" y="4950903"/>
            <a:ext cx="457200" cy="457200"/>
          </a:xfrm>
          <a:prstGeom prst="ellipse">
            <a:avLst/>
          </a:prstGeom>
          <a:solidFill>
            <a:srgbClr val="8250DF"/>
          </a:solidFill>
          <a:ln/>
        </p:spPr>
      </p:sp>
      <p:sp>
        <p:nvSpPr>
          <p:cNvPr id="19" name="Text 15"/>
          <p:cNvSpPr txBox="1"/>
          <p:nvPr/>
        </p:nvSpPr>
        <p:spPr>
          <a:xfrm>
            <a:off x="749808"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20" name="Text 16"/>
          <p:cNvSpPr txBox="1"/>
          <p:nvPr/>
        </p:nvSpPr>
        <p:spPr>
          <a:xfrm>
            <a:off x="1353312" y="4894210"/>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Diskon</a:t>
            </a:r>
            <a:endParaRPr lang="id-ID" sz="2400" dirty="0"/>
          </a:p>
        </p:txBody>
      </p:sp>
      <p:sp>
        <p:nvSpPr>
          <p:cNvPr id="21" name="Shape 17"/>
          <p:cNvSpPr/>
          <p:nvPr/>
        </p:nvSpPr>
        <p:spPr>
          <a:xfrm>
            <a:off x="6187288" y="4784482"/>
            <a:ext cx="5455768" cy="790042"/>
          </a:xfrm>
          <a:prstGeom prst="roundRect">
            <a:avLst>
              <a:gd name="adj" fmla="val 16075"/>
            </a:avLst>
          </a:prstGeom>
          <a:solidFill>
            <a:srgbClr val="FFFFFF"/>
          </a:solidFill>
          <a:ln w="9525">
            <a:solidFill>
              <a:srgbClr val="D0D7DE"/>
            </a:solidFill>
            <a:prstDash val="solid"/>
          </a:ln>
        </p:spPr>
      </p:sp>
      <p:sp>
        <p:nvSpPr>
          <p:cNvPr id="22" name="Shape 18"/>
          <p:cNvSpPr/>
          <p:nvPr/>
        </p:nvSpPr>
        <p:spPr>
          <a:xfrm>
            <a:off x="6388456" y="4950903"/>
            <a:ext cx="457200" cy="457200"/>
          </a:xfrm>
          <a:prstGeom prst="ellipse">
            <a:avLst/>
          </a:prstGeom>
          <a:solidFill>
            <a:srgbClr val="8250DF"/>
          </a:solidFill>
          <a:ln/>
        </p:spPr>
      </p:sp>
      <p:sp>
        <p:nvSpPr>
          <p:cNvPr id="23" name="Text 19"/>
          <p:cNvSpPr txBox="1"/>
          <p:nvPr/>
        </p:nvSpPr>
        <p:spPr>
          <a:xfrm>
            <a:off x="6388456" y="4950903"/>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4" name="Text 20"/>
          <p:cNvSpPr txBox="1"/>
          <p:nvPr/>
        </p:nvSpPr>
        <p:spPr>
          <a:xfrm>
            <a:off x="6991960" y="4894210"/>
            <a:ext cx="4541368" cy="570586"/>
          </a:xfrm>
          <a:prstGeom prst="rect">
            <a:avLst/>
          </a:prstGeom>
          <a:noFill/>
          <a:ln/>
        </p:spPr>
        <p:txBody>
          <a:bodyPr wrap="square" lIns="0" tIns="0" rIns="0" bIns="0" rtlCol="0" anchor="ctr"/>
          <a:lstStyle/>
          <a:p>
            <a:pPr indent="0" marL="0">
              <a:buNone/>
            </a:pPr>
            <a:r>
              <a:rPr lang="id-ID" altLang="en-US" sz="2400" dirty="0">
                <a:solidFill>
                  <a:srgbClr val="0A3069"/>
                </a:solidFill>
                <a:latin typeface="Consolas" pitchFamily="34" charset="0"/>
                <a:ea typeface="Consolas" pitchFamily="34" charset="-122"/>
                <a:cs typeface="Consolas" pitchFamily="34" charset="-120"/>
              </a:rPr>
              <a:t>Kedai</a:t>
            </a:r>
            <a:endParaRPr lang="id-ID" sz="2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8250DF"/>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Kuis Cepat: Jawaban</a:t>
            </a:r>
            <a:endParaRPr lang="id-ID" sz="3200" dirty="0"/>
          </a:p>
        </p:txBody>
      </p:sp>
      <p:sp>
        <p:nvSpPr>
          <p:cNvPr id="5" name="Shape 2"/>
          <p:cNvSpPr/>
          <p:nvPr/>
        </p:nvSpPr>
        <p:spPr>
          <a:xfrm>
            <a:off x="548640" y="1495836"/>
            <a:ext cx="11094415" cy="832104"/>
          </a:xfrm>
          <a:prstGeom prst="roundRect">
            <a:avLst>
              <a:gd name="adj" fmla="val 14491"/>
            </a:avLst>
          </a:prstGeom>
          <a:solidFill>
            <a:srgbClr val="F6F8FA"/>
          </a:solidFill>
          <a:ln w="9525">
            <a:solidFill>
              <a:srgbClr val="D0D7DE"/>
            </a:solidFill>
            <a:prstDash val="solid"/>
          </a:ln>
        </p:spPr>
      </p:sp>
      <p:sp>
        <p:nvSpPr>
          <p:cNvPr id="6" name="Text 3"/>
          <p:cNvSpPr txBox="1"/>
          <p:nvPr/>
        </p:nvSpPr>
        <p:spPr>
          <a:xfrm>
            <a:off x="822960" y="1632996"/>
            <a:ext cx="10545775" cy="557784"/>
          </a:xfrm>
          <a:prstGeom prst="rect">
            <a:avLst/>
          </a:prstGeom>
          <a:noFill/>
          <a:ln/>
        </p:spPr>
        <p:txBody>
          <a:bodyPr wrap="square" lIns="0" tIns="0" rIns="0" bIns="0" rtlCol="0" anchor="t"/>
          <a:lstStyle/>
          <a:p>
            <a:pPr indent="0" marL="0">
              <a:buNone/>
            </a:pPr>
            <a:r>
              <a:rPr lang="id-ID" altLang="en-US" sz="1800" dirty="0">
                <a:solidFill>
                  <a:srgbClr val="57606A"/>
                </a:solidFill>
              </a:rPr>
              <a:t>Di KedaiKita versi sesudah </a:t>
            </a:r>
            <a:r>
              <a:rPr lang="id-ID" altLang="en-US" sz="1800" i="1" dirty="0">
                <a:solidFill>
                  <a:srgbClr val="57606A"/>
                </a:solidFill>
              </a:rPr>
              <a:t>refactoring</a:t>
            </a:r>
            <a:r>
              <a:rPr lang="id-ID" altLang="en-US" sz="1800" dirty="0">
                <a:solidFill>
                  <a:srgbClr val="57606A"/>
                </a:solidFill>
              </a:rPr>
              <a:t>, pemilik ingin struk menampilkan nomor WhatsApp kedai. Kelas mana yang paling tepat diubah?</a:t>
            </a:r>
            <a:endParaRPr lang="id-ID" sz="1800" dirty="0"/>
          </a:p>
        </p:txBody>
      </p:sp>
      <p:sp>
        <p:nvSpPr>
          <p:cNvPr id="7" name="Shape 4"/>
          <p:cNvSpPr/>
          <p:nvPr/>
        </p:nvSpPr>
        <p:spPr>
          <a:xfrm>
            <a:off x="548640" y="2510820"/>
            <a:ext cx="5455768" cy="658368"/>
          </a:xfrm>
          <a:prstGeom prst="roundRect">
            <a:avLst>
              <a:gd name="adj" fmla="val 23148"/>
            </a:avLst>
          </a:prstGeom>
          <a:solidFill>
            <a:srgbClr val="FFFFFF"/>
          </a:solidFill>
          <a:ln w="9525">
            <a:solidFill>
              <a:srgbClr val="D0D7DE"/>
            </a:solidFill>
            <a:prstDash val="solid"/>
          </a:ln>
        </p:spPr>
      </p:sp>
      <p:sp>
        <p:nvSpPr>
          <p:cNvPr id="8" name="Shape 5"/>
          <p:cNvSpPr/>
          <p:nvPr/>
        </p:nvSpPr>
        <p:spPr>
          <a:xfrm>
            <a:off x="749808" y="2611404"/>
            <a:ext cx="457200" cy="457200"/>
          </a:xfrm>
          <a:prstGeom prst="ellipse">
            <a:avLst/>
          </a:prstGeom>
          <a:solidFill>
            <a:srgbClr val="8C959F"/>
          </a:solidFill>
          <a:ln/>
        </p:spPr>
      </p:sp>
      <p:sp>
        <p:nvSpPr>
          <p:cNvPr id="9" name="Text 6"/>
          <p:cNvSpPr txBox="1"/>
          <p:nvPr/>
        </p:nvSpPr>
        <p:spPr>
          <a:xfrm>
            <a:off x="749808" y="2611404"/>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A</a:t>
            </a:r>
            <a:endParaRPr lang="id-ID" sz="1800" dirty="0"/>
          </a:p>
        </p:txBody>
      </p:sp>
      <p:sp>
        <p:nvSpPr>
          <p:cNvPr id="10" name="Text 7"/>
          <p:cNvSpPr txBox="1"/>
          <p:nvPr/>
        </p:nvSpPr>
        <p:spPr>
          <a:xfrm>
            <a:off x="1353312" y="2620548"/>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Pesanan</a:t>
            </a:r>
            <a:endParaRPr lang="id-ID" sz="2000" dirty="0"/>
          </a:p>
        </p:txBody>
      </p:sp>
      <p:sp>
        <p:nvSpPr>
          <p:cNvPr id="11" name="Shape 8"/>
          <p:cNvSpPr/>
          <p:nvPr/>
        </p:nvSpPr>
        <p:spPr>
          <a:xfrm>
            <a:off x="6187288" y="2510820"/>
            <a:ext cx="5455768" cy="658368"/>
          </a:xfrm>
          <a:prstGeom prst="roundRect">
            <a:avLst>
              <a:gd name="adj" fmla="val 23148"/>
            </a:avLst>
          </a:prstGeom>
          <a:solidFill>
            <a:srgbClr val="DAFBE1"/>
          </a:solidFill>
          <a:ln w="22225">
            <a:solidFill>
              <a:srgbClr val="1A7F37"/>
            </a:solidFill>
            <a:prstDash val="solid"/>
          </a:ln>
        </p:spPr>
      </p:sp>
      <p:sp>
        <p:nvSpPr>
          <p:cNvPr id="12" name="Shape 9"/>
          <p:cNvSpPr/>
          <p:nvPr/>
        </p:nvSpPr>
        <p:spPr>
          <a:xfrm>
            <a:off x="6388456" y="2611404"/>
            <a:ext cx="457200" cy="457200"/>
          </a:xfrm>
          <a:prstGeom prst="ellipse">
            <a:avLst/>
          </a:prstGeom>
          <a:solidFill>
            <a:srgbClr val="1A7F37"/>
          </a:solidFill>
          <a:ln/>
        </p:spPr>
      </p:sp>
      <p:pic>
        <p:nvPicPr>
          <p:cNvPr id="13" name="Image 1" descr="preencoded.png">    </p:cNvPr>
          <p:cNvPicPr>
            <a:picLocks noChangeAspect="1"/>
          </p:cNvPicPr>
          <p:nvPr/>
        </p:nvPicPr>
        <p:blipFill>
          <a:blip r:embed="rId2"/>
          <a:stretch>
            <a:fillRect/>
          </a:stretch>
        </p:blipFill>
        <p:spPr>
          <a:xfrm>
            <a:off x="6489040" y="2711988"/>
            <a:ext cx="256032" cy="256032"/>
          </a:xfrm>
          <a:prstGeom prst="rect">
            <a:avLst/>
          </a:prstGeom>
        </p:spPr>
      </p:pic>
      <p:sp>
        <p:nvSpPr>
          <p:cNvPr id="14" name="Text 10"/>
          <p:cNvSpPr txBox="1"/>
          <p:nvPr/>
        </p:nvSpPr>
        <p:spPr>
          <a:xfrm>
            <a:off x="6991960" y="2620548"/>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StrukPesanan</a:t>
            </a:r>
            <a:endParaRPr lang="id-ID" sz="2000" dirty="0"/>
          </a:p>
        </p:txBody>
      </p:sp>
      <p:sp>
        <p:nvSpPr>
          <p:cNvPr id="15" name="Shape 11"/>
          <p:cNvSpPr/>
          <p:nvPr/>
        </p:nvSpPr>
        <p:spPr>
          <a:xfrm>
            <a:off x="548640" y="3352068"/>
            <a:ext cx="5455768" cy="658368"/>
          </a:xfrm>
          <a:prstGeom prst="roundRect">
            <a:avLst>
              <a:gd name="adj" fmla="val 23148"/>
            </a:avLst>
          </a:prstGeom>
          <a:solidFill>
            <a:srgbClr val="FFFFFF"/>
          </a:solidFill>
          <a:ln w="9525">
            <a:solidFill>
              <a:srgbClr val="D0D7DE"/>
            </a:solidFill>
            <a:prstDash val="solid"/>
          </a:ln>
        </p:spPr>
      </p:sp>
      <p:sp>
        <p:nvSpPr>
          <p:cNvPr id="16" name="Shape 12"/>
          <p:cNvSpPr/>
          <p:nvPr/>
        </p:nvSpPr>
        <p:spPr>
          <a:xfrm>
            <a:off x="749808" y="3452652"/>
            <a:ext cx="457200" cy="457200"/>
          </a:xfrm>
          <a:prstGeom prst="ellipse">
            <a:avLst/>
          </a:prstGeom>
          <a:solidFill>
            <a:srgbClr val="8C959F"/>
          </a:solidFill>
          <a:ln/>
        </p:spPr>
      </p:sp>
      <p:sp>
        <p:nvSpPr>
          <p:cNvPr id="17" name="Text 13"/>
          <p:cNvSpPr txBox="1"/>
          <p:nvPr/>
        </p:nvSpPr>
        <p:spPr>
          <a:xfrm>
            <a:off x="749808" y="345265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C</a:t>
            </a:r>
            <a:endParaRPr lang="id-ID" sz="1800" dirty="0"/>
          </a:p>
        </p:txBody>
      </p:sp>
      <p:sp>
        <p:nvSpPr>
          <p:cNvPr id="18" name="Text 14"/>
          <p:cNvSpPr txBox="1"/>
          <p:nvPr/>
        </p:nvSpPr>
        <p:spPr>
          <a:xfrm>
            <a:off x="1353312" y="3461796"/>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Diskon</a:t>
            </a:r>
            <a:endParaRPr lang="id-ID" sz="2000" dirty="0"/>
          </a:p>
        </p:txBody>
      </p:sp>
      <p:sp>
        <p:nvSpPr>
          <p:cNvPr id="19" name="Shape 15"/>
          <p:cNvSpPr/>
          <p:nvPr/>
        </p:nvSpPr>
        <p:spPr>
          <a:xfrm>
            <a:off x="6187288" y="3352068"/>
            <a:ext cx="5455768" cy="658368"/>
          </a:xfrm>
          <a:prstGeom prst="roundRect">
            <a:avLst>
              <a:gd name="adj" fmla="val 23148"/>
            </a:avLst>
          </a:prstGeom>
          <a:solidFill>
            <a:srgbClr val="FFFFFF"/>
          </a:solidFill>
          <a:ln w="9525">
            <a:solidFill>
              <a:srgbClr val="D0D7DE"/>
            </a:solidFill>
            <a:prstDash val="solid"/>
          </a:ln>
        </p:spPr>
      </p:sp>
      <p:sp>
        <p:nvSpPr>
          <p:cNvPr id="20" name="Shape 16"/>
          <p:cNvSpPr/>
          <p:nvPr/>
        </p:nvSpPr>
        <p:spPr>
          <a:xfrm>
            <a:off x="6388456" y="3452652"/>
            <a:ext cx="457200" cy="457200"/>
          </a:xfrm>
          <a:prstGeom prst="ellipse">
            <a:avLst/>
          </a:prstGeom>
          <a:solidFill>
            <a:srgbClr val="8C959F"/>
          </a:solidFill>
          <a:ln/>
        </p:spPr>
      </p:sp>
      <p:sp>
        <p:nvSpPr>
          <p:cNvPr id="21" name="Text 17"/>
          <p:cNvSpPr txBox="1"/>
          <p:nvPr/>
        </p:nvSpPr>
        <p:spPr>
          <a:xfrm>
            <a:off x="6388456" y="3452652"/>
            <a:ext cx="457200" cy="457200"/>
          </a:xfrm>
          <a:prstGeom prst="rect">
            <a:avLst/>
          </a:prstGeom>
          <a:noFill/>
          <a:ln/>
        </p:spPr>
        <p:txBody>
          <a:bodyPr wrap="square" lIns="0" tIns="0" rIns="0" bIns="0" rtlCol="0" anchor="ctr"/>
          <a:lstStyle/>
          <a:p>
            <a:pPr algn="ctr" indent="0" marL="0">
              <a:buNone/>
            </a:pPr>
            <a:r>
              <a:rPr lang="id-ID" altLang="en-US" sz="1800" b="1" dirty="0">
                <a:solidFill>
                  <a:srgbClr val="FFFFFF"/>
                </a:solidFill>
              </a:rPr>
              <a:t>D</a:t>
            </a:r>
            <a:endParaRPr lang="id-ID" sz="1800" dirty="0"/>
          </a:p>
        </p:txBody>
      </p:sp>
      <p:sp>
        <p:nvSpPr>
          <p:cNvPr id="22" name="Text 18"/>
          <p:cNvSpPr txBox="1"/>
          <p:nvPr/>
        </p:nvSpPr>
        <p:spPr>
          <a:xfrm>
            <a:off x="6991960" y="3461796"/>
            <a:ext cx="4541368" cy="438912"/>
          </a:xfrm>
          <a:prstGeom prst="rect">
            <a:avLst/>
          </a:prstGeom>
          <a:noFill/>
          <a:ln/>
        </p:spPr>
        <p:txBody>
          <a:bodyPr wrap="square" lIns="0" tIns="0" rIns="0" bIns="0" rtlCol="0" anchor="ctr"/>
          <a:lstStyle/>
          <a:p>
            <a:pPr indent="0" marL="0">
              <a:buNone/>
            </a:pPr>
            <a:r>
              <a:rPr lang="id-ID" altLang="en-US" sz="2000" dirty="0">
                <a:solidFill>
                  <a:srgbClr val="0A3069"/>
                </a:solidFill>
                <a:latin typeface="Consolas" pitchFamily="34" charset="0"/>
                <a:ea typeface="Consolas" pitchFamily="34" charset="-122"/>
                <a:cs typeface="Consolas" pitchFamily="34" charset="-120"/>
              </a:rPr>
              <a:t>Kedai</a:t>
            </a:r>
            <a:endParaRPr lang="id-ID" sz="2000" dirty="0"/>
          </a:p>
        </p:txBody>
      </p:sp>
      <p:sp>
        <p:nvSpPr>
          <p:cNvPr id="23" name="Shape 19"/>
          <p:cNvSpPr/>
          <p:nvPr/>
        </p:nvSpPr>
        <p:spPr>
          <a:xfrm>
            <a:off x="548640" y="4211604"/>
            <a:ext cx="11094415" cy="1879600"/>
          </a:xfrm>
          <a:prstGeom prst="roundRect">
            <a:avLst>
              <a:gd name="adj" fmla="val 2840"/>
            </a:avLst>
          </a:prstGeom>
          <a:solidFill>
            <a:srgbClr val="FFF8C5"/>
          </a:solidFill>
          <a:ln w="9525">
            <a:solidFill>
              <a:srgbClr val="D4A72C"/>
            </a:solidFill>
            <a:prstDash val="solid"/>
          </a:ln>
        </p:spPr>
      </p:sp>
      <p:sp>
        <p:nvSpPr>
          <p:cNvPr id="24" name="Shape 20"/>
          <p:cNvSpPr/>
          <p:nvPr/>
        </p:nvSpPr>
        <p:spPr>
          <a:xfrm>
            <a:off x="777240" y="4394484"/>
            <a:ext cx="457200" cy="457200"/>
          </a:xfrm>
          <a:prstGeom prst="ellipse">
            <a:avLst/>
          </a:prstGeom>
          <a:solidFill>
            <a:srgbClr val="9A6700"/>
          </a:solidFill>
          <a:ln/>
        </p:spPr>
      </p:sp>
      <p:pic>
        <p:nvPicPr>
          <p:cNvPr id="25" name="Image 2" descr="preencoded.png">    </p:cNvPr>
          <p:cNvPicPr>
            <a:picLocks noChangeAspect="1"/>
          </p:cNvPicPr>
          <p:nvPr/>
        </p:nvPicPr>
        <p:blipFill>
          <a:blip r:embed="rId3"/>
          <a:stretch>
            <a:fillRect/>
          </a:stretch>
        </p:blipFill>
        <p:spPr>
          <a:xfrm>
            <a:off x="877824" y="4495068"/>
            <a:ext cx="256032" cy="256032"/>
          </a:xfrm>
          <a:prstGeom prst="rect">
            <a:avLst/>
          </a:prstGeom>
        </p:spPr>
      </p:pic>
      <p:sp>
        <p:nvSpPr>
          <p:cNvPr id="26" name="Text 21"/>
          <p:cNvSpPr txBox="1"/>
          <p:nvPr/>
        </p:nvSpPr>
        <p:spPr>
          <a:xfrm>
            <a:off x="1417320" y="4348764"/>
            <a:ext cx="3657600" cy="310896"/>
          </a:xfrm>
          <a:prstGeom prst="rect">
            <a:avLst/>
          </a:prstGeom>
          <a:noFill/>
          <a:ln/>
        </p:spPr>
        <p:txBody>
          <a:bodyPr wrap="square" lIns="0" tIns="0" rIns="0" bIns="0" rtlCol="0" anchor="t"/>
          <a:lstStyle/>
          <a:p>
            <a:pPr indent="0" marL="0">
              <a:buNone/>
            </a:pPr>
            <a:r>
              <a:rPr lang="id-ID" altLang="en-US" sz="1600" b="1" dirty="0">
                <a:solidFill>
                  <a:srgbClr val="9A6700"/>
                </a:solidFill>
              </a:rPr>
              <a:t>Jawaban: B</a:t>
            </a:r>
            <a:endParaRPr lang="id-ID" sz="1600" dirty="0"/>
          </a:p>
        </p:txBody>
      </p:sp>
      <p:sp>
        <p:nvSpPr>
          <p:cNvPr id="27" name="Text 22"/>
          <p:cNvSpPr txBox="1"/>
          <p:nvPr/>
        </p:nvSpPr>
        <p:spPr>
          <a:xfrm>
            <a:off x="1417320" y="4687092"/>
            <a:ext cx="9951415" cy="1330960"/>
          </a:xfrm>
          <a:prstGeom prst="rect">
            <a:avLst/>
          </a:prstGeom>
          <a:noFill/>
          <a:ln/>
        </p:spPr>
        <p:txBody>
          <a:bodyPr wrap="square" lIns="0" tIns="0" rIns="0" bIns="0" rtlCol="0" anchor="t"/>
          <a:lstStyle/>
          <a:p>
            <a:pPr indent="0" marL="0">
              <a:buNone/>
            </a:pPr>
            <a:r>
              <a:rPr lang="id-ID" altLang="en-US" sz="2000" dirty="0">
                <a:solidFill>
                  <a:srgbClr val="1F2328"/>
                </a:solidFill>
              </a:rPr>
              <a:t>Menyusun dan mencetak struk adalah satu-⁠satunya urusan </a:t>
            </a:r>
            <a:r>
              <a:rPr lang="id-ID" altLang="en-US" sz="2000" dirty="0">
                <a:solidFill>
                  <a:srgbClr val="0A3069"/>
                </a:solidFill>
                <a:latin typeface="Consolas" pitchFamily="34" charset="0"/>
                <a:ea typeface="Consolas" pitchFamily="34" charset="-122"/>
                <a:cs typeface="Consolas" pitchFamily="34" charset="-120"/>
              </a:rPr>
              <a:t>StrukPesanan</a:t>
            </a:r>
            <a:r>
              <a:rPr lang="id-ID" altLang="en-US" sz="2000" dirty="0">
                <a:solidFill>
                  <a:srgbClr val="1F2328"/>
                </a:solidFill>
              </a:rPr>
              <a:t> (SRP). </a:t>
            </a:r>
            <a:r>
              <a:rPr lang="id-ID" altLang="en-US" sz="2000" dirty="0">
                <a:solidFill>
                  <a:srgbClr val="0A3069"/>
                </a:solidFill>
                <a:latin typeface="Consolas" pitchFamily="34" charset="0"/>
                <a:ea typeface="Consolas" pitchFamily="34" charset="-122"/>
                <a:cs typeface="Consolas" pitchFamily="34" charset="-120"/>
              </a:rPr>
              <a:t>Pesanan</a:t>
            </a:r>
            <a:r>
              <a:rPr lang="id-ID" altLang="en-US" sz="2000" dirty="0">
                <a:solidFill>
                  <a:srgbClr val="1F2328"/>
                </a:solidFill>
              </a:rPr>
              <a:t> hanya mengurus item dan perhitungan, </a:t>
            </a:r>
            <a:r>
              <a:rPr lang="id-ID" altLang="en-US" sz="2000" dirty="0">
                <a:solidFill>
                  <a:srgbClr val="0A3069"/>
                </a:solidFill>
                <a:latin typeface="Consolas" pitchFamily="34" charset="0"/>
                <a:ea typeface="Consolas" pitchFamily="34" charset="-122"/>
                <a:cs typeface="Consolas" pitchFamily="34" charset="-120"/>
              </a:rPr>
              <a:t>Diskon</a:t>
            </a:r>
            <a:r>
              <a:rPr lang="id-ID" altLang="en-US" sz="2000" dirty="0">
                <a:solidFill>
                  <a:srgbClr val="1F2328"/>
                </a:solidFill>
              </a:rPr>
              <a:t> hanya mengurus potongan, dan </a:t>
            </a:r>
            <a:r>
              <a:rPr lang="id-ID" altLang="en-US" sz="2000" dirty="0">
                <a:solidFill>
                  <a:srgbClr val="0A3069"/>
                </a:solidFill>
                <a:latin typeface="Consolas" pitchFamily="34" charset="0"/>
                <a:ea typeface="Consolas" pitchFamily="34" charset="-122"/>
                <a:cs typeface="Consolas" pitchFamily="34" charset="-120"/>
              </a:rPr>
              <a:t>Kedai</a:t>
            </a:r>
            <a:r>
              <a:rPr lang="id-ID" altLang="en-US" sz="2000" dirty="0">
                <a:solidFill>
                  <a:srgbClr val="1F2328"/>
                </a:solidFill>
              </a:rPr>
              <a:t> mengurus menu serta pembuatan pesanan. Inilah manfaat SRP: kamu langsung tahu harus membuka </a:t>
            </a:r>
            <a:r>
              <a:rPr lang="id-ID" altLang="en-US" sz="2000" i="1" dirty="0">
                <a:solidFill>
                  <a:srgbClr val="1F2328"/>
                </a:solidFill>
              </a:rPr>
              <a:t>file</a:t>
            </a:r>
            <a:r>
              <a:rPr lang="id-ID" altLang="en-US" sz="2000" dirty="0">
                <a:solidFill>
                  <a:srgbClr val="1F2328"/>
                </a:solidFill>
              </a:rPr>
              <a:t> yang mana.</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1A7F37"/>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0A3069"/>
                </a:solidFill>
              </a:rPr>
              <a:t>Ringkasan</a:t>
            </a:r>
            <a:endParaRPr lang="id-ID" sz="3200" dirty="0"/>
          </a:p>
        </p:txBody>
      </p:sp>
      <p:sp>
        <p:nvSpPr>
          <p:cNvPr id="5" name="Shape 2"/>
          <p:cNvSpPr/>
          <p:nvPr/>
        </p:nvSpPr>
        <p:spPr>
          <a:xfrm>
            <a:off x="548640" y="1470787"/>
            <a:ext cx="294386" cy="294386"/>
          </a:xfrm>
          <a:prstGeom prst="ellipse">
            <a:avLst/>
          </a:prstGeom>
          <a:solidFill>
            <a:srgbClr val="1A7F37"/>
          </a:solidFill>
          <a:ln/>
        </p:spPr>
      </p:sp>
      <p:pic>
        <p:nvPicPr>
          <p:cNvPr id="6" name="Image 1" descr="preencoded.png">    </p:cNvPr>
          <p:cNvPicPr>
            <a:picLocks noChangeAspect="1"/>
          </p:cNvPicPr>
          <p:nvPr/>
        </p:nvPicPr>
        <p:blipFill>
          <a:blip r:embed="rId2"/>
          <a:stretch>
            <a:fillRect/>
          </a:stretch>
        </p:blipFill>
        <p:spPr>
          <a:xfrm>
            <a:off x="613405" y="1535552"/>
            <a:ext cx="164856" cy="164856"/>
          </a:xfrm>
          <a:prstGeom prst="rect">
            <a:avLst/>
          </a:prstGeom>
        </p:spPr>
      </p:pic>
      <p:sp>
        <p:nvSpPr>
          <p:cNvPr id="7" name="Text 3"/>
          <p:cNvSpPr txBox="1"/>
          <p:nvPr/>
        </p:nvSpPr>
        <p:spPr>
          <a:xfrm>
            <a:off x="1051560" y="1463040"/>
            <a:ext cx="10591495" cy="665480"/>
          </a:xfrm>
          <a:prstGeom prst="rect">
            <a:avLst/>
          </a:prstGeom>
          <a:noFill/>
          <a:ln/>
        </p:spPr>
        <p:txBody>
          <a:bodyPr wrap="square" lIns="0" tIns="0" rIns="0" bIns="0" rtlCol="0" anchor="t"/>
          <a:lstStyle/>
          <a:p>
            <a:pPr indent="0" marL="0">
              <a:buNone/>
            </a:pPr>
            <a:r>
              <a:rPr lang="id-ID" altLang="en-US" sz="2000" dirty="0">
                <a:solidFill>
                  <a:srgbClr val="1F2328"/>
                </a:solidFill>
              </a:rPr>
              <a:t>Program yang benar belum tentu mudah diubah. </a:t>
            </a:r>
            <a:r>
              <a:rPr lang="id-ID" altLang="en-US" sz="2000" b="1" dirty="0">
                <a:solidFill>
                  <a:srgbClr val="1F2328"/>
                </a:solidFill>
              </a:rPr>
              <a:t>Prinsip desain</a:t>
            </a:r>
            <a:r>
              <a:rPr lang="id-ID" altLang="en-US" sz="2000" dirty="0">
                <a:solidFill>
                  <a:srgbClr val="1F2328"/>
                </a:solidFill>
              </a:rPr>
              <a:t> membantu menyusun kelas yang tahan perubahan.</a:t>
            </a:r>
            <a:endParaRPr lang="id-ID" sz="2000" dirty="0"/>
          </a:p>
        </p:txBody>
      </p:sp>
      <p:sp>
        <p:nvSpPr>
          <p:cNvPr id="8" name="Shape 4"/>
          <p:cNvSpPr/>
          <p:nvPr/>
        </p:nvSpPr>
        <p:spPr>
          <a:xfrm>
            <a:off x="548640" y="2291715"/>
            <a:ext cx="294386" cy="294386"/>
          </a:xfrm>
          <a:prstGeom prst="ellipse">
            <a:avLst/>
          </a:prstGeom>
          <a:solidFill>
            <a:srgbClr val="1A7F37"/>
          </a:solidFill>
          <a:ln/>
        </p:spPr>
      </p:sp>
      <p:pic>
        <p:nvPicPr>
          <p:cNvPr id="9" name="Image 2" descr="preencoded.png">    </p:cNvPr>
          <p:cNvPicPr>
            <a:picLocks noChangeAspect="1"/>
          </p:cNvPicPr>
          <p:nvPr/>
        </p:nvPicPr>
        <p:blipFill>
          <a:blip r:embed="rId3"/>
          <a:stretch>
            <a:fillRect/>
          </a:stretch>
        </p:blipFill>
        <p:spPr>
          <a:xfrm>
            <a:off x="613405" y="2356480"/>
            <a:ext cx="164856" cy="164856"/>
          </a:xfrm>
          <a:prstGeom prst="rect">
            <a:avLst/>
          </a:prstGeom>
        </p:spPr>
      </p:pic>
      <p:sp>
        <p:nvSpPr>
          <p:cNvPr id="10" name="Text 5"/>
          <p:cNvSpPr txBox="1"/>
          <p:nvPr/>
        </p:nvSpPr>
        <p:spPr>
          <a:xfrm>
            <a:off x="1051560" y="2283968"/>
            <a:ext cx="10591495" cy="665480"/>
          </a:xfrm>
          <a:prstGeom prst="rect">
            <a:avLst/>
          </a:prstGeom>
          <a:noFill/>
          <a:ln/>
        </p:spPr>
        <p:txBody>
          <a:bodyPr wrap="square" lIns="0" tIns="0" rIns="0" bIns="0" rtlCol="0" anchor="t"/>
          <a:lstStyle/>
          <a:p>
            <a:pPr indent="0" marL="0">
              <a:buNone/>
            </a:pPr>
            <a:r>
              <a:rPr lang="id-ID" altLang="en-US" sz="2000" b="1" i="1" dirty="0">
                <a:solidFill>
                  <a:srgbClr val="1F2328"/>
                </a:solidFill>
              </a:rPr>
              <a:t>Code smell</a:t>
            </a:r>
            <a:r>
              <a:rPr lang="id-ID" altLang="en-US" sz="2000" dirty="0">
                <a:solidFill>
                  <a:srgbClr val="1F2328"/>
                </a:solidFill>
              </a:rPr>
              <a:t>: kelas serba bisa, rantai percabangan jenis, </a:t>
            </a:r>
            <a:r>
              <a:rPr lang="id-ID" altLang="en-US" sz="2000" i="1" dirty="0">
                <a:solidFill>
                  <a:srgbClr val="1F2328"/>
                </a:solidFill>
              </a:rPr>
              <a:t>override</a:t>
            </a:r>
            <a:r>
              <a:rPr lang="id-ID" altLang="en-US" sz="2000" dirty="0">
                <a:solidFill>
                  <a:srgbClr val="1F2328"/>
                </a:solidFill>
              </a:rPr>
              <a:t> yang menolak, </a:t>
            </a:r>
            <a:r>
              <a:rPr lang="id-ID" altLang="en-US" sz="2000" i="1" dirty="0">
                <a:solidFill>
                  <a:srgbClr val="1F2328"/>
                </a:solidFill>
              </a:rPr>
              <a:t>interface</a:t>
            </a:r>
            <a:r>
              <a:rPr lang="id-ID" altLang="en-US" sz="2000" dirty="0">
                <a:solidFill>
                  <a:srgbClr val="1F2328"/>
                </a:solidFill>
              </a:rPr>
              <a:t> gemuk, kode kembar.</a:t>
            </a:r>
            <a:endParaRPr lang="id-ID" sz="2000" dirty="0"/>
          </a:p>
        </p:txBody>
      </p:sp>
      <p:sp>
        <p:nvSpPr>
          <p:cNvPr id="11" name="Shape 6"/>
          <p:cNvSpPr/>
          <p:nvPr/>
        </p:nvSpPr>
        <p:spPr>
          <a:xfrm>
            <a:off x="548640" y="3112643"/>
            <a:ext cx="294386" cy="294386"/>
          </a:xfrm>
          <a:prstGeom prst="ellipse">
            <a:avLst/>
          </a:prstGeom>
          <a:solidFill>
            <a:srgbClr val="1A7F37"/>
          </a:solidFill>
          <a:ln/>
        </p:spPr>
      </p:sp>
      <p:pic>
        <p:nvPicPr>
          <p:cNvPr id="12" name="Image 3" descr="preencoded.png">    </p:cNvPr>
          <p:cNvPicPr>
            <a:picLocks noChangeAspect="1"/>
          </p:cNvPicPr>
          <p:nvPr/>
        </p:nvPicPr>
        <p:blipFill>
          <a:blip r:embed="rId4"/>
          <a:stretch>
            <a:fillRect/>
          </a:stretch>
        </p:blipFill>
        <p:spPr>
          <a:xfrm>
            <a:off x="613405" y="3177408"/>
            <a:ext cx="164856" cy="164856"/>
          </a:xfrm>
          <a:prstGeom prst="rect">
            <a:avLst/>
          </a:prstGeom>
        </p:spPr>
      </p:pic>
      <p:sp>
        <p:nvSpPr>
          <p:cNvPr id="13" name="Text 7"/>
          <p:cNvSpPr txBox="1"/>
          <p:nvPr/>
        </p:nvSpPr>
        <p:spPr>
          <a:xfrm>
            <a:off x="1051560" y="3104896"/>
            <a:ext cx="10591495" cy="665480"/>
          </a:xfrm>
          <a:prstGeom prst="rect">
            <a:avLst/>
          </a:prstGeom>
          <a:noFill/>
          <a:ln/>
        </p:spPr>
        <p:txBody>
          <a:bodyPr wrap="square" lIns="0" tIns="0" rIns="0" bIns="0" rtlCol="0" anchor="t"/>
          <a:lstStyle/>
          <a:p>
            <a:pPr indent="0" marL="0">
              <a:buNone/>
            </a:pPr>
            <a:r>
              <a:rPr lang="id-ID" altLang="en-US" sz="2000" b="1" dirty="0">
                <a:solidFill>
                  <a:srgbClr val="1F2328"/>
                </a:solidFill>
              </a:rPr>
              <a:t>SRP</a:t>
            </a:r>
            <a:r>
              <a:rPr lang="id-ID" altLang="en-US" sz="2000" dirty="0">
                <a:solidFill>
                  <a:srgbClr val="1F2328"/>
                </a:solidFill>
              </a:rPr>
              <a:t>: satu kelas, satu alasan untuk berubah. </a:t>
            </a:r>
            <a:r>
              <a:rPr lang="id-ID" altLang="en-US" sz="2000" b="1" dirty="0">
                <a:solidFill>
                  <a:srgbClr val="1F2328"/>
                </a:solidFill>
              </a:rPr>
              <a:t>OCP</a:t>
            </a:r>
            <a:r>
              <a:rPr lang="id-ID" altLang="en-US" sz="2000" dirty="0">
                <a:solidFill>
                  <a:srgbClr val="1F2328"/>
                </a:solidFill>
              </a:rPr>
              <a:t>: perilaku baru lewat kelas baru, bukan membongkar kode lama.</a:t>
            </a:r>
            <a:endParaRPr lang="id-ID" sz="2000" dirty="0"/>
          </a:p>
        </p:txBody>
      </p:sp>
      <p:sp>
        <p:nvSpPr>
          <p:cNvPr id="14" name="Shape 8"/>
          <p:cNvSpPr/>
          <p:nvPr/>
        </p:nvSpPr>
        <p:spPr>
          <a:xfrm>
            <a:off x="548640" y="3933571"/>
            <a:ext cx="294386" cy="294386"/>
          </a:xfrm>
          <a:prstGeom prst="ellipse">
            <a:avLst/>
          </a:prstGeom>
          <a:solidFill>
            <a:srgbClr val="1A7F37"/>
          </a:solidFill>
          <a:ln/>
        </p:spPr>
      </p:sp>
      <p:pic>
        <p:nvPicPr>
          <p:cNvPr id="15" name="Image 4" descr="preencoded.png">    </p:cNvPr>
          <p:cNvPicPr>
            <a:picLocks noChangeAspect="1"/>
          </p:cNvPicPr>
          <p:nvPr/>
        </p:nvPicPr>
        <p:blipFill>
          <a:blip r:embed="rId5"/>
          <a:stretch>
            <a:fillRect/>
          </a:stretch>
        </p:blipFill>
        <p:spPr>
          <a:xfrm>
            <a:off x="613405" y="3998336"/>
            <a:ext cx="164856" cy="164856"/>
          </a:xfrm>
          <a:prstGeom prst="rect">
            <a:avLst/>
          </a:prstGeom>
        </p:spPr>
      </p:pic>
      <p:sp>
        <p:nvSpPr>
          <p:cNvPr id="16" name="Text 9"/>
          <p:cNvSpPr txBox="1"/>
          <p:nvPr/>
        </p:nvSpPr>
        <p:spPr>
          <a:xfrm>
            <a:off x="1051560" y="3925824"/>
            <a:ext cx="10591495" cy="665480"/>
          </a:xfrm>
          <a:prstGeom prst="rect">
            <a:avLst/>
          </a:prstGeom>
          <a:noFill/>
          <a:ln/>
        </p:spPr>
        <p:txBody>
          <a:bodyPr wrap="square" lIns="0" tIns="0" rIns="0" bIns="0" rtlCol="0" anchor="t"/>
          <a:lstStyle/>
          <a:p>
            <a:pPr indent="0" marL="0">
              <a:buNone/>
            </a:pPr>
            <a:r>
              <a:rPr lang="id-ID" altLang="en-US" sz="2000" b="1" dirty="0">
                <a:solidFill>
                  <a:srgbClr val="1F2328"/>
                </a:solidFill>
              </a:rPr>
              <a:t>LSP</a:t>
            </a:r>
            <a:r>
              <a:rPr lang="id-ID" altLang="en-US" sz="2000" dirty="0">
                <a:solidFill>
                  <a:srgbClr val="1F2328"/>
                </a:solidFill>
              </a:rPr>
              <a:t>: kelas anak menepati janji induknya, tidak memperketat prasyarat dan tidak memperlemah jaminan hasil.</a:t>
            </a:r>
            <a:endParaRPr lang="id-ID" sz="2000" dirty="0"/>
          </a:p>
        </p:txBody>
      </p:sp>
      <p:sp>
        <p:nvSpPr>
          <p:cNvPr id="17" name="Shape 10"/>
          <p:cNvSpPr/>
          <p:nvPr/>
        </p:nvSpPr>
        <p:spPr>
          <a:xfrm>
            <a:off x="548640" y="4754499"/>
            <a:ext cx="294386" cy="294386"/>
          </a:xfrm>
          <a:prstGeom prst="ellipse">
            <a:avLst/>
          </a:prstGeom>
          <a:solidFill>
            <a:srgbClr val="1A7F37"/>
          </a:solidFill>
          <a:ln/>
        </p:spPr>
      </p:sp>
      <p:pic>
        <p:nvPicPr>
          <p:cNvPr id="18" name="Image 5" descr="preencoded.png">    </p:cNvPr>
          <p:cNvPicPr>
            <a:picLocks noChangeAspect="1"/>
          </p:cNvPicPr>
          <p:nvPr/>
        </p:nvPicPr>
        <p:blipFill>
          <a:blip r:embed="rId6"/>
          <a:stretch>
            <a:fillRect/>
          </a:stretch>
        </p:blipFill>
        <p:spPr>
          <a:xfrm>
            <a:off x="613405" y="4819264"/>
            <a:ext cx="164856" cy="164856"/>
          </a:xfrm>
          <a:prstGeom prst="rect">
            <a:avLst/>
          </a:prstGeom>
        </p:spPr>
      </p:pic>
      <p:sp>
        <p:nvSpPr>
          <p:cNvPr id="19" name="Text 11"/>
          <p:cNvSpPr txBox="1"/>
          <p:nvPr/>
        </p:nvSpPr>
        <p:spPr>
          <a:xfrm>
            <a:off x="1051560" y="4746752"/>
            <a:ext cx="10591495" cy="355600"/>
          </a:xfrm>
          <a:prstGeom prst="rect">
            <a:avLst/>
          </a:prstGeom>
          <a:noFill/>
          <a:ln/>
        </p:spPr>
        <p:txBody>
          <a:bodyPr wrap="square" lIns="0" tIns="0" rIns="0" bIns="0" rtlCol="0" anchor="t"/>
          <a:lstStyle/>
          <a:p>
            <a:pPr indent="0" marL="0">
              <a:buNone/>
            </a:pPr>
            <a:r>
              <a:rPr lang="id-ID" altLang="en-US" sz="2000" b="1" dirty="0">
                <a:solidFill>
                  <a:srgbClr val="1F2328"/>
                </a:solidFill>
              </a:rPr>
              <a:t>ISP</a:t>
            </a:r>
            <a:r>
              <a:rPr lang="id-ID" altLang="en-US" sz="2000" dirty="0">
                <a:solidFill>
                  <a:srgbClr val="1F2328"/>
                </a:solidFill>
              </a:rPr>
              <a:t>: </a:t>
            </a:r>
            <a:r>
              <a:rPr lang="id-ID" altLang="en-US" sz="2000" i="1" dirty="0">
                <a:solidFill>
                  <a:srgbClr val="1F2328"/>
                </a:solidFill>
              </a:rPr>
              <a:t>interface</a:t>
            </a:r>
            <a:r>
              <a:rPr lang="id-ID" altLang="en-US" sz="2000" dirty="0">
                <a:solidFill>
                  <a:srgbClr val="1F2328"/>
                </a:solidFill>
              </a:rPr>
              <a:t> kecil yang fokus. </a:t>
            </a:r>
            <a:r>
              <a:rPr lang="id-ID" altLang="en-US" sz="2000" b="1" dirty="0">
                <a:solidFill>
                  <a:srgbClr val="1F2328"/>
                </a:solidFill>
              </a:rPr>
              <a:t>DIP</a:t>
            </a:r>
            <a:r>
              <a:rPr lang="id-ID" altLang="en-US" sz="2000" dirty="0">
                <a:solidFill>
                  <a:srgbClr val="1F2328"/>
                </a:solidFill>
              </a:rPr>
              <a:t>: pengatur dan detail sama-⁠sama bergantung pada abstraksi.</a:t>
            </a:r>
            <a:endParaRPr lang="id-ID" sz="2000" dirty="0"/>
          </a:p>
        </p:txBody>
      </p:sp>
      <p:sp>
        <p:nvSpPr>
          <p:cNvPr id="20" name="Shape 12"/>
          <p:cNvSpPr/>
          <p:nvPr/>
        </p:nvSpPr>
        <p:spPr>
          <a:xfrm>
            <a:off x="548640" y="5265547"/>
            <a:ext cx="294386" cy="294386"/>
          </a:xfrm>
          <a:prstGeom prst="ellipse">
            <a:avLst/>
          </a:prstGeom>
          <a:solidFill>
            <a:srgbClr val="1A7F37"/>
          </a:solidFill>
          <a:ln/>
        </p:spPr>
      </p:sp>
      <p:pic>
        <p:nvPicPr>
          <p:cNvPr id="21" name="Image 6" descr="preencoded.png">    </p:cNvPr>
          <p:cNvPicPr>
            <a:picLocks noChangeAspect="1"/>
          </p:cNvPicPr>
          <p:nvPr/>
        </p:nvPicPr>
        <p:blipFill>
          <a:blip r:embed="rId7"/>
          <a:stretch>
            <a:fillRect/>
          </a:stretch>
        </p:blipFill>
        <p:spPr>
          <a:xfrm>
            <a:off x="613405" y="5330312"/>
            <a:ext cx="164856" cy="164856"/>
          </a:xfrm>
          <a:prstGeom prst="rect">
            <a:avLst/>
          </a:prstGeom>
        </p:spPr>
      </p:pic>
      <p:sp>
        <p:nvSpPr>
          <p:cNvPr id="22" name="Text 13"/>
          <p:cNvSpPr txBox="1"/>
          <p:nvPr/>
        </p:nvSpPr>
        <p:spPr>
          <a:xfrm>
            <a:off x="1051560" y="5257800"/>
            <a:ext cx="10591495" cy="355600"/>
          </a:xfrm>
          <a:prstGeom prst="rect">
            <a:avLst/>
          </a:prstGeom>
          <a:noFill/>
          <a:ln/>
        </p:spPr>
        <p:txBody>
          <a:bodyPr wrap="square" lIns="0" tIns="0" rIns="0" bIns="0" rtlCol="0" anchor="t"/>
          <a:lstStyle/>
          <a:p>
            <a:pPr indent="0" marL="0">
              <a:buNone/>
            </a:pPr>
            <a:r>
              <a:rPr lang="id-ID" altLang="en-US" sz="2000" b="1" i="1" dirty="0">
                <a:solidFill>
                  <a:srgbClr val="1F2328"/>
                </a:solidFill>
              </a:rPr>
              <a:t>Refactoring</a:t>
            </a:r>
            <a:r>
              <a:rPr lang="id-ID" altLang="en-US" sz="2000" dirty="0">
                <a:solidFill>
                  <a:srgbClr val="1F2328"/>
                </a:solidFill>
              </a:rPr>
              <a:t> mengubah struktur tanpa mengubah perilaku. Buktikan dengan </a:t>
            </a:r>
            <a:r>
              <a:rPr lang="id-ID" altLang="en-US" sz="2000" dirty="0">
                <a:solidFill>
                  <a:srgbClr val="1F2328"/>
                </a:solidFill>
                <a:latin typeface="Consolas" pitchFamily="34" charset="0"/>
                <a:ea typeface="Consolas" pitchFamily="34" charset="-122"/>
                <a:cs typeface="Consolas" pitchFamily="34" charset="-120"/>
              </a:rPr>
              <a:t>diff</a:t>
            </a:r>
            <a:r>
              <a:rPr lang="id-ID" altLang="en-US" sz="2000" dirty="0">
                <a:solidFill>
                  <a:srgbClr val="1F2328"/>
                </a:solidFill>
              </a:rPr>
              <a:t> atau </a:t>
            </a:r>
            <a:r>
              <a:rPr lang="id-ID" altLang="en-US" sz="2000" dirty="0">
                <a:solidFill>
                  <a:srgbClr val="1F2328"/>
                </a:solidFill>
                <a:latin typeface="Consolas" pitchFamily="34" charset="0"/>
                <a:ea typeface="Consolas" pitchFamily="34" charset="-122"/>
                <a:cs typeface="Consolas" pitchFamily="34" charset="-120"/>
              </a:rPr>
              <a:t>fc</a:t>
            </a:r>
            <a:r>
              <a:rPr lang="id-ID" altLang="en-US" sz="2000" dirty="0">
                <a:solidFill>
                  <a:srgbClr val="1F2328"/>
                </a:solidFill>
              </a:rPr>
              <a:t>.</a:t>
            </a:r>
            <a:endParaRPr lang="id-ID" sz="2000" dirty="0"/>
          </a:p>
        </p:txBody>
      </p:sp>
      <p:sp>
        <p:nvSpPr>
          <p:cNvPr id="23" name="Shape 14"/>
          <p:cNvSpPr/>
          <p:nvPr/>
        </p:nvSpPr>
        <p:spPr>
          <a:xfrm>
            <a:off x="548640" y="5776595"/>
            <a:ext cx="294386" cy="294386"/>
          </a:xfrm>
          <a:prstGeom prst="ellipse">
            <a:avLst/>
          </a:prstGeom>
          <a:solidFill>
            <a:srgbClr val="1A7F37"/>
          </a:solidFill>
          <a:ln/>
        </p:spPr>
      </p:sp>
      <p:pic>
        <p:nvPicPr>
          <p:cNvPr id="24" name="Image 7" descr="preencoded.png">    </p:cNvPr>
          <p:cNvPicPr>
            <a:picLocks noChangeAspect="1"/>
          </p:cNvPicPr>
          <p:nvPr/>
        </p:nvPicPr>
        <p:blipFill>
          <a:blip r:embed="rId8"/>
          <a:stretch>
            <a:fillRect/>
          </a:stretch>
        </p:blipFill>
        <p:spPr>
          <a:xfrm>
            <a:off x="613405" y="5841360"/>
            <a:ext cx="164856" cy="164856"/>
          </a:xfrm>
          <a:prstGeom prst="rect">
            <a:avLst/>
          </a:prstGeom>
        </p:spPr>
      </p:pic>
      <p:sp>
        <p:nvSpPr>
          <p:cNvPr id="25" name="Text 15"/>
          <p:cNvSpPr txBox="1"/>
          <p:nvPr/>
        </p:nvSpPr>
        <p:spPr>
          <a:xfrm>
            <a:off x="1051560" y="5768848"/>
            <a:ext cx="10591495" cy="355600"/>
          </a:xfrm>
          <a:prstGeom prst="rect">
            <a:avLst/>
          </a:prstGeom>
          <a:noFill/>
          <a:ln/>
        </p:spPr>
        <p:txBody>
          <a:bodyPr wrap="square" lIns="0" tIns="0" rIns="0" bIns="0" rtlCol="0" anchor="t"/>
          <a:lstStyle/>
          <a:p>
            <a:pPr indent="0" marL="0">
              <a:buNone/>
            </a:pPr>
            <a:r>
              <a:rPr lang="id-ID" altLang="en-US" sz="2000" dirty="0">
                <a:solidFill>
                  <a:srgbClr val="1F2328"/>
                </a:solidFill>
              </a:rPr>
              <a:t>DRY, KISS, dan YAGNI melengkapi SOLID. Semuanya panduan, bukan aturan mati.</a:t>
            </a:r>
            <a:endParaRPr lang="id-ID" sz="2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7606A"/>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BC4C00"/>
          </a:solidFill>
          <a:ln/>
        </p:spPr>
      </p:sp>
      <p:pic>
        <p:nvPicPr>
          <p:cNvPr id="3" name="Image 0" descr="preencoded.png">    </p:cNvPr>
          <p:cNvPicPr>
            <a:picLocks noChangeAspect="1"/>
          </p:cNvPicPr>
          <p:nvPr/>
        </p:nvPicPr>
        <p:blipFill>
          <a:blip r:embed="rId1"/>
          <a:stretch>
            <a:fillRect/>
          </a:stretch>
        </p:blipFill>
        <p:spPr>
          <a:xfrm>
            <a:off x="673364" y="581924"/>
            <a:ext cx="317480" cy="317480"/>
          </a:xfrm>
          <a:prstGeom prst="rect">
            <a:avLst/>
          </a:prstGeom>
        </p:spPr>
      </p:pic>
      <p:sp>
        <p:nvSpPr>
          <p:cNvPr id="4" name="Text 0"/>
          <p:cNvSpPr/>
          <p:nvPr>
            <p:ph idx="100" type="title" hasCustomPrompt="1"/>
          </p:nvPr>
        </p:nvSpPr>
        <p:spPr>
          <a:xfrm>
            <a:off x="1261872" y="384048"/>
            <a:ext cx="10378440" cy="713232"/>
          </a:xfrm>
          <a:prstGeom prst="rect">
            <a:avLst/>
          </a:prstGeom>
          <a:noFill/>
          <a:ln/>
        </p:spPr>
        <p:txBody>
          <a:bodyPr wrap="square" lIns="0" tIns="0" rIns="0" bIns="0" rtlCol="0" anchor="ctr"/>
          <a:lstStyle/>
          <a:p>
            <a:pPr algn="l" indent="0" marL="0">
              <a:buNone/>
            </a:pPr>
            <a:r>
              <a:rPr lang="id-ID" altLang="en-US" sz="3200" b="1" dirty="0">
                <a:solidFill>
                  <a:srgbClr val="FFFFFF"/>
                </a:solidFill>
              </a:rPr>
              <a:t>Langkah Berikutnya</a:t>
            </a:r>
            <a:endParaRPr lang="id-ID" sz="3200" dirty="0"/>
          </a:p>
        </p:txBody>
      </p:sp>
      <p:sp>
        <p:nvSpPr>
          <p:cNvPr id="5" name="Shape 2"/>
          <p:cNvSpPr/>
          <p:nvPr/>
        </p:nvSpPr>
        <p:spPr>
          <a:xfrm>
            <a:off x="603504" y="1519174"/>
            <a:ext cx="137160" cy="137160"/>
          </a:xfrm>
          <a:prstGeom prst="roundRect">
            <a:avLst>
              <a:gd name="adj" fmla="val 166667"/>
            </a:avLst>
          </a:prstGeom>
          <a:solidFill>
            <a:srgbClr val="FB8F44"/>
          </a:solidFill>
          <a:ln/>
        </p:spPr>
      </p:sp>
      <p:sp>
        <p:nvSpPr>
          <p:cNvPr id="6" name="Text 3"/>
          <p:cNvSpPr txBox="1"/>
          <p:nvPr/>
        </p:nvSpPr>
        <p:spPr>
          <a:xfrm>
            <a:off x="932688" y="1417320"/>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Jalankan contoh 01⁠—⁠06, lalu studi kasus versi sebelum dan sesudah di jalur pilihanmu.</a:t>
            </a:r>
            <a:endParaRPr lang="id-ID" sz="2200" dirty="0"/>
          </a:p>
        </p:txBody>
      </p:sp>
      <p:sp>
        <p:nvSpPr>
          <p:cNvPr id="7" name="Shape 4"/>
          <p:cNvSpPr/>
          <p:nvPr/>
        </p:nvSpPr>
        <p:spPr>
          <a:xfrm>
            <a:off x="603504" y="2383790"/>
            <a:ext cx="137160" cy="137160"/>
          </a:xfrm>
          <a:prstGeom prst="roundRect">
            <a:avLst>
              <a:gd name="adj" fmla="val 166667"/>
            </a:avLst>
          </a:prstGeom>
          <a:solidFill>
            <a:srgbClr val="FB8F44"/>
          </a:solidFill>
          <a:ln/>
        </p:spPr>
      </p:sp>
      <p:sp>
        <p:nvSpPr>
          <p:cNvPr id="8" name="Text 5"/>
          <p:cNvSpPr txBox="1"/>
          <p:nvPr/>
        </p:nvSpPr>
        <p:spPr>
          <a:xfrm>
            <a:off x="932688" y="2281936"/>
            <a:ext cx="7114032" cy="727456"/>
          </a:xfrm>
          <a:prstGeom prst="rect">
            <a:avLst/>
          </a:prstGeom>
          <a:noFill/>
          <a:ln/>
        </p:spPr>
        <p:txBody>
          <a:bodyPr wrap="square" lIns="0" tIns="0" rIns="0" bIns="0" rtlCol="0" anchor="t"/>
          <a:lstStyle/>
          <a:p>
            <a:pPr indent="0" marL="0">
              <a:buNone/>
            </a:pPr>
            <a:r>
              <a:rPr lang="id-ID" altLang="en-US" sz="2200" dirty="0">
                <a:solidFill>
                  <a:srgbClr val="FFFFFF"/>
                </a:solidFill>
              </a:rPr>
              <a:t>Buktikan </a:t>
            </a:r>
            <a:r>
              <a:rPr lang="id-ID" altLang="en-US" sz="2200" i="1" dirty="0">
                <a:solidFill>
                  <a:srgbClr val="FFFFFF"/>
                </a:solidFill>
              </a:rPr>
              <a:t>output</a:t>
            </a:r>
            <a:r>
              <a:rPr lang="id-ID" altLang="en-US" sz="2200" dirty="0">
                <a:solidFill>
                  <a:srgbClr val="FFFFFF"/>
                </a:solidFill>
              </a:rPr>
              <a:t> kedua versi sama dengan </a:t>
            </a:r>
            <a:r>
              <a:rPr lang="id-ID" altLang="en-US" sz="2200" dirty="0">
                <a:solidFill>
                  <a:srgbClr val="DDF4FF"/>
                </a:solidFill>
                <a:latin typeface="Consolas" pitchFamily="34" charset="0"/>
                <a:ea typeface="Consolas" pitchFamily="34" charset="-122"/>
                <a:cs typeface="Consolas" pitchFamily="34" charset="-120"/>
              </a:rPr>
              <a:t>diff</a:t>
            </a:r>
            <a:r>
              <a:rPr lang="id-ID" altLang="en-US" sz="2200" dirty="0">
                <a:solidFill>
                  <a:srgbClr val="FFFFFF"/>
                </a:solidFill>
              </a:rPr>
              <a:t> atau </a:t>
            </a:r>
            <a:r>
              <a:rPr lang="id-ID" altLang="en-US" sz="2200" dirty="0">
                <a:solidFill>
                  <a:srgbClr val="DDF4FF"/>
                </a:solidFill>
                <a:latin typeface="Consolas" pitchFamily="34" charset="0"/>
                <a:ea typeface="Consolas" pitchFamily="34" charset="-122"/>
                <a:cs typeface="Consolas" pitchFamily="34" charset="-120"/>
              </a:rPr>
              <a:t>fc</a:t>
            </a:r>
            <a:r>
              <a:rPr lang="id-ID" altLang="en-US" sz="2200" dirty="0">
                <a:solidFill>
                  <a:srgbClr val="FFFFFF"/>
                </a:solidFill>
              </a:rPr>
              <a:t>, lalu kerjakan latihan dan kuis 10 soal.</a:t>
            </a:r>
            <a:endParaRPr lang="id-ID" sz="2200" dirty="0"/>
          </a:p>
        </p:txBody>
      </p:sp>
      <p:sp>
        <p:nvSpPr>
          <p:cNvPr id="9" name="Text 6"/>
          <p:cNvSpPr txBox="1"/>
          <p:nvPr/>
        </p:nvSpPr>
        <p:spPr>
          <a:xfrm>
            <a:off x="548640" y="3283712"/>
            <a:ext cx="7498080" cy="365760"/>
          </a:xfrm>
          <a:prstGeom prst="rect">
            <a:avLst/>
          </a:prstGeom>
          <a:noFill/>
          <a:ln/>
        </p:spPr>
        <p:txBody>
          <a:bodyPr wrap="square" lIns="0" tIns="0" rIns="0" bIns="0" rtlCol="0" anchor="t"/>
          <a:lstStyle/>
          <a:p>
            <a:pPr indent="0" marL="0">
              <a:buNone/>
            </a:pPr>
            <a:r>
              <a:rPr lang="id-ID" altLang="en-US" sz="1700" b="1" dirty="0">
                <a:solidFill>
                  <a:srgbClr val="C9D7E8"/>
                </a:solidFill>
              </a:rPr>
              <a:t>Buka bahan pertemuan ini di GitHub:</a:t>
            </a:r>
            <a:endParaRPr lang="id-ID" sz="1700" dirty="0"/>
          </a:p>
        </p:txBody>
      </p:sp>
      <p:sp>
        <p:nvSpPr>
          <p:cNvPr id="10" name="Shape 7"/>
          <p:cNvSpPr/>
          <p:nvPr/>
        </p:nvSpPr>
        <p:spPr>
          <a:xfrm>
            <a:off x="548640" y="3740912"/>
            <a:ext cx="3666744" cy="457200"/>
          </a:xfrm>
          <a:prstGeom prst="roundRect">
            <a:avLst>
              <a:gd name="adj" fmla="val 100000"/>
            </a:avLst>
          </a:prstGeom>
          <a:solidFill>
            <a:srgbClr val="12407F"/>
          </a:solidFill>
          <a:ln w="12700">
            <a:solidFill>
              <a:srgbClr val="2F6FB5"/>
            </a:solidFill>
            <a:prstDash val="solid"/>
          </a:ln>
        </p:spPr>
      </p:sp>
      <p:pic>
        <p:nvPicPr>
          <p:cNvPr id="11" name="Image 1" descr="preencoded.png">    </p:cNvPr>
          <p:cNvPicPr>
            <a:picLocks noChangeAspect="1"/>
          </p:cNvPicPr>
          <p:nvPr/>
        </p:nvPicPr>
        <p:blipFill>
          <a:blip r:embed="rId2"/>
          <a:stretch>
            <a:fillRect/>
          </a:stretch>
        </p:blipFill>
        <p:spPr>
          <a:xfrm>
            <a:off x="694944" y="3841496"/>
            <a:ext cx="256032" cy="256032"/>
          </a:xfrm>
          <a:prstGeom prst="rect">
            <a:avLst/>
          </a:prstGeom>
        </p:spPr>
      </p:pic>
      <p:sp>
        <p:nvSpPr>
          <p:cNvPr id="12" name="Text 8"/>
          <p:cNvSpPr txBox="1"/>
          <p:nvPr/>
        </p:nvSpPr>
        <p:spPr>
          <a:xfrm>
            <a:off x="1051560"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3" invalidUrl="" action="" tgtFrame="" tooltip="README.md" history="1" highlightClick="0" endSnd="0">
                  <a:extLst>
                    <a:ext uri="{A12FA001-AC4F-418D-AE19-62706E023703}">
                      <ahyp:hlinkClr xmlns:ahyp="http://schemas.microsoft.com/office/drawing/2018/hyperlinkcolor" val="tx"/>
                    </a:ext>
                  </a:extLst>
                </a:hlinkClick>
              </a:rPr>
              <a:t>Konsep</a:t>
            </a:r>
            <a:endParaRPr lang="id-ID" sz="1600" dirty="0"/>
          </a:p>
        </p:txBody>
      </p:sp>
      <p:sp>
        <p:nvSpPr>
          <p:cNvPr id="13" name="Shape 9"/>
          <p:cNvSpPr/>
          <p:nvPr/>
        </p:nvSpPr>
        <p:spPr>
          <a:xfrm>
            <a:off x="4379976" y="3740912"/>
            <a:ext cx="3666744" cy="457200"/>
          </a:xfrm>
          <a:prstGeom prst="roundRect">
            <a:avLst>
              <a:gd name="adj" fmla="val 100000"/>
            </a:avLst>
          </a:prstGeom>
          <a:solidFill>
            <a:srgbClr val="12407F"/>
          </a:solidFill>
          <a:ln w="12700">
            <a:solidFill>
              <a:srgbClr val="2F6FB5"/>
            </a:solidFill>
            <a:prstDash val="solid"/>
          </a:ln>
        </p:spPr>
      </p:sp>
      <p:pic>
        <p:nvPicPr>
          <p:cNvPr id="14" name="Image 2" descr="preencoded.png">    </p:cNvPr>
          <p:cNvPicPr>
            <a:picLocks noChangeAspect="1"/>
          </p:cNvPicPr>
          <p:nvPr/>
        </p:nvPicPr>
        <p:blipFill>
          <a:blip r:embed="rId4"/>
          <a:stretch>
            <a:fillRect/>
          </a:stretch>
        </p:blipFill>
        <p:spPr>
          <a:xfrm>
            <a:off x="4526280" y="3841496"/>
            <a:ext cx="256032" cy="256032"/>
          </a:xfrm>
          <a:prstGeom prst="rect">
            <a:avLst/>
          </a:prstGeom>
        </p:spPr>
      </p:pic>
      <p:sp>
        <p:nvSpPr>
          <p:cNvPr id="15" name="Text 10"/>
          <p:cNvSpPr txBox="1"/>
          <p:nvPr/>
        </p:nvSpPr>
        <p:spPr>
          <a:xfrm>
            <a:off x="4882896" y="3740912"/>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5" invalidUrl="" action="" tgtFrame="" tooltip="python/README.md" history="1" highlightClick="0" endSnd="0">
                  <a:extLst>
                    <a:ext uri="{A12FA001-AC4F-418D-AE19-62706E023703}">
                      <ahyp:hlinkClr xmlns:ahyp="http://schemas.microsoft.com/office/drawing/2018/hyperlinkcolor" val="tx"/>
                    </a:ext>
                  </a:extLst>
                </a:hlinkClick>
              </a:rPr>
              <a:t>Praktik Python</a:t>
            </a:r>
            <a:endParaRPr lang="id-ID" sz="1600" dirty="0"/>
          </a:p>
        </p:txBody>
      </p:sp>
      <p:sp>
        <p:nvSpPr>
          <p:cNvPr id="16" name="Shape 11"/>
          <p:cNvSpPr/>
          <p:nvPr/>
        </p:nvSpPr>
        <p:spPr>
          <a:xfrm>
            <a:off x="548640" y="4326128"/>
            <a:ext cx="3666744" cy="457200"/>
          </a:xfrm>
          <a:prstGeom prst="roundRect">
            <a:avLst>
              <a:gd name="adj" fmla="val 100000"/>
            </a:avLst>
          </a:prstGeom>
          <a:solidFill>
            <a:srgbClr val="12407F"/>
          </a:solidFill>
          <a:ln w="12700">
            <a:solidFill>
              <a:srgbClr val="2F6FB5"/>
            </a:solidFill>
            <a:prstDash val="solid"/>
          </a:ln>
        </p:spPr>
      </p:sp>
      <p:pic>
        <p:nvPicPr>
          <p:cNvPr id="17" name="Image 3" descr="preencoded.png">    </p:cNvPr>
          <p:cNvPicPr>
            <a:picLocks noChangeAspect="1"/>
          </p:cNvPicPr>
          <p:nvPr/>
        </p:nvPicPr>
        <p:blipFill>
          <a:blip r:embed="rId6"/>
          <a:stretch>
            <a:fillRect/>
          </a:stretch>
        </p:blipFill>
        <p:spPr>
          <a:xfrm>
            <a:off x="694944" y="4426712"/>
            <a:ext cx="256032" cy="256032"/>
          </a:xfrm>
          <a:prstGeom prst="rect">
            <a:avLst/>
          </a:prstGeom>
        </p:spPr>
      </p:pic>
      <p:sp>
        <p:nvSpPr>
          <p:cNvPr id="18" name="Text 12"/>
          <p:cNvSpPr txBox="1"/>
          <p:nvPr/>
        </p:nvSpPr>
        <p:spPr>
          <a:xfrm>
            <a:off x="1051560"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7" invalidUrl="" action="" tgtFrame="" tooltip="java/README.md" history="1" highlightClick="0" endSnd="0">
                  <a:extLst>
                    <a:ext uri="{A12FA001-AC4F-418D-AE19-62706E023703}">
                      <ahyp:hlinkClr xmlns:ahyp="http://schemas.microsoft.com/office/drawing/2018/hyperlinkcolor" val="tx"/>
                    </a:ext>
                  </a:extLst>
                </a:hlinkClick>
              </a:rPr>
              <a:t>Praktik Java</a:t>
            </a:r>
            <a:endParaRPr lang="id-ID" sz="1600" dirty="0"/>
          </a:p>
        </p:txBody>
      </p:sp>
      <p:sp>
        <p:nvSpPr>
          <p:cNvPr id="19" name="Shape 13"/>
          <p:cNvSpPr/>
          <p:nvPr/>
        </p:nvSpPr>
        <p:spPr>
          <a:xfrm>
            <a:off x="4379976" y="4326128"/>
            <a:ext cx="3666744" cy="457200"/>
          </a:xfrm>
          <a:prstGeom prst="roundRect">
            <a:avLst>
              <a:gd name="adj" fmla="val 100000"/>
            </a:avLst>
          </a:prstGeom>
          <a:solidFill>
            <a:srgbClr val="12407F"/>
          </a:solidFill>
          <a:ln w="12700">
            <a:solidFill>
              <a:srgbClr val="2F6FB5"/>
            </a:solidFill>
            <a:prstDash val="solid"/>
          </a:ln>
        </p:spPr>
      </p:sp>
      <p:pic>
        <p:nvPicPr>
          <p:cNvPr id="20" name="Image 4" descr="preencoded.png">    </p:cNvPr>
          <p:cNvPicPr>
            <a:picLocks noChangeAspect="1"/>
          </p:cNvPicPr>
          <p:nvPr/>
        </p:nvPicPr>
        <p:blipFill>
          <a:blip r:embed="rId8"/>
          <a:stretch>
            <a:fillRect/>
          </a:stretch>
        </p:blipFill>
        <p:spPr>
          <a:xfrm>
            <a:off x="4526280" y="4426712"/>
            <a:ext cx="256032" cy="256032"/>
          </a:xfrm>
          <a:prstGeom prst="rect">
            <a:avLst/>
          </a:prstGeom>
        </p:spPr>
      </p:pic>
      <p:sp>
        <p:nvSpPr>
          <p:cNvPr id="21" name="Text 14"/>
          <p:cNvSpPr txBox="1"/>
          <p:nvPr/>
        </p:nvSpPr>
        <p:spPr>
          <a:xfrm>
            <a:off x="4882896" y="4326128"/>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9" invalidUrl="" action="" tgtFrame="" tooltip="jembatan-python-java.md" history="1" highlightClick="0" endSnd="0">
                  <a:extLst>
                    <a:ext uri="{A12FA001-AC4F-418D-AE19-62706E023703}">
                      <ahyp:hlinkClr xmlns:ahyp="http://schemas.microsoft.com/office/drawing/2018/hyperlinkcolor" val="tx"/>
                    </a:ext>
                  </a:extLst>
                </a:hlinkClick>
              </a:rPr>
              <a:t>Jembatan Python ↔ Java</a:t>
            </a:r>
            <a:endParaRPr lang="id-ID" sz="1600" dirty="0"/>
          </a:p>
        </p:txBody>
      </p:sp>
      <p:sp>
        <p:nvSpPr>
          <p:cNvPr id="22" name="Shape 15"/>
          <p:cNvSpPr/>
          <p:nvPr/>
        </p:nvSpPr>
        <p:spPr>
          <a:xfrm>
            <a:off x="548640" y="4911344"/>
            <a:ext cx="3666744" cy="457200"/>
          </a:xfrm>
          <a:prstGeom prst="roundRect">
            <a:avLst>
              <a:gd name="adj" fmla="val 100000"/>
            </a:avLst>
          </a:prstGeom>
          <a:solidFill>
            <a:srgbClr val="12407F"/>
          </a:solidFill>
          <a:ln w="12700">
            <a:solidFill>
              <a:srgbClr val="2F6FB5"/>
            </a:solidFill>
            <a:prstDash val="solid"/>
          </a:ln>
        </p:spPr>
      </p:sp>
      <p:pic>
        <p:nvPicPr>
          <p:cNvPr id="23" name="Image 5" descr="preencoded.png">    </p:cNvPr>
          <p:cNvPicPr>
            <a:picLocks noChangeAspect="1"/>
          </p:cNvPicPr>
          <p:nvPr/>
        </p:nvPicPr>
        <p:blipFill>
          <a:blip r:embed="rId10"/>
          <a:stretch>
            <a:fillRect/>
          </a:stretch>
        </p:blipFill>
        <p:spPr>
          <a:xfrm>
            <a:off x="694944" y="5011928"/>
            <a:ext cx="256032" cy="256032"/>
          </a:xfrm>
          <a:prstGeom prst="rect">
            <a:avLst/>
          </a:prstGeom>
        </p:spPr>
      </p:pic>
      <p:sp>
        <p:nvSpPr>
          <p:cNvPr id="24" name="Text 16"/>
          <p:cNvSpPr txBox="1"/>
          <p:nvPr/>
        </p:nvSpPr>
        <p:spPr>
          <a:xfrm>
            <a:off x="1051560"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1" invalidUrl="" action="" tgtFrame="" tooltip="latihan.md" history="1" highlightClick="0" endSnd="0">
                  <a:extLst>
                    <a:ext uri="{A12FA001-AC4F-418D-AE19-62706E023703}">
                      <ahyp:hlinkClr xmlns:ahyp="http://schemas.microsoft.com/office/drawing/2018/hyperlinkcolor" val="tx"/>
                    </a:ext>
                  </a:extLst>
                </a:hlinkClick>
              </a:rPr>
              <a:t>Latihan</a:t>
            </a:r>
            <a:endParaRPr lang="id-ID" sz="1600" dirty="0"/>
          </a:p>
        </p:txBody>
      </p:sp>
      <p:sp>
        <p:nvSpPr>
          <p:cNvPr id="25" name="Shape 17"/>
          <p:cNvSpPr/>
          <p:nvPr/>
        </p:nvSpPr>
        <p:spPr>
          <a:xfrm>
            <a:off x="4379976" y="4911344"/>
            <a:ext cx="3666744" cy="457200"/>
          </a:xfrm>
          <a:prstGeom prst="roundRect">
            <a:avLst>
              <a:gd name="adj" fmla="val 100000"/>
            </a:avLst>
          </a:prstGeom>
          <a:solidFill>
            <a:srgbClr val="12407F"/>
          </a:solidFill>
          <a:ln w="12700">
            <a:solidFill>
              <a:srgbClr val="2F6FB5"/>
            </a:solidFill>
            <a:prstDash val="solid"/>
          </a:ln>
        </p:spPr>
      </p:sp>
      <p:pic>
        <p:nvPicPr>
          <p:cNvPr id="26" name="Image 6" descr="preencoded.png">    </p:cNvPr>
          <p:cNvPicPr>
            <a:picLocks noChangeAspect="1"/>
          </p:cNvPicPr>
          <p:nvPr/>
        </p:nvPicPr>
        <p:blipFill>
          <a:blip r:embed="rId12"/>
          <a:stretch>
            <a:fillRect/>
          </a:stretch>
        </p:blipFill>
        <p:spPr>
          <a:xfrm>
            <a:off x="4526280" y="5011928"/>
            <a:ext cx="256032" cy="256032"/>
          </a:xfrm>
          <a:prstGeom prst="rect">
            <a:avLst/>
          </a:prstGeom>
        </p:spPr>
      </p:pic>
      <p:sp>
        <p:nvSpPr>
          <p:cNvPr id="27" name="Text 18"/>
          <p:cNvSpPr txBox="1"/>
          <p:nvPr/>
        </p:nvSpPr>
        <p:spPr>
          <a:xfrm>
            <a:off x="4882896" y="4911344"/>
            <a:ext cx="3072384" cy="457200"/>
          </a:xfrm>
          <a:prstGeom prst="rect">
            <a:avLst/>
          </a:prstGeom>
          <a:noFill/>
          <a:ln/>
        </p:spPr>
        <p:txBody>
          <a:bodyPr wrap="square" lIns="0" tIns="0" rIns="0" bIns="0" rtlCol="0" anchor="ctr"/>
          <a:lstStyle/>
          <a:p>
            <a:pPr indent="0" marL="0">
              <a:buNone/>
            </a:pPr>
            <a:r>
              <a:rPr lang="id-ID" altLang="en-US" sz="1600" b="1" u="sng" dirty="0">
                <a:solidFill>
                  <a:srgbClr val="FFFFFF"/>
                </a:solidFill>
                <a:hlinkClick r:id="rId13" invalidUrl="" action="" tgtFrame="" tooltip="kuis.md" history="1" highlightClick="0" endSnd="0">
                  <a:extLst>
                    <a:ext uri="{A12FA001-AC4F-418D-AE19-62706E023703}">
                      <ahyp:hlinkClr xmlns:ahyp="http://schemas.microsoft.com/office/drawing/2018/hyperlinkcolor" val="tx"/>
                    </a:ext>
                  </a:extLst>
                </a:hlinkClick>
              </a:rPr>
              <a:t>Kuis 10 soal</a:t>
            </a:r>
            <a:endParaRPr lang="id-ID" sz="1600" dirty="0"/>
          </a:p>
        </p:txBody>
      </p:sp>
      <p:sp>
        <p:nvSpPr>
          <p:cNvPr id="28" name="Shape 19"/>
          <p:cNvSpPr/>
          <p:nvPr/>
        </p:nvSpPr>
        <p:spPr>
          <a:xfrm>
            <a:off x="8503920" y="1280160"/>
            <a:ext cx="2880360" cy="2880360"/>
          </a:xfrm>
          <a:prstGeom prst="roundRect">
            <a:avLst>
              <a:gd name="adj" fmla="val 1411"/>
            </a:avLst>
          </a:prstGeom>
          <a:solidFill>
            <a:srgbClr val="FFFFFF"/>
          </a:solidFill>
          <a:ln/>
        </p:spPr>
      </p:sp>
      <p:pic>
        <p:nvPicPr>
          <p:cNvPr id="29" name="Image 7" descr="Kode QR menuju folder pertemuan di GitHub">    </p:cNvPr>
          <p:cNvPicPr>
            <a:picLocks noChangeAspect="1"/>
          </p:cNvPicPr>
          <p:nvPr/>
        </p:nvPicPr>
        <p:blipFill>
          <a:blip r:embed="rId14"/>
          <a:stretch>
            <a:fillRect/>
          </a:stretch>
        </p:blipFill>
        <p:spPr>
          <a:xfrm>
            <a:off x="8641080" y="1417320"/>
            <a:ext cx="2606040" cy="2606040"/>
          </a:xfrm>
          <a:prstGeom prst="rect">
            <a:avLst/>
          </a:prstGeom>
        </p:spPr>
      </p:pic>
      <p:sp>
        <p:nvSpPr>
          <p:cNvPr id="30" name="Text 20"/>
          <p:cNvSpPr txBox="1"/>
          <p:nvPr/>
        </p:nvSpPr>
        <p:spPr>
          <a:xfrm>
            <a:off x="8458200" y="4297680"/>
            <a:ext cx="2971800" cy="640080"/>
          </a:xfrm>
          <a:prstGeom prst="rect">
            <a:avLst/>
          </a:prstGeom>
          <a:noFill/>
          <a:ln/>
        </p:spPr>
        <p:txBody>
          <a:bodyPr wrap="square" lIns="0" tIns="0" rIns="0" bIns="0" rtlCol="0" anchor="t"/>
          <a:lstStyle/>
          <a:p>
            <a:pPr algn="ctr" indent="0" marL="0">
              <a:buNone/>
            </a:pPr>
            <a:r>
              <a:rPr lang="id-ID" altLang="en-US" sz="1400" dirty="0">
                <a:solidFill>
                  <a:srgbClr val="C9D7E8"/>
                </a:solidFill>
              </a:rPr>
              <a:t>Pindai untuk membuka folder pertemuan ini di GitHub</a:t>
            </a:r>
            <a:endParaRPr lang="id-ID" sz="1400" dirty="0"/>
          </a:p>
        </p:txBody>
      </p:sp>
      <p:sp>
        <p:nvSpPr>
          <p:cNvPr id="31" name="Text 21"/>
          <p:cNvSpPr txBox="1"/>
          <p:nvPr/>
        </p:nvSpPr>
        <p:spPr>
          <a:xfrm>
            <a:off x="548640" y="5925312"/>
            <a:ext cx="11094415" cy="320040"/>
          </a:xfrm>
          <a:prstGeom prst="rect">
            <a:avLst/>
          </a:prstGeom>
          <a:noFill/>
          <a:ln/>
        </p:spPr>
        <p:txBody>
          <a:bodyPr wrap="square" lIns="0" tIns="0" rIns="0" bIns="0" rtlCol="0" anchor="ctr"/>
          <a:lstStyle/>
          <a:p>
            <a:pPr indent="0" marL="0">
              <a:buNone/>
            </a:pPr>
            <a:r>
              <a:rPr lang="en-US" altLang="en-US" sz="1300" u="sng" dirty="0">
                <a:solidFill>
                  <a:srgbClr val="54AEFF"/>
                </a:solidFill>
                <a:hlinkClick r:id="rId15" invalidUrl="" action="" tgtFrame="" tooltip="" history="1" highlightClick="0" endSnd="0">
                  <a:extLst>
                    <a:ext uri="{A12FA001-AC4F-418D-AE19-62706E023703}">
                      <ahyp:hlinkClr xmlns:ahyp="http://schemas.microsoft.com/office/drawing/2018/hyperlinkcolor" val="tx"/>
                    </a:ext>
                  </a:extLst>
                </a:hlinkClick>
              </a:rPr>
              <a:t>github.com/antonprafanto/PBO2026/tree/master/Pertemuan-13-Prinsip-SOLID</a:t>
            </a:r>
            <a:endParaRPr 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FB3C8"/>
                </a:solidFill>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PBO 2026">
  <a:themeElements>
    <a:clrScheme name="PBO 2026">
      <a:dk1>
        <a:srgbClr val="1F2328"/>
      </a:dk1>
      <a:lt1>
        <a:srgbClr val="FFFFFF"/>
      </a:lt1>
      <a:dk2>
        <a:srgbClr val="0A3069"/>
      </a:dk2>
      <a:lt2>
        <a:srgbClr val="F6F8FA"/>
      </a:lt2>
      <a:accent1>
        <a:srgbClr val="0969DA"/>
      </a:accent1>
      <a:accent2>
        <a:srgbClr val="BC4C00"/>
      </a:accent2>
      <a:accent3>
        <a:srgbClr val="1A7F37"/>
      </a:accent3>
      <a:accent4>
        <a:srgbClr val="8250DF"/>
      </a:accent4>
      <a:accent5>
        <a:srgbClr val="CF222E"/>
      </a:accent5>
      <a:accent6>
        <a:srgbClr val="9A6700"/>
      </a:accent6>
      <a:hlink>
        <a:srgbClr val="0969DA"/>
      </a:hlink>
      <a:folHlink>
        <a:srgbClr val="8250DF"/>
      </a:folHlink>
    </a:clrScheme>
    <a:fontScheme name="PBO 2026">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Informatika Universitas Mulawarman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PBO 2026 Pertemuan 13: Prinsip SOLID</dc:title>
  <dc:subject>Pemrograman Berorientasi Objek 2026</dc:subject>
  <dc:creator>PBO 2026 UNMUL</dc:creator>
  <cp:lastModifiedBy>PBO 2026 UNMUL</cp:lastModifiedBy>
  <cp:revision>1</cp:revision>
  <dcterms:created xsi:type="dcterms:W3CDTF">2026-10-15T02:18:34Z</dcterms:created>
  <dcterms:modified xsi:type="dcterms:W3CDTF">2026-10-15T02:18:34Z</dcterms:modified>
</cp:coreProperties>
</file>