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34fa0f83-41f3-4a8e-c512-fa67d8740d59}">
          <p14:sldIdLst>
            <p14:sldId id="256"/>
            <p14:sldId id="257"/>
            <p14:sldId id="258"/>
            <p14:sldId id="259"/>
          </p14:sldIdLst>
        </p14:section>
        <p14:section name="Mengapa Data Perlu Dijaga?" id="{d8882aa5-f868-0221-bf29-f4395e130a32}">
          <p14:sldIdLst>
            <p14:sldId id="260"/>
            <p14:sldId id="261"/>
            <p14:sldId id="262"/>
            <p14:sldId id="263"/>
          </p14:sldIdLst>
        </p14:section>
        <p14:section name="Access Modifier: Siapa Boleh Masuk?" id="{c629096d-602e-9b1e-cf0b-13dc40ca407a}">
          <p14:sldIdLst>
            <p14:sldId id="264"/>
            <p14:sldId id="265"/>
            <p14:sldId id="266"/>
            <p14:sldId id="267"/>
          </p14:sldIdLst>
        </p14:section>
        <p14:section name="Getter, Setter, dan Validasi" id="{0598ef70-edaf-cd32-cabc-c234f4902131}">
          <p14:sldIdLst>
            <p14:sldId id="268"/>
            <p14:sldId id="269"/>
            <p14:sldId id="270"/>
            <p14:sldId id="271"/>
            <p14:sldId id="272"/>
          </p14:sldIdLst>
        </p14:section>
        <p14:section name="Read-Only dan Method Penjaga Aturan" id="{360cf0fa-ea87-1701-a6eb-807881657b30}">
          <p14:sldIdLst>
            <p14:sldId id="273"/>
            <p14:sldId id="274"/>
            <p14:sldId id="275"/>
            <p14:sldId id="276"/>
          </p14:sldIdLst>
        </p14:section>
        <p14:section name="Studi Kasus KedaiKita" id="{e4b5b634-42a2-d32b-439d-14a1e5f40375}">
          <p14:sldIdLst>
            <p14:sldId id="277"/>
            <p14:sldId id="278"/>
            <p14:sldId id="279"/>
            <p14:sldId id="280"/>
          </p14:sldIdLst>
        </p14:section>
        <p14:section name="Cek Pemahaman" id="{6b0c8b84-3cb1-ddc5-0dd1-41cf7d471746}">
          <p14:sldIdLst>
            <p14:sldId id="281"/>
            <p14:sldId id="282"/>
            <p14:sldId id="283"/>
            <p14:sldId id="284"/>
            <p14:sldId id="285"/>
          </p14:sldIdLst>
        </p14:section>
        <p14:section name="Penutup" id="{4de8ba03-e95d-9980-31f4-9876c01eff3b}">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04. Sampai Pertemuan 03, data sebuah objek bisa diubah siapa saja menjadi nilai apa saja, termasuk harga kopi yang minus. Hari ini kita belajar enkapsulasi: cara membuat objek menjaga datanya sendiri sehingga data yang tidak masuk akal ditolak sejak di pintu masuk. Inilah pilar PBO pertama yang kita pelajari secara mendalam. Semua materi, kode, latihan, dan kuis pertemuan ini ada di repositori GitHub mata kuliah, di folder Pertemuan-04-Enkapsulasi.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enam kemampuan yang kita kejar hari ini. Enkapsulasi adalah pilar PBO pertama yang kita pelajari secara mendalam; pilar lainnya, yaitu pewarisan, polimorfisme, dan abstraksi, menyusul di Pertemuan 07, 09, dan 10. Di akhir pertemuan, cek lagi satu per satu: sudahkah kamu bisa menjelaskannya dengan kata-katamu sendiri? Urutan belajarnya seperti biasa: konsep, praktik Python atau Java, halaman Jembatan Python ↔ Java, latihan, dan kuis.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Poin terakhir itu penting untuk hari ini. Karena satu objek bisa dipegang oleh banyak bagian program, siapa pun yang memegang referensinya bisa mengubah datanya.</a:t>
            </a:r>
            <a:endParaRPr lang="id-ID" dirty="0"/>
          </a:p>
          <a:p>
            <a:r>
              <a:rPr lang="id-ID" dirty="0"/>
              <a:t>Pertanyaan untuk kelas: di KedaiKita versi Pertemuan 03, apa yang terjadi jika seseorang menulis </a:t>
            </a:r>
            <a:r>
              <a:rPr lang="en-US" dirty="0">
                <a:latin typeface="Consolas"/>
              </a:rPr>
              <a:t>kopi.harga = -18000</a:t>
            </a:r>
            <a:r>
              <a:rPr lang="id-ID" dirty="0"/>
              <a:t>? Jawabannya: program diam saja. Lalu, bagaimana objek bisa melindungi dirinya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masalah harga kopi yang minus, lalu berkenalan dengan enkapsulasi. Setelah itu kita lihat aturan hak akses di Java dan Python, pintu baca dan pintu ubah beserta validasinya, lalu data yang tidak boleh berubah dan </a:t>
            </a:r>
            <a:r>
              <a:rPr lang="id-ID" dirty="0" i="1"/>
              <a:t>method</a:t>
            </a:r>
            <a:r>
              <a:rPr lang="id-ID" dirty="0"/>
              <a:t> penjaga aturan. Di bagian akhir, KedaiKita belajar menjaga datanya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dari sebuah kejadian di KedaiKita yang seharusnya tidak pernah terjadi.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program kasir KedaiKita versi Pertemuan 03 sudah dipakai di kafe. Seorang pemrogram magang yang terburu-buru menambahkan fitur promo, dan kodenya berisi baris seperti </a:t>
            </a:r>
            <a:r>
              <a:rPr lang="en-US" dirty="0">
                <a:latin typeface="Consolas"/>
              </a:rPr>
              <a:t>kopi.harga = -18000</a:t>
            </a:r>
            <a:r>
              <a:rPr lang="id-ID" dirty="0"/>
              <a:t>, </a:t>
            </a:r>
            <a:r>
              <a:rPr lang="en-US" dirty="0">
                <a:latin typeface="Consolas"/>
              </a:rPr>
              <a:t>kopi.stok = -5</a:t>
            </a:r>
            <a:r>
              <a:rPr lang="id-ID" dirty="0"/>
              <a:t>, dan </a:t>
            </a:r>
            <a:r>
              <a:rPr lang="en-US" dirty="0">
                <a:latin typeface="Consolas"/>
              </a:rPr>
              <a:t>budi.poin = 1000000</a:t>
            </a:r>
            <a:r>
              <a:rPr lang="id-ID" dirty="0"/>
              <a:t>. Program tetap berjalan tanpa protes, padahal akibatnya di kafe bisa kacau. Masalahnya bukan pada pemrogram magang itu, melainkan pada desain kelas yang membiarkan datanya diubah siapa saja menjadi nilai apa saja. Ingat juga </a:t>
            </a:r>
            <a:r>
              <a:rPr lang="en-US" dirty="0">
                <a:latin typeface="Consolas"/>
              </a:rPr>
              <a:t>RekeningBank</a:t>
            </a:r>
            <a:r>
              <a:rPr lang="id-ID" dirty="0"/>
              <a:t> di Pertemuan 02: </a:t>
            </a:r>
            <a:r>
              <a:rPr lang="en-US" dirty="0">
                <a:latin typeface="Consolas"/>
              </a:rPr>
              <a:t>tarik()</a:t>
            </a:r>
            <a:r>
              <a:rPr lang="id-ID" dirty="0"/>
              <a:t> sudah menolak penarikan berlebih, tetapi </a:t>
            </a:r>
            <a:r>
              <a:rPr lang="en-US" dirty="0">
                <a:latin typeface="Consolas"/>
              </a:rPr>
              <a:t>saldo</a:t>
            </a:r>
            <a:r>
              <a:rPr lang="id-ID" dirty="0"/>
              <a:t> masih bisa diubah langsung. Satpam di pintu depan tidak ada gunanya jika jendela samping terbuka lebar.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Coba perhatikan sebutir kapsul obat. Serbuk obat dibungkus cangkang, dan kamu menelannya utuh tanpa perlu menakar serbuknya. Sekarang perhatikan mesin ATM. Brankas berisi uang tunai tidak bisa kamu buka; kamu hanya bisa memakai menu di layar, dan setiap menu memeriksa aturan lebih dulu: PIN benar, saldo cukup, dan tidak melebihi batas harian. Keduanya memakai prinsip enkapsulasi. Sisi membungkus sudah kita lakukan sejak Pertemuan 02. Sisi menyembunyikan, atau </a:t>
            </a:r>
            <a:r>
              <a:rPr lang="id-ID" dirty="0" i="1"/>
              <a:t>information hiding</a:t>
            </a:r>
            <a:r>
              <a:rPr lang="id-ID" dirty="0"/>
              <a:t>, adalah yang baru hari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Diagram ini merangkum enkapsulasi. Kode di luar kelas, misalnya program kasir, memanggil pintu resmi berupa </a:t>
            </a:r>
            <a:r>
              <a:rPr lang="id-ID" dirty="0" i="1"/>
              <a:t>method</a:t>
            </a:r>
            <a:r>
              <a:rPr lang="id-ID" dirty="0"/>
              <a:t> publik. Pintu itu memeriksa aturan lebih dulu, baru mengubah data privat seperti harga, stok, dan poin. Jalan langsung ke data dilarang. Bayangkan KedaiKita: kamu memesan di meja kasir, sedangkan pintu dapur bertuliskan "Selain karyawan dilarang masuk". Jika koki mengganti cara menyimpan bahan, cara memesan tetap sama. Untungnya: data selalu valid, kelas mudah dipakai, isinya mudah diubah, dan kesalahan mudah dilacak. Pegangan praktis: sembunyikan data secara bawaan, lalu buka hanya pintu yang benar-benar dibutuhkan.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gedung fakultas. Lobi terbuka untuk siapa saja, ruang himpunan hanya untuk warga fakultas itu, dan lemari pribadi dosen hanya bisa dibuka pemilik kuncinya. Kode juga butuh aturan seperti itu.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i="1"/>
              <a:t>Access modifier</a:t>
            </a:r>
            <a:r>
              <a:rPr lang="id-ID" dirty="0"/>
              <a:t> adalah penanda yang menentukan bagian kode mana saja yang boleh mengakses sebuah atribut, </a:t>
            </a:r>
            <a:r>
              <a:rPr lang="id-ID" dirty="0" i="1"/>
              <a:t>method</a:t>
            </a:r>
            <a:r>
              <a:rPr lang="id-ID" dirty="0"/>
              <a:t>, atau kelas. Java punya empat tingkat. Paket (</a:t>
            </a:r>
            <a:r>
              <a:rPr lang="id-ID" dirty="0" i="1"/>
              <a:t>package</a:t>
            </a:r>
            <a:r>
              <a:rPr lang="id-ID" dirty="0"/>
              <a:t>) adalah kelompok kelas, mirip folder yang mengelompokkan </a:t>
            </a:r>
            <a:r>
              <a:rPr lang="id-ID" dirty="0" i="1"/>
              <a:t>file</a:t>
            </a:r>
            <a:r>
              <a:rPr lang="id-ID" dirty="0"/>
              <a:t>; sejauh ini semua kelas kita berada di paket tanpa nama yang sama. Kolom kelas anak berkaitan dengan pewarisan di Pertemuan 07. Jika kode lain mencoba menyentuh atribut </a:t>
            </a:r>
            <a:r>
              <a:rPr lang="en-US" dirty="0">
                <a:latin typeface="Consolas"/>
              </a:rPr>
              <a:t>private</a:t>
            </a:r>
            <a:r>
              <a:rPr lang="id-ID" dirty="0"/>
              <a:t>, Java menolaknya saat kompilasi dengan pesan </a:t>
            </a:r>
            <a:r>
              <a:rPr lang="en-US" dirty="0">
                <a:latin typeface="Consolas"/>
              </a:rPr>
              <a:t>has private access</a:t>
            </a:r>
            <a:r>
              <a:rPr lang="id-ID" dirty="0"/>
              <a:t>, sebelum program sempat berjalan. Perhatikan juga: </a:t>
            </a:r>
            <a:r>
              <a:rPr lang="en-US" dirty="0">
                <a:latin typeface="Consolas"/>
              </a:rPr>
              <a:t>protected</a:t>
            </a:r>
            <a:r>
              <a:rPr lang="id-ID" dirty="0"/>
              <a:t> tidak hanya untuk kelas anak, karena kelas lain di paket yang sama pun boleh mengaksesnya.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Python tidak punya kata kunci </a:t>
            </a:r>
            <a:r>
              <a:rPr lang="en-US" dirty="0">
                <a:latin typeface="Consolas"/>
              </a:rPr>
              <a:t>public</a:t>
            </a:r>
            <a:r>
              <a:rPr lang="id-ID" dirty="0"/>
              <a:t> atau </a:t>
            </a:r>
            <a:r>
              <a:rPr lang="en-US" dirty="0">
                <a:latin typeface="Consolas"/>
              </a:rPr>
              <a:t>private</a:t>
            </a:r>
            <a:r>
              <a:rPr lang="id-ID" dirty="0"/>
              <a:t>. Python memakai konvensi penamaan dan memegang semboyan bahwa pemrogram adalah orang dewasa yang bertanggung jawab. Satu garis bawah adalah rambu "dilarang masuk" yang dihormati komunitas Python, bukan gembok. Dalam praktik, pemrogram Python memakai satu garis bawah untuk data internal, lalu menyediakan pintu resmi bernama </a:t>
            </a:r>
            <a:r>
              <a:rPr lang="id-ID" dirty="0" i="1"/>
              <a:t>property</a:t>
            </a:r>
            <a:r>
              <a:rPr lang="id-ID" dirty="0"/>
              <a:t>. Ingat juga bahwa </a:t>
            </a:r>
            <a:r>
              <a:rPr lang="id-ID" dirty="0" i="1"/>
              <a:t>access modifier</a:t>
            </a:r>
            <a:r>
              <a:rPr lang="id-ID" dirty="0"/>
              <a:t> bukan fitur keamanan. Tujuannya mencegah kesalahan pemakaian oleh sesama pemrogram, bukan menghalangi peretas.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Contoh 02 versi Python memakai kelas </a:t>
            </a:r>
            <a:r>
              <a:rPr lang="en-US" dirty="0">
                <a:latin typeface="Consolas"/>
              </a:rPr>
              <a:t>Brankas</a:t>
            </a:r>
            <a:r>
              <a:rPr lang="id-ID" dirty="0"/>
              <a:t> dengan PIN. Atribut </a:t>
            </a:r>
            <a:r>
              <a:rPr lang="en-US" dirty="0">
                <a:latin typeface="Consolas"/>
              </a:rPr>
              <a:t>self.__pin</a:t>
            </a:r>
            <a:r>
              <a:rPr lang="id-ID" dirty="0"/>
              <a:t> diam-diam disimpan dengan nama </a:t>
            </a:r>
            <a:r>
              <a:rPr lang="en-US" dirty="0">
                <a:latin typeface="Consolas"/>
              </a:rPr>
              <a:t>_Brankas__pin</a:t>
            </a:r>
            <a:r>
              <a:rPr lang="id-ID" dirty="0"/>
              <a:t>. Karena itu, </a:t>
            </a:r>
            <a:r>
              <a:rPr lang="en-US" dirty="0">
                <a:latin typeface="Consolas"/>
              </a:rPr>
              <a:t>hasattr(brankas, '__pin')</a:t>
            </a:r>
            <a:r>
              <a:rPr lang="id-ID" dirty="0"/>
              <a:t> menjawab tidak; fungsi bantu </a:t>
            </a:r>
            <a:r>
              <a:rPr lang="en-US" dirty="0">
                <a:latin typeface="Consolas"/>
              </a:rPr>
              <a:t>ya_tidak()</a:t>
            </a:r>
            <a:r>
              <a:rPr lang="id-ID" dirty="0"/>
              <a:t> hanya mengubah </a:t>
            </a:r>
            <a:r>
              <a:rPr lang="en-US" dirty="0">
                <a:latin typeface="Consolas"/>
              </a:rPr>
              <a:t>True</a:t>
            </a:r>
            <a:r>
              <a:rPr lang="id-ID" dirty="0"/>
              <a:t>/</a:t>
            </a:r>
            <a:r>
              <a:rPr lang="en-US" dirty="0">
                <a:latin typeface="Consolas"/>
              </a:rPr>
              <a:t>False</a:t>
            </a:r>
            <a:r>
              <a:rPr lang="id-ID" dirty="0"/>
              <a:t> menjadi teks. Fungsi </a:t>
            </a:r>
            <a:r>
              <a:rPr lang="en-US" dirty="0">
                <a:latin typeface="Consolas"/>
              </a:rPr>
              <a:t>vars()</a:t>
            </a:r>
            <a:r>
              <a:rPr lang="id-ID" dirty="0"/>
              <a:t> menampilkan isi objek yang sebenarnya, dan PIN tetap bisa dibaca lewat nama barunya. Jadi, </a:t>
            </a:r>
            <a:r>
              <a:rPr lang="id-ID" dirty="0" i="1"/>
              <a:t>name mangling</a:t>
            </a:r>
            <a:r>
              <a:rPr lang="id-ID" dirty="0"/>
              <a:t> bukan gembok. Tujuan aslinya adalah mencegah bentrok nama saat kelas diwarisi kelas lain, yang kita pelajari di Pertemuan 07. Contoh 02 versi Java berbeda: ia memakai </a:t>
            </a:r>
            <a:r>
              <a:rPr lang="en-US" dirty="0">
                <a:latin typeface="Consolas"/>
              </a:rPr>
              <a:t>private</a:t>
            </a:r>
            <a:r>
              <a:rPr lang="id-ID" dirty="0"/>
              <a:t> dan </a:t>
            </a:r>
            <a:r>
              <a:rPr lang="id-ID" dirty="0" i="1"/>
              <a:t>getter</a:t>
            </a:r>
            <a:r>
              <a:rPr lang="id-ID" dirty="0"/>
              <a:t>, dan PIN yang tidak punya </a:t>
            </a:r>
            <a:r>
              <a:rPr lang="id-ID" dirty="0" i="1"/>
              <a:t>getter</a:t>
            </a:r>
            <a:r>
              <a:rPr lang="id-ID" dirty="0"/>
              <a:t> tidak bisa dibaca dari luar kelas.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Jika data disembunyikan, bagaimana pihak luar membacanya atau mengubahnya? Pikirkan bagian akademik kampus: kamu bisa melihat datamu lewat portal, dan untuk mengubahnya kamu mengisi formulir yang diperiksa petugas dulu.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i="1"/>
              <a:t>Getter</a:t>
            </a:r>
            <a:r>
              <a:rPr lang="id-ID" dirty="0"/>
              <a:t> adalah </a:t>
            </a:r>
            <a:r>
              <a:rPr lang="id-ID" dirty="0" i="1"/>
              <a:t>method</a:t>
            </a:r>
            <a:r>
              <a:rPr lang="id-ID" dirty="0"/>
              <a:t> untuk membaca nilai atribut privat. </a:t>
            </a:r>
            <a:r>
              <a:rPr lang="id-ID" dirty="0" i="1"/>
              <a:t>Setter</a:t>
            </a:r>
            <a:r>
              <a:rPr lang="id-ID" dirty="0"/>
              <a:t> adalah </a:t>
            </a:r>
            <a:r>
              <a:rPr lang="id-ID" dirty="0" i="1"/>
              <a:t>method</a:t>
            </a:r>
            <a:r>
              <a:rPr lang="id-ID" dirty="0"/>
              <a:t> untuk mengubahnya, biasanya sambil memeriksa apakah nilai barunya masuk akal. Konsepnya sama di kedua bahasa, cara menulisnya berbeda. Dari luar, </a:t>
            </a:r>
            <a:r>
              <a:rPr lang="en-US" dirty="0">
                <a:latin typeface="Consolas"/>
              </a:rPr>
              <a:t>kopi.harga</a:t>
            </a:r>
            <a:r>
              <a:rPr lang="id-ID" dirty="0"/>
              <a:t> di Python terlihat seperti atribut biasa, padahal di balik layar ada </a:t>
            </a:r>
            <a:r>
              <a:rPr lang="id-ID" dirty="0" i="1"/>
              <a:t>method</a:t>
            </a:r>
            <a:r>
              <a:rPr lang="id-ID" dirty="0"/>
              <a:t> yang bekerja. Itulah sebabnya pemrogram Python tidak perlu menulis </a:t>
            </a:r>
            <a:r>
              <a:rPr lang="en-US" dirty="0">
                <a:latin typeface="Consolas"/>
              </a:rPr>
              <a:t>get_harga()</a:t>
            </a:r>
            <a:r>
              <a:rPr lang="id-ID" dirty="0"/>
              <a:t>. Di Java, nama </a:t>
            </a:r>
            <a:r>
              <a:rPr lang="en-US" dirty="0">
                <a:latin typeface="Consolas"/>
              </a:rPr>
              <a:t>getHarga</a:t>
            </a:r>
            <a:r>
              <a:rPr lang="id-ID" dirty="0"/>
              <a:t>, </a:t>
            </a:r>
            <a:r>
              <a:rPr lang="en-US" dirty="0">
                <a:latin typeface="Consolas"/>
              </a:rPr>
              <a:t>setHarga</a:t>
            </a:r>
            <a:r>
              <a:rPr lang="id-ID" dirty="0"/>
              <a:t>, dan </a:t>
            </a:r>
            <a:r>
              <a:rPr lang="en-US" dirty="0">
                <a:latin typeface="Consolas"/>
              </a:rPr>
              <a:t>isPenuh</a:t>
            </a:r>
            <a:r>
              <a:rPr lang="id-ID" dirty="0"/>
              <a:t> adalah kesepakatan penamaan yang diikuti hampir semua pemrogram Java, dan banyak </a:t>
            </a:r>
            <a:r>
              <a:rPr lang="id-ID" dirty="0" i="1"/>
              <a:t>library</a:t>
            </a:r>
            <a:r>
              <a:rPr lang="id-ID" dirty="0"/>
              <a:t> Java mengandalkan pola nama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Contoh 03 memakai televisi dengan volume 0 sampai 100. Data aslinya disimpan di </a:t>
            </a:r>
            <a:r>
              <a:rPr lang="en-US" dirty="0">
                <a:latin typeface="Consolas"/>
              </a:rPr>
              <a:t>self._volume</a:t>
            </a:r>
            <a:r>
              <a:rPr lang="id-ID" dirty="0"/>
              <a:t> dengan satu garis bawah. </a:t>
            </a:r>
            <a:r>
              <a:rPr lang="en-US" dirty="0">
                <a:latin typeface="Consolas"/>
              </a:rPr>
              <a:t>@property</a:t>
            </a:r>
            <a:r>
              <a:rPr lang="id-ID" dirty="0"/>
              <a:t> di atas </a:t>
            </a:r>
            <a:r>
              <a:rPr lang="en-US" dirty="0">
                <a:latin typeface="Consolas"/>
              </a:rPr>
              <a:t>def volume</a:t>
            </a:r>
            <a:r>
              <a:rPr lang="id-ID" dirty="0"/>
              <a:t> membuat </a:t>
            </a:r>
            <a:r>
              <a:rPr lang="id-ID" dirty="0" i="1"/>
              <a:t>getter</a:t>
            </a:r>
            <a:r>
              <a:rPr lang="id-ID" dirty="0"/>
              <a:t>, sedangkan </a:t>
            </a:r>
            <a:r>
              <a:rPr lang="en-US" dirty="0">
                <a:latin typeface="Consolas"/>
              </a:rPr>
              <a:t>@volume.setter</a:t>
            </a:r>
            <a:r>
              <a:rPr lang="id-ID" dirty="0"/>
              <a:t> membuat </a:t>
            </a:r>
            <a:r>
              <a:rPr lang="id-ID" dirty="0" i="1"/>
              <a:t>setter</a:t>
            </a:r>
            <a:r>
              <a:rPr lang="id-ID" dirty="0"/>
              <a:t> dengan nama yang sama. Saat kita menulis </a:t>
            </a:r>
            <a:r>
              <a:rPr lang="en-US" dirty="0">
                <a:latin typeface="Consolas"/>
              </a:rPr>
              <a:t>tv.volume = 25</a:t>
            </a:r>
            <a:r>
              <a:rPr lang="id-ID" dirty="0"/>
              <a:t>, Python diam-diam memanggil </a:t>
            </a:r>
            <a:r>
              <a:rPr lang="id-ID" dirty="0" i="1"/>
              <a:t>setter</a:t>
            </a:r>
            <a:r>
              <a:rPr lang="id-ID" dirty="0"/>
              <a:t> itu. Jika nilainya di luar 0 sampai 100, </a:t>
            </a:r>
            <a:r>
              <a:rPr lang="id-ID" dirty="0" i="1"/>
              <a:t>setter</a:t>
            </a:r>
            <a:r>
              <a:rPr lang="id-ID" dirty="0"/>
              <a:t> tidak sekadar mencetak pesan, melainkan melempar </a:t>
            </a:r>
            <a:r>
              <a:rPr lang="id-ID" dirty="0" i="1"/>
              <a:t>exception</a:t>
            </a:r>
            <a:r>
              <a:rPr lang="id-ID" dirty="0"/>
              <a:t> dengan </a:t>
            </a:r>
            <a:r>
              <a:rPr lang="en-US" dirty="0">
                <a:latin typeface="Consolas"/>
              </a:rPr>
              <a:t>raise ValueError(...)</a:t>
            </a:r>
            <a:r>
              <a:rPr lang="id-ID" dirty="0"/>
              <a:t>. </a:t>
            </a:r>
            <a:r>
              <a:rPr lang="id-ID" dirty="0" i="1"/>
              <a:t>Exception</a:t>
            </a:r>
            <a:r>
              <a:rPr lang="id-ID" dirty="0"/>
              <a:t> adalah sinyal kesalahan yang menghentikan perintah dan melapor ke pemanggil, sehingga pemanggil tahu perintahnya gagal. Volume lama tetap utuh.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contoh 03 versi Java. Kedua </a:t>
            </a:r>
            <a:r>
              <a:rPr lang="id-ID" dirty="0" i="1"/>
              <a:t>field</a:t>
            </a:r>
            <a:r>
              <a:rPr lang="id-ID" dirty="0"/>
              <a:t> dibuat </a:t>
            </a:r>
            <a:r>
              <a:rPr lang="en-US" dirty="0">
                <a:latin typeface="Consolas"/>
              </a:rPr>
              <a:t>private</a:t>
            </a:r>
            <a:r>
              <a:rPr lang="id-ID" dirty="0"/>
              <a:t>, jadi hanya kode di dalam kelas </a:t>
            </a:r>
            <a:r>
              <a:rPr lang="en-US" dirty="0">
                <a:latin typeface="Consolas"/>
              </a:rPr>
              <a:t>Televisi</a:t>
            </a:r>
            <a:r>
              <a:rPr lang="id-ID" dirty="0"/>
              <a:t> yang boleh menyentuhnya. Pintu resminya adalah </a:t>
            </a:r>
            <a:r>
              <a:rPr lang="id-ID" dirty="0" i="1"/>
              <a:t>method</a:t>
            </a:r>
            <a:r>
              <a:rPr lang="id-ID" dirty="0"/>
              <a:t> </a:t>
            </a:r>
            <a:r>
              <a:rPr lang="en-US" dirty="0">
                <a:latin typeface="Consolas"/>
              </a:rPr>
              <a:t>public</a:t>
            </a:r>
            <a:r>
              <a:rPr lang="id-ID" dirty="0"/>
              <a:t>: </a:t>
            </a:r>
            <a:r>
              <a:rPr lang="en-US" dirty="0">
                <a:latin typeface="Consolas"/>
              </a:rPr>
              <a:t>getVolume()</a:t>
            </a:r>
            <a:r>
              <a:rPr lang="id-ID" dirty="0"/>
              <a:t> untuk membaca dan </a:t>
            </a:r>
            <a:r>
              <a:rPr lang="en-US" dirty="0">
                <a:latin typeface="Consolas"/>
              </a:rPr>
              <a:t>setVolume()</a:t>
            </a:r>
            <a:r>
              <a:rPr lang="id-ID" dirty="0"/>
              <a:t> untuk mengubah. </a:t>
            </a:r>
            <a:r>
              <a:rPr lang="id-ID" dirty="0" i="1"/>
              <a:t>Setter</a:t>
            </a:r>
            <a:r>
              <a:rPr lang="id-ID" dirty="0"/>
              <a:t> memeriksa nilai barunya; jika di luar 0 sampai 100, ia melempar </a:t>
            </a:r>
            <a:r>
              <a:rPr lang="id-ID" dirty="0" i="1"/>
              <a:t>exception</a:t>
            </a:r>
            <a:r>
              <a:rPr lang="id-ID" dirty="0"/>
              <a:t> dengan </a:t>
            </a:r>
            <a:r>
              <a:rPr lang="en-US" dirty="0">
                <a:latin typeface="Consolas"/>
              </a:rPr>
              <a:t>throw new IllegalArgumentException(...)</a:t>
            </a:r>
            <a:r>
              <a:rPr lang="id-ID" dirty="0"/>
              <a:t>, dan nilai lama tetap utuh. Bandingkan dengan Python: hasilnya sama, hanya cara menulisnya yang berbeda. Di Python kita menulis </a:t>
            </a:r>
            <a:r>
              <a:rPr lang="en-US" dirty="0">
                <a:latin typeface="Consolas"/>
              </a:rPr>
              <a:t>tv.volume = 25</a:t>
            </a:r>
            <a:r>
              <a:rPr lang="id-ID" dirty="0"/>
              <a:t>, sedangkan di Java </a:t>
            </a:r>
            <a:r>
              <a:rPr lang="en-US" dirty="0">
                <a:latin typeface="Consolas"/>
              </a:rPr>
              <a:t>tv.setVolume(25)</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Data bisa masuk ke objek lewat dua pintu: </a:t>
            </a:r>
            <a:r>
              <a:rPr lang="id-ID" dirty="0" i="1"/>
              <a:t>setter</a:t>
            </a:r>
            <a:r>
              <a:rPr lang="id-ID" dirty="0"/>
              <a:t> dan konstruktor. Jika </a:t>
            </a:r>
            <a:r>
              <a:rPr lang="id-ID" dirty="0" i="1"/>
              <a:t>setter</a:t>
            </a:r>
            <a:r>
              <a:rPr lang="id-ID" dirty="0"/>
              <a:t> rajin memeriksa, tetapi konstruktor menyimpan data begitu saja, objek bisa lahir cacat. Contoh 04 membandingkan dua kelas. </a:t>
            </a:r>
            <a:r>
              <a:rPr lang="en-US" dirty="0">
                <a:latin typeface="Consolas"/>
              </a:rPr>
              <a:t>MahasiswaBercelah</a:t>
            </a:r>
            <a:r>
              <a:rPr lang="id-ID" dirty="0"/>
              <a:t> memeriksa semester hanya di </a:t>
            </a:r>
            <a:r>
              <a:rPr lang="id-ID" dirty="0" i="1"/>
              <a:t>setter</a:t>
            </a:r>
            <a:r>
              <a:rPr lang="id-ID" dirty="0"/>
              <a:t>, sehingga mahasiswa semester 20 lolos dibuat. Kelas </a:t>
            </a:r>
            <a:r>
              <a:rPr lang="en-US" dirty="0">
                <a:latin typeface="Consolas"/>
              </a:rPr>
              <a:t>Mahasiswa</a:t>
            </a:r>
            <a:r>
              <a:rPr lang="id-ID" dirty="0"/>
              <a:t> di </a:t>
            </a:r>
            <a:r>
              <a:rPr lang="id-ID" dirty="0" i="1"/>
              <a:t>slide</a:t>
            </a:r>
            <a:r>
              <a:rPr lang="id-ID" dirty="0"/>
              <a:t> ini memperbaikinya: di Python, </a:t>
            </a:r>
            <a:r>
              <a:rPr lang="en-US" dirty="0">
                <a:latin typeface="Consolas"/>
              </a:rPr>
              <a:t>self.nama = nama</a:t>
            </a:r>
            <a:r>
              <a:rPr lang="id-ID" dirty="0"/>
              <a:t> di dalam </a:t>
            </a:r>
            <a:r>
              <a:rPr lang="en-US" dirty="0">
                <a:latin typeface="Consolas"/>
              </a:rPr>
              <a:t>__init__</a:t>
            </a:r>
            <a:r>
              <a:rPr lang="id-ID" dirty="0"/>
              <a:t> memanggil </a:t>
            </a:r>
            <a:r>
              <a:rPr lang="id-ID" dirty="0" i="1"/>
              <a:t>setter</a:t>
            </a:r>
            <a:r>
              <a:rPr lang="id-ID" dirty="0"/>
              <a:t>; di Java, konstruktor memanggil </a:t>
            </a:r>
            <a:r>
              <a:rPr lang="en-US" dirty="0">
                <a:latin typeface="Consolas"/>
              </a:rPr>
              <a:t>setNama(nama)</a:t>
            </a:r>
            <a:r>
              <a:rPr lang="id-ID" dirty="0"/>
              <a:t>. Akibatnya, </a:t>
            </a:r>
            <a:r>
              <a:rPr lang="en-US" dirty="0">
                <a:latin typeface="Consolas"/>
              </a:rPr>
              <a:t>Mahasiswa("Citra", 20)</a:t>
            </a:r>
            <a:r>
              <a:rPr lang="id-ID" dirty="0"/>
              <a:t> langsung ditolak. Bagian </a:t>
            </a:r>
            <a:r>
              <a:rPr lang="en-US" dirty="0">
                <a:latin typeface="Consolas"/>
              </a:rPr>
              <a:t>...</a:t>
            </a:r>
            <a:r>
              <a:rPr lang="id-ID" dirty="0"/>
              <a:t> di sisi Java adalah baris </a:t>
            </a:r>
            <a:r>
              <a:rPr lang="en-US" dirty="0">
                <a:latin typeface="Consolas"/>
              </a:rPr>
              <a:t>throw</a:t>
            </a:r>
            <a:r>
              <a:rPr lang="id-ID" dirty="0"/>
              <a:t> dengan pesan "Nama tidak boleh kosong".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Tidak semua atribut butuh </a:t>
            </a:r>
            <a:r>
              <a:rPr lang="id-ID" dirty="0" i="1"/>
              <a:t>setter</a:t>
            </a:r>
            <a:r>
              <a:rPr lang="id-ID" dirty="0"/>
              <a:t>. Ada data yang tidak boleh berubah sama sekali, dan ada perubahan yang sebaiknya punya nama yang bermakna.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Lihat KTP-mu. NIK tidak pernah berubah seumur hidup, sedangkan alamat boleh berubah saat kamu pindah rumah. Kode menu </a:t>
            </a:r>
            <a:r>
              <a:rPr lang="en-US" dirty="0">
                <a:latin typeface="Consolas"/>
              </a:rPr>
              <a:t>M01</a:t>
            </a:r>
            <a:r>
              <a:rPr lang="id-ID" dirty="0"/>
              <a:t> di KedaiKita juga begitu: dipakai di struk dan laporan, jadi tidak boleh tiba-tiba berganti. Contoh 05 memakai kelas </a:t>
            </a:r>
            <a:r>
              <a:rPr lang="en-US" dirty="0">
                <a:latin typeface="Consolas"/>
              </a:rPr>
              <a:t>Penduduk</a:t>
            </a:r>
            <a:r>
              <a:rPr lang="id-ID" dirty="0"/>
              <a:t>: NIK dan nama bersifat </a:t>
            </a:r>
            <a:r>
              <a:rPr lang="id-ID" dirty="0" i="1"/>
              <a:t>read-only</a:t>
            </a:r>
            <a:r>
              <a:rPr lang="id-ID" dirty="0"/>
              <a:t>, sedangkan alamat punya </a:t>
            </a:r>
            <a:r>
              <a:rPr lang="id-ID" dirty="0" i="1"/>
              <a:t>setter</a:t>
            </a:r>
            <a:r>
              <a:rPr lang="id-ID" dirty="0"/>
              <a:t> yang menolak alamat kosong. Di Java, atribut </a:t>
            </a:r>
            <a:r>
              <a:rPr lang="en-US" dirty="0">
                <a:latin typeface="Consolas"/>
              </a:rPr>
              <a:t>final</a:t>
            </a:r>
            <a:r>
              <a:rPr lang="id-ID" dirty="0"/>
              <a:t> hanya boleh diisi satu kali, biasanya di konstruktor; setelah itu, kode di dalam kelas pun tidak bisa mengubahnya lagi. Python tidak punya kata kunci seperti ini, jadi cukup memakai </a:t>
            </a:r>
            <a:r>
              <a:rPr lang="id-ID" dirty="0" i="1"/>
              <a:t>property</a:t>
            </a:r>
            <a:r>
              <a:rPr lang="id-ID" dirty="0"/>
              <a:t> tanpa </a:t>
            </a:r>
            <a:r>
              <a:rPr lang="id-ID" dirty="0" i="1"/>
              <a:t>setter</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Kembali ke ATM. Tidak ada menu "ubah saldo" di ATM; yang ada hanya setor dan tarik tunai, masing-masing dengan aturannya sendiri. Bank sengaja tidak menyediakan pintu "ubah saldo" karena terlalu berbahaya. Stok menu KedaiKita sebaiknya diperlakukan sama. </a:t>
            </a:r>
            <a:r>
              <a:rPr lang="id-ID" dirty="0" i="1"/>
              <a:t>Setter</a:t>
            </a:r>
            <a:r>
              <a:rPr lang="id-ID" dirty="0"/>
              <a:t> stok hanya berbunyi "ubah stok menjadi 15", sehingga kelas tidak tahu apakah menu terjual, baru restok, atau salah ketik. </a:t>
            </a:r>
            <a:r>
              <a:rPr lang="id-ID" dirty="0" i="1"/>
              <a:t>Method</a:t>
            </a:r>
            <a:r>
              <a:rPr lang="id-ID" dirty="0"/>
              <a:t> penjaga aturan adalah satu-satunya jalan resmi untuk mengubah data tertentu sambil memastikan aturan bisnisnya tidak pernah dilanggar. Contoh lain di halaman praktik: jumlah motor di parkiran hanya berubah lewat </a:t>
            </a:r>
            <a:r>
              <a:rPr lang="en-US" dirty="0">
                <a:latin typeface="Consolas"/>
              </a:rPr>
              <a:t>masuk()</a:t>
            </a:r>
            <a:r>
              <a:rPr lang="id-ID" dirty="0"/>
              <a:t> dan </a:t>
            </a:r>
            <a:r>
              <a:rPr lang="en-US" dirty="0">
                <a:latin typeface="Consolas"/>
              </a:rPr>
              <a:t>keluar()</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Ada kebiasaan buruk setelah belajar enkapsulasi: membuat semua atribut privat, lalu otomatis memberi </a:t>
            </a:r>
            <a:r>
              <a:rPr lang="id-ID" dirty="0" i="1"/>
              <a:t>getter</a:t>
            </a:r>
            <a:r>
              <a:rPr lang="id-ID" dirty="0"/>
              <a:t> dan </a:t>
            </a:r>
            <a:r>
              <a:rPr lang="id-ID" dirty="0" i="1"/>
              <a:t>setter</a:t>
            </a:r>
            <a:r>
              <a:rPr lang="id-ID" dirty="0"/>
              <a:t> untuk semuanya. </a:t>
            </a:r>
            <a:r>
              <a:rPr lang="id-ID" dirty="0" i="1"/>
              <a:t>Setter</a:t>
            </a:r>
            <a:r>
              <a:rPr lang="id-ID" dirty="0"/>
              <a:t> yang menerima nilai apa saja sama saja dengan atribut publik: pintunya ada, penjaganya tidak ada. Ajukan empat pertanyaan ini secara berurutan untuk setiap atribut. Prinsip </a:t>
            </a:r>
            <a:r>
              <a:rPr lang="id-ID" dirty="0" i="1"/>
              <a:t>tell, don't ask</a:t>
            </a:r>
            <a:r>
              <a:rPr lang="id-ID" dirty="0"/>
              <a:t> melengkapinya. Dengan gaya bertanya, aturan "stok tidak boleh minus" tercecer di layar kasir, pesanan daring, dan laporan. Dengan gaya menyuruh, aturannya hanya tinggal di satu tempat, yaitu kelas </a:t>
            </a:r>
            <a:r>
              <a:rPr lang="en-US" dirty="0">
                <a:latin typeface="Consolas"/>
              </a:rPr>
              <a:t>Menu</a:t>
            </a:r>
            <a:r>
              <a:rPr lang="id-ID" dirty="0"/>
              <a:t>. </a:t>
            </a:r>
            <a:r>
              <a:rPr lang="id-ID" dirty="0" i="1"/>
              <a:t>Getter</a:t>
            </a:r>
            <a:r>
              <a:rPr lang="id-ID" dirty="0"/>
              <a:t> tetap boleh dipakai untuk menampilkan data, misalnya mencetak struk.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Hari ini KedaiKita naik kelas. Kelas </a:t>
            </a:r>
            <a:r>
              <a:rPr lang="en-US" dirty="0">
                <a:latin typeface="Consolas"/>
              </a:rPr>
              <a:t>Menu</a:t>
            </a:r>
            <a:r>
              <a:rPr lang="id-ID" dirty="0"/>
              <a:t> dan </a:t>
            </a:r>
            <a:r>
              <a:rPr lang="en-US" dirty="0">
                <a:latin typeface="Consolas"/>
              </a:rPr>
              <a:t>Pelanggan</a:t>
            </a:r>
            <a:r>
              <a:rPr lang="id-ID" dirty="0"/>
              <a:t> sekarang menjaga datanya sendiri, sehingga baris seperti </a:t>
            </a:r>
            <a:r>
              <a:rPr lang="en-US" dirty="0">
                <a:latin typeface="Consolas"/>
              </a:rPr>
              <a:t>kopi.harga = -18000</a:t>
            </a:r>
            <a:r>
              <a:rPr lang="id-ID" dirty="0"/>
              <a:t> tidak bisa lagi merusak data.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atribut kini privat. Penghitung </a:t>
            </a:r>
            <a:r>
              <a:rPr lang="en-US" dirty="0">
                <a:latin typeface="Consolas"/>
              </a:rPr>
              <a:t>jumlah_menu</a:t>
            </a:r>
            <a:r>
              <a:rPr lang="id-ID" dirty="0"/>
              <a:t> juga dilindungi: nilainya dibaca lewat </a:t>
            </a:r>
            <a:r>
              <a:rPr lang="id-ID" dirty="0" i="1"/>
              <a:t>getter</a:t>
            </a:r>
            <a:r>
              <a:rPr lang="id-ID" dirty="0"/>
              <a:t> milik kelas, yaitu </a:t>
            </a:r>
            <a:r>
              <a:rPr lang="en-US" dirty="0">
                <a:latin typeface="Consolas"/>
              </a:rPr>
              <a:t>@classmethod</a:t>
            </a:r>
            <a:r>
              <a:rPr lang="id-ID" dirty="0"/>
              <a:t> </a:t>
            </a:r>
            <a:r>
              <a:rPr lang="en-US" dirty="0">
                <a:latin typeface="Consolas"/>
              </a:rPr>
              <a:t>jumlah_menu()</a:t>
            </a:r>
            <a:r>
              <a:rPr lang="id-ID" dirty="0"/>
              <a:t> di Python dan </a:t>
            </a:r>
            <a:r>
              <a:rPr lang="id-ID" dirty="0" i="1"/>
              <a:t>method</a:t>
            </a:r>
            <a:r>
              <a:rPr lang="id-ID" dirty="0"/>
              <a:t> </a:t>
            </a:r>
            <a:r>
              <a:rPr lang="en-US" dirty="0">
                <a:latin typeface="Consolas"/>
              </a:rPr>
              <a:t>static</a:t>
            </a:r>
            <a:r>
              <a:rPr lang="id-ID" dirty="0"/>
              <a:t> </a:t>
            </a:r>
            <a:r>
              <a:rPr lang="en-US" dirty="0">
                <a:latin typeface="Consolas"/>
              </a:rPr>
              <a:t>getJumlahMenu()</a:t>
            </a:r>
            <a:r>
              <a:rPr lang="id-ID" dirty="0"/>
              <a:t> di Java. Stok hanya berubah lewat </a:t>
            </a:r>
            <a:r>
              <a:rPr lang="en-US" dirty="0">
                <a:latin typeface="Consolas"/>
              </a:rPr>
              <a:t>tambah_stok</a:t>
            </a:r>
            <a:r>
              <a:rPr lang="id-ID" dirty="0"/>
              <a:t> dan </a:t>
            </a:r>
            <a:r>
              <a:rPr lang="en-US" dirty="0">
                <a:latin typeface="Consolas"/>
              </a:rPr>
              <a:t>kurangi_stok</a:t>
            </a:r>
            <a:r>
              <a:rPr lang="id-ID" dirty="0"/>
              <a:t>, sedangkan poin hanya berubah lewat </a:t>
            </a:r>
            <a:r>
              <a:rPr lang="en-US" dirty="0">
                <a:latin typeface="Consolas"/>
              </a:rPr>
              <a:t>tambah_poin</a:t>
            </a:r>
            <a:r>
              <a:rPr lang="id-ID" dirty="0"/>
              <a:t> dan </a:t>
            </a:r>
            <a:r>
              <a:rPr lang="en-US" dirty="0">
                <a:latin typeface="Consolas"/>
              </a:rPr>
              <a:t>tukar_poin</a:t>
            </a:r>
            <a:r>
              <a:rPr lang="id-ID" dirty="0"/>
              <a:t>. </a:t>
            </a:r>
            <a:r>
              <a:rPr lang="id-ID" dirty="0" i="1"/>
              <a:t>Getter</a:t>
            </a:r>
            <a:r>
              <a:rPr lang="id-ID" dirty="0"/>
              <a:t> dan </a:t>
            </a:r>
            <a:r>
              <a:rPr lang="id-ID" dirty="0" i="1"/>
              <a:t>setter</a:t>
            </a:r>
            <a:r>
              <a:rPr lang="id-ID" dirty="0"/>
              <a:t> sengaja tidak digambar agar diagram tetap ringkas, dan </a:t>
            </a:r>
            <a:r>
              <a:rPr lang="id-ID" dirty="0" i="1"/>
              <a:t>method</a:t>
            </a:r>
            <a:r>
              <a:rPr lang="id-ID" dirty="0"/>
              <a:t> lama dari Pertemuan 03 seperti </a:t>
            </a:r>
            <a:r>
              <a:rPr lang="en-US" dirty="0">
                <a:latin typeface="Consolas"/>
              </a:rPr>
              <a:t>hitung_total</a:t>
            </a:r>
            <a:r>
              <a:rPr lang="id-ID" dirty="0"/>
              <a:t> juga tidak ditampilkan di sini. Di Java, namanya memakai </a:t>
            </a:r>
            <a:r>
              <a:rPr lang="id-ID" dirty="0" i="1"/>
              <a:t>camelCase</a:t>
            </a:r>
            <a:r>
              <a:rPr lang="id-ID" dirty="0"/>
              <a:t>. Notasi lengkapnya kita pelajari di Pertemuan 06.</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merangkum aturan yang kini dijaga oleh kelas itu sendiri, bukan oleh kehati-hatian setiap pemrogram. Perhatikan urutan kerja konstruktor </a:t>
            </a:r>
            <a:r>
              <a:rPr lang="en-US" dirty="0">
                <a:latin typeface="Consolas"/>
              </a:rPr>
              <a:t>Menu</a:t>
            </a:r>
            <a:r>
              <a:rPr lang="id-ID" dirty="0"/>
              <a:t>: periksa stok awal, simpan kode, nama, kategori, dan stok, lalu simpan harga lewat </a:t>
            </a:r>
            <a:r>
              <a:rPr lang="id-ID" dirty="0" i="1"/>
              <a:t>setter</a:t>
            </a:r>
            <a:r>
              <a:rPr lang="id-ID" dirty="0"/>
              <a:t> sehingga harga ikut diperiksa. Baru setelah semuanya lolos, penghitung </a:t>
            </a:r>
            <a:r>
              <a:rPr lang="en-US" dirty="0">
                <a:latin typeface="Consolas"/>
              </a:rPr>
              <a:t>jumlah_menu</a:t>
            </a:r>
            <a:r>
              <a:rPr lang="id-ID" dirty="0"/>
              <a:t> dinaikkan. Karena itu, "Menu Gratis" berharga 0 ditolak dan jumlah menu tetap 3. Aturan poin juga dijaga: Budi mendapat 12 poin dan menukar 10 poin menjadi potongan Rp10.000, lalu permintaan menukar 5 poin lagi ditolak karena sisanya 2.</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bagian pengelolaan stok dari program KedaiKita. Stok awal kopi 20. Setelah terjual 5 dan restok 10, stoknya 25. Saat diminta menjual 30, </a:t>
            </a:r>
            <a:r>
              <a:rPr lang="en-US" dirty="0">
                <a:latin typeface="Consolas"/>
              </a:rPr>
              <a:t>kurangi_stok</a:t>
            </a:r>
            <a:r>
              <a:rPr lang="id-ID" dirty="0"/>
              <a:t> menolak dengan </a:t>
            </a:r>
            <a:r>
              <a:rPr lang="id-ID" dirty="0" i="1"/>
              <a:t>exception</a:t>
            </a:r>
            <a:r>
              <a:rPr lang="id-ID" dirty="0"/>
              <a:t>. Di sini kita mengintip cara menangkapnya: </a:t>
            </a:r>
            <a:r>
              <a:rPr lang="en-US" dirty="0">
                <a:latin typeface="Consolas"/>
              </a:rPr>
              <a:t>try</a:t>
            </a:r>
            <a:r>
              <a:rPr lang="id-ID" dirty="0"/>
              <a:t> berarti "coba jalankan blok ini". Jika ada penolakan, sisa blok </a:t>
            </a:r>
            <a:r>
              <a:rPr lang="en-US" dirty="0">
                <a:latin typeface="Consolas"/>
              </a:rPr>
              <a:t>try</a:t>
            </a:r>
            <a:r>
              <a:rPr lang="id-ID" dirty="0"/>
              <a:t> dilewati, lalu blok </a:t>
            </a:r>
            <a:r>
              <a:rPr lang="en-US" dirty="0">
                <a:latin typeface="Consolas"/>
              </a:rPr>
              <a:t>except</a:t>
            </a:r>
            <a:r>
              <a:rPr lang="id-ID" dirty="0"/>
              <a:t> di Python atau </a:t>
            </a:r>
            <a:r>
              <a:rPr lang="en-US" dirty="0">
                <a:latin typeface="Consolas"/>
              </a:rPr>
              <a:t>catch</a:t>
            </a:r>
            <a:r>
              <a:rPr lang="id-ID" dirty="0"/>
              <a:t> di Java dijalankan, sehingga program bisa menampilkan pesan yang ramah dan berjalan terus. Bahasan tuntas tentang </a:t>
            </a:r>
            <a:r>
              <a:rPr lang="id-ID" dirty="0" i="1"/>
              <a:t>exception</a:t>
            </a:r>
            <a:r>
              <a:rPr lang="id-ID" dirty="0"/>
              <a:t> ada di Pertemuan 11. </a:t>
            </a:r>
            <a:r>
              <a:rPr lang="id-ID" dirty="0" i="1"/>
              <a:t>Output</a:t>
            </a:r>
            <a:r>
              <a:rPr lang="id-ID" dirty="0"/>
              <a:t> lengkap versi Python dan Java sama persis.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paling sering muncul setelah belajar enkapsulasi. Ajak kelas menebak dulu: mengapa anggapan di kiri salah? Data yang benar-benar rahasia, seperti </a:t>
            </a:r>
            <a:r>
              <a:rPr lang="id-ID" dirty="0" i="1"/>
              <a:t>password</a:t>
            </a:r>
            <a:r>
              <a:rPr lang="id-ID" dirty="0"/>
              <a:t>, dilindungi dengan cara lain, misalnya </a:t>
            </a:r>
            <a:r>
              <a:rPr lang="id-ID" dirty="0" i="1"/>
              <a:t>hash</a:t>
            </a:r>
            <a:r>
              <a:rPr lang="id-ID" dirty="0"/>
              <a:t> dan enkripsi. Tiga miskonsepsi lain, yaitu menganggap </a:t>
            </a:r>
            <a:r>
              <a:rPr lang="en-US" dirty="0">
                <a:latin typeface="Consolas"/>
              </a:rPr>
              <a:t>__harga</a:t>
            </a:r>
            <a:r>
              <a:rPr lang="id-ID" dirty="0"/>
              <a:t> sama dengan </a:t>
            </a:r>
            <a:r>
              <a:rPr lang="en-US" dirty="0">
                <a:latin typeface="Consolas"/>
              </a:rPr>
              <a:t>private</a:t>
            </a:r>
            <a:r>
              <a:rPr lang="id-ID" dirty="0"/>
              <a:t> di Java, menganggap konstruktor tidak perlu memeriksa data, dan menganggap enkapsulasi hanya memperpanjang kode, dibahas di bagian 12 halaman konsep.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analogi utama hari ini. Beri waktu sekitar 30 detik untuk berpikir, lalu minta mahasiswa mengangkat tangan sesuai pilihannya. Petunjuknya: bedakan mana data yang disembunyikan dan mana pintu resmi yang boleh dipakai siapa saja. Jawaban dan pembahasannya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Menu "tarik tunai" adalah pintu resmi yang boleh dipakai siapa saja, tetapi selalu memeriksa aturan sebelum mengubah data (saldo). Itulah peran </a:t>
            </a:r>
            <a:r>
              <a:rPr lang="id-ID" dirty="0" i="1"/>
              <a:t>method</a:t>
            </a:r>
            <a:r>
              <a:rPr lang="id-ID" dirty="0"/>
              <a:t> publik penjaga aturan. Uang di dalam brankas justru setara dengan </a:t>
            </a:r>
            <a:r>
              <a:rPr lang="id-ID" dirty="0" b="1"/>
              <a:t>atribut privat</a:t>
            </a:r>
            <a:r>
              <a:rPr lang="id-ID" dirty="0"/>
              <a:t> (pilihan A), yaitu data yang tidak boleh disentuh langsung.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prinsip </a:t>
            </a:r>
            <a:r>
              <a:rPr lang="id-ID" dirty="0" i="1"/>
              <a:t>tell, don't ask</a:t>
            </a:r>
            <a:r>
              <a:rPr lang="id-ID" dirty="0"/>
              <a:t>. Minta mahasiswa membayangkan ada tiga tempat yang mengurangi stok: layar kasir, pesanan daring, dan laporan. Pada cara mana aturan stok harus ditulis berulang kali? Jawabannya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A. </a:t>
            </a:r>
            <a:r>
              <a:rPr lang="id-ID" dirty="0" i="1"/>
              <a:t>Tell, don't ask</a:t>
            </a:r>
            <a:r>
              <a:rPr lang="id-ID" dirty="0"/>
              <a:t> berarti </a:t>
            </a:r>
            <a:r>
              <a:rPr lang="id-ID" dirty="0" b="1"/>
              <a:t>menyuruh</a:t>
            </a:r>
            <a:r>
              <a:rPr lang="id-ID" dirty="0"/>
              <a:t> objek mengerjakan tugasnya, bukan </a:t>
            </a:r>
            <a:r>
              <a:rPr lang="id-ID" dirty="0" b="1"/>
              <a:t>menanyakan</a:t>
            </a:r>
            <a:r>
              <a:rPr lang="id-ID" dirty="0"/>
              <a:t> datanya lalu memutuskan di luar. Pada cara Q, aturan "stok tidak boleh minus" ditulis di luar kelas sehingga harus diulang di setiap tempat dan mudah terlupa. Cara Q juga butuh </a:t>
            </a:r>
            <a:r>
              <a:rPr lang="id-ID" dirty="0" i="1"/>
              <a:t>setter</a:t>
            </a:r>
            <a:r>
              <a:rPr lang="id-ID" dirty="0"/>
              <a:t> stok yang membuka pintu bagi data rusak.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Satu hal lagi dari studi kasus: atribut kelas juga perlu dilindungi, yaitu dibuat privat, dibaca lewat </a:t>
            </a:r>
            <a:r>
              <a:rPr lang="id-ID" dirty="0" i="1"/>
              <a:t>getter</a:t>
            </a:r>
            <a:r>
              <a:rPr lang="id-ID" dirty="0"/>
              <a:t> milik kelas, dan penghitungnya dinaikkan paling akhir di konstruktor. Kalau ada yang masih terasa samar, baca lagi bagian yang sesuai di halaman konsep, lalu jalankan contohnya di halaman praktik. Di Pertemuan 05, kita mulai menghubungkan beberapa kelas lewat relasi antarkelas.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Pertemuan-04-Enkapsulasi di GitHub. Mulailah dari halaman praktik sesuai jalurmu, Python atau Java, lalu baca halaman Jembatan Python ↔ Java untuk melihat mengapa Python memakai kesepakatan, sedangkan Java dijaga </a:t>
            </a:r>
            <a:r>
              <a:rPr lang="id-ID" dirty="0" i="1"/>
              <a:t>compiler</a:t>
            </a:r>
            <a:r>
              <a:rPr lang="id-ID" dirty="0"/>
              <a:t>. Simpan semua percobaanmu di folder PBO-latihan-saya/pertemuan-04, bukan di folder materi, agar tidak tertimpa saat materi diperbarui. Sampai jumpa di Pertemuan 05.</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04 · Enkapsulasi</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04 · Enkapsulasi</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04 · Enkapsulasi</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04-Enkapsulasi/README.md" TargetMode="External"/><Relationship Id="rId5" Type="http://schemas.openxmlformats.org/officeDocument/2006/relationships/hyperlink" Target="https://github.com/antonprafanto/PBO2026/blob/master/Pertemuan-04-Enkapsulasi/python/README.md" TargetMode="External"/><Relationship Id="rId7" Type="http://schemas.openxmlformats.org/officeDocument/2006/relationships/hyperlink" Target="https://github.com/antonprafanto/PBO2026/blob/master/Pertemuan-04-Enkapsulasi/java/README.md" TargetMode="External"/><Relationship Id="rId9" Type="http://schemas.openxmlformats.org/officeDocument/2006/relationships/hyperlink" Target="https://github.com/antonprafanto/PBO2026/blob/master/Pertemuan-04-Enkapsulasi/jembatan-python-java.md" TargetMode="External"/><Relationship Id="rId11" Type="http://schemas.openxmlformats.org/officeDocument/2006/relationships/hyperlink" Target="https://github.com/antonprafanto/PBO2026/blob/master/Pertemuan-04-Enkapsulasi/latihan.md" TargetMode="External"/><Relationship Id="rId13" Type="http://schemas.openxmlformats.org/officeDocument/2006/relationships/hyperlink" Target="https://github.com/antonprafanto/PBO2026/blob/master/Pertemuan-04-Enkapsulasi/kuis.md" TargetMode="External"/><Relationship Id="rId15" Type="http://schemas.openxmlformats.org/officeDocument/2006/relationships/hyperlink" Target="https://github.com/antonprafanto/PBO2026/tree/master/Pertemuan-04-Enkapsulasi"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Enkapsulasi</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Membuat objek menjaga datanya sendiri: data yang tidak masuk akal ditolak sejak di pintu masuk</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04</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58824"/>
          </a:xfrm>
          <a:prstGeom prst="roundRect">
            <a:avLst>
              <a:gd name="adj" fmla="val 633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masalah yang muncul jika data objek bisa diubah sembarangan dari luar kelas.</a:t>
            </a:r>
            <a:endParaRPr lang="id-ID" sz="2000" dirty="0"/>
          </a:p>
        </p:txBody>
      </p:sp>
      <p:sp>
        <p:nvSpPr>
          <p:cNvPr id="10" name="Shape 7"/>
          <p:cNvSpPr/>
          <p:nvPr/>
        </p:nvSpPr>
        <p:spPr>
          <a:xfrm>
            <a:off x="6210148" y="1920240"/>
            <a:ext cx="5432908" cy="1258824"/>
          </a:xfrm>
          <a:prstGeom prst="roundRect">
            <a:avLst>
              <a:gd name="adj" fmla="val 633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arti </a:t>
            </a:r>
            <a:r>
              <a:rPr lang="id-ID" altLang="en-US" sz="2000" b="1" dirty="0">
                <a:solidFill>
                  <a:srgbClr val="1F2328"/>
                </a:solidFill>
              </a:rPr>
              <a:t>enkapsulasi</a:t>
            </a:r>
            <a:r>
              <a:rPr lang="id-ID" altLang="en-US" sz="2000" dirty="0">
                <a:solidFill>
                  <a:srgbClr val="1F2328"/>
                </a:solidFill>
              </a:rPr>
              <a:t> dan </a:t>
            </a:r>
            <a:r>
              <a:rPr lang="id-ID" altLang="en-US" sz="2000" b="1" i="1" dirty="0">
                <a:solidFill>
                  <a:srgbClr val="1F2328"/>
                </a:solidFill>
              </a:rPr>
              <a:t>information hiding</a:t>
            </a:r>
            <a:r>
              <a:rPr lang="id-ID" altLang="en-US" sz="2000" dirty="0">
                <a:solidFill>
                  <a:srgbClr val="1F2328"/>
                </a:solidFill>
              </a:rPr>
              <a:t> dengan analogi sehari-⁠hari.</a:t>
            </a:r>
            <a:endParaRPr lang="id-ID" sz="2000" dirty="0"/>
          </a:p>
        </p:txBody>
      </p:sp>
      <p:sp>
        <p:nvSpPr>
          <p:cNvPr id="14" name="Shape 11"/>
          <p:cNvSpPr/>
          <p:nvPr/>
        </p:nvSpPr>
        <p:spPr>
          <a:xfrm>
            <a:off x="548640" y="3361944"/>
            <a:ext cx="5432908" cy="1258824"/>
          </a:xfrm>
          <a:prstGeom prst="roundRect">
            <a:avLst>
              <a:gd name="adj" fmla="val 6332"/>
            </a:avLst>
          </a:prstGeom>
          <a:solidFill>
            <a:srgbClr val="F6F8FA"/>
          </a:solidFill>
          <a:ln w="9525">
            <a:solidFill>
              <a:srgbClr val="D0D7DE"/>
            </a:solidFill>
            <a:prstDash val="solid"/>
          </a:ln>
        </p:spPr>
      </p:sp>
      <p:sp>
        <p:nvSpPr>
          <p:cNvPr id="15" name="Shape 12"/>
          <p:cNvSpPr/>
          <p:nvPr/>
        </p:nvSpPr>
        <p:spPr>
          <a:xfrm>
            <a:off x="777240" y="3526536"/>
            <a:ext cx="457200" cy="457200"/>
          </a:xfrm>
          <a:prstGeom prst="ellipse">
            <a:avLst/>
          </a:prstGeom>
          <a:solidFill>
            <a:srgbClr val="0969DA"/>
          </a:solidFill>
          <a:ln/>
        </p:spPr>
      </p:sp>
      <p:sp>
        <p:nvSpPr>
          <p:cNvPr id="16" name="Text 13"/>
          <p:cNvSpPr txBox="1"/>
          <p:nvPr/>
        </p:nvSpPr>
        <p:spPr>
          <a:xfrm>
            <a:off x="777240"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Membedakan </a:t>
            </a:r>
            <a:r>
              <a:rPr lang="id-ID" altLang="en-US" sz="2000" dirty="0">
                <a:solidFill>
                  <a:srgbClr val="1F2328"/>
                </a:solidFill>
                <a:latin typeface="Consolas" pitchFamily="34" charset="0"/>
                <a:ea typeface="Consolas" pitchFamily="34" charset="-122"/>
                <a:cs typeface="Consolas" pitchFamily="34" charset="-120"/>
              </a:rPr>
              <a:t>public</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protected</a:t>
            </a:r>
            <a:r>
              <a:rPr lang="id-ID" altLang="en-US" sz="2000" dirty="0">
                <a:solidFill>
                  <a:srgbClr val="1F2328"/>
                </a:solidFill>
              </a:rPr>
              <a:t>, </a:t>
            </a:r>
            <a:r>
              <a:rPr lang="id-ID" altLang="en-US" sz="2000" i="1" dirty="0">
                <a:solidFill>
                  <a:srgbClr val="1F2328"/>
                </a:solidFill>
              </a:rPr>
              <a:t>default</a:t>
            </a:r>
            <a:r>
              <a:rPr lang="id-ID" altLang="en-US" sz="2000" dirty="0">
                <a:solidFill>
                  <a:srgbClr val="1F2328"/>
                </a:solidFill>
              </a:rPr>
              <a:t>, dan </a:t>
            </a:r>
            <a:r>
              <a:rPr lang="id-ID" altLang="en-US" sz="2000" dirty="0">
                <a:solidFill>
                  <a:srgbClr val="1F2328"/>
                </a:solidFill>
                <a:latin typeface="Consolas" pitchFamily="34" charset="0"/>
                <a:ea typeface="Consolas" pitchFamily="34" charset="-122"/>
                <a:cs typeface="Consolas" pitchFamily="34" charset="-120"/>
              </a:rPr>
              <a:t>private</a:t>
            </a:r>
            <a:r>
              <a:rPr lang="id-ID" altLang="en-US" sz="2000" dirty="0">
                <a:solidFill>
                  <a:srgbClr val="1F2328"/>
                </a:solidFill>
              </a:rPr>
              <a:t> di Java, serta konvensi </a:t>
            </a:r>
            <a:r>
              <a:rPr lang="id-ID" altLang="en-US" sz="2000" dirty="0">
                <a:solidFill>
                  <a:srgbClr val="1F2328"/>
                </a:solidFill>
                <a:latin typeface="Consolas" pitchFamily="34" charset="0"/>
                <a:ea typeface="Consolas" pitchFamily="34" charset="-122"/>
                <a:cs typeface="Consolas" pitchFamily="34" charset="-120"/>
              </a:rPr>
              <a:t>_nama</a:t>
            </a:r>
            <a:r>
              <a:rPr lang="id-ID" altLang="en-US" sz="2000" dirty="0">
                <a:solidFill>
                  <a:srgbClr val="1F2328"/>
                </a:solidFill>
              </a:rPr>
              <a:t> dan </a:t>
            </a:r>
            <a:r>
              <a:rPr lang="id-ID" altLang="en-US" sz="2000" dirty="0">
                <a:solidFill>
                  <a:srgbClr val="1F2328"/>
                </a:solidFill>
                <a:latin typeface="Consolas" pitchFamily="34" charset="0"/>
                <a:ea typeface="Consolas" pitchFamily="34" charset="-122"/>
                <a:cs typeface="Consolas" pitchFamily="34" charset="-120"/>
              </a:rPr>
              <a:t>__nama</a:t>
            </a:r>
            <a:r>
              <a:rPr lang="id-ID" altLang="en-US" sz="2000" dirty="0">
                <a:solidFill>
                  <a:srgbClr val="1F2328"/>
                </a:solidFill>
              </a:rPr>
              <a:t> di Python.</a:t>
            </a:r>
            <a:endParaRPr lang="id-ID" sz="2000" dirty="0"/>
          </a:p>
        </p:txBody>
      </p:sp>
      <p:sp>
        <p:nvSpPr>
          <p:cNvPr id="18" name="Shape 15"/>
          <p:cNvSpPr/>
          <p:nvPr/>
        </p:nvSpPr>
        <p:spPr>
          <a:xfrm>
            <a:off x="6210148" y="3361944"/>
            <a:ext cx="5432908" cy="1258824"/>
          </a:xfrm>
          <a:prstGeom prst="roundRect">
            <a:avLst>
              <a:gd name="adj" fmla="val 6332"/>
            </a:avLst>
          </a:prstGeom>
          <a:solidFill>
            <a:srgbClr val="F6F8FA"/>
          </a:solidFill>
          <a:ln w="9525">
            <a:solidFill>
              <a:srgbClr val="D0D7DE"/>
            </a:solidFill>
            <a:prstDash val="solid"/>
          </a:ln>
        </p:spPr>
      </p:sp>
      <p:sp>
        <p:nvSpPr>
          <p:cNvPr id="19" name="Shape 16"/>
          <p:cNvSpPr/>
          <p:nvPr/>
        </p:nvSpPr>
        <p:spPr>
          <a:xfrm>
            <a:off x="6438748" y="3526536"/>
            <a:ext cx="457200" cy="457200"/>
          </a:xfrm>
          <a:prstGeom prst="ellipse">
            <a:avLst/>
          </a:prstGeom>
          <a:solidFill>
            <a:srgbClr val="0969DA"/>
          </a:solidFill>
          <a:ln/>
        </p:spPr>
      </p:sp>
      <p:sp>
        <p:nvSpPr>
          <p:cNvPr id="20" name="Text 17"/>
          <p:cNvSpPr txBox="1"/>
          <p:nvPr/>
        </p:nvSpPr>
        <p:spPr>
          <a:xfrm>
            <a:off x="6438748"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Merancang </a:t>
            </a:r>
            <a:r>
              <a:rPr lang="id-ID" altLang="en-US" sz="2000" b="1" i="1" dirty="0">
                <a:solidFill>
                  <a:srgbClr val="1F2328"/>
                </a:solidFill>
              </a:rPr>
              <a:t>getter</a:t>
            </a:r>
            <a:r>
              <a:rPr lang="id-ID" altLang="en-US" sz="2000" dirty="0">
                <a:solidFill>
                  <a:srgbClr val="1F2328"/>
                </a:solidFill>
              </a:rPr>
              <a:t>, </a:t>
            </a:r>
            <a:r>
              <a:rPr lang="id-ID" altLang="en-US" sz="2000" b="1" i="1" dirty="0">
                <a:solidFill>
                  <a:srgbClr val="1F2328"/>
                </a:solidFill>
              </a:rPr>
              <a:t>setter</a:t>
            </a:r>
            <a:r>
              <a:rPr lang="id-ID" altLang="en-US" sz="2000" dirty="0">
                <a:solidFill>
                  <a:srgbClr val="1F2328"/>
                </a:solidFill>
              </a:rPr>
              <a:t>, dan atribut </a:t>
            </a:r>
            <a:r>
              <a:rPr lang="id-ID" altLang="en-US" sz="2000" b="1" i="1" dirty="0">
                <a:solidFill>
                  <a:srgbClr val="1F2328"/>
                </a:solidFill>
              </a:rPr>
              <a:t>read-⁠only</a:t>
            </a:r>
            <a:r>
              <a:rPr lang="id-ID" altLang="en-US" sz="2000" dirty="0">
                <a:solidFill>
                  <a:srgbClr val="1F2328"/>
                </a:solidFill>
              </a:rPr>
              <a:t> yang memvalidasi data, di </a:t>
            </a:r>
            <a:r>
              <a:rPr lang="id-ID" altLang="en-US" sz="2000" i="1" dirty="0">
                <a:solidFill>
                  <a:srgbClr val="1F2328"/>
                </a:solidFill>
              </a:rPr>
              <a:t>setter</a:t>
            </a:r>
            <a:r>
              <a:rPr lang="id-ID" altLang="en-US" sz="2000" dirty="0">
                <a:solidFill>
                  <a:srgbClr val="1F2328"/>
                </a:solidFill>
              </a:rPr>
              <a:t> maupun di konstruktor.</a:t>
            </a:r>
            <a:endParaRPr lang="id-ID" sz="2000" dirty="0"/>
          </a:p>
        </p:txBody>
      </p:sp>
      <p:sp>
        <p:nvSpPr>
          <p:cNvPr id="22" name="Shape 19"/>
          <p:cNvSpPr/>
          <p:nvPr/>
        </p:nvSpPr>
        <p:spPr>
          <a:xfrm>
            <a:off x="548640" y="4803648"/>
            <a:ext cx="5432908" cy="1258824"/>
          </a:xfrm>
          <a:prstGeom prst="roundRect">
            <a:avLst>
              <a:gd name="adj" fmla="val 6332"/>
            </a:avLst>
          </a:prstGeom>
          <a:solidFill>
            <a:srgbClr val="F6F8FA"/>
          </a:solidFill>
          <a:ln w="9525">
            <a:solidFill>
              <a:srgbClr val="D0D7DE"/>
            </a:solidFill>
            <a:prstDash val="solid"/>
          </a:ln>
        </p:spPr>
      </p:sp>
      <p:sp>
        <p:nvSpPr>
          <p:cNvPr id="23" name="Shape 20"/>
          <p:cNvSpPr/>
          <p:nvPr/>
        </p:nvSpPr>
        <p:spPr>
          <a:xfrm>
            <a:off x="777240" y="4968240"/>
            <a:ext cx="457200" cy="457200"/>
          </a:xfrm>
          <a:prstGeom prst="ellipse">
            <a:avLst/>
          </a:prstGeom>
          <a:solidFill>
            <a:srgbClr val="0969DA"/>
          </a:solidFill>
          <a:ln/>
        </p:spPr>
      </p:sp>
      <p:sp>
        <p:nvSpPr>
          <p:cNvPr id="24" name="Text 21"/>
          <p:cNvSpPr txBox="1"/>
          <p:nvPr/>
        </p:nvSpPr>
        <p:spPr>
          <a:xfrm>
            <a:off x="777240"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Memilih </a:t>
            </a:r>
            <a:r>
              <a:rPr lang="id-ID" altLang="en-US" sz="2000" i="1" dirty="0">
                <a:solidFill>
                  <a:srgbClr val="1F2328"/>
                </a:solidFill>
              </a:rPr>
              <a:t>method</a:t>
            </a:r>
            <a:r>
              <a:rPr lang="id-ID" altLang="en-US" sz="2000" dirty="0">
                <a:solidFill>
                  <a:srgbClr val="1F2328"/>
                </a:solidFill>
              </a:rPr>
              <a:t> “penjaga aturan” alih-⁠alih </a:t>
            </a:r>
            <a:r>
              <a:rPr lang="id-ID" altLang="en-US" sz="2000" i="1" dirty="0">
                <a:solidFill>
                  <a:srgbClr val="1F2328"/>
                </a:solidFill>
              </a:rPr>
              <a:t>setter</a:t>
            </a:r>
            <a:r>
              <a:rPr lang="id-ID" altLang="en-US" sz="2000" dirty="0">
                <a:solidFill>
                  <a:srgbClr val="1F2328"/>
                </a:solidFill>
              </a:rPr>
              <a:t> dan menjelaskan kapan </a:t>
            </a:r>
            <a:r>
              <a:rPr lang="id-ID" altLang="en-US" sz="2000" i="1" dirty="0">
                <a:solidFill>
                  <a:srgbClr val="1F2328"/>
                </a:solidFill>
              </a:rPr>
              <a:t>getter</a:t>
            </a:r>
            <a:r>
              <a:rPr lang="id-ID" altLang="en-US" sz="2000" dirty="0">
                <a:solidFill>
                  <a:srgbClr val="1F2328"/>
                </a:solidFill>
              </a:rPr>
              <a:t>/</a:t>
            </a:r>
            <a:r>
              <a:rPr lang="id-ID" altLang="en-US" sz="2000" i="1" dirty="0">
                <a:solidFill>
                  <a:srgbClr val="1F2328"/>
                </a:solidFill>
              </a:rPr>
              <a:t>setter</a:t>
            </a:r>
            <a:r>
              <a:rPr lang="id-ID" altLang="en-US" sz="2000" dirty="0">
                <a:solidFill>
                  <a:srgbClr val="1F2328"/>
                </a:solidFill>
              </a:rPr>
              <a:t> tidak diperlukan.</a:t>
            </a:r>
            <a:endParaRPr lang="id-ID" sz="2000" dirty="0"/>
          </a:p>
        </p:txBody>
      </p:sp>
      <p:sp>
        <p:nvSpPr>
          <p:cNvPr id="26" name="Shape 23"/>
          <p:cNvSpPr/>
          <p:nvPr/>
        </p:nvSpPr>
        <p:spPr>
          <a:xfrm>
            <a:off x="6210148" y="4803648"/>
            <a:ext cx="5432908" cy="1258824"/>
          </a:xfrm>
          <a:prstGeom prst="roundRect">
            <a:avLst>
              <a:gd name="adj" fmla="val 6332"/>
            </a:avLst>
          </a:prstGeom>
          <a:solidFill>
            <a:srgbClr val="F6F8FA"/>
          </a:solidFill>
          <a:ln w="9525">
            <a:solidFill>
              <a:srgbClr val="D0D7DE"/>
            </a:solidFill>
            <a:prstDash val="solid"/>
          </a:ln>
        </p:spPr>
      </p:sp>
      <p:sp>
        <p:nvSpPr>
          <p:cNvPr id="27" name="Shape 24"/>
          <p:cNvSpPr/>
          <p:nvPr/>
        </p:nvSpPr>
        <p:spPr>
          <a:xfrm>
            <a:off x="6438748" y="4968240"/>
            <a:ext cx="457200" cy="457200"/>
          </a:xfrm>
          <a:prstGeom prst="ellipse">
            <a:avLst/>
          </a:prstGeom>
          <a:solidFill>
            <a:srgbClr val="0969DA"/>
          </a:solidFill>
          <a:ln/>
        </p:spPr>
      </p:sp>
      <p:sp>
        <p:nvSpPr>
          <p:cNvPr id="28" name="Text 25"/>
          <p:cNvSpPr txBox="1"/>
          <p:nvPr/>
        </p:nvSpPr>
        <p:spPr>
          <a:xfrm>
            <a:off x="6438748"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Menerapkan enkapsulasi pada studi kasus KedaiKita.</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Ada </a:t>
            </a:r>
            <a:r>
              <a:rPr lang="id-ID" altLang="en-US" sz="2400" b="1" dirty="0">
                <a:solidFill>
                  <a:srgbClr val="1F2328"/>
                </a:solidFill>
              </a:rPr>
              <a:t>atribut objek</a:t>
            </a:r>
            <a:r>
              <a:rPr lang="id-ID" altLang="en-US" sz="2400" dirty="0">
                <a:solidFill>
                  <a:srgbClr val="1F2328"/>
                </a:solidFill>
              </a:rPr>
              <a:t> (milik tiap objek) dan </a:t>
            </a:r>
            <a:r>
              <a:rPr lang="id-ID" altLang="en-US" sz="2400" b="1" dirty="0">
                <a:solidFill>
                  <a:srgbClr val="1F2328"/>
                </a:solidFill>
              </a:rPr>
              <a:t>atribut kelas</a:t>
            </a:r>
            <a:r>
              <a:rPr lang="id-ID" altLang="en-US" sz="2400" dirty="0">
                <a:solidFill>
                  <a:srgbClr val="1F2328"/>
                </a:solidFill>
              </a:rPr>
              <a:t> (milik bersama, misalnya penghitung </a:t>
            </a:r>
            <a:r>
              <a:rPr lang="id-ID" altLang="en-US" sz="2400" dirty="0">
                <a:solidFill>
                  <a:srgbClr val="1F2328"/>
                </a:solidFill>
                <a:latin typeface="Consolas" pitchFamily="34" charset="0"/>
                <a:ea typeface="Consolas" pitchFamily="34" charset="-122"/>
                <a:cs typeface="Consolas" pitchFamily="34" charset="-120"/>
              </a:rPr>
              <a:t>jumlah_menu</a:t>
            </a:r>
            <a:r>
              <a:rPr lang="id-ID" altLang="en-US" sz="2400" dirty="0">
                <a:solidFill>
                  <a:srgbClr val="1F2328"/>
                </a:solidFill>
              </a:rPr>
              <a:t>).</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Konstruktor bisa dibuat luwes: nilai bawaan </a:t>
            </a:r>
            <a:r>
              <a:rPr lang="id-ID" altLang="en-US" sz="2400" dirty="0">
                <a:solidFill>
                  <a:srgbClr val="1F2328"/>
                </a:solidFill>
                <a:latin typeface="Consolas" pitchFamily="34" charset="0"/>
                <a:ea typeface="Consolas" pitchFamily="34" charset="-122"/>
                <a:cs typeface="Consolas" pitchFamily="34" charset="-120"/>
              </a:rPr>
              <a:t>stok=0</a:t>
            </a:r>
            <a:r>
              <a:rPr lang="id-ID" altLang="en-US" sz="2400" dirty="0">
                <a:solidFill>
                  <a:srgbClr val="1F2328"/>
                </a:solidFill>
              </a:rPr>
              <a:t> di Python, </a:t>
            </a:r>
            <a:r>
              <a:rPr lang="id-ID" altLang="en-US" sz="2400" i="1" dirty="0">
                <a:solidFill>
                  <a:srgbClr val="1F2328"/>
                </a:solidFill>
              </a:rPr>
              <a:t>overloading</a:t>
            </a:r>
            <a:r>
              <a:rPr lang="id-ID" altLang="en-US" sz="2400" dirty="0">
                <a:solidFill>
                  <a:srgbClr val="1F2328"/>
                </a:solidFill>
              </a:rPr>
              <a:t> dengan </a:t>
            </a:r>
            <a:r>
              <a:rPr lang="id-ID" altLang="en-US" sz="2400" dirty="0">
                <a:solidFill>
                  <a:srgbClr val="1F2328"/>
                </a:solidFill>
                <a:latin typeface="Consolas" pitchFamily="34" charset="0"/>
                <a:ea typeface="Consolas" pitchFamily="34" charset="-122"/>
                <a:cs typeface="Consolas" pitchFamily="34" charset="-120"/>
              </a:rPr>
              <a:t>this(...)</a:t>
            </a:r>
            <a:r>
              <a:rPr lang="id-ID" altLang="en-US" sz="2400" dirty="0">
                <a:solidFill>
                  <a:srgbClr val="1F2328"/>
                </a:solidFill>
              </a:rPr>
              <a:t> di Java.</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latin typeface="Consolas" pitchFamily="34" charset="0"/>
                <a:ea typeface="Consolas" pitchFamily="34" charset="-122"/>
                <a:cs typeface="Consolas" pitchFamily="34" charset="-120"/>
              </a:rPr>
              <a:t>__str__</a:t>
            </a:r>
            <a:r>
              <a:rPr lang="id-ID" altLang="en-US" sz="2400" dirty="0">
                <a:solidFill>
                  <a:srgbClr val="1F2328"/>
                </a:solidFill>
              </a:rPr>
              <a:t> (Python) dan </a:t>
            </a:r>
            <a:r>
              <a:rPr lang="id-ID" altLang="en-US" sz="2400" dirty="0">
                <a:solidFill>
                  <a:srgbClr val="1F2328"/>
                </a:solidFill>
                <a:latin typeface="Consolas" pitchFamily="34" charset="0"/>
                <a:ea typeface="Consolas" pitchFamily="34" charset="-122"/>
                <a:cs typeface="Consolas" pitchFamily="34" charset="-120"/>
              </a:rPr>
              <a:t>toString()</a:t>
            </a:r>
            <a:r>
              <a:rPr lang="id-ID" altLang="en-US" sz="2400" dirty="0">
                <a:solidFill>
                  <a:srgbClr val="1F2328"/>
                </a:solidFill>
              </a:rPr>
              <a:t> (Java) membuat objek bisa langsung dicetak dengan rapi.</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Variabel menyimpan </a:t>
            </a:r>
            <a:r>
              <a:rPr lang="id-ID" altLang="en-US" sz="2400" b="1" dirty="0">
                <a:solidFill>
                  <a:srgbClr val="1F2328"/>
                </a:solidFill>
              </a:rPr>
              <a:t>referensi</a:t>
            </a:r>
            <a:r>
              <a:rPr lang="id-ID" altLang="en-US" sz="2400" dirty="0">
                <a:solidFill>
                  <a:srgbClr val="1F2328"/>
                </a:solidFill>
              </a:rPr>
              <a:t>. Siapa pun yang memegang referensi sebuah objek bisa mengubah datanya.</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Mengapa data perlu dijaga?</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Access modifier</a:t>
            </a:r>
            <a:r>
              <a:rPr lang="id-ID" altLang="en-US" sz="2200" dirty="0">
                <a:solidFill>
                  <a:srgbClr val="1F2328"/>
                </a:solidFill>
              </a:rPr>
              <a:t>: siapa boleh masuk?</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Getter</a:t>
            </a:r>
            <a:r>
              <a:rPr lang="id-ID" altLang="en-US" sz="2200" dirty="0">
                <a:solidFill>
                  <a:srgbClr val="1F2328"/>
                </a:solidFill>
              </a:rPr>
              <a:t>, </a:t>
            </a:r>
            <a:r>
              <a:rPr lang="id-ID" altLang="en-US" sz="2200" i="1" dirty="0">
                <a:solidFill>
                  <a:srgbClr val="1F2328"/>
                </a:solidFill>
              </a:rPr>
              <a:t>setter</a:t>
            </a:r>
            <a:r>
              <a:rPr lang="id-ID" altLang="en-US" sz="2200" dirty="0">
                <a:solidFill>
                  <a:srgbClr val="1F2328"/>
                </a:solidFill>
              </a:rPr>
              <a:t>, dan validasi</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Read-⁠only</a:t>
            </a:r>
            <a:r>
              <a:rPr lang="id-ID" altLang="en-US" sz="2200" dirty="0">
                <a:solidFill>
                  <a:srgbClr val="1F2328"/>
                </a:solidFill>
              </a:rPr>
              <a:t> dan </a:t>
            </a:r>
            <a:r>
              <a:rPr lang="id-ID" altLang="en-US" sz="2200" i="1" dirty="0">
                <a:solidFill>
                  <a:srgbClr val="1F2328"/>
                </a:solidFill>
              </a:rPr>
              <a:t>method</a:t>
            </a:r>
            <a:r>
              <a:rPr lang="id-ID" altLang="en-US" sz="2200" dirty="0">
                <a:solidFill>
                  <a:srgbClr val="1F2328"/>
                </a:solidFill>
              </a:rPr>
              <a:t> penjaga aturan</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Mengapa Data Perlu Dijaga?</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Dari harga kopi yang minus menuju enkapsulasi.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Cerita Pembuka: Harga Kopi Jadi Minus</a:t>
            </a:r>
            <a:endParaRPr lang="id-ID"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47815"/>
          <a:ext cx="11094415" cy="914400"/>
        </p:xfrm>
        <a:graphic>
          <a:graphicData uri="http://schemas.openxmlformats.org/drawingml/2006/table">
            <a:tbl>
              <a:tblPr/>
              <a:tblGrid>
                <a:gridCol w="3151393"/>
                <a:gridCol w="7943022"/>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Data yang rusak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Akibatnya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Harga kopi minus Rp18.000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Pelanggan yang memesan 2 kopi justru “dibayar” Rp36.000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Stok kopi minus 5</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Kasir masih menerima pesanan untuk menu yang sebenarnya sudah habis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Poin Budi 1.000.000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Budi bisa menukar poinnya menjadi potongan Rp1 miliar (1 poin = Rp1.000)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11229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184719"/>
            <a:ext cx="184343" cy="184343"/>
          </a:xfrm>
          <a:prstGeom prst="rect">
            <a:avLst/>
          </a:prstGeom>
        </p:spPr>
      </p:pic>
      <p:sp>
        <p:nvSpPr>
          <p:cNvPr id="8" name="Text 3"/>
          <p:cNvSpPr txBox="1"/>
          <p:nvPr/>
        </p:nvSpPr>
        <p:spPr>
          <a:xfrm>
            <a:off x="1005840" y="509401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Program tetap berjalan tanpa protes. Masalahnya ada pada </a:t>
            </a:r>
            <a:r>
              <a:rPr lang="id-ID" altLang="en-US" sz="1800" b="1" dirty="0">
                <a:solidFill>
                  <a:srgbClr val="57606A"/>
                </a:solidFill>
              </a:rPr>
              <a:t>desain kelas</a:t>
            </a:r>
            <a:r>
              <a:rPr lang="id-ID" altLang="en-US" sz="1800" dirty="0">
                <a:solidFill>
                  <a:srgbClr val="57606A"/>
                </a:solidFill>
              </a:rPr>
              <a:t>: kelas tidak punya cara untuk berkata “tidak”.</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Enkapsulasi: Membungkus dan Menjaga</a:t>
            </a:r>
            <a:endParaRPr lang="id-ID" sz="3200" dirty="0"/>
          </a:p>
        </p:txBody>
      </p:sp>
      <p:sp>
        <p:nvSpPr>
          <p:cNvPr id="5" name="Text 2"/>
          <p:cNvSpPr txBox="1"/>
          <p:nvPr/>
        </p:nvSpPr>
        <p:spPr>
          <a:xfrm>
            <a:off x="548640" y="1554084"/>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Enkapsulasi (</a:t>
            </a:r>
            <a:r>
              <a:rPr lang="id-ID" altLang="en-US" sz="3000" b="1" i="1" dirty="0">
                <a:solidFill>
                  <a:srgbClr val="0969DA"/>
                </a:solidFill>
              </a:rPr>
              <a:t>encapsulation</a:t>
            </a:r>
            <a:r>
              <a:rPr lang="id-ID" altLang="en-US" sz="3000" b="1" dirty="0">
                <a:solidFill>
                  <a:srgbClr val="0969DA"/>
                </a:solidFill>
              </a:rPr>
              <a:t>)</a:t>
            </a:r>
            <a:endParaRPr lang="id-ID" sz="3000" dirty="0"/>
          </a:p>
        </p:txBody>
      </p:sp>
      <p:sp>
        <p:nvSpPr>
          <p:cNvPr id="6" name="Shape 3"/>
          <p:cNvSpPr/>
          <p:nvPr/>
        </p:nvSpPr>
        <p:spPr>
          <a:xfrm>
            <a:off x="548640" y="2267316"/>
            <a:ext cx="11094415" cy="1571244"/>
          </a:xfrm>
          <a:prstGeom prst="roundRect">
            <a:avLst>
              <a:gd name="adj" fmla="val 4064"/>
            </a:avLst>
          </a:prstGeom>
          <a:solidFill>
            <a:srgbClr val="DDF4FF"/>
          </a:solidFill>
          <a:ln w="9525">
            <a:solidFill>
              <a:srgbClr val="54AEFF"/>
            </a:solidFill>
            <a:prstDash val="solid"/>
          </a:ln>
        </p:spPr>
      </p:sp>
      <p:sp>
        <p:nvSpPr>
          <p:cNvPr id="7" name="Shape 4"/>
          <p:cNvSpPr/>
          <p:nvPr/>
        </p:nvSpPr>
        <p:spPr>
          <a:xfrm>
            <a:off x="804672" y="2778618"/>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99319"/>
            <a:ext cx="307238" cy="307238"/>
          </a:xfrm>
          <a:prstGeom prst="rect">
            <a:avLst/>
          </a:prstGeom>
        </p:spPr>
      </p:pic>
      <p:sp>
        <p:nvSpPr>
          <p:cNvPr id="9" name="Text 5"/>
          <p:cNvSpPr txBox="1"/>
          <p:nvPr/>
        </p:nvSpPr>
        <p:spPr>
          <a:xfrm>
            <a:off x="1554480" y="2541636"/>
            <a:ext cx="9859975" cy="1205484"/>
          </a:xfrm>
          <a:prstGeom prst="rect">
            <a:avLst/>
          </a:prstGeom>
          <a:noFill/>
          <a:ln/>
        </p:spPr>
        <p:txBody>
          <a:bodyPr wrap="square" lIns="0" tIns="0" rIns="0" bIns="0" rtlCol="0" anchor="t"/>
          <a:lstStyle/>
          <a:p>
            <a:pPr indent="0" marL="0">
              <a:buNone/>
            </a:pPr>
            <a:r>
              <a:rPr lang="id-ID" altLang="en-US" sz="2200" dirty="0">
                <a:solidFill>
                  <a:srgbClr val="1F2328"/>
                </a:solidFill>
              </a:rPr>
              <a:t>Prinsip membungkus data dan </a:t>
            </a:r>
            <a:r>
              <a:rPr lang="id-ID" altLang="en-US" sz="2200" i="1" dirty="0">
                <a:solidFill>
                  <a:srgbClr val="1F2328"/>
                </a:solidFill>
              </a:rPr>
              <a:t>method</a:t>
            </a:r>
            <a:r>
              <a:rPr lang="id-ID" altLang="en-US" sz="2200" dirty="0">
                <a:solidFill>
                  <a:srgbClr val="1F2328"/>
                </a:solidFill>
              </a:rPr>
              <a:t> yang mengolahnya ke dalam satu kelas, lalu </a:t>
            </a:r>
            <a:r>
              <a:rPr lang="id-ID" altLang="en-US" sz="2200" b="1" dirty="0">
                <a:solidFill>
                  <a:srgbClr val="1F2328"/>
                </a:solidFill>
              </a:rPr>
              <a:t>membatasi akses langsung</a:t>
            </a:r>
            <a:r>
              <a:rPr lang="id-ID" altLang="en-US" sz="2200" dirty="0">
                <a:solidFill>
                  <a:srgbClr val="1F2328"/>
                </a:solidFill>
              </a:rPr>
              <a:t> ke data tersebut. Pihak luar hanya berinteraksi lewat “pintu resmi”, yaitu </a:t>
            </a:r>
            <a:r>
              <a:rPr lang="id-ID" altLang="en-US" sz="2200" i="1" dirty="0">
                <a:solidFill>
                  <a:srgbClr val="1F2328"/>
                </a:solidFill>
              </a:rPr>
              <a:t>method</a:t>
            </a:r>
            <a:r>
              <a:rPr lang="id-ID" altLang="en-US" sz="2200" dirty="0">
                <a:solidFill>
                  <a:srgbClr val="1F2328"/>
                </a:solidFill>
              </a:rPr>
              <a:t> yang disediakan kelas.</a:t>
            </a:r>
            <a:endParaRPr lang="id-ID" sz="2200" dirty="0"/>
          </a:p>
        </p:txBody>
      </p:sp>
      <p:sp>
        <p:nvSpPr>
          <p:cNvPr id="10" name="Shape 6"/>
          <p:cNvSpPr/>
          <p:nvPr/>
        </p:nvSpPr>
        <p:spPr>
          <a:xfrm>
            <a:off x="603504" y="4382120"/>
            <a:ext cx="137160" cy="137160"/>
          </a:xfrm>
          <a:prstGeom prst="roundRect">
            <a:avLst>
              <a:gd name="adj" fmla="val 166667"/>
            </a:avLst>
          </a:prstGeom>
          <a:solidFill>
            <a:srgbClr val="0969DA"/>
          </a:solidFill>
          <a:ln/>
        </p:spPr>
      </p:sp>
      <p:sp>
        <p:nvSpPr>
          <p:cNvPr id="11" name="Text 7"/>
          <p:cNvSpPr txBox="1"/>
          <p:nvPr/>
        </p:nvSpPr>
        <p:spPr>
          <a:xfrm>
            <a:off x="932688" y="4295760"/>
            <a:ext cx="10710367" cy="355600"/>
          </a:xfrm>
          <a:prstGeom prst="rect">
            <a:avLst/>
          </a:prstGeom>
          <a:noFill/>
          <a:ln/>
        </p:spPr>
        <p:txBody>
          <a:bodyPr wrap="square" lIns="0" tIns="0" rIns="0" bIns="0" rtlCol="0" anchor="t"/>
          <a:lstStyle/>
          <a:p>
            <a:pPr indent="0" marL="0">
              <a:buNone/>
            </a:pPr>
            <a:r>
              <a:rPr lang="id-ID" altLang="en-US" sz="2000" b="1" dirty="0">
                <a:solidFill>
                  <a:srgbClr val="1F2328"/>
                </a:solidFill>
              </a:rPr>
              <a:t>Membungkus</a:t>
            </a:r>
            <a:r>
              <a:rPr lang="id-ID" altLang="en-US" sz="2000" dirty="0">
                <a:solidFill>
                  <a:srgbClr val="1F2328"/>
                </a:solidFill>
              </a:rPr>
              <a:t>: data dan </a:t>
            </a:r>
            <a:r>
              <a:rPr lang="id-ID" altLang="en-US" sz="2000" i="1" dirty="0">
                <a:solidFill>
                  <a:srgbClr val="1F2328"/>
                </a:solidFill>
              </a:rPr>
              <a:t>method</a:t>
            </a:r>
            <a:r>
              <a:rPr lang="id-ID" altLang="en-US" sz="2000" dirty="0">
                <a:solidFill>
                  <a:srgbClr val="1F2328"/>
                </a:solidFill>
              </a:rPr>
              <a:t> disatukan dalam satu kelas, seperti serbuk obat dalam kapsul.</a:t>
            </a:r>
            <a:endParaRPr lang="id-ID" sz="2000" dirty="0"/>
          </a:p>
        </p:txBody>
      </p:sp>
      <p:sp>
        <p:nvSpPr>
          <p:cNvPr id="12" name="Shape 8"/>
          <p:cNvSpPr/>
          <p:nvPr/>
        </p:nvSpPr>
        <p:spPr>
          <a:xfrm>
            <a:off x="603504" y="4929744"/>
            <a:ext cx="137160" cy="137160"/>
          </a:xfrm>
          <a:prstGeom prst="roundRect">
            <a:avLst>
              <a:gd name="adj" fmla="val 166667"/>
            </a:avLst>
          </a:prstGeom>
          <a:solidFill>
            <a:srgbClr val="0969DA"/>
          </a:solidFill>
          <a:ln/>
        </p:spPr>
      </p:sp>
      <p:sp>
        <p:nvSpPr>
          <p:cNvPr id="13" name="Text 9"/>
          <p:cNvSpPr txBox="1"/>
          <p:nvPr/>
        </p:nvSpPr>
        <p:spPr>
          <a:xfrm>
            <a:off x="932688" y="4843384"/>
            <a:ext cx="10710367" cy="665480"/>
          </a:xfrm>
          <a:prstGeom prst="rect">
            <a:avLst/>
          </a:prstGeom>
          <a:noFill/>
          <a:ln/>
        </p:spPr>
        <p:txBody>
          <a:bodyPr wrap="square" lIns="0" tIns="0" rIns="0" bIns="0" rtlCol="0" anchor="t"/>
          <a:lstStyle/>
          <a:p>
            <a:pPr indent="0" marL="0">
              <a:buNone/>
            </a:pPr>
            <a:r>
              <a:rPr lang="id-ID" altLang="en-US" sz="2000" b="1" dirty="0">
                <a:solidFill>
                  <a:srgbClr val="1F2328"/>
                </a:solidFill>
              </a:rPr>
              <a:t>Menyembunyikan</a:t>
            </a:r>
            <a:r>
              <a:rPr lang="id-ID" altLang="en-US" sz="2000" dirty="0">
                <a:solidFill>
                  <a:srgbClr val="1F2328"/>
                </a:solidFill>
              </a:rPr>
              <a:t> (</a:t>
            </a:r>
            <a:r>
              <a:rPr lang="id-ID" altLang="en-US" sz="2000" i="1" dirty="0">
                <a:solidFill>
                  <a:srgbClr val="1F2328"/>
                </a:solidFill>
              </a:rPr>
              <a:t>information hiding</a:t>
            </a:r>
            <a:r>
              <a:rPr lang="id-ID" altLang="en-US" sz="2000" dirty="0">
                <a:solidFill>
                  <a:srgbClr val="1F2328"/>
                </a:solidFill>
              </a:rPr>
              <a:t>): pihak luar cukup tahu </a:t>
            </a:r>
            <a:r>
              <a:rPr lang="id-ID" altLang="en-US" sz="2000" b="1" dirty="0">
                <a:solidFill>
                  <a:srgbClr val="1F2328"/>
                </a:solidFill>
              </a:rPr>
              <a:t>apa</a:t>
            </a:r>
            <a:r>
              <a:rPr lang="id-ID" altLang="en-US" sz="2000" dirty="0">
                <a:solidFill>
                  <a:srgbClr val="1F2328"/>
                </a:solidFill>
              </a:rPr>
              <a:t> yang bisa dilakukan, bukan </a:t>
            </a:r>
            <a:r>
              <a:rPr lang="id-ID" altLang="en-US" sz="2000" b="1" dirty="0">
                <a:solidFill>
                  <a:srgbClr val="1F2328"/>
                </a:solidFill>
              </a:rPr>
              <a:t>bagaimana</a:t>
            </a:r>
            <a:r>
              <a:rPr lang="id-ID" altLang="en-US" sz="2000" dirty="0">
                <a:solidFill>
                  <a:srgbClr val="1F2328"/>
                </a:solidFill>
              </a:rPr>
              <a:t>.</a:t>
            </a:r>
            <a:endParaRPr lang="id-ID" sz="2000" dirty="0"/>
          </a:p>
        </p:txBody>
      </p:sp>
      <p:sp>
        <p:nvSpPr>
          <p:cNvPr id="14" name="Shape 10"/>
          <p:cNvSpPr/>
          <p:nvPr/>
        </p:nvSpPr>
        <p:spPr>
          <a:xfrm>
            <a:off x="603504" y="5787248"/>
            <a:ext cx="137160" cy="137160"/>
          </a:xfrm>
          <a:prstGeom prst="roundRect">
            <a:avLst>
              <a:gd name="adj" fmla="val 166667"/>
            </a:avLst>
          </a:prstGeom>
          <a:solidFill>
            <a:srgbClr val="0969DA"/>
          </a:solidFill>
          <a:ln/>
        </p:spPr>
      </p:sp>
      <p:sp>
        <p:nvSpPr>
          <p:cNvPr id="15" name="Text 11"/>
          <p:cNvSpPr txBox="1"/>
          <p:nvPr/>
        </p:nvSpPr>
        <p:spPr>
          <a:xfrm>
            <a:off x="932688" y="5700888"/>
            <a:ext cx="10710367" cy="355600"/>
          </a:xfrm>
          <a:prstGeom prst="rect">
            <a:avLst/>
          </a:prstGeom>
          <a:noFill/>
          <a:ln/>
        </p:spPr>
        <p:txBody>
          <a:bodyPr wrap="square" lIns="0" tIns="0" rIns="0" bIns="0" rtlCol="0" anchor="t"/>
          <a:lstStyle/>
          <a:p>
            <a:pPr indent="0" marL="0">
              <a:buNone/>
            </a:pPr>
            <a:r>
              <a:rPr lang="id-ID" altLang="en-US" sz="2000" dirty="0">
                <a:solidFill>
                  <a:srgbClr val="1F2328"/>
                </a:solidFill>
              </a:rPr>
              <a:t>Mesin ATM: brankas tertutup rapat, yang terlihat hanya menu cek saldo, tarik tunai, dan transfer.</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Pintu Resmi dan Data Privat</a:t>
            </a:r>
            <a:endParaRPr lang="id-ID" sz="3200" dirty="0"/>
          </a:p>
        </p:txBody>
      </p:sp>
      <p:pic>
        <p:nvPicPr>
          <p:cNvPr id="5" name="Image 1" descr="Wajah depan (public interface) boleh dipakai semua kode; dapurnya (data privat) hanya untuk kode di dalam kelas itu.">    </p:cNvPr>
          <p:cNvPicPr>
            <a:picLocks noChangeAspect="1"/>
          </p:cNvPicPr>
          <p:nvPr/>
        </p:nvPicPr>
        <p:blipFill>
          <a:blip r:embed="rId2"/>
          <a:stretch>
            <a:fillRect/>
          </a:stretch>
        </p:blipFill>
        <p:spPr>
          <a:xfrm>
            <a:off x="548640" y="2515387"/>
            <a:ext cx="11094415" cy="1849069"/>
          </a:xfrm>
          <a:prstGeom prst="rect">
            <a:avLst/>
          </a:prstGeom>
        </p:spPr>
      </p:pic>
      <p:sp>
        <p:nvSpPr>
          <p:cNvPr id="6" name="Text 2"/>
          <p:cNvSpPr txBox="1"/>
          <p:nvPr/>
        </p:nvSpPr>
        <p:spPr>
          <a:xfrm>
            <a:off x="1005840" y="4474185"/>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Wajah depan (</a:t>
            </a:r>
            <a:r>
              <a:rPr lang="id-ID" altLang="en-US" sz="1700" i="1" dirty="0">
                <a:solidFill>
                  <a:srgbClr val="57606A"/>
                </a:solidFill>
              </a:rPr>
              <a:t>public interface</a:t>
            </a:r>
            <a:r>
              <a:rPr lang="id-ID" altLang="en-US" sz="1700" dirty="0">
                <a:solidFill>
                  <a:srgbClr val="57606A"/>
                </a:solidFill>
              </a:rPr>
              <a:t>) boleh dipakai semua kode; dapurnya (data privat) hanya untuk kode di dalam kelas itu.</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Access Modifier</a:t>
            </a:r>
            <a:r>
              <a:rPr lang="id-ID" altLang="en-US" sz="4200" b="1" dirty="0">
                <a:solidFill>
                  <a:srgbClr val="FFFFFF"/>
                </a:solidFill>
              </a:rPr>
              <a:t>: Siapa Boleh Masuk?</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Aturan tentang siapa yang boleh menyentuh atribut dan </a:t>
            </a:r>
            <a:r>
              <a:rPr lang="id-ID" altLang="en-US" sz="2200" i="1" dirty="0">
                <a:solidFill>
                  <a:srgbClr val="C9D7E8"/>
                </a:solidFill>
              </a:rPr>
              <a:t>method</a:t>
            </a:r>
            <a:r>
              <a:rPr lang="id-ID" altLang="en-US" sz="2200" dirty="0">
                <a:solidFill>
                  <a:srgbClr val="C9D7E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Empat Tingkat Akses di Java</a:t>
            </a:r>
            <a:endParaRPr lang="id-ID"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71005"/>
          <a:ext cx="11094415" cy="914400"/>
        </p:xfrm>
        <a:graphic>
          <a:graphicData uri="http://schemas.openxmlformats.org/drawingml/2006/table">
            <a:tbl>
              <a:tblPr/>
              <a:tblGrid>
                <a:gridCol w="2832616"/>
                <a:gridCol w="3157764"/>
                <a:gridCol w="2605697"/>
                <a:gridCol w="2498338"/>
              </a:tblGrid>
              <a:tr h="864616">
                <a:tc>
                  <a:txBody>
                    <a:bodyPr/>
                    <a:lstStyle/>
                    <a:p>
                      <a:pPr indent="0" marL="0">
                        <a:buNone/>
                      </a:pPr>
                      <a:r>
                        <a:rPr lang="id-ID" altLang="en-US" sz="2200" b="1" i="1" dirty="0">
                          <a:solidFill>
                            <a:srgbClr val="FFFFFF"/>
                          </a:solidFill>
                          <a:latin typeface="Calibri" pitchFamily="34" charset="0"/>
                          <a:ea typeface="Calibri" pitchFamily="34" charset="-122"/>
                          <a:cs typeface="Calibri" pitchFamily="34" charset="-120"/>
                        </a:rPr>
                        <a:t>Access modifier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Kelas lain di paket yang sama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Kelas anak di paket lain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Kelas lain di paket lain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public</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boleh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boleh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boleh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protected</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boleh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boleh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default</a:t>
                      </a:r>
                      <a:r>
                        <a:rPr lang="id-ID" altLang="en-US" sz="2200" dirty="0">
                          <a:solidFill>
                            <a:srgbClr val="1F2328"/>
                          </a:solidFill>
                          <a:latin typeface="Calibri" pitchFamily="34" charset="0"/>
                          <a:ea typeface="Calibri" pitchFamily="34" charset="-122"/>
                          <a:cs typeface="Calibri" pitchFamily="34" charset="-120"/>
                        </a:rPr>
                        <a:t> (tanpa kata kunci)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boleh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private</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21836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290790"/>
            <a:ext cx="184343" cy="184343"/>
          </a:xfrm>
          <a:prstGeom prst="rect">
            <a:avLst/>
          </a:prstGeom>
        </p:spPr>
      </p:pic>
      <p:sp>
        <p:nvSpPr>
          <p:cNvPr id="8" name="Text 3"/>
          <p:cNvSpPr txBox="1"/>
          <p:nvPr/>
        </p:nvSpPr>
        <p:spPr>
          <a:xfrm>
            <a:off x="1005840" y="520008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Kelas itu sendiri selalu boleh. Pola paling umum: atribut dibuat </a:t>
            </a:r>
            <a:r>
              <a:rPr lang="id-ID" altLang="en-US" sz="1800" dirty="0">
                <a:solidFill>
                  <a:srgbClr val="57606A"/>
                </a:solidFill>
                <a:latin typeface="Consolas" pitchFamily="34" charset="0"/>
                <a:ea typeface="Consolas" pitchFamily="34" charset="-122"/>
                <a:cs typeface="Consolas" pitchFamily="34" charset="-120"/>
              </a:rPr>
              <a:t>private</a:t>
            </a:r>
            <a:r>
              <a:rPr lang="id-ID" altLang="en-US" sz="1800" dirty="0">
                <a:solidFill>
                  <a:srgbClr val="57606A"/>
                </a:solidFill>
              </a:rPr>
              <a:t>, </a:t>
            </a:r>
            <a:r>
              <a:rPr lang="id-ID" altLang="en-US" sz="1800" i="1" dirty="0">
                <a:solidFill>
                  <a:srgbClr val="57606A"/>
                </a:solidFill>
              </a:rPr>
              <a:t>method</a:t>
            </a:r>
            <a:r>
              <a:rPr lang="id-ID" altLang="en-US" sz="1800" dirty="0">
                <a:solidFill>
                  <a:srgbClr val="57606A"/>
                </a:solidFill>
              </a:rPr>
              <a:t> untuk umum dibuat </a:t>
            </a:r>
            <a:r>
              <a:rPr lang="id-ID" altLang="en-US" sz="1800" dirty="0">
                <a:solidFill>
                  <a:srgbClr val="57606A"/>
                </a:solidFill>
                <a:latin typeface="Consolas" pitchFamily="34" charset="0"/>
                <a:ea typeface="Consolas" pitchFamily="34" charset="-122"/>
                <a:cs typeface="Consolas" pitchFamily="34" charset="-120"/>
              </a:rPr>
              <a:t>public</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Python: Kesepakatan lewat Nama</a:t>
            </a:r>
            <a:endParaRPr lang="id-ID"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47815"/>
          <a:ext cx="11094415" cy="914400"/>
        </p:xfrm>
        <a:graphic>
          <a:graphicData uri="http://schemas.openxmlformats.org/drawingml/2006/table">
            <a:tbl>
              <a:tblPr/>
              <a:tblGrid>
                <a:gridCol w="2220556"/>
                <a:gridCol w="1205484"/>
                <a:gridCol w="5144892"/>
                <a:gridCol w="2523483"/>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Penulisan nama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Contoh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Artinya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Dijaga Python?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Tanpa garis bawah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nama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Publik, boleh dipakai siapa saja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Satu garis bawah di depan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_harga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“Urusan internal, jangan disentuh dari luar kelas”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 hanya kesepakatan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Dua garis bawah di depan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__pin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Namanya diganti menjadi </a:t>
                      </a:r>
                      <a:r>
                        <a:rPr lang="id-ID" altLang="en-US" sz="2200" dirty="0">
                          <a:solidFill>
                            <a:srgbClr val="0A3069"/>
                          </a:solidFill>
                          <a:latin typeface="Consolas" pitchFamily="34" charset="0"/>
                          <a:ea typeface="Consolas" pitchFamily="34" charset="-122"/>
                          <a:cs typeface="Consolas" pitchFamily="34" charset="-120"/>
                        </a:rPr>
                        <a:t>_NamaKelas__pin</a:t>
                      </a:r>
                      <a:r>
                        <a:rPr lang="id-ID" altLang="en-US" sz="2200" dirty="0">
                          <a:solidFill>
                            <a:srgbClr val="1F2328"/>
                          </a:solidFill>
                          <a:latin typeface="Calibri" pitchFamily="34" charset="0"/>
                          <a:ea typeface="Calibri" pitchFamily="34" charset="-122"/>
                          <a:cs typeface="Calibri" pitchFamily="34" charset="-120"/>
                        </a:rPr>
                        <a:t> (</a:t>
                      </a:r>
                      <a:r>
                        <a:rPr lang="id-ID" altLang="en-US" sz="2200" i="1" dirty="0">
                          <a:solidFill>
                            <a:srgbClr val="1F2328"/>
                          </a:solidFill>
                          <a:latin typeface="Calibri" pitchFamily="34" charset="0"/>
                          <a:ea typeface="Calibri" pitchFamily="34" charset="-122"/>
                          <a:cs typeface="Calibri" pitchFamily="34" charset="-120"/>
                        </a:rPr>
                        <a:t>name mangling</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Hanya namanya yang diganti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11229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184719"/>
            <a:ext cx="184343" cy="184343"/>
          </a:xfrm>
          <a:prstGeom prst="rect">
            <a:avLst/>
          </a:prstGeom>
        </p:spPr>
      </p:pic>
      <p:sp>
        <p:nvSpPr>
          <p:cNvPr id="8" name="Text 3"/>
          <p:cNvSpPr txBox="1"/>
          <p:nvPr/>
        </p:nvSpPr>
        <p:spPr>
          <a:xfrm>
            <a:off x="1005840" y="509401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Jangan tertukar dengan </a:t>
            </a:r>
            <a:r>
              <a:rPr lang="id-ID" altLang="en-US" sz="1800" dirty="0">
                <a:solidFill>
                  <a:srgbClr val="57606A"/>
                </a:solidFill>
                <a:latin typeface="Consolas" pitchFamily="34" charset="0"/>
                <a:ea typeface="Consolas" pitchFamily="34" charset="-122"/>
                <a:cs typeface="Consolas" pitchFamily="34" charset="-120"/>
              </a:rPr>
              <a:t>__init__</a:t>
            </a:r>
            <a:r>
              <a:rPr lang="id-ID" altLang="en-US" sz="1800" dirty="0">
                <a:solidFill>
                  <a:srgbClr val="57606A"/>
                </a:solidFill>
              </a:rPr>
              <a:t> atau </a:t>
            </a:r>
            <a:r>
              <a:rPr lang="id-ID" altLang="en-US" sz="1800" dirty="0">
                <a:solidFill>
                  <a:srgbClr val="57606A"/>
                </a:solidFill>
                <a:latin typeface="Consolas" pitchFamily="34" charset="0"/>
                <a:ea typeface="Consolas" pitchFamily="34" charset="-122"/>
                <a:cs typeface="Consolas" pitchFamily="34" charset="-120"/>
              </a:rPr>
              <a:t>__str__</a:t>
            </a:r>
            <a:r>
              <a:rPr lang="id-ID" altLang="en-US" sz="1800" dirty="0">
                <a:solidFill>
                  <a:srgbClr val="57606A"/>
                </a:solidFill>
              </a:rPr>
              <a:t>: nama yang diapit dua garis bawah di depan </a:t>
            </a:r>
            <a:r>
              <a:rPr lang="id-ID" altLang="en-US" sz="1800" b="1" dirty="0">
                <a:solidFill>
                  <a:srgbClr val="57606A"/>
                </a:solidFill>
              </a:rPr>
              <a:t>dan</a:t>
            </a:r>
            <a:r>
              <a:rPr lang="id-ID" altLang="en-US" sz="1800" dirty="0">
                <a:solidFill>
                  <a:srgbClr val="57606A"/>
                </a:solidFill>
              </a:rPr>
              <a:t> belakang adalah </a:t>
            </a:r>
            <a:r>
              <a:rPr lang="id-ID" altLang="en-US" sz="1800" i="1" dirty="0">
                <a:solidFill>
                  <a:srgbClr val="57606A"/>
                </a:solidFill>
              </a:rPr>
              <a:t>method</a:t>
            </a:r>
            <a:r>
              <a:rPr lang="id-ID" altLang="en-US" sz="1800" dirty="0">
                <a:solidFill>
                  <a:srgbClr val="57606A"/>
                </a:solidFill>
              </a:rPr>
              <a:t> khusus.</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Name Mangling</a:t>
            </a:r>
            <a:r>
              <a:rPr lang="id-ID" altLang="en-US" sz="3200" b="1" dirty="0">
                <a:solidFill>
                  <a:srgbClr val="0A3069"/>
                </a:solidFill>
              </a:rPr>
              <a:t>: Diganti, Bukan Dikunci</a:t>
            </a:r>
            <a:endParaRPr lang="id-ID" sz="3200" dirty="0"/>
          </a:p>
        </p:txBody>
      </p:sp>
      <p:sp>
        <p:nvSpPr>
          <p:cNvPr id="5" name="Text 2"/>
          <p:cNvSpPr txBox="1"/>
          <p:nvPr/>
        </p:nvSpPr>
        <p:spPr>
          <a:xfrm>
            <a:off x="548640" y="1468679"/>
            <a:ext cx="11094415" cy="603504"/>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self.__pin</a:t>
            </a:r>
            <a:r>
              <a:rPr lang="id-ID" altLang="en-US" sz="1800" dirty="0">
                <a:solidFill>
                  <a:srgbClr val="57606A"/>
                </a:solidFill>
              </a:rPr>
              <a:t> disimpan dengan nama lain. </a:t>
            </a:r>
            <a:r>
              <a:rPr lang="id-ID" altLang="en-US" sz="1800" dirty="0">
                <a:solidFill>
                  <a:srgbClr val="0A3069"/>
                </a:solidFill>
                <a:latin typeface="Consolas" pitchFamily="34" charset="0"/>
                <a:ea typeface="Consolas" pitchFamily="34" charset="-122"/>
                <a:cs typeface="Consolas" pitchFamily="34" charset="-120"/>
              </a:rPr>
              <a:t>brankas.__pin</a:t>
            </a:r>
            <a:r>
              <a:rPr lang="id-ID" altLang="en-US" sz="1800" dirty="0">
                <a:solidFill>
                  <a:srgbClr val="57606A"/>
                </a:solidFill>
              </a:rPr>
              <a:t> tidak ditemukan, tetapi nama barunya tetap bisa dibaca.</a:t>
            </a:r>
            <a:endParaRPr lang="id-ID" sz="1800" dirty="0"/>
          </a:p>
        </p:txBody>
      </p:sp>
      <p:sp>
        <p:nvSpPr>
          <p:cNvPr id="6" name="Shape 3"/>
          <p:cNvSpPr/>
          <p:nvPr/>
        </p:nvSpPr>
        <p:spPr>
          <a:xfrm>
            <a:off x="548640" y="2181911"/>
            <a:ext cx="1051560" cy="329184"/>
          </a:xfrm>
          <a:prstGeom prst="roundRect">
            <a:avLst>
              <a:gd name="adj" fmla="val 138889"/>
            </a:avLst>
          </a:prstGeom>
          <a:solidFill>
            <a:srgbClr val="3572A5"/>
          </a:solidFill>
          <a:ln/>
        </p:spPr>
      </p:sp>
      <p:sp>
        <p:nvSpPr>
          <p:cNvPr id="7" name="Text 4"/>
          <p:cNvSpPr txBox="1"/>
          <p:nvPr/>
        </p:nvSpPr>
        <p:spPr>
          <a:xfrm>
            <a:off x="548640" y="218191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181911"/>
            <a:ext cx="5961063"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python/contoh/contoh02_name_mangling.py</a:t>
            </a:r>
            <a:endParaRPr lang="id-ID" sz="1100" dirty="0"/>
          </a:p>
        </p:txBody>
      </p:sp>
      <p:sp>
        <p:nvSpPr>
          <p:cNvPr id="9" name="Shape 6"/>
          <p:cNvSpPr/>
          <p:nvPr/>
        </p:nvSpPr>
        <p:spPr>
          <a:xfrm>
            <a:off x="548640" y="2602535"/>
            <a:ext cx="7149783" cy="2316607"/>
          </a:xfrm>
          <a:prstGeom prst="roundRect">
            <a:avLst>
              <a:gd name="adj" fmla="val 1558"/>
            </a:avLst>
          </a:prstGeom>
          <a:solidFill>
            <a:srgbClr val="F6F8FA"/>
          </a:solidFill>
          <a:ln w="9525">
            <a:solidFill>
              <a:srgbClr val="D0D7DE"/>
            </a:solidFill>
            <a:prstDash val="solid"/>
          </a:ln>
        </p:spPr>
      </p:sp>
      <p:sp>
        <p:nvSpPr>
          <p:cNvPr id="10" name="Text 7"/>
          <p:cNvSpPr txBox="1"/>
          <p:nvPr/>
        </p:nvSpPr>
        <p:spPr>
          <a:xfrm>
            <a:off x="658368" y="2693975"/>
            <a:ext cx="6930327" cy="2133727"/>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Brankas</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__init__</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pemilik, pin):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._pemilik = pemilik</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.__pin = pin</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 dalam main()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brankas = Brankas(</a:t>
            </a:r>
            <a:r>
              <a:rPr lang="en-US" altLang="en-US" sz="1250" dirty="0">
                <a:solidFill>
                  <a:srgbClr val="0A3069"/>
                </a:solidFill>
                <a:latin typeface="Consolas" pitchFamily="34" charset="0"/>
                <a:ea typeface="Consolas" pitchFamily="34" charset="-122"/>
                <a:cs typeface="Consolas" pitchFamily="34" charset="-120"/>
              </a:rPr>
              <a:t>"Budi"</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"246810"</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(dilewati)</a:t>
            </a:r>
            <a:endParaRPr lang="en-US" sz="1250" dirty="0"/>
          </a:p>
          <a:p>
            <a:pPr indent="0" marL="0">
              <a:buNone/>
            </a:pPr>
            <a:r>
              <a:rPr lang="en-US" altLang="en-US" sz="1250" dirty="0">
                <a:solidFill>
                  <a:srgbClr val="0550AE"/>
                </a:solidFill>
                <a:latin typeface="Consolas" pitchFamily="34" charset="0"/>
                <a:ea typeface="Consolas" pitchFamily="34" charset="-122"/>
                <a:cs typeface="Consolas" pitchFamily="34" charset="-120"/>
              </a:rPr>
              <a:t>print</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A3069"/>
                </a:solidFill>
                <a:latin typeface="Consolas" pitchFamily="34" charset="0"/>
                <a:ea typeface="Consolas" pitchFamily="34" charset="-122"/>
                <a:cs typeface="Consolas" pitchFamily="34" charset="-120"/>
              </a:rPr>
              <a:t>f"Ada atribut '__pin'?  : {</a:t>
            </a:r>
            <a:r>
              <a:rPr lang="en-US" altLang="en-US" sz="1250" dirty="0">
                <a:solidFill>
                  <a:srgbClr val="1F2328"/>
                </a:solidFill>
                <a:latin typeface="Consolas" pitchFamily="34" charset="0"/>
                <a:ea typeface="Consolas" pitchFamily="34" charset="-122"/>
                <a:cs typeface="Consolas" pitchFamily="34" charset="-120"/>
              </a:rPr>
              <a:t>ya_tidak(</a:t>
            </a:r>
            <a:r>
              <a:rPr lang="en-US" altLang="en-US" sz="1250" dirty="0">
                <a:solidFill>
                  <a:srgbClr val="0550AE"/>
                </a:solidFill>
                <a:latin typeface="Consolas" pitchFamily="34" charset="0"/>
                <a:ea typeface="Consolas" pitchFamily="34" charset="-122"/>
                <a:cs typeface="Consolas" pitchFamily="34" charset="-120"/>
              </a:rPr>
              <a:t>hasattr</a:t>
            </a:r>
            <a:r>
              <a:rPr lang="en-US" altLang="en-US" sz="1250" dirty="0">
                <a:solidFill>
                  <a:srgbClr val="1F2328"/>
                </a:solidFill>
                <a:latin typeface="Consolas" pitchFamily="34" charset="0"/>
                <a:ea typeface="Consolas" pitchFamily="34" charset="-122"/>
                <a:cs typeface="Consolas" pitchFamily="34" charset="-120"/>
              </a:rPr>
              <a:t>(brankas, </a:t>
            </a:r>
            <a:r>
              <a:rPr lang="en-US" altLang="en-US" sz="1250" dirty="0">
                <a:solidFill>
                  <a:srgbClr val="0A3069"/>
                </a:solidFill>
                <a:latin typeface="Consolas" pitchFamily="34" charset="0"/>
                <a:ea typeface="Consolas" pitchFamily="34" charset="-122"/>
                <a:cs typeface="Consolas" pitchFamily="34" charset="-120"/>
              </a:rPr>
              <a:t>'__pin'</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A3069"/>
                </a:solidFill>
                <a:latin typeface="Consolas" pitchFamily="34" charset="0"/>
                <a:ea typeface="Consolas" pitchFamily="34" charset="-122"/>
                <a:cs typeface="Consolas" pitchFamily="34" charset="-120"/>
              </a:rPr>
              <a:t>}"</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0550AE"/>
                </a:solidFill>
                <a:latin typeface="Consolas" pitchFamily="34" charset="0"/>
                <a:ea typeface="Consolas" pitchFamily="34" charset="-122"/>
                <a:cs typeface="Consolas" pitchFamily="34" charset="-120"/>
              </a:rPr>
              <a:t>print</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A3069"/>
                </a:solidFill>
                <a:latin typeface="Consolas" pitchFamily="34" charset="0"/>
                <a:ea typeface="Consolas" pitchFamily="34" charset="-122"/>
                <a:cs typeface="Consolas" pitchFamily="34" charset="-120"/>
              </a:rPr>
              <a:t>f"Isi objek sebenarnya  : {</a:t>
            </a:r>
            <a:r>
              <a:rPr lang="en-US" altLang="en-US" sz="1250" dirty="0">
                <a:solidFill>
                  <a:srgbClr val="0550AE"/>
                </a:solidFill>
                <a:latin typeface="Consolas" pitchFamily="34" charset="0"/>
                <a:ea typeface="Consolas" pitchFamily="34" charset="-122"/>
                <a:cs typeface="Consolas" pitchFamily="34" charset="-120"/>
              </a:rPr>
              <a:t>vars</a:t>
            </a:r>
            <a:r>
              <a:rPr lang="en-US" altLang="en-US" sz="1250" dirty="0">
                <a:solidFill>
                  <a:srgbClr val="1F2328"/>
                </a:solidFill>
                <a:latin typeface="Consolas" pitchFamily="34" charset="0"/>
                <a:ea typeface="Consolas" pitchFamily="34" charset="-122"/>
                <a:cs typeface="Consolas" pitchFamily="34" charset="-120"/>
              </a:rPr>
              <a:t>(brankas)</a:t>
            </a:r>
            <a:r>
              <a:rPr lang="en-US" altLang="en-US" sz="1250" dirty="0">
                <a:solidFill>
                  <a:srgbClr val="0A3069"/>
                </a:solidFill>
                <a:latin typeface="Consolas" pitchFamily="34" charset="0"/>
                <a:ea typeface="Consolas" pitchFamily="34" charset="-122"/>
                <a:cs typeface="Consolas" pitchFamily="34" charset="-120"/>
              </a:rPr>
              <a:t>}"</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(dilewati)</a:t>
            </a:r>
            <a:endParaRPr lang="en-US" sz="1250" dirty="0"/>
          </a:p>
          <a:p>
            <a:pPr indent="0" marL="0">
              <a:buNone/>
            </a:pPr>
            <a:r>
              <a:rPr lang="en-US" altLang="en-US" sz="1250" dirty="0">
                <a:solidFill>
                  <a:srgbClr val="0550AE"/>
                </a:solidFill>
                <a:latin typeface="Consolas" pitchFamily="34" charset="0"/>
                <a:ea typeface="Consolas" pitchFamily="34" charset="-122"/>
                <a:cs typeface="Consolas" pitchFamily="34" charset="-120"/>
              </a:rPr>
              <a:t>print</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A3069"/>
                </a:solidFill>
                <a:latin typeface="Consolas" pitchFamily="34" charset="0"/>
                <a:ea typeface="Consolas" pitchFamily="34" charset="-122"/>
                <a:cs typeface="Consolas" pitchFamily="34" charset="-120"/>
              </a:rPr>
              <a:t>f"brankas._Brankas__pin : {</a:t>
            </a:r>
            <a:r>
              <a:rPr lang="en-US" altLang="en-US" sz="1250" dirty="0">
                <a:solidFill>
                  <a:srgbClr val="1F2328"/>
                </a:solidFill>
                <a:latin typeface="Consolas" pitchFamily="34" charset="0"/>
                <a:ea typeface="Consolas" pitchFamily="34" charset="-122"/>
                <a:cs typeface="Consolas" pitchFamily="34" charset="-120"/>
              </a:rPr>
              <a:t>brankas._Brankas__pin</a:t>
            </a:r>
            <a:r>
              <a:rPr lang="en-US" altLang="en-US" sz="1250" dirty="0">
                <a:solidFill>
                  <a:srgbClr val="0A3069"/>
                </a:solidFill>
                <a:latin typeface="Consolas" pitchFamily="34" charset="0"/>
                <a:ea typeface="Consolas" pitchFamily="34" charset="-122"/>
                <a:cs typeface="Consolas" pitchFamily="34" charset="-120"/>
              </a:rPr>
              <a:t>}"</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11" name="Shape 8"/>
          <p:cNvSpPr/>
          <p:nvPr/>
        </p:nvSpPr>
        <p:spPr>
          <a:xfrm>
            <a:off x="548640" y="5147742"/>
            <a:ext cx="11094415" cy="917829"/>
          </a:xfrm>
          <a:prstGeom prst="roundRect">
            <a:avLst>
              <a:gd name="adj" fmla="val 9925"/>
            </a:avLst>
          </a:prstGeom>
          <a:solidFill>
            <a:srgbClr val="0D1117"/>
          </a:solidFill>
          <a:ln/>
        </p:spPr>
      </p:sp>
      <p:sp>
        <p:nvSpPr>
          <p:cNvPr id="12" name="Shape 9"/>
          <p:cNvSpPr/>
          <p:nvPr/>
        </p:nvSpPr>
        <p:spPr>
          <a:xfrm>
            <a:off x="713232" y="5275758"/>
            <a:ext cx="960120" cy="292608"/>
          </a:xfrm>
          <a:prstGeom prst="roundRect">
            <a:avLst>
              <a:gd name="adj" fmla="val 156250"/>
            </a:avLst>
          </a:prstGeom>
          <a:solidFill>
            <a:srgbClr val="30363D"/>
          </a:solidFill>
          <a:ln/>
        </p:spPr>
      </p:sp>
      <p:sp>
        <p:nvSpPr>
          <p:cNvPr id="13" name="Text 10"/>
          <p:cNvSpPr txBox="1"/>
          <p:nvPr/>
        </p:nvSpPr>
        <p:spPr>
          <a:xfrm>
            <a:off x="713232" y="5275758"/>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14" name="Text 11"/>
          <p:cNvSpPr txBox="1"/>
          <p:nvPr/>
        </p:nvSpPr>
        <p:spPr>
          <a:xfrm>
            <a:off x="1828800" y="5275758"/>
            <a:ext cx="9631375" cy="698373"/>
          </a:xfrm>
          <a:prstGeom prst="rect">
            <a:avLst/>
          </a:prstGeom>
          <a:noFill/>
          <a:ln/>
        </p:spPr>
        <p:txBody>
          <a:bodyPr wrap="square" lIns="0" tIns="0" rIns="0" bIns="0" rtlCol="0" anchor="t"/>
          <a:lstStyle/>
          <a:p>
            <a:pPr indent="0" marL="0">
              <a:buNone/>
            </a:pPr>
            <a:r>
              <a:rPr lang="en-US" altLang="en-US" sz="1350" dirty="0">
                <a:solidFill>
                  <a:srgbClr val="E6EDF3"/>
                </a:solidFill>
                <a:latin typeface="Consolas" pitchFamily="34" charset="0"/>
                <a:ea typeface="Consolas" pitchFamily="34" charset="-122"/>
                <a:cs typeface="Consolas" pitchFamily="34" charset="-120"/>
              </a:rPr>
              <a:t>Ada atribut '__pin'?  : tidak</a:t>
            </a:r>
            <a:endParaRPr lang="en-US" sz="1350" dirty="0"/>
          </a:p>
          <a:p>
            <a:pPr indent="0" marL="0">
              <a:buNone/>
            </a:pPr>
            <a:r>
              <a:rPr lang="en-US" altLang="en-US" sz="1350" dirty="0">
                <a:solidFill>
                  <a:srgbClr val="E6EDF3"/>
                </a:solidFill>
                <a:latin typeface="Consolas" pitchFamily="34" charset="0"/>
                <a:ea typeface="Consolas" pitchFamily="34" charset="-122"/>
                <a:cs typeface="Consolas" pitchFamily="34" charset="-120"/>
              </a:rPr>
              <a:t>Isi objek sebenarnya  : {'_pemilik': 'Budi', '_Brankas__pin': '246810'}</a:t>
            </a:r>
            <a:endParaRPr lang="en-US" sz="1350" dirty="0"/>
          </a:p>
          <a:p>
            <a:pPr indent="0" marL="0">
              <a:buNone/>
            </a:pPr>
            <a:r>
              <a:rPr lang="en-US" altLang="en-US" sz="1350" dirty="0">
                <a:solidFill>
                  <a:srgbClr val="E6EDF3"/>
                </a:solidFill>
                <a:latin typeface="Consolas" pitchFamily="34" charset="0"/>
                <a:ea typeface="Consolas" pitchFamily="34" charset="-122"/>
                <a:cs typeface="Consolas" pitchFamily="34" charset="-120"/>
              </a:rPr>
              <a:t>brankas._Brankas__pin : 246810</a:t>
            </a:r>
            <a:endParaRPr lang="en-US" sz="1350" dirty="0"/>
          </a:p>
        </p:txBody>
      </p:sp>
      <p:sp>
        <p:nvSpPr>
          <p:cNvPr id="15" name="Shape 12"/>
          <p:cNvSpPr/>
          <p:nvPr/>
        </p:nvSpPr>
        <p:spPr>
          <a:xfrm>
            <a:off x="8018462" y="2602535"/>
            <a:ext cx="3624593" cy="2108200"/>
          </a:xfrm>
          <a:prstGeom prst="roundRect">
            <a:avLst>
              <a:gd name="adj" fmla="val 2258"/>
            </a:avLst>
          </a:prstGeom>
          <a:solidFill>
            <a:srgbClr val="FFF8C5"/>
          </a:solidFill>
          <a:ln w="9525">
            <a:solidFill>
              <a:srgbClr val="D4A72C"/>
            </a:solidFill>
            <a:prstDash val="solid"/>
          </a:ln>
        </p:spPr>
      </p:sp>
      <p:sp>
        <p:nvSpPr>
          <p:cNvPr id="16" name="Shape 13"/>
          <p:cNvSpPr/>
          <p:nvPr/>
        </p:nvSpPr>
        <p:spPr>
          <a:xfrm>
            <a:off x="8292783" y="2831135"/>
            <a:ext cx="420624" cy="420624"/>
          </a:xfrm>
          <a:prstGeom prst="ellipse">
            <a:avLst/>
          </a:prstGeom>
          <a:solidFill>
            <a:srgbClr val="9A6700"/>
          </a:solidFill>
          <a:ln/>
        </p:spPr>
      </p:sp>
      <p:pic>
        <p:nvPicPr>
          <p:cNvPr id="17" name="Image 1" descr="preencoded.png">    </p:cNvPr>
          <p:cNvPicPr>
            <a:picLocks noChangeAspect="1"/>
          </p:cNvPicPr>
          <p:nvPr/>
        </p:nvPicPr>
        <p:blipFill>
          <a:blip r:embed="rId2"/>
          <a:stretch>
            <a:fillRect/>
          </a:stretch>
        </p:blipFill>
        <p:spPr>
          <a:xfrm>
            <a:off x="8385320" y="2923672"/>
            <a:ext cx="235549" cy="235549"/>
          </a:xfrm>
          <a:prstGeom prst="rect">
            <a:avLst/>
          </a:prstGeom>
        </p:spPr>
      </p:pic>
      <p:sp>
        <p:nvSpPr>
          <p:cNvPr id="18" name="Text 14"/>
          <p:cNvSpPr txBox="1"/>
          <p:nvPr/>
        </p:nvSpPr>
        <p:spPr>
          <a:xfrm>
            <a:off x="8841423" y="2858567"/>
            <a:ext cx="2618753" cy="365760"/>
          </a:xfrm>
          <a:prstGeom prst="rect">
            <a:avLst/>
          </a:prstGeom>
          <a:noFill/>
          <a:ln/>
        </p:spPr>
        <p:txBody>
          <a:bodyPr wrap="square" lIns="0" tIns="0" rIns="0" bIns="0" rtlCol="0" anchor="t"/>
          <a:lstStyle/>
          <a:p>
            <a:pPr indent="0" marL="0">
              <a:buNone/>
            </a:pPr>
            <a:r>
              <a:rPr lang="id-ID" altLang="en-US" sz="1500" b="1" dirty="0">
                <a:solidFill>
                  <a:srgbClr val="9A6700"/>
                </a:solidFill>
              </a:rPr>
              <a:t>Khusus Python</a:t>
            </a:r>
            <a:endParaRPr lang="id-ID" sz="1500" dirty="0"/>
          </a:p>
        </p:txBody>
      </p:sp>
      <p:sp>
        <p:nvSpPr>
          <p:cNvPr id="19" name="Text 15"/>
          <p:cNvSpPr txBox="1"/>
          <p:nvPr/>
        </p:nvSpPr>
        <p:spPr>
          <a:xfrm>
            <a:off x="8292783" y="3379775"/>
            <a:ext cx="3075953" cy="1285240"/>
          </a:xfrm>
          <a:prstGeom prst="rect">
            <a:avLst/>
          </a:prstGeom>
          <a:noFill/>
          <a:ln/>
        </p:spPr>
        <p:txBody>
          <a:bodyPr wrap="square" lIns="0" tIns="0" rIns="0" bIns="0" rtlCol="0" anchor="t"/>
          <a:lstStyle/>
          <a:p>
            <a:pPr indent="0" marL="0">
              <a:buNone/>
            </a:pPr>
            <a:r>
              <a:rPr lang="id-ID" altLang="en-US" sz="2000" dirty="0">
                <a:solidFill>
                  <a:srgbClr val="1F2328"/>
                </a:solidFill>
              </a:rPr>
              <a:t>Dua garis bawah di depan nama memicu </a:t>
            </a:r>
            <a:r>
              <a:rPr lang="id-ID" altLang="en-US" sz="2000" i="1" dirty="0">
                <a:solidFill>
                  <a:srgbClr val="1F2328"/>
                </a:solidFill>
              </a:rPr>
              <a:t>name mangling</a:t>
            </a:r>
            <a:r>
              <a:rPr lang="id-ID" altLang="en-US" sz="2000" dirty="0">
                <a:solidFill>
                  <a:srgbClr val="1F2328"/>
                </a:solidFill>
              </a:rPr>
              <a:t>. Java tidak punya padanannya.</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Getter</a:t>
            </a:r>
            <a:r>
              <a:rPr lang="id-ID" altLang="en-US" sz="4200" b="1" dirty="0">
                <a:solidFill>
                  <a:srgbClr val="FFFFFF"/>
                </a:solidFill>
              </a:rPr>
              <a:t>, </a:t>
            </a:r>
            <a:r>
              <a:rPr lang="id-ID" altLang="en-US" sz="4200" b="1" i="1" dirty="0">
                <a:solidFill>
                  <a:srgbClr val="FFFFFF"/>
                </a:solidFill>
              </a:rPr>
              <a:t>Setter</a:t>
            </a:r>
            <a:r>
              <a:rPr lang="id-ID" altLang="en-US" sz="4200" b="1" dirty="0">
                <a:solidFill>
                  <a:srgbClr val="FFFFFF"/>
                </a:solidFill>
              </a:rPr>
              <a:t>, dan Validasi</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Pintu baca, pintu ubah, dan cara menolak data yang tidak masuk akal.</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Getter</a:t>
            </a:r>
            <a:r>
              <a:rPr lang="id-ID" altLang="en-US" sz="3200" b="1" dirty="0">
                <a:solidFill>
                  <a:srgbClr val="0A3069"/>
                </a:solidFill>
              </a:rPr>
              <a:t> dan </a:t>
            </a:r>
            <a:r>
              <a:rPr lang="id-ID" altLang="en-US" sz="3200" b="1" i="1" dirty="0">
                <a:solidFill>
                  <a:srgbClr val="0A3069"/>
                </a:solidFill>
              </a:rPr>
              <a:t>Setter</a:t>
            </a:r>
            <a:r>
              <a:rPr lang="id-ID" altLang="en-US" sz="3200" b="1" dirty="0">
                <a:solidFill>
                  <a:srgbClr val="0A3069"/>
                </a:solidFill>
              </a:rPr>
              <a:t>: Pintu Baca dan Pintu Ubah</a:t>
            </a:r>
            <a:endParaRPr lang="id-ID"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27840"/>
          <a:ext cx="11094415" cy="914400"/>
        </p:xfrm>
        <a:graphic>
          <a:graphicData uri="http://schemas.openxmlformats.org/drawingml/2006/table">
            <a:tbl>
              <a:tblPr/>
              <a:tblGrid>
                <a:gridCol w="2069483"/>
                <a:gridCol w="4604104"/>
                <a:gridCol w="4420828"/>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Kebutuhan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Python (</a:t>
                      </a:r>
                      <a:r>
                        <a:rPr lang="id-ID" altLang="en-US" sz="2200" b="1" i="1" dirty="0">
                          <a:solidFill>
                            <a:srgbClr val="FFFFFF"/>
                          </a:solidFill>
                          <a:latin typeface="Calibri" pitchFamily="34" charset="0"/>
                          <a:ea typeface="Calibri" pitchFamily="34" charset="-122"/>
                          <a:cs typeface="Calibri" pitchFamily="34" charset="-120"/>
                        </a:rPr>
                        <a:t>property</a:t>
                      </a:r>
                      <a:r>
                        <a:rPr lang="id-ID" altLang="en-US" sz="2200" b="1" dirty="0">
                          <a:solidFill>
                            <a:srgbClr val="FFFFFF"/>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Java (</a:t>
                      </a:r>
                      <a:r>
                        <a:rPr lang="id-ID" altLang="en-US" sz="2200" b="1" i="1" dirty="0">
                          <a:solidFill>
                            <a:srgbClr val="FFFFFF"/>
                          </a:solidFill>
                          <a:latin typeface="Calibri" pitchFamily="34" charset="0"/>
                          <a:ea typeface="Calibri" pitchFamily="34" charset="-122"/>
                          <a:cs typeface="Calibri" pitchFamily="34" charset="-120"/>
                        </a:rPr>
                        <a:t>getter</a:t>
                      </a:r>
                      <a:r>
                        <a:rPr lang="id-ID" altLang="en-US" sz="2200" b="1" dirty="0">
                          <a:solidFill>
                            <a:srgbClr val="FFFFFF"/>
                          </a:solidFill>
                          <a:latin typeface="Calibri" pitchFamily="34" charset="0"/>
                          <a:ea typeface="Calibri" pitchFamily="34" charset="-122"/>
                          <a:cs typeface="Calibri" pitchFamily="34" charset="-120"/>
                        </a:rPr>
                        <a:t>/</a:t>
                      </a:r>
                      <a:r>
                        <a:rPr lang="id-ID" altLang="en-US" sz="2200" b="1" i="1" dirty="0">
                          <a:solidFill>
                            <a:srgbClr val="FFFFFF"/>
                          </a:solidFill>
                          <a:latin typeface="Calibri" pitchFamily="34" charset="0"/>
                          <a:ea typeface="Calibri" pitchFamily="34" charset="-122"/>
                          <a:cs typeface="Calibri" pitchFamily="34" charset="-120"/>
                        </a:rPr>
                        <a:t>setter</a:t>
                      </a:r>
                      <a:r>
                        <a:rPr lang="id-ID" altLang="en-US" sz="2200" b="1" dirty="0">
                          <a:solidFill>
                            <a:srgbClr val="FFFFFF"/>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Membaca harga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kopi.harga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kopi.getHarga()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Mengubah harga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kopi.harga = 20000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kopi.setHarga(20000)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Membaca data ya/tidak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parkiran.penuh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parkiran.isPenuh()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Di balik layar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method</a:t>
                      </a:r>
                      <a:r>
                        <a:rPr lang="id-ID" altLang="en-US" sz="2200" dirty="0">
                          <a:solidFill>
                            <a:srgbClr val="1F2328"/>
                          </a:solidFill>
                          <a:latin typeface="Calibri" pitchFamily="34" charset="0"/>
                          <a:ea typeface="Calibri" pitchFamily="34" charset="-122"/>
                          <a:cs typeface="Calibri" pitchFamily="34" charset="-120"/>
                        </a:rPr>
                        <a:t> bertanda </a:t>
                      </a:r>
                      <a:r>
                        <a:rPr lang="id-ID" altLang="en-US" sz="2200" dirty="0">
                          <a:solidFill>
                            <a:srgbClr val="0A3069"/>
                          </a:solidFill>
                          <a:latin typeface="Consolas" pitchFamily="34" charset="0"/>
                          <a:ea typeface="Consolas" pitchFamily="34" charset="-122"/>
                          <a:cs typeface="Consolas" pitchFamily="34" charset="-120"/>
                        </a:rPr>
                        <a:t>@property</a:t>
                      </a:r>
                      <a:r>
                        <a:rPr lang="id-ID" altLang="en-US" sz="2200" dirty="0">
                          <a:solidFill>
                            <a:srgbClr val="1F2328"/>
                          </a:solidFill>
                          <a:latin typeface="Calibri" pitchFamily="34" charset="0"/>
                          <a:ea typeface="Calibri" pitchFamily="34" charset="-122"/>
                          <a:cs typeface="Calibri" pitchFamily="34" charset="-120"/>
                        </a:rPr>
                        <a:t> dan </a:t>
                      </a:r>
                      <a:r>
                        <a:rPr lang="id-ID" altLang="en-US" sz="2200" dirty="0">
                          <a:solidFill>
                            <a:srgbClr val="0A3069"/>
                          </a:solidFill>
                          <a:latin typeface="Consolas" pitchFamily="34" charset="0"/>
                          <a:ea typeface="Consolas" pitchFamily="34" charset="-122"/>
                          <a:cs typeface="Consolas" pitchFamily="34" charset="-120"/>
                        </a:rPr>
                        <a:t>@harga.setter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method</a:t>
                      </a:r>
                      <a:r>
                        <a:rPr lang="id-ID" altLang="en-US" sz="2200" dirty="0">
                          <a:solidFill>
                            <a:srgbClr val="1F2328"/>
                          </a:solidFill>
                          <a:latin typeface="Calibri" pitchFamily="34" charset="0"/>
                          <a:ea typeface="Calibri" pitchFamily="34" charset="-122"/>
                          <a:cs typeface="Calibri" pitchFamily="34" charset="-120"/>
                        </a:rPr>
                        <a:t> biasa bernama </a:t>
                      </a:r>
                      <a:r>
                        <a:rPr lang="id-ID" altLang="en-US" sz="2200" dirty="0">
                          <a:solidFill>
                            <a:srgbClr val="0A3069"/>
                          </a:solidFill>
                          <a:latin typeface="Consolas" pitchFamily="34" charset="0"/>
                          <a:ea typeface="Consolas" pitchFamily="34" charset="-122"/>
                          <a:cs typeface="Consolas" pitchFamily="34" charset="-120"/>
                        </a:rPr>
                        <a:t>getX</a:t>
                      </a:r>
                      <a:r>
                        <a:rPr lang="id-ID" altLang="en-US" sz="2200" dirty="0">
                          <a:solidFill>
                            <a:srgbClr val="1F2328"/>
                          </a:solidFill>
                          <a:latin typeface="Calibri" pitchFamily="34" charset="0"/>
                          <a:ea typeface="Calibri" pitchFamily="34" charset="-122"/>
                          <a:cs typeface="Calibri" pitchFamily="34" charset="-120"/>
                        </a:rPr>
                        <a:t>, </a:t>
                      </a:r>
                      <a:r>
                        <a:rPr lang="id-ID" altLang="en-US" sz="2200" dirty="0">
                          <a:solidFill>
                            <a:srgbClr val="0A3069"/>
                          </a:solidFill>
                          <a:latin typeface="Consolas" pitchFamily="34" charset="0"/>
                          <a:ea typeface="Consolas" pitchFamily="34" charset="-122"/>
                          <a:cs typeface="Consolas" pitchFamily="34" charset="-120"/>
                        </a:rPr>
                        <a:t>setX</a:t>
                      </a:r>
                      <a:r>
                        <a:rPr lang="id-ID" altLang="en-US" sz="2200" dirty="0">
                          <a:solidFill>
                            <a:srgbClr val="1F2328"/>
                          </a:solidFill>
                          <a:latin typeface="Calibri" pitchFamily="34" charset="0"/>
                          <a:ea typeface="Calibri" pitchFamily="34" charset="-122"/>
                          <a:cs typeface="Calibri" pitchFamily="34" charset="-120"/>
                        </a:rPr>
                        <a:t>, atau </a:t>
                      </a:r>
                      <a:r>
                        <a:rPr lang="id-ID" altLang="en-US" sz="2200" dirty="0">
                          <a:solidFill>
                            <a:srgbClr val="0A3069"/>
                          </a:solidFill>
                          <a:latin typeface="Consolas" pitchFamily="34" charset="0"/>
                          <a:ea typeface="Consolas" pitchFamily="34" charset="-122"/>
                          <a:cs typeface="Consolas" pitchFamily="34" charset="-120"/>
                        </a:rPr>
                        <a:t>isX</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416072"/>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488493"/>
            <a:ext cx="184343" cy="184343"/>
          </a:xfrm>
          <a:prstGeom prst="rect">
            <a:avLst/>
          </a:prstGeom>
        </p:spPr>
      </p:pic>
      <p:sp>
        <p:nvSpPr>
          <p:cNvPr id="8" name="Text 3"/>
          <p:cNvSpPr txBox="1"/>
          <p:nvPr/>
        </p:nvSpPr>
        <p:spPr>
          <a:xfrm>
            <a:off x="1005840" y="5397784"/>
            <a:ext cx="10637215" cy="603504"/>
          </a:xfrm>
          <a:prstGeom prst="rect">
            <a:avLst/>
          </a:prstGeom>
          <a:noFill/>
          <a:ln/>
        </p:spPr>
        <p:txBody>
          <a:bodyPr wrap="square" lIns="0" tIns="0" rIns="0" bIns="0" rtlCol="0" anchor="t"/>
          <a:lstStyle/>
          <a:p>
            <a:pPr indent="0" marL="0">
              <a:buNone/>
            </a:pPr>
            <a:r>
              <a:rPr lang="id-ID" altLang="en-US" sz="1800" i="1" dirty="0">
                <a:solidFill>
                  <a:srgbClr val="57606A"/>
                </a:solidFill>
              </a:rPr>
              <a:t>Getter</a:t>
            </a:r>
            <a:r>
              <a:rPr lang="id-ID" altLang="en-US" sz="1800" dirty="0">
                <a:solidFill>
                  <a:srgbClr val="57606A"/>
                </a:solidFill>
              </a:rPr>
              <a:t> tidak harus mengembalikan atribut apa adanya: ia boleh menghitung atau merapikan, misalnya sisa tempat parkir.</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Property</a:t>
            </a:r>
            <a:r>
              <a:rPr lang="id-ID" altLang="en-US" sz="3200" b="1" dirty="0">
                <a:solidFill>
                  <a:srgbClr val="0A3069"/>
                </a:solidFill>
              </a:rPr>
              <a:t> di Python</a:t>
            </a:r>
            <a:endParaRPr lang="id-ID" sz="3200" dirty="0"/>
          </a:p>
        </p:txBody>
      </p:sp>
      <p:sp>
        <p:nvSpPr>
          <p:cNvPr id="5" name="Text 2"/>
          <p:cNvSpPr txBox="1"/>
          <p:nvPr/>
        </p:nvSpPr>
        <p:spPr>
          <a:xfrm>
            <a:off x="548640" y="1459931"/>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@property</a:t>
            </a:r>
            <a:r>
              <a:rPr lang="id-ID" altLang="en-US" sz="1800" dirty="0">
                <a:solidFill>
                  <a:srgbClr val="57606A"/>
                </a:solidFill>
              </a:rPr>
              <a:t> membuat </a:t>
            </a:r>
            <a:r>
              <a:rPr lang="id-ID" altLang="en-US" sz="1800" i="1" dirty="0">
                <a:solidFill>
                  <a:srgbClr val="57606A"/>
                </a:solidFill>
              </a:rPr>
              <a:t>getter</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@volume.setter</a:t>
            </a:r>
            <a:r>
              <a:rPr lang="id-ID" altLang="en-US" sz="1800" dirty="0">
                <a:solidFill>
                  <a:srgbClr val="57606A"/>
                </a:solidFill>
              </a:rPr>
              <a:t> membuat </a:t>
            </a:r>
            <a:r>
              <a:rPr lang="id-ID" altLang="en-US" sz="1800" i="1" dirty="0">
                <a:solidFill>
                  <a:srgbClr val="57606A"/>
                </a:solidFill>
              </a:rPr>
              <a:t>setter</a:t>
            </a:r>
            <a:r>
              <a:rPr lang="id-ID" altLang="en-US" sz="1800" dirty="0">
                <a:solidFill>
                  <a:srgbClr val="57606A"/>
                </a:solidFill>
              </a:rPr>
              <a:t>. Volume di luar 0⁠—⁠100 ditolak dengan </a:t>
            </a:r>
            <a:r>
              <a:rPr lang="id-ID" altLang="en-US" sz="1800" dirty="0">
                <a:solidFill>
                  <a:srgbClr val="0A3069"/>
                </a:solidFill>
                <a:latin typeface="Consolas" pitchFamily="34" charset="0"/>
                <a:ea typeface="Consolas" pitchFamily="34" charset="-122"/>
                <a:cs typeface="Consolas" pitchFamily="34" charset="-120"/>
              </a:rPr>
              <a:t>raise</a:t>
            </a:r>
            <a:r>
              <a:rPr lang="id-ID" altLang="en-US" sz="1800" dirty="0">
                <a:solidFill>
                  <a:srgbClr val="57606A"/>
                </a:solidFill>
              </a:rPr>
              <a:t>.</a:t>
            </a:r>
            <a:endParaRPr lang="id-ID" sz="1800" dirty="0"/>
          </a:p>
        </p:txBody>
      </p:sp>
      <p:sp>
        <p:nvSpPr>
          <p:cNvPr id="6" name="Shape 3"/>
          <p:cNvSpPr/>
          <p:nvPr/>
        </p:nvSpPr>
        <p:spPr>
          <a:xfrm>
            <a:off x="548640" y="1894271"/>
            <a:ext cx="1051560" cy="329184"/>
          </a:xfrm>
          <a:prstGeom prst="roundRect">
            <a:avLst>
              <a:gd name="adj" fmla="val 138889"/>
            </a:avLst>
          </a:prstGeom>
          <a:solidFill>
            <a:srgbClr val="3572A5"/>
          </a:solidFill>
          <a:ln/>
        </p:spPr>
      </p:sp>
      <p:sp>
        <p:nvSpPr>
          <p:cNvPr id="7" name="Text 4"/>
          <p:cNvSpPr txBox="1"/>
          <p:nvPr/>
        </p:nvSpPr>
        <p:spPr>
          <a:xfrm>
            <a:off x="548640" y="189427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1894271"/>
            <a:ext cx="5715000"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python/contoh/contoh03_property.py</a:t>
            </a:r>
            <a:endParaRPr lang="id-ID" sz="1100" dirty="0"/>
          </a:p>
        </p:txBody>
      </p:sp>
      <p:sp>
        <p:nvSpPr>
          <p:cNvPr id="9" name="Shape 6"/>
          <p:cNvSpPr/>
          <p:nvPr/>
        </p:nvSpPr>
        <p:spPr>
          <a:xfrm>
            <a:off x="548640" y="2314895"/>
            <a:ext cx="6903720" cy="3762756"/>
          </a:xfrm>
          <a:prstGeom prst="roundRect">
            <a:avLst>
              <a:gd name="adj" fmla="val 591"/>
            </a:avLst>
          </a:prstGeom>
          <a:solidFill>
            <a:srgbClr val="F6F8FA"/>
          </a:solidFill>
          <a:ln w="9525">
            <a:solidFill>
              <a:srgbClr val="D0D7DE"/>
            </a:solidFill>
            <a:prstDash val="solid"/>
          </a:ln>
        </p:spPr>
      </p:sp>
      <p:sp>
        <p:nvSpPr>
          <p:cNvPr id="10" name="Text 7"/>
          <p:cNvSpPr txBox="1"/>
          <p:nvPr/>
        </p:nvSpPr>
        <p:spPr>
          <a:xfrm>
            <a:off x="658368" y="2406335"/>
            <a:ext cx="6684264" cy="3579876"/>
          </a:xfrm>
          <a:prstGeom prst="rect">
            <a:avLst/>
          </a:prstGeom>
          <a:noFill/>
          <a:ln/>
        </p:spPr>
        <p:txBody>
          <a:bodyPr wrap="square" lIns="0" tIns="0" rIns="0" bIns="0" rtlCol="0" anchor="t"/>
          <a:lstStyle/>
          <a:p>
            <a:pPr indent="0" marL="0">
              <a:buNone/>
            </a:pPr>
            <a:r>
              <a:rPr lang="en-US" altLang="en-US" sz="1300" dirty="0">
                <a:solidFill>
                  <a:srgbClr val="CF222E"/>
                </a:solidFill>
                <a:latin typeface="Consolas" pitchFamily="34" charset="0"/>
                <a:ea typeface="Consolas" pitchFamily="34" charset="-122"/>
                <a:cs typeface="Consolas" pitchFamily="34" charset="-120"/>
              </a:rPr>
              <a:t>class</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953800"/>
                </a:solidFill>
                <a:latin typeface="Consolas" pitchFamily="34" charset="0"/>
                <a:ea typeface="Consolas" pitchFamily="34" charset="-122"/>
                <a:cs typeface="Consolas" pitchFamily="34" charset="-120"/>
              </a:rPr>
              <a:t>Televisi</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def</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__init__</a:t>
            </a:r>
            <a:r>
              <a:rPr lang="en-US" altLang="en-US" sz="1300" dirty="0">
                <a:solidFill>
                  <a:srgbClr val="1F2328"/>
                </a:solidFill>
                <a:latin typeface="Consolas" pitchFamily="34" charset="0"/>
                <a:ea typeface="Consolas" pitchFamily="34" charset="-122"/>
                <a:cs typeface="Consolas" pitchFamily="34" charset="-120"/>
              </a:rPr>
              <a:t>(</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 merek):</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._merek = merek</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._volume = </a:t>
            </a:r>
            <a:r>
              <a:rPr lang="en-US" altLang="en-US" sz="1300" dirty="0">
                <a:solidFill>
                  <a:srgbClr val="0550AE"/>
                </a:solidFill>
                <a:latin typeface="Consolas" pitchFamily="34" charset="0"/>
                <a:ea typeface="Consolas" pitchFamily="34" charset="-122"/>
                <a:cs typeface="Consolas" pitchFamily="34" charset="-120"/>
              </a:rPr>
              <a:t>10</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@property</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def</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volume</a:t>
            </a:r>
            <a:r>
              <a:rPr lang="en-US" altLang="en-US" sz="1300" dirty="0">
                <a:solidFill>
                  <a:srgbClr val="1F2328"/>
                </a:solidFill>
                <a:latin typeface="Consolas" pitchFamily="34" charset="0"/>
                <a:ea typeface="Consolas" pitchFamily="34" charset="-122"/>
                <a:cs typeface="Consolas" pitchFamily="34" charset="-120"/>
              </a:rPr>
              <a:t>(</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return</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._volume</a:t>
            </a:r>
            <a:endParaRPr lang="en-US" sz="1300" dirty="0"/>
          </a:p>
          <a:p>
            <a:pPr indent="0" marL="0">
              <a:buNone/>
            </a:pPr>
            <a:r>
              <a:rPr lang="en-US" altLang="en-US" sz="1300" dirty="0">
                <a:solidFill>
                  <a:srgbClr val="000000"/>
                </a:solidFill>
                <a:latin typeface="Consolas" pitchFamily="34" charset="0"/>
                <a:ea typeface="Consolas" pitchFamily="34" charset="-122"/>
                <a:cs typeface="Consolas" pitchFamily="34" charset="-120"/>
              </a:rPr>
              <a:t> </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@volume</a:t>
            </a:r>
            <a:r>
              <a:rPr lang="en-US" altLang="en-US" sz="1300" dirty="0">
                <a:solidFill>
                  <a:srgbClr val="1F2328"/>
                </a:solidFill>
                <a:latin typeface="Consolas" pitchFamily="34" charset="0"/>
                <a:ea typeface="Consolas" pitchFamily="34" charset="-122"/>
                <a:cs typeface="Consolas" pitchFamily="34" charset="-120"/>
              </a:rPr>
              <a:t>.setter</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def</a:t>
            </a: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8250DF"/>
                </a:solidFill>
                <a:latin typeface="Consolas" pitchFamily="34" charset="0"/>
                <a:ea typeface="Consolas" pitchFamily="34" charset="-122"/>
                <a:cs typeface="Consolas" pitchFamily="34" charset="-120"/>
              </a:rPr>
              <a:t>volume</a:t>
            </a:r>
            <a:r>
              <a:rPr lang="en-US" altLang="en-US" sz="1300" dirty="0">
                <a:solidFill>
                  <a:srgbClr val="1F2328"/>
                </a:solidFill>
                <a:latin typeface="Consolas" pitchFamily="34" charset="0"/>
                <a:ea typeface="Consolas" pitchFamily="34" charset="-122"/>
                <a:cs typeface="Consolas" pitchFamily="34" charset="-120"/>
              </a:rPr>
              <a:t>(</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 nilai):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if</a:t>
            </a:r>
            <a:r>
              <a:rPr lang="en-US" altLang="en-US" sz="1300" dirty="0">
                <a:solidFill>
                  <a:srgbClr val="1F2328"/>
                </a:solidFill>
                <a:latin typeface="Consolas" pitchFamily="34" charset="0"/>
                <a:ea typeface="Consolas" pitchFamily="34" charset="-122"/>
                <a:cs typeface="Consolas" pitchFamily="34" charset="-120"/>
              </a:rPr>
              <a:t> nilai &lt; </a:t>
            </a:r>
            <a:r>
              <a:rPr lang="en-US" altLang="en-US" sz="1300" dirty="0">
                <a:solidFill>
                  <a:srgbClr val="0550AE"/>
                </a:solidFill>
                <a:latin typeface="Consolas" pitchFamily="34" charset="0"/>
                <a:ea typeface="Consolas" pitchFamily="34" charset="-122"/>
                <a:cs typeface="Consolas" pitchFamily="34" charset="-120"/>
              </a:rPr>
              <a:t>0</a:t>
            </a:r>
            <a:r>
              <a:rPr lang="en-US" altLang="en-US" sz="1300" dirty="0">
                <a:solidFill>
                  <a:srgbClr val="1F2328"/>
                </a:solidFill>
                <a:latin typeface="Consolas" pitchFamily="34" charset="0"/>
                <a:ea typeface="Consolas" pitchFamily="34" charset="-122"/>
                <a:cs typeface="Consolas" pitchFamily="34" charset="-120"/>
              </a:rPr>
              <a:t> or nilai &gt; </a:t>
            </a:r>
            <a:r>
              <a:rPr lang="en-US" altLang="en-US" sz="1300" dirty="0">
                <a:solidFill>
                  <a:srgbClr val="0550AE"/>
                </a:solidFill>
                <a:latin typeface="Consolas" pitchFamily="34" charset="0"/>
                <a:ea typeface="Consolas" pitchFamily="34" charset="-122"/>
                <a:cs typeface="Consolas" pitchFamily="34" charset="-120"/>
              </a:rPr>
              <a:t>100</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CF222E"/>
                </a:solidFill>
                <a:latin typeface="Consolas" pitchFamily="34" charset="0"/>
                <a:ea typeface="Consolas" pitchFamily="34" charset="-122"/>
                <a:cs typeface="Consolas" pitchFamily="34" charset="-120"/>
              </a:rPr>
              <a:t>raise</a:t>
            </a:r>
            <a:r>
              <a:rPr lang="en-US" altLang="en-US" sz="1300" dirty="0">
                <a:solidFill>
                  <a:srgbClr val="1F2328"/>
                </a:solidFill>
                <a:latin typeface="Consolas" pitchFamily="34" charset="0"/>
                <a:ea typeface="Consolas" pitchFamily="34" charset="-122"/>
                <a:cs typeface="Consolas" pitchFamily="34" charset="-120"/>
              </a:rPr>
              <a:t> ValueError(</a:t>
            </a:r>
            <a:r>
              <a:rPr lang="en-US" altLang="en-US" sz="1300" dirty="0">
                <a:solidFill>
                  <a:srgbClr val="0A3069"/>
                </a:solidFill>
                <a:latin typeface="Consolas" pitchFamily="34" charset="0"/>
                <a:ea typeface="Consolas" pitchFamily="34" charset="-122"/>
                <a:cs typeface="Consolas" pitchFamily="34" charset="-120"/>
              </a:rPr>
              <a:t>f"Volume harus 0-100, bukan {</a:t>
            </a:r>
            <a:r>
              <a:rPr lang="en-US" altLang="en-US" sz="1300" dirty="0">
                <a:solidFill>
                  <a:srgbClr val="1F2328"/>
                </a:solidFill>
                <a:latin typeface="Consolas" pitchFamily="34" charset="0"/>
                <a:ea typeface="Consolas" pitchFamily="34" charset="-122"/>
                <a:cs typeface="Consolas" pitchFamily="34" charset="-120"/>
              </a:rPr>
              <a:t>nilai</a:t>
            </a:r>
            <a:r>
              <a:rPr lang="en-US" altLang="en-US" sz="1300" dirty="0">
                <a:solidFill>
                  <a:srgbClr val="0A3069"/>
                </a:solidFill>
                <a:latin typeface="Consolas" pitchFamily="34" charset="0"/>
                <a:ea typeface="Consolas" pitchFamily="34" charset="-122"/>
                <a:cs typeface="Consolas" pitchFamily="34" charset="-120"/>
              </a:rPr>
              <a:t>}"</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        </a:t>
            </a:r>
            <a:r>
              <a:rPr lang="en-US" altLang="en-US" sz="1300" dirty="0">
                <a:solidFill>
                  <a:srgbClr val="0550AE"/>
                </a:solidFill>
                <a:latin typeface="Consolas" pitchFamily="34" charset="0"/>
                <a:ea typeface="Consolas" pitchFamily="34" charset="-122"/>
                <a:cs typeface="Consolas" pitchFamily="34" charset="-120"/>
              </a:rPr>
              <a:t>self</a:t>
            </a:r>
            <a:r>
              <a:rPr lang="en-US" altLang="en-US" sz="1300" dirty="0">
                <a:solidFill>
                  <a:srgbClr val="1F2328"/>
                </a:solidFill>
                <a:latin typeface="Consolas" pitchFamily="34" charset="0"/>
                <a:ea typeface="Consolas" pitchFamily="34" charset="-122"/>
                <a:cs typeface="Consolas" pitchFamily="34" charset="-120"/>
              </a:rPr>
              <a:t>._volume = nilai</a:t>
            </a:r>
            <a:endParaRPr lang="en-US" sz="1300" dirty="0"/>
          </a:p>
          <a:p>
            <a:pPr indent="0" marL="0">
              <a:buNone/>
            </a:pPr>
            <a:r>
              <a:rPr lang="en-US" altLang="en-US" sz="1300" dirty="0">
                <a:solidFill>
                  <a:srgbClr val="000000"/>
                </a:solidFill>
                <a:latin typeface="Consolas" pitchFamily="34" charset="0"/>
                <a:ea typeface="Consolas" pitchFamily="34" charset="-122"/>
                <a:cs typeface="Consolas" pitchFamily="34" charset="-120"/>
              </a:rPr>
              <a:t> </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di dalam main()</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tv = Televisi(</a:t>
            </a:r>
            <a:r>
              <a:rPr lang="en-US" altLang="en-US" sz="1300" dirty="0">
                <a:solidFill>
                  <a:srgbClr val="0A3069"/>
                </a:solidFill>
                <a:latin typeface="Consolas" pitchFamily="34" charset="0"/>
                <a:ea typeface="Consolas" pitchFamily="34" charset="-122"/>
                <a:cs typeface="Consolas" pitchFamily="34" charset="-120"/>
              </a:rPr>
              <a:t>"Polytron"</a:t>
            </a:r>
            <a:r>
              <a:rPr lang="en-US" altLang="en-US" sz="1300" dirty="0">
                <a:solidFill>
                  <a:srgbClr val="1F2328"/>
                </a:solidFill>
                <a:latin typeface="Consolas" pitchFamily="34" charset="0"/>
                <a:ea typeface="Consolas" pitchFamily="34" charset="-122"/>
                <a:cs typeface="Consolas" pitchFamily="34" charset="-120"/>
              </a:rPr>
              <a:t>)</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tv.volume = </a:t>
            </a:r>
            <a:r>
              <a:rPr lang="en-US" altLang="en-US" sz="1300" dirty="0">
                <a:solidFill>
                  <a:srgbClr val="0550AE"/>
                </a:solidFill>
                <a:latin typeface="Consolas" pitchFamily="34" charset="0"/>
                <a:ea typeface="Consolas" pitchFamily="34" charset="-122"/>
                <a:cs typeface="Consolas" pitchFamily="34" charset="-120"/>
              </a:rPr>
              <a:t>25</a:t>
            </a:r>
            <a:endParaRPr lang="en-US" sz="1300" dirty="0"/>
          </a:p>
        </p:txBody>
      </p:sp>
      <p:sp>
        <p:nvSpPr>
          <p:cNvPr id="11" name="Shape 8"/>
          <p:cNvSpPr/>
          <p:nvPr/>
        </p:nvSpPr>
        <p:spPr>
          <a:xfrm>
            <a:off x="7772400" y="2314895"/>
            <a:ext cx="3870655" cy="1798320"/>
          </a:xfrm>
          <a:prstGeom prst="roundRect">
            <a:avLst>
              <a:gd name="adj" fmla="val 3103"/>
            </a:avLst>
          </a:prstGeom>
          <a:solidFill>
            <a:srgbClr val="FFF8C5"/>
          </a:solidFill>
          <a:ln w="9525">
            <a:solidFill>
              <a:srgbClr val="D4A72C"/>
            </a:solidFill>
            <a:prstDash val="solid"/>
          </a:ln>
        </p:spPr>
      </p:sp>
      <p:sp>
        <p:nvSpPr>
          <p:cNvPr id="12" name="Shape 9"/>
          <p:cNvSpPr/>
          <p:nvPr/>
        </p:nvSpPr>
        <p:spPr>
          <a:xfrm>
            <a:off x="8046720" y="2543495"/>
            <a:ext cx="420624" cy="420624"/>
          </a:xfrm>
          <a:prstGeom prst="ellipse">
            <a:avLst/>
          </a:prstGeom>
          <a:solidFill>
            <a:srgbClr val="9A6700"/>
          </a:solidFill>
          <a:ln/>
        </p:spPr>
      </p:sp>
      <p:pic>
        <p:nvPicPr>
          <p:cNvPr id="13" name="Image 1" descr="preencoded.png">    </p:cNvPr>
          <p:cNvPicPr>
            <a:picLocks noChangeAspect="1"/>
          </p:cNvPicPr>
          <p:nvPr/>
        </p:nvPicPr>
        <p:blipFill>
          <a:blip r:embed="rId2"/>
          <a:stretch>
            <a:fillRect/>
          </a:stretch>
        </p:blipFill>
        <p:spPr>
          <a:xfrm>
            <a:off x="8139257" y="2636032"/>
            <a:ext cx="235549" cy="235549"/>
          </a:xfrm>
          <a:prstGeom prst="rect">
            <a:avLst/>
          </a:prstGeom>
        </p:spPr>
      </p:pic>
      <p:sp>
        <p:nvSpPr>
          <p:cNvPr id="14" name="Text 10"/>
          <p:cNvSpPr txBox="1"/>
          <p:nvPr/>
        </p:nvSpPr>
        <p:spPr>
          <a:xfrm>
            <a:off x="8595360" y="2570927"/>
            <a:ext cx="2864815" cy="365760"/>
          </a:xfrm>
          <a:prstGeom prst="rect">
            <a:avLst/>
          </a:prstGeom>
          <a:noFill/>
          <a:ln/>
        </p:spPr>
        <p:txBody>
          <a:bodyPr wrap="square" lIns="0" tIns="0" rIns="0" bIns="0" rtlCol="0" anchor="t"/>
          <a:lstStyle/>
          <a:p>
            <a:pPr indent="0" marL="0">
              <a:buNone/>
            </a:pPr>
            <a:r>
              <a:rPr lang="id-ID" altLang="en-US" sz="1500" b="1" dirty="0">
                <a:solidFill>
                  <a:srgbClr val="9A6700"/>
                </a:solidFill>
              </a:rPr>
              <a:t>Khusus Python</a:t>
            </a:r>
            <a:endParaRPr lang="id-ID" sz="1500" dirty="0"/>
          </a:p>
        </p:txBody>
      </p:sp>
      <p:sp>
        <p:nvSpPr>
          <p:cNvPr id="15" name="Text 11"/>
          <p:cNvSpPr txBox="1"/>
          <p:nvPr/>
        </p:nvSpPr>
        <p:spPr>
          <a:xfrm>
            <a:off x="8046720" y="3092135"/>
            <a:ext cx="3322015" cy="975360"/>
          </a:xfrm>
          <a:prstGeom prst="rect">
            <a:avLst/>
          </a:prstGeom>
          <a:noFill/>
          <a:ln/>
        </p:spPr>
        <p:txBody>
          <a:bodyPr wrap="square" lIns="0" tIns="0" rIns="0" bIns="0" rtlCol="0" anchor="t"/>
          <a:lstStyle/>
          <a:p>
            <a:pPr indent="0" marL="0">
              <a:buNone/>
            </a:pPr>
            <a:r>
              <a:rPr lang="id-ID" altLang="en-US" sz="2000" i="1" dirty="0">
                <a:solidFill>
                  <a:srgbClr val="1F2328"/>
                </a:solidFill>
              </a:rPr>
              <a:t>Property</a:t>
            </a:r>
            <a:r>
              <a:rPr lang="id-ID" altLang="en-US" sz="2000" dirty="0">
                <a:solidFill>
                  <a:srgbClr val="1F2328"/>
                </a:solidFill>
              </a:rPr>
              <a:t> dipakai seperti atribut biasa. </a:t>
            </a:r>
            <a:r>
              <a:rPr lang="id-ID" altLang="en-US" sz="2000" dirty="0">
                <a:solidFill>
                  <a:srgbClr val="0A3069"/>
                </a:solidFill>
                <a:latin typeface="Consolas" pitchFamily="34" charset="0"/>
                <a:ea typeface="Consolas" pitchFamily="34" charset="-122"/>
                <a:cs typeface="Consolas" pitchFamily="34" charset="-120"/>
              </a:rPr>
              <a:t>tv.volume = 25</a:t>
            </a:r>
            <a:r>
              <a:rPr lang="id-ID" altLang="en-US" sz="2000" dirty="0">
                <a:solidFill>
                  <a:srgbClr val="1F2328"/>
                </a:solidFill>
              </a:rPr>
              <a:t> diam-⁠diam memanggil </a:t>
            </a:r>
            <a:r>
              <a:rPr lang="id-ID" altLang="en-US" sz="2000" i="1" dirty="0">
                <a:solidFill>
                  <a:srgbClr val="1F2328"/>
                </a:solidFill>
              </a:rPr>
              <a:t>setter</a:t>
            </a:r>
            <a:r>
              <a:rPr lang="id-ID" altLang="en-US" sz="2000" dirty="0">
                <a:solidFill>
                  <a:srgbClr val="1F2328"/>
                </a:solidFill>
              </a:rPr>
              <a:t>.</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Getter</a:t>
            </a:r>
            <a:r>
              <a:rPr lang="id-ID" altLang="en-US" sz="3200" b="1" dirty="0">
                <a:solidFill>
                  <a:srgbClr val="0A3069"/>
                </a:solidFill>
              </a:rPr>
              <a:t> dan </a:t>
            </a:r>
            <a:r>
              <a:rPr lang="id-ID" altLang="en-US" sz="3200" b="1" i="1" dirty="0">
                <a:solidFill>
                  <a:srgbClr val="0A3069"/>
                </a:solidFill>
              </a:rPr>
              <a:t>Setter</a:t>
            </a:r>
            <a:r>
              <a:rPr lang="id-ID" altLang="en-US" sz="3200" b="1" dirty="0">
                <a:solidFill>
                  <a:srgbClr val="0A3069"/>
                </a:solidFill>
              </a:rPr>
              <a:t> di Java</a:t>
            </a:r>
            <a:endParaRPr lang="id-ID" sz="3200" dirty="0"/>
          </a:p>
        </p:txBody>
      </p:sp>
      <p:sp>
        <p:nvSpPr>
          <p:cNvPr id="5" name="Text 2"/>
          <p:cNvSpPr txBox="1"/>
          <p:nvPr/>
        </p:nvSpPr>
        <p:spPr>
          <a:xfrm>
            <a:off x="548640" y="1516578"/>
            <a:ext cx="11094415" cy="324612"/>
          </a:xfrm>
          <a:prstGeom prst="rect">
            <a:avLst/>
          </a:prstGeom>
          <a:noFill/>
          <a:ln/>
        </p:spPr>
        <p:txBody>
          <a:bodyPr wrap="square" lIns="0" tIns="0" rIns="0" bIns="0" rtlCol="0" anchor="t"/>
          <a:lstStyle/>
          <a:p>
            <a:pPr indent="0" marL="0">
              <a:buNone/>
            </a:pPr>
            <a:r>
              <a:rPr lang="id-ID" altLang="en-US" sz="1800" i="1" dirty="0">
                <a:solidFill>
                  <a:srgbClr val="57606A"/>
                </a:solidFill>
              </a:rPr>
              <a:t>Field</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private</a:t>
            </a:r>
            <a:r>
              <a:rPr lang="id-ID" altLang="en-US" sz="1800" dirty="0">
                <a:solidFill>
                  <a:srgbClr val="57606A"/>
                </a:solidFill>
              </a:rPr>
              <a:t>, lalu </a:t>
            </a:r>
            <a:r>
              <a:rPr lang="id-ID" altLang="en-US" sz="1800" i="1" dirty="0">
                <a:solidFill>
                  <a:srgbClr val="57606A"/>
                </a:solidFill>
              </a:rPr>
              <a:t>method</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public</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getVolume()</a:t>
            </a:r>
            <a:r>
              <a:rPr lang="id-ID" altLang="en-US" sz="1800" dirty="0">
                <a:solidFill>
                  <a:srgbClr val="57606A"/>
                </a:solidFill>
              </a:rPr>
              <a:t> dan </a:t>
            </a:r>
            <a:r>
              <a:rPr lang="id-ID" altLang="en-US" sz="1800" dirty="0">
                <a:solidFill>
                  <a:srgbClr val="0A3069"/>
                </a:solidFill>
                <a:latin typeface="Consolas" pitchFamily="34" charset="0"/>
                <a:ea typeface="Consolas" pitchFamily="34" charset="-122"/>
                <a:cs typeface="Consolas" pitchFamily="34" charset="-120"/>
              </a:rPr>
              <a:t>setVolume()</a:t>
            </a:r>
            <a:r>
              <a:rPr lang="id-ID" altLang="en-US" sz="1800" dirty="0">
                <a:solidFill>
                  <a:srgbClr val="57606A"/>
                </a:solidFill>
              </a:rPr>
              <a:t>. Nilai tidak valid ditolak dengan </a:t>
            </a:r>
            <a:r>
              <a:rPr lang="id-ID" altLang="en-US" sz="1800" dirty="0">
                <a:solidFill>
                  <a:srgbClr val="0A3069"/>
                </a:solidFill>
                <a:latin typeface="Consolas" pitchFamily="34" charset="0"/>
                <a:ea typeface="Consolas" pitchFamily="34" charset="-122"/>
                <a:cs typeface="Consolas" pitchFamily="34" charset="-120"/>
              </a:rPr>
              <a:t>throw</a:t>
            </a:r>
            <a:r>
              <a:rPr lang="id-ID" altLang="en-US" sz="1800" dirty="0">
                <a:solidFill>
                  <a:srgbClr val="57606A"/>
                </a:solidFill>
              </a:rPr>
              <a:t>.</a:t>
            </a:r>
            <a:endParaRPr lang="id-ID" sz="1800" dirty="0"/>
          </a:p>
        </p:txBody>
      </p:sp>
      <p:sp>
        <p:nvSpPr>
          <p:cNvPr id="6" name="Shape 3"/>
          <p:cNvSpPr/>
          <p:nvPr/>
        </p:nvSpPr>
        <p:spPr>
          <a:xfrm>
            <a:off x="548640" y="1950918"/>
            <a:ext cx="1051560" cy="329184"/>
          </a:xfrm>
          <a:prstGeom prst="roundRect">
            <a:avLst>
              <a:gd name="adj" fmla="val 138889"/>
            </a:avLst>
          </a:prstGeom>
          <a:solidFill>
            <a:srgbClr val="B07219"/>
          </a:solidFill>
          <a:ln/>
        </p:spPr>
      </p:sp>
      <p:sp>
        <p:nvSpPr>
          <p:cNvPr id="7" name="Text 4"/>
          <p:cNvSpPr txBox="1"/>
          <p:nvPr/>
        </p:nvSpPr>
        <p:spPr>
          <a:xfrm>
            <a:off x="548640" y="195091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8" name="Text 5"/>
          <p:cNvSpPr txBox="1"/>
          <p:nvPr/>
        </p:nvSpPr>
        <p:spPr>
          <a:xfrm>
            <a:off x="1737360" y="1950918"/>
            <a:ext cx="6057900"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java/contoh/Contoh03GetterSetter.java</a:t>
            </a:r>
            <a:endParaRPr lang="id-ID" sz="1100" dirty="0"/>
          </a:p>
        </p:txBody>
      </p:sp>
      <p:sp>
        <p:nvSpPr>
          <p:cNvPr id="9" name="Shape 6"/>
          <p:cNvSpPr/>
          <p:nvPr/>
        </p:nvSpPr>
        <p:spPr>
          <a:xfrm>
            <a:off x="548640" y="2371542"/>
            <a:ext cx="7246620" cy="3627882"/>
          </a:xfrm>
          <a:prstGeom prst="roundRect">
            <a:avLst>
              <a:gd name="adj" fmla="val 635"/>
            </a:avLst>
          </a:prstGeom>
          <a:solidFill>
            <a:srgbClr val="F6F8FA"/>
          </a:solidFill>
          <a:ln w="9525">
            <a:solidFill>
              <a:srgbClr val="D0D7DE"/>
            </a:solidFill>
            <a:prstDash val="solid"/>
          </a:ln>
        </p:spPr>
      </p:sp>
      <p:sp>
        <p:nvSpPr>
          <p:cNvPr id="10" name="Text 7"/>
          <p:cNvSpPr txBox="1"/>
          <p:nvPr/>
        </p:nvSpPr>
        <p:spPr>
          <a:xfrm>
            <a:off x="658368" y="2462982"/>
            <a:ext cx="7027164" cy="34450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Televisi</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private</a:t>
            </a:r>
            <a:r>
              <a:rPr lang="en-US" altLang="en-US" sz="1250" dirty="0">
                <a:solidFill>
                  <a:srgbClr val="1F2328"/>
                </a:solidFill>
                <a:latin typeface="Consolas" pitchFamily="34" charset="0"/>
                <a:ea typeface="Consolas" pitchFamily="34" charset="-122"/>
                <a:cs typeface="Consolas" pitchFamily="34" charset="-120"/>
              </a:rPr>
              <a:t> String merek;</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private</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volume;</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 (dilewati)</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getVolume</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volume;</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000000"/>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void</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setVolume</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volume)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if</a:t>
            </a:r>
            <a:r>
              <a:rPr lang="en-US" altLang="en-US" sz="1250" dirty="0">
                <a:solidFill>
                  <a:srgbClr val="1F2328"/>
                </a:solidFill>
                <a:latin typeface="Consolas" pitchFamily="34" charset="0"/>
                <a:ea typeface="Consolas" pitchFamily="34" charset="-122"/>
                <a:cs typeface="Consolas" pitchFamily="34" charset="-120"/>
              </a:rPr>
              <a:t> (volume &lt; </a:t>
            </a:r>
            <a:r>
              <a:rPr lang="en-US" altLang="en-US" sz="1250" dirty="0">
                <a:solidFill>
                  <a:srgbClr val="0550AE"/>
                </a:solidFill>
                <a:latin typeface="Consolas" pitchFamily="34" charset="0"/>
                <a:ea typeface="Consolas" pitchFamily="34" charset="-122"/>
                <a:cs typeface="Consolas" pitchFamily="34" charset="-120"/>
              </a:rPr>
              <a:t>0</a:t>
            </a:r>
            <a:r>
              <a:rPr lang="en-US" altLang="en-US" sz="1250" dirty="0">
                <a:solidFill>
                  <a:srgbClr val="1F2328"/>
                </a:solidFill>
                <a:latin typeface="Consolas" pitchFamily="34" charset="0"/>
                <a:ea typeface="Consolas" pitchFamily="34" charset="-122"/>
                <a:cs typeface="Consolas" pitchFamily="34" charset="-120"/>
              </a:rPr>
              <a:t> || volume &gt; </a:t>
            </a:r>
            <a:r>
              <a:rPr lang="en-US" altLang="en-US" sz="1250" dirty="0">
                <a:solidFill>
                  <a:srgbClr val="0550AE"/>
                </a:solidFill>
                <a:latin typeface="Consolas" pitchFamily="34" charset="0"/>
                <a:ea typeface="Consolas" pitchFamily="34" charset="-122"/>
                <a:cs typeface="Consolas" pitchFamily="34" charset="-120"/>
              </a:rPr>
              <a:t>100</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throw</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IllegalArgumentException(</a:t>
            </a:r>
            <a:r>
              <a:rPr lang="en-US" altLang="en-US" sz="1250" dirty="0">
                <a:solidFill>
                  <a:srgbClr val="0A3069"/>
                </a:solidFill>
                <a:latin typeface="Consolas" pitchFamily="34" charset="0"/>
                <a:ea typeface="Consolas" pitchFamily="34" charset="-122"/>
                <a:cs typeface="Consolas" pitchFamily="34" charset="-120"/>
              </a:rPr>
              <a:t>"Volume harus 0-100..."</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this</a:t>
            </a:r>
            <a:r>
              <a:rPr lang="en-US" altLang="en-US" sz="1250" dirty="0">
                <a:solidFill>
                  <a:srgbClr val="1F2328"/>
                </a:solidFill>
                <a:latin typeface="Consolas" pitchFamily="34" charset="0"/>
                <a:ea typeface="Consolas" pitchFamily="34" charset="-122"/>
                <a:cs typeface="Consolas" pitchFamily="34" charset="-120"/>
              </a:rPr>
              <a:t>.volume = volume;</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 dalam main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Televisi tv =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Televisi(</a:t>
            </a:r>
            <a:r>
              <a:rPr lang="en-US" altLang="en-US" sz="1250" dirty="0">
                <a:solidFill>
                  <a:srgbClr val="0A3069"/>
                </a:solidFill>
                <a:latin typeface="Consolas" pitchFamily="34" charset="0"/>
                <a:ea typeface="Consolas" pitchFamily="34" charset="-122"/>
                <a:cs typeface="Consolas" pitchFamily="34" charset="-120"/>
              </a:rPr>
              <a:t>"Polytron"</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tv.setVolume(</a:t>
            </a:r>
            <a:r>
              <a:rPr lang="en-US" altLang="en-US" sz="1250" dirty="0">
                <a:solidFill>
                  <a:srgbClr val="0550AE"/>
                </a:solidFill>
                <a:latin typeface="Consolas" pitchFamily="34" charset="0"/>
                <a:ea typeface="Consolas" pitchFamily="34" charset="-122"/>
                <a:cs typeface="Consolas" pitchFamily="34" charset="-120"/>
              </a:rPr>
              <a:t>25</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11" name="Shape 8"/>
          <p:cNvSpPr/>
          <p:nvPr/>
        </p:nvSpPr>
        <p:spPr>
          <a:xfrm>
            <a:off x="8115300" y="2371542"/>
            <a:ext cx="3527755" cy="2418080"/>
          </a:xfrm>
          <a:prstGeom prst="roundRect">
            <a:avLst>
              <a:gd name="adj" fmla="val 1716"/>
            </a:avLst>
          </a:prstGeom>
          <a:solidFill>
            <a:srgbClr val="FFF8C5"/>
          </a:solidFill>
          <a:ln w="9525">
            <a:solidFill>
              <a:srgbClr val="D4A72C"/>
            </a:solidFill>
            <a:prstDash val="solid"/>
          </a:ln>
        </p:spPr>
      </p:sp>
      <p:sp>
        <p:nvSpPr>
          <p:cNvPr id="12" name="Shape 9"/>
          <p:cNvSpPr/>
          <p:nvPr/>
        </p:nvSpPr>
        <p:spPr>
          <a:xfrm>
            <a:off x="8389620" y="2600142"/>
            <a:ext cx="420624" cy="420624"/>
          </a:xfrm>
          <a:prstGeom prst="ellipse">
            <a:avLst/>
          </a:prstGeom>
          <a:solidFill>
            <a:srgbClr val="9A6700"/>
          </a:solidFill>
          <a:ln/>
        </p:spPr>
      </p:sp>
      <p:pic>
        <p:nvPicPr>
          <p:cNvPr id="13" name="Image 1" descr="preencoded.png">    </p:cNvPr>
          <p:cNvPicPr>
            <a:picLocks noChangeAspect="1"/>
          </p:cNvPicPr>
          <p:nvPr/>
        </p:nvPicPr>
        <p:blipFill>
          <a:blip r:embed="rId2"/>
          <a:stretch>
            <a:fillRect/>
          </a:stretch>
        </p:blipFill>
        <p:spPr>
          <a:xfrm>
            <a:off x="8482157" y="2692679"/>
            <a:ext cx="235549" cy="235549"/>
          </a:xfrm>
          <a:prstGeom prst="rect">
            <a:avLst/>
          </a:prstGeom>
        </p:spPr>
      </p:pic>
      <p:sp>
        <p:nvSpPr>
          <p:cNvPr id="14" name="Text 10"/>
          <p:cNvSpPr txBox="1"/>
          <p:nvPr/>
        </p:nvSpPr>
        <p:spPr>
          <a:xfrm>
            <a:off x="8938260" y="2627574"/>
            <a:ext cx="2521915" cy="365760"/>
          </a:xfrm>
          <a:prstGeom prst="rect">
            <a:avLst/>
          </a:prstGeom>
          <a:noFill/>
          <a:ln/>
        </p:spPr>
        <p:txBody>
          <a:bodyPr wrap="square" lIns="0" tIns="0" rIns="0" bIns="0" rtlCol="0" anchor="t"/>
          <a:lstStyle/>
          <a:p>
            <a:pPr indent="0" marL="0">
              <a:buNone/>
            </a:pPr>
            <a:r>
              <a:rPr lang="id-ID" altLang="en-US" sz="1500" b="1" dirty="0">
                <a:solidFill>
                  <a:srgbClr val="9A6700"/>
                </a:solidFill>
              </a:rPr>
              <a:t>Khusus Java</a:t>
            </a:r>
            <a:endParaRPr lang="id-ID" sz="1500" dirty="0"/>
          </a:p>
        </p:txBody>
      </p:sp>
      <p:sp>
        <p:nvSpPr>
          <p:cNvPr id="15" name="Text 11"/>
          <p:cNvSpPr txBox="1"/>
          <p:nvPr/>
        </p:nvSpPr>
        <p:spPr>
          <a:xfrm>
            <a:off x="8389620" y="3148782"/>
            <a:ext cx="2979115" cy="1595120"/>
          </a:xfrm>
          <a:prstGeom prst="rect">
            <a:avLst/>
          </a:prstGeom>
          <a:noFill/>
          <a:ln/>
        </p:spPr>
        <p:txBody>
          <a:bodyPr wrap="square" lIns="0" tIns="0" rIns="0" bIns="0" rtlCol="0" anchor="t"/>
          <a:lstStyle/>
          <a:p>
            <a:pPr indent="0" marL="0">
              <a:buNone/>
            </a:pPr>
            <a:r>
              <a:rPr lang="id-ID" altLang="en-US" sz="2000" i="1" dirty="0">
                <a:solidFill>
                  <a:srgbClr val="1F2328"/>
                </a:solidFill>
              </a:rPr>
              <a:t>Getter</a:t>
            </a:r>
            <a:r>
              <a:rPr lang="id-ID" altLang="en-US" sz="2000" dirty="0">
                <a:solidFill>
                  <a:srgbClr val="1F2328"/>
                </a:solidFill>
              </a:rPr>
              <a:t> dan </a:t>
            </a:r>
            <a:r>
              <a:rPr lang="id-ID" altLang="en-US" sz="2000" i="1" dirty="0">
                <a:solidFill>
                  <a:srgbClr val="1F2328"/>
                </a:solidFill>
              </a:rPr>
              <a:t>setter</a:t>
            </a:r>
            <a:r>
              <a:rPr lang="id-ID" altLang="en-US" sz="2000" dirty="0">
                <a:solidFill>
                  <a:srgbClr val="1F2328"/>
                </a:solidFill>
              </a:rPr>
              <a:t> di Java adalah </a:t>
            </a:r>
            <a:r>
              <a:rPr lang="id-ID" altLang="en-US" sz="2000" i="1" dirty="0">
                <a:solidFill>
                  <a:srgbClr val="1F2328"/>
                </a:solidFill>
              </a:rPr>
              <a:t>method</a:t>
            </a:r>
            <a:r>
              <a:rPr lang="id-ID" altLang="en-US" sz="2000" dirty="0">
                <a:solidFill>
                  <a:srgbClr val="1F2328"/>
                </a:solidFill>
              </a:rPr>
              <a:t> biasa bernama </a:t>
            </a:r>
            <a:r>
              <a:rPr lang="id-ID" altLang="en-US" sz="2000" dirty="0">
                <a:solidFill>
                  <a:srgbClr val="0A3069"/>
                </a:solidFill>
                <a:latin typeface="Consolas" pitchFamily="34" charset="0"/>
                <a:ea typeface="Consolas" pitchFamily="34" charset="-122"/>
                <a:cs typeface="Consolas" pitchFamily="34" charset="-120"/>
              </a:rPr>
              <a:t>getX</a:t>
            </a:r>
            <a:r>
              <a:rPr lang="id-ID" altLang="en-US" sz="2000" dirty="0">
                <a:solidFill>
                  <a:srgbClr val="1F2328"/>
                </a:solidFill>
              </a:rPr>
              <a:t> dan </a:t>
            </a:r>
            <a:r>
              <a:rPr lang="id-ID" altLang="en-US" sz="2000" dirty="0">
                <a:solidFill>
                  <a:srgbClr val="0A3069"/>
                </a:solidFill>
                <a:latin typeface="Consolas" pitchFamily="34" charset="0"/>
                <a:ea typeface="Consolas" pitchFamily="34" charset="-122"/>
                <a:cs typeface="Consolas" pitchFamily="34" charset="-120"/>
              </a:rPr>
              <a:t>setX</a:t>
            </a:r>
            <a:r>
              <a:rPr lang="id-ID" altLang="en-US" sz="2000" dirty="0">
                <a:solidFill>
                  <a:srgbClr val="1F2328"/>
                </a:solidFill>
              </a:rPr>
              <a:t>, dipanggil dengan tanda kurung.</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Dua Pintu: </a:t>
            </a:r>
            <a:r>
              <a:rPr lang="id-ID" altLang="en-US" sz="3200" b="1" i="1" dirty="0">
                <a:solidFill>
                  <a:srgbClr val="0A3069"/>
                </a:solidFill>
              </a:rPr>
              <a:t>Setter</a:t>
            </a:r>
            <a:r>
              <a:rPr lang="id-ID" altLang="en-US" sz="3200" b="1" dirty="0">
                <a:solidFill>
                  <a:srgbClr val="0A3069"/>
                </a:solidFill>
              </a:rPr>
              <a:t> dan Konstruktor</a:t>
            </a:r>
            <a:endParaRPr lang="id-ID" sz="3200" dirty="0"/>
          </a:p>
        </p:txBody>
      </p:sp>
      <p:sp>
        <p:nvSpPr>
          <p:cNvPr id="5" name="Text 2"/>
          <p:cNvSpPr txBox="1"/>
          <p:nvPr/>
        </p:nvSpPr>
        <p:spPr>
          <a:xfrm>
            <a:off x="548640" y="1875343"/>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Konstruktor memanggil </a:t>
            </a:r>
            <a:r>
              <a:rPr lang="id-ID" altLang="en-US" sz="1800" i="1" dirty="0">
                <a:solidFill>
                  <a:srgbClr val="57606A"/>
                </a:solidFill>
              </a:rPr>
              <a:t>setter</a:t>
            </a:r>
            <a:r>
              <a:rPr lang="id-ID" altLang="en-US" sz="1800" dirty="0">
                <a:solidFill>
                  <a:srgbClr val="57606A"/>
                </a:solidFill>
              </a:rPr>
              <a:t>, jadi aturan cukup ditulis sekali dan berlaku di kedua pintu.</a:t>
            </a:r>
            <a:endParaRPr lang="id-ID" sz="1800" dirty="0"/>
          </a:p>
        </p:txBody>
      </p:sp>
      <p:sp>
        <p:nvSpPr>
          <p:cNvPr id="6" name="Shape 3"/>
          <p:cNvSpPr/>
          <p:nvPr/>
        </p:nvSpPr>
        <p:spPr>
          <a:xfrm>
            <a:off x="548640" y="2309683"/>
            <a:ext cx="1051560" cy="329184"/>
          </a:xfrm>
          <a:prstGeom prst="roundRect">
            <a:avLst>
              <a:gd name="adj" fmla="val 138889"/>
            </a:avLst>
          </a:prstGeom>
          <a:solidFill>
            <a:srgbClr val="3572A5"/>
          </a:solidFill>
          <a:ln/>
        </p:spPr>
      </p:sp>
      <p:sp>
        <p:nvSpPr>
          <p:cNvPr id="7" name="Text 4"/>
          <p:cNvSpPr txBox="1"/>
          <p:nvPr/>
        </p:nvSpPr>
        <p:spPr>
          <a:xfrm>
            <a:off x="548640" y="230968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30968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python/contoh/contoh04_validasi_konstruktor.py</a:t>
            </a:r>
            <a:endParaRPr lang="id-ID" sz="1100" dirty="0"/>
          </a:p>
        </p:txBody>
      </p:sp>
      <p:sp>
        <p:nvSpPr>
          <p:cNvPr id="9" name="Shape 6"/>
          <p:cNvSpPr/>
          <p:nvPr/>
        </p:nvSpPr>
        <p:spPr>
          <a:xfrm>
            <a:off x="548640" y="2730307"/>
            <a:ext cx="5432908" cy="2773680"/>
          </a:xfrm>
          <a:prstGeom prst="roundRect">
            <a:avLst>
              <a:gd name="adj" fmla="val 1087"/>
            </a:avLst>
          </a:prstGeom>
          <a:solidFill>
            <a:srgbClr val="F6F8FA"/>
          </a:solidFill>
          <a:ln w="9525">
            <a:solidFill>
              <a:srgbClr val="D0D7DE"/>
            </a:solidFill>
            <a:prstDash val="solid"/>
          </a:ln>
        </p:spPr>
      </p:sp>
      <p:sp>
        <p:nvSpPr>
          <p:cNvPr id="10" name="Text 7"/>
          <p:cNvSpPr txBox="1"/>
          <p:nvPr/>
        </p:nvSpPr>
        <p:spPr>
          <a:xfrm>
            <a:off x="658368" y="2821747"/>
            <a:ext cx="5213452" cy="2590800"/>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Mahasiswa</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__init__</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nama, semester):</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.nama = nama</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.semester = semester</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@nama</a:t>
            </a:r>
            <a:r>
              <a:rPr lang="en-US" altLang="en-US" sz="1200" dirty="0">
                <a:solidFill>
                  <a:srgbClr val="1F2328"/>
                </a:solidFill>
                <a:latin typeface="Consolas" pitchFamily="34" charset="0"/>
                <a:ea typeface="Consolas" pitchFamily="34" charset="-122"/>
                <a:cs typeface="Consolas" pitchFamily="34" charset="-120"/>
              </a:rPr>
              <a:t>.setter</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nama</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nilai):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if</a:t>
            </a:r>
            <a:r>
              <a:rPr lang="en-US" altLang="en-US" sz="1200" dirty="0">
                <a:solidFill>
                  <a:srgbClr val="1F2328"/>
                </a:solidFill>
                <a:latin typeface="Consolas" pitchFamily="34" charset="0"/>
                <a:ea typeface="Consolas" pitchFamily="34" charset="-122"/>
                <a:cs typeface="Consolas" pitchFamily="34" charset="-120"/>
              </a:rPr>
              <a:t> nilai.strip() == </a:t>
            </a:r>
            <a:r>
              <a:rPr lang="en-US" altLang="en-US" sz="1200" dirty="0">
                <a:solidFill>
                  <a:srgbClr val="0A3069"/>
                </a:solidFill>
                <a:latin typeface="Consolas" pitchFamily="34" charset="0"/>
                <a:ea typeface="Consolas" pitchFamily="34" charset="-122"/>
                <a:cs typeface="Consolas" pitchFamily="34" charset="-120"/>
              </a:rPr>
              <a: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raise</a:t>
            </a:r>
            <a:r>
              <a:rPr lang="en-US" altLang="en-US" sz="1200" dirty="0">
                <a:solidFill>
                  <a:srgbClr val="1F2328"/>
                </a:solidFill>
                <a:latin typeface="Consolas" pitchFamily="34" charset="0"/>
                <a:ea typeface="Consolas" pitchFamily="34" charset="-122"/>
                <a:cs typeface="Consolas" pitchFamily="34" charset="-120"/>
              </a:rPr>
              <a:t> ValueError(</a:t>
            </a:r>
            <a:r>
              <a:rPr lang="en-US" altLang="en-US" sz="1200" dirty="0">
                <a:solidFill>
                  <a:srgbClr val="0A3069"/>
                </a:solidFill>
                <a:latin typeface="Consolas" pitchFamily="34" charset="0"/>
                <a:ea typeface="Consolas" pitchFamily="34" charset="-122"/>
                <a:cs typeface="Consolas" pitchFamily="34" charset="-120"/>
              </a:rPr>
              <a:t>"Nama tidak boleh kosong"</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._nama = nilai</a:t>
            </a:r>
            <a:endParaRPr lang="en-US" sz="1200" dirty="0"/>
          </a:p>
        </p:txBody>
      </p:sp>
      <p:sp>
        <p:nvSpPr>
          <p:cNvPr id="11" name="Shape 8"/>
          <p:cNvSpPr/>
          <p:nvPr/>
        </p:nvSpPr>
        <p:spPr>
          <a:xfrm>
            <a:off x="6210148" y="2309683"/>
            <a:ext cx="1051560" cy="329184"/>
          </a:xfrm>
          <a:prstGeom prst="roundRect">
            <a:avLst>
              <a:gd name="adj" fmla="val 138889"/>
            </a:avLst>
          </a:prstGeom>
          <a:solidFill>
            <a:srgbClr val="B07219"/>
          </a:solidFill>
          <a:ln/>
        </p:spPr>
      </p:sp>
      <p:sp>
        <p:nvSpPr>
          <p:cNvPr id="12" name="Text 9"/>
          <p:cNvSpPr txBox="1"/>
          <p:nvPr/>
        </p:nvSpPr>
        <p:spPr>
          <a:xfrm>
            <a:off x="6210148" y="230968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30968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java/contoh/Contoh04ValidasiKonstruktor.java</a:t>
            </a:r>
            <a:endParaRPr lang="id-ID" sz="1100" dirty="0"/>
          </a:p>
        </p:txBody>
      </p:sp>
      <p:sp>
        <p:nvSpPr>
          <p:cNvPr id="14" name="Shape 11"/>
          <p:cNvSpPr/>
          <p:nvPr/>
        </p:nvSpPr>
        <p:spPr>
          <a:xfrm>
            <a:off x="6210148" y="2730307"/>
            <a:ext cx="5432908" cy="2773680"/>
          </a:xfrm>
          <a:prstGeom prst="roundRect">
            <a:avLst>
              <a:gd name="adj" fmla="val 1087"/>
            </a:avLst>
          </a:prstGeom>
          <a:solidFill>
            <a:srgbClr val="F6F8FA"/>
          </a:solidFill>
          <a:ln w="9525">
            <a:solidFill>
              <a:srgbClr val="D0D7DE"/>
            </a:solidFill>
            <a:prstDash val="solid"/>
          </a:ln>
        </p:spPr>
      </p:sp>
      <p:sp>
        <p:nvSpPr>
          <p:cNvPr id="15" name="Text 12"/>
          <p:cNvSpPr txBox="1"/>
          <p:nvPr/>
        </p:nvSpPr>
        <p:spPr>
          <a:xfrm>
            <a:off x="6319876" y="2821747"/>
            <a:ext cx="5213452" cy="2590800"/>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Mahasiswa</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Mahasiswa</a:t>
            </a:r>
            <a:r>
              <a:rPr lang="en-US" altLang="en-US" sz="1200" dirty="0">
                <a:solidFill>
                  <a:srgbClr val="1F2328"/>
                </a:solidFill>
                <a:latin typeface="Consolas" pitchFamily="34" charset="0"/>
                <a:ea typeface="Consolas" pitchFamily="34" charset="-122"/>
                <a:cs typeface="Consolas" pitchFamily="34" charset="-120"/>
              </a:rPr>
              <a:t>(String nama, </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semester)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setNama(nama);</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setSemester(semester);</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void</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setNama</a:t>
            </a:r>
            <a:r>
              <a:rPr lang="en-US" altLang="en-US" sz="1200" dirty="0">
                <a:solidFill>
                  <a:srgbClr val="1F2328"/>
                </a:solidFill>
                <a:latin typeface="Consolas" pitchFamily="34" charset="0"/>
                <a:ea typeface="Consolas" pitchFamily="34" charset="-122"/>
                <a:cs typeface="Consolas" pitchFamily="34" charset="-120"/>
              </a:rPr>
              <a:t>(String nama)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if</a:t>
            </a:r>
            <a:r>
              <a:rPr lang="en-US" altLang="en-US" sz="1200" dirty="0">
                <a:solidFill>
                  <a:srgbClr val="1F2328"/>
                </a:solidFill>
                <a:latin typeface="Consolas" pitchFamily="34" charset="0"/>
                <a:ea typeface="Consolas" pitchFamily="34" charset="-122"/>
                <a:cs typeface="Consolas" pitchFamily="34" charset="-120"/>
              </a:rPr>
              <a:t> (nama.isBlank())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lempar IllegalArgumentException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this</a:t>
            </a:r>
            <a:r>
              <a:rPr lang="en-US" altLang="en-US" sz="1200" dirty="0">
                <a:solidFill>
                  <a:srgbClr val="1F2328"/>
                </a:solidFill>
                <a:latin typeface="Consolas" pitchFamily="34" charset="0"/>
                <a:ea typeface="Consolas" pitchFamily="34" charset="-122"/>
                <a:cs typeface="Consolas" pitchFamily="34" charset="-120"/>
              </a:rPr>
              <a:t>.nama = nama;</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000" b="1" i="1" dirty="0">
                <a:solidFill>
                  <a:srgbClr val="FFFFFF"/>
                </a:solidFill>
              </a:rPr>
              <a:t>Read-⁠Only</a:t>
            </a:r>
            <a:r>
              <a:rPr lang="id-ID" altLang="en-US" sz="4000" b="1" dirty="0">
                <a:solidFill>
                  <a:srgbClr val="FFFFFF"/>
                </a:solidFill>
              </a:rPr>
              <a:t> dan </a:t>
            </a:r>
            <a:r>
              <a:rPr lang="id-ID" altLang="en-US" sz="4000" b="1" i="1" dirty="0">
                <a:solidFill>
                  <a:srgbClr val="FFFFFF"/>
                </a:solidFill>
              </a:rPr>
              <a:t>Method</a:t>
            </a:r>
            <a:r>
              <a:rPr lang="id-ID" altLang="en-US" sz="4000" b="1" dirty="0">
                <a:solidFill>
                  <a:srgbClr val="FFFFFF"/>
                </a:solidFill>
              </a:rPr>
              <a:t> Penjaga Aturan</a:t>
            </a:r>
            <a:endParaRPr lang="id-ID" sz="40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Data yang tidak boleh berubah dan perubahan yang punya makna.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Atribut </a:t>
            </a:r>
            <a:r>
              <a:rPr lang="id-ID" altLang="en-US" sz="3200" b="1" i="1" dirty="0">
                <a:solidFill>
                  <a:srgbClr val="0A3069"/>
                </a:solidFill>
              </a:rPr>
              <a:t>Read-⁠Only</a:t>
            </a:r>
            <a:r>
              <a:rPr lang="id-ID" altLang="en-US" sz="3200" b="1" dirty="0">
                <a:solidFill>
                  <a:srgbClr val="0A3069"/>
                </a:solidFill>
              </a:rPr>
              <a:t>: Boleh Dilihat, Tidak Boleh Diubah</a:t>
            </a:r>
            <a:endParaRPr lang="id-ID" sz="3200" dirty="0"/>
          </a:p>
        </p:txBody>
      </p:sp>
      <p:sp>
        <p:nvSpPr>
          <p:cNvPr id="5" name="Text 2"/>
          <p:cNvSpPr txBox="1"/>
          <p:nvPr/>
        </p:nvSpPr>
        <p:spPr>
          <a:xfrm>
            <a:off x="548640" y="1462979"/>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Atribut </a:t>
            </a:r>
            <a:r>
              <a:rPr lang="id-ID" altLang="en-US" sz="3000" b="1" i="1" dirty="0">
                <a:solidFill>
                  <a:srgbClr val="0969DA"/>
                </a:solidFill>
              </a:rPr>
              <a:t>read-⁠only</a:t>
            </a:r>
            <a:r>
              <a:rPr lang="id-ID" altLang="en-US" sz="3000" b="1" dirty="0">
                <a:solidFill>
                  <a:srgbClr val="0969DA"/>
                </a:solidFill>
              </a:rPr>
              <a:t> (hanya baca)</a:t>
            </a:r>
            <a:endParaRPr lang="id-ID" sz="3000" dirty="0"/>
          </a:p>
        </p:txBody>
      </p:sp>
      <p:sp>
        <p:nvSpPr>
          <p:cNvPr id="6" name="Shape 3"/>
          <p:cNvSpPr/>
          <p:nvPr/>
        </p:nvSpPr>
        <p:spPr>
          <a:xfrm>
            <a:off x="548640" y="2176211"/>
            <a:ext cx="11094415" cy="1323340"/>
          </a:xfrm>
          <a:prstGeom prst="roundRect">
            <a:avLst>
              <a:gd name="adj" fmla="val 5729"/>
            </a:avLst>
          </a:prstGeom>
          <a:solidFill>
            <a:srgbClr val="DDF4FF"/>
          </a:solidFill>
          <a:ln w="9525">
            <a:solidFill>
              <a:srgbClr val="54AEFF"/>
            </a:solidFill>
            <a:prstDash val="solid"/>
          </a:ln>
        </p:spPr>
      </p:sp>
      <p:sp>
        <p:nvSpPr>
          <p:cNvPr id="7" name="Shape 4"/>
          <p:cNvSpPr/>
          <p:nvPr/>
        </p:nvSpPr>
        <p:spPr>
          <a:xfrm>
            <a:off x="804672" y="2563561"/>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684262"/>
            <a:ext cx="307238" cy="307238"/>
          </a:xfrm>
          <a:prstGeom prst="rect">
            <a:avLst/>
          </a:prstGeom>
        </p:spPr>
      </p:pic>
      <p:sp>
        <p:nvSpPr>
          <p:cNvPr id="9" name="Text 5"/>
          <p:cNvSpPr txBox="1"/>
          <p:nvPr/>
        </p:nvSpPr>
        <p:spPr>
          <a:xfrm>
            <a:off x="1554480" y="2450531"/>
            <a:ext cx="9859975" cy="957580"/>
          </a:xfrm>
          <a:prstGeom prst="rect">
            <a:avLst/>
          </a:prstGeom>
          <a:noFill/>
          <a:ln/>
        </p:spPr>
        <p:txBody>
          <a:bodyPr wrap="square" lIns="0" tIns="0" rIns="0" bIns="0" rtlCol="0" anchor="t"/>
          <a:lstStyle/>
          <a:p>
            <a:pPr indent="0" marL="0">
              <a:buNone/>
            </a:pPr>
            <a:r>
              <a:rPr lang="id-ID" altLang="en-US" sz="2500" dirty="0">
                <a:solidFill>
                  <a:srgbClr val="1F2328"/>
                </a:solidFill>
              </a:rPr>
              <a:t>Atribut yang bisa </a:t>
            </a:r>
            <a:r>
              <a:rPr lang="id-ID" altLang="en-US" sz="2500" b="1" dirty="0">
                <a:solidFill>
                  <a:srgbClr val="1F2328"/>
                </a:solidFill>
              </a:rPr>
              <a:t>dibaca</a:t>
            </a:r>
            <a:r>
              <a:rPr lang="id-ID" altLang="en-US" sz="2500" dirty="0">
                <a:solidFill>
                  <a:srgbClr val="1F2328"/>
                </a:solidFill>
              </a:rPr>
              <a:t> dari luar kelas, tetapi </a:t>
            </a:r>
            <a:r>
              <a:rPr lang="id-ID" altLang="en-US" sz="2500" b="1" dirty="0">
                <a:solidFill>
                  <a:srgbClr val="1F2328"/>
                </a:solidFill>
              </a:rPr>
              <a:t>tidak bisa diubah</a:t>
            </a:r>
            <a:r>
              <a:rPr lang="id-ID" altLang="en-US" sz="2500" dirty="0">
                <a:solidFill>
                  <a:srgbClr val="1F2328"/>
                </a:solidFill>
              </a:rPr>
              <a:t> dari luar kelas. Caranya: sediakan </a:t>
            </a:r>
            <a:r>
              <a:rPr lang="id-ID" altLang="en-US" sz="2500" i="1" dirty="0">
                <a:solidFill>
                  <a:srgbClr val="1F2328"/>
                </a:solidFill>
              </a:rPr>
              <a:t>getter</a:t>
            </a:r>
            <a:r>
              <a:rPr lang="id-ID" altLang="en-US" sz="2500" dirty="0">
                <a:solidFill>
                  <a:srgbClr val="1F2328"/>
                </a:solidFill>
              </a:rPr>
              <a:t>, tetapi </a:t>
            </a:r>
            <a:r>
              <a:rPr lang="id-ID" altLang="en-US" sz="2500" b="1" dirty="0">
                <a:solidFill>
                  <a:srgbClr val="1F2328"/>
                </a:solidFill>
              </a:rPr>
              <a:t>jangan</a:t>
            </a:r>
            <a:r>
              <a:rPr lang="id-ID" altLang="en-US" sz="2500" dirty="0">
                <a:solidFill>
                  <a:srgbClr val="1F2328"/>
                </a:solidFill>
              </a:rPr>
              <a:t> sediakan </a:t>
            </a:r>
            <a:r>
              <a:rPr lang="id-ID" altLang="en-US" sz="2500" i="1" dirty="0">
                <a:solidFill>
                  <a:srgbClr val="1F2328"/>
                </a:solidFill>
              </a:rPr>
              <a:t>setter</a:t>
            </a:r>
            <a:r>
              <a:rPr lang="id-ID" altLang="en-US" sz="2500" dirty="0">
                <a:solidFill>
                  <a:srgbClr val="1F2328"/>
                </a:solidFill>
              </a:rPr>
              <a:t>.</a:t>
            </a:r>
            <a:endParaRPr lang="id-ID" sz="2500" dirty="0"/>
          </a:p>
        </p:txBody>
      </p:sp>
      <p:sp>
        <p:nvSpPr>
          <p:cNvPr id="10" name="Shape 6"/>
          <p:cNvSpPr/>
          <p:nvPr/>
        </p:nvSpPr>
        <p:spPr>
          <a:xfrm>
            <a:off x="603504" y="4058605"/>
            <a:ext cx="137160" cy="137160"/>
          </a:xfrm>
          <a:prstGeom prst="roundRect">
            <a:avLst>
              <a:gd name="adj" fmla="val 166667"/>
            </a:avLst>
          </a:prstGeom>
          <a:solidFill>
            <a:srgbClr val="0969DA"/>
          </a:solidFill>
          <a:ln/>
        </p:spPr>
      </p:sp>
      <p:sp>
        <p:nvSpPr>
          <p:cNvPr id="11" name="Text 7"/>
          <p:cNvSpPr txBox="1"/>
          <p:nvPr/>
        </p:nvSpPr>
        <p:spPr>
          <a:xfrm>
            <a:off x="932688" y="3956751"/>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Python: </a:t>
            </a:r>
            <a:r>
              <a:rPr lang="id-ID" altLang="en-US" sz="2200" i="1" dirty="0">
                <a:solidFill>
                  <a:srgbClr val="1F2328"/>
                </a:solidFill>
              </a:rPr>
              <a:t>property</a:t>
            </a:r>
            <a:r>
              <a:rPr lang="id-ID" altLang="en-US" sz="2200" dirty="0">
                <a:solidFill>
                  <a:srgbClr val="1F2328"/>
                </a:solidFill>
              </a:rPr>
              <a:t> tanpa </a:t>
            </a:r>
            <a:r>
              <a:rPr lang="id-ID" altLang="en-US" sz="2200" i="1" dirty="0">
                <a:solidFill>
                  <a:srgbClr val="1F2328"/>
                </a:solidFill>
              </a:rPr>
              <a:t>setter</a:t>
            </a:r>
            <a:r>
              <a:rPr lang="id-ID" altLang="en-US" sz="2200" dirty="0">
                <a:solidFill>
                  <a:srgbClr val="1F2328"/>
                </a:solidFill>
              </a:rPr>
              <a:t>. Mencoba mengubahnya memicu </a:t>
            </a:r>
            <a:r>
              <a:rPr lang="id-ID" altLang="en-US" sz="2200" dirty="0">
                <a:solidFill>
                  <a:srgbClr val="1F2328"/>
                </a:solidFill>
                <a:latin typeface="Consolas" pitchFamily="34" charset="0"/>
                <a:ea typeface="Consolas" pitchFamily="34" charset="-122"/>
                <a:cs typeface="Consolas" pitchFamily="34" charset="-120"/>
              </a:rPr>
              <a:t>AttributeError</a:t>
            </a:r>
            <a:r>
              <a:rPr lang="id-ID" altLang="en-US" sz="2200" dirty="0">
                <a:solidFill>
                  <a:srgbClr val="1F2328"/>
                </a:solidFill>
              </a:rPr>
              <a:t> saat program berjalan.</a:t>
            </a:r>
            <a:endParaRPr lang="id-ID" sz="2200" dirty="0"/>
          </a:p>
        </p:txBody>
      </p:sp>
      <p:sp>
        <p:nvSpPr>
          <p:cNvPr id="12" name="Shape 8"/>
          <p:cNvSpPr/>
          <p:nvPr/>
        </p:nvSpPr>
        <p:spPr>
          <a:xfrm>
            <a:off x="603504" y="4978085"/>
            <a:ext cx="137160" cy="137160"/>
          </a:xfrm>
          <a:prstGeom prst="roundRect">
            <a:avLst>
              <a:gd name="adj" fmla="val 166667"/>
            </a:avLst>
          </a:prstGeom>
          <a:solidFill>
            <a:srgbClr val="0969DA"/>
          </a:solidFill>
          <a:ln/>
        </p:spPr>
      </p:sp>
      <p:sp>
        <p:nvSpPr>
          <p:cNvPr id="13" name="Text 9"/>
          <p:cNvSpPr txBox="1"/>
          <p:nvPr/>
        </p:nvSpPr>
        <p:spPr>
          <a:xfrm>
            <a:off x="932688" y="4876231"/>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Java: </a:t>
            </a:r>
            <a:r>
              <a:rPr lang="id-ID" altLang="en-US" sz="2200" i="1" dirty="0">
                <a:solidFill>
                  <a:srgbClr val="1F2328"/>
                </a:solidFill>
              </a:rPr>
              <a:t>getter</a:t>
            </a:r>
            <a:r>
              <a:rPr lang="id-ID" altLang="en-US" sz="2200" dirty="0">
                <a:solidFill>
                  <a:srgbClr val="1F2328"/>
                </a:solidFill>
              </a:rPr>
              <a:t> tanpa </a:t>
            </a:r>
            <a:r>
              <a:rPr lang="id-ID" altLang="en-US" sz="2200" i="1" dirty="0">
                <a:solidFill>
                  <a:srgbClr val="1F2328"/>
                </a:solidFill>
              </a:rPr>
              <a:t>setter</a:t>
            </a:r>
            <a:r>
              <a:rPr lang="id-ID" altLang="en-US" sz="2200" dirty="0">
                <a:solidFill>
                  <a:srgbClr val="1F2328"/>
                </a:solidFill>
              </a:rPr>
              <a:t>, jadi mengubahnya ditolak saat kompilasi. </a:t>
            </a:r>
            <a:r>
              <a:rPr lang="id-ID" altLang="en-US" sz="2200" dirty="0">
                <a:solidFill>
                  <a:srgbClr val="1F2328"/>
                </a:solidFill>
                <a:latin typeface="Consolas" pitchFamily="34" charset="0"/>
                <a:ea typeface="Consolas" pitchFamily="34" charset="-122"/>
                <a:cs typeface="Consolas" pitchFamily="34" charset="-120"/>
              </a:rPr>
              <a:t>final</a:t>
            </a:r>
            <a:r>
              <a:rPr lang="id-ID" altLang="en-US" sz="2200" dirty="0">
                <a:solidFill>
                  <a:srgbClr val="1F2328"/>
                </a:solidFill>
              </a:rPr>
              <a:t> membuatnya hanya bisa diisi sekali.</a:t>
            </a:r>
            <a:endParaRPr lang="id-ID" sz="2200" dirty="0"/>
          </a:p>
        </p:txBody>
      </p:sp>
      <p:sp>
        <p:nvSpPr>
          <p:cNvPr id="14" name="Shape 10"/>
          <p:cNvSpPr/>
          <p:nvPr/>
        </p:nvSpPr>
        <p:spPr>
          <a:xfrm>
            <a:off x="603504" y="5897565"/>
            <a:ext cx="137160" cy="137160"/>
          </a:xfrm>
          <a:prstGeom prst="roundRect">
            <a:avLst>
              <a:gd name="adj" fmla="val 166667"/>
            </a:avLst>
          </a:prstGeom>
          <a:solidFill>
            <a:srgbClr val="0969DA"/>
          </a:solidFill>
          <a:ln/>
        </p:spPr>
      </p:sp>
      <p:sp>
        <p:nvSpPr>
          <p:cNvPr id="15" name="Text 11"/>
          <p:cNvSpPr txBox="1"/>
          <p:nvPr/>
        </p:nvSpPr>
        <p:spPr>
          <a:xfrm>
            <a:off x="932688" y="5795711"/>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Satu-⁠satunya kesempatan memeriksanya ada di konstruktor, misalnya NIK harus 16 digit.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Method</a:t>
            </a:r>
            <a:r>
              <a:rPr lang="id-ID" altLang="en-US" sz="3200" b="1" dirty="0">
                <a:solidFill>
                  <a:srgbClr val="0A3069"/>
                </a:solidFill>
              </a:rPr>
              <a:t> Penjaga Aturan</a:t>
            </a:r>
            <a:endParaRPr lang="id-ID"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43243"/>
          <a:ext cx="11094415" cy="914400"/>
        </p:xfrm>
        <a:graphic>
          <a:graphicData uri="http://schemas.openxmlformats.org/drawingml/2006/table">
            <a:tbl>
              <a:tblPr/>
              <a:tblGrid>
                <a:gridCol w="4858299"/>
                <a:gridCol w="2602304"/>
                <a:gridCol w="3633813"/>
              </a:tblGrid>
              <a:tr h="833628">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Pembeda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i="1" dirty="0">
                          <a:solidFill>
                            <a:srgbClr val="FFFFFF"/>
                          </a:solidFill>
                          <a:latin typeface="Calibri" pitchFamily="34" charset="0"/>
                          <a:ea typeface="Calibri" pitchFamily="34" charset="-122"/>
                          <a:cs typeface="Calibri" pitchFamily="34" charset="-120"/>
                        </a:rPr>
                        <a:t>Setter</a:t>
                      </a:r>
                      <a:r>
                        <a:rPr lang="id-ID" altLang="en-US" sz="2100" b="1" dirty="0">
                          <a:solidFill>
                            <a:srgbClr val="FFFFFF"/>
                          </a:solidFill>
                          <a:latin typeface="Calibri" pitchFamily="34" charset="0"/>
                          <a:ea typeface="Calibri" pitchFamily="34" charset="-122"/>
                          <a:cs typeface="Calibri" pitchFamily="34" charset="-120"/>
                        </a:rPr>
                        <a:t> stok (dihindari)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i="1" dirty="0">
                          <a:solidFill>
                            <a:srgbClr val="FFFFFF"/>
                          </a:solidFill>
                          <a:latin typeface="Calibri" pitchFamily="34" charset="0"/>
                          <a:ea typeface="Calibri" pitchFamily="34" charset="-122"/>
                          <a:cs typeface="Calibri" pitchFamily="34" charset="-120"/>
                        </a:rPr>
                        <a:t>Method</a:t>
                      </a:r>
                      <a:r>
                        <a:rPr lang="id-ID" altLang="en-US" sz="2100" b="1" dirty="0">
                          <a:solidFill>
                            <a:srgbClr val="FFFFFF"/>
                          </a:solidFill>
                          <a:latin typeface="Calibri" pitchFamily="34" charset="0"/>
                          <a:ea typeface="Calibri" pitchFamily="34" charset="-122"/>
                          <a:cs typeface="Calibri" pitchFamily="34" charset="-120"/>
                        </a:rPr>
                        <a:t> penjaga aturan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Perintahnya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“Ubah stok menjadi 15”</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“Kurangi stok sebanyak 5”</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8254">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Kelas tahu alasannya?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Tidak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Ya, menu terjual</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Bisa menolak penjualan yang melebihi stok?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Sulit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Mudah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Mudah ditambah pencatatan di kemudian hari?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Sulit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Mudah, cukup di dalam </a:t>
                      </a:r>
                      <a:r>
                        <a:rPr lang="id-ID" altLang="en-US" sz="2100" i="1" dirty="0">
                          <a:solidFill>
                            <a:srgbClr val="1F2328"/>
                          </a:solidFill>
                          <a:latin typeface="Calibri" pitchFamily="34" charset="0"/>
                          <a:ea typeface="Calibri" pitchFamily="34" charset="-122"/>
                          <a:cs typeface="Calibri" pitchFamily="34" charset="-120"/>
                        </a:rPr>
                        <a:t>method</a:t>
                      </a:r>
                      <a:r>
                        <a:rPr lang="id-ID" altLang="en-US" sz="2100" dirty="0">
                          <a:solidFill>
                            <a:srgbClr val="1F2328"/>
                          </a:solidFill>
                          <a:latin typeface="Calibri" pitchFamily="34" charset="0"/>
                          <a:ea typeface="Calibri" pitchFamily="34" charset="-122"/>
                          <a:cs typeface="Calibri" pitchFamily="34" charset="-120"/>
                        </a:rPr>
                        <a:t> itu</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3289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05318"/>
            <a:ext cx="184343" cy="184343"/>
          </a:xfrm>
          <a:prstGeom prst="rect">
            <a:avLst/>
          </a:prstGeom>
        </p:spPr>
      </p:pic>
      <p:sp>
        <p:nvSpPr>
          <p:cNvPr id="8" name="Text 3"/>
          <p:cNvSpPr txBox="1"/>
          <p:nvPr/>
        </p:nvSpPr>
        <p:spPr>
          <a:xfrm>
            <a:off x="1005840" y="551460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Contoh: </a:t>
            </a:r>
            <a:r>
              <a:rPr lang="id-ID" altLang="en-US" sz="1800" dirty="0">
                <a:solidFill>
                  <a:srgbClr val="57606A"/>
                </a:solidFill>
                <a:latin typeface="Consolas" pitchFamily="34" charset="0"/>
                <a:ea typeface="Consolas" pitchFamily="34" charset="-122"/>
                <a:cs typeface="Consolas" pitchFamily="34" charset="-120"/>
              </a:rPr>
              <a:t>tambah_stok(jumlah)</a:t>
            </a:r>
            <a:r>
              <a:rPr lang="id-ID" altLang="en-US" sz="1800" dirty="0">
                <a:solidFill>
                  <a:srgbClr val="57606A"/>
                </a:solidFill>
              </a:rPr>
              <a:t> untuk restok dan </a:t>
            </a:r>
            <a:r>
              <a:rPr lang="id-ID" altLang="en-US" sz="1800" dirty="0">
                <a:solidFill>
                  <a:srgbClr val="57606A"/>
                </a:solidFill>
                <a:latin typeface="Consolas" pitchFamily="34" charset="0"/>
                <a:ea typeface="Consolas" pitchFamily="34" charset="-122"/>
                <a:cs typeface="Consolas" pitchFamily="34" charset="-120"/>
              </a:rPr>
              <a:t>kurangi_stok(jumlah)</a:t>
            </a:r>
            <a:r>
              <a:rPr lang="id-ID" altLang="en-US" sz="1800" dirty="0">
                <a:solidFill>
                  <a:srgbClr val="57606A"/>
                </a:solidFill>
              </a:rPr>
              <a:t> untuk penjualan (Java: </a:t>
            </a:r>
            <a:r>
              <a:rPr lang="id-ID" altLang="en-US" sz="1800" dirty="0">
                <a:solidFill>
                  <a:srgbClr val="57606A"/>
                </a:solidFill>
                <a:latin typeface="Consolas" pitchFamily="34" charset="0"/>
                <a:ea typeface="Consolas" pitchFamily="34" charset="-122"/>
                <a:cs typeface="Consolas" pitchFamily="34" charset="-120"/>
              </a:rPr>
              <a:t>tambahStok</a:t>
            </a:r>
            <a:r>
              <a:rPr lang="id-ID" altLang="en-US" sz="1800" dirty="0">
                <a:solidFill>
                  <a:srgbClr val="57606A"/>
                </a:solidFill>
              </a:rPr>
              <a:t>, </a:t>
            </a:r>
            <a:r>
              <a:rPr lang="id-ID" altLang="en-US" sz="1800" dirty="0">
                <a:solidFill>
                  <a:srgbClr val="57606A"/>
                </a:solidFill>
                <a:latin typeface="Consolas" pitchFamily="34" charset="0"/>
                <a:ea typeface="Consolas" pitchFamily="34" charset="-122"/>
                <a:cs typeface="Consolas" pitchFamily="34" charset="-120"/>
              </a:rPr>
              <a:t>kurangiStok</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Kapan Tidak Perlu </a:t>
            </a:r>
            <a:r>
              <a:rPr lang="id-ID" altLang="en-US" sz="3200" b="1" i="1" dirty="0">
                <a:solidFill>
                  <a:srgbClr val="0A3069"/>
                </a:solidFill>
              </a:rPr>
              <a:t>Getter</a:t>
            </a:r>
            <a:r>
              <a:rPr lang="id-ID" altLang="en-US" sz="3200" b="1" dirty="0">
                <a:solidFill>
                  <a:srgbClr val="0A3069"/>
                </a:solidFill>
              </a:rPr>
              <a:t> dan </a:t>
            </a:r>
            <a:r>
              <a:rPr lang="id-ID" altLang="en-US" sz="3200" b="1" i="1" dirty="0">
                <a:solidFill>
                  <a:srgbClr val="0A3069"/>
                </a:solidFill>
              </a:rPr>
              <a:t>Setter</a:t>
            </a:r>
            <a:r>
              <a:rPr lang="id-ID" altLang="en-US" sz="3200" b="1" dirty="0">
                <a:solidFill>
                  <a:srgbClr val="0A3069"/>
                </a:solidFill>
              </a:rPr>
              <a:t>?</a:t>
            </a:r>
            <a:endParaRPr lang="id-ID" sz="3200" dirty="0"/>
          </a:p>
        </p:txBody>
      </p:sp>
      <p:sp>
        <p:nvSpPr>
          <p:cNvPr id="5" name="Shape 2"/>
          <p:cNvSpPr/>
          <p:nvPr/>
        </p:nvSpPr>
        <p:spPr>
          <a:xfrm>
            <a:off x="603504" y="1708556"/>
            <a:ext cx="137160" cy="137160"/>
          </a:xfrm>
          <a:prstGeom prst="roundRect">
            <a:avLst>
              <a:gd name="adj" fmla="val 166667"/>
            </a:avLst>
          </a:prstGeom>
          <a:solidFill>
            <a:srgbClr val="0969DA"/>
          </a:solidFill>
          <a:ln/>
        </p:spPr>
      </p:sp>
      <p:sp>
        <p:nvSpPr>
          <p:cNvPr id="6" name="Text 3"/>
          <p:cNvSpPr txBox="1"/>
          <p:nvPr/>
        </p:nvSpPr>
        <p:spPr>
          <a:xfrm>
            <a:off x="932688" y="1591208"/>
            <a:ext cx="10710367" cy="417576"/>
          </a:xfrm>
          <a:prstGeom prst="rect">
            <a:avLst/>
          </a:prstGeom>
          <a:noFill/>
          <a:ln/>
        </p:spPr>
        <p:txBody>
          <a:bodyPr wrap="square" lIns="0" tIns="0" rIns="0" bIns="0" rtlCol="0" anchor="t"/>
          <a:lstStyle/>
          <a:p>
            <a:pPr indent="0" marL="0">
              <a:buNone/>
            </a:pPr>
            <a:r>
              <a:rPr lang="id-ID" altLang="en-US" sz="2400" dirty="0">
                <a:solidFill>
                  <a:srgbClr val="1F2328"/>
                </a:solidFill>
              </a:rPr>
              <a:t>Perlu </a:t>
            </a:r>
            <a:r>
              <a:rPr lang="id-ID" altLang="en-US" sz="2400" b="1" dirty="0">
                <a:solidFill>
                  <a:srgbClr val="1F2328"/>
                </a:solidFill>
              </a:rPr>
              <a:t>dibaca</a:t>
            </a:r>
            <a:r>
              <a:rPr lang="id-ID" altLang="en-US" sz="2400" dirty="0">
                <a:solidFill>
                  <a:srgbClr val="1F2328"/>
                </a:solidFill>
              </a:rPr>
              <a:t> dari luar? Jika tidak, jangan beri </a:t>
            </a:r>
            <a:r>
              <a:rPr lang="id-ID" altLang="en-US" sz="2400" i="1" dirty="0">
                <a:solidFill>
                  <a:srgbClr val="1F2328"/>
                </a:solidFill>
              </a:rPr>
              <a:t>getter</a:t>
            </a:r>
            <a:r>
              <a:rPr lang="id-ID" altLang="en-US" sz="2400" dirty="0">
                <a:solidFill>
                  <a:srgbClr val="1F2328"/>
                </a:solidFill>
              </a:rPr>
              <a:t>. Contoh: </a:t>
            </a:r>
            <a:r>
              <a:rPr lang="id-ID" altLang="en-US" sz="2400" i="1" dirty="0">
                <a:solidFill>
                  <a:srgbClr val="1F2328"/>
                </a:solidFill>
              </a:rPr>
              <a:t>password</a:t>
            </a:r>
            <a:r>
              <a:rPr lang="id-ID" altLang="en-US" sz="2400" dirty="0">
                <a:solidFill>
                  <a:srgbClr val="1F2328"/>
                </a:solidFill>
              </a:rPr>
              <a:t>.</a:t>
            </a:r>
            <a:endParaRPr lang="id-ID" sz="2400" dirty="0"/>
          </a:p>
        </p:txBody>
      </p:sp>
      <p:sp>
        <p:nvSpPr>
          <p:cNvPr id="7" name="Shape 4"/>
          <p:cNvSpPr/>
          <p:nvPr/>
        </p:nvSpPr>
        <p:spPr>
          <a:xfrm>
            <a:off x="603504" y="2354732"/>
            <a:ext cx="137160" cy="137160"/>
          </a:xfrm>
          <a:prstGeom prst="roundRect">
            <a:avLst>
              <a:gd name="adj" fmla="val 166667"/>
            </a:avLst>
          </a:prstGeom>
          <a:solidFill>
            <a:srgbClr val="0969DA"/>
          </a:solidFill>
          <a:ln/>
        </p:spPr>
      </p:sp>
      <p:sp>
        <p:nvSpPr>
          <p:cNvPr id="8" name="Text 5"/>
          <p:cNvSpPr txBox="1"/>
          <p:nvPr/>
        </p:nvSpPr>
        <p:spPr>
          <a:xfrm>
            <a:off x="932688" y="2237384"/>
            <a:ext cx="10710367" cy="417576"/>
          </a:xfrm>
          <a:prstGeom prst="rect">
            <a:avLst/>
          </a:prstGeom>
          <a:noFill/>
          <a:ln/>
        </p:spPr>
        <p:txBody>
          <a:bodyPr wrap="square" lIns="0" tIns="0" rIns="0" bIns="0" rtlCol="0" anchor="t"/>
          <a:lstStyle/>
          <a:p>
            <a:pPr indent="0" marL="0">
              <a:buNone/>
            </a:pPr>
            <a:r>
              <a:rPr lang="id-ID" altLang="en-US" sz="2400" dirty="0">
                <a:solidFill>
                  <a:srgbClr val="1F2328"/>
                </a:solidFill>
              </a:rPr>
              <a:t>Perlu </a:t>
            </a:r>
            <a:r>
              <a:rPr lang="id-ID" altLang="en-US" sz="2400" b="1" dirty="0">
                <a:solidFill>
                  <a:srgbClr val="1F2328"/>
                </a:solidFill>
              </a:rPr>
              <a:t>diubah</a:t>
            </a:r>
            <a:r>
              <a:rPr lang="id-ID" altLang="en-US" sz="2400" dirty="0">
                <a:solidFill>
                  <a:srgbClr val="1F2328"/>
                </a:solidFill>
              </a:rPr>
              <a:t> dari luar? Jika tidak, jadikan </a:t>
            </a:r>
            <a:r>
              <a:rPr lang="id-ID" altLang="en-US" sz="2400" i="1" dirty="0">
                <a:solidFill>
                  <a:srgbClr val="1F2328"/>
                </a:solidFill>
              </a:rPr>
              <a:t>read-⁠only</a:t>
            </a:r>
            <a:r>
              <a:rPr lang="id-ID" altLang="en-US" sz="2400" dirty="0">
                <a:solidFill>
                  <a:srgbClr val="1F2328"/>
                </a:solidFill>
              </a:rPr>
              <a:t>. Contoh: kode menu.</a:t>
            </a:r>
            <a:endParaRPr lang="id-ID" sz="2400" dirty="0"/>
          </a:p>
        </p:txBody>
      </p:sp>
      <p:sp>
        <p:nvSpPr>
          <p:cNvPr id="9" name="Shape 6"/>
          <p:cNvSpPr/>
          <p:nvPr/>
        </p:nvSpPr>
        <p:spPr>
          <a:xfrm>
            <a:off x="603504" y="3000908"/>
            <a:ext cx="137160" cy="137160"/>
          </a:xfrm>
          <a:prstGeom prst="roundRect">
            <a:avLst>
              <a:gd name="adj" fmla="val 166667"/>
            </a:avLst>
          </a:prstGeom>
          <a:solidFill>
            <a:srgbClr val="0969DA"/>
          </a:solidFill>
          <a:ln/>
        </p:spPr>
      </p:sp>
      <p:sp>
        <p:nvSpPr>
          <p:cNvPr id="10" name="Text 7"/>
          <p:cNvSpPr txBox="1"/>
          <p:nvPr/>
        </p:nvSpPr>
        <p:spPr>
          <a:xfrm>
            <a:off x="932688" y="2883560"/>
            <a:ext cx="10710367" cy="789432"/>
          </a:xfrm>
          <a:prstGeom prst="rect">
            <a:avLst/>
          </a:prstGeom>
          <a:noFill/>
          <a:ln/>
        </p:spPr>
        <p:txBody>
          <a:bodyPr wrap="square" lIns="0" tIns="0" rIns="0" bIns="0" rtlCol="0" anchor="t"/>
          <a:lstStyle/>
          <a:p>
            <a:pPr indent="0" marL="0">
              <a:buNone/>
            </a:pPr>
            <a:r>
              <a:rPr lang="id-ID" altLang="en-US" sz="2400" dirty="0">
                <a:solidFill>
                  <a:srgbClr val="1F2328"/>
                </a:solidFill>
              </a:rPr>
              <a:t>Perubahannya punya </a:t>
            </a:r>
            <a:r>
              <a:rPr lang="id-ID" altLang="en-US" sz="2400" b="1" dirty="0">
                <a:solidFill>
                  <a:srgbClr val="1F2328"/>
                </a:solidFill>
              </a:rPr>
              <a:t>makna khusus</a:t>
            </a:r>
            <a:r>
              <a:rPr lang="id-ID" altLang="en-US" sz="2400" dirty="0">
                <a:solidFill>
                  <a:srgbClr val="1F2328"/>
                </a:solidFill>
              </a:rPr>
              <a:t> (terjual, restok, setor)? Buat </a:t>
            </a:r>
            <a:r>
              <a:rPr lang="id-ID" altLang="en-US" sz="2400" i="1" dirty="0">
                <a:solidFill>
                  <a:srgbClr val="1F2328"/>
                </a:solidFill>
              </a:rPr>
              <a:t>method</a:t>
            </a:r>
            <a:r>
              <a:rPr lang="id-ID" altLang="en-US" sz="2400" dirty="0">
                <a:solidFill>
                  <a:srgbClr val="1F2328"/>
                </a:solidFill>
              </a:rPr>
              <a:t> penjaga aturan.</a:t>
            </a:r>
            <a:endParaRPr lang="id-ID" sz="2400" dirty="0"/>
          </a:p>
        </p:txBody>
      </p:sp>
      <p:sp>
        <p:nvSpPr>
          <p:cNvPr id="11" name="Shape 8"/>
          <p:cNvSpPr/>
          <p:nvPr/>
        </p:nvSpPr>
        <p:spPr>
          <a:xfrm>
            <a:off x="603504" y="4018940"/>
            <a:ext cx="137160" cy="137160"/>
          </a:xfrm>
          <a:prstGeom prst="roundRect">
            <a:avLst>
              <a:gd name="adj" fmla="val 166667"/>
            </a:avLst>
          </a:prstGeom>
          <a:solidFill>
            <a:srgbClr val="0969DA"/>
          </a:solidFill>
          <a:ln/>
        </p:spPr>
      </p:sp>
      <p:sp>
        <p:nvSpPr>
          <p:cNvPr id="12" name="Text 9"/>
          <p:cNvSpPr txBox="1"/>
          <p:nvPr/>
        </p:nvSpPr>
        <p:spPr>
          <a:xfrm>
            <a:off x="932688" y="3901592"/>
            <a:ext cx="10710367" cy="417576"/>
          </a:xfrm>
          <a:prstGeom prst="rect">
            <a:avLst/>
          </a:prstGeom>
          <a:noFill/>
          <a:ln/>
        </p:spPr>
        <p:txBody>
          <a:bodyPr wrap="square" lIns="0" tIns="0" rIns="0" bIns="0" rtlCol="0" anchor="t"/>
          <a:lstStyle/>
          <a:p>
            <a:pPr indent="0" marL="0">
              <a:buNone/>
            </a:pPr>
            <a:r>
              <a:rPr lang="id-ID" altLang="en-US" sz="2400" dirty="0">
                <a:solidFill>
                  <a:srgbClr val="1F2328"/>
                </a:solidFill>
              </a:rPr>
              <a:t>Jika </a:t>
            </a:r>
            <a:r>
              <a:rPr lang="id-ID" altLang="en-US" sz="2400" i="1" dirty="0">
                <a:solidFill>
                  <a:srgbClr val="1F2328"/>
                </a:solidFill>
              </a:rPr>
              <a:t>setter</a:t>
            </a:r>
            <a:r>
              <a:rPr lang="id-ID" altLang="en-US" sz="2400" dirty="0">
                <a:solidFill>
                  <a:srgbClr val="1F2328"/>
                </a:solidFill>
              </a:rPr>
              <a:t> memang tepat, pastikan </a:t>
            </a:r>
            <a:r>
              <a:rPr lang="id-ID" altLang="en-US" sz="2400" i="1" dirty="0">
                <a:solidFill>
                  <a:srgbClr val="1F2328"/>
                </a:solidFill>
              </a:rPr>
              <a:t>setter</a:t>
            </a:r>
            <a:r>
              <a:rPr lang="id-ID" altLang="en-US" sz="2400" dirty="0">
                <a:solidFill>
                  <a:srgbClr val="1F2328"/>
                </a:solidFill>
              </a:rPr>
              <a:t> itu </a:t>
            </a:r>
            <a:r>
              <a:rPr lang="id-ID" altLang="en-US" sz="2400" b="1" dirty="0">
                <a:solidFill>
                  <a:srgbClr val="1F2328"/>
                </a:solidFill>
              </a:rPr>
              <a:t>memeriksa</a:t>
            </a:r>
            <a:r>
              <a:rPr lang="id-ID" altLang="en-US" sz="2400" dirty="0">
                <a:solidFill>
                  <a:srgbClr val="1F2328"/>
                </a:solidFill>
              </a:rPr>
              <a:t> nilai barunya.</a:t>
            </a:r>
            <a:endParaRPr lang="id-ID" sz="2400" dirty="0"/>
          </a:p>
        </p:txBody>
      </p:sp>
      <p:sp>
        <p:nvSpPr>
          <p:cNvPr id="13" name="Shape 10"/>
          <p:cNvSpPr/>
          <p:nvPr/>
        </p:nvSpPr>
        <p:spPr>
          <a:xfrm>
            <a:off x="548640" y="4684928"/>
            <a:ext cx="11094415" cy="1274572"/>
          </a:xfrm>
          <a:prstGeom prst="roundRect">
            <a:avLst>
              <a:gd name="adj" fmla="val 6176"/>
            </a:avLst>
          </a:prstGeom>
          <a:solidFill>
            <a:srgbClr val="DDF4FF"/>
          </a:solidFill>
          <a:ln w="9525">
            <a:solidFill>
              <a:srgbClr val="54AEFF"/>
            </a:solidFill>
            <a:prstDash val="solid"/>
          </a:ln>
        </p:spPr>
      </p:sp>
      <p:sp>
        <p:nvSpPr>
          <p:cNvPr id="14" name="Shape 11"/>
          <p:cNvSpPr/>
          <p:nvPr/>
        </p:nvSpPr>
        <p:spPr>
          <a:xfrm>
            <a:off x="777240" y="4886096"/>
            <a:ext cx="457200" cy="457200"/>
          </a:xfrm>
          <a:prstGeom prst="ellipse">
            <a:avLst/>
          </a:prstGeom>
          <a:solidFill>
            <a:srgbClr val="0969DA"/>
          </a:solidFill>
          <a:ln/>
        </p:spPr>
      </p:sp>
      <p:pic>
        <p:nvPicPr>
          <p:cNvPr id="15" name="Image 1" descr="preencoded.png">    </p:cNvPr>
          <p:cNvPicPr>
            <a:picLocks noChangeAspect="1"/>
          </p:cNvPicPr>
          <p:nvPr/>
        </p:nvPicPr>
        <p:blipFill>
          <a:blip r:embed="rId2"/>
          <a:stretch>
            <a:fillRect/>
          </a:stretch>
        </p:blipFill>
        <p:spPr>
          <a:xfrm>
            <a:off x="877824" y="4986680"/>
            <a:ext cx="256032" cy="256032"/>
          </a:xfrm>
          <a:prstGeom prst="rect">
            <a:avLst/>
          </a:prstGeom>
        </p:spPr>
      </p:pic>
      <p:sp>
        <p:nvSpPr>
          <p:cNvPr id="16" name="Text 12"/>
          <p:cNvSpPr txBox="1"/>
          <p:nvPr/>
        </p:nvSpPr>
        <p:spPr>
          <a:xfrm>
            <a:off x="1417320" y="4831232"/>
            <a:ext cx="2743200" cy="292608"/>
          </a:xfrm>
          <a:prstGeom prst="rect">
            <a:avLst/>
          </a:prstGeom>
          <a:noFill/>
          <a:ln/>
        </p:spPr>
        <p:txBody>
          <a:bodyPr wrap="square" lIns="0" tIns="0" rIns="0" bIns="0" rtlCol="0" anchor="t"/>
          <a:lstStyle/>
          <a:p>
            <a:pPr indent="0" marL="0">
              <a:buNone/>
            </a:pPr>
            <a:r>
              <a:rPr lang="id-ID" altLang="en-US" sz="1500" b="1" dirty="0">
                <a:solidFill>
                  <a:srgbClr val="0969DA"/>
                </a:solidFill>
              </a:rPr>
              <a:t>Penting</a:t>
            </a:r>
            <a:endParaRPr lang="id-ID" sz="1500" dirty="0"/>
          </a:p>
        </p:txBody>
      </p:sp>
      <p:sp>
        <p:nvSpPr>
          <p:cNvPr id="17" name="Text 13"/>
          <p:cNvSpPr txBox="1"/>
          <p:nvPr/>
        </p:nvSpPr>
        <p:spPr>
          <a:xfrm>
            <a:off x="1417320" y="5142128"/>
            <a:ext cx="9951415" cy="725932"/>
          </a:xfrm>
          <a:prstGeom prst="rect">
            <a:avLst/>
          </a:prstGeom>
          <a:noFill/>
          <a:ln/>
        </p:spPr>
        <p:txBody>
          <a:bodyPr wrap="square" lIns="0" tIns="0" rIns="0" bIns="0" rtlCol="0" anchor="t"/>
          <a:lstStyle/>
          <a:p>
            <a:pPr indent="0" marL="0">
              <a:buNone/>
            </a:pPr>
            <a:r>
              <a:rPr lang="id-ID" altLang="en-US" sz="1900" b="1" i="1" dirty="0">
                <a:solidFill>
                  <a:srgbClr val="1F2328"/>
                </a:solidFill>
              </a:rPr>
              <a:t>Tell, don’t ask</a:t>
            </a:r>
            <a:r>
              <a:rPr lang="id-ID" altLang="en-US" sz="1900" dirty="0">
                <a:solidFill>
                  <a:srgbClr val="1F2328"/>
                </a:solidFill>
              </a:rPr>
              <a:t>: </a:t>
            </a:r>
            <a:r>
              <a:rPr lang="id-ID" altLang="en-US" sz="1900" b="1" dirty="0">
                <a:solidFill>
                  <a:srgbClr val="1F2328"/>
                </a:solidFill>
              </a:rPr>
              <a:t>suruh</a:t>
            </a:r>
            <a:r>
              <a:rPr lang="id-ID" altLang="en-US" sz="1900" dirty="0">
                <a:solidFill>
                  <a:srgbClr val="1F2328"/>
                </a:solidFill>
              </a:rPr>
              <a:t> objek mengerjakan tugasnya, misalnya </a:t>
            </a:r>
            <a:r>
              <a:rPr lang="id-ID" altLang="en-US" sz="1900" dirty="0">
                <a:solidFill>
                  <a:srgbClr val="1F2328"/>
                </a:solidFill>
                <a:latin typeface="Consolas" pitchFamily="34" charset="0"/>
                <a:ea typeface="Consolas" pitchFamily="34" charset="-122"/>
                <a:cs typeface="Consolas" pitchFamily="34" charset="-120"/>
              </a:rPr>
              <a:t>kopi.kurangi_stok(2)</a:t>
            </a:r>
            <a:r>
              <a:rPr lang="id-ID" altLang="en-US" sz="1900" dirty="0">
                <a:solidFill>
                  <a:srgbClr val="1F2328"/>
                </a:solidFill>
              </a:rPr>
              <a:t>. Jangan tanya datanya lalu memutuskan sendiri di luar kelas.</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Menu dan pelanggan yang menjaga datanya sendiri.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Rancangan KedaiKita Pertemuan 04</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Tanda - berarti privat, + berarti publik, dan anggota yang digarisbawahi adalah milik kelas.">    </p:cNvPr>
          <p:cNvPicPr>
            <a:picLocks noChangeAspect="1"/>
          </p:cNvPicPr>
          <p:nvPr/>
        </p:nvPicPr>
        <p:blipFill>
          <a:blip r:embed="rId2"/>
          <a:stretch>
            <a:fillRect/>
          </a:stretch>
        </p:blipFill>
        <p:spPr>
          <a:xfrm>
            <a:off x="3019861" y="1417320"/>
            <a:ext cx="6151973" cy="4308602"/>
          </a:xfrm>
          <a:prstGeom prst="rect">
            <a:avLst/>
          </a:prstGeom>
        </p:spPr>
      </p:pic>
      <p:sp>
        <p:nvSpPr>
          <p:cNvPr id="8" name="Text 4"/>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Tanda </a:t>
            </a:r>
            <a:r>
              <a:rPr lang="id-ID" altLang="en-US" sz="1700" dirty="0">
                <a:solidFill>
                  <a:srgbClr val="57606A"/>
                </a:solidFill>
                <a:latin typeface="Consolas" pitchFamily="34" charset="0"/>
                <a:ea typeface="Consolas" pitchFamily="34" charset="-122"/>
                <a:cs typeface="Consolas" pitchFamily="34" charset="-120"/>
              </a:rPr>
              <a:t>-</a:t>
            </a:r>
            <a:r>
              <a:rPr lang="id-ID" altLang="en-US" sz="1700" dirty="0">
                <a:solidFill>
                  <a:srgbClr val="57606A"/>
                </a:solidFill>
              </a:rPr>
              <a:t> berarti privat, </a:t>
            </a:r>
            <a:r>
              <a:rPr lang="id-ID" altLang="en-US" sz="1700" dirty="0">
                <a:solidFill>
                  <a:srgbClr val="57606A"/>
                </a:solidFill>
                <a:latin typeface="Consolas" pitchFamily="34" charset="0"/>
                <a:ea typeface="Consolas" pitchFamily="34" charset="-122"/>
                <a:cs typeface="Consolas" pitchFamily="34" charset="-120"/>
              </a:rPr>
              <a:t>+</a:t>
            </a:r>
            <a:r>
              <a:rPr lang="id-ID" altLang="en-US" sz="1700" dirty="0">
                <a:solidFill>
                  <a:srgbClr val="57606A"/>
                </a:solidFill>
              </a:rPr>
              <a:t> berarti publik, dan anggota yang digarisbawahi adalah milik kelas.</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Aturan yang Kini Dijaga Kelas</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28161"/>
          <a:ext cx="11094415" cy="914400"/>
        </p:xfrm>
        <a:graphic>
          <a:graphicData uri="http://schemas.openxmlformats.org/drawingml/2006/table">
            <a:tbl>
              <a:tblPr/>
              <a:tblGrid>
                <a:gridCol w="3961538"/>
                <a:gridCol w="3204069"/>
                <a:gridCol w="3928808"/>
              </a:tblGrid>
              <a:tr h="477266">
                <a:tc>
                  <a:txBody>
                    <a:bodyPr/>
                    <a:lstStyle/>
                    <a:p>
                      <a:pPr indent="0" marL="0">
                        <a:buNone/>
                      </a:pPr>
                      <a:r>
                        <a:rPr lang="id-ID" altLang="en-US" sz="1900" b="1" dirty="0">
                          <a:solidFill>
                            <a:srgbClr val="FFFFFF"/>
                          </a:solidFill>
                          <a:latin typeface="Calibri" pitchFamily="34" charset="0"/>
                          <a:ea typeface="Calibri" pitchFamily="34" charset="-122"/>
                          <a:cs typeface="Calibri" pitchFamily="34" charset="-120"/>
                        </a:rPr>
                        <a:t>Aturan</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900" b="1" dirty="0">
                          <a:solidFill>
                            <a:srgbClr val="FFFFFF"/>
                          </a:solidFill>
                          <a:latin typeface="Calibri" pitchFamily="34" charset="0"/>
                          <a:ea typeface="Calibri" pitchFamily="34" charset="-122"/>
                          <a:cs typeface="Calibri" pitchFamily="34" charset="-120"/>
                        </a:rPr>
                        <a:t>Dijaga oleh</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900" b="1" dirty="0">
                          <a:solidFill>
                            <a:srgbClr val="FFFFFF"/>
                          </a:solidFill>
                          <a:latin typeface="Calibri" pitchFamily="34" charset="0"/>
                          <a:ea typeface="Calibri" pitchFamily="34" charset="-122"/>
                          <a:cs typeface="Calibri" pitchFamily="34" charset="-120"/>
                        </a:rPr>
                        <a:t>Jika dilanggar</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Harga harus lebih dari 0</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i="1" dirty="0">
                          <a:solidFill>
                            <a:srgbClr val="1F2328"/>
                          </a:solidFill>
                          <a:latin typeface="Calibri" pitchFamily="34" charset="0"/>
                          <a:ea typeface="Calibri" pitchFamily="34" charset="-122"/>
                          <a:cs typeface="Calibri" pitchFamily="34" charset="-120"/>
                        </a:rPr>
                        <a:t>Setter</a:t>
                      </a:r>
                      <a:r>
                        <a:rPr lang="id-ID" altLang="en-US" sz="1900" dirty="0">
                          <a:solidFill>
                            <a:srgbClr val="1F2328"/>
                          </a:solidFill>
                          <a:latin typeface="Calibri" pitchFamily="34" charset="0"/>
                          <a:ea typeface="Calibri" pitchFamily="34" charset="-122"/>
                          <a:cs typeface="Calibri" pitchFamily="34" charset="-120"/>
                        </a:rPr>
                        <a:t> harga (juga dipakai konstruktor)</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Ditolak: “Harga harus lebih dari 0”</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77266">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Stok awal tidak boleh negatif</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Konstruktor</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Ditolak: “Stok tidak boleh negatif”</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77266">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Penjualan tidak boleh melebihi stok</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0A3069"/>
                          </a:solidFill>
                          <a:latin typeface="Consolas" pitchFamily="34" charset="0"/>
                          <a:ea typeface="Consolas" pitchFamily="34" charset="-122"/>
                          <a:cs typeface="Consolas" pitchFamily="34" charset="-120"/>
                        </a:rPr>
                        <a:t>kurangi_stok</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Ditolak: “Stok ... tidak cukup (sisa ...)”</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Kode, nama, dan kategori tidak berubah</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Tidak ada </a:t>
                      </a:r>
                      <a:r>
                        <a:rPr lang="id-ID" altLang="en-US" sz="1900" i="1" dirty="0">
                          <a:solidFill>
                            <a:srgbClr val="1F2328"/>
                          </a:solidFill>
                          <a:latin typeface="Calibri" pitchFamily="34" charset="0"/>
                          <a:ea typeface="Calibri" pitchFamily="34" charset="-122"/>
                          <a:cs typeface="Calibri" pitchFamily="34" charset="-120"/>
                        </a:rPr>
                        <a:t>setter</a:t>
                      </a:r>
                      <a:r>
                        <a:rPr lang="id-ID" altLang="en-US" sz="1900" dirty="0">
                          <a:solidFill>
                            <a:srgbClr val="1F2328"/>
                          </a:solidFill>
                          <a:latin typeface="Calibri" pitchFamily="34" charset="0"/>
                          <a:ea typeface="Calibri" pitchFamily="34" charset="-122"/>
                          <a:cs typeface="Calibri" pitchFamily="34" charset="-120"/>
                        </a:rPr>
                        <a:t> (</a:t>
                      </a:r>
                      <a:r>
                        <a:rPr lang="id-ID" altLang="en-US" sz="1900" i="1" dirty="0">
                          <a:solidFill>
                            <a:srgbClr val="1F2328"/>
                          </a:solidFill>
                          <a:latin typeface="Calibri" pitchFamily="34" charset="0"/>
                          <a:ea typeface="Calibri" pitchFamily="34" charset="-122"/>
                          <a:cs typeface="Calibri" pitchFamily="34" charset="-120"/>
                        </a:rPr>
                        <a:t>read-⁠only</a:t>
                      </a:r>
                      <a:r>
                        <a:rPr lang="id-ID" altLang="en-US" sz="1900" dirty="0">
                          <a:solidFill>
                            <a:srgbClr val="1F2328"/>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Python: </a:t>
                      </a:r>
                      <a:r>
                        <a:rPr lang="id-ID" altLang="en-US" sz="1900" dirty="0">
                          <a:solidFill>
                            <a:srgbClr val="0A3069"/>
                          </a:solidFill>
                          <a:latin typeface="Consolas" pitchFamily="34" charset="0"/>
                          <a:ea typeface="Consolas" pitchFamily="34" charset="-122"/>
                          <a:cs typeface="Consolas" pitchFamily="34" charset="-120"/>
                        </a:rPr>
                        <a:t>AttributeError</a:t>
                      </a:r>
                      <a:r>
                        <a:rPr lang="id-ID" altLang="en-US" sz="1900" dirty="0">
                          <a:solidFill>
                            <a:srgbClr val="1F2328"/>
                          </a:solidFill>
                          <a:latin typeface="Calibri" pitchFamily="34" charset="0"/>
                          <a:ea typeface="Calibri" pitchFamily="34" charset="-122"/>
                          <a:cs typeface="Calibri" pitchFamily="34" charset="-120"/>
                        </a:rPr>
                        <a:t>; Java: </a:t>
                      </a:r>
                      <a:r>
                        <a:rPr lang="id-ID" altLang="en-US" sz="1900" i="1" dirty="0">
                          <a:solidFill>
                            <a:srgbClr val="1F2328"/>
                          </a:solidFill>
                          <a:latin typeface="Calibri" pitchFamily="34" charset="0"/>
                          <a:ea typeface="Calibri" pitchFamily="34" charset="-122"/>
                          <a:cs typeface="Calibri" pitchFamily="34" charset="-120"/>
                        </a:rPr>
                        <a:t>error</a:t>
                      </a:r>
                      <a:r>
                        <a:rPr lang="id-ID" altLang="en-US" sz="1900" dirty="0">
                          <a:solidFill>
                            <a:srgbClr val="1F2328"/>
                          </a:solidFill>
                          <a:latin typeface="Calibri" pitchFamily="34" charset="0"/>
                          <a:ea typeface="Calibri" pitchFamily="34" charset="-122"/>
                          <a:cs typeface="Calibri" pitchFamily="34" charset="-120"/>
                        </a:rPr>
                        <a:t> kompilasi</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Poin yang ditukar tidak boleh melebihi poin yang dimiliki</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0A3069"/>
                          </a:solidFill>
                          <a:latin typeface="Consolas" pitchFamily="34" charset="0"/>
                          <a:ea typeface="Consolas" pitchFamily="34" charset="-122"/>
                          <a:cs typeface="Consolas" pitchFamily="34" charset="-120"/>
                        </a:rPr>
                        <a:t>tukar_poin</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Ditolak: “Poin tidak cukup (sisa ...)”</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71652">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Penghitung hanya naik jika menu berhasil dibuat</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Konstruktor (langkah terakhir)</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900" dirty="0">
                          <a:solidFill>
                            <a:srgbClr val="1F2328"/>
                          </a:solidFill>
                          <a:latin typeface="Calibri" pitchFamily="34" charset="0"/>
                          <a:ea typeface="Calibri" pitchFamily="34" charset="-122"/>
                          <a:cs typeface="Calibri" pitchFamily="34" charset="-120"/>
                        </a:rPr>
                        <a:t>Menu yang gagal dibuat tidak terhitung</a:t>
                      </a:r>
                      <a:endParaRPr lang="en-US" sz="19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Stok Hanya Berubah lewat </a:t>
            </a:r>
            <a:r>
              <a:rPr lang="id-ID" altLang="en-US" sz="3200" b="1" i="1" dirty="0">
                <a:solidFill>
                  <a:srgbClr val="0A3069"/>
                </a:solidFill>
              </a:rPr>
              <a:t>Method</a:t>
            </a:r>
            <a:r>
              <a:rPr lang="id-ID" altLang="en-US" sz="3200" b="1" dirty="0">
                <a:solidFill>
                  <a:srgbClr val="0A3069"/>
                </a:solidFill>
              </a:rPr>
              <a:t> Resmi</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2007519"/>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Terjual 5, restok 10, lalu mencoba menjual 30 sekaligus. Objek kopi sendiri yang menolak.</a:t>
            </a:r>
            <a:endParaRPr lang="id-ID" sz="1800" dirty="0"/>
          </a:p>
        </p:txBody>
      </p:sp>
      <p:sp>
        <p:nvSpPr>
          <p:cNvPr id="8" name="Shape 5"/>
          <p:cNvSpPr/>
          <p:nvPr/>
        </p:nvSpPr>
        <p:spPr>
          <a:xfrm>
            <a:off x="548640" y="2441859"/>
            <a:ext cx="1051560" cy="329184"/>
          </a:xfrm>
          <a:prstGeom prst="roundRect">
            <a:avLst>
              <a:gd name="adj" fmla="val 138889"/>
            </a:avLst>
          </a:prstGeom>
          <a:solidFill>
            <a:srgbClr val="3572A5"/>
          </a:solidFill>
          <a:ln/>
        </p:spPr>
      </p:sp>
      <p:sp>
        <p:nvSpPr>
          <p:cNvPr id="9" name="Text 6"/>
          <p:cNvSpPr txBox="1"/>
          <p:nvPr/>
        </p:nvSpPr>
        <p:spPr>
          <a:xfrm>
            <a:off x="548640" y="244185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44185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python/studi-kasus/kedaikita.py</a:t>
            </a:r>
            <a:endParaRPr lang="id-ID" sz="1100" dirty="0"/>
          </a:p>
        </p:txBody>
      </p:sp>
      <p:sp>
        <p:nvSpPr>
          <p:cNvPr id="11" name="Shape 8"/>
          <p:cNvSpPr/>
          <p:nvPr/>
        </p:nvSpPr>
        <p:spPr>
          <a:xfrm>
            <a:off x="548640" y="2862483"/>
            <a:ext cx="5432908" cy="1739646"/>
          </a:xfrm>
          <a:prstGeom prst="roundRect">
            <a:avLst>
              <a:gd name="adj" fmla="val 2763"/>
            </a:avLst>
          </a:prstGeom>
          <a:solidFill>
            <a:srgbClr val="F6F8FA"/>
          </a:solidFill>
          <a:ln w="9525">
            <a:solidFill>
              <a:srgbClr val="D0D7DE"/>
            </a:solidFill>
            <a:prstDash val="solid"/>
          </a:ln>
        </p:spPr>
      </p:sp>
      <p:sp>
        <p:nvSpPr>
          <p:cNvPr id="12" name="Text 9"/>
          <p:cNvSpPr txBox="1"/>
          <p:nvPr/>
        </p:nvSpPr>
        <p:spPr>
          <a:xfrm>
            <a:off x="658368" y="2953923"/>
            <a:ext cx="5213452" cy="1556766"/>
          </a:xfrm>
          <a:prstGeom prst="rect">
            <a:avLst/>
          </a:prstGeom>
          <a:noFill/>
          <a:ln/>
        </p:spPr>
        <p:txBody>
          <a:bodyPr wrap="square" lIns="0" tIns="0" rIns="0" bIns="0" rtlCol="0" anchor="t"/>
          <a:lstStyle/>
          <a:p>
            <a:pPr indent="0" marL="0">
              <a:buNone/>
            </a:pPr>
            <a:r>
              <a:rPr lang="en-US" altLang="en-US" sz="1100" dirty="0">
                <a:solidFill>
                  <a:srgbClr val="1F2328"/>
                </a:solidFill>
                <a:latin typeface="Consolas" pitchFamily="34" charset="0"/>
                <a:ea typeface="Consolas" pitchFamily="34" charset="-122"/>
                <a:cs typeface="Consolas" pitchFamily="34" charset="-120"/>
              </a:rPr>
              <a:t>kopi.kurangi_stok(</a:t>
            </a:r>
            <a:r>
              <a:rPr lang="en-US" altLang="en-US" sz="1100" dirty="0">
                <a:solidFill>
                  <a:srgbClr val="0550AE"/>
                </a:solidFill>
                <a:latin typeface="Consolas" pitchFamily="34" charset="0"/>
                <a:ea typeface="Consolas" pitchFamily="34" charset="-122"/>
                <a:cs typeface="Consolas" pitchFamily="34" charset="-120"/>
              </a:rPr>
              <a:t>5</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kopi.tambah_stok(</a:t>
            </a:r>
            <a:r>
              <a:rPr lang="en-US" altLang="en-US" sz="1100" dirty="0">
                <a:solidFill>
                  <a:srgbClr val="0550AE"/>
                </a:solidFill>
                <a:latin typeface="Consolas" pitchFamily="34" charset="0"/>
                <a:ea typeface="Consolas" pitchFamily="34" charset="-122"/>
                <a:cs typeface="Consolas" pitchFamily="34" charset="-120"/>
              </a:rPr>
              <a:t>10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try</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kopi.kurangi_stok(</a:t>
            </a:r>
            <a:r>
              <a:rPr lang="en-US" altLang="en-US" sz="1100" dirty="0">
                <a:solidFill>
                  <a:srgbClr val="0550AE"/>
                </a:solidFill>
                <a:latin typeface="Consolas" pitchFamily="34" charset="0"/>
                <a:ea typeface="Consolas" pitchFamily="34" charset="-122"/>
                <a:cs typeface="Consolas" pitchFamily="34" charset="-120"/>
              </a:rPr>
              <a:t>30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except</a:t>
            </a:r>
            <a:r>
              <a:rPr lang="en-US" altLang="en-US" sz="1100" dirty="0">
                <a:solidFill>
                  <a:srgbClr val="1F2328"/>
                </a:solidFill>
                <a:latin typeface="Consolas" pitchFamily="34" charset="0"/>
                <a:ea typeface="Consolas" pitchFamily="34" charset="-122"/>
                <a:cs typeface="Consolas" pitchFamily="34" charset="-120"/>
              </a:rPr>
              <a:t> ValueError </a:t>
            </a:r>
            <a:r>
              <a:rPr lang="en-US" altLang="en-US" sz="1100" dirty="0">
                <a:solidFill>
                  <a:srgbClr val="CF222E"/>
                </a:solidFill>
                <a:latin typeface="Consolas" pitchFamily="34" charset="0"/>
                <a:ea typeface="Consolas" pitchFamily="34" charset="-122"/>
                <a:cs typeface="Consolas" pitchFamily="34" charset="-120"/>
              </a:rPr>
              <a:t>as</a:t>
            </a:r>
            <a:r>
              <a:rPr lang="en-US" altLang="en-US" sz="1100" dirty="0">
                <a:solidFill>
                  <a:srgbClr val="1F2328"/>
                </a:solidFill>
                <a:latin typeface="Consolas" pitchFamily="34" charset="0"/>
                <a:ea typeface="Consolas" pitchFamily="34" charset="-122"/>
                <a:cs typeface="Consolas" pitchFamily="34" charset="-120"/>
              </a:rPr>
              <a:t> 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f"Gagal menjual: {</a:t>
            </a:r>
            <a:r>
              <a:rPr lang="en-US" altLang="en-US" sz="1100" dirty="0">
                <a:solidFill>
                  <a:srgbClr val="1F2328"/>
                </a:solidFill>
                <a:latin typeface="Consolas" pitchFamily="34" charset="0"/>
                <a:ea typeface="Consolas" pitchFamily="34" charset="-122"/>
                <a:cs typeface="Consolas" pitchFamily="34" charset="-120"/>
              </a:rPr>
              <a:t>e</a:t>
            </a:r>
            <a:r>
              <a:rPr lang="en-US" altLang="en-US" sz="1100" dirty="0">
                <a:solidFill>
                  <a:srgbClr val="0A3069"/>
                </a:solidFill>
                <a:latin typeface="Consolas" pitchFamily="34" charset="0"/>
                <a:ea typeface="Consolas" pitchFamily="34" charset="-122"/>
                <a:cs typeface="Consolas" pitchFamily="34" charset="-120"/>
              </a:rPr>
              <a: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3" name="Shape 10"/>
          <p:cNvSpPr/>
          <p:nvPr/>
        </p:nvSpPr>
        <p:spPr>
          <a:xfrm>
            <a:off x="6210148" y="2441859"/>
            <a:ext cx="1051560" cy="329184"/>
          </a:xfrm>
          <a:prstGeom prst="roundRect">
            <a:avLst>
              <a:gd name="adj" fmla="val 138889"/>
            </a:avLst>
          </a:prstGeom>
          <a:solidFill>
            <a:srgbClr val="B07219"/>
          </a:solidFill>
          <a:ln/>
        </p:spPr>
      </p:sp>
      <p:sp>
        <p:nvSpPr>
          <p:cNvPr id="14" name="Text 11"/>
          <p:cNvSpPr txBox="1"/>
          <p:nvPr/>
        </p:nvSpPr>
        <p:spPr>
          <a:xfrm>
            <a:off x="6210148" y="244185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44185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java/studi-kasus/KedaiKita.java</a:t>
            </a:r>
            <a:endParaRPr lang="id-ID" sz="1100" dirty="0"/>
          </a:p>
        </p:txBody>
      </p:sp>
      <p:sp>
        <p:nvSpPr>
          <p:cNvPr id="16" name="Shape 13"/>
          <p:cNvSpPr/>
          <p:nvPr/>
        </p:nvSpPr>
        <p:spPr>
          <a:xfrm>
            <a:off x="6210148" y="2862483"/>
            <a:ext cx="5432908" cy="1739646"/>
          </a:xfrm>
          <a:prstGeom prst="roundRect">
            <a:avLst>
              <a:gd name="adj" fmla="val 2763"/>
            </a:avLst>
          </a:prstGeom>
          <a:solidFill>
            <a:srgbClr val="F6F8FA"/>
          </a:solidFill>
          <a:ln w="9525">
            <a:solidFill>
              <a:srgbClr val="D0D7DE"/>
            </a:solidFill>
            <a:prstDash val="solid"/>
          </a:ln>
        </p:spPr>
      </p:sp>
      <p:sp>
        <p:nvSpPr>
          <p:cNvPr id="17" name="Text 14"/>
          <p:cNvSpPr txBox="1"/>
          <p:nvPr/>
        </p:nvSpPr>
        <p:spPr>
          <a:xfrm>
            <a:off x="6319876" y="2953923"/>
            <a:ext cx="5213452" cy="1556766"/>
          </a:xfrm>
          <a:prstGeom prst="rect">
            <a:avLst/>
          </a:prstGeom>
          <a:noFill/>
          <a:ln/>
        </p:spPr>
        <p:txBody>
          <a:bodyPr wrap="square" lIns="0" tIns="0" rIns="0" bIns="0" rtlCol="0" anchor="t"/>
          <a:lstStyle/>
          <a:p>
            <a:pPr indent="0" marL="0">
              <a:buNone/>
            </a:pPr>
            <a:r>
              <a:rPr lang="en-US" altLang="en-US" sz="1100" dirty="0">
                <a:solidFill>
                  <a:srgbClr val="1F2328"/>
                </a:solidFill>
                <a:latin typeface="Consolas" pitchFamily="34" charset="0"/>
                <a:ea typeface="Consolas" pitchFamily="34" charset="-122"/>
                <a:cs typeface="Consolas" pitchFamily="34" charset="-120"/>
              </a:rPr>
              <a:t>kopi.kurangiStok(</a:t>
            </a:r>
            <a:r>
              <a:rPr lang="en-US" altLang="en-US" sz="1100" dirty="0">
                <a:solidFill>
                  <a:srgbClr val="0550AE"/>
                </a:solidFill>
                <a:latin typeface="Consolas" pitchFamily="34" charset="0"/>
                <a:ea typeface="Consolas" pitchFamily="34" charset="-122"/>
                <a:cs typeface="Consolas" pitchFamily="34" charset="-120"/>
              </a:rPr>
              <a:t>5</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kopi.tambahStok(</a:t>
            </a:r>
            <a:r>
              <a:rPr lang="en-US" altLang="en-US" sz="1100" dirty="0">
                <a:solidFill>
                  <a:srgbClr val="0550AE"/>
                </a:solidFill>
                <a:latin typeface="Consolas" pitchFamily="34" charset="0"/>
                <a:ea typeface="Consolas" pitchFamily="34" charset="-122"/>
                <a:cs typeface="Consolas" pitchFamily="34" charset="-120"/>
              </a:rPr>
              <a:t>10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try</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kopi.kurangiStok(</a:t>
            </a:r>
            <a:r>
              <a:rPr lang="en-US" altLang="en-US" sz="1100" dirty="0">
                <a:solidFill>
                  <a:srgbClr val="0550AE"/>
                </a:solidFill>
                <a:latin typeface="Consolas" pitchFamily="34" charset="0"/>
                <a:ea typeface="Consolas" pitchFamily="34" charset="-122"/>
                <a:cs typeface="Consolas" pitchFamily="34" charset="-120"/>
              </a:rPr>
              <a:t>30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catch</a:t>
            </a:r>
            <a:r>
              <a:rPr lang="en-US" altLang="en-US" sz="1100" dirty="0">
                <a:solidFill>
                  <a:srgbClr val="1F2328"/>
                </a:solidFill>
                <a:latin typeface="Consolas" pitchFamily="34" charset="0"/>
                <a:ea typeface="Consolas" pitchFamily="34" charset="-122"/>
                <a:cs typeface="Consolas" pitchFamily="34" charset="-120"/>
              </a:rPr>
              <a:t> (IllegalArgumentException e)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System.out.println(</a:t>
            </a:r>
            <a:r>
              <a:rPr lang="en-US" altLang="en-US" sz="1100" dirty="0">
                <a:solidFill>
                  <a:srgbClr val="0A3069"/>
                </a:solidFill>
                <a:latin typeface="Consolas" pitchFamily="34" charset="0"/>
                <a:ea typeface="Consolas" pitchFamily="34" charset="-122"/>
                <a:cs typeface="Consolas" pitchFamily="34" charset="-120"/>
              </a:rPr>
              <a:t>"Gagal menjual: "</a:t>
            </a:r>
            <a:r>
              <a:rPr lang="en-US" altLang="en-US" sz="1100" dirty="0">
                <a:solidFill>
                  <a:srgbClr val="1F2328"/>
                </a:solidFill>
                <a:latin typeface="Consolas" pitchFamily="34" charset="0"/>
                <a:ea typeface="Consolas" pitchFamily="34" charset="-122"/>
                <a:cs typeface="Consolas" pitchFamily="34" charset="-120"/>
              </a:rPr>
              <a:t> + e.getMessage());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8" name="Shape 15"/>
          <p:cNvSpPr/>
          <p:nvPr/>
        </p:nvSpPr>
        <p:spPr>
          <a:xfrm>
            <a:off x="548640" y="4830729"/>
            <a:ext cx="11094415" cy="490728"/>
          </a:xfrm>
          <a:prstGeom prst="roundRect">
            <a:avLst>
              <a:gd name="adj" fmla="val 34721"/>
            </a:avLst>
          </a:prstGeom>
          <a:solidFill>
            <a:srgbClr val="0D1117"/>
          </a:solidFill>
          <a:ln/>
        </p:spPr>
      </p:sp>
      <p:sp>
        <p:nvSpPr>
          <p:cNvPr id="19" name="Shape 16"/>
          <p:cNvSpPr/>
          <p:nvPr/>
        </p:nvSpPr>
        <p:spPr>
          <a:xfrm>
            <a:off x="713232" y="4958745"/>
            <a:ext cx="960120" cy="292608"/>
          </a:xfrm>
          <a:prstGeom prst="roundRect">
            <a:avLst>
              <a:gd name="adj" fmla="val 156250"/>
            </a:avLst>
          </a:prstGeom>
          <a:solidFill>
            <a:srgbClr val="30363D"/>
          </a:solidFill>
          <a:ln/>
        </p:spPr>
      </p:sp>
      <p:sp>
        <p:nvSpPr>
          <p:cNvPr id="20" name="Text 17"/>
          <p:cNvSpPr txBox="1"/>
          <p:nvPr/>
        </p:nvSpPr>
        <p:spPr>
          <a:xfrm>
            <a:off x="713232" y="4958745"/>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21" name="Text 18"/>
          <p:cNvSpPr txBox="1"/>
          <p:nvPr/>
        </p:nvSpPr>
        <p:spPr>
          <a:xfrm>
            <a:off x="1828800" y="4958745"/>
            <a:ext cx="9631375" cy="271272"/>
          </a:xfrm>
          <a:prstGeom prst="rect">
            <a:avLst/>
          </a:prstGeom>
          <a:noFill/>
          <a:ln/>
        </p:spPr>
        <p:txBody>
          <a:bodyPr wrap="square" lIns="0" tIns="0" rIns="0" bIns="0" rtlCol="0" anchor="t"/>
          <a:lstStyle/>
          <a:p>
            <a:pPr indent="0" marL="0">
              <a:buNone/>
            </a:pPr>
            <a:r>
              <a:rPr lang="en-US" altLang="en-US" sz="1200" dirty="0">
                <a:solidFill>
                  <a:srgbClr val="E6EDF3"/>
                </a:solidFill>
                <a:latin typeface="Consolas" pitchFamily="34" charset="0"/>
                <a:ea typeface="Consolas" pitchFamily="34" charset="-122"/>
                <a:cs typeface="Consolas" pitchFamily="34" charset="-120"/>
              </a:rPr>
              <a:t>Gagal menjual: Stok Kopi Susu Gula Aren tidak cukup (sisa 25)</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530614"/>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603035"/>
            <a:ext cx="184343" cy="184343"/>
          </a:xfrm>
          <a:prstGeom prst="rect">
            <a:avLst/>
          </a:prstGeom>
        </p:spPr>
      </p:pic>
      <p:sp>
        <p:nvSpPr>
          <p:cNvPr id="7" name="Text 3"/>
          <p:cNvSpPr txBox="1"/>
          <p:nvPr/>
        </p:nvSpPr>
        <p:spPr>
          <a:xfrm>
            <a:off x="987552" y="1530614"/>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530614"/>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603035"/>
            <a:ext cx="184343" cy="184343"/>
          </a:xfrm>
          <a:prstGeom prst="rect">
            <a:avLst/>
          </a:prstGeom>
        </p:spPr>
      </p:pic>
      <p:sp>
        <p:nvSpPr>
          <p:cNvPr id="10" name="Text 5"/>
          <p:cNvSpPr txBox="1"/>
          <p:nvPr/>
        </p:nvSpPr>
        <p:spPr>
          <a:xfrm>
            <a:off x="5605272" y="1530614"/>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2033534"/>
            <a:ext cx="4343400" cy="1202436"/>
          </a:xfrm>
          <a:prstGeom prst="roundRect">
            <a:avLst>
              <a:gd name="adj" fmla="val 6940"/>
            </a:avLst>
          </a:prstGeom>
          <a:solidFill>
            <a:srgbClr val="FFEBE9"/>
          </a:solidFill>
          <a:ln w="9525">
            <a:solidFill>
              <a:srgbClr val="FF8182"/>
            </a:solidFill>
            <a:prstDash val="solid"/>
          </a:ln>
        </p:spPr>
      </p:sp>
      <p:sp>
        <p:nvSpPr>
          <p:cNvPr id="12" name="Text 7"/>
          <p:cNvSpPr txBox="1"/>
          <p:nvPr/>
        </p:nvSpPr>
        <p:spPr>
          <a:xfrm>
            <a:off x="777240" y="2216414"/>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“Enkapsulasi artinya semua atribut dibuat privat, lalu semuanya diberi </a:t>
            </a:r>
            <a:r>
              <a:rPr lang="id-ID" altLang="en-US" sz="1800" i="1" dirty="0">
                <a:solidFill>
                  <a:srgbClr val="1F2328"/>
                </a:solidFill>
              </a:rPr>
              <a:t>getter</a:t>
            </a:r>
            <a:r>
              <a:rPr lang="id-ID" altLang="en-US" sz="1800" dirty="0">
                <a:solidFill>
                  <a:srgbClr val="1F2328"/>
                </a:solidFill>
              </a:rPr>
              <a:t> dan </a:t>
            </a:r>
            <a:r>
              <a:rPr lang="id-ID" altLang="en-US" sz="1800" i="1" dirty="0">
                <a:solidFill>
                  <a:srgbClr val="1F2328"/>
                </a:solidFill>
              </a:rPr>
              <a:t>setter</a:t>
            </a:r>
            <a:r>
              <a:rPr lang="id-ID" altLang="en-US" sz="1800" dirty="0">
                <a:solidFill>
                  <a:srgbClr val="1F2328"/>
                </a:solidFill>
              </a:rPr>
              <a:t>.”</a:t>
            </a:r>
            <a:endParaRPr lang="id-ID" sz="1800" dirty="0"/>
          </a:p>
        </p:txBody>
      </p:sp>
      <p:sp>
        <p:nvSpPr>
          <p:cNvPr id="13" name="Shape 8"/>
          <p:cNvSpPr/>
          <p:nvPr/>
        </p:nvSpPr>
        <p:spPr>
          <a:xfrm>
            <a:off x="5166360" y="2033534"/>
            <a:ext cx="6476695" cy="1202436"/>
          </a:xfrm>
          <a:prstGeom prst="roundRect">
            <a:avLst>
              <a:gd name="adj" fmla="val 6940"/>
            </a:avLst>
          </a:prstGeom>
          <a:solidFill>
            <a:srgbClr val="DAFBE1"/>
          </a:solidFill>
          <a:ln w="9525">
            <a:solidFill>
              <a:srgbClr val="4AC26B"/>
            </a:solidFill>
            <a:prstDash val="solid"/>
          </a:ln>
        </p:spPr>
      </p:sp>
      <p:sp>
        <p:nvSpPr>
          <p:cNvPr id="14" name="Text 9"/>
          <p:cNvSpPr txBox="1"/>
          <p:nvPr/>
        </p:nvSpPr>
        <p:spPr>
          <a:xfrm>
            <a:off x="5394960" y="2216414"/>
            <a:ext cx="6019495" cy="928116"/>
          </a:xfrm>
          <a:prstGeom prst="rect">
            <a:avLst/>
          </a:prstGeom>
          <a:noFill/>
          <a:ln/>
        </p:spPr>
        <p:txBody>
          <a:bodyPr wrap="square" lIns="0" tIns="0" rIns="0" bIns="0" rtlCol="0" anchor="t"/>
          <a:lstStyle/>
          <a:p>
            <a:pPr indent="0" marL="0">
              <a:buNone/>
            </a:pPr>
            <a:r>
              <a:rPr lang="id-ID" altLang="en-US" sz="1800" i="1" dirty="0">
                <a:solidFill>
                  <a:srgbClr val="1F2328"/>
                </a:solidFill>
              </a:rPr>
              <a:t>Setter</a:t>
            </a:r>
            <a:r>
              <a:rPr lang="id-ID" altLang="en-US" sz="1800" dirty="0">
                <a:solidFill>
                  <a:srgbClr val="1F2328"/>
                </a:solidFill>
              </a:rPr>
              <a:t> yang menerima nilai apa saja sama saja dengan atribut publik. Beri </a:t>
            </a:r>
            <a:r>
              <a:rPr lang="id-ID" altLang="en-US" sz="1800" i="1" dirty="0">
                <a:solidFill>
                  <a:srgbClr val="1F2328"/>
                </a:solidFill>
              </a:rPr>
              <a:t>getter</a:t>
            </a:r>
            <a:r>
              <a:rPr lang="id-ID" altLang="en-US" sz="1800" dirty="0">
                <a:solidFill>
                  <a:srgbClr val="1F2328"/>
                </a:solidFill>
              </a:rPr>
              <a:t>/</a:t>
            </a:r>
            <a:r>
              <a:rPr lang="id-ID" altLang="en-US" sz="1800" i="1" dirty="0">
                <a:solidFill>
                  <a:srgbClr val="1F2328"/>
                </a:solidFill>
              </a:rPr>
              <a:t>setter</a:t>
            </a:r>
            <a:r>
              <a:rPr lang="id-ID" altLang="en-US" sz="1800" dirty="0">
                <a:solidFill>
                  <a:srgbClr val="1F2328"/>
                </a:solidFill>
              </a:rPr>
              <a:t> hanya jika perlu dan pakai </a:t>
            </a:r>
            <a:r>
              <a:rPr lang="id-ID" altLang="en-US" sz="1800" i="1" dirty="0">
                <a:solidFill>
                  <a:srgbClr val="1F2328"/>
                </a:solidFill>
              </a:rPr>
              <a:t>method</a:t>
            </a:r>
            <a:r>
              <a:rPr lang="id-ID" altLang="en-US" sz="1800" dirty="0">
                <a:solidFill>
                  <a:srgbClr val="1F2328"/>
                </a:solidFill>
              </a:rPr>
              <a:t> penjaga aturan untuk perubahan bermakna.</a:t>
            </a:r>
            <a:endParaRPr lang="id-ID" sz="1800" dirty="0"/>
          </a:p>
        </p:txBody>
      </p:sp>
      <p:sp>
        <p:nvSpPr>
          <p:cNvPr id="15" name="Shape 10"/>
          <p:cNvSpPr/>
          <p:nvPr/>
        </p:nvSpPr>
        <p:spPr>
          <a:xfrm>
            <a:off x="548640" y="3437138"/>
            <a:ext cx="4343400" cy="1202436"/>
          </a:xfrm>
          <a:prstGeom prst="roundRect">
            <a:avLst>
              <a:gd name="adj" fmla="val 6940"/>
            </a:avLst>
          </a:prstGeom>
          <a:solidFill>
            <a:srgbClr val="FFEBE9"/>
          </a:solidFill>
          <a:ln w="9525">
            <a:solidFill>
              <a:srgbClr val="FF8182"/>
            </a:solidFill>
            <a:prstDash val="solid"/>
          </a:ln>
        </p:spPr>
      </p:sp>
      <p:sp>
        <p:nvSpPr>
          <p:cNvPr id="16" name="Text 11"/>
          <p:cNvSpPr txBox="1"/>
          <p:nvPr/>
        </p:nvSpPr>
        <p:spPr>
          <a:xfrm>
            <a:off x="777240" y="3620018"/>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“Atribut privat membuat data aman dari peretas.”</a:t>
            </a:r>
            <a:endParaRPr lang="id-ID" sz="1800" dirty="0"/>
          </a:p>
        </p:txBody>
      </p:sp>
      <p:sp>
        <p:nvSpPr>
          <p:cNvPr id="17" name="Shape 12"/>
          <p:cNvSpPr/>
          <p:nvPr/>
        </p:nvSpPr>
        <p:spPr>
          <a:xfrm>
            <a:off x="5166360" y="3437138"/>
            <a:ext cx="6476695" cy="1202436"/>
          </a:xfrm>
          <a:prstGeom prst="roundRect">
            <a:avLst>
              <a:gd name="adj" fmla="val 6940"/>
            </a:avLst>
          </a:prstGeom>
          <a:solidFill>
            <a:srgbClr val="DAFBE1"/>
          </a:solidFill>
          <a:ln w="9525">
            <a:solidFill>
              <a:srgbClr val="4AC26B"/>
            </a:solidFill>
            <a:prstDash val="solid"/>
          </a:ln>
        </p:spPr>
      </p:sp>
      <p:sp>
        <p:nvSpPr>
          <p:cNvPr id="18" name="Text 13"/>
          <p:cNvSpPr txBox="1"/>
          <p:nvPr/>
        </p:nvSpPr>
        <p:spPr>
          <a:xfrm>
            <a:off x="5394960" y="3620018"/>
            <a:ext cx="6019495" cy="928116"/>
          </a:xfrm>
          <a:prstGeom prst="rect">
            <a:avLst/>
          </a:prstGeom>
          <a:noFill/>
          <a:ln/>
        </p:spPr>
        <p:txBody>
          <a:bodyPr wrap="square" lIns="0" tIns="0" rIns="0" bIns="0" rtlCol="0" anchor="t"/>
          <a:lstStyle/>
          <a:p>
            <a:pPr indent="0" marL="0">
              <a:buNone/>
            </a:pPr>
            <a:r>
              <a:rPr lang="id-ID" altLang="en-US" sz="1800" i="1" dirty="0">
                <a:solidFill>
                  <a:srgbClr val="1F2328"/>
                </a:solidFill>
              </a:rPr>
              <a:t>Access modifier</a:t>
            </a:r>
            <a:r>
              <a:rPr lang="id-ID" altLang="en-US" sz="1800" dirty="0">
                <a:solidFill>
                  <a:srgbClr val="1F2328"/>
                </a:solidFill>
              </a:rPr>
              <a:t> mencegah kesalahan pemakaian di dalam program, bukan serangan dari luar. Di Python, garis bawah hanyalah kesepakatan; </a:t>
            </a:r>
            <a:r>
              <a:rPr lang="id-ID" altLang="en-US" sz="1800" i="1" dirty="0">
                <a:solidFill>
                  <a:srgbClr val="1F2328"/>
                </a:solidFill>
              </a:rPr>
              <a:t>name mangling</a:t>
            </a:r>
            <a:r>
              <a:rPr lang="id-ID" altLang="en-US" sz="1800" dirty="0">
                <a:solidFill>
                  <a:srgbClr val="1F2328"/>
                </a:solidFill>
              </a:rPr>
              <a:t> hanya mengganti nama.</a:t>
            </a:r>
            <a:endParaRPr lang="id-ID" sz="1800" dirty="0"/>
          </a:p>
        </p:txBody>
      </p:sp>
      <p:sp>
        <p:nvSpPr>
          <p:cNvPr id="19" name="Shape 14"/>
          <p:cNvSpPr/>
          <p:nvPr/>
        </p:nvSpPr>
        <p:spPr>
          <a:xfrm>
            <a:off x="548640" y="4840742"/>
            <a:ext cx="4343400" cy="1202436"/>
          </a:xfrm>
          <a:prstGeom prst="roundRect">
            <a:avLst>
              <a:gd name="adj" fmla="val 6940"/>
            </a:avLst>
          </a:prstGeom>
          <a:solidFill>
            <a:srgbClr val="FFEBE9"/>
          </a:solidFill>
          <a:ln w="9525">
            <a:solidFill>
              <a:srgbClr val="FF8182"/>
            </a:solidFill>
            <a:prstDash val="solid"/>
          </a:ln>
        </p:spPr>
      </p:sp>
      <p:sp>
        <p:nvSpPr>
          <p:cNvPr id="20" name="Text 15"/>
          <p:cNvSpPr txBox="1"/>
          <p:nvPr/>
        </p:nvSpPr>
        <p:spPr>
          <a:xfrm>
            <a:off x="777240" y="5023622"/>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a:t>
            </a:r>
            <a:r>
              <a:rPr lang="id-ID" altLang="en-US" sz="1800" i="1" dirty="0">
                <a:solidFill>
                  <a:srgbClr val="1F2328"/>
                </a:solidFill>
              </a:rPr>
              <a:t>Getter</a:t>
            </a:r>
            <a:r>
              <a:rPr lang="id-ID" altLang="en-US" sz="1800" dirty="0">
                <a:solidFill>
                  <a:srgbClr val="1F2328"/>
                </a:solidFill>
              </a:rPr>
              <a:t> harus mengembalikan atribut apa adanya.”</a:t>
            </a:r>
            <a:endParaRPr lang="id-ID" sz="1800" dirty="0"/>
          </a:p>
        </p:txBody>
      </p:sp>
      <p:sp>
        <p:nvSpPr>
          <p:cNvPr id="21" name="Shape 16"/>
          <p:cNvSpPr/>
          <p:nvPr/>
        </p:nvSpPr>
        <p:spPr>
          <a:xfrm>
            <a:off x="5166360" y="4840742"/>
            <a:ext cx="6476695" cy="1202436"/>
          </a:xfrm>
          <a:prstGeom prst="roundRect">
            <a:avLst>
              <a:gd name="adj" fmla="val 6940"/>
            </a:avLst>
          </a:prstGeom>
          <a:solidFill>
            <a:srgbClr val="DAFBE1"/>
          </a:solidFill>
          <a:ln w="9525">
            <a:solidFill>
              <a:srgbClr val="4AC26B"/>
            </a:solidFill>
            <a:prstDash val="solid"/>
          </a:ln>
        </p:spPr>
      </p:sp>
      <p:sp>
        <p:nvSpPr>
          <p:cNvPr id="22" name="Text 17"/>
          <p:cNvSpPr txBox="1"/>
          <p:nvPr/>
        </p:nvSpPr>
        <p:spPr>
          <a:xfrm>
            <a:off x="5394960" y="5023622"/>
            <a:ext cx="6019495" cy="928116"/>
          </a:xfrm>
          <a:prstGeom prst="rect">
            <a:avLst/>
          </a:prstGeom>
          <a:noFill/>
          <a:ln/>
        </p:spPr>
        <p:txBody>
          <a:bodyPr wrap="square" lIns="0" tIns="0" rIns="0" bIns="0" rtlCol="0" anchor="t"/>
          <a:lstStyle/>
          <a:p>
            <a:pPr indent="0" marL="0">
              <a:buNone/>
            </a:pPr>
            <a:r>
              <a:rPr lang="id-ID" altLang="en-US" sz="1800" i="1" dirty="0">
                <a:solidFill>
                  <a:srgbClr val="1F2328"/>
                </a:solidFill>
              </a:rPr>
              <a:t>Getter</a:t>
            </a:r>
            <a:r>
              <a:rPr lang="id-ID" altLang="en-US" sz="1800" dirty="0">
                <a:solidFill>
                  <a:srgbClr val="1F2328"/>
                </a:solidFill>
              </a:rPr>
              <a:t> boleh menghitung (sisa tempat parkir) atau merapikan tampilan (nomor antrean </a:t>
            </a:r>
            <a:r>
              <a:rPr lang="id-ID" altLang="en-US" sz="1800" dirty="0">
                <a:solidFill>
                  <a:srgbClr val="1F2328"/>
                </a:solidFill>
                <a:latin typeface="Consolas" pitchFamily="34" charset="0"/>
                <a:ea typeface="Consolas" pitchFamily="34" charset="-122"/>
                <a:cs typeface="Consolas" pitchFamily="34" charset="-120"/>
              </a:rPr>
              <a:t>A007</a:t>
            </a:r>
            <a:r>
              <a:rPr lang="id-ID" altLang="en-US" sz="1800" dirty="0">
                <a:solidFill>
                  <a:srgbClr val="1F2328"/>
                </a:solidFill>
              </a:rPr>
              <a:t>). Yang penting, pemakai mendapat informasi yang benar.</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687775"/>
            <a:ext cx="11094415" cy="2192528"/>
          </a:xfrm>
          <a:prstGeom prst="roundRect">
            <a:avLst>
              <a:gd name="adj" fmla="val 2087"/>
            </a:avLst>
          </a:prstGeom>
          <a:solidFill>
            <a:srgbClr val="FBEFFF"/>
          </a:solidFill>
          <a:ln w="9525">
            <a:solidFill>
              <a:srgbClr val="C297FF"/>
            </a:solidFill>
            <a:prstDash val="solid"/>
          </a:ln>
        </p:spPr>
      </p:sp>
      <p:sp>
        <p:nvSpPr>
          <p:cNvPr id="6" name="Shape 3"/>
          <p:cNvSpPr/>
          <p:nvPr/>
        </p:nvSpPr>
        <p:spPr>
          <a:xfrm>
            <a:off x="777240" y="2555439"/>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56023"/>
            <a:ext cx="256032" cy="256032"/>
          </a:xfrm>
          <a:prstGeom prst="rect">
            <a:avLst/>
          </a:prstGeom>
        </p:spPr>
      </p:pic>
      <p:sp>
        <p:nvSpPr>
          <p:cNvPr id="8" name="Text 4"/>
          <p:cNvSpPr txBox="1"/>
          <p:nvPr/>
        </p:nvSpPr>
        <p:spPr>
          <a:xfrm>
            <a:off x="1417320" y="1916375"/>
            <a:ext cx="9951415" cy="1918208"/>
          </a:xfrm>
          <a:prstGeom prst="rect">
            <a:avLst/>
          </a:prstGeom>
          <a:noFill/>
          <a:ln/>
        </p:spPr>
        <p:txBody>
          <a:bodyPr wrap="square" lIns="0" tIns="0" rIns="0" bIns="0" rtlCol="0" anchor="t"/>
          <a:lstStyle/>
          <a:p>
            <a:pPr indent="0" marL="0">
              <a:buNone/>
            </a:pPr>
            <a:r>
              <a:rPr lang="id-ID" altLang="en-US" sz="2800" dirty="0">
                <a:solidFill>
                  <a:srgbClr val="1F2328"/>
                </a:solidFill>
              </a:rPr>
              <a:t>Di mesin ATM, kamu tidak bisa membuka brankas berisi uang. Kamu hanya bisa memakai menu “tarik tunai” yang memeriksa PIN, saldo, dan batas harian sebelum uang keluar. Dalam analogi enkapsulasi, menu itu setara dengan ...</a:t>
            </a:r>
            <a:endParaRPr lang="id-ID" sz="2800" dirty="0"/>
          </a:p>
        </p:txBody>
      </p:sp>
      <p:sp>
        <p:nvSpPr>
          <p:cNvPr id="9" name="Shape 5"/>
          <p:cNvSpPr/>
          <p:nvPr/>
        </p:nvSpPr>
        <p:spPr>
          <a:xfrm>
            <a:off x="548640" y="4063183"/>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4229604"/>
            <a:ext cx="457200" cy="457200"/>
          </a:xfrm>
          <a:prstGeom prst="ellipse">
            <a:avLst/>
          </a:prstGeom>
          <a:solidFill>
            <a:srgbClr val="8250DF"/>
          </a:solidFill>
          <a:ln/>
        </p:spPr>
      </p:sp>
      <p:sp>
        <p:nvSpPr>
          <p:cNvPr id="11" name="Text 7"/>
          <p:cNvSpPr txBox="1"/>
          <p:nvPr/>
        </p:nvSpPr>
        <p:spPr>
          <a:xfrm>
            <a:off x="749808" y="42296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4172911"/>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atribut privat</a:t>
            </a:r>
            <a:endParaRPr lang="id-ID" sz="2400" dirty="0"/>
          </a:p>
        </p:txBody>
      </p:sp>
      <p:sp>
        <p:nvSpPr>
          <p:cNvPr id="13" name="Shape 9"/>
          <p:cNvSpPr/>
          <p:nvPr/>
        </p:nvSpPr>
        <p:spPr>
          <a:xfrm>
            <a:off x="6187288" y="4063183"/>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4229604"/>
            <a:ext cx="457200" cy="457200"/>
          </a:xfrm>
          <a:prstGeom prst="ellipse">
            <a:avLst/>
          </a:prstGeom>
          <a:solidFill>
            <a:srgbClr val="8250DF"/>
          </a:solidFill>
          <a:ln/>
        </p:spPr>
      </p:sp>
      <p:sp>
        <p:nvSpPr>
          <p:cNvPr id="15" name="Text 11"/>
          <p:cNvSpPr txBox="1"/>
          <p:nvPr/>
        </p:nvSpPr>
        <p:spPr>
          <a:xfrm>
            <a:off x="6388456" y="42296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4172911"/>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nama kelas</a:t>
            </a:r>
            <a:endParaRPr lang="id-ID" sz="2400" dirty="0"/>
          </a:p>
        </p:txBody>
      </p:sp>
      <p:sp>
        <p:nvSpPr>
          <p:cNvPr id="17" name="Shape 13"/>
          <p:cNvSpPr/>
          <p:nvPr/>
        </p:nvSpPr>
        <p:spPr>
          <a:xfrm>
            <a:off x="548640" y="5036105"/>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5202526"/>
            <a:ext cx="457200" cy="457200"/>
          </a:xfrm>
          <a:prstGeom prst="ellipse">
            <a:avLst/>
          </a:prstGeom>
          <a:solidFill>
            <a:srgbClr val="8250DF"/>
          </a:solidFill>
          <a:ln/>
        </p:spPr>
      </p:sp>
      <p:sp>
        <p:nvSpPr>
          <p:cNvPr id="19" name="Text 15"/>
          <p:cNvSpPr txBox="1"/>
          <p:nvPr/>
        </p:nvSpPr>
        <p:spPr>
          <a:xfrm>
            <a:off x="749808" y="520252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145833"/>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method</a:t>
            </a:r>
            <a:r>
              <a:rPr lang="id-ID" altLang="en-US" sz="2400" dirty="0">
                <a:solidFill>
                  <a:srgbClr val="1F2328"/>
                </a:solidFill>
              </a:rPr>
              <a:t> publik yang menjaga aturan</a:t>
            </a:r>
            <a:endParaRPr lang="id-ID" sz="2400" dirty="0"/>
          </a:p>
        </p:txBody>
      </p:sp>
      <p:sp>
        <p:nvSpPr>
          <p:cNvPr id="21" name="Shape 17"/>
          <p:cNvSpPr/>
          <p:nvPr/>
        </p:nvSpPr>
        <p:spPr>
          <a:xfrm>
            <a:off x="6187288" y="5036105"/>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5202526"/>
            <a:ext cx="457200" cy="457200"/>
          </a:xfrm>
          <a:prstGeom prst="ellipse">
            <a:avLst/>
          </a:prstGeom>
          <a:solidFill>
            <a:srgbClr val="8250DF"/>
          </a:solidFill>
          <a:ln/>
        </p:spPr>
      </p:sp>
      <p:sp>
        <p:nvSpPr>
          <p:cNvPr id="23" name="Text 19"/>
          <p:cNvSpPr txBox="1"/>
          <p:nvPr/>
        </p:nvSpPr>
        <p:spPr>
          <a:xfrm>
            <a:off x="6388456" y="520252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145833"/>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paket (</a:t>
            </a:r>
            <a:r>
              <a:rPr lang="id-ID" altLang="en-US" sz="2400" i="1" dirty="0">
                <a:solidFill>
                  <a:srgbClr val="1F2328"/>
                </a:solidFill>
              </a:rPr>
              <a:t>package</a:t>
            </a:r>
            <a:r>
              <a:rPr lang="id-ID" altLang="en-US" sz="2400" dirty="0">
                <a:solidFill>
                  <a:srgbClr val="1F2328"/>
                </a:solidFill>
              </a:rPr>
              <a:t>)</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62533"/>
            <a:ext cx="11094415" cy="801116"/>
          </a:xfrm>
          <a:prstGeom prst="roundRect">
            <a:avLst>
              <a:gd name="adj" fmla="val 15634"/>
            </a:avLst>
          </a:prstGeom>
          <a:solidFill>
            <a:srgbClr val="F6F8FA"/>
          </a:solidFill>
          <a:ln w="9525">
            <a:solidFill>
              <a:srgbClr val="D0D7DE"/>
            </a:solidFill>
            <a:prstDash val="solid"/>
          </a:ln>
        </p:spPr>
      </p:sp>
      <p:sp>
        <p:nvSpPr>
          <p:cNvPr id="6" name="Text 3"/>
          <p:cNvSpPr txBox="1"/>
          <p:nvPr/>
        </p:nvSpPr>
        <p:spPr>
          <a:xfrm>
            <a:off x="822960" y="1699693"/>
            <a:ext cx="10545775" cy="526796"/>
          </a:xfrm>
          <a:prstGeom prst="rect">
            <a:avLst/>
          </a:prstGeom>
          <a:noFill/>
          <a:ln/>
        </p:spPr>
        <p:txBody>
          <a:bodyPr wrap="square" lIns="0" tIns="0" rIns="0" bIns="0" rtlCol="0" anchor="t"/>
          <a:lstStyle/>
          <a:p>
            <a:pPr indent="0" marL="0">
              <a:buNone/>
            </a:pPr>
            <a:r>
              <a:rPr lang="id-ID" altLang="en-US" sz="1700" dirty="0">
                <a:solidFill>
                  <a:srgbClr val="57606A"/>
                </a:solidFill>
              </a:rPr>
              <a:t>Di mesin ATM, kamu tidak bisa membuka brankas berisi uang. Kamu hanya bisa memakai menu “tarik tunai” yang memeriksa PIN, saldo, dan batas harian sebelum uang keluar. Dalam analogi enkapsulasi, menu itu setara dengan ...</a:t>
            </a:r>
            <a:endParaRPr lang="id-ID" sz="1700" dirty="0"/>
          </a:p>
        </p:txBody>
      </p:sp>
      <p:sp>
        <p:nvSpPr>
          <p:cNvPr id="7" name="Shape 4"/>
          <p:cNvSpPr/>
          <p:nvPr/>
        </p:nvSpPr>
        <p:spPr>
          <a:xfrm>
            <a:off x="548640" y="2546529"/>
            <a:ext cx="5455768" cy="625450"/>
          </a:xfrm>
          <a:prstGeom prst="roundRect">
            <a:avLst>
              <a:gd name="adj" fmla="val 25649"/>
            </a:avLst>
          </a:prstGeom>
          <a:solidFill>
            <a:srgbClr val="FFFFFF"/>
          </a:solidFill>
          <a:ln w="9525">
            <a:solidFill>
              <a:srgbClr val="D0D7DE"/>
            </a:solidFill>
            <a:prstDash val="solid"/>
          </a:ln>
        </p:spPr>
      </p:sp>
      <p:sp>
        <p:nvSpPr>
          <p:cNvPr id="8" name="Shape 5"/>
          <p:cNvSpPr/>
          <p:nvPr/>
        </p:nvSpPr>
        <p:spPr>
          <a:xfrm>
            <a:off x="749808" y="2642084"/>
            <a:ext cx="434340" cy="434340"/>
          </a:xfrm>
          <a:prstGeom prst="ellipse">
            <a:avLst/>
          </a:prstGeom>
          <a:solidFill>
            <a:srgbClr val="8C959F"/>
          </a:solidFill>
          <a:ln/>
        </p:spPr>
      </p:sp>
      <p:sp>
        <p:nvSpPr>
          <p:cNvPr id="9" name="Text 6"/>
          <p:cNvSpPr txBox="1"/>
          <p:nvPr/>
        </p:nvSpPr>
        <p:spPr>
          <a:xfrm>
            <a:off x="749808" y="264208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A</a:t>
            </a:r>
            <a:endParaRPr lang="id-ID" sz="1700" dirty="0"/>
          </a:p>
        </p:txBody>
      </p:sp>
      <p:sp>
        <p:nvSpPr>
          <p:cNvPr id="10" name="Text 7"/>
          <p:cNvSpPr txBox="1"/>
          <p:nvPr/>
        </p:nvSpPr>
        <p:spPr>
          <a:xfrm>
            <a:off x="1353312" y="2656257"/>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atribut privat</a:t>
            </a:r>
            <a:endParaRPr lang="id-ID" sz="1900" dirty="0"/>
          </a:p>
        </p:txBody>
      </p:sp>
      <p:sp>
        <p:nvSpPr>
          <p:cNvPr id="11" name="Shape 8"/>
          <p:cNvSpPr/>
          <p:nvPr/>
        </p:nvSpPr>
        <p:spPr>
          <a:xfrm>
            <a:off x="6187288" y="2546529"/>
            <a:ext cx="5455768" cy="625450"/>
          </a:xfrm>
          <a:prstGeom prst="roundRect">
            <a:avLst>
              <a:gd name="adj" fmla="val 25649"/>
            </a:avLst>
          </a:prstGeom>
          <a:solidFill>
            <a:srgbClr val="FFFFFF"/>
          </a:solidFill>
          <a:ln w="9525">
            <a:solidFill>
              <a:srgbClr val="D0D7DE"/>
            </a:solidFill>
            <a:prstDash val="solid"/>
          </a:ln>
        </p:spPr>
      </p:sp>
      <p:sp>
        <p:nvSpPr>
          <p:cNvPr id="12" name="Shape 9"/>
          <p:cNvSpPr/>
          <p:nvPr/>
        </p:nvSpPr>
        <p:spPr>
          <a:xfrm>
            <a:off x="6388456" y="2642084"/>
            <a:ext cx="434340" cy="434340"/>
          </a:xfrm>
          <a:prstGeom prst="ellipse">
            <a:avLst/>
          </a:prstGeom>
          <a:solidFill>
            <a:srgbClr val="8C959F"/>
          </a:solidFill>
          <a:ln/>
        </p:spPr>
      </p:sp>
      <p:sp>
        <p:nvSpPr>
          <p:cNvPr id="13" name="Text 10"/>
          <p:cNvSpPr txBox="1"/>
          <p:nvPr/>
        </p:nvSpPr>
        <p:spPr>
          <a:xfrm>
            <a:off x="6388456" y="264208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B</a:t>
            </a:r>
            <a:endParaRPr lang="id-ID" sz="1700" dirty="0"/>
          </a:p>
        </p:txBody>
      </p:sp>
      <p:sp>
        <p:nvSpPr>
          <p:cNvPr id="14" name="Text 11"/>
          <p:cNvSpPr txBox="1"/>
          <p:nvPr/>
        </p:nvSpPr>
        <p:spPr>
          <a:xfrm>
            <a:off x="6991960" y="2656257"/>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nama kelas</a:t>
            </a:r>
            <a:endParaRPr lang="id-ID" sz="1900" dirty="0"/>
          </a:p>
        </p:txBody>
      </p:sp>
      <p:sp>
        <p:nvSpPr>
          <p:cNvPr id="15" name="Shape 12"/>
          <p:cNvSpPr/>
          <p:nvPr/>
        </p:nvSpPr>
        <p:spPr>
          <a:xfrm>
            <a:off x="548640" y="3354858"/>
            <a:ext cx="5455768" cy="625450"/>
          </a:xfrm>
          <a:prstGeom prst="roundRect">
            <a:avLst>
              <a:gd name="adj" fmla="val 25649"/>
            </a:avLst>
          </a:prstGeom>
          <a:solidFill>
            <a:srgbClr val="DAFBE1"/>
          </a:solidFill>
          <a:ln w="22225">
            <a:solidFill>
              <a:srgbClr val="1A7F37"/>
            </a:solidFill>
            <a:prstDash val="solid"/>
          </a:ln>
        </p:spPr>
      </p:sp>
      <p:sp>
        <p:nvSpPr>
          <p:cNvPr id="16" name="Shape 13"/>
          <p:cNvSpPr/>
          <p:nvPr/>
        </p:nvSpPr>
        <p:spPr>
          <a:xfrm>
            <a:off x="749808" y="3450413"/>
            <a:ext cx="434340" cy="43434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45363" y="3545968"/>
            <a:ext cx="243230" cy="243230"/>
          </a:xfrm>
          <a:prstGeom prst="rect">
            <a:avLst/>
          </a:prstGeom>
        </p:spPr>
      </p:pic>
      <p:sp>
        <p:nvSpPr>
          <p:cNvPr id="18" name="Text 14"/>
          <p:cNvSpPr txBox="1"/>
          <p:nvPr/>
        </p:nvSpPr>
        <p:spPr>
          <a:xfrm>
            <a:off x="1353312" y="3464586"/>
            <a:ext cx="4541368" cy="405994"/>
          </a:xfrm>
          <a:prstGeom prst="rect">
            <a:avLst/>
          </a:prstGeom>
          <a:noFill/>
          <a:ln/>
        </p:spPr>
        <p:txBody>
          <a:bodyPr wrap="square" lIns="0" tIns="0" rIns="0" bIns="0" rtlCol="0" anchor="ctr"/>
          <a:lstStyle/>
          <a:p>
            <a:pPr indent="0" marL="0">
              <a:buNone/>
            </a:pPr>
            <a:r>
              <a:rPr lang="id-ID" altLang="en-US" sz="1900" i="1" dirty="0">
                <a:solidFill>
                  <a:srgbClr val="1F2328"/>
                </a:solidFill>
              </a:rPr>
              <a:t>method</a:t>
            </a:r>
            <a:r>
              <a:rPr lang="id-ID" altLang="en-US" sz="1900" dirty="0">
                <a:solidFill>
                  <a:srgbClr val="1F2328"/>
                </a:solidFill>
              </a:rPr>
              <a:t> publik yang menjaga aturan</a:t>
            </a:r>
            <a:endParaRPr lang="id-ID" sz="1900" dirty="0"/>
          </a:p>
        </p:txBody>
      </p:sp>
      <p:sp>
        <p:nvSpPr>
          <p:cNvPr id="19" name="Shape 15"/>
          <p:cNvSpPr/>
          <p:nvPr/>
        </p:nvSpPr>
        <p:spPr>
          <a:xfrm>
            <a:off x="6187288" y="3354858"/>
            <a:ext cx="5455768" cy="625450"/>
          </a:xfrm>
          <a:prstGeom prst="roundRect">
            <a:avLst>
              <a:gd name="adj" fmla="val 25649"/>
            </a:avLst>
          </a:prstGeom>
          <a:solidFill>
            <a:srgbClr val="FFFFFF"/>
          </a:solidFill>
          <a:ln w="9525">
            <a:solidFill>
              <a:srgbClr val="D0D7DE"/>
            </a:solidFill>
            <a:prstDash val="solid"/>
          </a:ln>
        </p:spPr>
      </p:sp>
      <p:sp>
        <p:nvSpPr>
          <p:cNvPr id="20" name="Shape 16"/>
          <p:cNvSpPr/>
          <p:nvPr/>
        </p:nvSpPr>
        <p:spPr>
          <a:xfrm>
            <a:off x="6388456" y="3450413"/>
            <a:ext cx="434340" cy="434340"/>
          </a:xfrm>
          <a:prstGeom prst="ellipse">
            <a:avLst/>
          </a:prstGeom>
          <a:solidFill>
            <a:srgbClr val="8C959F"/>
          </a:solidFill>
          <a:ln/>
        </p:spPr>
      </p:sp>
      <p:sp>
        <p:nvSpPr>
          <p:cNvPr id="21" name="Text 17"/>
          <p:cNvSpPr txBox="1"/>
          <p:nvPr/>
        </p:nvSpPr>
        <p:spPr>
          <a:xfrm>
            <a:off x="6388456" y="3450413"/>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D</a:t>
            </a:r>
            <a:endParaRPr lang="id-ID" sz="1700" dirty="0"/>
          </a:p>
        </p:txBody>
      </p:sp>
      <p:sp>
        <p:nvSpPr>
          <p:cNvPr id="22" name="Text 18"/>
          <p:cNvSpPr txBox="1"/>
          <p:nvPr/>
        </p:nvSpPr>
        <p:spPr>
          <a:xfrm>
            <a:off x="6991960" y="3464586"/>
            <a:ext cx="4541368" cy="405994"/>
          </a:xfrm>
          <a:prstGeom prst="rect">
            <a:avLst/>
          </a:prstGeom>
          <a:noFill/>
          <a:ln/>
        </p:spPr>
        <p:txBody>
          <a:bodyPr wrap="square" lIns="0" tIns="0" rIns="0" bIns="0" rtlCol="0" anchor="ctr"/>
          <a:lstStyle/>
          <a:p>
            <a:pPr indent="0" marL="0">
              <a:buNone/>
            </a:pPr>
            <a:r>
              <a:rPr lang="id-ID" altLang="en-US" sz="1900" dirty="0">
                <a:solidFill>
                  <a:srgbClr val="57606A"/>
                </a:solidFill>
              </a:rPr>
              <a:t>paket (</a:t>
            </a:r>
            <a:r>
              <a:rPr lang="id-ID" altLang="en-US" sz="1900" i="1" dirty="0">
                <a:solidFill>
                  <a:srgbClr val="57606A"/>
                </a:solidFill>
              </a:rPr>
              <a:t>package</a:t>
            </a:r>
            <a:r>
              <a:rPr lang="id-ID" altLang="en-US" sz="1900" dirty="0">
                <a:solidFill>
                  <a:srgbClr val="57606A"/>
                </a:solidFill>
              </a:rPr>
              <a:t>)</a:t>
            </a:r>
            <a:endParaRPr lang="id-ID" sz="1900" dirty="0"/>
          </a:p>
        </p:txBody>
      </p:sp>
      <p:sp>
        <p:nvSpPr>
          <p:cNvPr id="23" name="Shape 19"/>
          <p:cNvSpPr/>
          <p:nvPr/>
        </p:nvSpPr>
        <p:spPr>
          <a:xfrm>
            <a:off x="548640" y="4181476"/>
            <a:ext cx="11094415" cy="1817624"/>
          </a:xfrm>
          <a:prstGeom prst="roundRect">
            <a:avLst>
              <a:gd name="adj" fmla="val 3037"/>
            </a:avLst>
          </a:prstGeom>
          <a:solidFill>
            <a:srgbClr val="FFF8C5"/>
          </a:solidFill>
          <a:ln w="9525">
            <a:solidFill>
              <a:srgbClr val="D4A72C"/>
            </a:solidFill>
            <a:prstDash val="solid"/>
          </a:ln>
        </p:spPr>
      </p:sp>
      <p:sp>
        <p:nvSpPr>
          <p:cNvPr id="24" name="Shape 20"/>
          <p:cNvSpPr/>
          <p:nvPr/>
        </p:nvSpPr>
        <p:spPr>
          <a:xfrm>
            <a:off x="777240" y="4364356"/>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464940"/>
            <a:ext cx="256032" cy="256032"/>
          </a:xfrm>
          <a:prstGeom prst="rect">
            <a:avLst/>
          </a:prstGeom>
        </p:spPr>
      </p:pic>
      <p:sp>
        <p:nvSpPr>
          <p:cNvPr id="26" name="Text 21"/>
          <p:cNvSpPr txBox="1"/>
          <p:nvPr/>
        </p:nvSpPr>
        <p:spPr>
          <a:xfrm>
            <a:off x="1417320" y="4318636"/>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656964"/>
            <a:ext cx="9951415" cy="1268984"/>
          </a:xfrm>
          <a:prstGeom prst="rect">
            <a:avLst/>
          </a:prstGeom>
          <a:noFill/>
          <a:ln/>
        </p:spPr>
        <p:txBody>
          <a:bodyPr wrap="square" lIns="0" tIns="0" rIns="0" bIns="0" rtlCol="0" anchor="t"/>
          <a:lstStyle/>
          <a:p>
            <a:pPr indent="0" marL="0">
              <a:buNone/>
            </a:pPr>
            <a:r>
              <a:rPr lang="id-ID" altLang="en-US" sz="1900" dirty="0">
                <a:solidFill>
                  <a:srgbClr val="1F2328"/>
                </a:solidFill>
              </a:rPr>
              <a:t>Menu “tarik tunai” adalah pintu resmi yang boleh dipakai siapa saja, tetapi selalu memeriksa aturan sebelum mengubah data (saldo). Itulah peran </a:t>
            </a:r>
            <a:r>
              <a:rPr lang="id-ID" altLang="en-US" sz="1900" i="1" dirty="0">
                <a:solidFill>
                  <a:srgbClr val="1F2328"/>
                </a:solidFill>
              </a:rPr>
              <a:t>method</a:t>
            </a:r>
            <a:r>
              <a:rPr lang="id-ID" altLang="en-US" sz="1900" dirty="0">
                <a:solidFill>
                  <a:srgbClr val="1F2328"/>
                </a:solidFill>
              </a:rPr>
              <a:t> publik penjaga aturan. Uang di dalam brankas justru setara dengan </a:t>
            </a:r>
            <a:r>
              <a:rPr lang="id-ID" altLang="en-US" sz="1900" b="1" dirty="0">
                <a:solidFill>
                  <a:srgbClr val="1F2328"/>
                </a:solidFill>
              </a:rPr>
              <a:t>atribut privat</a:t>
            </a:r>
            <a:r>
              <a:rPr lang="id-ID" altLang="en-US" sz="1900" dirty="0">
                <a:solidFill>
                  <a:srgbClr val="1F2328"/>
                </a:solidFill>
              </a:rPr>
              <a:t> (pilihan A), yaitu data yang tidak boleh disentuh langsung.</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460525"/>
            <a:ext cx="11094415" cy="1138936"/>
          </a:xfrm>
          <a:prstGeom prst="roundRect">
            <a:avLst>
              <a:gd name="adj" fmla="val 7735"/>
            </a:avLst>
          </a:prstGeom>
          <a:solidFill>
            <a:srgbClr val="FBEFFF"/>
          </a:solidFill>
          <a:ln w="9525">
            <a:solidFill>
              <a:srgbClr val="C297FF"/>
            </a:solidFill>
            <a:prstDash val="solid"/>
          </a:ln>
        </p:spPr>
      </p:sp>
      <p:sp>
        <p:nvSpPr>
          <p:cNvPr id="6" name="Shape 3"/>
          <p:cNvSpPr/>
          <p:nvPr/>
        </p:nvSpPr>
        <p:spPr>
          <a:xfrm>
            <a:off x="777240" y="1801393"/>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1901977"/>
            <a:ext cx="256032" cy="256032"/>
          </a:xfrm>
          <a:prstGeom prst="rect">
            <a:avLst/>
          </a:prstGeom>
        </p:spPr>
      </p:pic>
      <p:sp>
        <p:nvSpPr>
          <p:cNvPr id="8" name="Text 4"/>
          <p:cNvSpPr txBox="1"/>
          <p:nvPr/>
        </p:nvSpPr>
        <p:spPr>
          <a:xfrm>
            <a:off x="1417320" y="1689125"/>
            <a:ext cx="9951415" cy="864616"/>
          </a:xfrm>
          <a:prstGeom prst="rect">
            <a:avLst/>
          </a:prstGeom>
          <a:noFill/>
          <a:ln/>
        </p:spPr>
        <p:txBody>
          <a:bodyPr wrap="square" lIns="0" tIns="0" rIns="0" bIns="0" rtlCol="0" anchor="t"/>
          <a:lstStyle/>
          <a:p>
            <a:pPr indent="0" marL="0">
              <a:buNone/>
            </a:pPr>
            <a:r>
              <a:rPr lang="id-ID" altLang="en-US" sz="2200" dirty="0">
                <a:solidFill>
                  <a:srgbClr val="1F2328"/>
                </a:solidFill>
              </a:rPr>
              <a:t>Ada dua cara mengurangi stok kopi sebanyak 2 porsi. Mana yang mengikuti prinsip </a:t>
            </a:r>
            <a:r>
              <a:rPr lang="id-ID" altLang="en-US" sz="2200" b="1" i="1" dirty="0">
                <a:solidFill>
                  <a:srgbClr val="1F2328"/>
                </a:solidFill>
              </a:rPr>
              <a:t>tell, don’t ask</a:t>
            </a:r>
            <a:r>
              <a:rPr lang="id-ID" altLang="en-US" sz="2200" dirty="0">
                <a:solidFill>
                  <a:srgbClr val="1F2328"/>
                </a:solidFill>
              </a:rPr>
              <a:t>?</a:t>
            </a:r>
            <a:endParaRPr lang="id-ID" sz="2200" dirty="0"/>
          </a:p>
        </p:txBody>
      </p:sp>
      <p:sp>
        <p:nvSpPr>
          <p:cNvPr id="9" name="Shape 5"/>
          <p:cNvSpPr/>
          <p:nvPr/>
        </p:nvSpPr>
        <p:spPr>
          <a:xfrm>
            <a:off x="548640" y="2782341"/>
            <a:ext cx="11094415" cy="738886"/>
          </a:xfrm>
          <a:prstGeom prst="roundRect">
            <a:avLst>
              <a:gd name="adj" fmla="val 15315"/>
            </a:avLst>
          </a:prstGeom>
          <a:solidFill>
            <a:srgbClr val="F6F8FA"/>
          </a:solidFill>
          <a:ln w="9525">
            <a:solidFill>
              <a:srgbClr val="D0D7DE"/>
            </a:solidFill>
            <a:prstDash val="solid"/>
          </a:ln>
        </p:spPr>
      </p:sp>
      <p:sp>
        <p:nvSpPr>
          <p:cNvPr id="10" name="Text 6"/>
          <p:cNvSpPr txBox="1"/>
          <p:nvPr/>
        </p:nvSpPr>
        <p:spPr>
          <a:xfrm>
            <a:off x="822960" y="2919501"/>
            <a:ext cx="10545775" cy="556006"/>
          </a:xfrm>
          <a:prstGeom prst="rect">
            <a:avLst/>
          </a:prstGeom>
          <a:noFill/>
          <a:ln/>
        </p:spPr>
        <p:txBody>
          <a:bodyPr wrap="square" lIns="0" tIns="0" rIns="0" bIns="0" rtlCol="0" anchor="t"/>
          <a:lstStyle/>
          <a:p>
            <a:pPr indent="0" marL="0">
              <a:buNone/>
            </a:pPr>
            <a:r>
              <a:rPr lang="en-US" altLang="en-US" sz="1550" dirty="0">
                <a:solidFill>
                  <a:srgbClr val="1F2328"/>
                </a:solidFill>
                <a:latin typeface="Consolas" pitchFamily="34" charset="0"/>
                <a:ea typeface="Consolas" pitchFamily="34" charset="-122"/>
                <a:cs typeface="Consolas" pitchFamily="34" charset="-120"/>
              </a:rPr>
              <a:t>Cara P: kopi.kurangi_stok(2)        (Java: kopi.kurangiStok(2))</a:t>
            </a:r>
            <a:endParaRPr lang="en-US" sz="1550" dirty="0"/>
          </a:p>
          <a:p>
            <a:pPr indent="0" marL="0">
              <a:buNone/>
            </a:pPr>
            <a:r>
              <a:rPr lang="en-US" altLang="en-US" sz="1550" dirty="0">
                <a:solidFill>
                  <a:srgbClr val="1F2328"/>
                </a:solidFill>
                <a:latin typeface="Consolas" pitchFamily="34" charset="0"/>
                <a:ea typeface="Consolas" pitchFamily="34" charset="-122"/>
                <a:cs typeface="Consolas" pitchFamily="34" charset="-120"/>
              </a:rPr>
              <a:t>Cara Q: jika stok kopi &gt;= 2, ubah stok kopi menjadi stok - 2</a:t>
            </a:r>
            <a:endParaRPr lang="en-US" sz="1550" dirty="0"/>
          </a:p>
        </p:txBody>
      </p:sp>
      <p:sp>
        <p:nvSpPr>
          <p:cNvPr id="11" name="Shape 7"/>
          <p:cNvSpPr/>
          <p:nvPr/>
        </p:nvSpPr>
        <p:spPr>
          <a:xfrm>
            <a:off x="548640" y="3704107"/>
            <a:ext cx="5455768" cy="1296924"/>
          </a:xfrm>
          <a:prstGeom prst="roundRect">
            <a:avLst>
              <a:gd name="adj" fmla="val 5965"/>
            </a:avLst>
          </a:prstGeom>
          <a:solidFill>
            <a:srgbClr val="FFFFFF"/>
          </a:solidFill>
          <a:ln w="9525">
            <a:solidFill>
              <a:srgbClr val="D0D7DE"/>
            </a:solidFill>
            <a:prstDash val="solid"/>
          </a:ln>
        </p:spPr>
      </p:sp>
      <p:sp>
        <p:nvSpPr>
          <p:cNvPr id="12" name="Shape 8"/>
          <p:cNvSpPr/>
          <p:nvPr/>
        </p:nvSpPr>
        <p:spPr>
          <a:xfrm>
            <a:off x="749808" y="4123969"/>
            <a:ext cx="457200" cy="457200"/>
          </a:xfrm>
          <a:prstGeom prst="ellipse">
            <a:avLst/>
          </a:prstGeom>
          <a:solidFill>
            <a:srgbClr val="8250DF"/>
          </a:solidFill>
          <a:ln/>
        </p:spPr>
      </p:sp>
      <p:sp>
        <p:nvSpPr>
          <p:cNvPr id="13" name="Text 9"/>
          <p:cNvSpPr txBox="1"/>
          <p:nvPr/>
        </p:nvSpPr>
        <p:spPr>
          <a:xfrm>
            <a:off x="749808" y="412396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4" name="Text 10"/>
          <p:cNvSpPr txBox="1"/>
          <p:nvPr/>
        </p:nvSpPr>
        <p:spPr>
          <a:xfrm>
            <a:off x="1353312" y="3813835"/>
            <a:ext cx="4541368" cy="1077468"/>
          </a:xfrm>
          <a:prstGeom prst="rect">
            <a:avLst/>
          </a:prstGeom>
          <a:noFill/>
          <a:ln/>
        </p:spPr>
        <p:txBody>
          <a:bodyPr wrap="square" lIns="0" tIns="0" rIns="0" bIns="0" rtlCol="0" anchor="ctr"/>
          <a:lstStyle/>
          <a:p>
            <a:pPr indent="0" marL="0">
              <a:buNone/>
            </a:pPr>
            <a:r>
              <a:rPr lang="id-ID" altLang="en-US" sz="2200" dirty="0">
                <a:solidFill>
                  <a:srgbClr val="1F2328"/>
                </a:solidFill>
              </a:rPr>
              <a:t>Cara P karena objek kopi sendiri yang memeriksa aturan dan menolak jika stok tidak cukup</a:t>
            </a:r>
            <a:endParaRPr lang="id-ID" sz="2200" dirty="0"/>
          </a:p>
        </p:txBody>
      </p:sp>
      <p:sp>
        <p:nvSpPr>
          <p:cNvPr id="15" name="Shape 11"/>
          <p:cNvSpPr/>
          <p:nvPr/>
        </p:nvSpPr>
        <p:spPr>
          <a:xfrm>
            <a:off x="6187288" y="3704107"/>
            <a:ext cx="5455768" cy="1296924"/>
          </a:xfrm>
          <a:prstGeom prst="roundRect">
            <a:avLst>
              <a:gd name="adj" fmla="val 5965"/>
            </a:avLst>
          </a:prstGeom>
          <a:solidFill>
            <a:srgbClr val="FFFFFF"/>
          </a:solidFill>
          <a:ln w="9525">
            <a:solidFill>
              <a:srgbClr val="D0D7DE"/>
            </a:solidFill>
            <a:prstDash val="solid"/>
          </a:ln>
        </p:spPr>
      </p:sp>
      <p:sp>
        <p:nvSpPr>
          <p:cNvPr id="16" name="Shape 12"/>
          <p:cNvSpPr/>
          <p:nvPr/>
        </p:nvSpPr>
        <p:spPr>
          <a:xfrm>
            <a:off x="6388456" y="4123969"/>
            <a:ext cx="457200" cy="457200"/>
          </a:xfrm>
          <a:prstGeom prst="ellipse">
            <a:avLst/>
          </a:prstGeom>
          <a:solidFill>
            <a:srgbClr val="8250DF"/>
          </a:solidFill>
          <a:ln/>
        </p:spPr>
      </p:sp>
      <p:sp>
        <p:nvSpPr>
          <p:cNvPr id="17" name="Text 13"/>
          <p:cNvSpPr txBox="1"/>
          <p:nvPr/>
        </p:nvSpPr>
        <p:spPr>
          <a:xfrm>
            <a:off x="6388456" y="412396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8" name="Text 14"/>
          <p:cNvSpPr txBox="1"/>
          <p:nvPr/>
        </p:nvSpPr>
        <p:spPr>
          <a:xfrm>
            <a:off x="6991960" y="3813835"/>
            <a:ext cx="4541368" cy="1077468"/>
          </a:xfrm>
          <a:prstGeom prst="rect">
            <a:avLst/>
          </a:prstGeom>
          <a:noFill/>
          <a:ln/>
        </p:spPr>
        <p:txBody>
          <a:bodyPr wrap="square" lIns="0" tIns="0" rIns="0" bIns="0" rtlCol="0" anchor="ctr"/>
          <a:lstStyle/>
          <a:p>
            <a:pPr indent="0" marL="0">
              <a:buNone/>
            </a:pPr>
            <a:r>
              <a:rPr lang="id-ID" altLang="en-US" sz="2200" dirty="0">
                <a:solidFill>
                  <a:srgbClr val="1F2328"/>
                </a:solidFill>
              </a:rPr>
              <a:t>Cara Q karena pemanggil memeriksa aturan sendiri sebelum mengubah data</a:t>
            </a:r>
            <a:endParaRPr lang="id-ID" sz="2200" dirty="0"/>
          </a:p>
        </p:txBody>
      </p:sp>
      <p:sp>
        <p:nvSpPr>
          <p:cNvPr id="19" name="Shape 15"/>
          <p:cNvSpPr/>
          <p:nvPr/>
        </p:nvSpPr>
        <p:spPr>
          <a:xfrm>
            <a:off x="548640" y="5183911"/>
            <a:ext cx="5455768" cy="956056"/>
          </a:xfrm>
          <a:prstGeom prst="roundRect">
            <a:avLst>
              <a:gd name="adj" fmla="val 10977"/>
            </a:avLst>
          </a:prstGeom>
          <a:solidFill>
            <a:srgbClr val="FFFFFF"/>
          </a:solidFill>
          <a:ln w="9525">
            <a:solidFill>
              <a:srgbClr val="D0D7DE"/>
            </a:solidFill>
            <a:prstDash val="solid"/>
          </a:ln>
        </p:spPr>
      </p:sp>
      <p:sp>
        <p:nvSpPr>
          <p:cNvPr id="20" name="Shape 16"/>
          <p:cNvSpPr/>
          <p:nvPr/>
        </p:nvSpPr>
        <p:spPr>
          <a:xfrm>
            <a:off x="749808" y="5433339"/>
            <a:ext cx="457200" cy="457200"/>
          </a:xfrm>
          <a:prstGeom prst="ellipse">
            <a:avLst/>
          </a:prstGeom>
          <a:solidFill>
            <a:srgbClr val="8250DF"/>
          </a:solidFill>
          <a:ln/>
        </p:spPr>
      </p:sp>
      <p:sp>
        <p:nvSpPr>
          <p:cNvPr id="21" name="Text 17"/>
          <p:cNvSpPr txBox="1"/>
          <p:nvPr/>
        </p:nvSpPr>
        <p:spPr>
          <a:xfrm>
            <a:off x="749808" y="543333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2" name="Text 18"/>
          <p:cNvSpPr txBox="1"/>
          <p:nvPr/>
        </p:nvSpPr>
        <p:spPr>
          <a:xfrm>
            <a:off x="1353312" y="5293639"/>
            <a:ext cx="4541368" cy="736600"/>
          </a:xfrm>
          <a:prstGeom prst="rect">
            <a:avLst/>
          </a:prstGeom>
          <a:noFill/>
          <a:ln/>
        </p:spPr>
        <p:txBody>
          <a:bodyPr wrap="square" lIns="0" tIns="0" rIns="0" bIns="0" rtlCol="0" anchor="ctr"/>
          <a:lstStyle/>
          <a:p>
            <a:pPr indent="0" marL="0">
              <a:buNone/>
            </a:pPr>
            <a:r>
              <a:rPr lang="id-ID" altLang="en-US" sz="2200" dirty="0">
                <a:solidFill>
                  <a:srgbClr val="1F2328"/>
                </a:solidFill>
              </a:rPr>
              <a:t>Keduanya sama baiknya, asalkan hasil akhirnya benar</a:t>
            </a:r>
            <a:endParaRPr lang="id-ID" sz="2200" dirty="0"/>
          </a:p>
        </p:txBody>
      </p:sp>
      <p:sp>
        <p:nvSpPr>
          <p:cNvPr id="23" name="Shape 19"/>
          <p:cNvSpPr/>
          <p:nvPr/>
        </p:nvSpPr>
        <p:spPr>
          <a:xfrm>
            <a:off x="6187288" y="5183911"/>
            <a:ext cx="5455768" cy="956056"/>
          </a:xfrm>
          <a:prstGeom prst="roundRect">
            <a:avLst>
              <a:gd name="adj" fmla="val 10977"/>
            </a:avLst>
          </a:prstGeom>
          <a:solidFill>
            <a:srgbClr val="FFFFFF"/>
          </a:solidFill>
          <a:ln w="9525">
            <a:solidFill>
              <a:srgbClr val="D0D7DE"/>
            </a:solidFill>
            <a:prstDash val="solid"/>
          </a:ln>
        </p:spPr>
      </p:sp>
      <p:sp>
        <p:nvSpPr>
          <p:cNvPr id="24" name="Shape 20"/>
          <p:cNvSpPr/>
          <p:nvPr/>
        </p:nvSpPr>
        <p:spPr>
          <a:xfrm>
            <a:off x="6388456" y="5433339"/>
            <a:ext cx="457200" cy="457200"/>
          </a:xfrm>
          <a:prstGeom prst="ellipse">
            <a:avLst/>
          </a:prstGeom>
          <a:solidFill>
            <a:srgbClr val="8250DF"/>
          </a:solidFill>
          <a:ln/>
        </p:spPr>
      </p:sp>
      <p:sp>
        <p:nvSpPr>
          <p:cNvPr id="25" name="Text 21"/>
          <p:cNvSpPr txBox="1"/>
          <p:nvPr/>
        </p:nvSpPr>
        <p:spPr>
          <a:xfrm>
            <a:off x="6388456" y="543333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6" name="Text 22"/>
          <p:cNvSpPr txBox="1"/>
          <p:nvPr/>
        </p:nvSpPr>
        <p:spPr>
          <a:xfrm>
            <a:off x="6991960" y="5293639"/>
            <a:ext cx="4541368" cy="736600"/>
          </a:xfrm>
          <a:prstGeom prst="rect">
            <a:avLst/>
          </a:prstGeom>
          <a:noFill/>
          <a:ln/>
        </p:spPr>
        <p:txBody>
          <a:bodyPr wrap="square" lIns="0" tIns="0" rIns="0" bIns="0" rtlCol="0" anchor="ctr"/>
          <a:lstStyle/>
          <a:p>
            <a:pPr indent="0" marL="0">
              <a:buNone/>
            </a:pPr>
            <a:r>
              <a:rPr lang="id-ID" altLang="en-US" sz="2200" dirty="0">
                <a:solidFill>
                  <a:srgbClr val="1F2328"/>
                </a:solidFill>
              </a:rPr>
              <a:t>Tidak ada karena prinsip itu melarang memanggil </a:t>
            </a:r>
            <a:r>
              <a:rPr lang="id-ID" altLang="en-US" sz="2200" i="1" dirty="0">
                <a:solidFill>
                  <a:srgbClr val="1F2328"/>
                </a:solidFill>
              </a:rPr>
              <a:t>method</a:t>
            </a:r>
            <a:r>
              <a:rPr lang="id-ID" altLang="en-US" sz="2200" dirty="0">
                <a:solidFill>
                  <a:srgbClr val="1F2328"/>
                </a:solidFill>
              </a:rPr>
              <a:t> milik objek lain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694795"/>
            <a:ext cx="11094415" cy="522224"/>
          </a:xfrm>
          <a:prstGeom prst="roundRect">
            <a:avLst>
              <a:gd name="adj" fmla="val 36791"/>
            </a:avLst>
          </a:prstGeom>
          <a:solidFill>
            <a:srgbClr val="F6F8FA"/>
          </a:solidFill>
          <a:ln w="9525">
            <a:solidFill>
              <a:srgbClr val="D0D7DE"/>
            </a:solidFill>
            <a:prstDash val="solid"/>
          </a:ln>
        </p:spPr>
      </p:sp>
      <p:sp>
        <p:nvSpPr>
          <p:cNvPr id="6" name="Text 3"/>
          <p:cNvSpPr txBox="1"/>
          <p:nvPr/>
        </p:nvSpPr>
        <p:spPr>
          <a:xfrm>
            <a:off x="822960" y="1831955"/>
            <a:ext cx="10545775" cy="247904"/>
          </a:xfrm>
          <a:prstGeom prst="rect">
            <a:avLst/>
          </a:prstGeom>
          <a:noFill/>
          <a:ln/>
        </p:spPr>
        <p:txBody>
          <a:bodyPr wrap="square" lIns="0" tIns="0" rIns="0" bIns="0" rtlCol="0" anchor="t"/>
          <a:lstStyle/>
          <a:p>
            <a:pPr indent="0" marL="0">
              <a:buNone/>
            </a:pPr>
            <a:r>
              <a:rPr lang="id-ID" altLang="en-US" sz="1600" dirty="0">
                <a:solidFill>
                  <a:srgbClr val="57606A"/>
                </a:solidFill>
              </a:rPr>
              <a:t>Ada dua cara mengurangi stok kopi sebanyak 2 porsi. Mana yang mengikuti prinsip </a:t>
            </a:r>
            <a:r>
              <a:rPr lang="id-ID" altLang="en-US" sz="1600" b="1" i="1" dirty="0">
                <a:solidFill>
                  <a:srgbClr val="57606A"/>
                </a:solidFill>
              </a:rPr>
              <a:t>tell, don’t ask</a:t>
            </a:r>
            <a:r>
              <a:rPr lang="id-ID" altLang="en-US" sz="1600" dirty="0">
                <a:solidFill>
                  <a:srgbClr val="57606A"/>
                </a:solidFill>
              </a:rPr>
              <a:t>?</a:t>
            </a:r>
            <a:endParaRPr lang="id-ID" sz="1600" dirty="0"/>
          </a:p>
        </p:txBody>
      </p:sp>
      <p:sp>
        <p:nvSpPr>
          <p:cNvPr id="7" name="Shape 4"/>
          <p:cNvSpPr/>
          <p:nvPr/>
        </p:nvSpPr>
        <p:spPr>
          <a:xfrm>
            <a:off x="548640" y="2399899"/>
            <a:ext cx="5455768" cy="801116"/>
          </a:xfrm>
          <a:prstGeom prst="roundRect">
            <a:avLst>
              <a:gd name="adj" fmla="val 15634"/>
            </a:avLst>
          </a:prstGeom>
          <a:solidFill>
            <a:srgbClr val="DAFBE1"/>
          </a:solidFill>
          <a:ln w="22225">
            <a:solidFill>
              <a:srgbClr val="1A7F37"/>
            </a:solidFill>
            <a:prstDash val="solid"/>
          </a:ln>
        </p:spPr>
      </p:sp>
      <p:sp>
        <p:nvSpPr>
          <p:cNvPr id="8" name="Shape 5"/>
          <p:cNvSpPr/>
          <p:nvPr/>
        </p:nvSpPr>
        <p:spPr>
          <a:xfrm>
            <a:off x="749808" y="2606147"/>
            <a:ext cx="388620" cy="388620"/>
          </a:xfrm>
          <a:prstGeom prst="ellipse">
            <a:avLst/>
          </a:prstGeom>
          <a:solidFill>
            <a:srgbClr val="1A7F37"/>
          </a:solidFill>
          <a:ln/>
        </p:spPr>
      </p:sp>
      <p:pic>
        <p:nvPicPr>
          <p:cNvPr id="9" name="Image 1" descr="preencoded.png">    </p:cNvPr>
          <p:cNvPicPr>
            <a:picLocks noChangeAspect="1"/>
          </p:cNvPicPr>
          <p:nvPr/>
        </p:nvPicPr>
        <p:blipFill>
          <a:blip r:embed="rId2"/>
          <a:stretch>
            <a:fillRect/>
          </a:stretch>
        </p:blipFill>
        <p:spPr>
          <a:xfrm>
            <a:off x="835304" y="2691643"/>
            <a:ext cx="217627" cy="217627"/>
          </a:xfrm>
          <a:prstGeom prst="rect">
            <a:avLst/>
          </a:prstGeom>
        </p:spPr>
      </p:pic>
      <p:sp>
        <p:nvSpPr>
          <p:cNvPr id="10" name="Text 6"/>
          <p:cNvSpPr txBox="1"/>
          <p:nvPr/>
        </p:nvSpPr>
        <p:spPr>
          <a:xfrm>
            <a:off x="1353312" y="2509627"/>
            <a:ext cx="4541368" cy="581660"/>
          </a:xfrm>
          <a:prstGeom prst="rect">
            <a:avLst/>
          </a:prstGeom>
          <a:noFill/>
          <a:ln/>
        </p:spPr>
        <p:txBody>
          <a:bodyPr wrap="square" lIns="0" tIns="0" rIns="0" bIns="0" rtlCol="0" anchor="ctr"/>
          <a:lstStyle/>
          <a:p>
            <a:pPr indent="0" marL="0">
              <a:buNone/>
            </a:pPr>
            <a:r>
              <a:rPr lang="id-ID" altLang="en-US" sz="1700" dirty="0">
                <a:solidFill>
                  <a:srgbClr val="1F2328"/>
                </a:solidFill>
              </a:rPr>
              <a:t>Cara P karena objek kopi sendiri yang memeriksa aturan dan menolak jika stok tidak cukup</a:t>
            </a:r>
            <a:endParaRPr lang="id-ID" sz="1700" dirty="0"/>
          </a:p>
        </p:txBody>
      </p:sp>
      <p:sp>
        <p:nvSpPr>
          <p:cNvPr id="11" name="Shape 7"/>
          <p:cNvSpPr/>
          <p:nvPr/>
        </p:nvSpPr>
        <p:spPr>
          <a:xfrm>
            <a:off x="6187288" y="2399899"/>
            <a:ext cx="5455768" cy="801116"/>
          </a:xfrm>
          <a:prstGeom prst="roundRect">
            <a:avLst>
              <a:gd name="adj" fmla="val 15634"/>
            </a:avLst>
          </a:prstGeom>
          <a:solidFill>
            <a:srgbClr val="FFFFFF"/>
          </a:solidFill>
          <a:ln w="9525">
            <a:solidFill>
              <a:srgbClr val="D0D7DE"/>
            </a:solidFill>
            <a:prstDash val="solid"/>
          </a:ln>
        </p:spPr>
      </p:sp>
      <p:sp>
        <p:nvSpPr>
          <p:cNvPr id="12" name="Shape 8"/>
          <p:cNvSpPr/>
          <p:nvPr/>
        </p:nvSpPr>
        <p:spPr>
          <a:xfrm>
            <a:off x="6388456" y="2606147"/>
            <a:ext cx="388620" cy="388620"/>
          </a:xfrm>
          <a:prstGeom prst="ellipse">
            <a:avLst/>
          </a:prstGeom>
          <a:solidFill>
            <a:srgbClr val="8C959F"/>
          </a:solidFill>
          <a:ln/>
        </p:spPr>
      </p:sp>
      <p:sp>
        <p:nvSpPr>
          <p:cNvPr id="13" name="Text 9"/>
          <p:cNvSpPr txBox="1"/>
          <p:nvPr/>
        </p:nvSpPr>
        <p:spPr>
          <a:xfrm>
            <a:off x="6388456" y="2606147"/>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B</a:t>
            </a:r>
            <a:endParaRPr lang="id-ID" sz="1500" dirty="0"/>
          </a:p>
        </p:txBody>
      </p:sp>
      <p:sp>
        <p:nvSpPr>
          <p:cNvPr id="14" name="Text 10"/>
          <p:cNvSpPr txBox="1"/>
          <p:nvPr/>
        </p:nvSpPr>
        <p:spPr>
          <a:xfrm>
            <a:off x="6991960" y="2509627"/>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Cara Q karena pemanggil memeriksa aturan sendiri sebelum mengubah data</a:t>
            </a:r>
            <a:endParaRPr lang="id-ID" sz="1700" dirty="0"/>
          </a:p>
        </p:txBody>
      </p:sp>
      <p:sp>
        <p:nvSpPr>
          <p:cNvPr id="15" name="Shape 11"/>
          <p:cNvSpPr/>
          <p:nvPr/>
        </p:nvSpPr>
        <p:spPr>
          <a:xfrm>
            <a:off x="548640" y="3383895"/>
            <a:ext cx="5455768" cy="801116"/>
          </a:xfrm>
          <a:prstGeom prst="roundRect">
            <a:avLst>
              <a:gd name="adj" fmla="val 15634"/>
            </a:avLst>
          </a:prstGeom>
          <a:solidFill>
            <a:srgbClr val="FFFFFF"/>
          </a:solidFill>
          <a:ln w="9525">
            <a:solidFill>
              <a:srgbClr val="D0D7DE"/>
            </a:solidFill>
            <a:prstDash val="solid"/>
          </a:ln>
        </p:spPr>
      </p:sp>
      <p:sp>
        <p:nvSpPr>
          <p:cNvPr id="16" name="Shape 12"/>
          <p:cNvSpPr/>
          <p:nvPr/>
        </p:nvSpPr>
        <p:spPr>
          <a:xfrm>
            <a:off x="749808" y="3590143"/>
            <a:ext cx="388620" cy="388620"/>
          </a:xfrm>
          <a:prstGeom prst="ellipse">
            <a:avLst/>
          </a:prstGeom>
          <a:solidFill>
            <a:srgbClr val="8C959F"/>
          </a:solidFill>
          <a:ln/>
        </p:spPr>
      </p:sp>
      <p:sp>
        <p:nvSpPr>
          <p:cNvPr id="17" name="Text 13"/>
          <p:cNvSpPr txBox="1"/>
          <p:nvPr/>
        </p:nvSpPr>
        <p:spPr>
          <a:xfrm>
            <a:off x="749808" y="3590143"/>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C</a:t>
            </a:r>
            <a:endParaRPr lang="id-ID" sz="1500" dirty="0"/>
          </a:p>
        </p:txBody>
      </p:sp>
      <p:sp>
        <p:nvSpPr>
          <p:cNvPr id="18" name="Text 14"/>
          <p:cNvSpPr txBox="1"/>
          <p:nvPr/>
        </p:nvSpPr>
        <p:spPr>
          <a:xfrm>
            <a:off x="1353312" y="3493623"/>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Keduanya sama baiknya, asalkan hasil akhirnya benar</a:t>
            </a:r>
            <a:endParaRPr lang="id-ID" sz="1700" dirty="0"/>
          </a:p>
        </p:txBody>
      </p:sp>
      <p:sp>
        <p:nvSpPr>
          <p:cNvPr id="19" name="Shape 15"/>
          <p:cNvSpPr/>
          <p:nvPr/>
        </p:nvSpPr>
        <p:spPr>
          <a:xfrm>
            <a:off x="6187288" y="3383895"/>
            <a:ext cx="5455768" cy="801116"/>
          </a:xfrm>
          <a:prstGeom prst="roundRect">
            <a:avLst>
              <a:gd name="adj" fmla="val 15634"/>
            </a:avLst>
          </a:prstGeom>
          <a:solidFill>
            <a:srgbClr val="FFFFFF"/>
          </a:solidFill>
          <a:ln w="9525">
            <a:solidFill>
              <a:srgbClr val="D0D7DE"/>
            </a:solidFill>
            <a:prstDash val="solid"/>
          </a:ln>
        </p:spPr>
      </p:sp>
      <p:sp>
        <p:nvSpPr>
          <p:cNvPr id="20" name="Shape 16"/>
          <p:cNvSpPr/>
          <p:nvPr/>
        </p:nvSpPr>
        <p:spPr>
          <a:xfrm>
            <a:off x="6388456" y="3590143"/>
            <a:ext cx="388620" cy="388620"/>
          </a:xfrm>
          <a:prstGeom prst="ellipse">
            <a:avLst/>
          </a:prstGeom>
          <a:solidFill>
            <a:srgbClr val="8C959F"/>
          </a:solidFill>
          <a:ln/>
        </p:spPr>
      </p:sp>
      <p:sp>
        <p:nvSpPr>
          <p:cNvPr id="21" name="Text 17"/>
          <p:cNvSpPr txBox="1"/>
          <p:nvPr/>
        </p:nvSpPr>
        <p:spPr>
          <a:xfrm>
            <a:off x="6388456" y="3590143"/>
            <a:ext cx="388620" cy="388620"/>
          </a:xfrm>
          <a:prstGeom prst="rect">
            <a:avLst/>
          </a:prstGeom>
          <a:noFill/>
          <a:ln/>
        </p:spPr>
        <p:txBody>
          <a:bodyPr wrap="square" lIns="0" tIns="0" rIns="0" bIns="0" rtlCol="0" anchor="ctr"/>
          <a:lstStyle/>
          <a:p>
            <a:pPr algn="ctr" indent="0" marL="0">
              <a:buNone/>
            </a:pPr>
            <a:r>
              <a:rPr lang="id-ID" altLang="en-US" sz="1500" b="1" dirty="0">
                <a:solidFill>
                  <a:srgbClr val="FFFFFF"/>
                </a:solidFill>
              </a:rPr>
              <a:t>D</a:t>
            </a:r>
            <a:endParaRPr lang="id-ID" sz="1500" dirty="0"/>
          </a:p>
        </p:txBody>
      </p:sp>
      <p:sp>
        <p:nvSpPr>
          <p:cNvPr id="22" name="Text 18"/>
          <p:cNvSpPr txBox="1"/>
          <p:nvPr/>
        </p:nvSpPr>
        <p:spPr>
          <a:xfrm>
            <a:off x="6991960" y="3493623"/>
            <a:ext cx="4541368" cy="581660"/>
          </a:xfrm>
          <a:prstGeom prst="rect">
            <a:avLst/>
          </a:prstGeom>
          <a:noFill/>
          <a:ln/>
        </p:spPr>
        <p:txBody>
          <a:bodyPr wrap="square" lIns="0" tIns="0" rIns="0" bIns="0" rtlCol="0" anchor="ctr"/>
          <a:lstStyle/>
          <a:p>
            <a:pPr indent="0" marL="0">
              <a:buNone/>
            </a:pPr>
            <a:r>
              <a:rPr lang="id-ID" altLang="en-US" sz="1700" dirty="0">
                <a:solidFill>
                  <a:srgbClr val="57606A"/>
                </a:solidFill>
              </a:rPr>
              <a:t>Tidak ada karena prinsip itu melarang memanggil </a:t>
            </a:r>
            <a:r>
              <a:rPr lang="id-ID" altLang="en-US" sz="1700" i="1" dirty="0">
                <a:solidFill>
                  <a:srgbClr val="57606A"/>
                </a:solidFill>
              </a:rPr>
              <a:t>method</a:t>
            </a:r>
            <a:r>
              <a:rPr lang="id-ID" altLang="en-US" sz="1700" dirty="0">
                <a:solidFill>
                  <a:srgbClr val="57606A"/>
                </a:solidFill>
              </a:rPr>
              <a:t> milik objek lain</a:t>
            </a:r>
            <a:endParaRPr lang="id-ID" sz="1700" dirty="0"/>
          </a:p>
        </p:txBody>
      </p:sp>
      <p:sp>
        <p:nvSpPr>
          <p:cNvPr id="23" name="Shape 19"/>
          <p:cNvSpPr/>
          <p:nvPr/>
        </p:nvSpPr>
        <p:spPr>
          <a:xfrm>
            <a:off x="548640" y="4386179"/>
            <a:ext cx="11094415" cy="1430274"/>
          </a:xfrm>
          <a:prstGeom prst="roundRect">
            <a:avLst>
              <a:gd name="adj" fmla="val 4905"/>
            </a:avLst>
          </a:prstGeom>
          <a:solidFill>
            <a:srgbClr val="FFF8C5"/>
          </a:solidFill>
          <a:ln w="9525">
            <a:solidFill>
              <a:srgbClr val="D4A72C"/>
            </a:solidFill>
            <a:prstDash val="solid"/>
          </a:ln>
        </p:spPr>
      </p:sp>
      <p:sp>
        <p:nvSpPr>
          <p:cNvPr id="24" name="Shape 20"/>
          <p:cNvSpPr/>
          <p:nvPr/>
        </p:nvSpPr>
        <p:spPr>
          <a:xfrm>
            <a:off x="777240" y="4569059"/>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669643"/>
            <a:ext cx="256032" cy="256032"/>
          </a:xfrm>
          <a:prstGeom prst="rect">
            <a:avLst/>
          </a:prstGeom>
        </p:spPr>
      </p:pic>
      <p:sp>
        <p:nvSpPr>
          <p:cNvPr id="26" name="Text 21"/>
          <p:cNvSpPr txBox="1"/>
          <p:nvPr/>
        </p:nvSpPr>
        <p:spPr>
          <a:xfrm>
            <a:off x="1417320" y="4523339"/>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A</a:t>
            </a:r>
            <a:endParaRPr lang="id-ID" sz="1600" dirty="0"/>
          </a:p>
        </p:txBody>
      </p:sp>
      <p:sp>
        <p:nvSpPr>
          <p:cNvPr id="27" name="Text 22"/>
          <p:cNvSpPr txBox="1"/>
          <p:nvPr/>
        </p:nvSpPr>
        <p:spPr>
          <a:xfrm>
            <a:off x="1417320" y="4861667"/>
            <a:ext cx="9951415" cy="881634"/>
          </a:xfrm>
          <a:prstGeom prst="rect">
            <a:avLst/>
          </a:prstGeom>
          <a:noFill/>
          <a:ln/>
        </p:spPr>
        <p:txBody>
          <a:bodyPr wrap="square" lIns="0" tIns="0" rIns="0" bIns="0" rtlCol="0" anchor="t"/>
          <a:lstStyle/>
          <a:p>
            <a:pPr indent="0" marL="0">
              <a:buNone/>
            </a:pPr>
            <a:r>
              <a:rPr lang="id-ID" altLang="en-US" sz="1700" i="1" dirty="0">
                <a:solidFill>
                  <a:srgbClr val="1F2328"/>
                </a:solidFill>
              </a:rPr>
              <a:t>Tell, don’t ask</a:t>
            </a:r>
            <a:r>
              <a:rPr lang="id-ID" altLang="en-US" sz="1700" dirty="0">
                <a:solidFill>
                  <a:srgbClr val="1F2328"/>
                </a:solidFill>
              </a:rPr>
              <a:t> berarti </a:t>
            </a:r>
            <a:r>
              <a:rPr lang="id-ID" altLang="en-US" sz="1700" b="1" dirty="0">
                <a:solidFill>
                  <a:srgbClr val="1F2328"/>
                </a:solidFill>
              </a:rPr>
              <a:t>menyuruh</a:t>
            </a:r>
            <a:r>
              <a:rPr lang="id-ID" altLang="en-US" sz="1700" dirty="0">
                <a:solidFill>
                  <a:srgbClr val="1F2328"/>
                </a:solidFill>
              </a:rPr>
              <a:t> objek mengerjakan tugasnya, bukan </a:t>
            </a:r>
            <a:r>
              <a:rPr lang="id-ID" altLang="en-US" sz="1700" b="1" dirty="0">
                <a:solidFill>
                  <a:srgbClr val="1F2328"/>
                </a:solidFill>
              </a:rPr>
              <a:t>menanyakan</a:t>
            </a:r>
            <a:r>
              <a:rPr lang="id-ID" altLang="en-US" sz="1700" dirty="0">
                <a:solidFill>
                  <a:srgbClr val="1F2328"/>
                </a:solidFill>
              </a:rPr>
              <a:t> datanya lalu memutuskan di luar. Pada cara Q, aturan “stok tidak boleh minus” ditulis di luar kelas sehingga harus diulang di setiap tempat dan mudah terlupa. Cara Q juga butuh </a:t>
            </a:r>
            <a:r>
              <a:rPr lang="id-ID" altLang="en-US" sz="1700" i="1" dirty="0">
                <a:solidFill>
                  <a:srgbClr val="1F2328"/>
                </a:solidFill>
              </a:rPr>
              <a:t>setter</a:t>
            </a:r>
            <a:r>
              <a:rPr lang="id-ID" altLang="en-US" sz="1700" dirty="0">
                <a:solidFill>
                  <a:srgbClr val="1F2328"/>
                </a:solidFill>
              </a:rPr>
              <a:t> stok yang membuka pintu bagi data rusak.</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787"/>
            <a:ext cx="294386" cy="29438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3405" y="1535552"/>
            <a:ext cx="164856" cy="164856"/>
          </a:xfrm>
          <a:prstGeom prst="rect">
            <a:avLst/>
          </a:prstGeom>
        </p:spPr>
      </p:pic>
      <p:sp>
        <p:nvSpPr>
          <p:cNvPr id="7" name="Text 3"/>
          <p:cNvSpPr txBox="1"/>
          <p:nvPr/>
        </p:nvSpPr>
        <p:spPr>
          <a:xfrm>
            <a:off x="1051560" y="1463040"/>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Enkapsulasi</a:t>
            </a:r>
            <a:r>
              <a:rPr lang="id-ID" altLang="en-US" sz="2000" dirty="0">
                <a:solidFill>
                  <a:srgbClr val="1F2328"/>
                </a:solidFill>
              </a:rPr>
              <a:t> membungkus data dan </a:t>
            </a:r>
            <a:r>
              <a:rPr lang="id-ID" altLang="en-US" sz="2000" i="1" dirty="0">
                <a:solidFill>
                  <a:srgbClr val="1F2328"/>
                </a:solidFill>
              </a:rPr>
              <a:t>method</a:t>
            </a:r>
            <a:r>
              <a:rPr lang="id-ID" altLang="en-US" sz="2000" dirty="0">
                <a:solidFill>
                  <a:srgbClr val="1F2328"/>
                </a:solidFill>
              </a:rPr>
              <a:t> dalam satu kelas, lalu membatasi akses langsung lewat </a:t>
            </a:r>
            <a:r>
              <a:rPr lang="id-ID" altLang="en-US" sz="2000" b="1" dirty="0">
                <a:solidFill>
                  <a:srgbClr val="1F2328"/>
                </a:solidFill>
              </a:rPr>
              <a:t>pintu resmi</a:t>
            </a:r>
            <a:r>
              <a:rPr lang="id-ID" altLang="en-US" sz="2000" dirty="0">
                <a:solidFill>
                  <a:srgbClr val="1F2328"/>
                </a:solidFill>
              </a:rPr>
              <a:t>.</a:t>
            </a:r>
            <a:endParaRPr lang="id-ID" sz="2000" dirty="0"/>
          </a:p>
        </p:txBody>
      </p:sp>
      <p:sp>
        <p:nvSpPr>
          <p:cNvPr id="8" name="Shape 4"/>
          <p:cNvSpPr/>
          <p:nvPr/>
        </p:nvSpPr>
        <p:spPr>
          <a:xfrm>
            <a:off x="548640" y="2291715"/>
            <a:ext cx="294386" cy="29438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3405" y="2356480"/>
            <a:ext cx="164856" cy="164856"/>
          </a:xfrm>
          <a:prstGeom prst="rect">
            <a:avLst/>
          </a:prstGeom>
        </p:spPr>
      </p:pic>
      <p:sp>
        <p:nvSpPr>
          <p:cNvPr id="10" name="Text 5"/>
          <p:cNvSpPr txBox="1"/>
          <p:nvPr/>
        </p:nvSpPr>
        <p:spPr>
          <a:xfrm>
            <a:off x="1051560" y="2283968"/>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rPr>
              <a:t>Java: </a:t>
            </a:r>
            <a:r>
              <a:rPr lang="id-ID" altLang="en-US" sz="2000" dirty="0">
                <a:solidFill>
                  <a:srgbClr val="1F2328"/>
                </a:solidFill>
                <a:latin typeface="Consolas" pitchFamily="34" charset="0"/>
                <a:ea typeface="Consolas" pitchFamily="34" charset="-122"/>
                <a:cs typeface="Consolas" pitchFamily="34" charset="-120"/>
              </a:rPr>
              <a:t>public</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protected</a:t>
            </a:r>
            <a:r>
              <a:rPr lang="id-ID" altLang="en-US" sz="2000" dirty="0">
                <a:solidFill>
                  <a:srgbClr val="1F2328"/>
                </a:solidFill>
              </a:rPr>
              <a:t>, </a:t>
            </a:r>
            <a:r>
              <a:rPr lang="id-ID" altLang="en-US" sz="2000" i="1" dirty="0">
                <a:solidFill>
                  <a:srgbClr val="1F2328"/>
                </a:solidFill>
              </a:rPr>
              <a:t>default</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private</a:t>
            </a:r>
            <a:r>
              <a:rPr lang="id-ID" altLang="en-US" sz="2000" dirty="0">
                <a:solidFill>
                  <a:srgbClr val="1F2328"/>
                </a:solidFill>
              </a:rPr>
              <a:t> dijaga </a:t>
            </a:r>
            <a:r>
              <a:rPr lang="id-ID" altLang="en-US" sz="2000" i="1" dirty="0">
                <a:solidFill>
                  <a:srgbClr val="1F2328"/>
                </a:solidFill>
              </a:rPr>
              <a:t>compiler</a:t>
            </a:r>
            <a:r>
              <a:rPr lang="id-ID" altLang="en-US" sz="2000" dirty="0">
                <a:solidFill>
                  <a:srgbClr val="1F2328"/>
                </a:solidFill>
              </a:rPr>
              <a:t>. Python: </a:t>
            </a:r>
            <a:r>
              <a:rPr lang="id-ID" altLang="en-US" sz="2000" dirty="0">
                <a:solidFill>
                  <a:srgbClr val="1F2328"/>
                </a:solidFill>
                <a:latin typeface="Consolas" pitchFamily="34" charset="0"/>
                <a:ea typeface="Consolas" pitchFamily="34" charset="-122"/>
                <a:cs typeface="Consolas" pitchFamily="34" charset="-120"/>
              </a:rPr>
              <a:t>_nama</a:t>
            </a:r>
            <a:r>
              <a:rPr lang="id-ID" altLang="en-US" sz="2000" dirty="0">
                <a:solidFill>
                  <a:srgbClr val="1F2328"/>
                </a:solidFill>
              </a:rPr>
              <a:t> hanya kesepakatan.</a:t>
            </a:r>
            <a:endParaRPr lang="id-ID" sz="2000" dirty="0"/>
          </a:p>
        </p:txBody>
      </p:sp>
      <p:sp>
        <p:nvSpPr>
          <p:cNvPr id="11" name="Shape 6"/>
          <p:cNvSpPr/>
          <p:nvPr/>
        </p:nvSpPr>
        <p:spPr>
          <a:xfrm>
            <a:off x="548640" y="3112643"/>
            <a:ext cx="294386" cy="29438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3405" y="3177408"/>
            <a:ext cx="164856" cy="164856"/>
          </a:xfrm>
          <a:prstGeom prst="rect">
            <a:avLst/>
          </a:prstGeom>
        </p:spPr>
      </p:pic>
      <p:sp>
        <p:nvSpPr>
          <p:cNvPr id="13" name="Text 7"/>
          <p:cNvSpPr txBox="1"/>
          <p:nvPr/>
        </p:nvSpPr>
        <p:spPr>
          <a:xfrm>
            <a:off x="1051560" y="3104896"/>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latin typeface="Consolas" pitchFamily="34" charset="0"/>
                <a:ea typeface="Consolas" pitchFamily="34" charset="-122"/>
                <a:cs typeface="Consolas" pitchFamily="34" charset="-120"/>
              </a:rPr>
              <a:t>__nama</a:t>
            </a:r>
            <a:r>
              <a:rPr lang="id-ID" altLang="en-US" sz="2000" dirty="0">
                <a:solidFill>
                  <a:srgbClr val="1F2328"/>
                </a:solidFill>
              </a:rPr>
              <a:t> di Python memicu </a:t>
            </a:r>
            <a:r>
              <a:rPr lang="id-ID" altLang="en-US" sz="2000" i="1" dirty="0">
                <a:solidFill>
                  <a:srgbClr val="1F2328"/>
                </a:solidFill>
              </a:rPr>
              <a:t>name mangling</a:t>
            </a:r>
            <a:r>
              <a:rPr lang="id-ID" altLang="en-US" sz="2000" dirty="0">
                <a:solidFill>
                  <a:srgbClr val="1F2328"/>
                </a:solidFill>
              </a:rPr>
              <a:t>: namanya diganti, bukan dikunci. Itu </a:t>
            </a:r>
            <a:r>
              <a:rPr lang="id-ID" altLang="en-US" sz="2000" b="1" dirty="0">
                <a:solidFill>
                  <a:srgbClr val="1F2328"/>
                </a:solidFill>
              </a:rPr>
              <a:t>bukan</a:t>
            </a:r>
            <a:r>
              <a:rPr lang="id-ID" altLang="en-US" sz="2000" dirty="0">
                <a:solidFill>
                  <a:srgbClr val="1F2328"/>
                </a:solidFill>
              </a:rPr>
              <a:t> fitur keamanan.</a:t>
            </a:r>
            <a:endParaRPr lang="id-ID" sz="2000" dirty="0"/>
          </a:p>
        </p:txBody>
      </p:sp>
      <p:sp>
        <p:nvSpPr>
          <p:cNvPr id="14" name="Shape 8"/>
          <p:cNvSpPr/>
          <p:nvPr/>
        </p:nvSpPr>
        <p:spPr>
          <a:xfrm>
            <a:off x="548640" y="3933571"/>
            <a:ext cx="294386" cy="29438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3405" y="3998336"/>
            <a:ext cx="164856" cy="164856"/>
          </a:xfrm>
          <a:prstGeom prst="rect">
            <a:avLst/>
          </a:prstGeom>
        </p:spPr>
      </p:pic>
      <p:sp>
        <p:nvSpPr>
          <p:cNvPr id="16" name="Text 9"/>
          <p:cNvSpPr txBox="1"/>
          <p:nvPr/>
        </p:nvSpPr>
        <p:spPr>
          <a:xfrm>
            <a:off x="1051560" y="3925824"/>
            <a:ext cx="10591495" cy="355600"/>
          </a:xfrm>
          <a:prstGeom prst="rect">
            <a:avLst/>
          </a:prstGeom>
          <a:noFill/>
          <a:ln/>
        </p:spPr>
        <p:txBody>
          <a:bodyPr wrap="square" lIns="0" tIns="0" rIns="0" bIns="0" rtlCol="0" anchor="t"/>
          <a:lstStyle/>
          <a:p>
            <a:pPr indent="0" marL="0">
              <a:buNone/>
            </a:pPr>
            <a:r>
              <a:rPr lang="id-ID" altLang="en-US" sz="2000" b="1" i="1" dirty="0">
                <a:solidFill>
                  <a:srgbClr val="1F2328"/>
                </a:solidFill>
              </a:rPr>
              <a:t>Getter</a:t>
            </a:r>
            <a:r>
              <a:rPr lang="id-ID" altLang="en-US" sz="2000" dirty="0">
                <a:solidFill>
                  <a:srgbClr val="1F2328"/>
                </a:solidFill>
              </a:rPr>
              <a:t> membaca, </a:t>
            </a:r>
            <a:r>
              <a:rPr lang="id-ID" altLang="en-US" sz="2000" b="1" i="1" dirty="0">
                <a:solidFill>
                  <a:srgbClr val="1F2328"/>
                </a:solidFill>
              </a:rPr>
              <a:t>setter</a:t>
            </a:r>
            <a:r>
              <a:rPr lang="id-ID" altLang="en-US" sz="2000" dirty="0">
                <a:solidFill>
                  <a:srgbClr val="1F2328"/>
                </a:solidFill>
              </a:rPr>
              <a:t> mengubah sambil </a:t>
            </a:r>
            <a:r>
              <a:rPr lang="id-ID" altLang="en-US" sz="2000" b="1" dirty="0">
                <a:solidFill>
                  <a:srgbClr val="1F2328"/>
                </a:solidFill>
              </a:rPr>
              <a:t>memvalidasi</a:t>
            </a:r>
            <a:r>
              <a:rPr lang="id-ID" altLang="en-US" sz="2000" dirty="0">
                <a:solidFill>
                  <a:srgbClr val="1F2328"/>
                </a:solidFill>
              </a:rPr>
              <a:t>: </a:t>
            </a:r>
            <a:r>
              <a:rPr lang="id-ID" altLang="en-US" sz="2000" i="1" dirty="0">
                <a:solidFill>
                  <a:srgbClr val="1F2328"/>
                </a:solidFill>
              </a:rPr>
              <a:t>property</a:t>
            </a:r>
            <a:r>
              <a:rPr lang="id-ID" altLang="en-US" sz="2000" dirty="0">
                <a:solidFill>
                  <a:srgbClr val="1F2328"/>
                </a:solidFill>
              </a:rPr>
              <a:t> di Python, </a:t>
            </a:r>
            <a:r>
              <a:rPr lang="id-ID" altLang="en-US" sz="2000" dirty="0">
                <a:solidFill>
                  <a:srgbClr val="1F2328"/>
                </a:solidFill>
                <a:latin typeface="Consolas" pitchFamily="34" charset="0"/>
                <a:ea typeface="Consolas" pitchFamily="34" charset="-122"/>
                <a:cs typeface="Consolas" pitchFamily="34" charset="-120"/>
              </a:rPr>
              <a:t>getX</a:t>
            </a:r>
            <a:r>
              <a:rPr lang="id-ID" altLang="en-US" sz="2000" dirty="0">
                <a:solidFill>
                  <a:srgbClr val="1F2328"/>
                </a:solidFill>
              </a:rPr>
              <a:t>/</a:t>
            </a:r>
            <a:r>
              <a:rPr lang="id-ID" altLang="en-US" sz="2000" dirty="0">
                <a:solidFill>
                  <a:srgbClr val="1F2328"/>
                </a:solidFill>
                <a:latin typeface="Consolas" pitchFamily="34" charset="0"/>
                <a:ea typeface="Consolas" pitchFamily="34" charset="-122"/>
                <a:cs typeface="Consolas" pitchFamily="34" charset="-120"/>
              </a:rPr>
              <a:t>setX</a:t>
            </a:r>
            <a:r>
              <a:rPr lang="id-ID" altLang="en-US" sz="2000" dirty="0">
                <a:solidFill>
                  <a:srgbClr val="1F2328"/>
                </a:solidFill>
              </a:rPr>
              <a:t> di Java.</a:t>
            </a:r>
            <a:endParaRPr lang="id-ID" sz="2000" dirty="0"/>
          </a:p>
        </p:txBody>
      </p:sp>
      <p:sp>
        <p:nvSpPr>
          <p:cNvPr id="17" name="Shape 10"/>
          <p:cNvSpPr/>
          <p:nvPr/>
        </p:nvSpPr>
        <p:spPr>
          <a:xfrm>
            <a:off x="548640" y="4444619"/>
            <a:ext cx="294386" cy="29438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3405" y="4509384"/>
            <a:ext cx="164856" cy="164856"/>
          </a:xfrm>
          <a:prstGeom prst="rect">
            <a:avLst/>
          </a:prstGeom>
        </p:spPr>
      </p:pic>
      <p:sp>
        <p:nvSpPr>
          <p:cNvPr id="19" name="Text 11"/>
          <p:cNvSpPr txBox="1"/>
          <p:nvPr/>
        </p:nvSpPr>
        <p:spPr>
          <a:xfrm>
            <a:off x="1051560" y="4436872"/>
            <a:ext cx="10591495" cy="355600"/>
          </a:xfrm>
          <a:prstGeom prst="rect">
            <a:avLst/>
          </a:prstGeom>
          <a:noFill/>
          <a:ln/>
        </p:spPr>
        <p:txBody>
          <a:bodyPr wrap="square" lIns="0" tIns="0" rIns="0" bIns="0" rtlCol="0" anchor="t"/>
          <a:lstStyle/>
          <a:p>
            <a:pPr indent="0" marL="0">
              <a:buNone/>
            </a:pPr>
            <a:r>
              <a:rPr lang="id-ID" altLang="en-US" sz="2000" dirty="0">
                <a:solidFill>
                  <a:srgbClr val="1F2328"/>
                </a:solidFill>
              </a:rPr>
              <a:t>Validasi wajib di </a:t>
            </a:r>
            <a:r>
              <a:rPr lang="id-ID" altLang="en-US" sz="2000" i="1" dirty="0">
                <a:solidFill>
                  <a:srgbClr val="1F2328"/>
                </a:solidFill>
              </a:rPr>
              <a:t>setter</a:t>
            </a:r>
            <a:r>
              <a:rPr lang="id-ID" altLang="en-US" sz="2000" dirty="0">
                <a:solidFill>
                  <a:srgbClr val="1F2328"/>
                </a:solidFill>
              </a:rPr>
              <a:t> </a:t>
            </a:r>
            <a:r>
              <a:rPr lang="id-ID" altLang="en-US" sz="2000" b="1" dirty="0">
                <a:solidFill>
                  <a:srgbClr val="1F2328"/>
                </a:solidFill>
              </a:rPr>
              <a:t>dan</a:t>
            </a:r>
            <a:r>
              <a:rPr lang="id-ID" altLang="en-US" sz="2000" dirty="0">
                <a:solidFill>
                  <a:srgbClr val="1F2328"/>
                </a:solidFill>
              </a:rPr>
              <a:t> konstruktor; data tidak valid ditolak dengan </a:t>
            </a:r>
            <a:r>
              <a:rPr lang="id-ID" altLang="en-US" sz="2000" b="1" i="1" dirty="0">
                <a:solidFill>
                  <a:srgbClr val="1F2328"/>
                </a:solidFill>
              </a:rPr>
              <a:t>exception</a:t>
            </a:r>
            <a:r>
              <a:rPr lang="id-ID" altLang="en-US" sz="2000" dirty="0">
                <a:solidFill>
                  <a:srgbClr val="1F2328"/>
                </a:solidFill>
              </a:rPr>
              <a:t>.</a:t>
            </a:r>
            <a:endParaRPr lang="id-ID" sz="2000" dirty="0"/>
          </a:p>
        </p:txBody>
      </p:sp>
      <p:sp>
        <p:nvSpPr>
          <p:cNvPr id="20" name="Shape 12"/>
          <p:cNvSpPr/>
          <p:nvPr/>
        </p:nvSpPr>
        <p:spPr>
          <a:xfrm>
            <a:off x="548640" y="4955667"/>
            <a:ext cx="294386" cy="294386"/>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3405" y="5020432"/>
            <a:ext cx="164856" cy="164856"/>
          </a:xfrm>
          <a:prstGeom prst="rect">
            <a:avLst/>
          </a:prstGeom>
        </p:spPr>
      </p:pic>
      <p:sp>
        <p:nvSpPr>
          <p:cNvPr id="22" name="Text 13"/>
          <p:cNvSpPr txBox="1"/>
          <p:nvPr/>
        </p:nvSpPr>
        <p:spPr>
          <a:xfrm>
            <a:off x="1051560" y="4947920"/>
            <a:ext cx="10591495" cy="355600"/>
          </a:xfrm>
          <a:prstGeom prst="rect">
            <a:avLst/>
          </a:prstGeom>
          <a:noFill/>
          <a:ln/>
        </p:spPr>
        <p:txBody>
          <a:bodyPr wrap="square" lIns="0" tIns="0" rIns="0" bIns="0" rtlCol="0" anchor="t"/>
          <a:lstStyle/>
          <a:p>
            <a:pPr indent="0" marL="0">
              <a:buNone/>
            </a:pPr>
            <a:r>
              <a:rPr lang="id-ID" altLang="en-US" sz="2000" dirty="0">
                <a:solidFill>
                  <a:srgbClr val="1F2328"/>
                </a:solidFill>
              </a:rPr>
              <a:t>Atribut </a:t>
            </a:r>
            <a:r>
              <a:rPr lang="id-ID" altLang="en-US" sz="2000" b="1" i="1" dirty="0">
                <a:solidFill>
                  <a:srgbClr val="1F2328"/>
                </a:solidFill>
              </a:rPr>
              <a:t>read-⁠only</a:t>
            </a:r>
            <a:r>
              <a:rPr lang="id-ID" altLang="en-US" sz="2000" dirty="0">
                <a:solidFill>
                  <a:srgbClr val="1F2328"/>
                </a:solidFill>
              </a:rPr>
              <a:t> punya </a:t>
            </a:r>
            <a:r>
              <a:rPr lang="id-ID" altLang="en-US" sz="2000" i="1" dirty="0">
                <a:solidFill>
                  <a:srgbClr val="1F2328"/>
                </a:solidFill>
              </a:rPr>
              <a:t>getter</a:t>
            </a:r>
            <a:r>
              <a:rPr lang="id-ID" altLang="en-US" sz="2000" dirty="0">
                <a:solidFill>
                  <a:srgbClr val="1F2328"/>
                </a:solidFill>
              </a:rPr>
              <a:t> tanpa </a:t>
            </a:r>
            <a:r>
              <a:rPr lang="id-ID" altLang="en-US" sz="2000" i="1" dirty="0">
                <a:solidFill>
                  <a:srgbClr val="1F2328"/>
                </a:solidFill>
              </a:rPr>
              <a:t>setter</a:t>
            </a:r>
            <a:r>
              <a:rPr lang="id-ID" altLang="en-US" sz="2000" dirty="0">
                <a:solidFill>
                  <a:srgbClr val="1F2328"/>
                </a:solidFill>
              </a:rPr>
              <a:t>; perubahan bermakna memakai </a:t>
            </a:r>
            <a:r>
              <a:rPr lang="id-ID" altLang="en-US" sz="2000" i="1" dirty="0">
                <a:solidFill>
                  <a:srgbClr val="1F2328"/>
                </a:solidFill>
              </a:rPr>
              <a:t>method</a:t>
            </a:r>
            <a:r>
              <a:rPr lang="id-ID" altLang="en-US" sz="2000" dirty="0">
                <a:solidFill>
                  <a:srgbClr val="1F2328"/>
                </a:solidFill>
              </a:rPr>
              <a:t> </a:t>
            </a:r>
            <a:r>
              <a:rPr lang="id-ID" altLang="en-US" sz="2000" b="1" dirty="0">
                <a:solidFill>
                  <a:srgbClr val="1F2328"/>
                </a:solidFill>
              </a:rPr>
              <a:t>penjaga aturan</a:t>
            </a:r>
            <a:r>
              <a:rPr lang="id-ID" altLang="en-US" sz="2000" dirty="0">
                <a:solidFill>
                  <a:srgbClr val="1F2328"/>
                </a:solidFill>
              </a:rPr>
              <a:t>.</a:t>
            </a:r>
            <a:endParaRPr lang="id-ID" sz="2000" dirty="0"/>
          </a:p>
        </p:txBody>
      </p:sp>
      <p:sp>
        <p:nvSpPr>
          <p:cNvPr id="23" name="Shape 14"/>
          <p:cNvSpPr/>
          <p:nvPr/>
        </p:nvSpPr>
        <p:spPr>
          <a:xfrm>
            <a:off x="548640" y="5466715"/>
            <a:ext cx="294386" cy="294386"/>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3405" y="5531480"/>
            <a:ext cx="164856" cy="164856"/>
          </a:xfrm>
          <a:prstGeom prst="rect">
            <a:avLst/>
          </a:prstGeom>
        </p:spPr>
      </p:pic>
      <p:sp>
        <p:nvSpPr>
          <p:cNvPr id="25" name="Text 15"/>
          <p:cNvSpPr txBox="1"/>
          <p:nvPr/>
        </p:nvSpPr>
        <p:spPr>
          <a:xfrm>
            <a:off x="1051560" y="5458968"/>
            <a:ext cx="10591495" cy="355600"/>
          </a:xfrm>
          <a:prstGeom prst="rect">
            <a:avLst/>
          </a:prstGeom>
          <a:noFill/>
          <a:ln/>
        </p:spPr>
        <p:txBody>
          <a:bodyPr wrap="square" lIns="0" tIns="0" rIns="0" bIns="0" rtlCol="0" anchor="t"/>
          <a:lstStyle/>
          <a:p>
            <a:pPr indent="0" marL="0">
              <a:buNone/>
            </a:pPr>
            <a:r>
              <a:rPr lang="id-ID" altLang="en-US" sz="2000" dirty="0">
                <a:solidFill>
                  <a:srgbClr val="1F2328"/>
                </a:solidFill>
              </a:rPr>
              <a:t>Jangan membuat </a:t>
            </a:r>
            <a:r>
              <a:rPr lang="id-ID" altLang="en-US" sz="2000" i="1" dirty="0">
                <a:solidFill>
                  <a:srgbClr val="1F2328"/>
                </a:solidFill>
              </a:rPr>
              <a:t>getter</a:t>
            </a:r>
            <a:r>
              <a:rPr lang="id-ID" altLang="en-US" sz="2000" dirty="0">
                <a:solidFill>
                  <a:srgbClr val="1F2328"/>
                </a:solidFill>
              </a:rPr>
              <a:t> dan </a:t>
            </a:r>
            <a:r>
              <a:rPr lang="id-ID" altLang="en-US" sz="2000" i="1" dirty="0">
                <a:solidFill>
                  <a:srgbClr val="1F2328"/>
                </a:solidFill>
              </a:rPr>
              <a:t>setter</a:t>
            </a:r>
            <a:r>
              <a:rPr lang="id-ID" altLang="en-US" sz="2000" dirty="0">
                <a:solidFill>
                  <a:srgbClr val="1F2328"/>
                </a:solidFill>
              </a:rPr>
              <a:t> secara otomatis. Ingat prinsip </a:t>
            </a:r>
            <a:r>
              <a:rPr lang="id-ID" altLang="en-US" sz="2000" b="1" i="1" dirty="0">
                <a:solidFill>
                  <a:srgbClr val="1F2328"/>
                </a:solidFill>
              </a:rPr>
              <a:t>tell, don’t ask</a:t>
            </a:r>
            <a:r>
              <a:rPr lang="id-ID" altLang="en-US" sz="2000" dirty="0">
                <a:solidFill>
                  <a:srgbClr val="1F2328"/>
                </a:solidFill>
              </a:rPr>
              <a:t>.</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9174"/>
            <a:ext cx="137160" cy="137160"/>
          </a:xfrm>
          <a:prstGeom prst="roundRect">
            <a:avLst>
              <a:gd name="adj" fmla="val 166667"/>
            </a:avLst>
          </a:prstGeom>
          <a:solidFill>
            <a:srgbClr val="FB8F44"/>
          </a:solidFill>
          <a:ln/>
        </p:spPr>
      </p:sp>
      <p:sp>
        <p:nvSpPr>
          <p:cNvPr id="6" name="Text 3"/>
          <p:cNvSpPr txBox="1"/>
          <p:nvPr/>
        </p:nvSpPr>
        <p:spPr>
          <a:xfrm>
            <a:off x="932688" y="1417320"/>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Jalankan contoh 01⁠—⁠07 dan studi kasus KedaiKita di jalur pilihanmu.</a:t>
            </a:r>
            <a:endParaRPr lang="id-ID" sz="2200" dirty="0"/>
          </a:p>
        </p:txBody>
      </p:sp>
      <p:sp>
        <p:nvSpPr>
          <p:cNvPr id="7" name="Shape 4"/>
          <p:cNvSpPr/>
          <p:nvPr/>
        </p:nvSpPr>
        <p:spPr>
          <a:xfrm>
            <a:off x="603504" y="2383790"/>
            <a:ext cx="137160" cy="137160"/>
          </a:xfrm>
          <a:prstGeom prst="roundRect">
            <a:avLst>
              <a:gd name="adj" fmla="val 166667"/>
            </a:avLst>
          </a:prstGeom>
          <a:solidFill>
            <a:srgbClr val="FB8F44"/>
          </a:solidFill>
          <a:ln/>
        </p:spPr>
      </p:sp>
      <p:sp>
        <p:nvSpPr>
          <p:cNvPr id="8" name="Text 5"/>
          <p:cNvSpPr txBox="1"/>
          <p:nvPr/>
        </p:nvSpPr>
        <p:spPr>
          <a:xfrm>
            <a:off x="932688" y="2281936"/>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Kerjakan latihan, lalu cek pemahamanmu dengan kuis 10 soal.</a:t>
            </a:r>
            <a:endParaRPr lang="id-ID" sz="2200" dirty="0"/>
          </a:p>
        </p:txBody>
      </p:sp>
      <p:sp>
        <p:nvSpPr>
          <p:cNvPr id="9" name="Text 6"/>
          <p:cNvSpPr txBox="1"/>
          <p:nvPr/>
        </p:nvSpPr>
        <p:spPr>
          <a:xfrm>
            <a:off x="548640" y="3283712"/>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0" name="Shape 7"/>
          <p:cNvSpPr/>
          <p:nvPr/>
        </p:nvSpPr>
        <p:spPr>
          <a:xfrm>
            <a:off x="548640" y="3740912"/>
            <a:ext cx="3666744" cy="457200"/>
          </a:xfrm>
          <a:prstGeom prst="roundRect">
            <a:avLst>
              <a:gd name="adj" fmla="val 100000"/>
            </a:avLst>
          </a:prstGeom>
          <a:solidFill>
            <a:srgbClr val="12407F"/>
          </a:solidFill>
          <a:ln w="12700">
            <a:solidFill>
              <a:srgbClr val="2F6FB5"/>
            </a:solidFill>
            <a:prstDash val="solid"/>
          </a:ln>
        </p:spPr>
      </p:sp>
      <p:pic>
        <p:nvPicPr>
          <p:cNvPr id="11" name="Image 1" descr="preencoded.png">    </p:cNvPr>
          <p:cNvPicPr>
            <a:picLocks noChangeAspect="1"/>
          </p:cNvPicPr>
          <p:nvPr/>
        </p:nvPicPr>
        <p:blipFill>
          <a:blip r:embed="rId2"/>
          <a:stretch>
            <a:fillRect/>
          </a:stretch>
        </p:blipFill>
        <p:spPr>
          <a:xfrm>
            <a:off x="694944" y="3841496"/>
            <a:ext cx="256032" cy="256032"/>
          </a:xfrm>
          <a:prstGeom prst="rect">
            <a:avLst/>
          </a:prstGeom>
        </p:spPr>
      </p:pic>
      <p:sp>
        <p:nvSpPr>
          <p:cNvPr id="12" name="Text 8"/>
          <p:cNvSpPr txBox="1"/>
          <p:nvPr/>
        </p:nvSpPr>
        <p:spPr>
          <a:xfrm>
            <a:off x="1051560"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3" name="Shape 9"/>
          <p:cNvSpPr/>
          <p:nvPr/>
        </p:nvSpPr>
        <p:spPr>
          <a:xfrm>
            <a:off x="4379976" y="3740912"/>
            <a:ext cx="3666744" cy="457200"/>
          </a:xfrm>
          <a:prstGeom prst="roundRect">
            <a:avLst>
              <a:gd name="adj" fmla="val 100000"/>
            </a:avLst>
          </a:prstGeom>
          <a:solidFill>
            <a:srgbClr val="12407F"/>
          </a:solidFill>
          <a:ln w="12700">
            <a:solidFill>
              <a:srgbClr val="2F6FB5"/>
            </a:solidFill>
            <a:prstDash val="solid"/>
          </a:ln>
        </p:spPr>
      </p:sp>
      <p:pic>
        <p:nvPicPr>
          <p:cNvPr id="14" name="Image 2" descr="preencoded.png">    </p:cNvPr>
          <p:cNvPicPr>
            <a:picLocks noChangeAspect="1"/>
          </p:cNvPicPr>
          <p:nvPr/>
        </p:nvPicPr>
        <p:blipFill>
          <a:blip r:embed="rId4"/>
          <a:stretch>
            <a:fillRect/>
          </a:stretch>
        </p:blipFill>
        <p:spPr>
          <a:xfrm>
            <a:off x="4526280" y="3841496"/>
            <a:ext cx="256032" cy="256032"/>
          </a:xfrm>
          <a:prstGeom prst="rect">
            <a:avLst/>
          </a:prstGeom>
        </p:spPr>
      </p:pic>
      <p:sp>
        <p:nvSpPr>
          <p:cNvPr id="15" name="Text 10"/>
          <p:cNvSpPr txBox="1"/>
          <p:nvPr/>
        </p:nvSpPr>
        <p:spPr>
          <a:xfrm>
            <a:off x="4882896"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6" name="Shape 11"/>
          <p:cNvSpPr/>
          <p:nvPr/>
        </p:nvSpPr>
        <p:spPr>
          <a:xfrm>
            <a:off x="548640" y="4326128"/>
            <a:ext cx="3666744" cy="457200"/>
          </a:xfrm>
          <a:prstGeom prst="roundRect">
            <a:avLst>
              <a:gd name="adj" fmla="val 100000"/>
            </a:avLst>
          </a:prstGeom>
          <a:solidFill>
            <a:srgbClr val="12407F"/>
          </a:solidFill>
          <a:ln w="12700">
            <a:solidFill>
              <a:srgbClr val="2F6FB5"/>
            </a:solidFill>
            <a:prstDash val="solid"/>
          </a:ln>
        </p:spPr>
      </p:sp>
      <p:pic>
        <p:nvPicPr>
          <p:cNvPr id="17" name="Image 3" descr="preencoded.png">    </p:cNvPr>
          <p:cNvPicPr>
            <a:picLocks noChangeAspect="1"/>
          </p:cNvPicPr>
          <p:nvPr/>
        </p:nvPicPr>
        <p:blipFill>
          <a:blip r:embed="rId6"/>
          <a:stretch>
            <a:fillRect/>
          </a:stretch>
        </p:blipFill>
        <p:spPr>
          <a:xfrm>
            <a:off x="694944" y="4426712"/>
            <a:ext cx="256032" cy="256032"/>
          </a:xfrm>
          <a:prstGeom prst="rect">
            <a:avLst/>
          </a:prstGeom>
        </p:spPr>
      </p:pic>
      <p:sp>
        <p:nvSpPr>
          <p:cNvPr id="18" name="Text 12"/>
          <p:cNvSpPr txBox="1"/>
          <p:nvPr/>
        </p:nvSpPr>
        <p:spPr>
          <a:xfrm>
            <a:off x="1051560"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19" name="Shape 13"/>
          <p:cNvSpPr/>
          <p:nvPr/>
        </p:nvSpPr>
        <p:spPr>
          <a:xfrm>
            <a:off x="4379976" y="4326128"/>
            <a:ext cx="3666744" cy="457200"/>
          </a:xfrm>
          <a:prstGeom prst="roundRect">
            <a:avLst>
              <a:gd name="adj" fmla="val 100000"/>
            </a:avLst>
          </a:prstGeom>
          <a:solidFill>
            <a:srgbClr val="12407F"/>
          </a:solidFill>
          <a:ln w="12700">
            <a:solidFill>
              <a:srgbClr val="2F6FB5"/>
            </a:solidFill>
            <a:prstDash val="solid"/>
          </a:ln>
        </p:spPr>
      </p:sp>
      <p:pic>
        <p:nvPicPr>
          <p:cNvPr id="20" name="Image 4" descr="preencoded.png">    </p:cNvPr>
          <p:cNvPicPr>
            <a:picLocks noChangeAspect="1"/>
          </p:cNvPicPr>
          <p:nvPr/>
        </p:nvPicPr>
        <p:blipFill>
          <a:blip r:embed="rId8"/>
          <a:stretch>
            <a:fillRect/>
          </a:stretch>
        </p:blipFill>
        <p:spPr>
          <a:xfrm>
            <a:off x="4526280" y="4426712"/>
            <a:ext cx="256032" cy="256032"/>
          </a:xfrm>
          <a:prstGeom prst="rect">
            <a:avLst/>
          </a:prstGeom>
        </p:spPr>
      </p:pic>
      <p:sp>
        <p:nvSpPr>
          <p:cNvPr id="21" name="Text 14"/>
          <p:cNvSpPr txBox="1"/>
          <p:nvPr/>
        </p:nvSpPr>
        <p:spPr>
          <a:xfrm>
            <a:off x="4882896"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2" name="Shape 15"/>
          <p:cNvSpPr/>
          <p:nvPr/>
        </p:nvSpPr>
        <p:spPr>
          <a:xfrm>
            <a:off x="548640" y="4911344"/>
            <a:ext cx="3666744" cy="457200"/>
          </a:xfrm>
          <a:prstGeom prst="roundRect">
            <a:avLst>
              <a:gd name="adj" fmla="val 100000"/>
            </a:avLst>
          </a:prstGeom>
          <a:solidFill>
            <a:srgbClr val="12407F"/>
          </a:solidFill>
          <a:ln w="12700">
            <a:solidFill>
              <a:srgbClr val="2F6FB5"/>
            </a:solidFill>
            <a:prstDash val="solid"/>
          </a:ln>
        </p:spPr>
      </p:sp>
      <p:pic>
        <p:nvPicPr>
          <p:cNvPr id="23" name="Image 5" descr="preencoded.png">    </p:cNvPr>
          <p:cNvPicPr>
            <a:picLocks noChangeAspect="1"/>
          </p:cNvPicPr>
          <p:nvPr/>
        </p:nvPicPr>
        <p:blipFill>
          <a:blip r:embed="rId10"/>
          <a:stretch>
            <a:fillRect/>
          </a:stretch>
        </p:blipFill>
        <p:spPr>
          <a:xfrm>
            <a:off x="694944" y="5011928"/>
            <a:ext cx="256032" cy="256032"/>
          </a:xfrm>
          <a:prstGeom prst="rect">
            <a:avLst/>
          </a:prstGeom>
        </p:spPr>
      </p:pic>
      <p:sp>
        <p:nvSpPr>
          <p:cNvPr id="24" name="Text 16"/>
          <p:cNvSpPr txBox="1"/>
          <p:nvPr/>
        </p:nvSpPr>
        <p:spPr>
          <a:xfrm>
            <a:off x="1051560"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5" name="Shape 17"/>
          <p:cNvSpPr/>
          <p:nvPr/>
        </p:nvSpPr>
        <p:spPr>
          <a:xfrm>
            <a:off x="4379976" y="4911344"/>
            <a:ext cx="3666744" cy="457200"/>
          </a:xfrm>
          <a:prstGeom prst="roundRect">
            <a:avLst>
              <a:gd name="adj" fmla="val 100000"/>
            </a:avLst>
          </a:prstGeom>
          <a:solidFill>
            <a:srgbClr val="12407F"/>
          </a:solidFill>
          <a:ln w="12700">
            <a:solidFill>
              <a:srgbClr val="2F6FB5"/>
            </a:solidFill>
            <a:prstDash val="solid"/>
          </a:ln>
        </p:spPr>
      </p:sp>
      <p:pic>
        <p:nvPicPr>
          <p:cNvPr id="26" name="Image 6" descr="preencoded.png">    </p:cNvPr>
          <p:cNvPicPr>
            <a:picLocks noChangeAspect="1"/>
          </p:cNvPicPr>
          <p:nvPr/>
        </p:nvPicPr>
        <p:blipFill>
          <a:blip r:embed="rId12"/>
          <a:stretch>
            <a:fillRect/>
          </a:stretch>
        </p:blipFill>
        <p:spPr>
          <a:xfrm>
            <a:off x="4526280" y="5011928"/>
            <a:ext cx="256032" cy="256032"/>
          </a:xfrm>
          <a:prstGeom prst="rect">
            <a:avLst/>
          </a:prstGeom>
        </p:spPr>
      </p:pic>
      <p:sp>
        <p:nvSpPr>
          <p:cNvPr id="27" name="Text 18"/>
          <p:cNvSpPr txBox="1"/>
          <p:nvPr/>
        </p:nvSpPr>
        <p:spPr>
          <a:xfrm>
            <a:off x="4882896"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28" name="Shape 19"/>
          <p:cNvSpPr/>
          <p:nvPr/>
        </p:nvSpPr>
        <p:spPr>
          <a:xfrm>
            <a:off x="8503920" y="1280160"/>
            <a:ext cx="2880360" cy="2880360"/>
          </a:xfrm>
          <a:prstGeom prst="roundRect">
            <a:avLst>
              <a:gd name="adj" fmla="val 1411"/>
            </a:avLst>
          </a:prstGeom>
          <a:solidFill>
            <a:srgbClr val="FFFFFF"/>
          </a:solidFill>
          <a:ln/>
        </p:spPr>
      </p:sp>
      <p:pic>
        <p:nvPicPr>
          <p:cNvPr id="29"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0"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1"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github.com/antonprafanto/PBO2026/tree/master/Pertemuan-04-Enkapsulasi</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04: Enkapsulasi</dc:title>
  <dc:subject>Pemrograman Berorientasi Objek 2026</dc:subject>
  <dc:creator>PBO 2026 UNMUL</dc:creator>
  <cp:lastModifiedBy>PBO 2026 UNMUL</cp:lastModifiedBy>
  <cp:revision>1</cp:revision>
  <dcterms:created xsi:type="dcterms:W3CDTF">2026-10-15T02:18:32Z</dcterms:created>
  <dcterms:modified xsi:type="dcterms:W3CDTF">2026-10-15T02:18:32Z</dcterms:modified>
</cp:coreProperties>
</file>